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58.xml" ContentType="application/vnd.openxmlformats-officedocument.drawingml.chart+xml"/>
  <Override PartName="/ppt/charts/chart15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78.xml" ContentType="application/vnd.openxmlformats-officedocument.drawingml.chart+xml"/>
  <Override PartName="/ppt/charts/chart179.xml" ContentType="application/vnd.openxmlformats-officedocument.drawingml.chart+xml"/>
  <Override PartName="/ppt/charts/chart18.xml" ContentType="application/vnd.openxmlformats-officedocument.drawingml.chart+xml"/>
  <Override PartName="/ppt/charts/chart180.xml" ContentType="application/vnd.openxmlformats-officedocument.drawingml.chart+xml"/>
  <Override PartName="/ppt/charts/chart181.xml" ContentType="application/vnd.openxmlformats-officedocument.drawingml.chart+xml"/>
  <Override PartName="/ppt/charts/chart182.xml" ContentType="application/vnd.openxmlformats-officedocument.drawingml.chart+xml"/>
  <Override PartName="/ppt/charts/chart183.xml" ContentType="application/vnd.openxmlformats-officedocument.drawingml.chart+xml"/>
  <Override PartName="/ppt/charts/chart184.xml" ContentType="application/vnd.openxmlformats-officedocument.drawingml.chart+xml"/>
  <Override PartName="/ppt/charts/chart185.xml" ContentType="application/vnd.openxmlformats-officedocument.drawingml.chart+xml"/>
  <Override PartName="/ppt/charts/chart186.xml" ContentType="application/vnd.openxmlformats-officedocument.drawingml.chart+xml"/>
  <Override PartName="/ppt/charts/chart187.xml" ContentType="application/vnd.openxmlformats-officedocument.drawingml.chart+xml"/>
  <Override PartName="/ppt/charts/chart188.xml" ContentType="application/vnd.openxmlformats-officedocument.drawingml.chart+xml"/>
  <Override PartName="/ppt/charts/chart189.xml" ContentType="application/vnd.openxmlformats-officedocument.drawingml.chart+xml"/>
  <Override PartName="/ppt/charts/chart19.xml" ContentType="application/vnd.openxmlformats-officedocument.drawingml.chart+xml"/>
  <Override PartName="/ppt/charts/chart190.xml" ContentType="application/vnd.openxmlformats-officedocument.drawingml.chart+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charts/chart195.xml" ContentType="application/vnd.openxmlformats-officedocument.drawingml.chart+xml"/>
  <Override PartName="/ppt/charts/chart196.xml" ContentType="application/vnd.openxmlformats-officedocument.drawingml.chart+xml"/>
  <Override PartName="/ppt/charts/chart197.xml" ContentType="application/vnd.openxmlformats-officedocument.drawingml.chart+xml"/>
  <Override PartName="/ppt/charts/chart198.xml" ContentType="application/vnd.openxmlformats-officedocument.drawingml.chart+xml"/>
  <Override PartName="/ppt/charts/chart19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charts/chart202.xml" ContentType="application/vnd.openxmlformats-officedocument.drawingml.chart+xml"/>
  <Override PartName="/ppt/charts/chart203.xml" ContentType="application/vnd.openxmlformats-officedocument.drawingml.chart+xml"/>
  <Override PartName="/ppt/charts/chart204.xml" ContentType="application/vnd.openxmlformats-officedocument.drawingml.chart+xml"/>
  <Override PartName="/ppt/charts/chart205.xml" ContentType="application/vnd.openxmlformats-officedocument.drawingml.chart+xml"/>
  <Override PartName="/ppt/charts/chart206.xml" ContentType="application/vnd.openxmlformats-officedocument.drawingml.chart+xml"/>
  <Override PartName="/ppt/charts/chart207.xml" ContentType="application/vnd.openxmlformats-officedocument.drawingml.chart+xml"/>
  <Override PartName="/ppt/charts/chart208.xml" ContentType="application/vnd.openxmlformats-officedocument.drawingml.chart+xml"/>
  <Override PartName="/ppt/charts/chart209.xml" ContentType="application/vnd.openxmlformats-officedocument.drawingml.chart+xml"/>
  <Override PartName="/ppt/charts/chart21.xml" ContentType="application/vnd.openxmlformats-officedocument.drawingml.chart+xml"/>
  <Override PartName="/ppt/charts/chart210.xml" ContentType="application/vnd.openxmlformats-officedocument.drawingml.chart+xml"/>
  <Override PartName="/ppt/charts/chart211.xml" ContentType="application/vnd.openxmlformats-officedocument.drawingml.chart+xml"/>
  <Override PartName="/ppt/charts/chart212.xml" ContentType="application/vnd.openxmlformats-officedocument.drawingml.chart+xml"/>
  <Override PartName="/ppt/charts/chart213.xml" ContentType="application/vnd.openxmlformats-officedocument.drawingml.chart+xml"/>
  <Override PartName="/ppt/charts/chart214.xml" ContentType="application/vnd.openxmlformats-officedocument.drawingml.chart+xml"/>
  <Override PartName="/ppt/charts/chart215.xml" ContentType="application/vnd.openxmlformats-officedocument.drawingml.chart+xml"/>
  <Override PartName="/ppt/charts/chart216.xml" ContentType="application/vnd.openxmlformats-officedocument.drawingml.chart+xml"/>
  <Override PartName="/ppt/charts/chart217.xml" ContentType="application/vnd.openxmlformats-officedocument.drawingml.chart+xml"/>
  <Override PartName="/ppt/charts/chart218.xml" ContentType="application/vnd.openxmlformats-officedocument.drawingml.chart+xml"/>
  <Override PartName="/ppt/charts/chart219.xml" ContentType="application/vnd.openxmlformats-officedocument.drawingml.chart+xml"/>
  <Override PartName="/ppt/charts/chart22.xml" ContentType="application/vnd.openxmlformats-officedocument.drawingml.chart+xml"/>
  <Override PartName="/ppt/charts/chart220.xml" ContentType="application/vnd.openxmlformats-officedocument.drawingml.chart+xml"/>
  <Override PartName="/ppt/charts/chart221.xml" ContentType="application/vnd.openxmlformats-officedocument.drawingml.chart+xml"/>
  <Override PartName="/ppt/charts/chart222.xml" ContentType="application/vnd.openxmlformats-officedocument.drawingml.chart+xml"/>
  <Override PartName="/ppt/charts/chart223.xml" ContentType="application/vnd.openxmlformats-officedocument.drawingml.chart+xml"/>
  <Override PartName="/ppt/charts/chart224.xml" ContentType="application/vnd.openxmlformats-officedocument.drawingml.chart+xml"/>
  <Override PartName="/ppt/charts/chart225.xml" ContentType="application/vnd.openxmlformats-officedocument.drawingml.chart+xml"/>
  <Override PartName="/ppt/charts/chart226.xml" ContentType="application/vnd.openxmlformats-officedocument.drawingml.chart+xml"/>
  <Override PartName="/ppt/charts/chart227.xml" ContentType="application/vnd.openxmlformats-officedocument.drawingml.chart+xml"/>
  <Override PartName="/ppt/charts/chart228.xml" ContentType="application/vnd.openxmlformats-officedocument.drawingml.chart+xml"/>
  <Override PartName="/ppt/charts/chart229.xml" ContentType="application/vnd.openxmlformats-officedocument.drawingml.chart+xml"/>
  <Override PartName="/ppt/charts/chart23.xml" ContentType="application/vnd.openxmlformats-officedocument.drawingml.chart+xml"/>
  <Override PartName="/ppt/charts/chart230.xml" ContentType="application/vnd.openxmlformats-officedocument.drawingml.chart+xml"/>
  <Override PartName="/ppt/charts/chart231.xml" ContentType="application/vnd.openxmlformats-officedocument.drawingml.chart+xml"/>
  <Override PartName="/ppt/charts/chart232.xml" ContentType="application/vnd.openxmlformats-officedocument.drawingml.chart+xml"/>
  <Override PartName="/ppt/charts/chart233.xml" ContentType="application/vnd.openxmlformats-officedocument.drawingml.chart+xml"/>
  <Override PartName="/ppt/charts/chart234.xml" ContentType="application/vnd.openxmlformats-officedocument.drawingml.chart+xml"/>
  <Override PartName="/ppt/charts/chart235.xml" ContentType="application/vnd.openxmlformats-officedocument.drawingml.chart+xml"/>
  <Override PartName="/ppt/charts/chart236.xml" ContentType="application/vnd.openxmlformats-officedocument.drawingml.chart+xml"/>
  <Override PartName="/ppt/charts/chart237.xml" ContentType="application/vnd.openxmlformats-officedocument.drawingml.chart+xml"/>
  <Override PartName="/ppt/charts/chart238.xml" ContentType="application/vnd.openxmlformats-officedocument.drawingml.chart+xml"/>
  <Override PartName="/ppt/charts/chart239.xml" ContentType="application/vnd.openxmlformats-officedocument.drawingml.chart+xml"/>
  <Override PartName="/ppt/charts/chart24.xml" ContentType="application/vnd.openxmlformats-officedocument.drawingml.chart+xml"/>
  <Override PartName="/ppt/charts/chart240.xml" ContentType="application/vnd.openxmlformats-officedocument.drawingml.chart+xml"/>
  <Override PartName="/ppt/charts/chart241.xml" ContentType="application/vnd.openxmlformats-officedocument.drawingml.chart+xml"/>
  <Override PartName="/ppt/charts/chart242.xml" ContentType="application/vnd.openxmlformats-officedocument.drawingml.chart+xml"/>
  <Override PartName="/ppt/charts/chart243.xml" ContentType="application/vnd.openxmlformats-officedocument.drawingml.chart+xml"/>
  <Override PartName="/ppt/charts/chart244.xml" ContentType="application/vnd.openxmlformats-officedocument.drawingml.chart+xml"/>
  <Override PartName="/ppt/charts/chart245.xml" ContentType="application/vnd.openxmlformats-officedocument.drawingml.chart+xml"/>
  <Override PartName="/ppt/charts/chart246.xml" ContentType="application/vnd.openxmlformats-officedocument.drawingml.chart+xml"/>
  <Override PartName="/ppt/charts/chart247.xml" ContentType="application/vnd.openxmlformats-officedocument.drawingml.chart+xml"/>
  <Override PartName="/ppt/charts/chart248.xml" ContentType="application/vnd.openxmlformats-officedocument.drawingml.chart+xml"/>
  <Override PartName="/ppt/charts/chart249.xml" ContentType="application/vnd.openxmlformats-officedocument.drawingml.chart+xml"/>
  <Override PartName="/ppt/charts/chart25.xml" ContentType="application/vnd.openxmlformats-officedocument.drawingml.chart+xml"/>
  <Override PartName="/ppt/charts/chart250.xml" ContentType="application/vnd.openxmlformats-officedocument.drawingml.chart+xml"/>
  <Override PartName="/ppt/charts/chart251.xml" ContentType="application/vnd.openxmlformats-officedocument.drawingml.chart+xml"/>
  <Override PartName="/ppt/charts/chart252.xml" ContentType="application/vnd.openxmlformats-officedocument.drawingml.chart+xml"/>
  <Override PartName="/ppt/charts/chart253.xml" ContentType="application/vnd.openxmlformats-officedocument.drawingml.chart+xml"/>
  <Override PartName="/ppt/charts/chart254.xml" ContentType="application/vnd.openxmlformats-officedocument.drawingml.chart+xml"/>
  <Override PartName="/ppt/charts/chart255.xml" ContentType="application/vnd.openxmlformats-officedocument.drawingml.chart+xml"/>
  <Override PartName="/ppt/charts/chart256.xml" ContentType="application/vnd.openxmlformats-officedocument.drawingml.chart+xml"/>
  <Override PartName="/ppt/charts/chart257.xml" ContentType="application/vnd.openxmlformats-officedocument.drawingml.chart+xml"/>
  <Override PartName="/ppt/charts/chart258.xml" ContentType="application/vnd.openxmlformats-officedocument.drawingml.chart+xml"/>
  <Override PartName="/ppt/charts/chart259.xml" ContentType="application/vnd.openxmlformats-officedocument.drawingml.chart+xml"/>
  <Override PartName="/ppt/charts/chart26.xml" ContentType="application/vnd.openxmlformats-officedocument.drawingml.chart+xml"/>
  <Override PartName="/ppt/charts/chart260.xml" ContentType="application/vnd.openxmlformats-officedocument.drawingml.chart+xml"/>
  <Override PartName="/ppt/charts/chart261.xml" ContentType="application/vnd.openxmlformats-officedocument.drawingml.chart+xml"/>
  <Override PartName="/ppt/charts/chart262.xml" ContentType="application/vnd.openxmlformats-officedocument.drawingml.chart+xml"/>
  <Override PartName="/ppt/charts/chart263.xml" ContentType="application/vnd.openxmlformats-officedocument.drawingml.chart+xml"/>
  <Override PartName="/ppt/charts/chart264.xml" ContentType="application/vnd.openxmlformats-officedocument.drawingml.chart+xml"/>
  <Override PartName="/ppt/charts/chart265.xml" ContentType="application/vnd.openxmlformats-officedocument.drawingml.chart+xml"/>
  <Override PartName="/ppt/charts/chart266.xml" ContentType="application/vnd.openxmlformats-officedocument.drawingml.chart+xml"/>
  <Override PartName="/ppt/charts/chart267.xml" ContentType="application/vnd.openxmlformats-officedocument.drawingml.chart+xml"/>
  <Override PartName="/ppt/charts/chart268.xml" ContentType="application/vnd.openxmlformats-officedocument.drawingml.chart+xml"/>
  <Override PartName="/ppt/charts/chart269.xml" ContentType="application/vnd.openxmlformats-officedocument.drawingml.chart+xml"/>
  <Override PartName="/ppt/charts/chart27.xml" ContentType="application/vnd.openxmlformats-officedocument.drawingml.chart+xml"/>
  <Override PartName="/ppt/charts/chart270.xml" ContentType="application/vnd.openxmlformats-officedocument.drawingml.chart+xml"/>
  <Override PartName="/ppt/charts/chart271.xml" ContentType="application/vnd.openxmlformats-officedocument.drawingml.chart+xml"/>
  <Override PartName="/ppt/charts/chart272.xml" ContentType="application/vnd.openxmlformats-officedocument.drawingml.chart+xml"/>
  <Override PartName="/ppt/charts/chart273.xml" ContentType="application/vnd.openxmlformats-officedocument.drawingml.chart+xml"/>
  <Override PartName="/ppt/charts/chart274.xml" ContentType="application/vnd.openxmlformats-officedocument.drawingml.chart+xml"/>
  <Override PartName="/ppt/charts/chart275.xml" ContentType="application/vnd.openxmlformats-officedocument.drawingml.chart+xml"/>
  <Override PartName="/ppt/charts/chart276.xml" ContentType="application/vnd.openxmlformats-officedocument.drawingml.chart+xml"/>
  <Override PartName="/ppt/charts/chart277.xml" ContentType="application/vnd.openxmlformats-officedocument.drawingml.chart+xml"/>
  <Override PartName="/ppt/charts/chart278.xml" ContentType="application/vnd.openxmlformats-officedocument.drawingml.chart+xml"/>
  <Override PartName="/ppt/charts/chart279.xml" ContentType="application/vnd.openxmlformats-officedocument.drawingml.chart+xml"/>
  <Override PartName="/ppt/charts/chart28.xml" ContentType="application/vnd.openxmlformats-officedocument.drawingml.chart+xml"/>
  <Override PartName="/ppt/charts/chart280.xml" ContentType="application/vnd.openxmlformats-officedocument.drawingml.chart+xml"/>
  <Override PartName="/ppt/charts/chart281.xml" ContentType="application/vnd.openxmlformats-officedocument.drawingml.chart+xml"/>
  <Override PartName="/ppt/charts/chart282.xml" ContentType="application/vnd.openxmlformats-officedocument.drawingml.chart+xml"/>
  <Override PartName="/ppt/charts/chart283.xml" ContentType="application/vnd.openxmlformats-officedocument.drawingml.chart+xml"/>
  <Override PartName="/ppt/charts/chart284.xml" ContentType="application/vnd.openxmlformats-officedocument.drawingml.chart+xml"/>
  <Override PartName="/ppt/charts/chart285.xml" ContentType="application/vnd.openxmlformats-officedocument.drawingml.chart+xml"/>
  <Override PartName="/ppt/charts/chart286.xml" ContentType="application/vnd.openxmlformats-officedocument.drawingml.chart+xml"/>
  <Override PartName="/ppt/charts/chart287.xml" ContentType="application/vnd.openxmlformats-officedocument.drawingml.chart+xml"/>
  <Override PartName="/ppt/charts/chart288.xml" ContentType="application/vnd.openxmlformats-officedocument.drawingml.chart+xml"/>
  <Override PartName="/ppt/charts/chart289.xml" ContentType="application/vnd.openxmlformats-officedocument.drawingml.chart+xml"/>
  <Override PartName="/ppt/charts/chart29.xml" ContentType="application/vnd.openxmlformats-officedocument.drawingml.chart+xml"/>
  <Override PartName="/ppt/charts/chart290.xml" ContentType="application/vnd.openxmlformats-officedocument.drawingml.chart+xml"/>
  <Override PartName="/ppt/charts/chart291.xml" ContentType="application/vnd.openxmlformats-officedocument.drawingml.chart+xml"/>
  <Override PartName="/ppt/charts/chart292.xml" ContentType="application/vnd.openxmlformats-officedocument.drawingml.chart+xml"/>
  <Override PartName="/ppt/charts/chart293.xml" ContentType="application/vnd.openxmlformats-officedocument.drawingml.chart+xml"/>
  <Override PartName="/ppt/charts/chart294.xml" ContentType="application/vnd.openxmlformats-officedocument.drawingml.chart+xml"/>
  <Override PartName="/ppt/charts/chart295.xml" ContentType="application/vnd.openxmlformats-officedocument.drawingml.chart+xml"/>
  <Override PartName="/ppt/charts/chart296.xml" ContentType="application/vnd.openxmlformats-officedocument.drawingml.chart+xml"/>
  <Override PartName="/ppt/charts/chart297.xml" ContentType="application/vnd.openxmlformats-officedocument.drawingml.chart+xml"/>
  <Override PartName="/ppt/charts/chart298.xml" ContentType="application/vnd.openxmlformats-officedocument.drawingml.chart+xml"/>
  <Override PartName="/ppt/charts/chart29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00.xml" ContentType="application/vnd.openxmlformats-officedocument.drawingml.chart+xml"/>
  <Override PartName="/ppt/charts/chart301.xml" ContentType="application/vnd.openxmlformats-officedocument.drawingml.chart+xml"/>
  <Override PartName="/ppt/charts/chart302.xml" ContentType="application/vnd.openxmlformats-officedocument.drawingml.chart+xml"/>
  <Override PartName="/ppt/charts/chart303.xml" ContentType="application/vnd.openxmlformats-officedocument.drawingml.chart+xml"/>
  <Override PartName="/ppt/charts/chart304.xml" ContentType="application/vnd.openxmlformats-officedocument.drawingml.chart+xml"/>
  <Override PartName="/ppt/charts/chart305.xml" ContentType="application/vnd.openxmlformats-officedocument.drawingml.chart+xml"/>
  <Override PartName="/ppt/charts/chart306.xml" ContentType="application/vnd.openxmlformats-officedocument.drawingml.chart+xml"/>
  <Override PartName="/ppt/charts/chart307.xml" ContentType="application/vnd.openxmlformats-officedocument.drawingml.chart+xml"/>
  <Override PartName="/ppt/charts/chart308.xml" ContentType="application/vnd.openxmlformats-officedocument.drawingml.chart+xml"/>
  <Override PartName="/ppt/charts/chart309.xml" ContentType="application/vnd.openxmlformats-officedocument.drawingml.chart+xml"/>
  <Override PartName="/ppt/charts/chart31.xml" ContentType="application/vnd.openxmlformats-officedocument.drawingml.chart+xml"/>
  <Override PartName="/ppt/charts/chart310.xml" ContentType="application/vnd.openxmlformats-officedocument.drawingml.chart+xml"/>
  <Override PartName="/ppt/charts/chart311.xml" ContentType="application/vnd.openxmlformats-officedocument.drawingml.chart+xml"/>
  <Override PartName="/ppt/charts/chart312.xml" ContentType="application/vnd.openxmlformats-officedocument.drawingml.chart+xml"/>
  <Override PartName="/ppt/charts/chart313.xml" ContentType="application/vnd.openxmlformats-officedocument.drawingml.chart+xml"/>
  <Override PartName="/ppt/charts/chart314.xml" ContentType="application/vnd.openxmlformats-officedocument.drawingml.chart+xml"/>
  <Override PartName="/ppt/charts/chart315.xml" ContentType="application/vnd.openxmlformats-officedocument.drawingml.chart+xml"/>
  <Override PartName="/ppt/charts/chart316.xml" ContentType="application/vnd.openxmlformats-officedocument.drawingml.chart+xml"/>
  <Override PartName="/ppt/charts/chart317.xml" ContentType="application/vnd.openxmlformats-officedocument.drawingml.chart+xml"/>
  <Override PartName="/ppt/charts/chart318.xml" ContentType="application/vnd.openxmlformats-officedocument.drawingml.chart+xml"/>
  <Override PartName="/ppt/charts/chart319.xml" ContentType="application/vnd.openxmlformats-officedocument.drawingml.chart+xml"/>
  <Override PartName="/ppt/charts/chart32.xml" ContentType="application/vnd.openxmlformats-officedocument.drawingml.chart+xml"/>
  <Override PartName="/ppt/charts/chart320.xml" ContentType="application/vnd.openxmlformats-officedocument.drawingml.chart+xml"/>
  <Override PartName="/ppt/charts/chart321.xml" ContentType="application/vnd.openxmlformats-officedocument.drawingml.chart+xml"/>
  <Override PartName="/ppt/charts/chart322.xml" ContentType="application/vnd.openxmlformats-officedocument.drawingml.chart+xml"/>
  <Override PartName="/ppt/charts/chart323.xml" ContentType="application/vnd.openxmlformats-officedocument.drawingml.chart+xml"/>
  <Override PartName="/ppt/charts/chart324.xml" ContentType="application/vnd.openxmlformats-officedocument.drawingml.chart+xml"/>
  <Override PartName="/ppt/charts/chart325.xml" ContentType="application/vnd.openxmlformats-officedocument.drawingml.chart+xml"/>
  <Override PartName="/ppt/charts/chart326.xml" ContentType="application/vnd.openxmlformats-officedocument.drawingml.chart+xml"/>
  <Override PartName="/ppt/charts/chart327.xml" ContentType="application/vnd.openxmlformats-officedocument.drawingml.chart+xml"/>
  <Override PartName="/ppt/charts/chart328.xml" ContentType="application/vnd.openxmlformats-officedocument.drawingml.chart+xml"/>
  <Override PartName="/ppt/charts/chart329.xml" ContentType="application/vnd.openxmlformats-officedocument.drawingml.chart+xml"/>
  <Override PartName="/ppt/charts/chart33.xml" ContentType="application/vnd.openxmlformats-officedocument.drawingml.chart+xml"/>
  <Override PartName="/ppt/charts/chart330.xml" ContentType="application/vnd.openxmlformats-officedocument.drawingml.chart+xml"/>
  <Override PartName="/ppt/charts/chart331.xml" ContentType="application/vnd.openxmlformats-officedocument.drawingml.chart+xml"/>
  <Override PartName="/ppt/charts/chart332.xml" ContentType="application/vnd.openxmlformats-officedocument.drawingml.chart+xml"/>
  <Override PartName="/ppt/charts/chart333.xml" ContentType="application/vnd.openxmlformats-officedocument.drawingml.chart+xml"/>
  <Override PartName="/ppt/charts/chart334.xml" ContentType="application/vnd.openxmlformats-officedocument.drawingml.chart+xml"/>
  <Override PartName="/ppt/charts/chart335.xml" ContentType="application/vnd.openxmlformats-officedocument.drawingml.chart+xml"/>
  <Override PartName="/ppt/charts/chart336.xml" ContentType="application/vnd.openxmlformats-officedocument.drawingml.chart+xml"/>
  <Override PartName="/ppt/charts/chart337.xml" ContentType="application/vnd.openxmlformats-officedocument.drawingml.chart+xml"/>
  <Override PartName="/ppt/charts/chart338.xml" ContentType="application/vnd.openxmlformats-officedocument.drawingml.chart+xml"/>
  <Override PartName="/ppt/charts/chart339.xml" ContentType="application/vnd.openxmlformats-officedocument.drawingml.chart+xml"/>
  <Override PartName="/ppt/charts/chart34.xml" ContentType="application/vnd.openxmlformats-officedocument.drawingml.chart+xml"/>
  <Override PartName="/ppt/charts/chart340.xml" ContentType="application/vnd.openxmlformats-officedocument.drawingml.chart+xml"/>
  <Override PartName="/ppt/charts/chart341.xml" ContentType="application/vnd.openxmlformats-officedocument.drawingml.chart+xml"/>
  <Override PartName="/ppt/charts/chart342.xml" ContentType="application/vnd.openxmlformats-officedocument.drawingml.chart+xml"/>
  <Override PartName="/ppt/charts/chart343.xml" ContentType="application/vnd.openxmlformats-officedocument.drawingml.chart+xml"/>
  <Override PartName="/ppt/charts/chart344.xml" ContentType="application/vnd.openxmlformats-officedocument.drawingml.chart+xml"/>
  <Override PartName="/ppt/charts/chart345.xml" ContentType="application/vnd.openxmlformats-officedocument.drawingml.chart+xml"/>
  <Override PartName="/ppt/charts/chart346.xml" ContentType="application/vnd.openxmlformats-officedocument.drawingml.chart+xml"/>
  <Override PartName="/ppt/charts/chart347.xml" ContentType="application/vnd.openxmlformats-officedocument.drawingml.chart+xml"/>
  <Override PartName="/ppt/charts/chart348.xml" ContentType="application/vnd.openxmlformats-officedocument.drawingml.chart+xml"/>
  <Override PartName="/ppt/charts/chart349.xml" ContentType="application/vnd.openxmlformats-officedocument.drawingml.chart+xml"/>
  <Override PartName="/ppt/charts/chart35.xml" ContentType="application/vnd.openxmlformats-officedocument.drawingml.chart+xml"/>
  <Override PartName="/ppt/charts/chart350.xml" ContentType="application/vnd.openxmlformats-officedocument.drawingml.chart+xml"/>
  <Override PartName="/ppt/charts/chart351.xml" ContentType="application/vnd.openxmlformats-officedocument.drawingml.chart+xml"/>
  <Override PartName="/ppt/charts/chart352.xml" ContentType="application/vnd.openxmlformats-officedocument.drawingml.chart+xml"/>
  <Override PartName="/ppt/charts/chart353.xml" ContentType="application/vnd.openxmlformats-officedocument.drawingml.chart+xml"/>
  <Override PartName="/ppt/charts/chart354.xml" ContentType="application/vnd.openxmlformats-officedocument.drawingml.chart+xml"/>
  <Override PartName="/ppt/charts/chart355.xml" ContentType="application/vnd.openxmlformats-officedocument.drawingml.chart+xml"/>
  <Override PartName="/ppt/charts/chart356.xml" ContentType="application/vnd.openxmlformats-officedocument.drawingml.chart+xml"/>
  <Override PartName="/ppt/charts/chart357.xml" ContentType="application/vnd.openxmlformats-officedocument.drawingml.chart+xml"/>
  <Override PartName="/ppt/charts/chart358.xml" ContentType="application/vnd.openxmlformats-officedocument.drawingml.chart+xml"/>
  <Override PartName="/ppt/charts/chart359.xml" ContentType="application/vnd.openxmlformats-officedocument.drawingml.chart+xml"/>
  <Override PartName="/ppt/charts/chart36.xml" ContentType="application/vnd.openxmlformats-officedocument.drawingml.chart+xml"/>
  <Override PartName="/ppt/charts/chart360.xml" ContentType="application/vnd.openxmlformats-officedocument.drawingml.chart+xml"/>
  <Override PartName="/ppt/charts/chart361.xml" ContentType="application/vnd.openxmlformats-officedocument.drawingml.chart+xml"/>
  <Override PartName="/ppt/charts/chart362.xml" ContentType="application/vnd.openxmlformats-officedocument.drawingml.chart+xml"/>
  <Override PartName="/ppt/charts/chart363.xml" ContentType="application/vnd.openxmlformats-officedocument.drawingml.chart+xml"/>
  <Override PartName="/ppt/charts/chart364.xml" ContentType="application/vnd.openxmlformats-officedocument.drawingml.chart+xml"/>
  <Override PartName="/ppt/charts/chart365.xml" ContentType="application/vnd.openxmlformats-officedocument.drawingml.chart+xml"/>
  <Override PartName="/ppt/charts/chart366.xml" ContentType="application/vnd.openxmlformats-officedocument.drawingml.chart+xml"/>
  <Override PartName="/ppt/charts/chart367.xml" ContentType="application/vnd.openxmlformats-officedocument.drawingml.chart+xml"/>
  <Override PartName="/ppt/charts/chart368.xml" ContentType="application/vnd.openxmlformats-officedocument.drawingml.chart+xml"/>
  <Override PartName="/ppt/charts/chart369.xml" ContentType="application/vnd.openxmlformats-officedocument.drawingml.chart+xml"/>
  <Override PartName="/ppt/charts/chart37.xml" ContentType="application/vnd.openxmlformats-officedocument.drawingml.chart+xml"/>
  <Override PartName="/ppt/charts/chart370.xml" ContentType="application/vnd.openxmlformats-officedocument.drawingml.chart+xml"/>
  <Override PartName="/ppt/charts/chart371.xml" ContentType="application/vnd.openxmlformats-officedocument.drawingml.chart+xml"/>
  <Override PartName="/ppt/charts/chart372.xml" ContentType="application/vnd.openxmlformats-officedocument.drawingml.chart+xml"/>
  <Override PartName="/ppt/charts/chart373.xml" ContentType="application/vnd.openxmlformats-officedocument.drawingml.chart+xml"/>
  <Override PartName="/ppt/charts/chart374.xml" ContentType="application/vnd.openxmlformats-officedocument.drawingml.chart+xml"/>
  <Override PartName="/ppt/charts/chart375.xml" ContentType="application/vnd.openxmlformats-officedocument.drawingml.chart+xml"/>
  <Override PartName="/ppt/charts/chart376.xml" ContentType="application/vnd.openxmlformats-officedocument.drawingml.chart+xml"/>
  <Override PartName="/ppt/charts/chart377.xml" ContentType="application/vnd.openxmlformats-officedocument.drawingml.chart+xml"/>
  <Override PartName="/ppt/charts/chart378.xml" ContentType="application/vnd.openxmlformats-officedocument.drawingml.chart+xml"/>
  <Override PartName="/ppt/charts/chart379.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797" r:id="rId549"/>
    <p:sldId id="791" r:id="rId543"/>
    <p:sldId id="792" r:id="rId544"/>
    <p:sldId id="793" r:id="rId545"/>
    <p:sldId id="794" r:id="rId546"/>
    <p:sldId id="795" r:id="rId547"/>
    <p:sldId id="796" r:id="rId548"/>
    <p:sldId id="806" r:id="rId558"/>
    <p:sldId id="798" r:id="rId550"/>
    <p:sldId id="799" r:id="rId551"/>
    <p:sldId id="800" r:id="rId552"/>
    <p:sldId id="801" r:id="rId553"/>
    <p:sldId id="802" r:id="rId554"/>
    <p:sldId id="803" r:id="rId555"/>
    <p:sldId id="804" r:id="rId556"/>
    <p:sldId id="805" r:id="rId557"/>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 id="352" r:id="rId104"/>
    <p:sldId id="353" r:id="rId105"/>
    <p:sldId id="354" r:id="rId106"/>
    <p:sldId id="355" r:id="rId107"/>
    <p:sldId id="356" r:id="rId108"/>
    <p:sldId id="357" r:id="rId109"/>
    <p:sldId id="358" r:id="rId110"/>
    <p:sldId id="359" r:id="rId111"/>
    <p:sldId id="360" r:id="rId112"/>
    <p:sldId id="361" r:id="rId113"/>
    <p:sldId id="362" r:id="rId114"/>
    <p:sldId id="363" r:id="rId115"/>
    <p:sldId id="364" r:id="rId116"/>
    <p:sldId id="365" r:id="rId117"/>
    <p:sldId id="366" r:id="rId118"/>
    <p:sldId id="367" r:id="rId119"/>
    <p:sldId id="368" r:id="rId120"/>
    <p:sldId id="369" r:id="rId121"/>
    <p:sldId id="370" r:id="rId122"/>
    <p:sldId id="371" r:id="rId123"/>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2" r:id="rId164"/>
    <p:sldId id="413" r:id="rId165"/>
    <p:sldId id="414" r:id="rId166"/>
    <p:sldId id="415" r:id="rId167"/>
    <p:sldId id="416" r:id="rId168"/>
    <p:sldId id="417" r:id="rId169"/>
    <p:sldId id="418" r:id="rId170"/>
    <p:sldId id="419" r:id="rId171"/>
    <p:sldId id="420" r:id="rId172"/>
    <p:sldId id="421" r:id="rId173"/>
    <p:sldId id="422" r:id="rId174"/>
    <p:sldId id="423" r:id="rId175"/>
    <p:sldId id="424" r:id="rId176"/>
    <p:sldId id="425" r:id="rId177"/>
    <p:sldId id="426" r:id="rId178"/>
    <p:sldId id="427" r:id="rId179"/>
    <p:sldId id="428"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59" r:id="rId211"/>
    <p:sldId id="460" r:id="rId212"/>
    <p:sldId id="461" r:id="rId213"/>
    <p:sldId id="462" r:id="rId214"/>
    <p:sldId id="463" r:id="rId215"/>
    <p:sldId id="464" r:id="rId216"/>
    <p:sldId id="465" r:id="rId217"/>
    <p:sldId id="466" r:id="rId218"/>
    <p:sldId id="467" r:id="rId219"/>
    <p:sldId id="468" r:id="rId220"/>
    <p:sldId id="469" r:id="rId221"/>
    <p:sldId id="470" r:id="rId222"/>
    <p:sldId id="471" r:id="rId223"/>
    <p:sldId id="472" r:id="rId224"/>
    <p:sldId id="473" r:id="rId225"/>
    <p:sldId id="474" r:id="rId226"/>
    <p:sldId id="475" r:id="rId227"/>
    <p:sldId id="476" r:id="rId228"/>
    <p:sldId id="477" r:id="rId229"/>
    <p:sldId id="478" r:id="rId230"/>
    <p:sldId id="479" r:id="rId231"/>
    <p:sldId id="480" r:id="rId232"/>
    <p:sldId id="481" r:id="rId233"/>
    <p:sldId id="482" r:id="rId234"/>
    <p:sldId id="483" r:id="rId235"/>
    <p:sldId id="484" r:id="rId236"/>
    <p:sldId id="485" r:id="rId237"/>
    <p:sldId id="486" r:id="rId238"/>
    <p:sldId id="487" r:id="rId239"/>
    <p:sldId id="488" r:id="rId240"/>
    <p:sldId id="489" r:id="rId241"/>
    <p:sldId id="490" r:id="rId242"/>
    <p:sldId id="491" r:id="rId243"/>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8" r:id="rId270"/>
    <p:sldId id="519" r:id="rId271"/>
    <p:sldId id="520" r:id="rId272"/>
    <p:sldId id="521" r:id="rId273"/>
    <p:sldId id="522" r:id="rId274"/>
    <p:sldId id="523" r:id="rId275"/>
    <p:sldId id="524" r:id="rId276"/>
    <p:sldId id="525" r:id="rId277"/>
    <p:sldId id="526" r:id="rId278"/>
    <p:sldId id="527" r:id="rId279"/>
    <p:sldId id="528" r:id="rId280"/>
    <p:sldId id="529" r:id="rId281"/>
    <p:sldId id="530" r:id="rId282"/>
    <p:sldId id="531" r:id="rId283"/>
    <p:sldId id="532" r:id="rId284"/>
    <p:sldId id="533" r:id="rId285"/>
    <p:sldId id="534" r:id="rId286"/>
    <p:sldId id="535" r:id="rId287"/>
    <p:sldId id="536" r:id="rId288"/>
    <p:sldId id="537" r:id="rId289"/>
    <p:sldId id="538" r:id="rId290"/>
    <p:sldId id="539" r:id="rId291"/>
    <p:sldId id="540" r:id="rId292"/>
    <p:sldId id="541" r:id="rId293"/>
    <p:sldId id="542" r:id="rId294"/>
    <p:sldId id="543" r:id="rId295"/>
    <p:sldId id="544" r:id="rId296"/>
    <p:sldId id="545" r:id="rId297"/>
    <p:sldId id="546" r:id="rId298"/>
    <p:sldId id="547" r:id="rId299"/>
    <p:sldId id="548" r:id="rId300"/>
    <p:sldId id="549" r:id="rId301"/>
    <p:sldId id="550" r:id="rId302"/>
    <p:sldId id="551" r:id="rId303"/>
    <p:sldId id="552" r:id="rId304"/>
    <p:sldId id="553" r:id="rId305"/>
    <p:sldId id="554" r:id="rId306"/>
    <p:sldId id="555" r:id="rId307"/>
    <p:sldId id="556" r:id="rId308"/>
    <p:sldId id="557" r:id="rId309"/>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 id="575" r:id="rId327"/>
    <p:sldId id="576" r:id="rId328"/>
    <p:sldId id="577" r:id="rId329"/>
    <p:sldId id="578" r:id="rId330"/>
    <p:sldId id="579" r:id="rId331"/>
    <p:sldId id="580" r:id="rId332"/>
    <p:sldId id="581" r:id="rId333"/>
    <p:sldId id="582" r:id="rId334"/>
    <p:sldId id="583" r:id="rId335"/>
    <p:sldId id="584" r:id="rId336"/>
    <p:sldId id="585" r:id="rId337"/>
    <p:sldId id="586" r:id="rId338"/>
    <p:sldId id="587" r:id="rId339"/>
    <p:sldId id="588" r:id="rId340"/>
    <p:sldId id="589" r:id="rId341"/>
    <p:sldId id="590" r:id="rId342"/>
    <p:sldId id="591" r:id="rId343"/>
    <p:sldId id="592" r:id="rId344"/>
    <p:sldId id="593" r:id="rId345"/>
    <p:sldId id="594" r:id="rId346"/>
    <p:sldId id="595" r:id="rId347"/>
    <p:sldId id="596" r:id="rId348"/>
    <p:sldId id="597" r:id="rId349"/>
    <p:sldId id="598" r:id="rId350"/>
    <p:sldId id="599" r:id="rId351"/>
    <p:sldId id="600" r:id="rId352"/>
    <p:sldId id="601" r:id="rId353"/>
    <p:sldId id="602" r:id="rId354"/>
    <p:sldId id="603" r:id="rId355"/>
    <p:sldId id="604" r:id="rId356"/>
    <p:sldId id="605" r:id="rId357"/>
    <p:sldId id="606" r:id="rId358"/>
    <p:sldId id="607" r:id="rId359"/>
    <p:sldId id="608" r:id="rId360"/>
    <p:sldId id="609" r:id="rId361"/>
    <p:sldId id="610" r:id="rId362"/>
    <p:sldId id="611" r:id="rId363"/>
    <p:sldId id="612" r:id="rId364"/>
    <p:sldId id="613" r:id="rId365"/>
    <p:sldId id="614" r:id="rId366"/>
    <p:sldId id="615" r:id="rId367"/>
    <p:sldId id="616" r:id="rId368"/>
    <p:sldId id="617" r:id="rId369"/>
    <p:sldId id="618" r:id="rId370"/>
    <p:sldId id="619" r:id="rId371"/>
    <p:sldId id="620" r:id="rId372"/>
    <p:sldId id="621" r:id="rId373"/>
    <p:sldId id="622" r:id="rId374"/>
    <p:sldId id="623" r:id="rId375"/>
    <p:sldId id="624" r:id="rId376"/>
    <p:sldId id="625" r:id="rId377"/>
    <p:sldId id="626" r:id="rId378"/>
    <p:sldId id="627" r:id="rId379"/>
    <p:sldId id="628" r:id="rId380"/>
    <p:sldId id="629" r:id="rId381"/>
    <p:sldId id="630" r:id="rId382"/>
    <p:sldId id="631" r:id="rId383"/>
    <p:sldId id="632" r:id="rId384"/>
    <p:sldId id="633" r:id="rId385"/>
    <p:sldId id="634" r:id="rId386"/>
    <p:sldId id="635" r:id="rId387"/>
    <p:sldId id="636" r:id="rId388"/>
    <p:sldId id="637" r:id="rId389"/>
    <p:sldId id="638" r:id="rId390"/>
    <p:sldId id="639" r:id="rId391"/>
    <p:sldId id="640" r:id="rId392"/>
    <p:sldId id="641" r:id="rId393"/>
    <p:sldId id="642" r:id="rId394"/>
    <p:sldId id="643" r:id="rId395"/>
    <p:sldId id="644" r:id="rId396"/>
    <p:sldId id="645" r:id="rId397"/>
    <p:sldId id="646" r:id="rId398"/>
    <p:sldId id="647" r:id="rId399"/>
    <p:sldId id="648" r:id="rId400"/>
    <p:sldId id="649" r:id="rId401"/>
    <p:sldId id="650" r:id="rId402"/>
    <p:sldId id="651" r:id="rId403"/>
    <p:sldId id="652" r:id="rId404"/>
    <p:sldId id="653" r:id="rId405"/>
    <p:sldId id="654" r:id="rId406"/>
    <p:sldId id="655" r:id="rId407"/>
    <p:sldId id="656" r:id="rId408"/>
    <p:sldId id="657" r:id="rId409"/>
    <p:sldId id="658" r:id="rId410"/>
    <p:sldId id="659" r:id="rId411"/>
    <p:sldId id="660" r:id="rId412"/>
    <p:sldId id="661" r:id="rId413"/>
    <p:sldId id="662" r:id="rId414"/>
    <p:sldId id="663" r:id="rId415"/>
    <p:sldId id="664" r:id="rId416"/>
    <p:sldId id="665" r:id="rId417"/>
    <p:sldId id="666" r:id="rId418"/>
    <p:sldId id="667" r:id="rId419"/>
    <p:sldId id="668" r:id="rId420"/>
    <p:sldId id="669" r:id="rId421"/>
    <p:sldId id="670" r:id="rId422"/>
    <p:sldId id="671" r:id="rId423"/>
    <p:sldId id="672" r:id="rId424"/>
    <p:sldId id="673" r:id="rId425"/>
    <p:sldId id="674" r:id="rId426"/>
    <p:sldId id="675" r:id="rId427"/>
    <p:sldId id="676" r:id="rId428"/>
    <p:sldId id="677" r:id="rId429"/>
    <p:sldId id="678" r:id="rId430"/>
    <p:sldId id="679" r:id="rId431"/>
    <p:sldId id="680" r:id="rId432"/>
    <p:sldId id="681" r:id="rId433"/>
    <p:sldId id="682" r:id="rId434"/>
    <p:sldId id="683" r:id="rId435"/>
    <p:sldId id="684" r:id="rId436"/>
    <p:sldId id="685" r:id="rId437"/>
    <p:sldId id="686" r:id="rId438"/>
    <p:sldId id="687" r:id="rId439"/>
    <p:sldId id="688" r:id="rId440"/>
    <p:sldId id="689" r:id="rId441"/>
    <p:sldId id="690" r:id="rId442"/>
    <p:sldId id="691" r:id="rId443"/>
    <p:sldId id="692" r:id="rId444"/>
    <p:sldId id="693" r:id="rId445"/>
    <p:sldId id="694" r:id="rId446"/>
    <p:sldId id="695" r:id="rId447"/>
    <p:sldId id="696" r:id="rId448"/>
    <p:sldId id="697" r:id="rId449"/>
    <p:sldId id="698" r:id="rId450"/>
    <p:sldId id="699" r:id="rId451"/>
    <p:sldId id="700" r:id="rId452"/>
    <p:sldId id="701" r:id="rId453"/>
    <p:sldId id="702" r:id="rId454"/>
    <p:sldId id="703" r:id="rId455"/>
    <p:sldId id="704" r:id="rId456"/>
    <p:sldId id="705" r:id="rId457"/>
    <p:sldId id="706" r:id="rId458"/>
    <p:sldId id="707" r:id="rId459"/>
    <p:sldId id="708" r:id="rId460"/>
    <p:sldId id="709" r:id="rId461"/>
    <p:sldId id="710" r:id="rId462"/>
    <p:sldId id="711" r:id="rId463"/>
    <p:sldId id="712" r:id="rId464"/>
    <p:sldId id="713" r:id="rId465"/>
    <p:sldId id="714" r:id="rId466"/>
    <p:sldId id="715" r:id="rId467"/>
    <p:sldId id="716" r:id="rId468"/>
    <p:sldId id="717" r:id="rId469"/>
    <p:sldId id="718" r:id="rId470"/>
    <p:sldId id="719" r:id="rId471"/>
    <p:sldId id="720" r:id="rId472"/>
    <p:sldId id="721" r:id="rId473"/>
    <p:sldId id="722" r:id="rId474"/>
    <p:sldId id="723" r:id="rId475"/>
    <p:sldId id="724" r:id="rId476"/>
    <p:sldId id="725" r:id="rId477"/>
    <p:sldId id="726" r:id="rId478"/>
    <p:sldId id="727" r:id="rId479"/>
    <p:sldId id="728" r:id="rId480"/>
    <p:sldId id="729" r:id="rId481"/>
    <p:sldId id="730" r:id="rId482"/>
    <p:sldId id="731" r:id="rId483"/>
    <p:sldId id="732" r:id="rId484"/>
    <p:sldId id="733" r:id="rId485"/>
    <p:sldId id="734" r:id="rId486"/>
    <p:sldId id="735" r:id="rId487"/>
    <p:sldId id="736" r:id="rId488"/>
    <p:sldId id="737" r:id="rId489"/>
    <p:sldId id="738" r:id="rId490"/>
    <p:sldId id="739" r:id="rId491"/>
    <p:sldId id="740" r:id="rId492"/>
    <p:sldId id="741" r:id="rId493"/>
    <p:sldId id="742" r:id="rId494"/>
    <p:sldId id="743" r:id="rId495"/>
    <p:sldId id="744" r:id="rId496"/>
    <p:sldId id="745" r:id="rId497"/>
    <p:sldId id="746" r:id="rId498"/>
    <p:sldId id="747" r:id="rId499"/>
    <p:sldId id="748" r:id="rId500"/>
    <p:sldId id="749" r:id="rId501"/>
    <p:sldId id="750" r:id="rId502"/>
    <p:sldId id="751" r:id="rId503"/>
    <p:sldId id="752" r:id="rId504"/>
    <p:sldId id="753" r:id="rId505"/>
    <p:sldId id="754" r:id="rId506"/>
    <p:sldId id="755" r:id="rId507"/>
    <p:sldId id="756" r:id="rId508"/>
    <p:sldId id="757" r:id="rId509"/>
    <p:sldId id="758" r:id="rId510"/>
    <p:sldId id="759" r:id="rId511"/>
    <p:sldId id="760" r:id="rId512"/>
    <p:sldId id="761" r:id="rId513"/>
    <p:sldId id="762" r:id="rId514"/>
    <p:sldId id="763" r:id="rId515"/>
    <p:sldId id="764" r:id="rId516"/>
    <p:sldId id="765" r:id="rId517"/>
    <p:sldId id="766" r:id="rId518"/>
    <p:sldId id="767" r:id="rId519"/>
    <p:sldId id="768" r:id="rId520"/>
    <p:sldId id="769" r:id="rId521"/>
    <p:sldId id="770" r:id="rId522"/>
    <p:sldId id="771" r:id="rId523"/>
    <p:sldId id="772" r:id="rId524"/>
    <p:sldId id="773" r:id="rId525"/>
    <p:sldId id="774" r:id="rId526"/>
    <p:sldId id="775" r:id="rId527"/>
    <p:sldId id="776" r:id="rId528"/>
    <p:sldId id="777" r:id="rId529"/>
    <p:sldId id="778" r:id="rId530"/>
    <p:sldId id="779" r:id="rId531"/>
    <p:sldId id="780" r:id="rId532"/>
    <p:sldId id="781" r:id="rId533"/>
    <p:sldId id="782" r:id="rId534"/>
    <p:sldId id="783" r:id="rId535"/>
    <p:sldId id="784" r:id="rId536"/>
    <p:sldId id="785" r:id="rId537"/>
    <p:sldId id="786" r:id="rId538"/>
    <p:sldId id="787" r:id="rId539"/>
    <p:sldId id="788" r:id="rId540"/>
    <p:sldId id="789" r:id="rId541"/>
    <p:sldId id="790" r:id="rId542"/>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11.xml"/><Relationship Id="rId19" Type="http://schemas.openxmlformats.org/officeDocument/2006/relationships/slide" Target="slides/slide12.xml"/><Relationship Id="rId20" Type="http://schemas.openxmlformats.org/officeDocument/2006/relationships/slide" Target="slides/slide13.xml"/><Relationship Id="rId21" Type="http://schemas.openxmlformats.org/officeDocument/2006/relationships/slide" Target="slides/slide14.xml"/><Relationship Id="rId22" Type="http://schemas.openxmlformats.org/officeDocument/2006/relationships/slide" Target="slides/slide15.xml"/><Relationship Id="rId23" Type="http://schemas.openxmlformats.org/officeDocument/2006/relationships/slide" Target="slides/slide16.xml"/><Relationship Id="rId24" Type="http://schemas.openxmlformats.org/officeDocument/2006/relationships/slide" Target="slides/slide17.xml"/><Relationship Id="rId25" Type="http://schemas.openxmlformats.org/officeDocument/2006/relationships/slide" Target="slides/slide18.xml"/><Relationship Id="rId26" Type="http://schemas.openxmlformats.org/officeDocument/2006/relationships/slide" Target="slides/slide19.xml"/><Relationship Id="rId27" Type="http://schemas.openxmlformats.org/officeDocument/2006/relationships/slide" Target="slides/slide20.xml"/><Relationship Id="rId28" Type="http://schemas.openxmlformats.org/officeDocument/2006/relationships/slide" Target="slides/slide21.xml"/><Relationship Id="rId29" Type="http://schemas.openxmlformats.org/officeDocument/2006/relationships/slide" Target="slides/slide22.xml"/><Relationship Id="rId30" Type="http://schemas.openxmlformats.org/officeDocument/2006/relationships/slide" Target="slides/slide23.xml"/><Relationship Id="rId31" Type="http://schemas.openxmlformats.org/officeDocument/2006/relationships/slide" Target="slides/slide24.xml"/><Relationship Id="rId32" Type="http://schemas.openxmlformats.org/officeDocument/2006/relationships/slide" Target="slides/slide25.xml"/><Relationship Id="rId33" Type="http://schemas.openxmlformats.org/officeDocument/2006/relationships/slide" Target="slides/slide26.xml"/><Relationship Id="rId34" Type="http://schemas.openxmlformats.org/officeDocument/2006/relationships/slide" Target="slides/slide27.xml"/><Relationship Id="rId35" Type="http://schemas.openxmlformats.org/officeDocument/2006/relationships/slide" Target="slides/slide28.xml"/><Relationship Id="rId36" Type="http://schemas.openxmlformats.org/officeDocument/2006/relationships/slide" Target="slides/slide29.xml"/><Relationship Id="rId37" Type="http://schemas.openxmlformats.org/officeDocument/2006/relationships/slide" Target="slides/slide30.xml"/><Relationship Id="rId38" Type="http://schemas.openxmlformats.org/officeDocument/2006/relationships/slide" Target="slides/slide31.xml"/><Relationship Id="rId39" Type="http://schemas.openxmlformats.org/officeDocument/2006/relationships/slide" Target="slides/slide32.xml"/><Relationship Id="rId40" Type="http://schemas.openxmlformats.org/officeDocument/2006/relationships/slide" Target="slides/slide33.xml"/><Relationship Id="rId41" Type="http://schemas.openxmlformats.org/officeDocument/2006/relationships/slide" Target="slides/slide34.xml"/><Relationship Id="rId42" Type="http://schemas.openxmlformats.org/officeDocument/2006/relationships/slide" Target="slides/slide35.xml"/><Relationship Id="rId43" Type="http://schemas.openxmlformats.org/officeDocument/2006/relationships/slide" Target="slides/slide36.xml"/><Relationship Id="rId44" Type="http://schemas.openxmlformats.org/officeDocument/2006/relationships/slide" Target="slides/slide37.xml"/><Relationship Id="rId45" Type="http://schemas.openxmlformats.org/officeDocument/2006/relationships/slide" Target="slides/slide38.xml"/><Relationship Id="rId46" Type="http://schemas.openxmlformats.org/officeDocument/2006/relationships/slide" Target="slides/slide39.xml"/><Relationship Id="rId47" Type="http://schemas.openxmlformats.org/officeDocument/2006/relationships/slide" Target="slides/slide40.xml"/><Relationship Id="rId48" Type="http://schemas.openxmlformats.org/officeDocument/2006/relationships/slide" Target="slides/slide41.xml"/><Relationship Id="rId49" Type="http://schemas.openxmlformats.org/officeDocument/2006/relationships/slide" Target="slides/slide42.xml"/><Relationship Id="rId50" Type="http://schemas.openxmlformats.org/officeDocument/2006/relationships/slide" Target="slides/slide43.xml"/><Relationship Id="rId51" Type="http://schemas.openxmlformats.org/officeDocument/2006/relationships/slide" Target="slides/slide44.xml"/><Relationship Id="rId52" Type="http://schemas.openxmlformats.org/officeDocument/2006/relationships/slide" Target="slides/slide45.xml"/><Relationship Id="rId53" Type="http://schemas.openxmlformats.org/officeDocument/2006/relationships/slide" Target="slides/slide46.xml"/><Relationship Id="rId54" Type="http://schemas.openxmlformats.org/officeDocument/2006/relationships/slide" Target="slides/slide47.xml"/><Relationship Id="rId55" Type="http://schemas.openxmlformats.org/officeDocument/2006/relationships/slide" Target="slides/slide48.xml"/><Relationship Id="rId56" Type="http://schemas.openxmlformats.org/officeDocument/2006/relationships/slide" Target="slides/slide49.xml"/><Relationship Id="rId57" Type="http://schemas.openxmlformats.org/officeDocument/2006/relationships/slide" Target="slides/slide50.xml"/><Relationship Id="rId58" Type="http://schemas.openxmlformats.org/officeDocument/2006/relationships/slide" Target="slides/slide51.xml"/><Relationship Id="rId59" Type="http://schemas.openxmlformats.org/officeDocument/2006/relationships/slide" Target="slides/slide52.xml"/><Relationship Id="rId60" Type="http://schemas.openxmlformats.org/officeDocument/2006/relationships/slide" Target="slides/slide53.xml"/><Relationship Id="rId61" Type="http://schemas.openxmlformats.org/officeDocument/2006/relationships/slide" Target="slides/slide54.xml"/><Relationship Id="rId62" Type="http://schemas.openxmlformats.org/officeDocument/2006/relationships/slide" Target="slides/slide55.xml"/><Relationship Id="rId63" Type="http://schemas.openxmlformats.org/officeDocument/2006/relationships/slide" Target="slides/slide56.xml"/><Relationship Id="rId64" Type="http://schemas.openxmlformats.org/officeDocument/2006/relationships/slide" Target="slides/slide57.xml"/><Relationship Id="rId65" Type="http://schemas.openxmlformats.org/officeDocument/2006/relationships/slide" Target="slides/slide58.xml"/><Relationship Id="rId66" Type="http://schemas.openxmlformats.org/officeDocument/2006/relationships/slide" Target="slides/slide59.xml"/><Relationship Id="rId67" Type="http://schemas.openxmlformats.org/officeDocument/2006/relationships/slide" Target="slides/slide60.xml"/><Relationship Id="rId68" Type="http://schemas.openxmlformats.org/officeDocument/2006/relationships/slide" Target="slides/slide61.xml"/><Relationship Id="rId69" Type="http://schemas.openxmlformats.org/officeDocument/2006/relationships/slide" Target="slides/slide62.xml"/><Relationship Id="rId70" Type="http://schemas.openxmlformats.org/officeDocument/2006/relationships/slide" Target="slides/slide63.xml"/><Relationship Id="rId71" Type="http://schemas.openxmlformats.org/officeDocument/2006/relationships/slide" Target="slides/slide64.xml"/><Relationship Id="rId72" Type="http://schemas.openxmlformats.org/officeDocument/2006/relationships/slide" Target="slides/slide65.xml"/><Relationship Id="rId73" Type="http://schemas.openxmlformats.org/officeDocument/2006/relationships/slide" Target="slides/slide66.xml"/><Relationship Id="rId74" Type="http://schemas.openxmlformats.org/officeDocument/2006/relationships/slide" Target="slides/slide67.xml"/><Relationship Id="rId75" Type="http://schemas.openxmlformats.org/officeDocument/2006/relationships/slide" Target="slides/slide68.xml"/><Relationship Id="rId76" Type="http://schemas.openxmlformats.org/officeDocument/2006/relationships/slide" Target="slides/slide69.xml"/><Relationship Id="rId77" Type="http://schemas.openxmlformats.org/officeDocument/2006/relationships/slide" Target="slides/slide70.xml"/><Relationship Id="rId78" Type="http://schemas.openxmlformats.org/officeDocument/2006/relationships/slide" Target="slides/slide71.xml"/><Relationship Id="rId79" Type="http://schemas.openxmlformats.org/officeDocument/2006/relationships/slide" Target="slides/slide72.xml"/><Relationship Id="rId80" Type="http://schemas.openxmlformats.org/officeDocument/2006/relationships/slide" Target="slides/slide73.xml"/><Relationship Id="rId81" Type="http://schemas.openxmlformats.org/officeDocument/2006/relationships/slide" Target="slides/slide74.xml"/><Relationship Id="rId82" Type="http://schemas.openxmlformats.org/officeDocument/2006/relationships/slide" Target="slides/slide75.xml"/><Relationship Id="rId83" Type="http://schemas.openxmlformats.org/officeDocument/2006/relationships/slide" Target="slides/slide76.xml"/><Relationship Id="rId84" Type="http://schemas.openxmlformats.org/officeDocument/2006/relationships/slide" Target="slides/slide77.xml"/><Relationship Id="rId85" Type="http://schemas.openxmlformats.org/officeDocument/2006/relationships/slide" Target="slides/slide78.xml"/><Relationship Id="rId86" Type="http://schemas.openxmlformats.org/officeDocument/2006/relationships/slide" Target="slides/slide79.xml"/><Relationship Id="rId87" Type="http://schemas.openxmlformats.org/officeDocument/2006/relationships/slide" Target="slides/slide80.xml"/><Relationship Id="rId88" Type="http://schemas.openxmlformats.org/officeDocument/2006/relationships/slide" Target="slides/slide81.xml"/><Relationship Id="rId89" Type="http://schemas.openxmlformats.org/officeDocument/2006/relationships/slide" Target="slides/slide82.xml"/><Relationship Id="rId90" Type="http://schemas.openxmlformats.org/officeDocument/2006/relationships/slide" Target="slides/slide83.xml"/><Relationship Id="rId91" Type="http://schemas.openxmlformats.org/officeDocument/2006/relationships/slide" Target="slides/slide84.xml"/><Relationship Id="rId92" Type="http://schemas.openxmlformats.org/officeDocument/2006/relationships/slide" Target="slides/slide85.xml"/><Relationship Id="rId93" Type="http://schemas.openxmlformats.org/officeDocument/2006/relationships/slide" Target="slides/slide86.xml"/><Relationship Id="rId94" Type="http://schemas.openxmlformats.org/officeDocument/2006/relationships/slide" Target="slides/slide87.xml"/><Relationship Id="rId95" Type="http://schemas.openxmlformats.org/officeDocument/2006/relationships/slide" Target="slides/slide88.xml"/><Relationship Id="rId96" Type="http://schemas.openxmlformats.org/officeDocument/2006/relationships/slide" Target="slides/slide89.xml"/><Relationship Id="rId97" Type="http://schemas.openxmlformats.org/officeDocument/2006/relationships/slide" Target="slides/slide90.xml"/><Relationship Id="rId98"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4" Type="http://schemas.openxmlformats.org/officeDocument/2006/relationships/slide" Target="slides/slide97.xml"/><Relationship Id="rId105" Type="http://schemas.openxmlformats.org/officeDocument/2006/relationships/slide" Target="slides/slide98.xml"/><Relationship Id="rId106" Type="http://schemas.openxmlformats.org/officeDocument/2006/relationships/slide" Target="slides/slide99.xml"/><Relationship Id="rId107" Type="http://schemas.openxmlformats.org/officeDocument/2006/relationships/slide" Target="slides/slide100.xml"/><Relationship Id="rId108" Type="http://schemas.openxmlformats.org/officeDocument/2006/relationships/slide" Target="slides/slide101.xml"/><Relationship Id="rId109" Type="http://schemas.openxmlformats.org/officeDocument/2006/relationships/slide" Target="slides/slide102.xml"/><Relationship Id="rId110" Type="http://schemas.openxmlformats.org/officeDocument/2006/relationships/slide" Target="slides/slide103.xml"/><Relationship Id="rId111" Type="http://schemas.openxmlformats.org/officeDocument/2006/relationships/slide" Target="slides/slide104.xml"/><Relationship Id="rId112" Type="http://schemas.openxmlformats.org/officeDocument/2006/relationships/slide" Target="slides/slide105.xml"/><Relationship Id="rId113" Type="http://schemas.openxmlformats.org/officeDocument/2006/relationships/slide" Target="slides/slide106.xml"/><Relationship Id="rId114" Type="http://schemas.openxmlformats.org/officeDocument/2006/relationships/slide" Target="slides/slide107.xml"/><Relationship Id="rId115" Type="http://schemas.openxmlformats.org/officeDocument/2006/relationships/slide" Target="slides/slide108.xml"/><Relationship Id="rId116" Type="http://schemas.openxmlformats.org/officeDocument/2006/relationships/slide" Target="slides/slide109.xml"/><Relationship Id="rId117" Type="http://schemas.openxmlformats.org/officeDocument/2006/relationships/slide" Target="slides/slide110.xml"/><Relationship Id="rId118" Type="http://schemas.openxmlformats.org/officeDocument/2006/relationships/slide" Target="slides/slide111.xml"/><Relationship Id="rId119" Type="http://schemas.openxmlformats.org/officeDocument/2006/relationships/slide" Target="slides/slide112.xml"/><Relationship Id="rId120" Type="http://schemas.openxmlformats.org/officeDocument/2006/relationships/slide" Target="slides/slide113.xml"/><Relationship Id="rId121" Type="http://schemas.openxmlformats.org/officeDocument/2006/relationships/slide" Target="slides/slide114.xml"/><Relationship Id="rId122" Type="http://schemas.openxmlformats.org/officeDocument/2006/relationships/slide" Target="slides/slide115.xml"/><Relationship Id="rId123" Type="http://schemas.openxmlformats.org/officeDocument/2006/relationships/slide" Target="slides/slide116.xml"/><Relationship Id="rId124" Type="http://schemas.openxmlformats.org/officeDocument/2006/relationships/slide" Target="slides/slide117.xml"/><Relationship Id="rId125" Type="http://schemas.openxmlformats.org/officeDocument/2006/relationships/slide" Target="slides/slide118.xml"/><Relationship Id="rId126" Type="http://schemas.openxmlformats.org/officeDocument/2006/relationships/slide" Target="slides/slide119.xml"/><Relationship Id="rId127" Type="http://schemas.openxmlformats.org/officeDocument/2006/relationships/slide" Target="slides/slide120.xml"/><Relationship Id="rId128" Type="http://schemas.openxmlformats.org/officeDocument/2006/relationships/slide" Target="slides/slide121.xml"/><Relationship Id="rId129" Type="http://schemas.openxmlformats.org/officeDocument/2006/relationships/slide" Target="slides/slide122.xml"/><Relationship Id="rId130" Type="http://schemas.openxmlformats.org/officeDocument/2006/relationships/slide" Target="slides/slide123.xml"/><Relationship Id="rId131" Type="http://schemas.openxmlformats.org/officeDocument/2006/relationships/slide" Target="slides/slide124.xml"/><Relationship Id="rId132" Type="http://schemas.openxmlformats.org/officeDocument/2006/relationships/slide" Target="slides/slide125.xml"/><Relationship Id="rId133" Type="http://schemas.openxmlformats.org/officeDocument/2006/relationships/slide" Target="slides/slide126.xml"/><Relationship Id="rId134" Type="http://schemas.openxmlformats.org/officeDocument/2006/relationships/slide" Target="slides/slide127.xml"/><Relationship Id="rId135" Type="http://schemas.openxmlformats.org/officeDocument/2006/relationships/slide" Target="slides/slide128.xml"/><Relationship Id="rId136" Type="http://schemas.openxmlformats.org/officeDocument/2006/relationships/slide" Target="slides/slide129.xml"/><Relationship Id="rId137" Type="http://schemas.openxmlformats.org/officeDocument/2006/relationships/slide" Target="slides/slide130.xml"/><Relationship Id="rId138" Type="http://schemas.openxmlformats.org/officeDocument/2006/relationships/slide" Target="slides/slide131.xml"/><Relationship Id="rId139" Type="http://schemas.openxmlformats.org/officeDocument/2006/relationships/slide" Target="slides/slide132.xml"/><Relationship Id="rId140" Type="http://schemas.openxmlformats.org/officeDocument/2006/relationships/slide" Target="slides/slide133.xml"/><Relationship Id="rId141" Type="http://schemas.openxmlformats.org/officeDocument/2006/relationships/slide" Target="slides/slide134.xml"/><Relationship Id="rId142" Type="http://schemas.openxmlformats.org/officeDocument/2006/relationships/slide" Target="slides/slide135.xml"/><Relationship Id="rId143" Type="http://schemas.openxmlformats.org/officeDocument/2006/relationships/slide" Target="slides/slide136.xml"/><Relationship Id="rId144" Type="http://schemas.openxmlformats.org/officeDocument/2006/relationships/slide" Target="slides/slide137.xml"/><Relationship Id="rId145" Type="http://schemas.openxmlformats.org/officeDocument/2006/relationships/slide" Target="slides/slide138.xml"/><Relationship Id="rId146" Type="http://schemas.openxmlformats.org/officeDocument/2006/relationships/slide" Target="slides/slide139.xml"/><Relationship Id="rId147" Type="http://schemas.openxmlformats.org/officeDocument/2006/relationships/slide" Target="slides/slide140.xml"/><Relationship Id="rId148" Type="http://schemas.openxmlformats.org/officeDocument/2006/relationships/slide" Target="slides/slide141.xml"/><Relationship Id="rId149" Type="http://schemas.openxmlformats.org/officeDocument/2006/relationships/slide" Target="slides/slide142.xml"/><Relationship Id="rId150" Type="http://schemas.openxmlformats.org/officeDocument/2006/relationships/slide" Target="slides/slide143.xml"/><Relationship Id="rId151" Type="http://schemas.openxmlformats.org/officeDocument/2006/relationships/slide" Target="slides/slide144.xml"/><Relationship Id="rId152" Type="http://schemas.openxmlformats.org/officeDocument/2006/relationships/slide" Target="slides/slide145.xml"/><Relationship Id="rId153" Type="http://schemas.openxmlformats.org/officeDocument/2006/relationships/slide" Target="slides/slide146.xml"/><Relationship Id="rId154" Type="http://schemas.openxmlformats.org/officeDocument/2006/relationships/slide" Target="slides/slide147.xml"/><Relationship Id="rId155" Type="http://schemas.openxmlformats.org/officeDocument/2006/relationships/slide" Target="slides/slide148.xml"/><Relationship Id="rId156" Type="http://schemas.openxmlformats.org/officeDocument/2006/relationships/slide" Target="slides/slide149.xml"/><Relationship Id="rId157" Type="http://schemas.openxmlformats.org/officeDocument/2006/relationships/slide" Target="slides/slide150.xml"/><Relationship Id="rId158" Type="http://schemas.openxmlformats.org/officeDocument/2006/relationships/slide" Target="slides/slide151.xml"/><Relationship Id="rId159" Type="http://schemas.openxmlformats.org/officeDocument/2006/relationships/slide" Target="slides/slide152.xml"/><Relationship Id="rId160" Type="http://schemas.openxmlformats.org/officeDocument/2006/relationships/slide" Target="slides/slide153.xml"/><Relationship Id="rId161" Type="http://schemas.openxmlformats.org/officeDocument/2006/relationships/slide" Target="slides/slide154.xml"/><Relationship Id="rId162" Type="http://schemas.openxmlformats.org/officeDocument/2006/relationships/slide" Target="slides/slide155.xml"/><Relationship Id="rId163" Type="http://schemas.openxmlformats.org/officeDocument/2006/relationships/slide" Target="slides/slide156.xml"/><Relationship Id="rId164" Type="http://schemas.openxmlformats.org/officeDocument/2006/relationships/slide" Target="slides/slide157.xml"/><Relationship Id="rId165" Type="http://schemas.openxmlformats.org/officeDocument/2006/relationships/slide" Target="slides/slide158.xml"/><Relationship Id="rId166" Type="http://schemas.openxmlformats.org/officeDocument/2006/relationships/slide" Target="slides/slide159.xml"/><Relationship Id="rId167" Type="http://schemas.openxmlformats.org/officeDocument/2006/relationships/slide" Target="slides/slide160.xml"/><Relationship Id="rId168" Type="http://schemas.openxmlformats.org/officeDocument/2006/relationships/slide" Target="slides/slide161.xml"/><Relationship Id="rId169" Type="http://schemas.openxmlformats.org/officeDocument/2006/relationships/slide" Target="slides/slide162.xml"/><Relationship Id="rId170" Type="http://schemas.openxmlformats.org/officeDocument/2006/relationships/slide" Target="slides/slide163.xml"/><Relationship Id="rId171" Type="http://schemas.openxmlformats.org/officeDocument/2006/relationships/slide" Target="slides/slide164.xml"/><Relationship Id="rId172" Type="http://schemas.openxmlformats.org/officeDocument/2006/relationships/slide" Target="slides/slide165.xml"/><Relationship Id="rId173" Type="http://schemas.openxmlformats.org/officeDocument/2006/relationships/slide" Target="slides/slide166.xml"/><Relationship Id="rId174" Type="http://schemas.openxmlformats.org/officeDocument/2006/relationships/slide" Target="slides/slide167.xml"/><Relationship Id="rId175" Type="http://schemas.openxmlformats.org/officeDocument/2006/relationships/slide" Target="slides/slide168.xml"/><Relationship Id="rId176" Type="http://schemas.openxmlformats.org/officeDocument/2006/relationships/slide" Target="slides/slide169.xml"/><Relationship Id="rId177" Type="http://schemas.openxmlformats.org/officeDocument/2006/relationships/slide" Target="slides/slide170.xml"/><Relationship Id="rId178" Type="http://schemas.openxmlformats.org/officeDocument/2006/relationships/slide" Target="slides/slide171.xml"/><Relationship Id="rId179" Type="http://schemas.openxmlformats.org/officeDocument/2006/relationships/slide" Target="slides/slide172.xml"/><Relationship Id="rId180" Type="http://schemas.openxmlformats.org/officeDocument/2006/relationships/slide" Target="slides/slide173.xml"/><Relationship Id="rId181" Type="http://schemas.openxmlformats.org/officeDocument/2006/relationships/slide" Target="slides/slide174.xml"/><Relationship Id="rId182" Type="http://schemas.openxmlformats.org/officeDocument/2006/relationships/slide" Target="slides/slide175.xml"/><Relationship Id="rId183" Type="http://schemas.openxmlformats.org/officeDocument/2006/relationships/slide" Target="slides/slide176.xml"/><Relationship Id="rId184" Type="http://schemas.openxmlformats.org/officeDocument/2006/relationships/slide" Target="slides/slide177.xml"/><Relationship Id="rId185" Type="http://schemas.openxmlformats.org/officeDocument/2006/relationships/slide" Target="slides/slide178.xml"/><Relationship Id="rId186" Type="http://schemas.openxmlformats.org/officeDocument/2006/relationships/slide" Target="slides/slide179.xml"/><Relationship Id="rId187" Type="http://schemas.openxmlformats.org/officeDocument/2006/relationships/slide" Target="slides/slide180.xml"/><Relationship Id="rId188" Type="http://schemas.openxmlformats.org/officeDocument/2006/relationships/slide" Target="slides/slide181.xml"/><Relationship Id="rId189" Type="http://schemas.openxmlformats.org/officeDocument/2006/relationships/slide" Target="slides/slide182.xml"/><Relationship Id="rId190" Type="http://schemas.openxmlformats.org/officeDocument/2006/relationships/slide" Target="slides/slide183.xml"/><Relationship Id="rId191" Type="http://schemas.openxmlformats.org/officeDocument/2006/relationships/slide" Target="slides/slide184.xml"/><Relationship Id="rId192" Type="http://schemas.openxmlformats.org/officeDocument/2006/relationships/slide" Target="slides/slide185.xml"/><Relationship Id="rId193" Type="http://schemas.openxmlformats.org/officeDocument/2006/relationships/slide" Target="slides/slide186.xml"/><Relationship Id="rId194" Type="http://schemas.openxmlformats.org/officeDocument/2006/relationships/slide" Target="slides/slide187.xml"/><Relationship Id="rId195" Type="http://schemas.openxmlformats.org/officeDocument/2006/relationships/slide" Target="slides/slide188.xml"/><Relationship Id="rId196" Type="http://schemas.openxmlformats.org/officeDocument/2006/relationships/slide" Target="slides/slide189.xml"/><Relationship Id="rId197" Type="http://schemas.openxmlformats.org/officeDocument/2006/relationships/slide" Target="slides/slide190.xml"/><Relationship Id="rId198" Type="http://schemas.openxmlformats.org/officeDocument/2006/relationships/slide" Target="slides/slide191.xml"/><Relationship Id="rId199" Type="http://schemas.openxmlformats.org/officeDocument/2006/relationships/slide" Target="slides/slide192.xml"/><Relationship Id="rId200" Type="http://schemas.openxmlformats.org/officeDocument/2006/relationships/slide" Target="slides/slide193.xml"/><Relationship Id="rId201" Type="http://schemas.openxmlformats.org/officeDocument/2006/relationships/slide" Target="slides/slide194.xml"/><Relationship Id="rId202" Type="http://schemas.openxmlformats.org/officeDocument/2006/relationships/slide" Target="slides/slide195.xml"/><Relationship Id="rId203" Type="http://schemas.openxmlformats.org/officeDocument/2006/relationships/slide" Target="slides/slide196.xml"/><Relationship Id="rId204" Type="http://schemas.openxmlformats.org/officeDocument/2006/relationships/slide" Target="slides/slide197.xml"/><Relationship Id="rId205" Type="http://schemas.openxmlformats.org/officeDocument/2006/relationships/slide" Target="slides/slide198.xml"/><Relationship Id="rId206" Type="http://schemas.openxmlformats.org/officeDocument/2006/relationships/slide" Target="slides/slide199.xml"/><Relationship Id="rId207" Type="http://schemas.openxmlformats.org/officeDocument/2006/relationships/slide" Target="slides/slide200.xml"/><Relationship Id="rId208" Type="http://schemas.openxmlformats.org/officeDocument/2006/relationships/slide" Target="slides/slide201.xml"/><Relationship Id="rId209" Type="http://schemas.openxmlformats.org/officeDocument/2006/relationships/slide" Target="slides/slide202.xml"/><Relationship Id="rId210" Type="http://schemas.openxmlformats.org/officeDocument/2006/relationships/slide" Target="slides/slide203.xml"/><Relationship Id="rId211" Type="http://schemas.openxmlformats.org/officeDocument/2006/relationships/slide" Target="slides/slide204.xml"/><Relationship Id="rId212" Type="http://schemas.openxmlformats.org/officeDocument/2006/relationships/slide" Target="slides/slide205.xml"/><Relationship Id="rId213" Type="http://schemas.openxmlformats.org/officeDocument/2006/relationships/slide" Target="slides/slide206.xml"/><Relationship Id="rId214" Type="http://schemas.openxmlformats.org/officeDocument/2006/relationships/slide" Target="slides/slide207.xml"/><Relationship Id="rId215" Type="http://schemas.openxmlformats.org/officeDocument/2006/relationships/slide" Target="slides/slide208.xml"/><Relationship Id="rId216" Type="http://schemas.openxmlformats.org/officeDocument/2006/relationships/slide" Target="slides/slide209.xml"/><Relationship Id="rId217" Type="http://schemas.openxmlformats.org/officeDocument/2006/relationships/slide" Target="slides/slide210.xml"/><Relationship Id="rId218" Type="http://schemas.openxmlformats.org/officeDocument/2006/relationships/slide" Target="slides/slide211.xml"/><Relationship Id="rId219" Type="http://schemas.openxmlformats.org/officeDocument/2006/relationships/slide" Target="slides/slide212.xml"/><Relationship Id="rId220" Type="http://schemas.openxmlformats.org/officeDocument/2006/relationships/slide" Target="slides/slide213.xml"/><Relationship Id="rId221" Type="http://schemas.openxmlformats.org/officeDocument/2006/relationships/slide" Target="slides/slide214.xml"/><Relationship Id="rId222" Type="http://schemas.openxmlformats.org/officeDocument/2006/relationships/slide" Target="slides/slide215.xml"/><Relationship Id="rId223" Type="http://schemas.openxmlformats.org/officeDocument/2006/relationships/slide" Target="slides/slide216.xml"/><Relationship Id="rId224" Type="http://schemas.openxmlformats.org/officeDocument/2006/relationships/slide" Target="slides/slide217.xml"/><Relationship Id="rId225" Type="http://schemas.openxmlformats.org/officeDocument/2006/relationships/slide" Target="slides/slide218.xml"/><Relationship Id="rId226" Type="http://schemas.openxmlformats.org/officeDocument/2006/relationships/slide" Target="slides/slide219.xml"/><Relationship Id="rId227" Type="http://schemas.openxmlformats.org/officeDocument/2006/relationships/slide" Target="slides/slide220.xml"/><Relationship Id="rId228" Type="http://schemas.openxmlformats.org/officeDocument/2006/relationships/slide" Target="slides/slide221.xml"/><Relationship Id="rId229" Type="http://schemas.openxmlformats.org/officeDocument/2006/relationships/slide" Target="slides/slide222.xml"/><Relationship Id="rId230" Type="http://schemas.openxmlformats.org/officeDocument/2006/relationships/slide" Target="slides/slide223.xml"/><Relationship Id="rId231" Type="http://schemas.openxmlformats.org/officeDocument/2006/relationships/slide" Target="slides/slide224.xml"/><Relationship Id="rId232" Type="http://schemas.openxmlformats.org/officeDocument/2006/relationships/slide" Target="slides/slide225.xml"/><Relationship Id="rId233" Type="http://schemas.openxmlformats.org/officeDocument/2006/relationships/slide" Target="slides/slide226.xml"/><Relationship Id="rId234" Type="http://schemas.openxmlformats.org/officeDocument/2006/relationships/slide" Target="slides/slide227.xml"/><Relationship Id="rId235" Type="http://schemas.openxmlformats.org/officeDocument/2006/relationships/slide" Target="slides/slide228.xml"/><Relationship Id="rId236" Type="http://schemas.openxmlformats.org/officeDocument/2006/relationships/slide" Target="slides/slide229.xml"/><Relationship Id="rId237" Type="http://schemas.openxmlformats.org/officeDocument/2006/relationships/slide" Target="slides/slide230.xml"/><Relationship Id="rId238" Type="http://schemas.openxmlformats.org/officeDocument/2006/relationships/slide" Target="slides/slide231.xml"/><Relationship Id="rId239" Type="http://schemas.openxmlformats.org/officeDocument/2006/relationships/slide" Target="slides/slide232.xml"/><Relationship Id="rId240" Type="http://schemas.openxmlformats.org/officeDocument/2006/relationships/slide" Target="slides/slide233.xml"/><Relationship Id="rId241" Type="http://schemas.openxmlformats.org/officeDocument/2006/relationships/slide" Target="slides/slide234.xml"/><Relationship Id="rId242" Type="http://schemas.openxmlformats.org/officeDocument/2006/relationships/slide" Target="slides/slide235.xml"/><Relationship Id="rId243" Type="http://schemas.openxmlformats.org/officeDocument/2006/relationships/slide" Target="slides/slide236.xml"/><Relationship Id="rId244" Type="http://schemas.openxmlformats.org/officeDocument/2006/relationships/slide" Target="slides/slide237.xml"/><Relationship Id="rId245" Type="http://schemas.openxmlformats.org/officeDocument/2006/relationships/slide" Target="slides/slide238.xml"/><Relationship Id="rId246" Type="http://schemas.openxmlformats.org/officeDocument/2006/relationships/slide" Target="slides/slide239.xml"/><Relationship Id="rId247" Type="http://schemas.openxmlformats.org/officeDocument/2006/relationships/slide" Target="slides/slide240.xml"/><Relationship Id="rId248" Type="http://schemas.openxmlformats.org/officeDocument/2006/relationships/slide" Target="slides/slide241.xml"/><Relationship Id="rId249" Type="http://schemas.openxmlformats.org/officeDocument/2006/relationships/slide" Target="slides/slide242.xml"/><Relationship Id="rId250" Type="http://schemas.openxmlformats.org/officeDocument/2006/relationships/slide" Target="slides/slide243.xml"/><Relationship Id="rId251" Type="http://schemas.openxmlformats.org/officeDocument/2006/relationships/slide" Target="slides/slide244.xml"/><Relationship Id="rId252" Type="http://schemas.openxmlformats.org/officeDocument/2006/relationships/slide" Target="slides/slide245.xml"/><Relationship Id="rId253" Type="http://schemas.openxmlformats.org/officeDocument/2006/relationships/slide" Target="slides/slide246.xml"/><Relationship Id="rId254" Type="http://schemas.openxmlformats.org/officeDocument/2006/relationships/slide" Target="slides/slide247.xml"/><Relationship Id="rId255" Type="http://schemas.openxmlformats.org/officeDocument/2006/relationships/slide" Target="slides/slide248.xml"/><Relationship Id="rId256" Type="http://schemas.openxmlformats.org/officeDocument/2006/relationships/slide" Target="slides/slide249.xml"/><Relationship Id="rId257" Type="http://schemas.openxmlformats.org/officeDocument/2006/relationships/slide" Target="slides/slide250.xml"/><Relationship Id="rId258" Type="http://schemas.openxmlformats.org/officeDocument/2006/relationships/slide" Target="slides/slide251.xml"/><Relationship Id="rId259" Type="http://schemas.openxmlformats.org/officeDocument/2006/relationships/slide" Target="slides/slide252.xml"/><Relationship Id="rId260" Type="http://schemas.openxmlformats.org/officeDocument/2006/relationships/slide" Target="slides/slide253.xml"/><Relationship Id="rId261" Type="http://schemas.openxmlformats.org/officeDocument/2006/relationships/slide" Target="slides/slide254.xml"/><Relationship Id="rId262" Type="http://schemas.openxmlformats.org/officeDocument/2006/relationships/slide" Target="slides/slide255.xml"/><Relationship Id="rId263" Type="http://schemas.openxmlformats.org/officeDocument/2006/relationships/slide" Target="slides/slide256.xml"/><Relationship Id="rId264" Type="http://schemas.openxmlformats.org/officeDocument/2006/relationships/slide" Target="slides/slide257.xml"/><Relationship Id="rId265" Type="http://schemas.openxmlformats.org/officeDocument/2006/relationships/slide" Target="slides/slide258.xml"/><Relationship Id="rId266" Type="http://schemas.openxmlformats.org/officeDocument/2006/relationships/slide" Target="slides/slide259.xml"/><Relationship Id="rId267" Type="http://schemas.openxmlformats.org/officeDocument/2006/relationships/slide" Target="slides/slide260.xml"/><Relationship Id="rId268" Type="http://schemas.openxmlformats.org/officeDocument/2006/relationships/slide" Target="slides/slide261.xml"/><Relationship Id="rId269" Type="http://schemas.openxmlformats.org/officeDocument/2006/relationships/slide" Target="slides/slide262.xml"/><Relationship Id="rId270" Type="http://schemas.openxmlformats.org/officeDocument/2006/relationships/slide" Target="slides/slide263.xml"/><Relationship Id="rId271" Type="http://schemas.openxmlformats.org/officeDocument/2006/relationships/slide" Target="slides/slide264.xml"/><Relationship Id="rId272" Type="http://schemas.openxmlformats.org/officeDocument/2006/relationships/slide" Target="slides/slide265.xml"/><Relationship Id="rId273" Type="http://schemas.openxmlformats.org/officeDocument/2006/relationships/slide" Target="slides/slide266.xml"/><Relationship Id="rId274" Type="http://schemas.openxmlformats.org/officeDocument/2006/relationships/slide" Target="slides/slide267.xml"/><Relationship Id="rId275" Type="http://schemas.openxmlformats.org/officeDocument/2006/relationships/slide" Target="slides/slide268.xml"/><Relationship Id="rId276" Type="http://schemas.openxmlformats.org/officeDocument/2006/relationships/slide" Target="slides/slide269.xml"/><Relationship Id="rId277" Type="http://schemas.openxmlformats.org/officeDocument/2006/relationships/slide" Target="slides/slide270.xml"/><Relationship Id="rId278" Type="http://schemas.openxmlformats.org/officeDocument/2006/relationships/slide" Target="slides/slide271.xml"/><Relationship Id="rId279" Type="http://schemas.openxmlformats.org/officeDocument/2006/relationships/slide" Target="slides/slide272.xml"/><Relationship Id="rId280" Type="http://schemas.openxmlformats.org/officeDocument/2006/relationships/slide" Target="slides/slide273.xml"/><Relationship Id="rId281" Type="http://schemas.openxmlformats.org/officeDocument/2006/relationships/slide" Target="slides/slide274.xml"/><Relationship Id="rId282" Type="http://schemas.openxmlformats.org/officeDocument/2006/relationships/slide" Target="slides/slide275.xml"/><Relationship Id="rId283" Type="http://schemas.openxmlformats.org/officeDocument/2006/relationships/slide" Target="slides/slide276.xml"/><Relationship Id="rId284" Type="http://schemas.openxmlformats.org/officeDocument/2006/relationships/slide" Target="slides/slide277.xml"/><Relationship Id="rId285" Type="http://schemas.openxmlformats.org/officeDocument/2006/relationships/slide" Target="slides/slide278.xml"/><Relationship Id="rId286" Type="http://schemas.openxmlformats.org/officeDocument/2006/relationships/slide" Target="slides/slide279.xml"/><Relationship Id="rId287" Type="http://schemas.openxmlformats.org/officeDocument/2006/relationships/slide" Target="slides/slide280.xml"/><Relationship Id="rId288" Type="http://schemas.openxmlformats.org/officeDocument/2006/relationships/slide" Target="slides/slide281.xml"/><Relationship Id="rId289" Type="http://schemas.openxmlformats.org/officeDocument/2006/relationships/slide" Target="slides/slide282.xml"/><Relationship Id="rId290" Type="http://schemas.openxmlformats.org/officeDocument/2006/relationships/slide" Target="slides/slide283.xml"/><Relationship Id="rId291" Type="http://schemas.openxmlformats.org/officeDocument/2006/relationships/slide" Target="slides/slide284.xml"/><Relationship Id="rId292" Type="http://schemas.openxmlformats.org/officeDocument/2006/relationships/slide" Target="slides/slide285.xml"/><Relationship Id="rId293" Type="http://schemas.openxmlformats.org/officeDocument/2006/relationships/slide" Target="slides/slide286.xml"/><Relationship Id="rId294" Type="http://schemas.openxmlformats.org/officeDocument/2006/relationships/slide" Target="slides/slide287.xml"/><Relationship Id="rId295" Type="http://schemas.openxmlformats.org/officeDocument/2006/relationships/slide" Target="slides/slide288.xml"/><Relationship Id="rId296" Type="http://schemas.openxmlformats.org/officeDocument/2006/relationships/slide" Target="slides/slide289.xml"/><Relationship Id="rId297" Type="http://schemas.openxmlformats.org/officeDocument/2006/relationships/slide" Target="slides/slide290.xml"/><Relationship Id="rId298" Type="http://schemas.openxmlformats.org/officeDocument/2006/relationships/slide" Target="slides/slide291.xml"/><Relationship Id="rId299" Type="http://schemas.openxmlformats.org/officeDocument/2006/relationships/slide" Target="slides/slide292.xml"/><Relationship Id="rId300" Type="http://schemas.openxmlformats.org/officeDocument/2006/relationships/slide" Target="slides/slide293.xml"/><Relationship Id="rId301" Type="http://schemas.openxmlformats.org/officeDocument/2006/relationships/slide" Target="slides/slide294.xml"/><Relationship Id="rId302" Type="http://schemas.openxmlformats.org/officeDocument/2006/relationships/slide" Target="slides/slide295.xml"/><Relationship Id="rId303" Type="http://schemas.openxmlformats.org/officeDocument/2006/relationships/slide" Target="slides/slide296.xml"/><Relationship Id="rId304" Type="http://schemas.openxmlformats.org/officeDocument/2006/relationships/slide" Target="slides/slide297.xml"/><Relationship Id="rId305" Type="http://schemas.openxmlformats.org/officeDocument/2006/relationships/slide" Target="slides/slide298.xml"/><Relationship Id="rId306" Type="http://schemas.openxmlformats.org/officeDocument/2006/relationships/slide" Target="slides/slide299.xml"/><Relationship Id="rId307" Type="http://schemas.openxmlformats.org/officeDocument/2006/relationships/slide" Target="slides/slide300.xml"/><Relationship Id="rId308" Type="http://schemas.openxmlformats.org/officeDocument/2006/relationships/slide" Target="slides/slide301.xml"/><Relationship Id="rId309" Type="http://schemas.openxmlformats.org/officeDocument/2006/relationships/slide" Target="slides/slide302.xml"/><Relationship Id="rId310" Type="http://schemas.openxmlformats.org/officeDocument/2006/relationships/slide" Target="slides/slide303.xml"/><Relationship Id="rId311" Type="http://schemas.openxmlformats.org/officeDocument/2006/relationships/slide" Target="slides/slide304.xml"/><Relationship Id="rId312" Type="http://schemas.openxmlformats.org/officeDocument/2006/relationships/slide" Target="slides/slide305.xml"/><Relationship Id="rId313" Type="http://schemas.openxmlformats.org/officeDocument/2006/relationships/slide" Target="slides/slide306.xml"/><Relationship Id="rId314" Type="http://schemas.openxmlformats.org/officeDocument/2006/relationships/slide" Target="slides/slide307.xml"/><Relationship Id="rId315" Type="http://schemas.openxmlformats.org/officeDocument/2006/relationships/slide" Target="slides/slide308.xml"/><Relationship Id="rId316" Type="http://schemas.openxmlformats.org/officeDocument/2006/relationships/slide" Target="slides/slide309.xml"/><Relationship Id="rId317" Type="http://schemas.openxmlformats.org/officeDocument/2006/relationships/slide" Target="slides/slide310.xml"/><Relationship Id="rId318" Type="http://schemas.openxmlformats.org/officeDocument/2006/relationships/slide" Target="slides/slide311.xml"/><Relationship Id="rId319" Type="http://schemas.openxmlformats.org/officeDocument/2006/relationships/slide" Target="slides/slide312.xml"/><Relationship Id="rId320" Type="http://schemas.openxmlformats.org/officeDocument/2006/relationships/slide" Target="slides/slide313.xml"/><Relationship Id="rId321" Type="http://schemas.openxmlformats.org/officeDocument/2006/relationships/slide" Target="slides/slide314.xml"/><Relationship Id="rId322" Type="http://schemas.openxmlformats.org/officeDocument/2006/relationships/slide" Target="slides/slide315.xml"/><Relationship Id="rId323" Type="http://schemas.openxmlformats.org/officeDocument/2006/relationships/slide" Target="slides/slide316.xml"/><Relationship Id="rId324" Type="http://schemas.openxmlformats.org/officeDocument/2006/relationships/slide" Target="slides/slide317.xml"/><Relationship Id="rId325" Type="http://schemas.openxmlformats.org/officeDocument/2006/relationships/slide" Target="slides/slide318.xml"/><Relationship Id="rId326" Type="http://schemas.openxmlformats.org/officeDocument/2006/relationships/slide" Target="slides/slide319.xml"/><Relationship Id="rId327" Type="http://schemas.openxmlformats.org/officeDocument/2006/relationships/slide" Target="slides/slide320.xml"/><Relationship Id="rId328" Type="http://schemas.openxmlformats.org/officeDocument/2006/relationships/slide" Target="slides/slide321.xml"/><Relationship Id="rId329" Type="http://schemas.openxmlformats.org/officeDocument/2006/relationships/slide" Target="slides/slide322.xml"/><Relationship Id="rId330" Type="http://schemas.openxmlformats.org/officeDocument/2006/relationships/slide" Target="slides/slide323.xml"/><Relationship Id="rId331" Type="http://schemas.openxmlformats.org/officeDocument/2006/relationships/slide" Target="slides/slide324.xml"/><Relationship Id="rId332" Type="http://schemas.openxmlformats.org/officeDocument/2006/relationships/slide" Target="slides/slide325.xml"/><Relationship Id="rId333" Type="http://schemas.openxmlformats.org/officeDocument/2006/relationships/slide" Target="slides/slide326.xml"/><Relationship Id="rId334" Type="http://schemas.openxmlformats.org/officeDocument/2006/relationships/slide" Target="slides/slide327.xml"/><Relationship Id="rId335" Type="http://schemas.openxmlformats.org/officeDocument/2006/relationships/slide" Target="slides/slide328.xml"/><Relationship Id="rId336" Type="http://schemas.openxmlformats.org/officeDocument/2006/relationships/slide" Target="slides/slide329.xml"/><Relationship Id="rId337" Type="http://schemas.openxmlformats.org/officeDocument/2006/relationships/slide" Target="slides/slide330.xml"/><Relationship Id="rId338" Type="http://schemas.openxmlformats.org/officeDocument/2006/relationships/slide" Target="slides/slide331.xml"/><Relationship Id="rId339" Type="http://schemas.openxmlformats.org/officeDocument/2006/relationships/slide" Target="slides/slide332.xml"/><Relationship Id="rId340" Type="http://schemas.openxmlformats.org/officeDocument/2006/relationships/slide" Target="slides/slide333.xml"/><Relationship Id="rId341" Type="http://schemas.openxmlformats.org/officeDocument/2006/relationships/slide" Target="slides/slide334.xml"/><Relationship Id="rId342" Type="http://schemas.openxmlformats.org/officeDocument/2006/relationships/slide" Target="slides/slide335.xml"/><Relationship Id="rId343" Type="http://schemas.openxmlformats.org/officeDocument/2006/relationships/slide" Target="slides/slide336.xml"/><Relationship Id="rId344" Type="http://schemas.openxmlformats.org/officeDocument/2006/relationships/slide" Target="slides/slide337.xml"/><Relationship Id="rId345" Type="http://schemas.openxmlformats.org/officeDocument/2006/relationships/slide" Target="slides/slide338.xml"/><Relationship Id="rId346" Type="http://schemas.openxmlformats.org/officeDocument/2006/relationships/slide" Target="slides/slide339.xml"/><Relationship Id="rId347" Type="http://schemas.openxmlformats.org/officeDocument/2006/relationships/slide" Target="slides/slide340.xml"/><Relationship Id="rId348" Type="http://schemas.openxmlformats.org/officeDocument/2006/relationships/slide" Target="slides/slide341.xml"/><Relationship Id="rId349" Type="http://schemas.openxmlformats.org/officeDocument/2006/relationships/slide" Target="slides/slide342.xml"/><Relationship Id="rId350" Type="http://schemas.openxmlformats.org/officeDocument/2006/relationships/slide" Target="slides/slide343.xml"/><Relationship Id="rId351" Type="http://schemas.openxmlformats.org/officeDocument/2006/relationships/slide" Target="slides/slide344.xml"/><Relationship Id="rId352" Type="http://schemas.openxmlformats.org/officeDocument/2006/relationships/slide" Target="slides/slide345.xml"/><Relationship Id="rId353" Type="http://schemas.openxmlformats.org/officeDocument/2006/relationships/slide" Target="slides/slide346.xml"/><Relationship Id="rId354" Type="http://schemas.openxmlformats.org/officeDocument/2006/relationships/slide" Target="slides/slide347.xml"/><Relationship Id="rId355" Type="http://schemas.openxmlformats.org/officeDocument/2006/relationships/slide" Target="slides/slide348.xml"/><Relationship Id="rId356" Type="http://schemas.openxmlformats.org/officeDocument/2006/relationships/slide" Target="slides/slide349.xml"/><Relationship Id="rId357" Type="http://schemas.openxmlformats.org/officeDocument/2006/relationships/slide" Target="slides/slide350.xml"/><Relationship Id="rId358" Type="http://schemas.openxmlformats.org/officeDocument/2006/relationships/slide" Target="slides/slide351.xml"/><Relationship Id="rId359" Type="http://schemas.openxmlformats.org/officeDocument/2006/relationships/slide" Target="slides/slide352.xml"/><Relationship Id="rId360" Type="http://schemas.openxmlformats.org/officeDocument/2006/relationships/slide" Target="slides/slide353.xml"/><Relationship Id="rId361" Type="http://schemas.openxmlformats.org/officeDocument/2006/relationships/slide" Target="slides/slide354.xml"/><Relationship Id="rId362" Type="http://schemas.openxmlformats.org/officeDocument/2006/relationships/slide" Target="slides/slide355.xml"/><Relationship Id="rId363" Type="http://schemas.openxmlformats.org/officeDocument/2006/relationships/slide" Target="slides/slide356.xml"/><Relationship Id="rId364" Type="http://schemas.openxmlformats.org/officeDocument/2006/relationships/slide" Target="slides/slide357.xml"/><Relationship Id="rId365" Type="http://schemas.openxmlformats.org/officeDocument/2006/relationships/slide" Target="slides/slide358.xml"/><Relationship Id="rId366" Type="http://schemas.openxmlformats.org/officeDocument/2006/relationships/slide" Target="slides/slide359.xml"/><Relationship Id="rId367" Type="http://schemas.openxmlformats.org/officeDocument/2006/relationships/slide" Target="slides/slide360.xml"/><Relationship Id="rId368" Type="http://schemas.openxmlformats.org/officeDocument/2006/relationships/slide" Target="slides/slide361.xml"/><Relationship Id="rId369" Type="http://schemas.openxmlformats.org/officeDocument/2006/relationships/slide" Target="slides/slide362.xml"/><Relationship Id="rId370" Type="http://schemas.openxmlformats.org/officeDocument/2006/relationships/slide" Target="slides/slide363.xml"/><Relationship Id="rId371" Type="http://schemas.openxmlformats.org/officeDocument/2006/relationships/slide" Target="slides/slide364.xml"/><Relationship Id="rId372" Type="http://schemas.openxmlformats.org/officeDocument/2006/relationships/slide" Target="slides/slide365.xml"/><Relationship Id="rId373" Type="http://schemas.openxmlformats.org/officeDocument/2006/relationships/slide" Target="slides/slide366.xml"/><Relationship Id="rId374" Type="http://schemas.openxmlformats.org/officeDocument/2006/relationships/slide" Target="slides/slide367.xml"/><Relationship Id="rId375" Type="http://schemas.openxmlformats.org/officeDocument/2006/relationships/slide" Target="slides/slide368.xml"/><Relationship Id="rId376" Type="http://schemas.openxmlformats.org/officeDocument/2006/relationships/slide" Target="slides/slide369.xml"/><Relationship Id="rId377" Type="http://schemas.openxmlformats.org/officeDocument/2006/relationships/slide" Target="slides/slide370.xml"/><Relationship Id="rId378" Type="http://schemas.openxmlformats.org/officeDocument/2006/relationships/slide" Target="slides/slide371.xml"/><Relationship Id="rId379" Type="http://schemas.openxmlformats.org/officeDocument/2006/relationships/slide" Target="slides/slide372.xml"/><Relationship Id="rId380" Type="http://schemas.openxmlformats.org/officeDocument/2006/relationships/slide" Target="slides/slide373.xml"/><Relationship Id="rId381" Type="http://schemas.openxmlformats.org/officeDocument/2006/relationships/slide" Target="slides/slide374.xml"/><Relationship Id="rId382" Type="http://schemas.openxmlformats.org/officeDocument/2006/relationships/slide" Target="slides/slide375.xml"/><Relationship Id="rId383" Type="http://schemas.openxmlformats.org/officeDocument/2006/relationships/slide" Target="slides/slide376.xml"/><Relationship Id="rId384" Type="http://schemas.openxmlformats.org/officeDocument/2006/relationships/slide" Target="slides/slide377.xml"/><Relationship Id="rId385" Type="http://schemas.openxmlformats.org/officeDocument/2006/relationships/slide" Target="slides/slide378.xml"/><Relationship Id="rId386" Type="http://schemas.openxmlformats.org/officeDocument/2006/relationships/slide" Target="slides/slide379.xml"/><Relationship Id="rId387" Type="http://schemas.openxmlformats.org/officeDocument/2006/relationships/slide" Target="slides/slide380.xml"/><Relationship Id="rId388" Type="http://schemas.openxmlformats.org/officeDocument/2006/relationships/slide" Target="slides/slide381.xml"/><Relationship Id="rId389" Type="http://schemas.openxmlformats.org/officeDocument/2006/relationships/slide" Target="slides/slide382.xml"/><Relationship Id="rId390" Type="http://schemas.openxmlformats.org/officeDocument/2006/relationships/slide" Target="slides/slide383.xml"/><Relationship Id="rId391" Type="http://schemas.openxmlformats.org/officeDocument/2006/relationships/slide" Target="slides/slide384.xml"/><Relationship Id="rId392" Type="http://schemas.openxmlformats.org/officeDocument/2006/relationships/slide" Target="slides/slide385.xml"/><Relationship Id="rId393" Type="http://schemas.openxmlformats.org/officeDocument/2006/relationships/slide" Target="slides/slide386.xml"/><Relationship Id="rId394" Type="http://schemas.openxmlformats.org/officeDocument/2006/relationships/slide" Target="slides/slide387.xml"/><Relationship Id="rId395" Type="http://schemas.openxmlformats.org/officeDocument/2006/relationships/slide" Target="slides/slide388.xml"/><Relationship Id="rId396" Type="http://schemas.openxmlformats.org/officeDocument/2006/relationships/slide" Target="slides/slide389.xml"/><Relationship Id="rId397" Type="http://schemas.openxmlformats.org/officeDocument/2006/relationships/slide" Target="slides/slide390.xml"/><Relationship Id="rId398" Type="http://schemas.openxmlformats.org/officeDocument/2006/relationships/slide" Target="slides/slide391.xml"/><Relationship Id="rId399" Type="http://schemas.openxmlformats.org/officeDocument/2006/relationships/slide" Target="slides/slide392.xml"/><Relationship Id="rId400" Type="http://schemas.openxmlformats.org/officeDocument/2006/relationships/slide" Target="slides/slide393.xml"/><Relationship Id="rId401" Type="http://schemas.openxmlformats.org/officeDocument/2006/relationships/slide" Target="slides/slide394.xml"/><Relationship Id="rId402" Type="http://schemas.openxmlformats.org/officeDocument/2006/relationships/slide" Target="slides/slide395.xml"/><Relationship Id="rId403" Type="http://schemas.openxmlformats.org/officeDocument/2006/relationships/slide" Target="slides/slide396.xml"/><Relationship Id="rId404" Type="http://schemas.openxmlformats.org/officeDocument/2006/relationships/slide" Target="slides/slide397.xml"/><Relationship Id="rId405" Type="http://schemas.openxmlformats.org/officeDocument/2006/relationships/slide" Target="slides/slide398.xml"/><Relationship Id="rId406" Type="http://schemas.openxmlformats.org/officeDocument/2006/relationships/slide" Target="slides/slide399.xml"/><Relationship Id="rId407" Type="http://schemas.openxmlformats.org/officeDocument/2006/relationships/slide" Target="slides/slide400.xml"/><Relationship Id="rId408" Type="http://schemas.openxmlformats.org/officeDocument/2006/relationships/slide" Target="slides/slide401.xml"/><Relationship Id="rId409" Type="http://schemas.openxmlformats.org/officeDocument/2006/relationships/slide" Target="slides/slide402.xml"/><Relationship Id="rId410" Type="http://schemas.openxmlformats.org/officeDocument/2006/relationships/slide" Target="slides/slide403.xml"/><Relationship Id="rId411" Type="http://schemas.openxmlformats.org/officeDocument/2006/relationships/slide" Target="slides/slide404.xml"/><Relationship Id="rId412" Type="http://schemas.openxmlformats.org/officeDocument/2006/relationships/slide" Target="slides/slide405.xml"/><Relationship Id="rId413" Type="http://schemas.openxmlformats.org/officeDocument/2006/relationships/slide" Target="slides/slide406.xml"/><Relationship Id="rId414" Type="http://schemas.openxmlformats.org/officeDocument/2006/relationships/slide" Target="slides/slide407.xml"/><Relationship Id="rId415" Type="http://schemas.openxmlformats.org/officeDocument/2006/relationships/slide" Target="slides/slide408.xml"/><Relationship Id="rId416" Type="http://schemas.openxmlformats.org/officeDocument/2006/relationships/slide" Target="slides/slide409.xml"/><Relationship Id="rId417" Type="http://schemas.openxmlformats.org/officeDocument/2006/relationships/slide" Target="slides/slide410.xml"/><Relationship Id="rId418" Type="http://schemas.openxmlformats.org/officeDocument/2006/relationships/slide" Target="slides/slide411.xml"/><Relationship Id="rId419" Type="http://schemas.openxmlformats.org/officeDocument/2006/relationships/slide" Target="slides/slide412.xml"/><Relationship Id="rId420" Type="http://schemas.openxmlformats.org/officeDocument/2006/relationships/slide" Target="slides/slide413.xml"/><Relationship Id="rId421" Type="http://schemas.openxmlformats.org/officeDocument/2006/relationships/slide" Target="slides/slide414.xml"/><Relationship Id="rId422" Type="http://schemas.openxmlformats.org/officeDocument/2006/relationships/slide" Target="slides/slide415.xml"/><Relationship Id="rId423" Type="http://schemas.openxmlformats.org/officeDocument/2006/relationships/slide" Target="slides/slide416.xml"/><Relationship Id="rId424" Type="http://schemas.openxmlformats.org/officeDocument/2006/relationships/slide" Target="slides/slide417.xml"/><Relationship Id="rId425" Type="http://schemas.openxmlformats.org/officeDocument/2006/relationships/slide" Target="slides/slide418.xml"/><Relationship Id="rId426" Type="http://schemas.openxmlformats.org/officeDocument/2006/relationships/slide" Target="slides/slide419.xml"/><Relationship Id="rId427" Type="http://schemas.openxmlformats.org/officeDocument/2006/relationships/slide" Target="slides/slide420.xml"/><Relationship Id="rId428" Type="http://schemas.openxmlformats.org/officeDocument/2006/relationships/slide" Target="slides/slide421.xml"/><Relationship Id="rId429" Type="http://schemas.openxmlformats.org/officeDocument/2006/relationships/slide" Target="slides/slide422.xml"/><Relationship Id="rId430" Type="http://schemas.openxmlformats.org/officeDocument/2006/relationships/slide" Target="slides/slide423.xml"/><Relationship Id="rId431" Type="http://schemas.openxmlformats.org/officeDocument/2006/relationships/slide" Target="slides/slide424.xml"/><Relationship Id="rId432" Type="http://schemas.openxmlformats.org/officeDocument/2006/relationships/slide" Target="slides/slide425.xml"/><Relationship Id="rId433" Type="http://schemas.openxmlformats.org/officeDocument/2006/relationships/slide" Target="slides/slide426.xml"/><Relationship Id="rId434" Type="http://schemas.openxmlformats.org/officeDocument/2006/relationships/slide" Target="slides/slide427.xml"/><Relationship Id="rId435" Type="http://schemas.openxmlformats.org/officeDocument/2006/relationships/slide" Target="slides/slide428.xml"/><Relationship Id="rId436" Type="http://schemas.openxmlformats.org/officeDocument/2006/relationships/slide" Target="slides/slide429.xml"/><Relationship Id="rId437" Type="http://schemas.openxmlformats.org/officeDocument/2006/relationships/slide" Target="slides/slide430.xml"/><Relationship Id="rId438" Type="http://schemas.openxmlformats.org/officeDocument/2006/relationships/slide" Target="slides/slide431.xml"/><Relationship Id="rId439" Type="http://schemas.openxmlformats.org/officeDocument/2006/relationships/slide" Target="slides/slide432.xml"/><Relationship Id="rId440" Type="http://schemas.openxmlformats.org/officeDocument/2006/relationships/slide" Target="slides/slide433.xml"/><Relationship Id="rId441" Type="http://schemas.openxmlformats.org/officeDocument/2006/relationships/slide" Target="slides/slide434.xml"/><Relationship Id="rId442" Type="http://schemas.openxmlformats.org/officeDocument/2006/relationships/slide" Target="slides/slide435.xml"/><Relationship Id="rId443" Type="http://schemas.openxmlformats.org/officeDocument/2006/relationships/slide" Target="slides/slide436.xml"/><Relationship Id="rId444" Type="http://schemas.openxmlformats.org/officeDocument/2006/relationships/slide" Target="slides/slide437.xml"/><Relationship Id="rId445" Type="http://schemas.openxmlformats.org/officeDocument/2006/relationships/slide" Target="slides/slide438.xml"/><Relationship Id="rId446" Type="http://schemas.openxmlformats.org/officeDocument/2006/relationships/slide" Target="slides/slide439.xml"/><Relationship Id="rId447" Type="http://schemas.openxmlformats.org/officeDocument/2006/relationships/slide" Target="slides/slide440.xml"/><Relationship Id="rId448" Type="http://schemas.openxmlformats.org/officeDocument/2006/relationships/slide" Target="slides/slide441.xml"/><Relationship Id="rId449" Type="http://schemas.openxmlformats.org/officeDocument/2006/relationships/slide" Target="slides/slide442.xml"/><Relationship Id="rId450" Type="http://schemas.openxmlformats.org/officeDocument/2006/relationships/slide" Target="slides/slide443.xml"/><Relationship Id="rId451" Type="http://schemas.openxmlformats.org/officeDocument/2006/relationships/slide" Target="slides/slide444.xml"/><Relationship Id="rId452" Type="http://schemas.openxmlformats.org/officeDocument/2006/relationships/slide" Target="slides/slide445.xml"/><Relationship Id="rId453" Type="http://schemas.openxmlformats.org/officeDocument/2006/relationships/slide" Target="slides/slide446.xml"/><Relationship Id="rId454" Type="http://schemas.openxmlformats.org/officeDocument/2006/relationships/slide" Target="slides/slide447.xml"/><Relationship Id="rId455" Type="http://schemas.openxmlformats.org/officeDocument/2006/relationships/slide" Target="slides/slide448.xml"/><Relationship Id="rId456" Type="http://schemas.openxmlformats.org/officeDocument/2006/relationships/slide" Target="slides/slide449.xml"/><Relationship Id="rId457" Type="http://schemas.openxmlformats.org/officeDocument/2006/relationships/slide" Target="slides/slide450.xml"/><Relationship Id="rId458" Type="http://schemas.openxmlformats.org/officeDocument/2006/relationships/slide" Target="slides/slide451.xml"/><Relationship Id="rId459" Type="http://schemas.openxmlformats.org/officeDocument/2006/relationships/slide" Target="slides/slide452.xml"/><Relationship Id="rId460" Type="http://schemas.openxmlformats.org/officeDocument/2006/relationships/slide" Target="slides/slide453.xml"/><Relationship Id="rId461" Type="http://schemas.openxmlformats.org/officeDocument/2006/relationships/slide" Target="slides/slide454.xml"/><Relationship Id="rId462" Type="http://schemas.openxmlformats.org/officeDocument/2006/relationships/slide" Target="slides/slide455.xml"/><Relationship Id="rId463" Type="http://schemas.openxmlformats.org/officeDocument/2006/relationships/slide" Target="slides/slide456.xml"/><Relationship Id="rId464" Type="http://schemas.openxmlformats.org/officeDocument/2006/relationships/slide" Target="slides/slide457.xml"/><Relationship Id="rId465" Type="http://schemas.openxmlformats.org/officeDocument/2006/relationships/slide" Target="slides/slide458.xml"/><Relationship Id="rId466" Type="http://schemas.openxmlformats.org/officeDocument/2006/relationships/slide" Target="slides/slide459.xml"/><Relationship Id="rId467" Type="http://schemas.openxmlformats.org/officeDocument/2006/relationships/slide" Target="slides/slide460.xml"/><Relationship Id="rId468" Type="http://schemas.openxmlformats.org/officeDocument/2006/relationships/slide" Target="slides/slide461.xml"/><Relationship Id="rId469" Type="http://schemas.openxmlformats.org/officeDocument/2006/relationships/slide" Target="slides/slide462.xml"/><Relationship Id="rId470" Type="http://schemas.openxmlformats.org/officeDocument/2006/relationships/slide" Target="slides/slide463.xml"/><Relationship Id="rId471" Type="http://schemas.openxmlformats.org/officeDocument/2006/relationships/slide" Target="slides/slide464.xml"/><Relationship Id="rId472" Type="http://schemas.openxmlformats.org/officeDocument/2006/relationships/slide" Target="slides/slide465.xml"/><Relationship Id="rId473" Type="http://schemas.openxmlformats.org/officeDocument/2006/relationships/slide" Target="slides/slide466.xml"/><Relationship Id="rId474" Type="http://schemas.openxmlformats.org/officeDocument/2006/relationships/slide" Target="slides/slide467.xml"/><Relationship Id="rId475" Type="http://schemas.openxmlformats.org/officeDocument/2006/relationships/slide" Target="slides/slide468.xml"/><Relationship Id="rId476" Type="http://schemas.openxmlformats.org/officeDocument/2006/relationships/slide" Target="slides/slide469.xml"/><Relationship Id="rId477" Type="http://schemas.openxmlformats.org/officeDocument/2006/relationships/slide" Target="slides/slide470.xml"/><Relationship Id="rId478" Type="http://schemas.openxmlformats.org/officeDocument/2006/relationships/slide" Target="slides/slide471.xml"/><Relationship Id="rId479" Type="http://schemas.openxmlformats.org/officeDocument/2006/relationships/slide" Target="slides/slide472.xml"/><Relationship Id="rId480" Type="http://schemas.openxmlformats.org/officeDocument/2006/relationships/slide" Target="slides/slide473.xml"/><Relationship Id="rId481" Type="http://schemas.openxmlformats.org/officeDocument/2006/relationships/slide" Target="slides/slide474.xml"/><Relationship Id="rId482" Type="http://schemas.openxmlformats.org/officeDocument/2006/relationships/slide" Target="slides/slide475.xml"/><Relationship Id="rId483" Type="http://schemas.openxmlformats.org/officeDocument/2006/relationships/slide" Target="slides/slide476.xml"/><Relationship Id="rId484" Type="http://schemas.openxmlformats.org/officeDocument/2006/relationships/slide" Target="slides/slide477.xml"/><Relationship Id="rId485" Type="http://schemas.openxmlformats.org/officeDocument/2006/relationships/slide" Target="slides/slide478.xml"/><Relationship Id="rId486" Type="http://schemas.openxmlformats.org/officeDocument/2006/relationships/slide" Target="slides/slide479.xml"/><Relationship Id="rId487" Type="http://schemas.openxmlformats.org/officeDocument/2006/relationships/slide" Target="slides/slide480.xml"/><Relationship Id="rId488" Type="http://schemas.openxmlformats.org/officeDocument/2006/relationships/slide" Target="slides/slide481.xml"/><Relationship Id="rId489" Type="http://schemas.openxmlformats.org/officeDocument/2006/relationships/slide" Target="slides/slide482.xml"/><Relationship Id="rId490" Type="http://schemas.openxmlformats.org/officeDocument/2006/relationships/slide" Target="slides/slide483.xml"/><Relationship Id="rId491" Type="http://schemas.openxmlformats.org/officeDocument/2006/relationships/slide" Target="slides/slide484.xml"/><Relationship Id="rId492" Type="http://schemas.openxmlformats.org/officeDocument/2006/relationships/slide" Target="slides/slide485.xml"/><Relationship Id="rId493" Type="http://schemas.openxmlformats.org/officeDocument/2006/relationships/slide" Target="slides/slide486.xml"/><Relationship Id="rId494" Type="http://schemas.openxmlformats.org/officeDocument/2006/relationships/slide" Target="slides/slide487.xml"/><Relationship Id="rId495" Type="http://schemas.openxmlformats.org/officeDocument/2006/relationships/slide" Target="slides/slide488.xml"/><Relationship Id="rId496" Type="http://schemas.openxmlformats.org/officeDocument/2006/relationships/slide" Target="slides/slide489.xml"/><Relationship Id="rId497" Type="http://schemas.openxmlformats.org/officeDocument/2006/relationships/slide" Target="slides/slide490.xml"/><Relationship Id="rId498" Type="http://schemas.openxmlformats.org/officeDocument/2006/relationships/slide" Target="slides/slide491.xml"/><Relationship Id="rId499" Type="http://schemas.openxmlformats.org/officeDocument/2006/relationships/slide" Target="slides/slide492.xml"/><Relationship Id="rId500" Type="http://schemas.openxmlformats.org/officeDocument/2006/relationships/slide" Target="slides/slide493.xml"/><Relationship Id="rId501" Type="http://schemas.openxmlformats.org/officeDocument/2006/relationships/slide" Target="slides/slide494.xml"/><Relationship Id="rId502" Type="http://schemas.openxmlformats.org/officeDocument/2006/relationships/slide" Target="slides/slide495.xml"/><Relationship Id="rId503" Type="http://schemas.openxmlformats.org/officeDocument/2006/relationships/slide" Target="slides/slide496.xml"/><Relationship Id="rId504" Type="http://schemas.openxmlformats.org/officeDocument/2006/relationships/slide" Target="slides/slide497.xml"/><Relationship Id="rId505" Type="http://schemas.openxmlformats.org/officeDocument/2006/relationships/slide" Target="slides/slide498.xml"/><Relationship Id="rId506" Type="http://schemas.openxmlformats.org/officeDocument/2006/relationships/slide" Target="slides/slide499.xml"/><Relationship Id="rId507" Type="http://schemas.openxmlformats.org/officeDocument/2006/relationships/slide" Target="slides/slide500.xml"/><Relationship Id="rId508" Type="http://schemas.openxmlformats.org/officeDocument/2006/relationships/slide" Target="slides/slide501.xml"/><Relationship Id="rId509" Type="http://schemas.openxmlformats.org/officeDocument/2006/relationships/slide" Target="slides/slide502.xml"/><Relationship Id="rId510" Type="http://schemas.openxmlformats.org/officeDocument/2006/relationships/slide" Target="slides/slide503.xml"/><Relationship Id="rId511" Type="http://schemas.openxmlformats.org/officeDocument/2006/relationships/slide" Target="slides/slide504.xml"/><Relationship Id="rId512" Type="http://schemas.openxmlformats.org/officeDocument/2006/relationships/slide" Target="slides/slide505.xml"/><Relationship Id="rId513" Type="http://schemas.openxmlformats.org/officeDocument/2006/relationships/slide" Target="slides/slide506.xml"/><Relationship Id="rId514" Type="http://schemas.openxmlformats.org/officeDocument/2006/relationships/slide" Target="slides/slide507.xml"/><Relationship Id="rId515" Type="http://schemas.openxmlformats.org/officeDocument/2006/relationships/slide" Target="slides/slide508.xml"/><Relationship Id="rId516" Type="http://schemas.openxmlformats.org/officeDocument/2006/relationships/slide" Target="slides/slide509.xml"/><Relationship Id="rId517" Type="http://schemas.openxmlformats.org/officeDocument/2006/relationships/slide" Target="slides/slide510.xml"/><Relationship Id="rId518" Type="http://schemas.openxmlformats.org/officeDocument/2006/relationships/slide" Target="slides/slide511.xml"/><Relationship Id="rId519" Type="http://schemas.openxmlformats.org/officeDocument/2006/relationships/slide" Target="slides/slide512.xml"/><Relationship Id="rId520" Type="http://schemas.openxmlformats.org/officeDocument/2006/relationships/slide" Target="slides/slide513.xml"/><Relationship Id="rId521" Type="http://schemas.openxmlformats.org/officeDocument/2006/relationships/slide" Target="slides/slide514.xml"/><Relationship Id="rId522" Type="http://schemas.openxmlformats.org/officeDocument/2006/relationships/slide" Target="slides/slide515.xml"/><Relationship Id="rId523" Type="http://schemas.openxmlformats.org/officeDocument/2006/relationships/slide" Target="slides/slide516.xml"/><Relationship Id="rId524" Type="http://schemas.openxmlformats.org/officeDocument/2006/relationships/slide" Target="slides/slide517.xml"/><Relationship Id="rId525" Type="http://schemas.openxmlformats.org/officeDocument/2006/relationships/slide" Target="slides/slide518.xml"/><Relationship Id="rId526" Type="http://schemas.openxmlformats.org/officeDocument/2006/relationships/slide" Target="slides/slide519.xml"/><Relationship Id="rId527" Type="http://schemas.openxmlformats.org/officeDocument/2006/relationships/slide" Target="slides/slide520.xml"/><Relationship Id="rId528" Type="http://schemas.openxmlformats.org/officeDocument/2006/relationships/slide" Target="slides/slide521.xml"/><Relationship Id="rId529" Type="http://schemas.openxmlformats.org/officeDocument/2006/relationships/slide" Target="slides/slide522.xml"/><Relationship Id="rId530" Type="http://schemas.openxmlformats.org/officeDocument/2006/relationships/slide" Target="slides/slide523.xml"/><Relationship Id="rId531" Type="http://schemas.openxmlformats.org/officeDocument/2006/relationships/slide" Target="slides/slide524.xml"/><Relationship Id="rId532" Type="http://schemas.openxmlformats.org/officeDocument/2006/relationships/slide" Target="slides/slide525.xml"/><Relationship Id="rId533" Type="http://schemas.openxmlformats.org/officeDocument/2006/relationships/slide" Target="slides/slide526.xml"/><Relationship Id="rId534" Type="http://schemas.openxmlformats.org/officeDocument/2006/relationships/slide" Target="slides/slide527.xml"/><Relationship Id="rId535" Type="http://schemas.openxmlformats.org/officeDocument/2006/relationships/slide" Target="slides/slide528.xml"/><Relationship Id="rId536" Type="http://schemas.openxmlformats.org/officeDocument/2006/relationships/slide" Target="slides/slide529.xml"/><Relationship Id="rId537" Type="http://schemas.openxmlformats.org/officeDocument/2006/relationships/slide" Target="slides/slide530.xml"/><Relationship Id="rId538" Type="http://schemas.openxmlformats.org/officeDocument/2006/relationships/slide" Target="slides/slide531.xml"/><Relationship Id="rId539" Type="http://schemas.openxmlformats.org/officeDocument/2006/relationships/slide" Target="slides/slide532.xml"/><Relationship Id="rId540" Type="http://schemas.openxmlformats.org/officeDocument/2006/relationships/slide" Target="slides/slide533.xml"/><Relationship Id="rId541" Type="http://schemas.openxmlformats.org/officeDocument/2006/relationships/slide" Target="slides/slide534.xml"/><Relationship Id="rId542" Type="http://schemas.openxmlformats.org/officeDocument/2006/relationships/slide" Target="slides/slide535.xml"/><Relationship Id="rId543" Type="http://schemas.openxmlformats.org/officeDocument/2006/relationships/slide" Target="slides/slide536.xml"/><Relationship Id="rId544" Type="http://schemas.openxmlformats.org/officeDocument/2006/relationships/slide" Target="slides/slide537.xml"/><Relationship Id="rId545" Type="http://schemas.openxmlformats.org/officeDocument/2006/relationships/slide" Target="slides/slide538.xml"/><Relationship Id="rId546" Type="http://schemas.openxmlformats.org/officeDocument/2006/relationships/slide" Target="slides/slide539.xml"/><Relationship Id="rId547" Type="http://schemas.openxmlformats.org/officeDocument/2006/relationships/slide" Target="slides/slide540.xml"/><Relationship Id="rId548" Type="http://schemas.openxmlformats.org/officeDocument/2006/relationships/slide" Target="slides/slide541.xml"/><Relationship Id="rId549" Type="http://schemas.openxmlformats.org/officeDocument/2006/relationships/slide" Target="slides/slide542.xml"/><Relationship Id="rId550" Type="http://schemas.openxmlformats.org/officeDocument/2006/relationships/slide" Target="slides/slide543.xml"/><Relationship Id="rId551" Type="http://schemas.openxmlformats.org/officeDocument/2006/relationships/slide" Target="slides/slide544.xml"/><Relationship Id="rId552" Type="http://schemas.openxmlformats.org/officeDocument/2006/relationships/slide" Target="slides/slide545.xml"/><Relationship Id="rId553" Type="http://schemas.openxmlformats.org/officeDocument/2006/relationships/slide" Target="slides/slide546.xml"/><Relationship Id="rId554" Type="http://schemas.openxmlformats.org/officeDocument/2006/relationships/slide" Target="slides/slide547.xml"/><Relationship Id="rId555" Type="http://schemas.openxmlformats.org/officeDocument/2006/relationships/slide" Target="slides/slide548.xml"/><Relationship Id="rId556" Type="http://schemas.openxmlformats.org/officeDocument/2006/relationships/slide" Target="slides/slide549.xml"/><Relationship Id="rId557" Type="http://schemas.openxmlformats.org/officeDocument/2006/relationships/slide" Target="slides/slide550.xml"/><Relationship Id="rId558" Type="http://schemas.openxmlformats.org/officeDocument/2006/relationships/slide" Target="slides/slide55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Sheet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Sheet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29.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Sheet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Sheet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Sheet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Sheet39.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Sheet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Sheet41.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Sheet42.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Sheet43.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Sheet44.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Sheet45.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Sheet46.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Sheet47.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Sheet48.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Sheet49.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Sheet50.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Sheet51.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Sheet52.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Sheet53.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Sheet54.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Sheet55.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Sheet56.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Sheet57.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Sheet58.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Sheet59.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Sheet60.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Sheet61.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Sheet62.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Sheet63.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Sheet64.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Sheet65.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Sheet66.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Sheet67.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Sheet68.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Sheet69.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Sheet70.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Sheet71.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Sheet72.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Sheet73.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Sheet74.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Sheet75.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Sheet76.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Sheet77.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Sheet78.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Sheet79.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Sheet80.xlsx"/></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Sheet81.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Sheet82.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Sheet83.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Sheet84.xlsx"/></Relationships>
</file>

<file path=ppt/charts/_rels/chart85.xml.rels><?xml version='1.0' encoding='UTF-8' standalone='yes'?>
<Relationships xmlns="http://schemas.openxmlformats.org/package/2006/relationships"><Relationship Id="rId1" Type="http://schemas.openxmlformats.org/officeDocument/2006/relationships/package" Target="../embeddings/Microsoft_Excel_Sheet85.xlsx"/></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Sheet86.xlsx"/></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Sheet87.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Sheet88.xlsx"/></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Sheet89.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Sheet90.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Sheet91.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Sheet92.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Sheet93.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Sheet94.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Sheet95.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Sheet96.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Sheet97.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Excel_Sheet98.xlsx"/></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Excel_Sheet99.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Sheet100.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Excel_Sheet101.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Sheet102.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Sheet103.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Sheet104.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Sheet105.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Sheet106.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Sheet107.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Sheet108.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Sheet109.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Sheet110.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Sheet111.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Sheet112.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Sheet113.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Sheet114.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Sheet115.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Sheet116.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Sheet117.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Sheet118.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Sheet119.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Sheet120.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Sheet121.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Excel_Sheet122.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Excel_Sheet123.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Sheet124.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Sheet125.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Sheet126.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Sheet127.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Excel_Sheet128.xlsx"/></Relationships>
</file>

<file path=ppt/charts/_rels/chart129.xml.rels><?xml version='1.0' encoding='UTF-8' standalone='yes'?>
<Relationships xmlns="http://schemas.openxmlformats.org/package/2006/relationships"><Relationship Id="rId1" Type="http://schemas.openxmlformats.org/officeDocument/2006/relationships/package" Target="../embeddings/Microsoft_Excel_Sheet129.xlsx"/></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Sheet130.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Sheet131.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Sheet132.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Sheet133.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Sheet134.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Sheet135.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Sheet136.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Sheet137.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Sheet138.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Sheet139.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Sheet140.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Sheet141.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Sheet142.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Sheet143.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Sheet144.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Sheet145.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Excel_Sheet146.xlsx"/></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Excel_Sheet147.xlsx"/></Relationships>
</file>

<file path=ppt/charts/_rels/chart148.xml.rels><?xml version='1.0' encoding='UTF-8' standalone='yes'?>
<Relationships xmlns="http://schemas.openxmlformats.org/package/2006/relationships"><Relationship Id="rId1" Type="http://schemas.openxmlformats.org/officeDocument/2006/relationships/package" Target="../embeddings/Microsoft_Excel_Sheet148.xlsx"/></Relationships>
</file>

<file path=ppt/charts/_rels/chart149.xml.rels><?xml version='1.0' encoding='UTF-8' standalone='yes'?>
<Relationships xmlns="http://schemas.openxmlformats.org/package/2006/relationships"><Relationship Id="rId1" Type="http://schemas.openxmlformats.org/officeDocument/2006/relationships/package" Target="../embeddings/Microsoft_Excel_Sheet149.xlsx"/></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Excel_Sheet150.xlsx"/></Relationships>
</file>

<file path=ppt/charts/_rels/chart151.xml.rels><?xml version='1.0' encoding='UTF-8' standalone='yes'?>
<Relationships xmlns="http://schemas.openxmlformats.org/package/2006/relationships"><Relationship Id="rId1" Type="http://schemas.openxmlformats.org/officeDocument/2006/relationships/package" Target="../embeddings/Microsoft_Excel_Sheet151.xlsx"/></Relationships>
</file>

<file path=ppt/charts/_rels/chart152.xml.rels><?xml version='1.0' encoding='UTF-8' standalone='yes'?>
<Relationships xmlns="http://schemas.openxmlformats.org/package/2006/relationships"><Relationship Id="rId1" Type="http://schemas.openxmlformats.org/officeDocument/2006/relationships/package" Target="../embeddings/Microsoft_Excel_Sheet152.xlsx"/></Relationships>
</file>

<file path=ppt/charts/_rels/chart153.xml.rels><?xml version='1.0' encoding='UTF-8' standalone='yes'?>
<Relationships xmlns="http://schemas.openxmlformats.org/package/2006/relationships"><Relationship Id="rId1" Type="http://schemas.openxmlformats.org/officeDocument/2006/relationships/package" Target="../embeddings/Microsoft_Excel_Sheet153.xlsx"/></Relationships>
</file>

<file path=ppt/charts/_rels/chart154.xml.rels><?xml version='1.0' encoding='UTF-8' standalone='yes'?>
<Relationships xmlns="http://schemas.openxmlformats.org/package/2006/relationships"><Relationship Id="rId1" Type="http://schemas.openxmlformats.org/officeDocument/2006/relationships/package" Target="../embeddings/Microsoft_Excel_Sheet154.xlsx"/></Relationships>
</file>

<file path=ppt/charts/_rels/chart155.xml.rels><?xml version='1.0' encoding='UTF-8' standalone='yes'?>
<Relationships xmlns="http://schemas.openxmlformats.org/package/2006/relationships"><Relationship Id="rId1" Type="http://schemas.openxmlformats.org/officeDocument/2006/relationships/package" Target="../embeddings/Microsoft_Excel_Sheet155.xlsx"/></Relationships>
</file>

<file path=ppt/charts/_rels/chart156.xml.rels><?xml version='1.0' encoding='UTF-8' standalone='yes'?>
<Relationships xmlns="http://schemas.openxmlformats.org/package/2006/relationships"><Relationship Id="rId1" Type="http://schemas.openxmlformats.org/officeDocument/2006/relationships/package" Target="../embeddings/Microsoft_Excel_Sheet156.xlsx"/></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Excel_Sheet157.xlsx"/></Relationships>
</file>

<file path=ppt/charts/_rels/chart158.xml.rels><?xml version='1.0' encoding='UTF-8' standalone='yes'?>
<Relationships xmlns="http://schemas.openxmlformats.org/package/2006/relationships"><Relationship Id="rId1" Type="http://schemas.openxmlformats.org/officeDocument/2006/relationships/package" Target="../embeddings/Microsoft_Excel_Sheet158.xlsx"/></Relationships>
</file>

<file path=ppt/charts/_rels/chart159.xml.rels><?xml version='1.0' encoding='UTF-8' standalone='yes'?>
<Relationships xmlns="http://schemas.openxmlformats.org/package/2006/relationships"><Relationship Id="rId1" Type="http://schemas.openxmlformats.org/officeDocument/2006/relationships/package" Target="../embeddings/Microsoft_Excel_Sheet159.xlsx"/></Relationships>
</file>

<file path=ppt/charts/_rels/chart160.xml.rels><?xml version='1.0' encoding='UTF-8' standalone='yes'?>
<Relationships xmlns="http://schemas.openxmlformats.org/package/2006/relationships"><Relationship Id="rId1" Type="http://schemas.openxmlformats.org/officeDocument/2006/relationships/package" Target="../embeddings/Microsoft_Excel_Sheet160.xlsx"/></Relationships>
</file>

<file path=ppt/charts/_rels/chart161.xml.rels><?xml version='1.0' encoding='UTF-8' standalone='yes'?>
<Relationships xmlns="http://schemas.openxmlformats.org/package/2006/relationships"><Relationship Id="rId1" Type="http://schemas.openxmlformats.org/officeDocument/2006/relationships/package" Target="../embeddings/Microsoft_Excel_Sheet161.xlsx"/></Relationships>
</file>

<file path=ppt/charts/_rels/chart162.xml.rels><?xml version='1.0' encoding='UTF-8' standalone='yes'?>
<Relationships xmlns="http://schemas.openxmlformats.org/package/2006/relationships"><Relationship Id="rId1" Type="http://schemas.openxmlformats.org/officeDocument/2006/relationships/package" Target="../embeddings/Microsoft_Excel_Sheet162.xlsx"/></Relationships>
</file>

<file path=ppt/charts/_rels/chart163.xml.rels><?xml version='1.0' encoding='UTF-8' standalone='yes'?>
<Relationships xmlns="http://schemas.openxmlformats.org/package/2006/relationships"><Relationship Id="rId1" Type="http://schemas.openxmlformats.org/officeDocument/2006/relationships/package" Target="../embeddings/Microsoft_Excel_Sheet163.xlsx"/></Relationships>
</file>

<file path=ppt/charts/_rels/chart164.xml.rels><?xml version='1.0' encoding='UTF-8' standalone='yes'?>
<Relationships xmlns="http://schemas.openxmlformats.org/package/2006/relationships"><Relationship Id="rId1" Type="http://schemas.openxmlformats.org/officeDocument/2006/relationships/package" Target="../embeddings/Microsoft_Excel_Sheet164.xlsx"/></Relationships>
</file>

<file path=ppt/charts/_rels/chart165.xml.rels><?xml version='1.0' encoding='UTF-8' standalone='yes'?>
<Relationships xmlns="http://schemas.openxmlformats.org/package/2006/relationships"><Relationship Id="rId1" Type="http://schemas.openxmlformats.org/officeDocument/2006/relationships/package" Target="../embeddings/Microsoft_Excel_Sheet165.xlsx"/></Relationships>
</file>

<file path=ppt/charts/_rels/chart166.xml.rels><?xml version='1.0' encoding='UTF-8' standalone='yes'?>
<Relationships xmlns="http://schemas.openxmlformats.org/package/2006/relationships"><Relationship Id="rId1" Type="http://schemas.openxmlformats.org/officeDocument/2006/relationships/package" Target="../embeddings/Microsoft_Excel_Sheet166.xlsx"/></Relationships>
</file>

<file path=ppt/charts/_rels/chart167.xml.rels><?xml version='1.0' encoding='UTF-8' standalone='yes'?>
<Relationships xmlns="http://schemas.openxmlformats.org/package/2006/relationships"><Relationship Id="rId1" Type="http://schemas.openxmlformats.org/officeDocument/2006/relationships/package" Target="../embeddings/Microsoft_Excel_Sheet167.xlsx"/></Relationships>
</file>

<file path=ppt/charts/_rels/chart168.xml.rels><?xml version='1.0' encoding='UTF-8' standalone='yes'?>
<Relationships xmlns="http://schemas.openxmlformats.org/package/2006/relationships"><Relationship Id="rId1" Type="http://schemas.openxmlformats.org/officeDocument/2006/relationships/package" Target="../embeddings/Microsoft_Excel_Sheet168.xlsx"/></Relationships>
</file>

<file path=ppt/charts/_rels/chart169.xml.rels><?xml version='1.0' encoding='UTF-8' standalone='yes'?>
<Relationships xmlns="http://schemas.openxmlformats.org/package/2006/relationships"><Relationship Id="rId1" Type="http://schemas.openxmlformats.org/officeDocument/2006/relationships/package" Target="../embeddings/Microsoft_Excel_Sheet169.xlsx"/></Relationships>
</file>

<file path=ppt/charts/_rels/chart170.xml.rels><?xml version='1.0' encoding='UTF-8' standalone='yes'?>
<Relationships xmlns="http://schemas.openxmlformats.org/package/2006/relationships"><Relationship Id="rId1" Type="http://schemas.openxmlformats.org/officeDocument/2006/relationships/package" Target="../embeddings/Microsoft_Excel_Sheet170.xlsx"/></Relationships>
</file>

<file path=ppt/charts/_rels/chart171.xml.rels><?xml version='1.0' encoding='UTF-8' standalone='yes'?>
<Relationships xmlns="http://schemas.openxmlformats.org/package/2006/relationships"><Relationship Id="rId1" Type="http://schemas.openxmlformats.org/officeDocument/2006/relationships/package" Target="../embeddings/Microsoft_Excel_Sheet171.xlsx"/></Relationships>
</file>

<file path=ppt/charts/_rels/chart172.xml.rels><?xml version='1.0' encoding='UTF-8' standalone='yes'?>
<Relationships xmlns="http://schemas.openxmlformats.org/package/2006/relationships"><Relationship Id="rId1" Type="http://schemas.openxmlformats.org/officeDocument/2006/relationships/package" Target="../embeddings/Microsoft_Excel_Sheet172.xlsx"/></Relationships>
</file>

<file path=ppt/charts/_rels/chart173.xml.rels><?xml version='1.0' encoding='UTF-8' standalone='yes'?>
<Relationships xmlns="http://schemas.openxmlformats.org/package/2006/relationships"><Relationship Id="rId1" Type="http://schemas.openxmlformats.org/officeDocument/2006/relationships/package" Target="../embeddings/Microsoft_Excel_Sheet173.xlsx"/></Relationships>
</file>

<file path=ppt/charts/_rels/chart174.xml.rels><?xml version='1.0' encoding='UTF-8' standalone='yes'?>
<Relationships xmlns="http://schemas.openxmlformats.org/package/2006/relationships"><Relationship Id="rId1" Type="http://schemas.openxmlformats.org/officeDocument/2006/relationships/package" Target="../embeddings/Microsoft_Excel_Sheet174.xlsx"/></Relationships>
</file>

<file path=ppt/charts/_rels/chart175.xml.rels><?xml version='1.0' encoding='UTF-8' standalone='yes'?>
<Relationships xmlns="http://schemas.openxmlformats.org/package/2006/relationships"><Relationship Id="rId1" Type="http://schemas.openxmlformats.org/officeDocument/2006/relationships/package" Target="../embeddings/Microsoft_Excel_Sheet175.xlsx"/></Relationships>
</file>

<file path=ppt/charts/_rels/chart176.xml.rels><?xml version='1.0' encoding='UTF-8' standalone='yes'?>
<Relationships xmlns="http://schemas.openxmlformats.org/package/2006/relationships"><Relationship Id="rId1" Type="http://schemas.openxmlformats.org/officeDocument/2006/relationships/package" Target="../embeddings/Microsoft_Excel_Sheet176.xlsx"/></Relationships>
</file>

<file path=ppt/charts/_rels/chart177.xml.rels><?xml version='1.0' encoding='UTF-8' standalone='yes'?>
<Relationships xmlns="http://schemas.openxmlformats.org/package/2006/relationships"><Relationship Id="rId1" Type="http://schemas.openxmlformats.org/officeDocument/2006/relationships/package" Target="../embeddings/Microsoft_Excel_Sheet177.xlsx"/></Relationships>
</file>

<file path=ppt/charts/_rels/chart178.xml.rels><?xml version='1.0' encoding='UTF-8' standalone='yes'?>
<Relationships xmlns="http://schemas.openxmlformats.org/package/2006/relationships"><Relationship Id="rId1" Type="http://schemas.openxmlformats.org/officeDocument/2006/relationships/package" Target="../embeddings/Microsoft_Excel_Sheet178.xlsx"/></Relationships>
</file>

<file path=ppt/charts/_rels/chart179.xml.rels><?xml version='1.0' encoding='UTF-8' standalone='yes'?>
<Relationships xmlns="http://schemas.openxmlformats.org/package/2006/relationships"><Relationship Id="rId1" Type="http://schemas.openxmlformats.org/officeDocument/2006/relationships/package" Target="../embeddings/Microsoft_Excel_Sheet179.xlsx"/></Relationships>
</file>

<file path=ppt/charts/_rels/chart180.xml.rels><?xml version='1.0' encoding='UTF-8' standalone='yes'?>
<Relationships xmlns="http://schemas.openxmlformats.org/package/2006/relationships"><Relationship Id="rId1" Type="http://schemas.openxmlformats.org/officeDocument/2006/relationships/package" Target="../embeddings/Microsoft_Excel_Sheet180.xlsx"/></Relationships>
</file>

<file path=ppt/charts/_rels/chart181.xml.rels><?xml version='1.0' encoding='UTF-8' standalone='yes'?>
<Relationships xmlns="http://schemas.openxmlformats.org/package/2006/relationships"><Relationship Id="rId1" Type="http://schemas.openxmlformats.org/officeDocument/2006/relationships/package" Target="../embeddings/Microsoft_Excel_Sheet181.xlsx"/></Relationships>
</file>

<file path=ppt/charts/_rels/chart182.xml.rels><?xml version='1.0' encoding='UTF-8' standalone='yes'?>
<Relationships xmlns="http://schemas.openxmlformats.org/package/2006/relationships"><Relationship Id="rId1" Type="http://schemas.openxmlformats.org/officeDocument/2006/relationships/package" Target="../embeddings/Microsoft_Excel_Sheet182.xlsx"/></Relationships>
</file>

<file path=ppt/charts/_rels/chart183.xml.rels><?xml version='1.0' encoding='UTF-8' standalone='yes'?>
<Relationships xmlns="http://schemas.openxmlformats.org/package/2006/relationships"><Relationship Id="rId1" Type="http://schemas.openxmlformats.org/officeDocument/2006/relationships/package" Target="../embeddings/Microsoft_Excel_Sheet183.xlsx"/></Relationships>
</file>

<file path=ppt/charts/_rels/chart184.xml.rels><?xml version='1.0' encoding='UTF-8' standalone='yes'?>
<Relationships xmlns="http://schemas.openxmlformats.org/package/2006/relationships"><Relationship Id="rId1" Type="http://schemas.openxmlformats.org/officeDocument/2006/relationships/package" Target="../embeddings/Microsoft_Excel_Sheet184.xlsx"/></Relationships>
</file>

<file path=ppt/charts/_rels/chart185.xml.rels><?xml version='1.0' encoding='UTF-8' standalone='yes'?>
<Relationships xmlns="http://schemas.openxmlformats.org/package/2006/relationships"><Relationship Id="rId1" Type="http://schemas.openxmlformats.org/officeDocument/2006/relationships/package" Target="../embeddings/Microsoft_Excel_Sheet185.xlsx"/></Relationships>
</file>

<file path=ppt/charts/_rels/chart186.xml.rels><?xml version='1.0' encoding='UTF-8' standalone='yes'?>
<Relationships xmlns="http://schemas.openxmlformats.org/package/2006/relationships"><Relationship Id="rId1" Type="http://schemas.openxmlformats.org/officeDocument/2006/relationships/package" Target="../embeddings/Microsoft_Excel_Sheet186.xlsx"/></Relationships>
</file>

<file path=ppt/charts/_rels/chart187.xml.rels><?xml version='1.0' encoding='UTF-8' standalone='yes'?>
<Relationships xmlns="http://schemas.openxmlformats.org/package/2006/relationships"><Relationship Id="rId1" Type="http://schemas.openxmlformats.org/officeDocument/2006/relationships/package" Target="../embeddings/Microsoft_Excel_Sheet187.xlsx"/></Relationships>
</file>

<file path=ppt/charts/_rels/chart188.xml.rels><?xml version='1.0' encoding='UTF-8' standalone='yes'?>
<Relationships xmlns="http://schemas.openxmlformats.org/package/2006/relationships"><Relationship Id="rId1" Type="http://schemas.openxmlformats.org/officeDocument/2006/relationships/package" Target="../embeddings/Microsoft_Excel_Sheet188.xlsx"/></Relationships>
</file>

<file path=ppt/charts/_rels/chart189.xml.rels><?xml version='1.0' encoding='UTF-8' standalone='yes'?>
<Relationships xmlns="http://schemas.openxmlformats.org/package/2006/relationships"><Relationship Id="rId1" Type="http://schemas.openxmlformats.org/officeDocument/2006/relationships/package" Target="../embeddings/Microsoft_Excel_Sheet189.xlsx"/></Relationships>
</file>

<file path=ppt/charts/_rels/chart190.xml.rels><?xml version='1.0' encoding='UTF-8' standalone='yes'?>
<Relationships xmlns="http://schemas.openxmlformats.org/package/2006/relationships"><Relationship Id="rId1" Type="http://schemas.openxmlformats.org/officeDocument/2006/relationships/package" Target="../embeddings/Microsoft_Excel_Sheet190.xlsx"/></Relationships>
</file>

<file path=ppt/charts/_rels/chart191.xml.rels><?xml version='1.0' encoding='UTF-8' standalone='yes'?>
<Relationships xmlns="http://schemas.openxmlformats.org/package/2006/relationships"><Relationship Id="rId1" Type="http://schemas.openxmlformats.org/officeDocument/2006/relationships/package" Target="../embeddings/Microsoft_Excel_Sheet191.xlsx"/></Relationships>
</file>

<file path=ppt/charts/_rels/chart192.xml.rels><?xml version='1.0' encoding='UTF-8' standalone='yes'?>
<Relationships xmlns="http://schemas.openxmlformats.org/package/2006/relationships"><Relationship Id="rId1" Type="http://schemas.openxmlformats.org/officeDocument/2006/relationships/package" Target="../embeddings/Microsoft_Excel_Sheet192.xlsx"/></Relationships>
</file>

<file path=ppt/charts/_rels/chart193.xml.rels><?xml version='1.0' encoding='UTF-8' standalone='yes'?>
<Relationships xmlns="http://schemas.openxmlformats.org/package/2006/relationships"><Relationship Id="rId1" Type="http://schemas.openxmlformats.org/officeDocument/2006/relationships/package" Target="../embeddings/Microsoft_Excel_Sheet193.xlsx"/></Relationships>
</file>

<file path=ppt/charts/_rels/chart194.xml.rels><?xml version='1.0' encoding='UTF-8' standalone='yes'?>
<Relationships xmlns="http://schemas.openxmlformats.org/package/2006/relationships"><Relationship Id="rId1" Type="http://schemas.openxmlformats.org/officeDocument/2006/relationships/package" Target="../embeddings/Microsoft_Excel_Sheet194.xlsx"/></Relationships>
</file>

<file path=ppt/charts/_rels/chart195.xml.rels><?xml version='1.0' encoding='UTF-8' standalone='yes'?>
<Relationships xmlns="http://schemas.openxmlformats.org/package/2006/relationships"><Relationship Id="rId1" Type="http://schemas.openxmlformats.org/officeDocument/2006/relationships/package" Target="../embeddings/Microsoft_Excel_Sheet195.xlsx"/></Relationships>
</file>

<file path=ppt/charts/_rels/chart196.xml.rels><?xml version='1.0' encoding='UTF-8' standalone='yes'?>
<Relationships xmlns="http://schemas.openxmlformats.org/package/2006/relationships"><Relationship Id="rId1" Type="http://schemas.openxmlformats.org/officeDocument/2006/relationships/package" Target="../embeddings/Microsoft_Excel_Sheet196.xlsx"/></Relationships>
</file>

<file path=ppt/charts/_rels/chart197.xml.rels><?xml version='1.0' encoding='UTF-8' standalone='yes'?>
<Relationships xmlns="http://schemas.openxmlformats.org/package/2006/relationships"><Relationship Id="rId1" Type="http://schemas.openxmlformats.org/officeDocument/2006/relationships/package" Target="../embeddings/Microsoft_Excel_Sheet197.xlsx"/></Relationships>
</file>

<file path=ppt/charts/_rels/chart198.xml.rels><?xml version='1.0' encoding='UTF-8' standalone='yes'?>
<Relationships xmlns="http://schemas.openxmlformats.org/package/2006/relationships"><Relationship Id="rId1" Type="http://schemas.openxmlformats.org/officeDocument/2006/relationships/package" Target="../embeddings/Microsoft_Excel_Sheet198.xlsx"/></Relationships>
</file>

<file path=ppt/charts/_rels/chart199.xml.rels><?xml version='1.0' encoding='UTF-8' standalone='yes'?>
<Relationships xmlns="http://schemas.openxmlformats.org/package/2006/relationships"><Relationship Id="rId1" Type="http://schemas.openxmlformats.org/officeDocument/2006/relationships/package" Target="../embeddings/Microsoft_Excel_Sheet199.xlsx"/></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Excel_Sheet200.xlsx"/></Relationships>
</file>

<file path=ppt/charts/_rels/chart201.xml.rels><?xml version='1.0' encoding='UTF-8' standalone='yes'?>
<Relationships xmlns="http://schemas.openxmlformats.org/package/2006/relationships"><Relationship Id="rId1" Type="http://schemas.openxmlformats.org/officeDocument/2006/relationships/package" Target="../embeddings/Microsoft_Excel_Sheet201.xlsx"/></Relationships>
</file>

<file path=ppt/charts/_rels/chart202.xml.rels><?xml version='1.0' encoding='UTF-8' standalone='yes'?>
<Relationships xmlns="http://schemas.openxmlformats.org/package/2006/relationships"><Relationship Id="rId1" Type="http://schemas.openxmlformats.org/officeDocument/2006/relationships/package" Target="../embeddings/Microsoft_Excel_Sheet202.xlsx"/></Relationships>
</file>

<file path=ppt/charts/_rels/chart203.xml.rels><?xml version='1.0' encoding='UTF-8' standalone='yes'?>
<Relationships xmlns="http://schemas.openxmlformats.org/package/2006/relationships"><Relationship Id="rId1" Type="http://schemas.openxmlformats.org/officeDocument/2006/relationships/package" Target="../embeddings/Microsoft_Excel_Sheet203.xlsx"/></Relationships>
</file>

<file path=ppt/charts/_rels/chart204.xml.rels><?xml version='1.0' encoding='UTF-8' standalone='yes'?>
<Relationships xmlns="http://schemas.openxmlformats.org/package/2006/relationships"><Relationship Id="rId1" Type="http://schemas.openxmlformats.org/officeDocument/2006/relationships/package" Target="../embeddings/Microsoft_Excel_Sheet204.xlsx"/></Relationships>
</file>

<file path=ppt/charts/_rels/chart205.xml.rels><?xml version='1.0' encoding='UTF-8' standalone='yes'?>
<Relationships xmlns="http://schemas.openxmlformats.org/package/2006/relationships"><Relationship Id="rId1" Type="http://schemas.openxmlformats.org/officeDocument/2006/relationships/package" Target="../embeddings/Microsoft_Excel_Sheet205.xlsx"/></Relationships>
</file>

<file path=ppt/charts/_rels/chart206.xml.rels><?xml version='1.0' encoding='UTF-8' standalone='yes'?>
<Relationships xmlns="http://schemas.openxmlformats.org/package/2006/relationships"><Relationship Id="rId1" Type="http://schemas.openxmlformats.org/officeDocument/2006/relationships/package" Target="../embeddings/Microsoft_Excel_Sheet206.xlsx"/></Relationships>
</file>

<file path=ppt/charts/_rels/chart207.xml.rels><?xml version='1.0' encoding='UTF-8' standalone='yes'?>
<Relationships xmlns="http://schemas.openxmlformats.org/package/2006/relationships"><Relationship Id="rId1" Type="http://schemas.openxmlformats.org/officeDocument/2006/relationships/package" Target="../embeddings/Microsoft_Excel_Sheet207.xlsx"/></Relationships>
</file>

<file path=ppt/charts/_rels/chart208.xml.rels><?xml version='1.0' encoding='UTF-8' standalone='yes'?>
<Relationships xmlns="http://schemas.openxmlformats.org/package/2006/relationships"><Relationship Id="rId1" Type="http://schemas.openxmlformats.org/officeDocument/2006/relationships/package" Target="../embeddings/Microsoft_Excel_Sheet208.xlsx"/></Relationships>
</file>

<file path=ppt/charts/_rels/chart209.xml.rels><?xml version='1.0' encoding='UTF-8' standalone='yes'?>
<Relationships xmlns="http://schemas.openxmlformats.org/package/2006/relationships"><Relationship Id="rId1" Type="http://schemas.openxmlformats.org/officeDocument/2006/relationships/package" Target="../embeddings/Microsoft_Excel_Sheet209.xlsx"/></Relationships>
</file>

<file path=ppt/charts/_rels/chart210.xml.rels><?xml version='1.0' encoding='UTF-8' standalone='yes'?>
<Relationships xmlns="http://schemas.openxmlformats.org/package/2006/relationships"><Relationship Id="rId1" Type="http://schemas.openxmlformats.org/officeDocument/2006/relationships/package" Target="../embeddings/Microsoft_Excel_Sheet210.xlsx"/></Relationships>
</file>

<file path=ppt/charts/_rels/chart211.xml.rels><?xml version='1.0' encoding='UTF-8' standalone='yes'?>
<Relationships xmlns="http://schemas.openxmlformats.org/package/2006/relationships"><Relationship Id="rId1" Type="http://schemas.openxmlformats.org/officeDocument/2006/relationships/package" Target="../embeddings/Microsoft_Excel_Sheet211.xlsx"/></Relationships>
</file>

<file path=ppt/charts/_rels/chart212.xml.rels><?xml version='1.0' encoding='UTF-8' standalone='yes'?>
<Relationships xmlns="http://schemas.openxmlformats.org/package/2006/relationships"><Relationship Id="rId1" Type="http://schemas.openxmlformats.org/officeDocument/2006/relationships/package" Target="../embeddings/Microsoft_Excel_Sheet212.xlsx"/></Relationships>
</file>

<file path=ppt/charts/_rels/chart213.xml.rels><?xml version='1.0' encoding='UTF-8' standalone='yes'?>
<Relationships xmlns="http://schemas.openxmlformats.org/package/2006/relationships"><Relationship Id="rId1" Type="http://schemas.openxmlformats.org/officeDocument/2006/relationships/package" Target="../embeddings/Microsoft_Excel_Sheet213.xlsx"/></Relationships>
</file>

<file path=ppt/charts/_rels/chart214.xml.rels><?xml version='1.0' encoding='UTF-8' standalone='yes'?>
<Relationships xmlns="http://schemas.openxmlformats.org/package/2006/relationships"><Relationship Id="rId1" Type="http://schemas.openxmlformats.org/officeDocument/2006/relationships/package" Target="../embeddings/Microsoft_Excel_Sheet214.xlsx"/></Relationships>
</file>

<file path=ppt/charts/_rels/chart215.xml.rels><?xml version='1.0' encoding='UTF-8' standalone='yes'?>
<Relationships xmlns="http://schemas.openxmlformats.org/package/2006/relationships"><Relationship Id="rId1" Type="http://schemas.openxmlformats.org/officeDocument/2006/relationships/package" Target="../embeddings/Microsoft_Excel_Sheet215.xlsx"/></Relationships>
</file>

<file path=ppt/charts/_rels/chart216.xml.rels><?xml version='1.0' encoding='UTF-8' standalone='yes'?>
<Relationships xmlns="http://schemas.openxmlformats.org/package/2006/relationships"><Relationship Id="rId1" Type="http://schemas.openxmlformats.org/officeDocument/2006/relationships/package" Target="../embeddings/Microsoft_Excel_Sheet216.xlsx"/></Relationships>
</file>

<file path=ppt/charts/_rels/chart217.xml.rels><?xml version='1.0' encoding='UTF-8' standalone='yes'?>
<Relationships xmlns="http://schemas.openxmlformats.org/package/2006/relationships"><Relationship Id="rId1" Type="http://schemas.openxmlformats.org/officeDocument/2006/relationships/package" Target="../embeddings/Microsoft_Excel_Sheet217.xlsx"/></Relationships>
</file>

<file path=ppt/charts/_rels/chart218.xml.rels><?xml version='1.0' encoding='UTF-8' standalone='yes'?>
<Relationships xmlns="http://schemas.openxmlformats.org/package/2006/relationships"><Relationship Id="rId1" Type="http://schemas.openxmlformats.org/officeDocument/2006/relationships/package" Target="../embeddings/Microsoft_Excel_Sheet218.xlsx"/></Relationships>
</file>

<file path=ppt/charts/_rels/chart219.xml.rels><?xml version='1.0' encoding='UTF-8' standalone='yes'?>
<Relationships xmlns="http://schemas.openxmlformats.org/package/2006/relationships"><Relationship Id="rId1" Type="http://schemas.openxmlformats.org/officeDocument/2006/relationships/package" Target="../embeddings/Microsoft_Excel_Sheet219.xlsx"/></Relationships>
</file>

<file path=ppt/charts/_rels/chart220.xml.rels><?xml version='1.0' encoding='UTF-8' standalone='yes'?>
<Relationships xmlns="http://schemas.openxmlformats.org/package/2006/relationships"><Relationship Id="rId1" Type="http://schemas.openxmlformats.org/officeDocument/2006/relationships/package" Target="../embeddings/Microsoft_Excel_Sheet220.xlsx"/></Relationships>
</file>

<file path=ppt/charts/_rels/chart221.xml.rels><?xml version='1.0' encoding='UTF-8' standalone='yes'?>
<Relationships xmlns="http://schemas.openxmlformats.org/package/2006/relationships"><Relationship Id="rId1" Type="http://schemas.openxmlformats.org/officeDocument/2006/relationships/package" Target="../embeddings/Microsoft_Excel_Sheet221.xlsx"/></Relationships>
</file>

<file path=ppt/charts/_rels/chart222.xml.rels><?xml version='1.0' encoding='UTF-8' standalone='yes'?>
<Relationships xmlns="http://schemas.openxmlformats.org/package/2006/relationships"><Relationship Id="rId1" Type="http://schemas.openxmlformats.org/officeDocument/2006/relationships/package" Target="../embeddings/Microsoft_Excel_Sheet222.xlsx"/></Relationships>
</file>

<file path=ppt/charts/_rels/chart223.xml.rels><?xml version='1.0' encoding='UTF-8' standalone='yes'?>
<Relationships xmlns="http://schemas.openxmlformats.org/package/2006/relationships"><Relationship Id="rId1" Type="http://schemas.openxmlformats.org/officeDocument/2006/relationships/package" Target="../embeddings/Microsoft_Excel_Sheet223.xlsx"/></Relationships>
</file>

<file path=ppt/charts/_rels/chart224.xml.rels><?xml version='1.0' encoding='UTF-8' standalone='yes'?>
<Relationships xmlns="http://schemas.openxmlformats.org/package/2006/relationships"><Relationship Id="rId1" Type="http://schemas.openxmlformats.org/officeDocument/2006/relationships/package" Target="../embeddings/Microsoft_Excel_Sheet224.xlsx"/></Relationships>
</file>

<file path=ppt/charts/_rels/chart225.xml.rels><?xml version='1.0' encoding='UTF-8' standalone='yes'?>
<Relationships xmlns="http://schemas.openxmlformats.org/package/2006/relationships"><Relationship Id="rId1" Type="http://schemas.openxmlformats.org/officeDocument/2006/relationships/package" Target="../embeddings/Microsoft_Excel_Sheet225.xlsx"/></Relationships>
</file>

<file path=ppt/charts/_rels/chart226.xml.rels><?xml version='1.0' encoding='UTF-8' standalone='yes'?>
<Relationships xmlns="http://schemas.openxmlformats.org/package/2006/relationships"><Relationship Id="rId1" Type="http://schemas.openxmlformats.org/officeDocument/2006/relationships/package" Target="../embeddings/Microsoft_Excel_Sheet226.xlsx"/></Relationships>
</file>

<file path=ppt/charts/_rels/chart227.xml.rels><?xml version='1.0' encoding='UTF-8' standalone='yes'?>
<Relationships xmlns="http://schemas.openxmlformats.org/package/2006/relationships"><Relationship Id="rId1" Type="http://schemas.openxmlformats.org/officeDocument/2006/relationships/package" Target="../embeddings/Microsoft_Excel_Sheet227.xlsx"/></Relationships>
</file>

<file path=ppt/charts/_rels/chart228.xml.rels><?xml version='1.0' encoding='UTF-8' standalone='yes'?>
<Relationships xmlns="http://schemas.openxmlformats.org/package/2006/relationships"><Relationship Id="rId1" Type="http://schemas.openxmlformats.org/officeDocument/2006/relationships/package" Target="../embeddings/Microsoft_Excel_Sheet228.xlsx"/></Relationships>
</file>

<file path=ppt/charts/_rels/chart229.xml.rels><?xml version='1.0' encoding='UTF-8' standalone='yes'?>
<Relationships xmlns="http://schemas.openxmlformats.org/package/2006/relationships"><Relationship Id="rId1" Type="http://schemas.openxmlformats.org/officeDocument/2006/relationships/package" Target="../embeddings/Microsoft_Excel_Sheet229.xlsx"/></Relationships>
</file>

<file path=ppt/charts/_rels/chart230.xml.rels><?xml version='1.0' encoding='UTF-8' standalone='yes'?>
<Relationships xmlns="http://schemas.openxmlformats.org/package/2006/relationships"><Relationship Id="rId1" Type="http://schemas.openxmlformats.org/officeDocument/2006/relationships/package" Target="../embeddings/Microsoft_Excel_Sheet230.xlsx"/></Relationships>
</file>

<file path=ppt/charts/_rels/chart231.xml.rels><?xml version='1.0' encoding='UTF-8' standalone='yes'?>
<Relationships xmlns="http://schemas.openxmlformats.org/package/2006/relationships"><Relationship Id="rId1" Type="http://schemas.openxmlformats.org/officeDocument/2006/relationships/package" Target="../embeddings/Microsoft_Excel_Sheet231.xlsx"/></Relationships>
</file>

<file path=ppt/charts/_rels/chart232.xml.rels><?xml version='1.0' encoding='UTF-8' standalone='yes'?>
<Relationships xmlns="http://schemas.openxmlformats.org/package/2006/relationships"><Relationship Id="rId1" Type="http://schemas.openxmlformats.org/officeDocument/2006/relationships/package" Target="../embeddings/Microsoft_Excel_Sheet232.xlsx"/></Relationships>
</file>

<file path=ppt/charts/_rels/chart233.xml.rels><?xml version='1.0' encoding='UTF-8' standalone='yes'?>
<Relationships xmlns="http://schemas.openxmlformats.org/package/2006/relationships"><Relationship Id="rId1" Type="http://schemas.openxmlformats.org/officeDocument/2006/relationships/package" Target="../embeddings/Microsoft_Excel_Sheet233.xlsx"/></Relationships>
</file>

<file path=ppt/charts/_rels/chart234.xml.rels><?xml version='1.0' encoding='UTF-8' standalone='yes'?>
<Relationships xmlns="http://schemas.openxmlformats.org/package/2006/relationships"><Relationship Id="rId1" Type="http://schemas.openxmlformats.org/officeDocument/2006/relationships/package" Target="../embeddings/Microsoft_Excel_Sheet234.xlsx"/></Relationships>
</file>

<file path=ppt/charts/_rels/chart235.xml.rels><?xml version='1.0' encoding='UTF-8' standalone='yes'?>
<Relationships xmlns="http://schemas.openxmlformats.org/package/2006/relationships"><Relationship Id="rId1" Type="http://schemas.openxmlformats.org/officeDocument/2006/relationships/package" Target="../embeddings/Microsoft_Excel_Sheet235.xlsx"/></Relationships>
</file>

<file path=ppt/charts/_rels/chart236.xml.rels><?xml version='1.0' encoding='UTF-8' standalone='yes'?>
<Relationships xmlns="http://schemas.openxmlformats.org/package/2006/relationships"><Relationship Id="rId1" Type="http://schemas.openxmlformats.org/officeDocument/2006/relationships/package" Target="../embeddings/Microsoft_Excel_Sheet236.xlsx"/></Relationships>
</file>

<file path=ppt/charts/_rels/chart237.xml.rels><?xml version='1.0' encoding='UTF-8' standalone='yes'?>
<Relationships xmlns="http://schemas.openxmlformats.org/package/2006/relationships"><Relationship Id="rId1" Type="http://schemas.openxmlformats.org/officeDocument/2006/relationships/package" Target="../embeddings/Microsoft_Excel_Sheet237.xlsx"/></Relationships>
</file>

<file path=ppt/charts/_rels/chart238.xml.rels><?xml version='1.0' encoding='UTF-8' standalone='yes'?>
<Relationships xmlns="http://schemas.openxmlformats.org/package/2006/relationships"><Relationship Id="rId1" Type="http://schemas.openxmlformats.org/officeDocument/2006/relationships/package" Target="../embeddings/Microsoft_Excel_Sheet238.xlsx"/></Relationships>
</file>

<file path=ppt/charts/_rels/chart239.xml.rels><?xml version='1.0' encoding='UTF-8' standalone='yes'?>
<Relationships xmlns="http://schemas.openxmlformats.org/package/2006/relationships"><Relationship Id="rId1" Type="http://schemas.openxmlformats.org/officeDocument/2006/relationships/package" Target="../embeddings/Microsoft_Excel_Sheet239.xlsx"/></Relationships>
</file>

<file path=ppt/charts/_rels/chart240.xml.rels><?xml version='1.0' encoding='UTF-8' standalone='yes'?>
<Relationships xmlns="http://schemas.openxmlformats.org/package/2006/relationships"><Relationship Id="rId1" Type="http://schemas.openxmlformats.org/officeDocument/2006/relationships/package" Target="../embeddings/Microsoft_Excel_Sheet240.xlsx"/></Relationships>
</file>

<file path=ppt/charts/_rels/chart241.xml.rels><?xml version='1.0' encoding='UTF-8' standalone='yes'?>
<Relationships xmlns="http://schemas.openxmlformats.org/package/2006/relationships"><Relationship Id="rId1" Type="http://schemas.openxmlformats.org/officeDocument/2006/relationships/package" Target="../embeddings/Microsoft_Excel_Sheet241.xlsx"/></Relationships>
</file>

<file path=ppt/charts/_rels/chart242.xml.rels><?xml version='1.0' encoding='UTF-8' standalone='yes'?>
<Relationships xmlns="http://schemas.openxmlformats.org/package/2006/relationships"><Relationship Id="rId1" Type="http://schemas.openxmlformats.org/officeDocument/2006/relationships/package" Target="../embeddings/Microsoft_Excel_Sheet242.xlsx"/></Relationships>
</file>

<file path=ppt/charts/_rels/chart243.xml.rels><?xml version='1.0' encoding='UTF-8' standalone='yes'?>
<Relationships xmlns="http://schemas.openxmlformats.org/package/2006/relationships"><Relationship Id="rId1" Type="http://schemas.openxmlformats.org/officeDocument/2006/relationships/package" Target="../embeddings/Microsoft_Excel_Sheet243.xlsx"/></Relationships>
</file>

<file path=ppt/charts/_rels/chart244.xml.rels><?xml version='1.0' encoding='UTF-8' standalone='yes'?>
<Relationships xmlns="http://schemas.openxmlformats.org/package/2006/relationships"><Relationship Id="rId1" Type="http://schemas.openxmlformats.org/officeDocument/2006/relationships/package" Target="../embeddings/Microsoft_Excel_Sheet244.xlsx"/></Relationships>
</file>

<file path=ppt/charts/_rels/chart245.xml.rels><?xml version='1.0' encoding='UTF-8' standalone='yes'?>
<Relationships xmlns="http://schemas.openxmlformats.org/package/2006/relationships"><Relationship Id="rId1" Type="http://schemas.openxmlformats.org/officeDocument/2006/relationships/package" Target="../embeddings/Microsoft_Excel_Sheet245.xlsx"/></Relationships>
</file>

<file path=ppt/charts/_rels/chart246.xml.rels><?xml version='1.0' encoding='UTF-8' standalone='yes'?>
<Relationships xmlns="http://schemas.openxmlformats.org/package/2006/relationships"><Relationship Id="rId1" Type="http://schemas.openxmlformats.org/officeDocument/2006/relationships/package" Target="../embeddings/Microsoft_Excel_Sheet246.xlsx"/></Relationships>
</file>

<file path=ppt/charts/_rels/chart247.xml.rels><?xml version='1.0' encoding='UTF-8' standalone='yes'?>
<Relationships xmlns="http://schemas.openxmlformats.org/package/2006/relationships"><Relationship Id="rId1" Type="http://schemas.openxmlformats.org/officeDocument/2006/relationships/package" Target="../embeddings/Microsoft_Excel_Sheet247.xlsx"/></Relationships>
</file>

<file path=ppt/charts/_rels/chart248.xml.rels><?xml version='1.0' encoding='UTF-8' standalone='yes'?>
<Relationships xmlns="http://schemas.openxmlformats.org/package/2006/relationships"><Relationship Id="rId1" Type="http://schemas.openxmlformats.org/officeDocument/2006/relationships/package" Target="../embeddings/Microsoft_Excel_Sheet248.xlsx"/></Relationships>
</file>

<file path=ppt/charts/_rels/chart249.xml.rels><?xml version='1.0' encoding='UTF-8' standalone='yes'?>
<Relationships xmlns="http://schemas.openxmlformats.org/package/2006/relationships"><Relationship Id="rId1" Type="http://schemas.openxmlformats.org/officeDocument/2006/relationships/package" Target="../embeddings/Microsoft_Excel_Sheet249.xlsx"/></Relationships>
</file>

<file path=ppt/charts/_rels/chart250.xml.rels><?xml version='1.0' encoding='UTF-8' standalone='yes'?>
<Relationships xmlns="http://schemas.openxmlformats.org/package/2006/relationships"><Relationship Id="rId1" Type="http://schemas.openxmlformats.org/officeDocument/2006/relationships/package" Target="../embeddings/Microsoft_Excel_Sheet250.xlsx"/></Relationships>
</file>

<file path=ppt/charts/_rels/chart251.xml.rels><?xml version='1.0' encoding='UTF-8' standalone='yes'?>
<Relationships xmlns="http://schemas.openxmlformats.org/package/2006/relationships"><Relationship Id="rId1" Type="http://schemas.openxmlformats.org/officeDocument/2006/relationships/package" Target="../embeddings/Microsoft_Excel_Sheet251.xlsx"/></Relationships>
</file>

<file path=ppt/charts/_rels/chart252.xml.rels><?xml version='1.0' encoding='UTF-8' standalone='yes'?>
<Relationships xmlns="http://schemas.openxmlformats.org/package/2006/relationships"><Relationship Id="rId1" Type="http://schemas.openxmlformats.org/officeDocument/2006/relationships/package" Target="../embeddings/Microsoft_Excel_Sheet252.xlsx"/></Relationships>
</file>

<file path=ppt/charts/_rels/chart253.xml.rels><?xml version='1.0' encoding='UTF-8' standalone='yes'?>
<Relationships xmlns="http://schemas.openxmlformats.org/package/2006/relationships"><Relationship Id="rId1" Type="http://schemas.openxmlformats.org/officeDocument/2006/relationships/package" Target="../embeddings/Microsoft_Excel_Sheet253.xlsx"/></Relationships>
</file>

<file path=ppt/charts/_rels/chart254.xml.rels><?xml version='1.0' encoding='UTF-8' standalone='yes'?>
<Relationships xmlns="http://schemas.openxmlformats.org/package/2006/relationships"><Relationship Id="rId1" Type="http://schemas.openxmlformats.org/officeDocument/2006/relationships/package" Target="../embeddings/Microsoft_Excel_Sheet254.xlsx"/></Relationships>
</file>

<file path=ppt/charts/_rels/chart255.xml.rels><?xml version='1.0' encoding='UTF-8' standalone='yes'?>
<Relationships xmlns="http://schemas.openxmlformats.org/package/2006/relationships"><Relationship Id="rId1" Type="http://schemas.openxmlformats.org/officeDocument/2006/relationships/package" Target="../embeddings/Microsoft_Excel_Sheet255.xlsx"/></Relationships>
</file>

<file path=ppt/charts/_rels/chart256.xml.rels><?xml version='1.0' encoding='UTF-8' standalone='yes'?>
<Relationships xmlns="http://schemas.openxmlformats.org/package/2006/relationships"><Relationship Id="rId1" Type="http://schemas.openxmlformats.org/officeDocument/2006/relationships/package" Target="../embeddings/Microsoft_Excel_Sheet256.xlsx"/></Relationships>
</file>

<file path=ppt/charts/_rels/chart257.xml.rels><?xml version='1.0' encoding='UTF-8' standalone='yes'?>
<Relationships xmlns="http://schemas.openxmlformats.org/package/2006/relationships"><Relationship Id="rId1" Type="http://schemas.openxmlformats.org/officeDocument/2006/relationships/package" Target="../embeddings/Microsoft_Excel_Sheet257.xlsx"/></Relationships>
</file>

<file path=ppt/charts/_rels/chart258.xml.rels><?xml version='1.0' encoding='UTF-8' standalone='yes'?>
<Relationships xmlns="http://schemas.openxmlformats.org/package/2006/relationships"><Relationship Id="rId1" Type="http://schemas.openxmlformats.org/officeDocument/2006/relationships/package" Target="../embeddings/Microsoft_Excel_Sheet258.xlsx"/></Relationships>
</file>

<file path=ppt/charts/_rels/chart259.xml.rels><?xml version='1.0' encoding='UTF-8' standalone='yes'?>
<Relationships xmlns="http://schemas.openxmlformats.org/package/2006/relationships"><Relationship Id="rId1" Type="http://schemas.openxmlformats.org/officeDocument/2006/relationships/package" Target="../embeddings/Microsoft_Excel_Sheet259.xlsx"/></Relationships>
</file>

<file path=ppt/charts/_rels/chart260.xml.rels><?xml version='1.0' encoding='UTF-8' standalone='yes'?>
<Relationships xmlns="http://schemas.openxmlformats.org/package/2006/relationships"><Relationship Id="rId1" Type="http://schemas.openxmlformats.org/officeDocument/2006/relationships/package" Target="../embeddings/Microsoft_Excel_Sheet260.xlsx"/></Relationships>
</file>

<file path=ppt/charts/_rels/chart261.xml.rels><?xml version='1.0' encoding='UTF-8' standalone='yes'?>
<Relationships xmlns="http://schemas.openxmlformats.org/package/2006/relationships"><Relationship Id="rId1" Type="http://schemas.openxmlformats.org/officeDocument/2006/relationships/package" Target="../embeddings/Microsoft_Excel_Sheet261.xlsx"/></Relationships>
</file>

<file path=ppt/charts/_rels/chart262.xml.rels><?xml version='1.0' encoding='UTF-8' standalone='yes'?>
<Relationships xmlns="http://schemas.openxmlformats.org/package/2006/relationships"><Relationship Id="rId1" Type="http://schemas.openxmlformats.org/officeDocument/2006/relationships/package" Target="../embeddings/Microsoft_Excel_Sheet262.xlsx"/></Relationships>
</file>

<file path=ppt/charts/_rels/chart263.xml.rels><?xml version='1.0' encoding='UTF-8' standalone='yes'?>
<Relationships xmlns="http://schemas.openxmlformats.org/package/2006/relationships"><Relationship Id="rId1" Type="http://schemas.openxmlformats.org/officeDocument/2006/relationships/package" Target="../embeddings/Microsoft_Excel_Sheet263.xlsx"/></Relationships>
</file>

<file path=ppt/charts/_rels/chart264.xml.rels><?xml version='1.0' encoding='UTF-8' standalone='yes'?>
<Relationships xmlns="http://schemas.openxmlformats.org/package/2006/relationships"><Relationship Id="rId1" Type="http://schemas.openxmlformats.org/officeDocument/2006/relationships/package" Target="../embeddings/Microsoft_Excel_Sheet264.xlsx"/></Relationships>
</file>

<file path=ppt/charts/_rels/chart265.xml.rels><?xml version='1.0' encoding='UTF-8' standalone='yes'?>
<Relationships xmlns="http://schemas.openxmlformats.org/package/2006/relationships"><Relationship Id="rId1" Type="http://schemas.openxmlformats.org/officeDocument/2006/relationships/package" Target="../embeddings/Microsoft_Excel_Sheet265.xlsx"/></Relationships>
</file>

<file path=ppt/charts/_rels/chart266.xml.rels><?xml version='1.0' encoding='UTF-8' standalone='yes'?>
<Relationships xmlns="http://schemas.openxmlformats.org/package/2006/relationships"><Relationship Id="rId1" Type="http://schemas.openxmlformats.org/officeDocument/2006/relationships/package" Target="../embeddings/Microsoft_Excel_Sheet266.xlsx"/></Relationships>
</file>

<file path=ppt/charts/_rels/chart267.xml.rels><?xml version='1.0' encoding='UTF-8' standalone='yes'?>
<Relationships xmlns="http://schemas.openxmlformats.org/package/2006/relationships"><Relationship Id="rId1" Type="http://schemas.openxmlformats.org/officeDocument/2006/relationships/package" Target="../embeddings/Microsoft_Excel_Sheet267.xlsx"/></Relationships>
</file>

<file path=ppt/charts/_rels/chart268.xml.rels><?xml version='1.0' encoding='UTF-8' standalone='yes'?>
<Relationships xmlns="http://schemas.openxmlformats.org/package/2006/relationships"><Relationship Id="rId1" Type="http://schemas.openxmlformats.org/officeDocument/2006/relationships/package" Target="../embeddings/Microsoft_Excel_Sheet268.xlsx"/></Relationships>
</file>

<file path=ppt/charts/_rels/chart269.xml.rels><?xml version='1.0' encoding='UTF-8' standalone='yes'?>
<Relationships xmlns="http://schemas.openxmlformats.org/package/2006/relationships"><Relationship Id="rId1" Type="http://schemas.openxmlformats.org/officeDocument/2006/relationships/package" Target="../embeddings/Microsoft_Excel_Sheet269.xlsx"/></Relationships>
</file>

<file path=ppt/charts/_rels/chart270.xml.rels><?xml version='1.0' encoding='UTF-8' standalone='yes'?>
<Relationships xmlns="http://schemas.openxmlformats.org/package/2006/relationships"><Relationship Id="rId1" Type="http://schemas.openxmlformats.org/officeDocument/2006/relationships/package" Target="../embeddings/Microsoft_Excel_Sheet270.xlsx"/></Relationships>
</file>

<file path=ppt/charts/_rels/chart271.xml.rels><?xml version='1.0' encoding='UTF-8' standalone='yes'?>
<Relationships xmlns="http://schemas.openxmlformats.org/package/2006/relationships"><Relationship Id="rId1" Type="http://schemas.openxmlformats.org/officeDocument/2006/relationships/package" Target="../embeddings/Microsoft_Excel_Sheet271.xlsx"/></Relationships>
</file>

<file path=ppt/charts/_rels/chart272.xml.rels><?xml version='1.0' encoding='UTF-8' standalone='yes'?>
<Relationships xmlns="http://schemas.openxmlformats.org/package/2006/relationships"><Relationship Id="rId1" Type="http://schemas.openxmlformats.org/officeDocument/2006/relationships/package" Target="../embeddings/Microsoft_Excel_Sheet272.xlsx"/></Relationships>
</file>

<file path=ppt/charts/_rels/chart273.xml.rels><?xml version='1.0' encoding='UTF-8' standalone='yes'?>
<Relationships xmlns="http://schemas.openxmlformats.org/package/2006/relationships"><Relationship Id="rId1" Type="http://schemas.openxmlformats.org/officeDocument/2006/relationships/package" Target="../embeddings/Microsoft_Excel_Sheet273.xlsx"/></Relationships>
</file>

<file path=ppt/charts/_rels/chart274.xml.rels><?xml version='1.0' encoding='UTF-8' standalone='yes'?>
<Relationships xmlns="http://schemas.openxmlformats.org/package/2006/relationships"><Relationship Id="rId1" Type="http://schemas.openxmlformats.org/officeDocument/2006/relationships/package" Target="../embeddings/Microsoft_Excel_Sheet274.xlsx"/></Relationships>
</file>

<file path=ppt/charts/_rels/chart275.xml.rels><?xml version='1.0' encoding='UTF-8' standalone='yes'?>
<Relationships xmlns="http://schemas.openxmlformats.org/package/2006/relationships"><Relationship Id="rId1" Type="http://schemas.openxmlformats.org/officeDocument/2006/relationships/package" Target="../embeddings/Microsoft_Excel_Sheet275.xlsx"/></Relationships>
</file>

<file path=ppt/charts/_rels/chart276.xml.rels><?xml version='1.0' encoding='UTF-8' standalone='yes'?>
<Relationships xmlns="http://schemas.openxmlformats.org/package/2006/relationships"><Relationship Id="rId1" Type="http://schemas.openxmlformats.org/officeDocument/2006/relationships/package" Target="../embeddings/Microsoft_Excel_Sheet276.xlsx"/></Relationships>
</file>

<file path=ppt/charts/_rels/chart277.xml.rels><?xml version='1.0' encoding='UTF-8' standalone='yes'?>
<Relationships xmlns="http://schemas.openxmlformats.org/package/2006/relationships"><Relationship Id="rId1" Type="http://schemas.openxmlformats.org/officeDocument/2006/relationships/package" Target="../embeddings/Microsoft_Excel_Sheet277.xlsx"/></Relationships>
</file>

<file path=ppt/charts/_rels/chart278.xml.rels><?xml version='1.0' encoding='UTF-8' standalone='yes'?>
<Relationships xmlns="http://schemas.openxmlformats.org/package/2006/relationships"><Relationship Id="rId1" Type="http://schemas.openxmlformats.org/officeDocument/2006/relationships/package" Target="../embeddings/Microsoft_Excel_Sheet278.xlsx"/></Relationships>
</file>

<file path=ppt/charts/_rels/chart279.xml.rels><?xml version='1.0' encoding='UTF-8' standalone='yes'?>
<Relationships xmlns="http://schemas.openxmlformats.org/package/2006/relationships"><Relationship Id="rId1" Type="http://schemas.openxmlformats.org/officeDocument/2006/relationships/package" Target="../embeddings/Microsoft_Excel_Sheet279.xlsx"/></Relationships>
</file>

<file path=ppt/charts/_rels/chart280.xml.rels><?xml version='1.0' encoding='UTF-8' standalone='yes'?>
<Relationships xmlns="http://schemas.openxmlformats.org/package/2006/relationships"><Relationship Id="rId1" Type="http://schemas.openxmlformats.org/officeDocument/2006/relationships/package" Target="../embeddings/Microsoft_Excel_Sheet280.xlsx"/></Relationships>
</file>

<file path=ppt/charts/_rels/chart281.xml.rels><?xml version='1.0' encoding='UTF-8' standalone='yes'?>
<Relationships xmlns="http://schemas.openxmlformats.org/package/2006/relationships"><Relationship Id="rId1" Type="http://schemas.openxmlformats.org/officeDocument/2006/relationships/package" Target="../embeddings/Microsoft_Excel_Sheet281.xlsx"/></Relationships>
</file>

<file path=ppt/charts/_rels/chart282.xml.rels><?xml version='1.0' encoding='UTF-8' standalone='yes'?>
<Relationships xmlns="http://schemas.openxmlformats.org/package/2006/relationships"><Relationship Id="rId1" Type="http://schemas.openxmlformats.org/officeDocument/2006/relationships/package" Target="../embeddings/Microsoft_Excel_Sheet282.xlsx"/></Relationships>
</file>

<file path=ppt/charts/_rels/chart283.xml.rels><?xml version='1.0' encoding='UTF-8' standalone='yes'?>
<Relationships xmlns="http://schemas.openxmlformats.org/package/2006/relationships"><Relationship Id="rId1" Type="http://schemas.openxmlformats.org/officeDocument/2006/relationships/package" Target="../embeddings/Microsoft_Excel_Sheet283.xlsx"/></Relationships>
</file>

<file path=ppt/charts/_rels/chart284.xml.rels><?xml version='1.0' encoding='UTF-8' standalone='yes'?>
<Relationships xmlns="http://schemas.openxmlformats.org/package/2006/relationships"><Relationship Id="rId1" Type="http://schemas.openxmlformats.org/officeDocument/2006/relationships/package" Target="../embeddings/Microsoft_Excel_Sheet284.xlsx"/></Relationships>
</file>

<file path=ppt/charts/_rels/chart285.xml.rels><?xml version='1.0' encoding='UTF-8' standalone='yes'?>
<Relationships xmlns="http://schemas.openxmlformats.org/package/2006/relationships"><Relationship Id="rId1" Type="http://schemas.openxmlformats.org/officeDocument/2006/relationships/package" Target="../embeddings/Microsoft_Excel_Sheet285.xlsx"/></Relationships>
</file>

<file path=ppt/charts/_rels/chart286.xml.rels><?xml version='1.0' encoding='UTF-8' standalone='yes'?>
<Relationships xmlns="http://schemas.openxmlformats.org/package/2006/relationships"><Relationship Id="rId1" Type="http://schemas.openxmlformats.org/officeDocument/2006/relationships/package" Target="../embeddings/Microsoft_Excel_Sheet286.xlsx"/></Relationships>
</file>

<file path=ppt/charts/_rels/chart287.xml.rels><?xml version='1.0' encoding='UTF-8' standalone='yes'?>
<Relationships xmlns="http://schemas.openxmlformats.org/package/2006/relationships"><Relationship Id="rId1" Type="http://schemas.openxmlformats.org/officeDocument/2006/relationships/package" Target="../embeddings/Microsoft_Excel_Sheet287.xlsx"/></Relationships>
</file>

<file path=ppt/charts/_rels/chart288.xml.rels><?xml version='1.0' encoding='UTF-8' standalone='yes'?>
<Relationships xmlns="http://schemas.openxmlformats.org/package/2006/relationships"><Relationship Id="rId1" Type="http://schemas.openxmlformats.org/officeDocument/2006/relationships/package" Target="../embeddings/Microsoft_Excel_Sheet288.xlsx"/></Relationships>
</file>

<file path=ppt/charts/_rels/chart289.xml.rels><?xml version='1.0' encoding='UTF-8' standalone='yes'?>
<Relationships xmlns="http://schemas.openxmlformats.org/package/2006/relationships"><Relationship Id="rId1" Type="http://schemas.openxmlformats.org/officeDocument/2006/relationships/package" Target="../embeddings/Microsoft_Excel_Sheet289.xlsx"/></Relationships>
</file>

<file path=ppt/charts/_rels/chart290.xml.rels><?xml version='1.0' encoding='UTF-8' standalone='yes'?>
<Relationships xmlns="http://schemas.openxmlformats.org/package/2006/relationships"><Relationship Id="rId1" Type="http://schemas.openxmlformats.org/officeDocument/2006/relationships/package" Target="../embeddings/Microsoft_Excel_Sheet290.xlsx"/></Relationships>
</file>

<file path=ppt/charts/_rels/chart291.xml.rels><?xml version='1.0' encoding='UTF-8' standalone='yes'?>
<Relationships xmlns="http://schemas.openxmlformats.org/package/2006/relationships"><Relationship Id="rId1" Type="http://schemas.openxmlformats.org/officeDocument/2006/relationships/package" Target="../embeddings/Microsoft_Excel_Sheet291.xlsx"/></Relationships>
</file>

<file path=ppt/charts/_rels/chart292.xml.rels><?xml version='1.0' encoding='UTF-8' standalone='yes'?>
<Relationships xmlns="http://schemas.openxmlformats.org/package/2006/relationships"><Relationship Id="rId1" Type="http://schemas.openxmlformats.org/officeDocument/2006/relationships/package" Target="../embeddings/Microsoft_Excel_Sheet292.xlsx"/></Relationships>
</file>

<file path=ppt/charts/_rels/chart293.xml.rels><?xml version='1.0' encoding='UTF-8' standalone='yes'?>
<Relationships xmlns="http://schemas.openxmlformats.org/package/2006/relationships"><Relationship Id="rId1" Type="http://schemas.openxmlformats.org/officeDocument/2006/relationships/package" Target="../embeddings/Microsoft_Excel_Sheet293.xlsx"/></Relationships>
</file>

<file path=ppt/charts/_rels/chart294.xml.rels><?xml version='1.0' encoding='UTF-8' standalone='yes'?>
<Relationships xmlns="http://schemas.openxmlformats.org/package/2006/relationships"><Relationship Id="rId1" Type="http://schemas.openxmlformats.org/officeDocument/2006/relationships/package" Target="../embeddings/Microsoft_Excel_Sheet294.xlsx"/></Relationships>
</file>

<file path=ppt/charts/_rels/chart295.xml.rels><?xml version='1.0' encoding='UTF-8' standalone='yes'?>
<Relationships xmlns="http://schemas.openxmlformats.org/package/2006/relationships"><Relationship Id="rId1" Type="http://schemas.openxmlformats.org/officeDocument/2006/relationships/package" Target="../embeddings/Microsoft_Excel_Sheet295.xlsx"/></Relationships>
</file>

<file path=ppt/charts/_rels/chart296.xml.rels><?xml version='1.0' encoding='UTF-8' standalone='yes'?>
<Relationships xmlns="http://schemas.openxmlformats.org/package/2006/relationships"><Relationship Id="rId1" Type="http://schemas.openxmlformats.org/officeDocument/2006/relationships/package" Target="../embeddings/Microsoft_Excel_Sheet296.xlsx"/></Relationships>
</file>

<file path=ppt/charts/_rels/chart297.xml.rels><?xml version='1.0' encoding='UTF-8' standalone='yes'?>
<Relationships xmlns="http://schemas.openxmlformats.org/package/2006/relationships"><Relationship Id="rId1" Type="http://schemas.openxmlformats.org/officeDocument/2006/relationships/package" Target="../embeddings/Microsoft_Excel_Sheet297.xlsx"/></Relationships>
</file>

<file path=ppt/charts/_rels/chart298.xml.rels><?xml version='1.0' encoding='UTF-8' standalone='yes'?>
<Relationships xmlns="http://schemas.openxmlformats.org/package/2006/relationships"><Relationship Id="rId1" Type="http://schemas.openxmlformats.org/officeDocument/2006/relationships/package" Target="../embeddings/Microsoft_Excel_Sheet298.xlsx"/></Relationships>
</file>

<file path=ppt/charts/_rels/chart299.xml.rels><?xml version='1.0' encoding='UTF-8' standalone='yes'?>
<Relationships xmlns="http://schemas.openxmlformats.org/package/2006/relationships"><Relationship Id="rId1" Type="http://schemas.openxmlformats.org/officeDocument/2006/relationships/package" Target="../embeddings/Microsoft_Excel_Sheet299.xlsx"/></Relationships>
</file>

<file path=ppt/charts/_rels/chart300.xml.rels><?xml version='1.0' encoding='UTF-8' standalone='yes'?>
<Relationships xmlns="http://schemas.openxmlformats.org/package/2006/relationships"><Relationship Id="rId1" Type="http://schemas.openxmlformats.org/officeDocument/2006/relationships/package" Target="../embeddings/Microsoft_Excel_Sheet300.xlsx"/></Relationships>
</file>

<file path=ppt/charts/_rels/chart301.xml.rels><?xml version='1.0' encoding='UTF-8' standalone='yes'?>
<Relationships xmlns="http://schemas.openxmlformats.org/package/2006/relationships"><Relationship Id="rId1" Type="http://schemas.openxmlformats.org/officeDocument/2006/relationships/package" Target="../embeddings/Microsoft_Excel_Sheet301.xlsx"/></Relationships>
</file>

<file path=ppt/charts/_rels/chart302.xml.rels><?xml version='1.0' encoding='UTF-8' standalone='yes'?>
<Relationships xmlns="http://schemas.openxmlformats.org/package/2006/relationships"><Relationship Id="rId1" Type="http://schemas.openxmlformats.org/officeDocument/2006/relationships/package" Target="../embeddings/Microsoft_Excel_Sheet302.xlsx"/></Relationships>
</file>

<file path=ppt/charts/_rels/chart303.xml.rels><?xml version='1.0' encoding='UTF-8' standalone='yes'?>
<Relationships xmlns="http://schemas.openxmlformats.org/package/2006/relationships"><Relationship Id="rId1" Type="http://schemas.openxmlformats.org/officeDocument/2006/relationships/package" Target="../embeddings/Microsoft_Excel_Sheet303.xlsx"/></Relationships>
</file>

<file path=ppt/charts/_rels/chart304.xml.rels><?xml version='1.0' encoding='UTF-8' standalone='yes'?>
<Relationships xmlns="http://schemas.openxmlformats.org/package/2006/relationships"><Relationship Id="rId1" Type="http://schemas.openxmlformats.org/officeDocument/2006/relationships/package" Target="../embeddings/Microsoft_Excel_Sheet304.xlsx"/></Relationships>
</file>

<file path=ppt/charts/_rels/chart305.xml.rels><?xml version='1.0' encoding='UTF-8' standalone='yes'?>
<Relationships xmlns="http://schemas.openxmlformats.org/package/2006/relationships"><Relationship Id="rId1" Type="http://schemas.openxmlformats.org/officeDocument/2006/relationships/package" Target="../embeddings/Microsoft_Excel_Sheet305.xlsx"/></Relationships>
</file>

<file path=ppt/charts/_rels/chart306.xml.rels><?xml version='1.0' encoding='UTF-8' standalone='yes'?>
<Relationships xmlns="http://schemas.openxmlformats.org/package/2006/relationships"><Relationship Id="rId1" Type="http://schemas.openxmlformats.org/officeDocument/2006/relationships/package" Target="../embeddings/Microsoft_Excel_Sheet306.xlsx"/></Relationships>
</file>

<file path=ppt/charts/_rels/chart307.xml.rels><?xml version='1.0' encoding='UTF-8' standalone='yes'?>
<Relationships xmlns="http://schemas.openxmlformats.org/package/2006/relationships"><Relationship Id="rId1" Type="http://schemas.openxmlformats.org/officeDocument/2006/relationships/package" Target="../embeddings/Microsoft_Excel_Sheet307.xlsx"/></Relationships>
</file>

<file path=ppt/charts/_rels/chart308.xml.rels><?xml version='1.0' encoding='UTF-8' standalone='yes'?>
<Relationships xmlns="http://schemas.openxmlformats.org/package/2006/relationships"><Relationship Id="rId1" Type="http://schemas.openxmlformats.org/officeDocument/2006/relationships/package" Target="../embeddings/Microsoft_Excel_Sheet308.xlsx"/></Relationships>
</file>

<file path=ppt/charts/_rels/chart309.xml.rels><?xml version='1.0' encoding='UTF-8' standalone='yes'?>
<Relationships xmlns="http://schemas.openxmlformats.org/package/2006/relationships"><Relationship Id="rId1" Type="http://schemas.openxmlformats.org/officeDocument/2006/relationships/package" Target="../embeddings/Microsoft_Excel_Sheet309.xlsx"/></Relationships>
</file>

<file path=ppt/charts/_rels/chart310.xml.rels><?xml version='1.0' encoding='UTF-8' standalone='yes'?>
<Relationships xmlns="http://schemas.openxmlformats.org/package/2006/relationships"><Relationship Id="rId1" Type="http://schemas.openxmlformats.org/officeDocument/2006/relationships/package" Target="../embeddings/Microsoft_Excel_Sheet310.xlsx"/></Relationships>
</file>

<file path=ppt/charts/_rels/chart311.xml.rels><?xml version='1.0' encoding='UTF-8' standalone='yes'?>
<Relationships xmlns="http://schemas.openxmlformats.org/package/2006/relationships"><Relationship Id="rId1" Type="http://schemas.openxmlformats.org/officeDocument/2006/relationships/package" Target="../embeddings/Microsoft_Excel_Sheet311.xlsx"/></Relationships>
</file>

<file path=ppt/charts/_rels/chart312.xml.rels><?xml version='1.0' encoding='UTF-8' standalone='yes'?>
<Relationships xmlns="http://schemas.openxmlformats.org/package/2006/relationships"><Relationship Id="rId1" Type="http://schemas.openxmlformats.org/officeDocument/2006/relationships/package" Target="../embeddings/Microsoft_Excel_Sheet312.xlsx"/></Relationships>
</file>

<file path=ppt/charts/_rels/chart313.xml.rels><?xml version='1.0' encoding='UTF-8' standalone='yes'?>
<Relationships xmlns="http://schemas.openxmlformats.org/package/2006/relationships"><Relationship Id="rId1" Type="http://schemas.openxmlformats.org/officeDocument/2006/relationships/package" Target="../embeddings/Microsoft_Excel_Sheet313.xlsx"/></Relationships>
</file>

<file path=ppt/charts/_rels/chart314.xml.rels><?xml version='1.0' encoding='UTF-8' standalone='yes'?>
<Relationships xmlns="http://schemas.openxmlformats.org/package/2006/relationships"><Relationship Id="rId1" Type="http://schemas.openxmlformats.org/officeDocument/2006/relationships/package" Target="../embeddings/Microsoft_Excel_Sheet314.xlsx"/></Relationships>
</file>

<file path=ppt/charts/_rels/chart315.xml.rels><?xml version='1.0' encoding='UTF-8' standalone='yes'?>
<Relationships xmlns="http://schemas.openxmlformats.org/package/2006/relationships"><Relationship Id="rId1" Type="http://schemas.openxmlformats.org/officeDocument/2006/relationships/package" Target="../embeddings/Microsoft_Excel_Sheet315.xlsx"/></Relationships>
</file>

<file path=ppt/charts/_rels/chart316.xml.rels><?xml version='1.0' encoding='UTF-8' standalone='yes'?>
<Relationships xmlns="http://schemas.openxmlformats.org/package/2006/relationships"><Relationship Id="rId1" Type="http://schemas.openxmlformats.org/officeDocument/2006/relationships/package" Target="../embeddings/Microsoft_Excel_Sheet316.xlsx"/></Relationships>
</file>

<file path=ppt/charts/_rels/chart317.xml.rels><?xml version='1.0' encoding='UTF-8' standalone='yes'?>
<Relationships xmlns="http://schemas.openxmlformats.org/package/2006/relationships"><Relationship Id="rId1" Type="http://schemas.openxmlformats.org/officeDocument/2006/relationships/package" Target="../embeddings/Microsoft_Excel_Sheet317.xlsx"/></Relationships>
</file>

<file path=ppt/charts/_rels/chart318.xml.rels><?xml version='1.0' encoding='UTF-8' standalone='yes'?>
<Relationships xmlns="http://schemas.openxmlformats.org/package/2006/relationships"><Relationship Id="rId1" Type="http://schemas.openxmlformats.org/officeDocument/2006/relationships/package" Target="../embeddings/Microsoft_Excel_Sheet318.xlsx"/></Relationships>
</file>

<file path=ppt/charts/_rels/chart319.xml.rels><?xml version='1.0' encoding='UTF-8' standalone='yes'?>
<Relationships xmlns="http://schemas.openxmlformats.org/package/2006/relationships"><Relationship Id="rId1" Type="http://schemas.openxmlformats.org/officeDocument/2006/relationships/package" Target="../embeddings/Microsoft_Excel_Sheet319.xlsx"/></Relationships>
</file>

<file path=ppt/charts/_rels/chart320.xml.rels><?xml version='1.0' encoding='UTF-8' standalone='yes'?>
<Relationships xmlns="http://schemas.openxmlformats.org/package/2006/relationships"><Relationship Id="rId1" Type="http://schemas.openxmlformats.org/officeDocument/2006/relationships/package" Target="../embeddings/Microsoft_Excel_Sheet320.xlsx"/></Relationships>
</file>

<file path=ppt/charts/_rels/chart321.xml.rels><?xml version='1.0' encoding='UTF-8' standalone='yes'?>
<Relationships xmlns="http://schemas.openxmlformats.org/package/2006/relationships"><Relationship Id="rId1" Type="http://schemas.openxmlformats.org/officeDocument/2006/relationships/package" Target="../embeddings/Microsoft_Excel_Sheet321.xlsx"/></Relationships>
</file>

<file path=ppt/charts/_rels/chart322.xml.rels><?xml version='1.0' encoding='UTF-8' standalone='yes'?>
<Relationships xmlns="http://schemas.openxmlformats.org/package/2006/relationships"><Relationship Id="rId1" Type="http://schemas.openxmlformats.org/officeDocument/2006/relationships/package" Target="../embeddings/Microsoft_Excel_Sheet322.xlsx"/></Relationships>
</file>

<file path=ppt/charts/_rels/chart323.xml.rels><?xml version='1.0' encoding='UTF-8' standalone='yes'?>
<Relationships xmlns="http://schemas.openxmlformats.org/package/2006/relationships"><Relationship Id="rId1" Type="http://schemas.openxmlformats.org/officeDocument/2006/relationships/package" Target="../embeddings/Microsoft_Excel_Sheet323.xlsx"/></Relationships>
</file>

<file path=ppt/charts/_rels/chart324.xml.rels><?xml version='1.0' encoding='UTF-8' standalone='yes'?>
<Relationships xmlns="http://schemas.openxmlformats.org/package/2006/relationships"><Relationship Id="rId1" Type="http://schemas.openxmlformats.org/officeDocument/2006/relationships/package" Target="../embeddings/Microsoft_Excel_Sheet324.xlsx"/></Relationships>
</file>

<file path=ppt/charts/_rels/chart325.xml.rels><?xml version='1.0' encoding='UTF-8' standalone='yes'?>
<Relationships xmlns="http://schemas.openxmlformats.org/package/2006/relationships"><Relationship Id="rId1" Type="http://schemas.openxmlformats.org/officeDocument/2006/relationships/package" Target="../embeddings/Microsoft_Excel_Sheet325.xlsx"/></Relationships>
</file>

<file path=ppt/charts/_rels/chart326.xml.rels><?xml version='1.0' encoding='UTF-8' standalone='yes'?>
<Relationships xmlns="http://schemas.openxmlformats.org/package/2006/relationships"><Relationship Id="rId1" Type="http://schemas.openxmlformats.org/officeDocument/2006/relationships/package" Target="../embeddings/Microsoft_Excel_Sheet326.xlsx"/></Relationships>
</file>

<file path=ppt/charts/_rels/chart327.xml.rels><?xml version='1.0' encoding='UTF-8' standalone='yes'?>
<Relationships xmlns="http://schemas.openxmlformats.org/package/2006/relationships"><Relationship Id="rId1" Type="http://schemas.openxmlformats.org/officeDocument/2006/relationships/package" Target="../embeddings/Microsoft_Excel_Sheet327.xlsx"/></Relationships>
</file>

<file path=ppt/charts/_rels/chart328.xml.rels><?xml version='1.0' encoding='UTF-8' standalone='yes'?>
<Relationships xmlns="http://schemas.openxmlformats.org/package/2006/relationships"><Relationship Id="rId1" Type="http://schemas.openxmlformats.org/officeDocument/2006/relationships/package" Target="../embeddings/Microsoft_Excel_Sheet328.xlsx"/></Relationships>
</file>

<file path=ppt/charts/_rels/chart329.xml.rels><?xml version='1.0' encoding='UTF-8' standalone='yes'?>
<Relationships xmlns="http://schemas.openxmlformats.org/package/2006/relationships"><Relationship Id="rId1" Type="http://schemas.openxmlformats.org/officeDocument/2006/relationships/package" Target="../embeddings/Microsoft_Excel_Sheet329.xlsx"/></Relationships>
</file>

<file path=ppt/charts/_rels/chart330.xml.rels><?xml version='1.0' encoding='UTF-8' standalone='yes'?>
<Relationships xmlns="http://schemas.openxmlformats.org/package/2006/relationships"><Relationship Id="rId1" Type="http://schemas.openxmlformats.org/officeDocument/2006/relationships/package" Target="../embeddings/Microsoft_Excel_Sheet330.xlsx"/></Relationships>
</file>

<file path=ppt/charts/_rels/chart331.xml.rels><?xml version='1.0' encoding='UTF-8' standalone='yes'?>
<Relationships xmlns="http://schemas.openxmlformats.org/package/2006/relationships"><Relationship Id="rId1" Type="http://schemas.openxmlformats.org/officeDocument/2006/relationships/package" Target="../embeddings/Microsoft_Excel_Sheet331.xlsx"/></Relationships>
</file>

<file path=ppt/charts/_rels/chart332.xml.rels><?xml version='1.0' encoding='UTF-8' standalone='yes'?>
<Relationships xmlns="http://schemas.openxmlformats.org/package/2006/relationships"><Relationship Id="rId1" Type="http://schemas.openxmlformats.org/officeDocument/2006/relationships/package" Target="../embeddings/Microsoft_Excel_Sheet332.xlsx"/></Relationships>
</file>

<file path=ppt/charts/_rels/chart333.xml.rels><?xml version='1.0' encoding='UTF-8' standalone='yes'?>
<Relationships xmlns="http://schemas.openxmlformats.org/package/2006/relationships"><Relationship Id="rId1" Type="http://schemas.openxmlformats.org/officeDocument/2006/relationships/package" Target="../embeddings/Microsoft_Excel_Sheet333.xlsx"/></Relationships>
</file>

<file path=ppt/charts/_rels/chart334.xml.rels><?xml version='1.0' encoding='UTF-8' standalone='yes'?>
<Relationships xmlns="http://schemas.openxmlformats.org/package/2006/relationships"><Relationship Id="rId1" Type="http://schemas.openxmlformats.org/officeDocument/2006/relationships/package" Target="../embeddings/Microsoft_Excel_Sheet334.xlsx"/></Relationships>
</file>

<file path=ppt/charts/_rels/chart335.xml.rels><?xml version='1.0' encoding='UTF-8' standalone='yes'?>
<Relationships xmlns="http://schemas.openxmlformats.org/package/2006/relationships"><Relationship Id="rId1" Type="http://schemas.openxmlformats.org/officeDocument/2006/relationships/package" Target="../embeddings/Microsoft_Excel_Sheet335.xlsx"/></Relationships>
</file>

<file path=ppt/charts/_rels/chart336.xml.rels><?xml version='1.0' encoding='UTF-8' standalone='yes'?>
<Relationships xmlns="http://schemas.openxmlformats.org/package/2006/relationships"><Relationship Id="rId1" Type="http://schemas.openxmlformats.org/officeDocument/2006/relationships/package" Target="../embeddings/Microsoft_Excel_Sheet336.xlsx"/></Relationships>
</file>

<file path=ppt/charts/_rels/chart337.xml.rels><?xml version='1.0' encoding='UTF-8' standalone='yes'?>
<Relationships xmlns="http://schemas.openxmlformats.org/package/2006/relationships"><Relationship Id="rId1" Type="http://schemas.openxmlformats.org/officeDocument/2006/relationships/package" Target="../embeddings/Microsoft_Excel_Sheet337.xlsx"/></Relationships>
</file>

<file path=ppt/charts/_rels/chart338.xml.rels><?xml version='1.0' encoding='UTF-8' standalone='yes'?>
<Relationships xmlns="http://schemas.openxmlformats.org/package/2006/relationships"><Relationship Id="rId1" Type="http://schemas.openxmlformats.org/officeDocument/2006/relationships/package" Target="../embeddings/Microsoft_Excel_Sheet338.xlsx"/></Relationships>
</file>

<file path=ppt/charts/_rels/chart339.xml.rels><?xml version='1.0' encoding='UTF-8' standalone='yes'?>
<Relationships xmlns="http://schemas.openxmlformats.org/package/2006/relationships"><Relationship Id="rId1" Type="http://schemas.openxmlformats.org/officeDocument/2006/relationships/package" Target="../embeddings/Microsoft_Excel_Sheet339.xlsx"/></Relationships>
</file>

<file path=ppt/charts/_rels/chart340.xml.rels><?xml version='1.0' encoding='UTF-8' standalone='yes'?>
<Relationships xmlns="http://schemas.openxmlformats.org/package/2006/relationships"><Relationship Id="rId1" Type="http://schemas.openxmlformats.org/officeDocument/2006/relationships/package" Target="../embeddings/Microsoft_Excel_Sheet340.xlsx"/></Relationships>
</file>

<file path=ppt/charts/_rels/chart341.xml.rels><?xml version='1.0' encoding='UTF-8' standalone='yes'?>
<Relationships xmlns="http://schemas.openxmlformats.org/package/2006/relationships"><Relationship Id="rId1" Type="http://schemas.openxmlformats.org/officeDocument/2006/relationships/package" Target="../embeddings/Microsoft_Excel_Sheet341.xlsx"/></Relationships>
</file>

<file path=ppt/charts/_rels/chart342.xml.rels><?xml version='1.0' encoding='UTF-8' standalone='yes'?>
<Relationships xmlns="http://schemas.openxmlformats.org/package/2006/relationships"><Relationship Id="rId1" Type="http://schemas.openxmlformats.org/officeDocument/2006/relationships/package" Target="../embeddings/Microsoft_Excel_Sheet342.xlsx"/></Relationships>
</file>

<file path=ppt/charts/_rels/chart343.xml.rels><?xml version='1.0' encoding='UTF-8' standalone='yes'?>
<Relationships xmlns="http://schemas.openxmlformats.org/package/2006/relationships"><Relationship Id="rId1" Type="http://schemas.openxmlformats.org/officeDocument/2006/relationships/package" Target="../embeddings/Microsoft_Excel_Sheet343.xlsx"/></Relationships>
</file>

<file path=ppt/charts/_rels/chart344.xml.rels><?xml version='1.0' encoding='UTF-8' standalone='yes'?>
<Relationships xmlns="http://schemas.openxmlformats.org/package/2006/relationships"><Relationship Id="rId1" Type="http://schemas.openxmlformats.org/officeDocument/2006/relationships/package" Target="../embeddings/Microsoft_Excel_Sheet344.xlsx"/></Relationships>
</file>

<file path=ppt/charts/_rels/chart345.xml.rels><?xml version='1.0' encoding='UTF-8' standalone='yes'?>
<Relationships xmlns="http://schemas.openxmlformats.org/package/2006/relationships"><Relationship Id="rId1" Type="http://schemas.openxmlformats.org/officeDocument/2006/relationships/package" Target="../embeddings/Microsoft_Excel_Sheet345.xlsx"/></Relationships>
</file>

<file path=ppt/charts/_rels/chart346.xml.rels><?xml version='1.0' encoding='UTF-8' standalone='yes'?>
<Relationships xmlns="http://schemas.openxmlformats.org/package/2006/relationships"><Relationship Id="rId1" Type="http://schemas.openxmlformats.org/officeDocument/2006/relationships/package" Target="../embeddings/Microsoft_Excel_Sheet346.xlsx"/></Relationships>
</file>

<file path=ppt/charts/_rels/chart347.xml.rels><?xml version='1.0' encoding='UTF-8' standalone='yes'?>
<Relationships xmlns="http://schemas.openxmlformats.org/package/2006/relationships"><Relationship Id="rId1" Type="http://schemas.openxmlformats.org/officeDocument/2006/relationships/package" Target="../embeddings/Microsoft_Excel_Sheet347.xlsx"/></Relationships>
</file>

<file path=ppt/charts/_rels/chart348.xml.rels><?xml version='1.0' encoding='UTF-8' standalone='yes'?>
<Relationships xmlns="http://schemas.openxmlformats.org/package/2006/relationships"><Relationship Id="rId1" Type="http://schemas.openxmlformats.org/officeDocument/2006/relationships/package" Target="../embeddings/Microsoft_Excel_Sheet348.xlsx"/></Relationships>
</file>

<file path=ppt/charts/_rels/chart349.xml.rels><?xml version='1.0' encoding='UTF-8' standalone='yes'?>
<Relationships xmlns="http://schemas.openxmlformats.org/package/2006/relationships"><Relationship Id="rId1" Type="http://schemas.openxmlformats.org/officeDocument/2006/relationships/package" Target="../embeddings/Microsoft_Excel_Sheet349.xlsx"/></Relationships>
</file>

<file path=ppt/charts/_rels/chart350.xml.rels><?xml version='1.0' encoding='UTF-8' standalone='yes'?>
<Relationships xmlns="http://schemas.openxmlformats.org/package/2006/relationships"><Relationship Id="rId1" Type="http://schemas.openxmlformats.org/officeDocument/2006/relationships/package" Target="../embeddings/Microsoft_Excel_Sheet350.xlsx"/></Relationships>
</file>

<file path=ppt/charts/_rels/chart351.xml.rels><?xml version='1.0' encoding='UTF-8' standalone='yes'?>
<Relationships xmlns="http://schemas.openxmlformats.org/package/2006/relationships"><Relationship Id="rId1" Type="http://schemas.openxmlformats.org/officeDocument/2006/relationships/package" Target="../embeddings/Microsoft_Excel_Sheet351.xlsx"/></Relationships>
</file>

<file path=ppt/charts/_rels/chart352.xml.rels><?xml version='1.0' encoding='UTF-8' standalone='yes'?>
<Relationships xmlns="http://schemas.openxmlformats.org/package/2006/relationships"><Relationship Id="rId1" Type="http://schemas.openxmlformats.org/officeDocument/2006/relationships/package" Target="../embeddings/Microsoft_Excel_Sheet352.xlsx"/></Relationships>
</file>

<file path=ppt/charts/_rels/chart353.xml.rels><?xml version='1.0' encoding='UTF-8' standalone='yes'?>
<Relationships xmlns="http://schemas.openxmlformats.org/package/2006/relationships"><Relationship Id="rId1" Type="http://schemas.openxmlformats.org/officeDocument/2006/relationships/package" Target="../embeddings/Microsoft_Excel_Sheet353.xlsx"/></Relationships>
</file>

<file path=ppt/charts/_rels/chart354.xml.rels><?xml version='1.0' encoding='UTF-8' standalone='yes'?>
<Relationships xmlns="http://schemas.openxmlformats.org/package/2006/relationships"><Relationship Id="rId1" Type="http://schemas.openxmlformats.org/officeDocument/2006/relationships/package" Target="../embeddings/Microsoft_Excel_Sheet354.xlsx"/></Relationships>
</file>

<file path=ppt/charts/_rels/chart355.xml.rels><?xml version='1.0' encoding='UTF-8' standalone='yes'?>
<Relationships xmlns="http://schemas.openxmlformats.org/package/2006/relationships"><Relationship Id="rId1" Type="http://schemas.openxmlformats.org/officeDocument/2006/relationships/package" Target="../embeddings/Microsoft_Excel_Sheet355.xlsx"/></Relationships>
</file>

<file path=ppt/charts/_rels/chart356.xml.rels><?xml version='1.0' encoding='UTF-8' standalone='yes'?>
<Relationships xmlns="http://schemas.openxmlformats.org/package/2006/relationships"><Relationship Id="rId1" Type="http://schemas.openxmlformats.org/officeDocument/2006/relationships/package" Target="../embeddings/Microsoft_Excel_Sheet356.xlsx"/></Relationships>
</file>

<file path=ppt/charts/_rels/chart357.xml.rels><?xml version='1.0' encoding='UTF-8' standalone='yes'?>
<Relationships xmlns="http://schemas.openxmlformats.org/package/2006/relationships"><Relationship Id="rId1" Type="http://schemas.openxmlformats.org/officeDocument/2006/relationships/package" Target="../embeddings/Microsoft_Excel_Sheet357.xlsx"/></Relationships>
</file>

<file path=ppt/charts/_rels/chart358.xml.rels><?xml version='1.0' encoding='UTF-8' standalone='yes'?>
<Relationships xmlns="http://schemas.openxmlformats.org/package/2006/relationships"><Relationship Id="rId1" Type="http://schemas.openxmlformats.org/officeDocument/2006/relationships/package" Target="../embeddings/Microsoft_Excel_Sheet358.xlsx"/></Relationships>
</file>

<file path=ppt/charts/_rels/chart359.xml.rels><?xml version='1.0' encoding='UTF-8' standalone='yes'?>
<Relationships xmlns="http://schemas.openxmlformats.org/package/2006/relationships"><Relationship Id="rId1" Type="http://schemas.openxmlformats.org/officeDocument/2006/relationships/package" Target="../embeddings/Microsoft_Excel_Sheet359.xlsx"/></Relationships>
</file>

<file path=ppt/charts/_rels/chart360.xml.rels><?xml version='1.0' encoding='UTF-8' standalone='yes'?>
<Relationships xmlns="http://schemas.openxmlformats.org/package/2006/relationships"><Relationship Id="rId1" Type="http://schemas.openxmlformats.org/officeDocument/2006/relationships/package" Target="../embeddings/Microsoft_Excel_Sheet360.xlsx"/></Relationships>
</file>

<file path=ppt/charts/_rels/chart361.xml.rels><?xml version='1.0' encoding='UTF-8' standalone='yes'?>
<Relationships xmlns="http://schemas.openxmlformats.org/package/2006/relationships"><Relationship Id="rId1" Type="http://schemas.openxmlformats.org/officeDocument/2006/relationships/package" Target="../embeddings/Microsoft_Excel_Sheet361.xlsx"/></Relationships>
</file>

<file path=ppt/charts/_rels/chart362.xml.rels><?xml version='1.0' encoding='UTF-8' standalone='yes'?>
<Relationships xmlns="http://schemas.openxmlformats.org/package/2006/relationships"><Relationship Id="rId1" Type="http://schemas.openxmlformats.org/officeDocument/2006/relationships/package" Target="../embeddings/Microsoft_Excel_Sheet362.xlsx"/></Relationships>
</file>

<file path=ppt/charts/_rels/chart363.xml.rels><?xml version='1.0' encoding='UTF-8' standalone='yes'?>
<Relationships xmlns="http://schemas.openxmlformats.org/package/2006/relationships"><Relationship Id="rId1" Type="http://schemas.openxmlformats.org/officeDocument/2006/relationships/package" Target="../embeddings/Microsoft_Excel_Sheet363.xlsx"/></Relationships>
</file>

<file path=ppt/charts/_rels/chart364.xml.rels><?xml version='1.0' encoding='UTF-8' standalone='yes'?>
<Relationships xmlns="http://schemas.openxmlformats.org/package/2006/relationships"><Relationship Id="rId1" Type="http://schemas.openxmlformats.org/officeDocument/2006/relationships/package" Target="../embeddings/Microsoft_Excel_Sheet364.xlsx"/></Relationships>
</file>

<file path=ppt/charts/_rels/chart365.xml.rels><?xml version='1.0' encoding='UTF-8' standalone='yes'?>
<Relationships xmlns="http://schemas.openxmlformats.org/package/2006/relationships"><Relationship Id="rId1" Type="http://schemas.openxmlformats.org/officeDocument/2006/relationships/package" Target="../embeddings/Microsoft_Excel_Sheet365.xlsx"/></Relationships>
</file>

<file path=ppt/charts/_rels/chart366.xml.rels><?xml version='1.0' encoding='UTF-8' standalone='yes'?>
<Relationships xmlns="http://schemas.openxmlformats.org/package/2006/relationships"><Relationship Id="rId1" Type="http://schemas.openxmlformats.org/officeDocument/2006/relationships/package" Target="../embeddings/Microsoft_Excel_Sheet366.xlsx"/></Relationships>
</file>

<file path=ppt/charts/_rels/chart367.xml.rels><?xml version='1.0' encoding='UTF-8' standalone='yes'?>
<Relationships xmlns="http://schemas.openxmlformats.org/package/2006/relationships"><Relationship Id="rId1" Type="http://schemas.openxmlformats.org/officeDocument/2006/relationships/package" Target="../embeddings/Microsoft_Excel_Sheet367.xlsx"/></Relationships>
</file>

<file path=ppt/charts/_rels/chart368.xml.rels><?xml version='1.0' encoding='UTF-8' standalone='yes'?>
<Relationships xmlns="http://schemas.openxmlformats.org/package/2006/relationships"><Relationship Id="rId1" Type="http://schemas.openxmlformats.org/officeDocument/2006/relationships/package" Target="../embeddings/Microsoft_Excel_Sheet368.xlsx"/></Relationships>
</file>

<file path=ppt/charts/_rels/chart369.xml.rels><?xml version='1.0' encoding='UTF-8' standalone='yes'?>
<Relationships xmlns="http://schemas.openxmlformats.org/package/2006/relationships"><Relationship Id="rId1" Type="http://schemas.openxmlformats.org/officeDocument/2006/relationships/package" Target="../embeddings/Microsoft_Excel_Sheet369.xlsx"/></Relationships>
</file>

<file path=ppt/charts/_rels/chart370.xml.rels><?xml version='1.0' encoding='UTF-8' standalone='yes'?>
<Relationships xmlns="http://schemas.openxmlformats.org/package/2006/relationships"><Relationship Id="rId1" Type="http://schemas.openxmlformats.org/officeDocument/2006/relationships/package" Target="../embeddings/Microsoft_Excel_Sheet370.xlsx"/></Relationships>
</file>

<file path=ppt/charts/_rels/chart371.xml.rels><?xml version='1.0' encoding='UTF-8' standalone='yes'?>
<Relationships xmlns="http://schemas.openxmlformats.org/package/2006/relationships"><Relationship Id="rId1" Type="http://schemas.openxmlformats.org/officeDocument/2006/relationships/package" Target="../embeddings/Microsoft_Excel_Sheet371.xlsx"/></Relationships>
</file>

<file path=ppt/charts/_rels/chart372.xml.rels><?xml version='1.0' encoding='UTF-8' standalone='yes'?>
<Relationships xmlns="http://schemas.openxmlformats.org/package/2006/relationships"><Relationship Id="rId1" Type="http://schemas.openxmlformats.org/officeDocument/2006/relationships/package" Target="../embeddings/Microsoft_Excel_Sheet372.xlsx"/></Relationships>
</file>

<file path=ppt/charts/_rels/chart373.xml.rels><?xml version='1.0' encoding='UTF-8' standalone='yes'?>
<Relationships xmlns="http://schemas.openxmlformats.org/package/2006/relationships"><Relationship Id="rId1" Type="http://schemas.openxmlformats.org/officeDocument/2006/relationships/package" Target="../embeddings/Microsoft_Excel_Sheet373.xlsx"/></Relationships>
</file>

<file path=ppt/charts/_rels/chart374.xml.rels><?xml version='1.0' encoding='UTF-8' standalone='yes'?>
<Relationships xmlns="http://schemas.openxmlformats.org/package/2006/relationships"><Relationship Id="rId1" Type="http://schemas.openxmlformats.org/officeDocument/2006/relationships/package" Target="../embeddings/Microsoft_Excel_Sheet374.xlsx"/></Relationships>
</file>

<file path=ppt/charts/_rels/chart375.xml.rels><?xml version='1.0' encoding='UTF-8' standalone='yes'?>
<Relationships xmlns="http://schemas.openxmlformats.org/package/2006/relationships"><Relationship Id="rId1" Type="http://schemas.openxmlformats.org/officeDocument/2006/relationships/package" Target="../embeddings/Microsoft_Excel_Sheet375.xlsx"/></Relationships>
</file>

<file path=ppt/charts/_rels/chart376.xml.rels><?xml version='1.0' encoding='UTF-8' standalone='yes'?>
<Relationships xmlns="http://schemas.openxmlformats.org/package/2006/relationships"><Relationship Id="rId1" Type="http://schemas.openxmlformats.org/officeDocument/2006/relationships/package" Target="../embeddings/Microsoft_Excel_Sheet376.xlsx"/></Relationships>
</file>

<file path=ppt/charts/_rels/chart377.xml.rels><?xml version='1.0' encoding='UTF-8' standalone='yes'?>
<Relationships xmlns="http://schemas.openxmlformats.org/package/2006/relationships"><Relationship Id="rId1" Type="http://schemas.openxmlformats.org/officeDocument/2006/relationships/package" Target="../embeddings/Microsoft_Excel_Sheet377.xlsx"/></Relationships>
</file>

<file path=ppt/charts/_rels/chart378.xml.rels><?xml version='1.0' encoding='UTF-8' standalone='yes'?>
<Relationships xmlns="http://schemas.openxmlformats.org/package/2006/relationships"><Relationship Id="rId1" Type="http://schemas.openxmlformats.org/officeDocument/2006/relationships/package" Target="../embeddings/Microsoft_Excel_Sheet378.xlsx"/></Relationships>
</file>

<file path=ppt/charts/_rels/chart379.xml.rels><?xml version='1.0' encoding='UTF-8' standalone='yes'?>
<Relationships xmlns="http://schemas.openxmlformats.org/package/2006/relationships"><Relationship Id="rId1" Type="http://schemas.openxmlformats.org/officeDocument/2006/relationships/package" Target="../embeddings/Microsoft_Excel_Sheet379.xlsx"/></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4.389161302035305</c:v>
                </c:pt>
                <c:pt idx="1">
                  <c:v>5.239999740743384</c:v>
                </c:pt>
                <c:pt idx="2">
                  <c:v>4.955619163986835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916799657781267"/>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6355.351</c:v>
                </c:pt>
                <c:pt idx="2">
                  <c:v>0.0</c:v>
                </c:pt>
                <c:pt idx="3">
                  <c:v>7878.011</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6355.351</c:v>
                </c:pt>
                <c:pt idx="1">
                  <c:v>1522.6600000000008</c:v>
                </c:pt>
                <c:pt idx="2">
                  <c:v>7878.011</c:v>
                </c:pt>
                <c:pt idx="3">
                  <c:v>5250.786999999998</c:v>
                </c:pt>
                <c:pt idx="4">
                  <c:v>13128.797999999999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S1</c:v>
                </c:pt>
              </c:strCache>
            </c:strRef>
          </c:tx>
          <c:spPr>
            <a:solidFill>
              <a:srgbClr val="003E58"/>
            </a:solidFill>
            <a:ln>
              <a:noFill/>
            </a:ln>
          </c:spPr>
          <c:cat>
            <c:strRef>
              <c:f>Sheet1!$A$2:$A$4</c:f>
              <c:strCache>
                <c:ptCount val="3"/>
                <c:pt idx="0">
                  <c:v>2021–2026</c:v>
                </c:pt>
                <c:pt idx="1">
                  <c:v>2026–2036</c:v>
                </c:pt>
                <c:pt idx="2">
                  <c:v>2021–2036</c:v>
                </c:pt>
              </c:strCache>
            </c:strRef>
          </c:cat>
          <c:val>
            <c:numRef>
              <c:f>Sheet1!$B$2:$B$4</c:f>
              <c:numCache>
                <c:formatCode>General</c:formatCode>
                <c:ptCount val="3"/>
                <c:pt idx="0">
                  <c:v>4.856053278680639</c:v>
                </c:pt>
                <c:pt idx="1">
                  <c:v>6.569916400258924</c:v>
                </c:pt>
                <c:pt idx="2">
                  <c:v>5.995538541239398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67228964834178"/>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2021</c:v>
                </c:pt>
                <c:pt idx="1">
                  <c:v>2021–2026</c:v>
                </c:pt>
                <c:pt idx="2">
                  <c:v>2026</c:v>
                </c:pt>
                <c:pt idx="3">
                  <c:v>2026–2036</c:v>
                </c:pt>
                <c:pt idx="4">
                  <c:v>2036</c:v>
                </c:pt>
              </c:strCache>
            </c:strRef>
          </c:cat>
          <c:val>
            <c:numRef>
              <c:f>Sheet1!$B$2:$B$6</c:f>
              <c:numCache>
                <c:formatCode>General</c:formatCode>
                <c:ptCount val="5"/>
                <c:pt idx="0">
                  <c:v>0.0</c:v>
                </c:pt>
                <c:pt idx="1">
                  <c:v>20622.999</c:v>
                </c:pt>
                <c:pt idx="2">
                  <c:v>0.0</c:v>
                </c:pt>
                <c:pt idx="3">
                  <c:v>26140.829</c:v>
                </c:pt>
                <c:pt idx="4">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2021</c:v>
                </c:pt>
                <c:pt idx="1">
                  <c:v>2021–2026</c:v>
                </c:pt>
                <c:pt idx="2">
                  <c:v>2026</c:v>
                </c:pt>
                <c:pt idx="3">
                  <c:v>2026–2036</c:v>
                </c:pt>
                <c:pt idx="4">
                  <c:v>2036</c:v>
                </c:pt>
              </c:strCache>
            </c:strRef>
          </c:cat>
          <c:val>
            <c:numRef>
              <c:f>Sheet1!$C$2:$C$6</c:f>
              <c:numCache>
                <c:formatCode>General</c:formatCode>
                <c:ptCount val="5"/>
                <c:pt idx="0">
                  <c:v>20622.999</c:v>
                </c:pt>
                <c:pt idx="1">
                  <c:v>5517.830000000002</c:v>
                </c:pt>
                <c:pt idx="2">
                  <c:v>26140.829</c:v>
                </c:pt>
                <c:pt idx="3">
                  <c:v>23252.194</c:v>
                </c:pt>
                <c:pt idx="4">
                  <c:v>49393.023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Sheet1!$B$2:$B$6</c:f>
              <c:numCache>
                <c:formatCode>General</c:formatCode>
                <c:ptCount val="5"/>
                <c:pt idx="0">
                  <c:v>20622.999</c:v>
                </c:pt>
                <c:pt idx="1">
                  <c:v>21558.682</c:v>
                </c:pt>
                <c:pt idx="2">
                  <c:v>22554.849000000002</c:v>
                </c:pt>
                <c:pt idx="3">
                  <c:v>23630.681</c:v>
                </c:pt>
                <c:pt idx="4">
                  <c:v>24784.489</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Sheet1!$A$2:$A$6</c:f>
              <c:strCache>
                <c:ptCount val="5"/>
                <c:pt idx="0">
                  <c:v>2021</c:v>
                </c:pt>
                <c:pt idx="1">
                  <c:v>2022</c:v>
                </c:pt>
                <c:pt idx="2">
                  <c:v>2023</c:v>
                </c:pt>
                <c:pt idx="3">
                  <c:v>2024</c:v>
                </c:pt>
                <c:pt idx="4">
                  <c:v>2025</c:v>
                </c:pt>
              </c:strCache>
            </c:strRef>
          </c:cat>
          <c:val>
            <c:numRef>
              <c:f>Sheet1!$C$2:$C$6</c:f>
              <c:numCache>
                <c:formatCode>General</c:formatCode>
                <c:ptCount val="5"/>
                <c:pt idx="0">
                  <c:v>6355.351</c:v>
                </c:pt>
                <c:pt idx="1">
                  <c:v>6624.798999999999</c:v>
                </c:pt>
                <c:pt idx="2">
                  <c:v>6909.021999999999</c:v>
                </c:pt>
                <c:pt idx="3">
                  <c:v>7210.169999999999</c:v>
                </c:pt>
                <c:pt idx="4">
                  <c:v>7530.495000000001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29246"/>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0242"/>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69B1E0"/>
            </a:solidFill>
            <a:ln>
              <a:noFill/>
            </a:ln>
          </c:spPr>
          <c:dLbls>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26140.829</c:v>
                </c:pt>
                <c:pt idx="1">
                  <c:v>27636.800000000003</c:v>
                </c:pt>
                <c:pt idx="2">
                  <c:v>29294.495</c:v>
                </c:pt>
                <c:pt idx="3">
                  <c:v>31129.43</c:v>
                </c:pt>
                <c:pt idx="4">
                  <c:v>33164.96799999999</c:v>
                </c:pt>
                <c:pt idx="5">
                  <c:v>35400.385</c:v>
                </c:pt>
                <c:pt idx="6">
                  <c:v>37837.58200000001</c:v>
                </c:pt>
                <c:pt idx="7">
                  <c:v>40462.10599999999</c:v>
                </c:pt>
                <c:pt idx="8">
                  <c:v>43267.858</c:v>
                </c:pt>
                <c:pt idx="9">
                  <c:v>46244.636</c:v>
                </c:pt>
                <c:pt idx="10">
                  <c:v>49393.023</c:v>
                </c:pt>
              </c:numCache>
            </c:numRef>
          </c:val>
        </c:ser>
        <c:gapWidth val="50"/>
        <c:axId val="-2068027336"/>
        <c:axId val="-2113994440"/>
      </c:barChart>
      <c:barChart>
        <c:barDir val="col"/>
        <c:grouping val="clustered"/>
        <c:varyColors val="0"/>
        <c:ser>
          <c:idx val="1"/>
          <c:order val="1"/>
          <c:tx>
            <c:strRef>
              <c:f>Sheet1!$C$1</c:f>
              <c:strCache>
                <c:ptCount val="1"/>
                <c:pt idx="0">
                  <c:v>Volume (Thousand MT)</c:v>
                </c:pt>
              </c:strCache>
            </c:strRef>
          </c:tx>
          <c:spPr>
            <a:solidFill>
              <a:srgbClr val="C55A11"/>
            </a:solidFill>
            <a:ln>
              <a:noFill/>
            </a:ln>
          </c:spPr>
          <c:dLbls>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7878.011</c:v>
                </c:pt>
                <c:pt idx="1">
                  <c:v>8254.316</c:v>
                </c:pt>
                <c:pt idx="2">
                  <c:v>8664.236</c:v>
                </c:pt>
                <c:pt idx="3">
                  <c:v>9110.972999999998</c:v>
                </c:pt>
                <c:pt idx="4">
                  <c:v>9597.116</c:v>
                </c:pt>
                <c:pt idx="5">
                  <c:v>10120.265000000001</c:v>
                </c:pt>
                <c:pt idx="6">
                  <c:v>10677.237000000001</c:v>
                </c:pt>
                <c:pt idx="7">
                  <c:v>11261.896</c:v>
                </c:pt>
                <c:pt idx="8">
                  <c:v>11869.531</c:v>
                </c:pt>
                <c:pt idx="9">
                  <c:v>12492.327000000001</c:v>
                </c:pt>
                <c:pt idx="10">
                  <c:v>13128.797999999999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58284"/>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9960"/>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Belgium</c:v>
                </c:pt>
                <c:pt idx="1">
                  <c:v>Germany</c:v>
                </c:pt>
                <c:pt idx="2">
                  <c:v>France</c:v>
                </c:pt>
                <c:pt idx="3">
                  <c:v>Russia</c:v>
                </c:pt>
                <c:pt idx="4">
                  <c:v>U.K.</c:v>
                </c:pt>
                <c:pt idx="5">
                  <c:v>Nordic</c:v>
                </c:pt>
                <c:pt idx="6">
                  <c:v>Italy</c:v>
                </c:pt>
                <c:pt idx="7">
                  <c:v>Netherlands</c:v>
                </c:pt>
                <c:pt idx="8">
                  <c:v>Poland</c:v>
                </c:pt>
                <c:pt idx="9">
                  <c:v>Spain</c:v>
                </c:pt>
              </c:strCache>
            </c:strRef>
          </c:cat>
          <c:val>
            <c:numRef>
              <c:f>Sheet1!$B$2:$B$11</c:f>
              <c:numCache>
                <c:formatCode>General</c:formatCode>
                <c:ptCount val="10"/>
                <c:pt idx="0">
                  <c:v>79.1371521143356</c:v>
                </c:pt>
                <c:pt idx="1">
                  <c:v>81.4949033701964</c:v>
                </c:pt>
                <c:pt idx="2">
                  <c:v>87.21783135728022</c:v>
                </c:pt>
                <c:pt idx="3">
                  <c:v>93.26905527968673</c:v>
                </c:pt>
                <c:pt idx="4">
                  <c:v>95.97675138083139</c:v>
                </c:pt>
                <c:pt idx="5">
                  <c:v>107.28391622057055</c:v>
                </c:pt>
                <c:pt idx="6">
                  <c:v>112.77459144084337</c:v>
                </c:pt>
                <c:pt idx="7">
                  <c:v>117.90448188728615</c:v>
                </c:pt>
                <c:pt idx="8">
                  <c:v>119.38312338741054</c:v>
                </c:pt>
                <c:pt idx="9">
                  <c:v>123.63342017188536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Index</c:v>
                </c:pt>
              </c:strCache>
            </c:strRef>
          </c:tx>
          <c:spPr>
            <a:solidFill>
              <a:srgbClr val="0E72AE"/>
            </a:solidFill>
            <a:ln>
              <a:noFill/>
            </a:ln>
          </c:spPr>
          <c:cat>
            <c:strRef>
              <c:f>Sheet1!$A$2:$A$11</c:f>
              <c:strCache>
                <c:ptCount val="10"/>
                <c:pt idx="0">
                  <c:v>Belgium</c:v>
                </c:pt>
                <c:pt idx="1">
                  <c:v>Netherlands</c:v>
                </c:pt>
                <c:pt idx="2">
                  <c:v>Poland</c:v>
                </c:pt>
                <c:pt idx="3">
                  <c:v>Russia</c:v>
                </c:pt>
                <c:pt idx="4">
                  <c:v>Nordic</c:v>
                </c:pt>
                <c:pt idx="5">
                  <c:v>Spain</c:v>
                </c:pt>
                <c:pt idx="6">
                  <c:v>France</c:v>
                </c:pt>
                <c:pt idx="7">
                  <c:v>Italy</c:v>
                </c:pt>
                <c:pt idx="8">
                  <c:v>Germany</c:v>
                </c:pt>
                <c:pt idx="9">
                  <c:v>U.K.</c:v>
                </c:pt>
              </c:strCache>
            </c:strRef>
          </c:cat>
          <c:val>
            <c:numRef>
              <c:f>Sheet1!$B$2:$B$11</c:f>
              <c:numCache>
                <c:formatCode>General</c:formatCode>
                <c:ptCount val="10"/>
                <c:pt idx="0">
                  <c:v>2.2004719210582873</c:v>
                </c:pt>
                <c:pt idx="1">
                  <c:v>5.156631670972639</c:v>
                </c:pt>
                <c:pt idx="2">
                  <c:v>5.890192555592821</c:v>
                </c:pt>
                <c:pt idx="3">
                  <c:v>6.192301681295106</c:v>
                </c:pt>
                <c:pt idx="4">
                  <c:v>6.836154902199763</c:v>
                </c:pt>
                <c:pt idx="5">
                  <c:v>10.516383959294338</c:v>
                </c:pt>
                <c:pt idx="6">
                  <c:v>10.655235372627635</c:v>
                </c:pt>
                <c:pt idx="7">
                  <c:v>11.367193994682824</c:v>
                </c:pt>
                <c:pt idx="8">
                  <c:v>13.190256368925876</c:v>
                </c:pt>
                <c:pt idx="9">
                  <c:v>13.46328436791814</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f>Sheet1!$B$1</c:f>
              <c:strCache>
                <c:ptCount val="1"/>
                <c:pt idx="0">
                  <c:v>Share</c:v>
                </c:pt>
              </c:strCache>
            </c:strRef>
          </c:tx>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Lbls>
            <c:dLbl>
              <c:idx val="0"/>
              <c:tx>
                <c:rich>
                  <a:bodyPr/>
                  <a:lstStyle/>
                  <a:p>
                    <a:pPr>
                      <a:defRPr sz="1100" b="1">
                        <a:solidFill>
                          <a:srgbClr val="FFFFFF"/>
                        </a:solidFill>
                        <a:latin typeface="Calibri"/>
                      </a:defRPr>
                    </a:pPr>
                    <a:r>
                      <a:t>53.8%</a:t>
                    </a:r>
                  </a:p>
                </c:rich>
              </c:tx>
              <c:showLegendKey val="0"/>
              <c:showVal val="1"/>
              <c:showCatName val="0"/>
              <c:showSerName val="0"/>
              <c:showPercent val="0"/>
              <c:showBubbleSize val="0"/>
            </c:dLbl>
            <c:dLbl>
              <c:idx val="1"/>
              <c:tx>
                <c:rich>
                  <a:bodyPr/>
                  <a:lstStyle/>
                  <a:p>
                    <a:pPr>
                      <a:defRPr sz="1100" b="1">
                        <a:solidFill>
                          <a:srgbClr val="FFFFFF"/>
                        </a:solidFill>
                        <a:latin typeface="Calibri"/>
                      </a:defRPr>
                    </a:pPr>
                    <a:r>
                      <a:t>10.8%</a:t>
                    </a:r>
                  </a:p>
                </c:rich>
              </c:tx>
              <c:showLegendKey val="0"/>
              <c:showVal val="1"/>
              <c:showCatName val="0"/>
              <c:showSerName val="0"/>
              <c:showPercent val="0"/>
              <c:showBubbleSize val="0"/>
            </c:dLbl>
            <c:dLbl>
              <c:idx val="2"/>
              <c:tx>
                <c:rich>
                  <a:bodyPr/>
                  <a:lstStyle/>
                  <a:p>
                    <a:pPr>
                      <a:defRPr sz="1100" b="1">
                        <a:solidFill>
                          <a:srgbClr val="FFFFFF"/>
                        </a:solidFill>
                        <a:latin typeface="Calibri"/>
                      </a:defRPr>
                    </a:pPr>
                    <a:r>
                      <a:t>28.6%</a:t>
                    </a:r>
                  </a:p>
                </c:rich>
              </c:tx>
              <c:showLegendKey val="0"/>
              <c:showVal val="1"/>
              <c:showCatName val="0"/>
              <c:showSerName val="0"/>
              <c:showPercent val="0"/>
              <c:showBubbleSize val="0"/>
            </c:dLbl>
            <c:dLbl>
              <c:idx val="3"/>
              <c:tx>
                <c:rich>
                  <a:bodyPr/>
                  <a:lstStyle/>
                  <a:p>
                    <a:pPr>
                      <a:defRPr sz="1100" b="1">
                        <a:solidFill>
                          <a:srgbClr val="FFFFFF"/>
                        </a:solidFill>
                        <a:latin typeface="Calibri"/>
                      </a:defRPr>
                    </a:pPr>
                    <a:r>
                      <a:t>6.8%</a:t>
                    </a:r>
                  </a:p>
                </c:rich>
              </c:tx>
              <c:showLegendKey val="0"/>
              <c:showVal val="1"/>
              <c:showCatName val="0"/>
              <c:showSerName val="0"/>
              <c:showPercent val="0"/>
              <c:showBubbleSize val="0"/>
            </c:dLbl>
            <c:showLegendKey val="0"/>
            <c:showVal val="0"/>
            <c:showCatName val="0"/>
            <c:showSerName val="0"/>
            <c:showPercent val="0"/>
            <c:showBubbleSize val="0"/>
            <c:showLeaderLines val="1"/>
          </c:dLbls>
          <c:cat>
            <c:strRef>
              <c:f>Sheet1!$A$2:$A$5</c:f>
              <c:strCache>
                <c:ptCount val="4"/>
                <c:pt idx="0">
                  <c:v>Rollstock Films</c:v>
                </c:pt>
                <c:pt idx="1">
                  <c:v>Barrier Casings</c:v>
                </c:pt>
                <c:pt idx="2">
                  <c:v>Premade Pouches &amp; Bags</c:v>
                </c:pt>
                <c:pt idx="3">
                  <c:v>Sachets &amp; Stick Packs</c:v>
                </c:pt>
              </c:strCache>
            </c:strRef>
          </c:cat>
          <c:val>
            <c:numRef>
              <c:f>Sheet1!$B$2:$B$5</c:f>
              <c:numCache>
                <c:formatCode>General</c:formatCode>
                <c:ptCount val="4"/>
                <c:pt idx="0">
                  <c:v>26556.576</c:v>
                </c:pt>
                <c:pt idx="1">
                  <c:v>5335.356000000001</c:v>
                </c:pt>
                <c:pt idx="2">
                  <c:v>14122.563</c:v>
                </c:pt>
                <c:pt idx="3">
                  <c:v>3378.528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f>Sheet1!$B$1</c: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Sheet1!$B$2:$B$12</c:f>
              <c:numCache>
                <c:formatCode>General</c:formatCode>
                <c:ptCount val="11"/>
                <c:pt idx="0">
                  <c:v>0.07408661181506546</c:v>
                </c:pt>
                <c:pt idx="1">
                  <c:v>0.07582023997399107</c:v>
                </c:pt>
                <c:pt idx="2">
                  <c:v>0.07748719012680418</c:v>
                </c:pt>
                <c:pt idx="3">
                  <c:v>0.07862071623071708</c:v>
                </c:pt>
                <c:pt idx="4">
                  <c:v>0.07979128567135917</c:v>
                </c:pt>
                <c:pt idx="5">
                  <c:v>0.08062846508143863</c:v>
                </c:pt>
                <c:pt idx="6">
                  <c:v>0.08164345250781817</c:v>
                </c:pt>
                <c:pt idx="7">
                  <c:v>0.08251026658728097</c:v>
                </c:pt>
                <c:pt idx="8">
                  <c:v>0.08410313006663571</c:v>
                </c:pt>
                <c:pt idx="9">
                  <c:v>0.0866739376356408</c:v>
                </c:pt>
                <c:pt idx="10">
                  <c:v>0.08826680111499553</c:v>
                </c:pt>
              </c:numCache>
            </c:numRef>
          </c:val>
          <c:smooth val="0"/>
        </c:ser>
        <c:ser>
          <c:idx val="1"/>
          <c:order val="1"/>
          <c:tx>
            <c:strRef>
              <c:f>Sheet1!$C$1</c: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Sheet1!$C$2:$C$12</c:f>
              <c:numCache>
                <c:formatCode>General</c:formatCode>
                <c:ptCount val="11"/>
                <c:pt idx="0">
                  <c:v>0.07209767841659599</c:v>
                </c:pt>
                <c:pt idx="1">
                  <c:v>0.07088660063794991</c:v>
                </c:pt>
                <c:pt idx="2">
                  <c:v>0.06893866228313966</c:v>
                </c:pt>
                <c:pt idx="3">
                  <c:v>0.06757437586984558</c:v>
                </c:pt>
                <c:pt idx="4">
                  <c:v>0.06602040257555875</c:v>
                </c:pt>
                <c:pt idx="5">
                  <c:v>0.06456127272176829</c:v>
                </c:pt>
                <c:pt idx="6">
                  <c:v>0.06286138644210242</c:v>
                </c:pt>
                <c:pt idx="7">
                  <c:v>0.060840491594602635</c:v>
                </c:pt>
                <c:pt idx="8">
                  <c:v>0.06003067452574893</c:v>
                </c:pt>
                <c:pt idx="9">
                  <c:v>0.05936677044227427</c:v>
                </c:pt>
                <c:pt idx="10">
                  <c:v>0.05859343161976533</c:v>
                </c:pt>
              </c:numCache>
            </c:numRef>
          </c:val>
          <c:smooth val="0"/>
        </c:ser>
        <c:ser>
          <c:idx val="2"/>
          <c:order val="2"/>
          <c:tx>
            <c:strRef>
              <c:f>Sheet1!$D$1</c: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f>Sheet1!$A$2:$A$12</c: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f>Sheet1!$D$2:$D$12</c:f>
              <c:numCache>
                <c:formatCode>General</c:formatCode>
                <c:ptCount val="11"/>
                <c:pt idx="0">
                  <c:v>0.0411421471657306</c:v>
                </c:pt>
                <c:pt idx="1">
                  <c:v>0.04263321053753408</c:v>
                </c:pt>
                <c:pt idx="2">
                  <c:v>0.04396025693843916</c:v>
                </c:pt>
                <c:pt idx="3">
                  <c:v>0.045948341434177135</c:v>
                </c:pt>
                <c:pt idx="4">
                  <c:v>0.048100442900813487</c:v>
                </c:pt>
                <c:pt idx="5">
                  <c:v>0.05042153154958757</c:v>
                </c:pt>
                <c:pt idx="6">
                  <c:v>0.05240961604532553</c:v>
                </c:pt>
                <c:pt idx="7">
                  <c:v>0.053199879632381375</c:v>
                </c:pt>
                <c:pt idx="8">
                  <c:v>0.053199879632381375</c:v>
                </c:pt>
                <c:pt idx="9">
                  <c:v>0.051937445977587766</c:v>
                </c:pt>
                <c:pt idx="10">
                  <c:v>0.05091358246228271</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Germany</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15.830899449112218</c:v>
                </c:pt>
                <c:pt idx="1">
                  <c:v>14.106554156747631</c:v>
                </c:pt>
              </c:numCache>
            </c:numRef>
          </c:val>
        </c:ser>
        <c:ser>
          <c:idx val="1"/>
          <c:order val="1"/>
          <c:tx>
            <c:strRef>
              <c:f>Sheet1!$C$1</c:f>
              <c:strCache>
                <c:ptCount val="1"/>
                <c:pt idx="0">
                  <c:v>U.K.</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13.464743829375205</c:v>
                </c:pt>
                <c:pt idx="1">
                  <c:v>13.190491620024925</c:v>
                </c:pt>
              </c:numCache>
            </c:numRef>
          </c:val>
        </c:ser>
        <c:ser>
          <c:idx val="2"/>
          <c:order val="2"/>
          <c:tx>
            <c:strRef>
              <c:f>Sheet1!$D$1</c:f>
              <c:strCache>
                <c:ptCount val="1"/>
                <c:pt idx="0">
                  <c:v>Rest of Europe</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11.82129600986848</c:v>
                </c:pt>
                <c:pt idx="1">
                  <c:v>12.54320464066855</c:v>
                </c:pt>
              </c:numCache>
            </c:numRef>
          </c:val>
        </c:ser>
        <c:ser>
          <c:idx val="3"/>
          <c:order val="3"/>
          <c:tx>
            <c:strRef>
              <c:f>Sheet1!$E$1</c:f>
              <c:strCache>
                <c:ptCount val="1"/>
                <c:pt idx="0">
                  <c:v>France</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12.31902316460335</c:v>
                </c:pt>
                <c:pt idx="1">
                  <c:v>11.299846337798785</c:v>
                </c:pt>
              </c:numCache>
            </c:numRef>
          </c:val>
        </c:ser>
        <c:ser>
          <c:idx val="4"/>
          <c:order val="4"/>
          <c:tx>
            <c:strRef>
              <c:f>Sheet1!$F$1</c:f>
              <c:strCache>
                <c:ptCount val="1"/>
                <c:pt idx="0">
                  <c:v>Italy</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10.06411389880009</c:v>
                </c:pt>
                <c:pt idx="1">
                  <c:v>10.850604906862</c:v>
                </c:pt>
              </c:numCache>
            </c:numRef>
          </c:val>
        </c:ser>
        <c:ser>
          <c:idx val="5"/>
          <c:order val="5"/>
          <c:tx>
            <c:strRef>
              <c:f>Sheet1!$G$1</c:f>
              <c:strCache>
                <c:ptCount val="1"/>
                <c:pt idx="0">
                  <c:v>Spain</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8.527495074581642</c:v>
                </c:pt>
                <c:pt idx="1">
                  <c:v>9.936873124257072</c:v>
                </c:pt>
              </c:numCache>
            </c:numRef>
          </c:val>
        </c:ser>
        <c:ser>
          <c:idx val="6"/>
          <c:order val="6"/>
          <c:tx>
            <c:strRef>
              <c:f>Sheet1!$H$1</c:f>
              <c:strCache>
                <c:ptCount val="1"/>
                <c:pt idx="0">
                  <c:v>Russia</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8.086431968678387</c:v>
                </c:pt>
                <c:pt idx="1">
                  <c:v>7.710500230104842</c:v>
                </c:pt>
              </c:numCache>
            </c:numRef>
          </c:val>
        </c:ser>
        <c:ser>
          <c:idx val="7"/>
          <c:order val="7"/>
          <c:tx>
            <c:strRef>
              <c:f>Sheet1!$I$1</c:f>
              <c:strCache>
                <c:ptCount val="1"/>
                <c:pt idx="0">
                  <c:v>Poland</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5.374630728492255</c:v>
                </c:pt>
                <c:pt idx="1">
                  <c:v>6.036615080832227</c:v>
                </c:pt>
              </c:numCache>
            </c:numRef>
          </c:val>
        </c:ser>
        <c:ser>
          <c:idx val="8"/>
          <c:order val="8"/>
          <c:tx>
            <c:strRef>
              <c:f>Sheet1!$J$1</c:f>
              <c:strCache>
                <c:ptCount val="1"/>
                <c:pt idx="0">
                  <c:v>Nordic</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5.548265926513684</c:v>
                </c:pt>
                <c:pt idx="1">
                  <c:v>5.70639444677266</c:v>
                </c:pt>
              </c:numCache>
            </c:numRef>
          </c:val>
        </c:ser>
        <c:ser>
          <c:idx val="9"/>
          <c:order val="9"/>
          <c:tx>
            <c:strRef>
              <c:f>Sheet1!$K$1</c:f>
              <c:strCache>
                <c:ptCount val="1"/>
                <c:pt idx="0">
                  <c:v>Netherlands</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Sheet1!$K$2:$K$3</c:f>
              <c:numCache>
                <c:formatCode>General</c:formatCode>
                <c:ptCount val="2"/>
                <c:pt idx="0">
                  <c:v>3.9339498256603087</c:v>
                </c:pt>
                <c:pt idx="1">
                  <c:v>4.332818587048106</c:v>
                </c:pt>
              </c:numCache>
            </c:numRef>
          </c:val>
        </c:ser>
        <c:ser>
          <c:idx val="10"/>
          <c:order val="10"/>
          <c:tx>
            <c:strRef>
              <c:f>Sheet1!$L$1</c:f>
              <c:strCache>
                <c:ptCount val="1"/>
                <c:pt idx="0">
                  <c:v>Belgium</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Sheet1!$L$2:$L$3</c:f>
              <c:numCache>
                <c:formatCode>General</c:formatCode>
                <c:ptCount val="2"/>
                <c:pt idx="0">
                  <c:v>2.775573682240352</c:v>
                </c:pt>
                <c:pt idx="1">
                  <c:v>2.4258123249363726</c:v>
                </c:pt>
              </c:numCache>
            </c:numRef>
          </c:val>
        </c:ser>
        <c:ser>
          <c:idx val="11"/>
          <c:order val="11"/>
          <c:tx>
            <c:strRef>
              <c:f>Sheet1!$M$1</c:f>
              <c:strCache>
                <c:ptCount val="1"/>
                <c:pt idx="0">
                  <c:v>Switzerland</c:v>
                </c:pt>
              </c:strCache>
            </c:strRef>
          </c:tx>
          <c:spPr>
            <a:solidFill>
              <a:srgbClr val="5F5F5F"/>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Sheet1!$M$2:$M$3</c:f>
              <c:numCache>
                <c:formatCode>General</c:formatCode>
                <c:ptCount val="2"/>
                <c:pt idx="0">
                  <c:v>2.253576442074021</c:v>
                </c:pt>
                <c:pt idx="1">
                  <c:v>1.8602845439468256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Germany</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Sheet1!$B$2:$B$3</c:f>
              <c:numCache>
                <c:formatCode>General</c:formatCode>
                <c:ptCount val="2"/>
                <c:pt idx="0">
                  <c:v>17.13613727675869</c:v>
                </c:pt>
                <c:pt idx="1">
                  <c:v>15.27857891994179</c:v>
                </c:pt>
              </c:numCache>
            </c:numRef>
          </c:val>
        </c:ser>
        <c:ser>
          <c:idx val="1"/>
          <c:order val="1"/>
          <c:tx>
            <c:strRef>
              <c:f>Sheet1!$C$1</c:f>
              <c:strCache>
                <c:ptCount val="1"/>
                <c:pt idx="0">
                  <c:v>U.K.</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Sheet1!$C$2:$C$3</c:f>
              <c:numCache>
                <c:formatCode>General</c:formatCode>
                <c:ptCount val="2"/>
                <c:pt idx="0">
                  <c:v>14.203311165327706</c:v>
                </c:pt>
                <c:pt idx="1">
                  <c:v>13.854936556525402</c:v>
                </c:pt>
              </c:numCache>
            </c:numRef>
          </c:val>
        </c:ser>
        <c:ser>
          <c:idx val="2"/>
          <c:order val="2"/>
          <c:tx>
            <c:strRef>
              <c:f>Sheet1!$D$1</c:f>
              <c:strCache>
                <c:ptCount val="1"/>
                <c:pt idx="0">
                  <c:v>Rest of Europe</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Sheet1!$D$2:$D$3</c:f>
              <c:numCache>
                <c:formatCode>General</c:formatCode>
                <c:ptCount val="2"/>
                <c:pt idx="0">
                  <c:v>10.952166892042092</c:v>
                </c:pt>
                <c:pt idx="1">
                  <c:v>11.821489443964586</c:v>
                </c:pt>
              </c:numCache>
            </c:numRef>
          </c:val>
        </c:ser>
        <c:ser>
          <c:idx val="3"/>
          <c:order val="3"/>
          <c:tx>
            <c:strRef>
              <c:f>Sheet1!$E$1</c:f>
              <c:strCache>
                <c:ptCount val="1"/>
                <c:pt idx="0">
                  <c:v>France</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Sheet1!$E$2:$E$3</c:f>
              <c:numCache>
                <c:formatCode>General</c:formatCode>
                <c:ptCount val="2"/>
                <c:pt idx="0">
                  <c:v>12.70867214721248</c:v>
                </c:pt>
                <c:pt idx="1">
                  <c:v>11.741994410830046</c:v>
                </c:pt>
              </c:numCache>
            </c:numRef>
          </c:val>
        </c:ser>
        <c:ser>
          <c:idx val="4"/>
          <c:order val="4"/>
          <c:tx>
            <c:strRef>
              <c:f>Sheet1!$F$1</c:f>
              <c:strCache>
                <c:ptCount val="1"/>
                <c:pt idx="0">
                  <c:v>Italy</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Sheet1!$F$2:$F$3</c:f>
              <c:numCache>
                <c:formatCode>General</c:formatCode>
                <c:ptCount val="2"/>
                <c:pt idx="0">
                  <c:v>9.687838108564813</c:v>
                </c:pt>
                <c:pt idx="1">
                  <c:v>10.478411090570424</c:v>
                </c:pt>
              </c:numCache>
            </c:numRef>
          </c:val>
        </c:ser>
        <c:ser>
          <c:idx val="5"/>
          <c:order val="5"/>
          <c:tx>
            <c:strRef>
              <c:f>Sheet1!$G$1</c:f>
              <c:strCache>
                <c:ptCount val="1"/>
                <c:pt idx="0">
                  <c:v>Spain</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Sheet1!$G$2:$G$3</c:f>
              <c:numCache>
                <c:formatCode>General</c:formatCode>
                <c:ptCount val="2"/>
                <c:pt idx="0">
                  <c:v>7.90351429968149</c:v>
                </c:pt>
                <c:pt idx="1">
                  <c:v>9.133545035297798</c:v>
                </c:pt>
              </c:numCache>
            </c:numRef>
          </c:val>
        </c:ser>
        <c:ser>
          <c:idx val="6"/>
          <c:order val="6"/>
          <c:tx>
            <c:strRef>
              <c:f>Sheet1!$H$1</c:f>
              <c:strCache>
                <c:ptCount val="1"/>
                <c:pt idx="0">
                  <c:v>Nordic</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Sheet1!$H$2:$H$3</c:f>
              <c:numCache>
                <c:formatCode>General</c:formatCode>
                <c:ptCount val="2"/>
                <c:pt idx="0">
                  <c:v>6.229757000419305</c:v>
                </c:pt>
                <c:pt idx="1">
                  <c:v>6.515221795596515</c:v>
                </c:pt>
              </c:numCache>
            </c:numRef>
          </c:val>
        </c:ser>
        <c:ser>
          <c:idx val="7"/>
          <c:order val="7"/>
          <c:tx>
            <c:strRef>
              <c:f>Sheet1!$I$1</c:f>
              <c:strCache>
                <c:ptCount val="1"/>
                <c:pt idx="0">
                  <c:v>Russia</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Sheet1!$I$2:$I$3</c:f>
              <c:numCache>
                <c:formatCode>General</c:formatCode>
                <c:ptCount val="2"/>
                <c:pt idx="0">
                  <c:v>6.77879471831553</c:v>
                </c:pt>
                <c:pt idx="1">
                  <c:v>6.502701808714967</c:v>
                </c:pt>
              </c:numCache>
            </c:numRef>
          </c:val>
        </c:ser>
        <c:ser>
          <c:idx val="8"/>
          <c:order val="8"/>
          <c:tx>
            <c:strRef>
              <c:f>Sheet1!$J$1</c:f>
              <c:strCache>
                <c:ptCount val="1"/>
                <c:pt idx="0">
                  <c:v>Poland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Sheet1!$J$2:$J$3</c:f>
              <c:numCache>
                <c:formatCode>General</c:formatCode>
                <c:ptCount val="2"/>
                <c:pt idx="0">
                  <c:v>4.645526325544329</c:v>
                </c:pt>
                <c:pt idx="1">
                  <c:v>5.231465585736673</c:v>
                </c:pt>
              </c:numCache>
            </c:numRef>
          </c:val>
        </c:ser>
        <c:ser>
          <c:idx val="9"/>
          <c:order val="9"/>
          <c:tx>
            <c:strRef>
              <c:f>Sheet1!$K$1</c:f>
              <c:strCache>
                <c:ptCount val="1"/>
                <c:pt idx="0">
                  <c:v>Netherlands</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Sheet1!$K$2:$K$3</c:f>
              <c:numCache>
                <c:formatCode>General</c:formatCode>
                <c:ptCount val="2"/>
                <c:pt idx="0">
                  <c:v>4.136996124873937</c:v>
                </c:pt>
                <c:pt idx="1">
                  <c:v>4.617002283905562</c:v>
                </c:pt>
              </c:numCache>
            </c:numRef>
          </c:val>
        </c:ser>
        <c:ser>
          <c:idx val="10"/>
          <c:order val="10"/>
          <c:tx>
            <c:strRef>
              <c:f>Sheet1!$L$1</c:f>
              <c:strCache>
                <c:ptCount val="1"/>
                <c:pt idx="0">
                  <c:v>Belgium</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Sheet1!$L$2:$L$3</c:f>
              <c:numCache>
                <c:formatCode>General</c:formatCode>
                <c:ptCount val="2"/>
                <c:pt idx="0">
                  <c:v>2.965307868798489</c:v>
                </c:pt>
                <c:pt idx="1">
                  <c:v>2.605256616911259</c:v>
                </c:pt>
              </c:numCache>
            </c:numRef>
          </c:val>
        </c:ser>
        <c:ser>
          <c:idx val="11"/>
          <c:order val="11"/>
          <c:tx>
            <c:strRef>
              <c:f>Sheet1!$M$1</c:f>
              <c:strCache>
                <c:ptCount val="1"/>
                <c:pt idx="0">
                  <c:v>Switzerland</c:v>
                </c:pt>
              </c:strCache>
            </c:strRef>
          </c:tx>
          <c:spPr>
            <a:solidFill>
              <a:srgbClr val="5F5F5F"/>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Sheet1!$A$2:$A$3</c:f>
              <c:strCache>
                <c:ptCount val="2"/>
                <c:pt idx="0">
                  <c:v>2026</c:v>
                </c:pt>
                <c:pt idx="1">
                  <c:v>2036</c:v>
                </c:pt>
              </c:strCache>
            </c:strRef>
          </c:cat>
          <c:val>
            <c:numRef>
              <c:f>Sheet1!$M$2:$M$3</c:f>
              <c:numCache>
                <c:formatCode>General</c:formatCode>
                <c:ptCount val="2"/>
                <c:pt idx="0">
                  <c:v>2.6519780724611355</c:v>
                </c:pt>
                <c:pt idx="1">
                  <c:v>2.2193964520049727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Germany</c:v>
                </c:pt>
              </c:strCache>
            </c:strRef>
          </c:tx>
          <c:spPr>
            <a:solidFill>
              <a:srgbClr val="3D85C6"/>
            </a:solidFill>
            <a:ln>
              <a:noFill/>
            </a:ln>
          </c:spPr>
          <c:dLbls>
            <c:dLbl>
              <c:idx val="0"/>
              <c:tx>
                <c:rich>
                  <a:bodyPr/>
                  <a:lstStyle/>
                  <a:p>
                    <a:r>
                      <a:rPr sz="1100">
                        <a:solidFill>
                          <a:srgbClr val="FFFFFF"/>
                        </a:solidFill>
                        <a:latin typeface="Calibri"/>
                      </a:rPr>
                      <a:t>1,054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1,089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1,125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1,163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1,204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1,247</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1,293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1,343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1,397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1,454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1,515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1,580</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1,646</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1,714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1,783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1,852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1054.22</c:v>
                </c:pt>
                <c:pt idx="1">
                  <c:v>1088.845</c:v>
                </c:pt>
                <c:pt idx="2">
                  <c:v>1125.145</c:v>
                </c:pt>
                <c:pt idx="3">
                  <c:v>1163.351</c:v>
                </c:pt>
                <c:pt idx="4">
                  <c:v>1203.771</c:v>
                </c:pt>
                <c:pt idx="5">
                  <c:v>1247.16</c:v>
                </c:pt>
                <c:pt idx="6">
                  <c:v>1293.486</c:v>
                </c:pt>
                <c:pt idx="7">
                  <c:v>1343.18</c:v>
                </c:pt>
                <c:pt idx="8">
                  <c:v>1396.648</c:v>
                </c:pt>
                <c:pt idx="9">
                  <c:v>1454.199</c:v>
                </c:pt>
                <c:pt idx="10">
                  <c:v>1515.357</c:v>
                </c:pt>
                <c:pt idx="11">
                  <c:v>1579.575</c:v>
                </c:pt>
                <c:pt idx="12">
                  <c:v>1645.934</c:v>
                </c:pt>
                <c:pt idx="13">
                  <c:v>1713.961</c:v>
                </c:pt>
                <c:pt idx="14">
                  <c:v>1782.699</c:v>
                </c:pt>
                <c:pt idx="15">
                  <c:v>1852.021</c:v>
                </c:pt>
              </c:numCache>
            </c:numRef>
          </c:val>
        </c:ser>
        <c:ser>
          <c:idx val="1"/>
          <c:order val="1"/>
          <c:tx>
            <c:strRef>
              <c:f>Sheet1!$C$1</c:f>
              <c:strCache>
                <c:ptCount val="1"/>
                <c:pt idx="0">
                  <c:v>U.K.</c:v>
                </c:pt>
              </c:strCache>
            </c:strRef>
          </c:tx>
          <c:spPr>
            <a:solidFill>
              <a:srgbClr val="9E7E0A"/>
            </a:solidFill>
            <a:ln>
              <a:noFill/>
            </a:ln>
          </c:spPr>
          <c:dLbls>
            <c:dLbl>
              <c:idx val="0"/>
              <c:tx>
                <c:rich>
                  <a:bodyPr/>
                  <a:lstStyle/>
                  <a:p>
                    <a:r>
                      <a:rPr sz="1100">
                        <a:solidFill>
                          <a:srgbClr val="FFFFFF"/>
                        </a:solidFill>
                        <a:latin typeface="Calibri"/>
                      </a:rPr>
                      <a:t>852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889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929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970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1,014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1,061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1,166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1,226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1,290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1,358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1,428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1,501</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1,577</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1,654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1,732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851.698</c:v>
                </c:pt>
                <c:pt idx="1">
                  <c:v>889.352</c:v>
                </c:pt>
                <c:pt idx="2">
                  <c:v>928.707</c:v>
                </c:pt>
                <c:pt idx="3">
                  <c:v>970.079</c:v>
                </c:pt>
                <c:pt idx="4">
                  <c:v>1013.756</c:v>
                </c:pt>
                <c:pt idx="5">
                  <c:v>1060.754</c:v>
                </c:pt>
                <c:pt idx="6">
                  <c:v>1111.458</c:v>
                </c:pt>
                <c:pt idx="7">
                  <c:v>1166.479</c:v>
                </c:pt>
                <c:pt idx="8">
                  <c:v>1226.115</c:v>
                </c:pt>
                <c:pt idx="9">
                  <c:v>1290.038</c:v>
                </c:pt>
                <c:pt idx="10">
                  <c:v>1357.507</c:v>
                </c:pt>
                <c:pt idx="11">
                  <c:v>1428.063</c:v>
                </c:pt>
                <c:pt idx="12">
                  <c:v>1501.23</c:v>
                </c:pt>
                <c:pt idx="13">
                  <c:v>1576.642</c:v>
                </c:pt>
                <c:pt idx="14">
                  <c:v>1653.61</c:v>
                </c:pt>
                <c:pt idx="15">
                  <c:v>1731.753</c:v>
                </c:pt>
              </c:numCache>
            </c:numRef>
          </c:val>
        </c:ser>
        <c:ser>
          <c:idx val="2"/>
          <c:order val="2"/>
          <c:tx>
            <c:strRef>
              <c:f>Sheet1!$D$1</c:f>
              <c:strCache>
                <c:ptCount val="1"/>
                <c:pt idx="0">
                  <c:v>France</c:v>
                </c:pt>
              </c:strCache>
            </c:strRef>
          </c:tx>
          <c:spPr>
            <a:solidFill>
              <a:srgbClr val="008189"/>
            </a:solidFill>
            <a:ln>
              <a:noFill/>
            </a:ln>
          </c:spPr>
          <c:dLbls>
            <c:dLbl>
              <c:idx val="0"/>
              <c:tx>
                <c:rich>
                  <a:bodyPr/>
                  <a:lstStyle/>
                  <a:p>
                    <a:r>
                      <a:rPr sz="1100">
                        <a:solidFill>
                          <a:srgbClr val="FFFFFF"/>
                        </a:solidFill>
                        <a:latin typeface="Calibri"/>
                      </a:rPr>
                      <a:t>806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836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867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900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934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970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1,009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1,050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1,094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1,142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1,193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1,248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1,305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1,363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1,423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1,484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805.746</c:v>
                </c:pt>
                <c:pt idx="1">
                  <c:v>835.997</c:v>
                </c:pt>
                <c:pt idx="2">
                  <c:v>867.376</c:v>
                </c:pt>
                <c:pt idx="3">
                  <c:v>900.158</c:v>
                </c:pt>
                <c:pt idx="4">
                  <c:v>934.268</c:v>
                </c:pt>
                <c:pt idx="5">
                  <c:v>970.494</c:v>
                </c:pt>
                <c:pt idx="6">
                  <c:v>1008.82</c:v>
                </c:pt>
                <c:pt idx="7">
                  <c:v>1049.954</c:v>
                </c:pt>
                <c:pt idx="8">
                  <c:v>1094.23</c:v>
                </c:pt>
                <c:pt idx="9">
                  <c:v>1142.069</c:v>
                </c:pt>
                <c:pt idx="10">
                  <c:v>1193.252</c:v>
                </c:pt>
                <c:pt idx="11">
                  <c:v>1247.62</c:v>
                </c:pt>
                <c:pt idx="12">
                  <c:v>1304.617</c:v>
                </c:pt>
                <c:pt idx="13">
                  <c:v>1363.408</c:v>
                </c:pt>
                <c:pt idx="14">
                  <c:v>1423.098</c:v>
                </c:pt>
                <c:pt idx="15">
                  <c:v>1483.534</c:v>
                </c:pt>
              </c:numCache>
            </c:numRef>
          </c:val>
        </c:ser>
        <c:ser>
          <c:idx val="3"/>
          <c:order val="3"/>
          <c:tx>
            <c:strRef>
              <c:f>Sheet1!$E$1</c:f>
              <c:strCache>
                <c:ptCount val="1"/>
                <c:pt idx="0">
                  <c:v>Rest of Europe</c:v>
                </c:pt>
              </c:strCache>
            </c:strRef>
          </c:tx>
          <c:spPr>
            <a:solidFill>
              <a:srgbClr val="40315E"/>
            </a:solidFill>
            <a:ln>
              <a:noFill/>
            </a:ln>
          </c:spPr>
          <c:dLbls>
            <c:dLbl>
              <c:idx val="2"/>
              <c:tx>
                <c:rich>
                  <a:bodyPr/>
                  <a:lstStyle/>
                  <a:p>
                    <a:r>
                      <a:rPr sz="1100">
                        <a:solidFill>
                          <a:srgbClr val="FFFFFF"/>
                        </a:solidFill>
                        <a:latin typeface="Calibri"/>
                      </a:rPr>
                      <a:t>809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847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887</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931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980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1,033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1,091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1,155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1,225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1,302</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1,383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1,468</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1,556</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1,647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740.849</c:v>
                </c:pt>
                <c:pt idx="1">
                  <c:v>774.051</c:v>
                </c:pt>
                <c:pt idx="2">
                  <c:v>809.243</c:v>
                </c:pt>
                <c:pt idx="3">
                  <c:v>846.799</c:v>
                </c:pt>
                <c:pt idx="4">
                  <c:v>887.069</c:v>
                </c:pt>
                <c:pt idx="5">
                  <c:v>931.283</c:v>
                </c:pt>
                <c:pt idx="6">
                  <c:v>979.637</c:v>
                </c:pt>
                <c:pt idx="7">
                  <c:v>1032.604</c:v>
                </c:pt>
                <c:pt idx="8">
                  <c:v>1090.67</c:v>
                </c:pt>
                <c:pt idx="9">
                  <c:v>1154.748</c:v>
                </c:pt>
                <c:pt idx="10">
                  <c:v>1225.212</c:v>
                </c:pt>
                <c:pt idx="11">
                  <c:v>1301.796</c:v>
                </c:pt>
                <c:pt idx="12">
                  <c:v>1383.078</c:v>
                </c:pt>
                <c:pt idx="13">
                  <c:v>1468.362</c:v>
                </c:pt>
                <c:pt idx="14">
                  <c:v>1556.298</c:v>
                </c:pt>
                <c:pt idx="15">
                  <c:v>1646.772</c:v>
                </c:pt>
              </c:numCache>
            </c:numRef>
          </c:val>
        </c:ser>
        <c:ser>
          <c:idx val="4"/>
          <c:order val="4"/>
          <c:tx>
            <c:strRef>
              <c:f>Sheet1!$F$1</c:f>
              <c:strCache>
                <c:ptCount val="1"/>
                <c:pt idx="0">
                  <c:v>Italy</c:v>
                </c:pt>
              </c:strCache>
            </c:strRef>
          </c:tx>
          <c:spPr>
            <a:solidFill>
              <a:srgbClr val="A35313"/>
            </a:solidFill>
            <a:ln>
              <a:noFill/>
            </a:ln>
          </c:spPr>
          <c:dLbls>
            <c:dLbl>
              <c:idx val="5"/>
              <c:tx>
                <c:rich>
                  <a:bodyPr/>
                  <a:lstStyle/>
                  <a:p>
                    <a:r>
                      <a:rPr sz="1100">
                        <a:solidFill>
                          <a:srgbClr val="FFFFFF"/>
                        </a:solidFill>
                        <a:latin typeface="Calibri"/>
                      </a:rPr>
                      <a:t>793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838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887</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941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999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1,061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1,128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1,199</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1,272</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1,347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1,425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611.833</c:v>
                </c:pt>
                <c:pt idx="1">
                  <c:v>643.3</c:v>
                </c:pt>
                <c:pt idx="2">
                  <c:v>676.859</c:v>
                </c:pt>
                <c:pt idx="3">
                  <c:v>712.703</c:v>
                </c:pt>
                <c:pt idx="4">
                  <c:v>751.117</c:v>
                </c:pt>
                <c:pt idx="5">
                  <c:v>792.852</c:v>
                </c:pt>
                <c:pt idx="6">
                  <c:v>838.105</c:v>
                </c:pt>
                <c:pt idx="7">
                  <c:v>887.323</c:v>
                </c:pt>
                <c:pt idx="8">
                  <c:v>940.783</c:v>
                </c:pt>
                <c:pt idx="9">
                  <c:v>998.901</c:v>
                </c:pt>
                <c:pt idx="10">
                  <c:v>1061.488</c:v>
                </c:pt>
                <c:pt idx="11">
                  <c:v>1128.317</c:v>
                </c:pt>
                <c:pt idx="12">
                  <c:v>1198.565</c:v>
                </c:pt>
                <c:pt idx="13">
                  <c:v>1271.765</c:v>
                </c:pt>
                <c:pt idx="14">
                  <c:v>1347.113</c:v>
                </c:pt>
                <c:pt idx="15">
                  <c:v>1424.554</c:v>
                </c:pt>
              </c:numCache>
            </c:numRef>
          </c:val>
        </c:ser>
        <c:ser>
          <c:idx val="5"/>
          <c:order val="5"/>
          <c:tx>
            <c:strRef>
              <c:f>Sheet1!$G$1</c:f>
              <c:strCache>
                <c:ptCount val="1"/>
                <c:pt idx="0">
                  <c:v>Russia</c:v>
                </c:pt>
              </c:strCache>
            </c:strRef>
          </c:tx>
          <c:spPr>
            <a:solidFill>
              <a:srgbClr val="808080"/>
            </a:solidFill>
            <a:ln>
              <a:noFill/>
            </a:ln>
          </c:spPr>
          <c:dLbls>
            <c:dLbl>
              <c:idx val="10"/>
              <c:tx>
                <c:rich>
                  <a:bodyPr/>
                  <a:lstStyle/>
                  <a:p>
                    <a:r>
                      <a:rPr sz="1100">
                        <a:solidFill>
                          <a:srgbClr val="FFFFFF"/>
                        </a:solidFill>
                        <a:latin typeface="Calibri"/>
                      </a:rPr>
                      <a:t>802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842</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883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926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969</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1,012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526.185</c:v>
                </c:pt>
                <c:pt idx="1">
                  <c:v>545.619</c:v>
                </c:pt>
                <c:pt idx="2">
                  <c:v>566.132</c:v>
                </c:pt>
                <c:pt idx="3">
                  <c:v>587.94</c:v>
                </c:pt>
                <c:pt idx="4">
                  <c:v>611.384</c:v>
                </c:pt>
                <c:pt idx="5">
                  <c:v>637.05</c:v>
                </c:pt>
                <c:pt idx="6">
                  <c:v>665.039</c:v>
                </c:pt>
                <c:pt idx="7">
                  <c:v>695.557</c:v>
                </c:pt>
                <c:pt idx="8">
                  <c:v>728.672</c:v>
                </c:pt>
                <c:pt idx="9">
                  <c:v>764.347</c:v>
                </c:pt>
                <c:pt idx="10">
                  <c:v>802.254</c:v>
                </c:pt>
                <c:pt idx="11">
                  <c:v>841.957</c:v>
                </c:pt>
                <c:pt idx="12">
                  <c:v>883.133</c:v>
                </c:pt>
                <c:pt idx="13">
                  <c:v>925.505</c:v>
                </c:pt>
                <c:pt idx="14">
                  <c:v>968.593</c:v>
                </c:pt>
                <c:pt idx="15">
                  <c:v>1012.296</c:v>
                </c:pt>
              </c:numCache>
            </c:numRef>
          </c:val>
        </c:ser>
        <c:ser>
          <c:idx val="6"/>
          <c:order val="6"/>
          <c:tx>
            <c:strRef>
              <c:f>Sheet1!$H$1</c:f>
              <c:strCache>
                <c:ptCount val="1"/>
                <c:pt idx="0">
                  <c:v>Spain</c:v>
                </c:pt>
              </c:strCache>
            </c:strRef>
          </c:tx>
          <c:spPr>
            <a:solidFill>
              <a:srgbClr val="0E72AE"/>
            </a:solidFill>
            <a:ln>
              <a:noFill/>
            </a:ln>
          </c:spPr>
          <c:dLbls>
            <c:dLbl>
              <c:idx val="8"/>
              <c:tx>
                <c:rich>
                  <a:bodyPr/>
                  <a:lstStyle/>
                  <a:p>
                    <a:r>
                      <a:rPr sz="1100">
                        <a:solidFill>
                          <a:srgbClr val="FFFFFF"/>
                        </a:solidFill>
                        <a:latin typeface="Calibri"/>
                      </a:rPr>
                      <a:t>812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869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931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998</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1,070</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1,145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1,224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1,305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508.663</c:v>
                </c:pt>
                <c:pt idx="1">
                  <c:v>536.521</c:v>
                </c:pt>
                <c:pt idx="2">
                  <c:v>566.527</c:v>
                </c:pt>
                <c:pt idx="3">
                  <c:v>598.842</c:v>
                </c:pt>
                <c:pt idx="4">
                  <c:v>633.624</c:v>
                </c:pt>
                <c:pt idx="5">
                  <c:v>671.797</c:v>
                </c:pt>
                <c:pt idx="6">
                  <c:v>713.738</c:v>
                </c:pt>
                <c:pt idx="7">
                  <c:v>760.327</c:v>
                </c:pt>
                <c:pt idx="8">
                  <c:v>812.093</c:v>
                </c:pt>
                <c:pt idx="9">
                  <c:v>869.158</c:v>
                </c:pt>
                <c:pt idx="10">
                  <c:v>931.313</c:v>
                </c:pt>
                <c:pt idx="11">
                  <c:v>998.233</c:v>
                </c:pt>
                <c:pt idx="12">
                  <c:v>1069.768</c:v>
                </c:pt>
                <c:pt idx="13">
                  <c:v>1145.257</c:v>
                </c:pt>
                <c:pt idx="14">
                  <c:v>1223.644</c:v>
                </c:pt>
                <c:pt idx="15">
                  <c:v>1304.592</c:v>
                </c:pt>
              </c:numCache>
            </c:numRef>
          </c:val>
        </c:ser>
        <c:ser>
          <c:idx val="7"/>
          <c:order val="7"/>
          <c:tx>
            <c:strRef>
              <c:f>Sheet1!$I$1</c:f>
              <c:strCache>
                <c:ptCount val="1"/>
                <c:pt idx="0">
                  <c:v>Nordic</c:v>
                </c:pt>
              </c:strCache>
            </c:strRef>
          </c:tx>
          <c:spPr>
            <a:solidFill>
              <a:srgbClr val="A86F00"/>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346.924</c:v>
                </c:pt>
                <c:pt idx="1">
                  <c:v>362.697</c:v>
                </c:pt>
                <c:pt idx="2">
                  <c:v>379.4</c:v>
                </c:pt>
                <c:pt idx="3">
                  <c:v>397.173</c:v>
                </c:pt>
                <c:pt idx="4">
                  <c:v>416.261</c:v>
                </c:pt>
                <c:pt idx="5">
                  <c:v>437.093</c:v>
                </c:pt>
                <c:pt idx="6">
                  <c:v>459.809</c:v>
                </c:pt>
                <c:pt idx="7">
                  <c:v>484.503</c:v>
                </c:pt>
                <c:pt idx="8">
                  <c:v>511.288</c:v>
                </c:pt>
                <c:pt idx="9">
                  <c:v>540.258</c:v>
                </c:pt>
                <c:pt idx="10">
                  <c:v>571.267</c:v>
                </c:pt>
                <c:pt idx="11">
                  <c:v>604.191</c:v>
                </c:pt>
                <c:pt idx="12">
                  <c:v>638.769</c:v>
                </c:pt>
                <c:pt idx="13">
                  <c:v>674.707</c:v>
                </c:pt>
                <c:pt idx="14">
                  <c:v>711.528</c:v>
                </c:pt>
                <c:pt idx="15">
                  <c:v>749.181</c:v>
                </c:pt>
              </c:numCache>
            </c:numRef>
          </c:val>
        </c:ser>
        <c:ser>
          <c:idx val="8"/>
          <c:order val="8"/>
          <c:tx>
            <c:strRef>
              <c:f>Sheet1!$J$1</c:f>
              <c:strCache>
                <c:ptCount val="1"/>
                <c:pt idx="0">
                  <c:v>Poland</c:v>
                </c:pt>
              </c:strCache>
            </c:strRef>
          </c:tx>
          <c:spPr>
            <a:solidFill>
              <a:srgbClr val="0B2E4A"/>
            </a:solidFill>
            <a:ln>
              <a:noFill/>
            </a:ln>
          </c:spPr>
          <c:dLbls>
            <c:dLbl>
              <c:idx val="15"/>
              <c:tx>
                <c:rich>
                  <a:bodyPr/>
                  <a:lstStyle/>
                  <a:p>
                    <a:r>
                      <a:rPr sz="1100">
                        <a:solidFill>
                          <a:srgbClr val="FFFFFF"/>
                        </a:solidFill>
                        <a:latin typeface="Calibri"/>
                      </a:rPr>
                      <a:t>793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325.232</c:v>
                </c:pt>
                <c:pt idx="1">
                  <c:v>342.666</c:v>
                </c:pt>
                <c:pt idx="2">
                  <c:v>361.082</c:v>
                </c:pt>
                <c:pt idx="3">
                  <c:v>380.467</c:v>
                </c:pt>
                <c:pt idx="4">
                  <c:v>400.99</c:v>
                </c:pt>
                <c:pt idx="5">
                  <c:v>423.414</c:v>
                </c:pt>
                <c:pt idx="6">
                  <c:v>447.921</c:v>
                </c:pt>
                <c:pt idx="7">
                  <c:v>475.018</c:v>
                </c:pt>
                <c:pt idx="8">
                  <c:v>505.095</c:v>
                </c:pt>
                <c:pt idx="9">
                  <c:v>538.479</c:v>
                </c:pt>
                <c:pt idx="10">
                  <c:v>574.975</c:v>
                </c:pt>
                <c:pt idx="11">
                  <c:v>614.389</c:v>
                </c:pt>
                <c:pt idx="12">
                  <c:v>656.224</c:v>
                </c:pt>
                <c:pt idx="13">
                  <c:v>700.126</c:v>
                </c:pt>
                <c:pt idx="14">
                  <c:v>745.58</c:v>
                </c:pt>
                <c:pt idx="15">
                  <c:v>792.535</c:v>
                </c:pt>
              </c:numCache>
            </c:numRef>
          </c:val>
        </c:ser>
        <c:ser>
          <c:idx val="9"/>
          <c:order val="9"/>
          <c:tx>
            <c:strRef>
              <c:f>Sheet1!$K$1</c:f>
              <c:strCache>
                <c:ptCount val="1"/>
                <c:pt idx="0">
                  <c:v>Netherlands</c:v>
                </c:pt>
              </c:strCache>
            </c:strRef>
          </c:tx>
          <c:spPr>
            <a:solidFill>
              <a:srgbClr val="6C7A89"/>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Sheet1!$K$2:$K$17</c:f>
              <c:numCache>
                <c:formatCode>General</c:formatCode>
                <c:ptCount val="16"/>
                <c:pt idx="0">
                  <c:v>240.418</c:v>
                </c:pt>
                <c:pt idx="1">
                  <c:v>252.489</c:v>
                </c:pt>
                <c:pt idx="2">
                  <c:v>265.299</c:v>
                </c:pt>
                <c:pt idx="3">
                  <c:v>279.044</c:v>
                </c:pt>
                <c:pt idx="4">
                  <c:v>293.786</c:v>
                </c:pt>
                <c:pt idx="5">
                  <c:v>309.917</c:v>
                </c:pt>
                <c:pt idx="6">
                  <c:v>327.421</c:v>
                </c:pt>
                <c:pt idx="7">
                  <c:v>346.645</c:v>
                </c:pt>
                <c:pt idx="8">
                  <c:v>367.881</c:v>
                </c:pt>
                <c:pt idx="9">
                  <c:v>391.477</c:v>
                </c:pt>
                <c:pt idx="10">
                  <c:v>417.316</c:v>
                </c:pt>
                <c:pt idx="11">
                  <c:v>445.09</c:v>
                </c:pt>
                <c:pt idx="12">
                  <c:v>474.299</c:v>
                </c:pt>
                <c:pt idx="13">
                  <c:v>504.839</c:v>
                </c:pt>
                <c:pt idx="14">
                  <c:v>536.379</c:v>
                </c:pt>
                <c:pt idx="15">
                  <c:v>568.847</c:v>
                </c:pt>
              </c:numCache>
            </c:numRef>
          </c:val>
        </c:ser>
        <c:ser>
          <c:idx val="10"/>
          <c:order val="10"/>
          <c:tx>
            <c:strRef>
              <c:f>Sheet1!$L$1</c:f>
              <c:strCache>
                <c:ptCount val="1"/>
                <c:pt idx="0">
                  <c:v>Belgium</c:v>
                </c:pt>
              </c:strCache>
            </c:strRef>
          </c:tx>
          <c:spPr>
            <a:solidFill>
              <a:srgbClr val="B2B2B2"/>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Sheet1!$L$2:$L$17</c:f>
              <c:numCache>
                <c:formatCode>General</c:formatCode>
                <c:ptCount val="16"/>
                <c:pt idx="0">
                  <c:v>187.057</c:v>
                </c:pt>
                <c:pt idx="1">
                  <c:v>192.765</c:v>
                </c:pt>
                <c:pt idx="2">
                  <c:v>198.724</c:v>
                </c:pt>
                <c:pt idx="3">
                  <c:v>204.967</c:v>
                </c:pt>
                <c:pt idx="4">
                  <c:v>211.552</c:v>
                </c:pt>
                <c:pt idx="5">
                  <c:v>218.66</c:v>
                </c:pt>
                <c:pt idx="6">
                  <c:v>226.315</c:v>
                </c:pt>
                <c:pt idx="7">
                  <c:v>234.58</c:v>
                </c:pt>
                <c:pt idx="8">
                  <c:v>243.449</c:v>
                </c:pt>
                <c:pt idx="9">
                  <c:v>252.952</c:v>
                </c:pt>
                <c:pt idx="10">
                  <c:v>263.035</c:v>
                </c:pt>
                <c:pt idx="11">
                  <c:v>273.613</c:v>
                </c:pt>
                <c:pt idx="12">
                  <c:v>284.563</c:v>
                </c:pt>
                <c:pt idx="13">
                  <c:v>295.779</c:v>
                </c:pt>
                <c:pt idx="14">
                  <c:v>307.094</c:v>
                </c:pt>
                <c:pt idx="15">
                  <c:v>318.48</c:v>
                </c:pt>
              </c:numCache>
            </c:numRef>
          </c:val>
        </c:ser>
        <c:ser>
          <c:idx val="11"/>
          <c:order val="11"/>
          <c:tx>
            <c:strRef>
              <c:f>Sheet1!$M$1</c:f>
              <c:strCache>
                <c:ptCount val="1"/>
                <c:pt idx="0">
                  <c:v>Switzerland</c:v>
                </c:pt>
              </c:strCache>
            </c:strRef>
          </c:tx>
          <c:spPr>
            <a:solidFill>
              <a:srgbClr val="5F5F5F"/>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Sheet1!$M$2:$M$17</c:f>
              <c:numCache>
                <c:formatCode>General</c:formatCode>
                <c:ptCount val="16"/>
                <c:pt idx="0">
                  <c:v>156.526</c:v>
                </c:pt>
                <c:pt idx="1">
                  <c:v>160.497</c:v>
                </c:pt>
                <c:pt idx="2">
                  <c:v>164.528</c:v>
                </c:pt>
                <c:pt idx="3">
                  <c:v>168.647</c:v>
                </c:pt>
                <c:pt idx="4">
                  <c:v>172.917</c:v>
                </c:pt>
                <c:pt idx="5">
                  <c:v>177.537</c:v>
                </c:pt>
                <c:pt idx="6">
                  <c:v>182.567</c:v>
                </c:pt>
                <c:pt idx="7">
                  <c:v>188.066</c:v>
                </c:pt>
                <c:pt idx="8">
                  <c:v>194.049</c:v>
                </c:pt>
                <c:pt idx="9">
                  <c:v>200.49</c:v>
                </c:pt>
                <c:pt idx="10">
                  <c:v>207.289</c:v>
                </c:pt>
                <c:pt idx="11">
                  <c:v>214.393</c:v>
                </c:pt>
                <c:pt idx="12">
                  <c:v>221.716</c:v>
                </c:pt>
                <c:pt idx="13">
                  <c:v>229.18</c:v>
                </c:pt>
                <c:pt idx="14">
                  <c:v>236.691</c:v>
                </c:pt>
                <c:pt idx="15">
                  <c:v>244.233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Germany</c:v>
                </c:pt>
              </c:strCache>
            </c:strRef>
          </c:tx>
          <c:spPr>
            <a:solidFill>
              <a:srgbClr val="3D85C6"/>
            </a:solidFill>
            <a:ln>
              <a:noFill/>
            </a:ln>
          </c:spPr>
          <c:dLbls>
            <c:dLbl>
              <c:idx val="0"/>
              <c:tx>
                <c:rich>
                  <a:bodyPr/>
                  <a:lstStyle/>
                  <a:p>
                    <a:r>
                      <a:rPr sz="1100">
                        <a:solidFill>
                          <a:srgbClr val="FFFFFF"/>
                        </a:solidFill>
                        <a:latin typeface="Calibri"/>
                      </a:rPr>
                      <a:t>3,693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3,828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3,971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4,125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4,288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4,480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4,689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4,918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5,167</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5,441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5,739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6,060</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6,403</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6,765</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7,147</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7,547</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3693.185</c:v>
                </c:pt>
                <c:pt idx="1">
                  <c:v>3828.363</c:v>
                </c:pt>
                <c:pt idx="2">
                  <c:v>3971.265</c:v>
                </c:pt>
                <c:pt idx="3">
                  <c:v>4124.577</c:v>
                </c:pt>
                <c:pt idx="4">
                  <c:v>4287.715</c:v>
                </c:pt>
                <c:pt idx="5">
                  <c:v>4479.528</c:v>
                </c:pt>
                <c:pt idx="6">
                  <c:v>4688.843</c:v>
                </c:pt>
                <c:pt idx="7">
                  <c:v>4917.657</c:v>
                </c:pt>
                <c:pt idx="8">
                  <c:v>5167.289</c:v>
                </c:pt>
                <c:pt idx="9">
                  <c:v>5441.483</c:v>
                </c:pt>
                <c:pt idx="10">
                  <c:v>5739.122</c:v>
                </c:pt>
                <c:pt idx="11">
                  <c:v>6060.355</c:v>
                </c:pt>
                <c:pt idx="12">
                  <c:v>6402.685</c:v>
                </c:pt>
                <c:pt idx="13">
                  <c:v>6765.219</c:v>
                </c:pt>
                <c:pt idx="14">
                  <c:v>7146.719</c:v>
                </c:pt>
                <c:pt idx="15">
                  <c:v>7546.552</c:v>
                </c:pt>
              </c:numCache>
            </c:numRef>
          </c:val>
        </c:ser>
        <c:ser>
          <c:idx val="1"/>
          <c:order val="1"/>
          <c:tx>
            <c:strRef>
              <c:f>Sheet1!$C$1</c:f>
              <c:strCache>
                <c:ptCount val="1"/>
                <c:pt idx="0">
                  <c:v>U.K.</c:v>
                </c:pt>
              </c:strCache>
            </c:strRef>
          </c:tx>
          <c:spPr>
            <a:solidFill>
              <a:srgbClr val="9E7E0A"/>
            </a:solidFill>
            <a:ln>
              <a:noFill/>
            </a:ln>
          </c:spPr>
          <c:dLbls>
            <c:dLbl>
              <c:idx val="1"/>
              <c:tx>
                <c:rich>
                  <a:bodyPr/>
                  <a:lstStyle/>
                  <a:p>
                    <a:r>
                      <a:rPr sz="1100">
                        <a:solidFill>
                          <a:srgbClr val="FFFFFF"/>
                        </a:solidFill>
                        <a:latin typeface="Calibri"/>
                      </a:rPr>
                      <a:t>3,052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3,197</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3,353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3,519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3,713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3,925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4,160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4,418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4,700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5,004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5,331</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5,678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6,046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6,435</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6,843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2914.169</c:v>
                </c:pt>
                <c:pt idx="1">
                  <c:v>3051.66</c:v>
                </c:pt>
                <c:pt idx="2">
                  <c:v>3196.959</c:v>
                </c:pt>
                <c:pt idx="3">
                  <c:v>3352.958</c:v>
                </c:pt>
                <c:pt idx="4">
                  <c:v>3519.397</c:v>
                </c:pt>
                <c:pt idx="5">
                  <c:v>3712.863</c:v>
                </c:pt>
                <c:pt idx="6">
                  <c:v>3925.379</c:v>
                </c:pt>
                <c:pt idx="7">
                  <c:v>4159.682</c:v>
                </c:pt>
                <c:pt idx="8">
                  <c:v>4417.682</c:v>
                </c:pt>
                <c:pt idx="9">
                  <c:v>4699.514</c:v>
                </c:pt>
                <c:pt idx="10">
                  <c:v>5004.014</c:v>
                </c:pt>
                <c:pt idx="11">
                  <c:v>5330.757</c:v>
                </c:pt>
                <c:pt idx="12">
                  <c:v>5678.132</c:v>
                </c:pt>
                <c:pt idx="13">
                  <c:v>6046.452</c:v>
                </c:pt>
                <c:pt idx="14">
                  <c:v>6435.18</c:v>
                </c:pt>
                <c:pt idx="15">
                  <c:v>6843.372</c:v>
                </c:pt>
              </c:numCache>
            </c:numRef>
          </c:val>
        </c:ser>
        <c:ser>
          <c:idx val="2"/>
          <c:order val="2"/>
          <c:tx>
            <c:strRef>
              <c:f>Sheet1!$D$1</c:f>
              <c:strCache>
                <c:ptCount val="1"/>
                <c:pt idx="0">
                  <c:v>France</c:v>
                </c:pt>
              </c:strCache>
            </c:strRef>
          </c:tx>
          <c:spPr>
            <a:solidFill>
              <a:srgbClr val="008189"/>
            </a:solidFill>
            <a:ln>
              <a:noFill/>
            </a:ln>
          </c:spPr>
          <c:dLbls>
            <c:dLbl>
              <c:idx val="3"/>
              <c:tx>
                <c:rich>
                  <a:bodyPr/>
                  <a:lstStyle/>
                  <a:p>
                    <a:r>
                      <a:rPr sz="1100">
                        <a:solidFill>
                          <a:srgbClr val="FFFFFF"/>
                        </a:solidFill>
                        <a:latin typeface="Calibri"/>
                      </a:rPr>
                      <a:t>3,044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3,172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3,322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3,485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3,663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3,860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4,077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4,315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4,575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4,855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5,153</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5,468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5,800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2699.013</c:v>
                </c:pt>
                <c:pt idx="1">
                  <c:v>2807.748</c:v>
                </c:pt>
                <c:pt idx="2">
                  <c:v>2922.031</c:v>
                </c:pt>
                <c:pt idx="3">
                  <c:v>3044.081</c:v>
                </c:pt>
                <c:pt idx="4">
                  <c:v>3172.418</c:v>
                </c:pt>
                <c:pt idx="5">
                  <c:v>3322.152</c:v>
                </c:pt>
                <c:pt idx="6">
                  <c:v>3484.741</c:v>
                </c:pt>
                <c:pt idx="7">
                  <c:v>3663.326</c:v>
                </c:pt>
                <c:pt idx="8">
                  <c:v>3859.597</c:v>
                </c:pt>
                <c:pt idx="9">
                  <c:v>4077.053</c:v>
                </c:pt>
                <c:pt idx="10">
                  <c:v>4315.174</c:v>
                </c:pt>
                <c:pt idx="11">
                  <c:v>4574.791</c:v>
                </c:pt>
                <c:pt idx="12">
                  <c:v>4854.943</c:v>
                </c:pt>
                <c:pt idx="13">
                  <c:v>5153.235</c:v>
                </c:pt>
                <c:pt idx="14">
                  <c:v>5468.099</c:v>
                </c:pt>
                <c:pt idx="15">
                  <c:v>5799.726</c:v>
                </c:pt>
              </c:numCache>
            </c:numRef>
          </c:val>
        </c:ser>
        <c:ser>
          <c:idx val="3"/>
          <c:order val="3"/>
          <c:tx>
            <c:strRef>
              <c:f>Sheet1!$E$1</c:f>
              <c:strCache>
                <c:ptCount val="1"/>
                <c:pt idx="0">
                  <c:v>Rest of Europe</c:v>
                </c:pt>
              </c:strCache>
            </c:strRef>
          </c:tx>
          <c:spPr>
            <a:solidFill>
              <a:srgbClr val="40315E"/>
            </a:solidFill>
            <a:ln>
              <a:noFill/>
            </a:ln>
          </c:spPr>
          <c:dLbls>
            <c:dLbl>
              <c:idx val="6"/>
              <c:tx>
                <c:rich>
                  <a:bodyPr/>
                  <a:lstStyle/>
                  <a:p>
                    <a:r>
                      <a:rPr sz="1100">
                        <a:solidFill>
                          <a:srgbClr val="FFFFFF"/>
                        </a:solidFill>
                        <a:latin typeface="Calibri"/>
                      </a:rPr>
                      <a:t>3,043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3,244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3,468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3,720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4,002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4,316</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4,658</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5,026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5,420</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5,839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2221.601</c:v>
                </c:pt>
                <c:pt idx="1">
                  <c:v>2328.401</c:v>
                </c:pt>
                <c:pt idx="2">
                  <c:v>2442.55</c:v>
                </c:pt>
                <c:pt idx="3">
                  <c:v>2566.816</c:v>
                </c:pt>
                <c:pt idx="4">
                  <c:v>2701.509</c:v>
                </c:pt>
                <c:pt idx="5">
                  <c:v>2862.987</c:v>
                </c:pt>
                <c:pt idx="6">
                  <c:v>3043.007</c:v>
                </c:pt>
                <c:pt idx="7">
                  <c:v>3243.928</c:v>
                </c:pt>
                <c:pt idx="8">
                  <c:v>3468.144</c:v>
                </c:pt>
                <c:pt idx="9">
                  <c:v>3720.069</c:v>
                </c:pt>
                <c:pt idx="10">
                  <c:v>4002.369</c:v>
                </c:pt>
                <c:pt idx="11">
                  <c:v>4316.341</c:v>
                </c:pt>
                <c:pt idx="12">
                  <c:v>4657.879</c:v>
                </c:pt>
                <c:pt idx="13">
                  <c:v>5026.142</c:v>
                </c:pt>
                <c:pt idx="14">
                  <c:v>5419.636</c:v>
                </c:pt>
                <c:pt idx="15">
                  <c:v>5838.991</c:v>
                </c:pt>
              </c:numCache>
            </c:numRef>
          </c:val>
        </c:ser>
        <c:ser>
          <c:idx val="4"/>
          <c:order val="4"/>
          <c:tx>
            <c:strRef>
              <c:f>Sheet1!$F$1</c:f>
              <c:strCache>
                <c:ptCount val="1"/>
                <c:pt idx="0">
                  <c:v>Italy</c:v>
                </c:pt>
              </c:strCache>
            </c:strRef>
          </c:tx>
          <c:spPr>
            <a:solidFill>
              <a:srgbClr val="A35313"/>
            </a:solidFill>
            <a:ln>
              <a:noFill/>
            </a:ln>
          </c:spPr>
          <c:dLbls>
            <c:dLbl>
              <c:idx val="8"/>
              <c:tx>
                <c:rich>
                  <a:bodyPr/>
                  <a:lstStyle/>
                  <a:p>
                    <a:r>
                      <a:rPr sz="1100">
                        <a:solidFill>
                          <a:srgbClr val="FFFFFF"/>
                        </a:solidFill>
                        <a:latin typeface="Calibri"/>
                      </a:rPr>
                      <a:t>3,096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3,327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3,580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3,857</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4,155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4,474</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4,814</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5,176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Sheet1!$F$2:$F$17</c:f>
              <c:numCache>
                <c:formatCode>General</c:formatCode>
                <c:ptCount val="16"/>
                <c:pt idx="0">
                  <c:v>1908.96</c:v>
                </c:pt>
                <c:pt idx="1">
                  <c:v>2013.135</c:v>
                </c:pt>
                <c:pt idx="2">
                  <c:v>2125.37</c:v>
                </c:pt>
                <c:pt idx="3">
                  <c:v>2247.414</c:v>
                </c:pt>
                <c:pt idx="4">
                  <c:v>2379.308</c:v>
                </c:pt>
                <c:pt idx="5">
                  <c:v>2532.481</c:v>
                </c:pt>
                <c:pt idx="6">
                  <c:v>2701.649</c:v>
                </c:pt>
                <c:pt idx="7">
                  <c:v>2889.101</c:v>
                </c:pt>
                <c:pt idx="8">
                  <c:v>3096.39</c:v>
                </c:pt>
                <c:pt idx="9">
                  <c:v>3326.746</c:v>
                </c:pt>
                <c:pt idx="10">
                  <c:v>3580.117</c:v>
                </c:pt>
                <c:pt idx="11">
                  <c:v>3856.712</c:v>
                </c:pt>
                <c:pt idx="12">
                  <c:v>4154.597</c:v>
                </c:pt>
                <c:pt idx="13">
                  <c:v>4474.014</c:v>
                </c:pt>
                <c:pt idx="14">
                  <c:v>4813.974</c:v>
                </c:pt>
                <c:pt idx="15">
                  <c:v>5175.604</c:v>
                </c:pt>
              </c:numCache>
            </c:numRef>
          </c:val>
        </c:ser>
        <c:ser>
          <c:idx val="5"/>
          <c:order val="5"/>
          <c:tx>
            <c:strRef>
              <c:f>Sheet1!$G$1</c:f>
              <c:strCache>
                <c:ptCount val="1"/>
                <c:pt idx="0">
                  <c:v>Spain</c:v>
                </c:pt>
              </c:strCache>
            </c:strRef>
          </c:tx>
          <c:spPr>
            <a:solidFill>
              <a:srgbClr val="808080"/>
            </a:solidFill>
            <a:ln>
              <a:noFill/>
            </a:ln>
          </c:spPr>
          <c:dLbls>
            <c:dLbl>
              <c:idx val="10"/>
              <c:tx>
                <c:rich>
                  <a:bodyPr/>
                  <a:lstStyle/>
                  <a:p>
                    <a:r>
                      <a:rPr sz="1100">
                        <a:solidFill>
                          <a:srgbClr val="FFFFFF"/>
                        </a:solidFill>
                        <a:latin typeface="Calibri"/>
                      </a:rPr>
                      <a:t>3,010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3,265</a:t>
                    </a:r>
                  </a:p>
                </c:rich>
              </c:tx>
              <c:dLblPos val="ctr"/>
              <c:showLegendKey val="0"/>
              <c:showVal val="1"/>
              <c:showCatName val="0"/>
              <c:showSerName val="0"/>
              <c:showPercent val="0"/>
              <c:showBubbleSize val="0"/>
            </c:dLbl>
            <c:dLbl>
              <c:idx val="12"/>
              <c:tx>
                <c:rich>
                  <a:bodyPr/>
                  <a:lstStyle/>
                  <a:p>
                    <a:r>
                      <a:rPr sz="1100">
                        <a:solidFill>
                          <a:srgbClr val="FFFFFF"/>
                        </a:solidFill>
                        <a:latin typeface="Calibri"/>
                      </a:rPr>
                      <a:t>3,545</a:t>
                    </a:r>
                  </a:p>
                </c:rich>
              </c:tx>
              <c:dLblPos val="ctr"/>
              <c:showLegendKey val="0"/>
              <c:showVal val="1"/>
              <c:showCatName val="0"/>
              <c:showSerName val="0"/>
              <c:showPercent val="0"/>
              <c:showBubbleSize val="0"/>
            </c:dLbl>
            <c:dLbl>
              <c:idx val="13"/>
              <c:tx>
                <c:rich>
                  <a:bodyPr/>
                  <a:lstStyle/>
                  <a:p>
                    <a:r>
                      <a:rPr sz="1100">
                        <a:solidFill>
                          <a:srgbClr val="FFFFFF"/>
                        </a:solidFill>
                        <a:latin typeface="Calibri"/>
                      </a:rPr>
                      <a:t>3,846</a:t>
                    </a:r>
                  </a:p>
                </c:rich>
              </c:tx>
              <c:dLblPos val="ctr"/>
              <c:showLegendKey val="0"/>
              <c:showVal val="1"/>
              <c:showCatName val="0"/>
              <c:showSerName val="0"/>
              <c:showPercent val="0"/>
              <c:showBubbleSize val="0"/>
            </c:dLbl>
            <c:dLbl>
              <c:idx val="14"/>
              <c:tx>
                <c:rich>
                  <a:bodyPr/>
                  <a:lstStyle/>
                  <a:p>
                    <a:r>
                      <a:rPr sz="1100">
                        <a:solidFill>
                          <a:srgbClr val="FFFFFF"/>
                        </a:solidFill>
                        <a:latin typeface="Calibri"/>
                      </a:rPr>
                      <a:t>4,168</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4,511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Sheet1!$G$2:$G$17</c:f>
              <c:numCache>
                <c:formatCode>General</c:formatCode>
                <c:ptCount val="16"/>
                <c:pt idx="0">
                  <c:v>1528.473</c:v>
                </c:pt>
                <c:pt idx="1">
                  <c:v>1617.42</c:v>
                </c:pt>
                <c:pt idx="2">
                  <c:v>1713.802</c:v>
                </c:pt>
                <c:pt idx="3">
                  <c:v>1819.076</c:v>
                </c:pt>
                <c:pt idx="4">
                  <c:v>1933.194</c:v>
                </c:pt>
                <c:pt idx="5">
                  <c:v>2066.044</c:v>
                </c:pt>
                <c:pt idx="6">
                  <c:v>2213.972</c:v>
                </c:pt>
                <c:pt idx="7">
                  <c:v>2380.411</c:v>
                </c:pt>
                <c:pt idx="8">
                  <c:v>2567.551</c:v>
                </c:pt>
                <c:pt idx="9">
                  <c:v>2777.216</c:v>
                </c:pt>
                <c:pt idx="10">
                  <c:v>3009.76</c:v>
                </c:pt>
                <c:pt idx="11">
                  <c:v>3265.345</c:v>
                </c:pt>
                <c:pt idx="12">
                  <c:v>3544.585</c:v>
                </c:pt>
                <c:pt idx="13">
                  <c:v>3846.122</c:v>
                </c:pt>
                <c:pt idx="14">
                  <c:v>4168.453</c:v>
                </c:pt>
                <c:pt idx="15">
                  <c:v>4511.334</c:v>
                </c:pt>
              </c:numCache>
            </c:numRef>
          </c:val>
        </c:ser>
        <c:ser>
          <c:idx val="6"/>
          <c:order val="6"/>
          <c:tx>
            <c:strRef>
              <c:f>Sheet1!$H$1</c:f>
              <c:strCache>
                <c:ptCount val="1"/>
                <c:pt idx="0">
                  <c:v>Russia</c:v>
                </c:pt>
              </c:strCache>
            </c:strRef>
          </c:tx>
          <c:spPr>
            <a:solidFill>
              <a:srgbClr val="0E72AE"/>
            </a:solidFill>
            <a:ln>
              <a:noFill/>
            </a:ln>
          </c:spPr>
          <c:dLbls>
            <c:dLbl>
              <c:idx val="14"/>
              <c:tx>
                <c:rich>
                  <a:bodyPr/>
                  <a:lstStyle/>
                  <a:p>
                    <a:r>
                      <a:rPr sz="1100">
                        <a:solidFill>
                          <a:srgbClr val="FFFFFF"/>
                        </a:solidFill>
                        <a:latin typeface="Calibri"/>
                      </a:rPr>
                      <a:t>3,023</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3,212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Sheet1!$H$2:$H$17</c:f>
              <c:numCache>
                <c:formatCode>General</c:formatCode>
                <c:ptCount val="16"/>
                <c:pt idx="0">
                  <c:v>1426.549</c:v>
                </c:pt>
                <c:pt idx="1">
                  <c:v>1484.234</c:v>
                </c:pt>
                <c:pt idx="2">
                  <c:v>1545.813</c:v>
                </c:pt>
                <c:pt idx="3">
                  <c:v>1612.782</c:v>
                </c:pt>
                <c:pt idx="4">
                  <c:v>1685.343</c:v>
                </c:pt>
                <c:pt idx="5">
                  <c:v>1772.033</c:v>
                </c:pt>
                <c:pt idx="6">
                  <c:v>1867.899</c:v>
                </c:pt>
                <c:pt idx="7">
                  <c:v>1973.997</c:v>
                </c:pt>
                <c:pt idx="8">
                  <c:v>2090.878</c:v>
                </c:pt>
                <c:pt idx="9">
                  <c:v>2219.721</c:v>
                </c:pt>
                <c:pt idx="10">
                  <c:v>2359.937</c:v>
                </c:pt>
                <c:pt idx="11">
                  <c:v>2510.939</c:v>
                </c:pt>
                <c:pt idx="12">
                  <c:v>2671.921</c:v>
                </c:pt>
                <c:pt idx="13">
                  <c:v>2842.691</c:v>
                </c:pt>
                <c:pt idx="14">
                  <c:v>3022.75</c:v>
                </c:pt>
                <c:pt idx="15">
                  <c:v>3211.881</c:v>
                </c:pt>
              </c:numCache>
            </c:numRef>
          </c:val>
        </c:ser>
        <c:ser>
          <c:idx val="7"/>
          <c:order val="7"/>
          <c:tx>
            <c:strRef>
              <c:f>Sheet1!$I$1</c:f>
              <c:strCache>
                <c:ptCount val="1"/>
                <c:pt idx="0">
                  <c:v>Nordic</c:v>
                </c:pt>
              </c:strCache>
            </c:strRef>
          </c:tx>
          <c:spPr>
            <a:solidFill>
              <a:srgbClr val="A86F00"/>
            </a:solidFill>
            <a:ln>
              <a:noFill/>
            </a:ln>
          </c:spPr>
          <c:dLbls>
            <c:dLbl>
              <c:idx val="14"/>
              <c:tx>
                <c:rich>
                  <a:bodyPr/>
                  <a:lstStyle/>
                  <a:p>
                    <a:r>
                      <a:rPr sz="1100">
                        <a:solidFill>
                          <a:srgbClr val="FFFFFF"/>
                        </a:solidFill>
                        <a:latin typeface="Calibri"/>
                      </a:rPr>
                      <a:t>3,002</a:t>
                    </a:r>
                  </a:p>
                </c:rich>
              </c:tx>
              <c:dLblPos val="ctr"/>
              <c:showLegendKey val="0"/>
              <c:showVal val="1"/>
              <c:showCatName val="0"/>
              <c:showSerName val="0"/>
              <c:showPercent val="0"/>
              <c:showBubbleSize val="0"/>
            </c:dLbl>
            <c:dLbl>
              <c:idx val="15"/>
              <c:tx>
                <c:rich>
                  <a:bodyPr/>
                  <a:lstStyle/>
                  <a:p>
                    <a:r>
                      <a:rPr sz="1100">
                        <a:solidFill>
                          <a:srgbClr val="FFFFFF"/>
                        </a:solidFill>
                        <a:latin typeface="Calibri"/>
                      </a:rPr>
                      <a:t>3,218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Sheet1!$I$2:$I$17</c:f>
              <c:numCache>
                <c:formatCode>General</c:formatCode>
                <c:ptCount val="16"/>
                <c:pt idx="0">
                  <c:v>1260.925</c:v>
                </c:pt>
                <c:pt idx="1">
                  <c:v>1322.193</c:v>
                </c:pt>
                <c:pt idx="2">
                  <c:v>1387.886</c:v>
                </c:pt>
                <c:pt idx="3">
                  <c:v>1459.251</c:v>
                </c:pt>
                <c:pt idx="4">
                  <c:v>1536.64</c:v>
                </c:pt>
                <c:pt idx="5">
                  <c:v>1628.51</c:v>
                </c:pt>
                <c:pt idx="6">
                  <c:v>1730.818</c:v>
                </c:pt>
                <c:pt idx="7">
                  <c:v>1844.487</c:v>
                </c:pt>
                <c:pt idx="8">
                  <c:v>1970.404</c:v>
                </c:pt>
                <c:pt idx="9">
                  <c:v>2109.647</c:v>
                </c:pt>
                <c:pt idx="10">
                  <c:v>2262.061</c:v>
                </c:pt>
                <c:pt idx="11">
                  <c:v>2427.91</c:v>
                </c:pt>
                <c:pt idx="12">
                  <c:v>2606.986</c:v>
                </c:pt>
                <c:pt idx="13">
                  <c:v>2798.669</c:v>
                </c:pt>
                <c:pt idx="14">
                  <c:v>3002.408</c:v>
                </c:pt>
                <c:pt idx="15">
                  <c:v>3218.065</c:v>
                </c:pt>
              </c:numCache>
            </c:numRef>
          </c:val>
        </c:ser>
        <c:ser>
          <c:idx val="8"/>
          <c:order val="8"/>
          <c:tx>
            <c:strRef>
              <c:f>Sheet1!$J$1</c:f>
              <c:strCache>
                <c:ptCount val="1"/>
                <c:pt idx="0">
                  <c:v>Poland</c:v>
                </c:pt>
              </c:strCache>
            </c:strRef>
          </c:tx>
          <c:spPr>
            <a:solidFill>
              <a:srgbClr val="0B2E4A"/>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Sheet1!$J$2:$J$17</c:f>
              <c:numCache>
                <c:formatCode>General</c:formatCode>
                <c:ptCount val="16"/>
                <c:pt idx="0">
                  <c:v>909.065</c:v>
                </c:pt>
                <c:pt idx="1">
                  <c:v>961.305</c:v>
                </c:pt>
                <c:pt idx="2">
                  <c:v>1016.942</c:v>
                </c:pt>
                <c:pt idx="3">
                  <c:v>1076.507</c:v>
                </c:pt>
                <c:pt idx="4">
                  <c:v>1140.088</c:v>
                </c:pt>
                <c:pt idx="5">
                  <c:v>1214.379</c:v>
                </c:pt>
                <c:pt idx="6">
                  <c:v>1296.893</c:v>
                </c:pt>
                <c:pt idx="7">
                  <c:v>1389.415</c:v>
                </c:pt>
                <c:pt idx="8">
                  <c:v>1493.382</c:v>
                </c:pt>
                <c:pt idx="9">
                  <c:v>1610.468</c:v>
                </c:pt>
                <c:pt idx="10">
                  <c:v>1740.855</c:v>
                </c:pt>
                <c:pt idx="11">
                  <c:v>1884.943</c:v>
                </c:pt>
                <c:pt idx="12">
                  <c:v>2041.699</c:v>
                </c:pt>
                <c:pt idx="13">
                  <c:v>2210.843</c:v>
                </c:pt>
                <c:pt idx="14">
                  <c:v>2391.489</c:v>
                </c:pt>
                <c:pt idx="15">
                  <c:v>2583.979</c:v>
                </c:pt>
              </c:numCache>
            </c:numRef>
          </c:val>
        </c:ser>
        <c:ser>
          <c:idx val="9"/>
          <c:order val="9"/>
          <c:tx>
            <c:strRef>
              <c:f>Sheet1!$K$1</c:f>
              <c:strCache>
                <c:ptCount val="1"/>
                <c:pt idx="0">
                  <c:v>Netherlands</c:v>
                </c:pt>
              </c:strCache>
            </c:strRef>
          </c:tx>
          <c:spPr>
            <a:solidFill>
              <a:srgbClr val="6C7A89"/>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Sheet1!$K$2:$K$17</c:f>
              <c:numCache>
                <c:formatCode>General</c:formatCode>
                <c:ptCount val="16"/>
                <c:pt idx="0">
                  <c:v>818.488</c:v>
                </c:pt>
                <c:pt idx="1">
                  <c:v>862.394</c:v>
                </c:pt>
                <c:pt idx="2">
                  <c:v>909.382</c:v>
                </c:pt>
                <c:pt idx="3">
                  <c:v>960.684</c:v>
                </c:pt>
                <c:pt idx="4">
                  <c:v>1016.165</c:v>
                </c:pt>
                <c:pt idx="5">
                  <c:v>1081.445</c:v>
                </c:pt>
                <c:pt idx="6">
                  <c:v>1153.841</c:v>
                </c:pt>
                <c:pt idx="7">
                  <c:v>1234.88</c:v>
                </c:pt>
                <c:pt idx="8">
                  <c:v>1325.925</c:v>
                </c:pt>
                <c:pt idx="9">
                  <c:v>1428.969</c:v>
                </c:pt>
                <c:pt idx="10">
                  <c:v>1543.965</c:v>
                </c:pt>
                <c:pt idx="11">
                  <c:v>1670.587</c:v>
                </c:pt>
                <c:pt idx="12">
                  <c:v>1807.488</c:v>
                </c:pt>
                <c:pt idx="13">
                  <c:v>1954.911</c:v>
                </c:pt>
                <c:pt idx="14">
                  <c:v>2112.444</c:v>
                </c:pt>
                <c:pt idx="15">
                  <c:v>2280.477</c:v>
                </c:pt>
              </c:numCache>
            </c:numRef>
          </c:val>
        </c:ser>
        <c:ser>
          <c:idx val="10"/>
          <c:order val="10"/>
          <c:tx>
            <c:strRef>
              <c:f>Sheet1!$L$1</c:f>
              <c:strCache>
                <c:ptCount val="1"/>
                <c:pt idx="0">
                  <c:v>Belgium</c:v>
                </c:pt>
              </c:strCache>
            </c:strRef>
          </c:tx>
          <c:spPr>
            <a:solidFill>
              <a:srgbClr val="B2B2B2"/>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Sheet1!$L$2:$L$17</c:f>
              <c:numCache>
                <c:formatCode>General</c:formatCode>
                <c:ptCount val="16"/>
                <c:pt idx="0">
                  <c:v>646.576</c:v>
                </c:pt>
                <c:pt idx="1">
                  <c:v>668.702</c:v>
                </c:pt>
                <c:pt idx="2">
                  <c:v>692.011</c:v>
                </c:pt>
                <c:pt idx="3">
                  <c:v>716.987</c:v>
                </c:pt>
                <c:pt idx="4">
                  <c:v>743.533</c:v>
                </c:pt>
                <c:pt idx="5">
                  <c:v>775.156</c:v>
                </c:pt>
                <c:pt idx="6">
                  <c:v>809.818</c:v>
                </c:pt>
                <c:pt idx="7">
                  <c:v>847.932</c:v>
                </c:pt>
                <c:pt idx="8">
                  <c:v>889.638</c:v>
                </c:pt>
                <c:pt idx="9">
                  <c:v>935.321</c:v>
                </c:pt>
                <c:pt idx="10">
                  <c:v>985.008</c:v>
                </c:pt>
                <c:pt idx="11">
                  <c:v>1038.634</c:v>
                </c:pt>
                <c:pt idx="12">
                  <c:v>1095.855</c:v>
                </c:pt>
                <c:pt idx="13">
                  <c:v>1156.49</c:v>
                </c:pt>
                <c:pt idx="14">
                  <c:v>1220.104</c:v>
                </c:pt>
                <c:pt idx="15">
                  <c:v>1286.815</c:v>
                </c:pt>
              </c:numCache>
            </c:numRef>
          </c:val>
        </c:ser>
        <c:ser>
          <c:idx val="11"/>
          <c:order val="11"/>
          <c:tx>
            <c:strRef>
              <c:f>Sheet1!$M$1</c:f>
              <c:strCache>
                <c:ptCount val="1"/>
                <c:pt idx="0">
                  <c:v>Switzerland</c:v>
                </c:pt>
              </c:strCache>
            </c:strRef>
          </c:tx>
          <c:spPr>
            <a:solidFill>
              <a:srgbClr val="5F5F5F"/>
            </a:solidFill>
            <a:ln>
              <a:noFill/>
            </a:ln>
          </c:spP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Sheet1!$M$2:$M$17</c:f>
              <c:numCache>
                <c:formatCode>General</c:formatCode>
                <c:ptCount val="16"/>
                <c:pt idx="0">
                  <c:v>595.997</c:v>
                </c:pt>
                <c:pt idx="1">
                  <c:v>613.128</c:v>
                </c:pt>
                <c:pt idx="2">
                  <c:v>630.838</c:v>
                </c:pt>
                <c:pt idx="3">
                  <c:v>649.546</c:v>
                </c:pt>
                <c:pt idx="4">
                  <c:v>669.18</c:v>
                </c:pt>
                <c:pt idx="5">
                  <c:v>693.249</c:v>
                </c:pt>
                <c:pt idx="6">
                  <c:v>719.943</c:v>
                </c:pt>
                <c:pt idx="7">
                  <c:v>749.679</c:v>
                </c:pt>
                <c:pt idx="8">
                  <c:v>782.551</c:v>
                </c:pt>
                <c:pt idx="9">
                  <c:v>818.764</c:v>
                </c:pt>
                <c:pt idx="10">
                  <c:v>858.001</c:v>
                </c:pt>
                <c:pt idx="11">
                  <c:v>900.266</c:v>
                </c:pt>
                <c:pt idx="12">
                  <c:v>945.34</c:v>
                </c:pt>
                <c:pt idx="13">
                  <c:v>993.071</c:v>
                </c:pt>
                <c:pt idx="14">
                  <c:v>1043.38</c:v>
                </c:pt>
                <c:pt idx="15">
                  <c:v>1096.227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Rollstock Films</c:v>
                </c:pt>
              </c:strCache>
            </c:strRef>
          </c:tx>
          <c:spPr>
            <a:solidFill>
              <a:srgbClr val="3D85C6"/>
            </a:solidFill>
            <a:ln>
              <a:noFill/>
            </a:ln>
          </c:spPr>
          <c:dLbls>
            <c:dLbl>
              <c:idx val="0"/>
              <c:tx>
                <c:rich>
                  <a:bodyPr/>
                  <a:lstStyle/>
                  <a:p>
                    <a:r>
                      <a:rPr sz="1100">
                        <a:solidFill>
                          <a:srgbClr val="FFFFFF"/>
                        </a:solidFill>
                        <a:latin typeface="Calibri"/>
                      </a:rPr>
                      <a:t>54%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54%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54%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54%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54%</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55%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52%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52%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Sheet1!$B$2:$B$13</c:f>
              <c:numCache>
                <c:formatCode>General</c:formatCode>
                <c:ptCount val="12"/>
                <c:pt idx="0">
                  <c:v>54.08035554647391</c:v>
                </c:pt>
                <c:pt idx="1">
                  <c:v>54.669199015243834</c:v>
                </c:pt>
                <c:pt idx="2">
                  <c:v>54.849689275396905</c:v>
                </c:pt>
                <c:pt idx="3">
                  <c:v>54.04562267945005</c:v>
                </c:pt>
                <c:pt idx="4">
                  <c:v>54.74756513167686</c:v>
                </c:pt>
                <c:pt idx="5">
                  <c:v>53.99906216992997</c:v>
                </c:pt>
                <c:pt idx="6">
                  <c:v>54.30299456812673</c:v>
                </c:pt>
                <c:pt idx="7">
                  <c:v>54.30243503946593</c:v>
                </c:pt>
                <c:pt idx="8">
                  <c:v>54.710098573554276</c:v>
                </c:pt>
                <c:pt idx="9">
                  <c:v>54.56126673919059</c:v>
                </c:pt>
                <c:pt idx="10">
                  <c:v>51.97889228325092</c:v>
                </c:pt>
                <c:pt idx="11">
                  <c:v>52.21576055074696</c:v>
                </c:pt>
              </c:numCache>
            </c:numRef>
          </c:val>
        </c:ser>
        <c:ser>
          <c:idx val="1"/>
          <c:order val="1"/>
          <c:tx>
            <c:strRef>
              <c:f>Sheet1!$C$1</c:f>
              <c:strCache>
                <c:ptCount val="1"/>
                <c:pt idx="0">
                  <c:v>Barrier Casings</c:v>
                </c:pt>
              </c:strCache>
            </c:strRef>
          </c:tx>
          <c:spPr>
            <a:solidFill>
              <a:srgbClr val="9E7E0A"/>
            </a:solidFill>
            <a:ln>
              <a:noFill/>
            </a:ln>
          </c:spPr>
          <c:dLbls>
            <c:dLbl>
              <c:idx val="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Sheet1!$C$2:$C$13</c:f>
              <c:numCache>
                <c:formatCode>General</c:formatCode>
                <c:ptCount val="12"/>
                <c:pt idx="0">
                  <c:v>10.979558996851019</c:v>
                </c:pt>
                <c:pt idx="1">
                  <c:v>10.873116280804716</c:v>
                </c:pt>
                <c:pt idx="2">
                  <c:v>11.21770191837143</c:v>
                </c:pt>
                <c:pt idx="3">
                  <c:v>11.011819760075355</c:v>
                </c:pt>
                <c:pt idx="4">
                  <c:v>10.666750106946777</c:v>
                </c:pt>
                <c:pt idx="5">
                  <c:v>11.217758983886911</c:v>
                </c:pt>
                <c:pt idx="6">
                  <c:v>10.694683502776895</c:v>
                </c:pt>
                <c:pt idx="7">
                  <c:v>11.073335595227148</c:v>
                </c:pt>
                <c:pt idx="8">
                  <c:v>10.676359071887827</c:v>
                </c:pt>
                <c:pt idx="9">
                  <c:v>10.76166913741276</c:v>
                </c:pt>
                <c:pt idx="10">
                  <c:v>10.586766118584196</c:v>
                </c:pt>
                <c:pt idx="11">
                  <c:v>10.646837210800006</c:v>
                </c:pt>
              </c:numCache>
            </c:numRef>
          </c:val>
        </c:ser>
        <c:ser>
          <c:idx val="2"/>
          <c:order val="2"/>
          <c:tx>
            <c:strRef>
              <c:f>Sheet1!$D$1</c:f>
              <c:strCache>
                <c:ptCount val="1"/>
                <c:pt idx="0">
                  <c:v>Premade Pouches &amp; Bags</c:v>
                </c:pt>
              </c:strCache>
            </c:strRef>
          </c:tx>
          <c:spPr>
            <a:solidFill>
              <a:srgbClr val="008189"/>
            </a:solidFill>
            <a:ln>
              <a:noFill/>
            </a:ln>
          </c:spPr>
          <c:dLbls>
            <c:dLbl>
              <c:idx val="0"/>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Sheet1!$D$2:$D$13</c:f>
              <c:numCache>
                <c:formatCode>General</c:formatCode>
                <c:ptCount val="12"/>
                <c:pt idx="0">
                  <c:v>29.396713092531847</c:v>
                </c:pt>
                <c:pt idx="1">
                  <c:v>28.15095553676672</c:v>
                </c:pt>
                <c:pt idx="2">
                  <c:v>28.75123439141653</c:v>
                </c:pt>
                <c:pt idx="3">
                  <c:v>28.970447890810213</c:v>
                </c:pt>
                <c:pt idx="4">
                  <c:v>28.866009231982037</c:v>
                </c:pt>
                <c:pt idx="5">
                  <c:v>29.313187077832755</c:v>
                </c:pt>
                <c:pt idx="6">
                  <c:v>28.750491816723873</c:v>
                </c:pt>
                <c:pt idx="7">
                  <c:v>28.38654193790715</c:v>
                </c:pt>
                <c:pt idx="8">
                  <c:v>28.15794873209615</c:v>
                </c:pt>
                <c:pt idx="9">
                  <c:v>28.71473363895686</c:v>
                </c:pt>
                <c:pt idx="10">
                  <c:v>28.301668153749894</c:v>
                </c:pt>
                <c:pt idx="11">
                  <c:v>28.497998622152025</c:v>
                </c:pt>
              </c:numCache>
            </c:numRef>
          </c:val>
        </c:ser>
        <c:ser>
          <c:idx val="3"/>
          <c:order val="3"/>
          <c:tx>
            <c:strRef>
              <c:f>Sheet1!$E$1</c:f>
              <c:strCache>
                <c:ptCount val="1"/>
                <c:pt idx="0">
                  <c:v>Sachets &amp; Stick Packs</c:v>
                </c:pt>
              </c:strCache>
            </c:strRef>
          </c:tx>
          <c:spPr>
            <a:solidFill>
              <a:srgbClr val="40315E"/>
            </a:solidFill>
            <a:ln>
              <a:noFill/>
            </a:ln>
          </c:spPr>
          <c:dLbls>
            <c:dLbl>
              <c:idx val="10"/>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Sheet1!$E$2:$E$13</c:f>
              <c:numCache>
                <c:formatCode>General</c:formatCode>
                <c:ptCount val="12"/>
                <c:pt idx="0">
                  <c:v>5.5433723641432255</c:v>
                </c:pt>
                <c:pt idx="1">
                  <c:v>6.306729167184742</c:v>
                </c:pt>
                <c:pt idx="2">
                  <c:v>5.181374414815154</c:v>
                </c:pt>
                <c:pt idx="3">
                  <c:v>5.97210966966437</c:v>
                </c:pt>
                <c:pt idx="4">
                  <c:v>5.71967552939433</c:v>
                </c:pt>
                <c:pt idx="5">
                  <c:v>5.469991768350379</c:v>
                </c:pt>
                <c:pt idx="6">
                  <c:v>6.2518301123725015</c:v>
                </c:pt>
                <c:pt idx="7">
                  <c:v>6.237687427399779</c:v>
                </c:pt>
                <c:pt idx="8">
                  <c:v>6.455593622461735</c:v>
                </c:pt>
                <c:pt idx="9">
                  <c:v>5.9623304844397795</c:v>
                </c:pt>
                <c:pt idx="10">
                  <c:v>9.132673444414992</c:v>
                </c:pt>
                <c:pt idx="11">
                  <c:v>8.639403616301008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Rollstock Films</c:v>
                </c:pt>
              </c:strCache>
            </c:strRef>
          </c:tx>
          <c:spPr>
            <a:solidFill>
              <a:srgbClr val="3D85C6"/>
            </a:solidFill>
          </c:spPr>
          <c:invertIfNegative val="0"/>
          <c:xVal>
            <c:numRef>
              <c:f>Sheet1!$A$2:$A$2</c:f>
              <c:numCache>
                <c:formatCode>General</c:formatCode>
                <c:ptCount val="1"/>
                <c:pt idx="0">
                  <c:v>100.0857237279052</c:v>
                </c:pt>
              </c:numCache>
            </c:numRef>
          </c:xVal>
          <c:yVal>
            <c:numRef>
              <c:f>Sheet1!$B$2:$B$2</c:f>
              <c:numCache>
                <c:formatCode>General</c:formatCode>
                <c:ptCount val="1"/>
                <c:pt idx="0">
                  <c:v>214.9497554190037</c:v>
                </c:pt>
              </c:numCache>
            </c:numRef>
          </c:yVal>
          <c:bubbleSize>
            <c:numRef>
              <c:f>Sheet1!$C$2:$C$2</c:f>
              <c:numCache>
                <c:formatCode>General</c:formatCode>
                <c:ptCount val="1"/>
                <c:pt idx="0">
                  <c:v>26556.576</c:v>
                </c:pt>
              </c:numCache>
            </c:numRef>
          </c:bubbleSize>
          <c:bubble3D val="0"/>
        </c:ser>
        <c:ser>
          <c:idx val="1"/>
          <c:order val="1"/>
          <c:tx>
            <c:strRef>
              <c:f>Sheet1!$B$4</c:f>
              <c:strCache>
                <c:ptCount val="1"/>
                <c:pt idx="0">
                  <c:v>Barrier Casings</c:v>
                </c:pt>
              </c:strCache>
            </c:strRef>
          </c:tx>
          <c:spPr>
            <a:solidFill>
              <a:srgbClr val="9E7E0A"/>
            </a:solidFill>
          </c:spPr>
          <c:invertIfNegative val="0"/>
          <c:xVal>
            <c:numRef>
              <c:f>Sheet1!$A$5:$A$5</c:f>
              <c:numCache>
                <c:formatCode>General</c:formatCode>
                <c:ptCount val="1"/>
                <c:pt idx="0">
                  <c:v>97.01746570005268</c:v>
                </c:pt>
              </c:numCache>
            </c:numRef>
          </c:xVal>
          <c:yVal>
            <c:numRef>
              <c:f>Sheet1!$B$5:$B$5</c:f>
              <c:numCache>
                <c:formatCode>General</c:formatCode>
                <c:ptCount val="1"/>
                <c:pt idx="0">
                  <c:v>44.0099126160077</c:v>
                </c:pt>
              </c:numCache>
            </c:numRef>
          </c:yVal>
          <c:bubbleSize>
            <c:numRef>
              <c:f>Sheet1!$C$5:$C$5</c:f>
              <c:numCache>
                <c:formatCode>General</c:formatCode>
                <c:ptCount val="1"/>
                <c:pt idx="0">
                  <c:v>5335.356000000001</c:v>
                </c:pt>
              </c:numCache>
            </c:numRef>
          </c:bubbleSize>
          <c:bubble3D val="0"/>
        </c:ser>
        <c:ser>
          <c:idx val="2"/>
          <c:order val="2"/>
          <c:tx>
            <c:strRef>
              <c:f>Sheet1!$B$7</c:f>
              <c:strCache>
                <c:ptCount val="1"/>
                <c:pt idx="0">
                  <c:v>Premade Pouches &amp; Bags</c:v>
                </c:pt>
              </c:strCache>
            </c:strRef>
          </c:tx>
          <c:spPr>
            <a:solidFill>
              <a:srgbClr val="008189"/>
            </a:solidFill>
          </c:spPr>
          <c:invertIfNegative val="0"/>
          <c:xVal>
            <c:numRef>
              <c:f>Sheet1!$A$8:$A$8</c:f>
              <c:numCache>
                <c:formatCode>General</c:formatCode>
                <c:ptCount val="1"/>
                <c:pt idx="0">
                  <c:v>102.06541807000535</c:v>
                </c:pt>
              </c:numCache>
            </c:numRef>
          </c:xVal>
          <c:yVal>
            <c:numRef>
              <c:f>Sheet1!$B$8:$B$8</c:f>
              <c:numCache>
                <c:formatCode>General</c:formatCode>
                <c:ptCount val="1"/>
                <c:pt idx="0">
                  <c:v>112.92276920521533</c:v>
                </c:pt>
              </c:numCache>
            </c:numRef>
          </c:yVal>
          <c:bubbleSize>
            <c:numRef>
              <c:f>Sheet1!$C$8:$C$8</c:f>
              <c:numCache>
                <c:formatCode>General</c:formatCode>
                <c:ptCount val="1"/>
                <c:pt idx="0">
                  <c:v>14122.563</c:v>
                </c:pt>
              </c:numCache>
            </c:numRef>
          </c:bubbleSize>
          <c:bubble3D val="0"/>
        </c:ser>
        <c:ser>
          <c:idx val="3"/>
          <c:order val="3"/>
          <c:tx>
            <c:strRef>
              <c:f>Sheet1!$B$10</c:f>
              <c:strCache>
                <c:ptCount val="1"/>
                <c:pt idx="0">
                  <c:v>Sachets &amp; Stick Packs</c:v>
                </c:pt>
              </c:strCache>
            </c:strRef>
          </c:tx>
          <c:spPr>
            <a:solidFill>
              <a:srgbClr val="40315E"/>
            </a:solidFill>
          </c:spPr>
          <c:invertIfNegative val="0"/>
          <c:xVal>
            <c:numRef>
              <c:f>Sheet1!$A$11:$A$11</c:f>
              <c:numCache>
                <c:formatCode>General</c:formatCode>
                <c:ptCount val="1"/>
                <c:pt idx="0">
                  <c:v>95.57791129240528</c:v>
                </c:pt>
              </c:numCache>
            </c:numRef>
          </c:xVal>
          <c:yVal>
            <c:numRef>
              <c:f>Sheet1!$B$11:$B$11</c:f>
              <c:numCache>
                <c:formatCode>General</c:formatCode>
                <c:ptCount val="1"/>
                <c:pt idx="0">
                  <c:v>28.117562759773225</c:v>
                </c:pt>
              </c:numCache>
            </c:numRef>
          </c:yVal>
          <c:bubbleSize>
            <c:numRef>
              <c:f>Sheet1!$C$11:$C$11</c:f>
              <c:numCache>
                <c:formatCode>General</c:formatCode>
                <c:ptCount val="1"/>
                <c:pt idx="0">
                  <c:v>3378.528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7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14047.412</c:v>
                </c:pt>
                <c:pt idx="2">
                  <c:v>15740.365</c:v>
                </c:pt>
                <c:pt idx="3">
                  <c:v>17819.047</c:v>
                </c:pt>
                <c:pt idx="4">
                  <c:v>20333.315</c:v>
                </c:pt>
                <c:pt idx="5">
                  <c:v>23258.412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14047.412</c:v>
                </c:pt>
                <c:pt idx="1">
                  <c:v>1692.9529999999995</c:v>
                </c:pt>
                <c:pt idx="2">
                  <c:v>2078.681999999999</c:v>
                </c:pt>
                <c:pt idx="3">
                  <c:v>2514.268</c:v>
                </c:pt>
                <c:pt idx="4">
                  <c:v>2925.0970000000016</c:v>
                </c:pt>
                <c:pt idx="5">
                  <c:v>3298.1640000000007</c:v>
                </c:pt>
                <c:pt idx="6">
                  <c:v>26556.576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2876.139</c:v>
                </c:pt>
                <c:pt idx="2">
                  <c:v>3217.886</c:v>
                </c:pt>
                <c:pt idx="3">
                  <c:v>3632.158</c:v>
                </c:pt>
                <c:pt idx="4">
                  <c:v>4126.85</c:v>
                </c:pt>
                <c:pt idx="5">
                  <c:v>4697.027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2876.139</c:v>
                </c:pt>
                <c:pt idx="1">
                  <c:v>341.74699999999984</c:v>
                </c:pt>
                <c:pt idx="2">
                  <c:v>414.27199999999993</c:v>
                </c:pt>
                <c:pt idx="3">
                  <c:v>494.69200000000046</c:v>
                </c:pt>
                <c:pt idx="4">
                  <c:v>570.1769999999997</c:v>
                </c:pt>
                <c:pt idx="5">
                  <c:v>638.3290000000006</c:v>
                </c:pt>
                <c:pt idx="6">
                  <c:v>5335.356000000001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7379.737</c:v>
                </c:pt>
                <c:pt idx="2">
                  <c:v>8287.493</c:v>
                </c:pt>
                <c:pt idx="3">
                  <c:v>9405.207</c:v>
                </c:pt>
                <c:pt idx="4">
                  <c:v>10758.469000000001</c:v>
                </c:pt>
                <c:pt idx="5">
                  <c:v>12335.716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7379.737</c:v>
                </c:pt>
                <c:pt idx="1">
                  <c:v>907.7560000000003</c:v>
                </c:pt>
                <c:pt idx="2">
                  <c:v>1117.714</c:v>
                </c:pt>
                <c:pt idx="3">
                  <c:v>1353.2620000000006</c:v>
                </c:pt>
                <c:pt idx="4">
                  <c:v>1577.2469999999994</c:v>
                </c:pt>
                <c:pt idx="5">
                  <c:v>1786.8469999999998</c:v>
                </c:pt>
                <c:pt idx="6">
                  <c:v>14122.563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1837.541</c:v>
                </c:pt>
                <c:pt idx="2">
                  <c:v>2048.751</c:v>
                </c:pt>
                <c:pt idx="3">
                  <c:v>2308.556</c:v>
                </c:pt>
                <c:pt idx="4">
                  <c:v>2618.9480000000003</c:v>
                </c:pt>
                <c:pt idx="5">
                  <c:v>2976.703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1837.541</c:v>
                </c:pt>
                <c:pt idx="1">
                  <c:v>211.21000000000026</c:v>
                </c:pt>
                <c:pt idx="2">
                  <c:v>259.80499999999984</c:v>
                </c:pt>
                <c:pt idx="3">
                  <c:v>310.3920000000003</c:v>
                </c:pt>
                <c:pt idx="4">
                  <c:v>357.75499999999965</c:v>
                </c:pt>
                <c:pt idx="5">
                  <c:v>401.8249999999998</c:v>
                </c:pt>
                <c:pt idx="6">
                  <c:v>3378.528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Rollstock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53.76140492466688</c:v>
                </c:pt>
                <c:pt idx="1">
                  <c:v>53.73743885475093</c:v>
                </c:pt>
                <c:pt idx="2">
                  <c:v>53.76584462141546</c:v>
                </c:pt>
              </c:numCache>
            </c:numRef>
          </c:val>
        </c:ser>
        <c:ser>
          <c:idx val="1"/>
          <c:order val="1"/>
          <c:tx>
            <c:strRef>
              <c:f>Sheet1!$C$1</c:f>
              <c:strCache>
                <c:ptCount val="1"/>
                <c:pt idx="0">
                  <c:v>Premade Pouches &amp; Bags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28.115130103046603</c:v>
                </c:pt>
                <c:pt idx="1">
                  <c:v>28.230692301303833</c:v>
                </c:pt>
                <c:pt idx="2">
                  <c:v>28.592222427851805</c:v>
                </c:pt>
              </c:numCache>
            </c:numRef>
          </c:val>
        </c:ser>
        <c:ser>
          <c:idx val="2"/>
          <c:order val="2"/>
          <c:tx>
            <c:strRef>
              <c:f>Sheet1!$D$1</c:f>
              <c:strCache>
                <c:ptCount val="1"/>
                <c:pt idx="0">
                  <c:v>Barrier Casings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10.966639721022146</c:v>
                </c:pt>
                <c:pt idx="1">
                  <c:v>11.002478154001926</c:v>
                </c:pt>
                <c:pt idx="2">
                  <c:v>10.80184138557383</c:v>
                </c:pt>
              </c:numCache>
            </c:numRef>
          </c:val>
        </c:ser>
        <c:ser>
          <c:idx val="3"/>
          <c:order val="3"/>
          <c:tx>
            <c:strRef>
              <c:f>Sheet1!$E$1</c:f>
              <c:strCache>
                <c:ptCount val="1"/>
                <c:pt idx="0">
                  <c:v>Sachets &amp; Stick Packs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7.156825251264378</c:v>
                </c:pt>
                <c:pt idx="1">
                  <c:v>7.029390689943306</c:v>
                </c:pt>
                <c:pt idx="2">
                  <c:v>6.840091565158908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PE-Based</c:v>
                </c:pt>
              </c:strCache>
            </c:strRef>
          </c:tx>
          <c:spPr>
            <a:solidFill>
              <a:srgbClr val="3D85C6"/>
            </a:solidFill>
            <a:ln>
              <a:noFill/>
            </a:ln>
          </c:spPr>
          <c:dLbls>
            <c:dLbl>
              <c:idx val="0"/>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Sheet1!$B$2:$B$13</c:f>
              <c:numCache>
                <c:formatCode>General</c:formatCode>
                <c:ptCount val="12"/>
                <c:pt idx="0">
                  <c:v>31.465472023586354</c:v>
                </c:pt>
                <c:pt idx="1">
                  <c:v>31.831873137842763</c:v>
                </c:pt>
                <c:pt idx="2">
                  <c:v>31.65421093920263</c:v>
                </c:pt>
                <c:pt idx="3">
                  <c:v>31.293520574277107</c:v>
                </c:pt>
                <c:pt idx="4">
                  <c:v>31.363967520579845</c:v>
                </c:pt>
                <c:pt idx="5">
                  <c:v>31.549508307163364</c:v>
                </c:pt>
                <c:pt idx="6">
                  <c:v>31.88535807812058</c:v>
                </c:pt>
                <c:pt idx="7">
                  <c:v>31.954357404469114</c:v>
                </c:pt>
                <c:pt idx="8">
                  <c:v>32.02811650067606</c:v>
                </c:pt>
                <c:pt idx="9">
                  <c:v>31.21416011773267</c:v>
                </c:pt>
                <c:pt idx="10">
                  <c:v>32.08632643580877</c:v>
                </c:pt>
                <c:pt idx="11">
                  <c:v>32.150501600002436</c:v>
                </c:pt>
              </c:numCache>
            </c:numRef>
          </c:val>
        </c:ser>
        <c:ser>
          <c:idx val="1"/>
          <c:order val="1"/>
          <c:tx>
            <c:strRef>
              <c:f>Sheet1!$C$1</c:f>
              <c:strCache>
                <c:ptCount val="1"/>
                <c:pt idx="0">
                  <c:v>PP-Based</c:v>
                </c:pt>
              </c:strCache>
            </c:strRef>
          </c:tx>
          <c:spPr>
            <a:solidFill>
              <a:srgbClr val="9E7E0A"/>
            </a:solidFill>
            <a:ln>
              <a:noFill/>
            </a:ln>
          </c:spPr>
          <c:dLbls>
            <c:dLbl>
              <c:idx val="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Sheet1!$C$2:$C$13</c:f>
              <c:numCache>
                <c:formatCode>General</c:formatCode>
                <c:ptCount val="12"/>
                <c:pt idx="0">
                  <c:v>20.00835593357945</c:v>
                </c:pt>
                <c:pt idx="1">
                  <c:v>19.923703037113363</c:v>
                </c:pt>
                <c:pt idx="2">
                  <c:v>20.142847307822006</c:v>
                </c:pt>
                <c:pt idx="3">
                  <c:v>19.910146328588578</c:v>
                </c:pt>
                <c:pt idx="4">
                  <c:v>19.949001830703512</c:v>
                </c:pt>
                <c:pt idx="5">
                  <c:v>20.072304297052952</c:v>
                </c:pt>
                <c:pt idx="6">
                  <c:v>19.97972218416992</c:v>
                </c:pt>
                <c:pt idx="7">
                  <c:v>20.018339888445865</c:v>
                </c:pt>
                <c:pt idx="8">
                  <c:v>20.05325768838045</c:v>
                </c:pt>
                <c:pt idx="9">
                  <c:v>19.85623886044695</c:v>
                </c:pt>
                <c:pt idx="10">
                  <c:v>20.0958211688885</c:v>
                </c:pt>
                <c:pt idx="11">
                  <c:v>20.12968573325748</c:v>
                </c:pt>
              </c:numCache>
            </c:numRef>
          </c:val>
        </c:ser>
        <c:ser>
          <c:idx val="2"/>
          <c:order val="2"/>
          <c:tx>
            <c:strRef>
              <c:f>Sheet1!$D$1</c:f>
              <c:strCache>
                <c:ptCount val="1"/>
                <c:pt idx="0">
                  <c:v>PET-Based</c:v>
                </c:pt>
              </c:strCache>
            </c:strRef>
          </c:tx>
          <c:spPr>
            <a:solidFill>
              <a:srgbClr val="008189"/>
            </a:solidFill>
            <a:ln>
              <a:noFill/>
            </a:ln>
          </c:spPr>
          <c:dLbls>
            <c:dLbl>
              <c:idx val="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10%</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10%</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Sheet1!$D$2:$D$13</c:f>
              <c:numCache>
                <c:formatCode>General</c:formatCode>
                <c:ptCount val="12"/>
                <c:pt idx="0">
                  <c:v>9.956514481033581</c:v>
                </c:pt>
                <c:pt idx="1">
                  <c:v>10.071929587337408</c:v>
                </c:pt>
                <c:pt idx="2">
                  <c:v>10.01483461574048</c:v>
                </c:pt>
                <c:pt idx="3">
                  <c:v>9.900893157413428</c:v>
                </c:pt>
                <c:pt idx="4">
                  <c:v>9.923689552536208</c:v>
                </c:pt>
                <c:pt idx="5">
                  <c:v>9.982113480581193</c:v>
                </c:pt>
                <c:pt idx="6">
                  <c:v>10.087681382047974</c:v>
                </c:pt>
                <c:pt idx="7">
                  <c:v>10.1096992737466</c:v>
                </c:pt>
                <c:pt idx="8">
                  <c:v>10.133633899256617</c:v>
                </c:pt>
                <c:pt idx="9">
                  <c:v>9.876055640435137</c:v>
                </c:pt>
                <c:pt idx="10">
                  <c:v>10.151733655318804</c:v>
                </c:pt>
                <c:pt idx="11">
                  <c:v>9.671437985379015</c:v>
                </c:pt>
              </c:numCache>
            </c:numRef>
          </c:val>
        </c:ser>
        <c:ser>
          <c:idx val="3"/>
          <c:order val="3"/>
          <c:tx>
            <c:strRef>
              <c:f>Sheet1!$E$1</c:f>
              <c:strCache>
                <c:ptCount val="1"/>
                <c:pt idx="0">
                  <c:v>PA-Based</c:v>
                </c:pt>
              </c:strCache>
            </c:strRef>
          </c:tx>
          <c:spPr>
            <a:solidFill>
              <a:srgbClr val="40315E"/>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Sheet1!$E$2:$E$13</c:f>
              <c:numCache>
                <c:formatCode>General</c:formatCode>
                <c:ptCount val="12"/>
                <c:pt idx="0">
                  <c:v>8.104160908279033</c:v>
                </c:pt>
                <c:pt idx="1">
                  <c:v>8.069930852477514</c:v>
                </c:pt>
                <c:pt idx="2">
                  <c:v>8.030644466048113</c:v>
                </c:pt>
                <c:pt idx="3">
                  <c:v>8.06361042407852</c:v>
                </c:pt>
                <c:pt idx="4">
                  <c:v>8.079847316836243</c:v>
                </c:pt>
                <c:pt idx="5">
                  <c:v>8.12954115919313</c:v>
                </c:pt>
                <c:pt idx="6">
                  <c:v>8.091486908306946</c:v>
                </c:pt>
                <c:pt idx="7">
                  <c:v>8.107304963826442</c:v>
                </c:pt>
                <c:pt idx="8">
                  <c:v>8.121952657763487</c:v>
                </c:pt>
                <c:pt idx="9">
                  <c:v>8.042091518894274</c:v>
                </c:pt>
                <c:pt idx="10">
                  <c:v>8.138983510032261</c:v>
                </c:pt>
                <c:pt idx="11">
                  <c:v>8.152929729090811</c:v>
                </c:pt>
              </c:numCache>
            </c:numRef>
          </c:val>
        </c:ser>
        <c:ser>
          <c:idx val="4"/>
          <c:order val="4"/>
          <c:tx>
            <c:strRef>
              <c:f>Sheet1!$F$1</c:f>
              <c:strCache>
                <c:ptCount val="1"/>
                <c:pt idx="0">
                  <c:v>EVOH-Based</c:v>
                </c:pt>
              </c:strCache>
            </c:strRef>
          </c:tx>
          <c:spPr>
            <a:solidFill>
              <a:srgbClr val="A35313"/>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Sheet1!$F$2:$F$13</c:f>
              <c:numCache>
                <c:formatCode>General</c:formatCode>
                <c:ptCount val="12"/>
                <c:pt idx="0">
                  <c:v>8.06484423390411</c:v>
                </c:pt>
                <c:pt idx="1">
                  <c:v>8.158444033092582</c:v>
                </c:pt>
                <c:pt idx="2">
                  <c:v>8.111329340309068</c:v>
                </c:pt>
                <c:pt idx="3">
                  <c:v>8.01922151844113</c:v>
                </c:pt>
                <c:pt idx="4">
                  <c:v>8.038158337173243</c:v>
                </c:pt>
                <c:pt idx="5">
                  <c:v>8.085104531728064</c:v>
                </c:pt>
                <c:pt idx="6">
                  <c:v>8.170066769607395</c:v>
                </c:pt>
                <c:pt idx="7">
                  <c:v>8.18818441287239</c:v>
                </c:pt>
                <c:pt idx="8">
                  <c:v>8.208042931683323</c:v>
                </c:pt>
                <c:pt idx="9">
                  <c:v>7.999293028538664</c:v>
                </c:pt>
                <c:pt idx="10">
                  <c:v>7.817679965712816</c:v>
                </c:pt>
                <c:pt idx="11">
                  <c:v>7.834625380521512</c:v>
                </c:pt>
              </c:numCache>
            </c:numRef>
          </c:val>
        </c:ser>
        <c:ser>
          <c:idx val="5"/>
          <c:order val="5"/>
          <c:tx>
            <c:strRef>
              <c:f>Sheet1!$G$1</c:f>
              <c:strCache>
                <c:ptCount val="1"/>
                <c:pt idx="0">
                  <c:v>PVDC-Based</c:v>
                </c:pt>
              </c:strCache>
            </c:strRef>
          </c:tx>
          <c:spPr>
            <a:solidFill>
              <a:srgbClr val="808080"/>
            </a:solidFill>
            <a:ln>
              <a:noFill/>
            </a:ln>
          </c:spPr>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Sheet1!$G$2:$G$13</c:f>
              <c:numCache>
                <c:formatCode>General</c:formatCode>
                <c:ptCount val="12"/>
                <c:pt idx="0">
                  <c:v>4.862131657038185</c:v>
                </c:pt>
                <c:pt idx="1">
                  <c:v>4.842347068030033</c:v>
                </c:pt>
                <c:pt idx="2">
                  <c:v>4.824297723677986</c:v>
                </c:pt>
                <c:pt idx="3">
                  <c:v>4.8450858153258975</c:v>
                </c:pt>
                <c:pt idx="4">
                  <c:v>4.850959562623758</c:v>
                </c:pt>
                <c:pt idx="5">
                  <c:v>4.805650350241418</c:v>
                </c:pt>
                <c:pt idx="6">
                  <c:v>4.862286853511623</c:v>
                </c:pt>
                <c:pt idx="7">
                  <c:v>4.869943681935479</c:v>
                </c:pt>
                <c:pt idx="8">
                  <c:v>4.874919953115026</c:v>
                </c:pt>
                <c:pt idx="9">
                  <c:v>4.830783263752248</c:v>
                </c:pt>
                <c:pt idx="10">
                  <c:v>4.886727641471538</c:v>
                </c:pt>
                <c:pt idx="11">
                  <c:v>4.892764920027705</c:v>
                </c:pt>
              </c:numCache>
            </c:numRef>
          </c:val>
        </c:ser>
        <c:ser>
          <c:idx val="6"/>
          <c:order val="6"/>
          <c:tx>
            <c:strRef>
              <c:f>Sheet1!$H$1</c:f>
              <c:strCache>
                <c:ptCount val="1"/>
                <c:pt idx="0">
                  <c:v>PVOH-Based</c:v>
                </c:pt>
              </c:strCache>
            </c:strRef>
          </c:tx>
          <c:spPr>
            <a:solidFill>
              <a:srgbClr val="0E72AE"/>
            </a:solidFill>
            <a:ln>
              <a:noFill/>
            </a:ln>
          </c:spPr>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Sheet1!$H$2:$H$13</c:f>
              <c:numCache>
                <c:formatCode>General</c:formatCode>
                <c:ptCount val="12"/>
                <c:pt idx="0">
                  <c:v>2.0414567420798795</c:v>
                </c:pt>
                <c:pt idx="1">
                  <c:v>2.0651003175284073</c:v>
                </c:pt>
                <c:pt idx="2">
                  <c:v>2.0529038442396046</c:v>
                </c:pt>
                <c:pt idx="3">
                  <c:v>2.0296991577717924</c:v>
                </c:pt>
                <c:pt idx="4">
                  <c:v>2.0345716527392055</c:v>
                </c:pt>
                <c:pt idx="5">
                  <c:v>2.0463533066133506</c:v>
                </c:pt>
                <c:pt idx="6">
                  <c:v>2.0678584205913375</c:v>
                </c:pt>
                <c:pt idx="7">
                  <c:v>2.072434444366299</c:v>
                </c:pt>
                <c:pt idx="8">
                  <c:v>1.9753519390398786</c:v>
                </c:pt>
                <c:pt idx="9">
                  <c:v>2.0246820041339335</c:v>
                </c:pt>
                <c:pt idx="10">
                  <c:v>1.9789802484827295</c:v>
                </c:pt>
                <c:pt idx="11">
                  <c:v>1.983343119260706</c:v>
                </c:pt>
              </c:numCache>
            </c:numRef>
          </c:val>
        </c:ser>
        <c:ser>
          <c:idx val="7"/>
          <c:order val="7"/>
          <c:tx>
            <c:strRef>
              <c:f>Sheet1!$I$1</c:f>
              <c:strCache>
                <c:ptCount val="1"/>
                <c:pt idx="0">
                  <c:v>Metallized Barrier</c:v>
                </c:pt>
              </c:strCache>
            </c:strRef>
          </c:tx>
          <c:spPr>
            <a:solidFill>
              <a:srgbClr val="A86F00"/>
            </a:solidFill>
            <a:ln>
              <a:noFill/>
            </a:ln>
          </c:spPr>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Sheet1!$I$2:$I$13</c:f>
              <c:numCache>
                <c:formatCode>General</c:formatCode>
                <c:ptCount val="12"/>
                <c:pt idx="0">
                  <c:v>6.132671426629702</c:v>
                </c:pt>
                <c:pt idx="1">
                  <c:v>6.205403422716881</c:v>
                </c:pt>
                <c:pt idx="2">
                  <c:v>6.174234600919018</c:v>
                </c:pt>
                <c:pt idx="3">
                  <c:v>6.199856887381823</c:v>
                </c:pt>
                <c:pt idx="4">
                  <c:v>6.21299674956723</c:v>
                </c:pt>
                <c:pt idx="5">
                  <c:v>6.152732728290842</c:v>
                </c:pt>
                <c:pt idx="6">
                  <c:v>6.220798548721954</c:v>
                </c:pt>
                <c:pt idx="7">
                  <c:v>6.233243501628021</c:v>
                </c:pt>
                <c:pt idx="8">
                  <c:v>6.245226067576295</c:v>
                </c:pt>
                <c:pt idx="9">
                  <c:v>6.18355123342372</c:v>
                </c:pt>
                <c:pt idx="10">
                  <c:v>6.257878972839856</c:v>
                </c:pt>
                <c:pt idx="11">
                  <c:v>6.269049265021861</c:v>
                </c:pt>
              </c:numCache>
            </c:numRef>
          </c:val>
        </c:ser>
        <c:ser>
          <c:idx val="8"/>
          <c:order val="8"/>
          <c:tx>
            <c:strRef>
              <c:f>Sheet1!$J$1</c:f>
              <c:strCache>
                <c:ptCount val="1"/>
                <c:pt idx="0">
                  <c:v>AlOx / SiOx-Coated</c:v>
                </c:pt>
              </c:strCache>
            </c:strRef>
          </c:tx>
          <c:spPr>
            <a:solidFill>
              <a:srgbClr val="0B2E4A"/>
            </a:solidFill>
            <a:ln>
              <a:noFill/>
            </a:ln>
          </c:spPr>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Sheet1!$J$2:$J$13</c:f>
              <c:numCache>
                <c:formatCode>General</c:formatCode>
                <c:ptCount val="12"/>
                <c:pt idx="0">
                  <c:v>3.1007264006451214</c:v>
                </c:pt>
                <c:pt idx="1">
                  <c:v>3.1361175741016183</c:v>
                </c:pt>
                <c:pt idx="2">
                  <c:v>3.1177249321085023</c:v>
                </c:pt>
                <c:pt idx="3">
                  <c:v>3.0823779914620038</c:v>
                </c:pt>
                <c:pt idx="4">
                  <c:v>3.0899971356339586</c:v>
                </c:pt>
                <c:pt idx="5">
                  <c:v>3.1077982862999076</c:v>
                </c:pt>
                <c:pt idx="6">
                  <c:v>3.1400689906799193</c:v>
                </c:pt>
                <c:pt idx="7">
                  <c:v>2.9924430076180477</c:v>
                </c:pt>
                <c:pt idx="8">
                  <c:v>3.0003313949658996</c:v>
                </c:pt>
                <c:pt idx="9">
                  <c:v>3.0748634481539705</c:v>
                </c:pt>
                <c:pt idx="10">
                  <c:v>3.005681554987577</c:v>
                </c:pt>
                <c:pt idx="11">
                  <c:v>3.012382742792038</c:v>
                </c:pt>
              </c:numCache>
            </c:numRef>
          </c:val>
        </c:ser>
        <c:ser>
          <c:idx val="9"/>
          <c:order val="9"/>
          <c:tx>
            <c:strRef>
              <c:f>Sheet1!$K$1</c:f>
              <c:strCache>
                <c:ptCount val="1"/>
                <c:pt idx="0">
                  <c:v>Aluminum Foil-Based</c:v>
                </c:pt>
              </c:strCache>
            </c:strRef>
          </c:tx>
          <c:spPr>
            <a:solidFill>
              <a:srgbClr val="6C7A89"/>
            </a:solidFill>
            <a:ln>
              <a:noFill/>
            </a:ln>
          </c:spPr>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Sheet1!$K$2:$K$13</c:f>
              <c:numCache>
                <c:formatCode>General</c:formatCode>
                <c:ptCount val="12"/>
                <c:pt idx="0">
                  <c:v>2.943094815216191</c:v>
                </c:pt>
                <c:pt idx="1">
                  <c:v>2.9791407305173863</c:v>
                </c:pt>
                <c:pt idx="2">
                  <c:v>2.9674055033223317</c:v>
                </c:pt>
                <c:pt idx="3">
                  <c:v>2.933615172569126</c:v>
                </c:pt>
                <c:pt idx="4">
                  <c:v>2.936784686850068</c:v>
                </c:pt>
                <c:pt idx="5">
                  <c:v>2.956030112496139</c:v>
                </c:pt>
                <c:pt idx="6">
                  <c:v>2.9905123406956795</c:v>
                </c:pt>
                <c:pt idx="7">
                  <c:v>2.995457148576281</c:v>
                </c:pt>
                <c:pt idx="8">
                  <c:v>2.9988485662943387</c:v>
                </c:pt>
                <c:pt idx="9">
                  <c:v>2.9715750546626976</c:v>
                </c:pt>
                <c:pt idx="10">
                  <c:v>3.0058569071129106</c:v>
                </c:pt>
                <c:pt idx="11">
                  <c:v>3.0098517852725033</c:v>
                </c:pt>
              </c:numCache>
            </c:numRef>
          </c:val>
        </c:ser>
        <c:ser>
          <c:idx val="10"/>
          <c:order val="10"/>
          <c:tx>
            <c:strRef>
              <c:f>Sheet1!$L$1</c:f>
              <c:strCache>
                <c:ptCount val="1"/>
                <c:pt idx="0">
                  <c:v>Other Specialty Barrier Technologies</c:v>
                </c:pt>
              </c:strCache>
            </c:strRef>
          </c:tx>
          <c:spPr>
            <a:solidFill>
              <a:srgbClr val="B2B2B2"/>
            </a:solidFill>
            <a:ln>
              <a:noFill/>
            </a:ln>
          </c:spPr>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Sheet1!$L$2:$L$13</c:f>
              <c:numCache>
                <c:formatCode>General</c:formatCode>
                <c:ptCount val="12"/>
                <c:pt idx="0">
                  <c:v>3.320571378008387</c:v>
                </c:pt>
                <c:pt idx="1">
                  <c:v>2.7160102392420353</c:v>
                </c:pt>
                <c:pt idx="2">
                  <c:v>2.9095667266102665</c:v>
                </c:pt>
                <c:pt idx="3">
                  <c:v>3.721972972690566</c:v>
                </c:pt>
                <c:pt idx="4">
                  <c:v>3.520025654756715</c:v>
                </c:pt>
                <c:pt idx="5">
                  <c:v>3.1128634403396327</c:v>
                </c:pt>
                <c:pt idx="6">
                  <c:v>2.5041595235466945</c:v>
                </c:pt>
                <c:pt idx="7">
                  <c:v>2.458592272515439</c:v>
                </c:pt>
                <c:pt idx="8">
                  <c:v>2.3603184012486107</c:v>
                </c:pt>
                <c:pt idx="9">
                  <c:v>3.926705829825735</c:v>
                </c:pt>
                <c:pt idx="10">
                  <c:v>2.5743299393442385</c:v>
                </c:pt>
                <c:pt idx="11">
                  <c:v>2.8934277393739207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PE-Based</c:v>
                </c:pt>
              </c:strCache>
            </c:strRef>
          </c:tx>
          <c:spPr>
            <a:solidFill>
              <a:srgbClr val="3D85C6"/>
            </a:solidFill>
          </c:spPr>
          <c:invertIfNegative val="0"/>
          <c:xVal>
            <c:numRef>
              <c:f>Sheet1!$A$2:$A$2</c:f>
              <c:numCache>
                <c:formatCode>General</c:formatCode>
                <c:ptCount val="1"/>
                <c:pt idx="0">
                  <c:v>101.62358463477553</c:v>
                </c:pt>
              </c:numCache>
            </c:numRef>
          </c:xVal>
          <c:yVal>
            <c:numRef>
              <c:f>Sheet1!$B$2:$B$2</c:f>
              <c:numCache>
                <c:formatCode>General</c:formatCode>
                <c:ptCount val="1"/>
                <c:pt idx="0">
                  <c:v>346.21152192315867</c:v>
                </c:pt>
              </c:numCache>
            </c:numRef>
          </c:yVal>
          <c:bubbleSize>
            <c:numRef>
              <c:f>Sheet1!$C$2:$C$2</c:f>
              <c:numCache>
                <c:formatCode>General</c:formatCode>
                <c:ptCount val="1"/>
                <c:pt idx="0">
                  <c:v>15702.153</c:v>
                </c:pt>
              </c:numCache>
            </c:numRef>
          </c:bubbleSize>
          <c:bubble3D val="0"/>
        </c:ser>
        <c:ser>
          <c:idx val="1"/>
          <c:order val="1"/>
          <c:tx>
            <c:strRef>
              <c:f>Sheet1!$B$4</c:f>
              <c:strCache>
                <c:ptCount val="1"/>
                <c:pt idx="0">
                  <c:v>PP-Based</c:v>
                </c:pt>
              </c:strCache>
            </c:strRef>
          </c:tx>
          <c:spPr>
            <a:solidFill>
              <a:srgbClr val="9E7E0A"/>
            </a:solidFill>
          </c:spPr>
          <c:invertIfNegative val="0"/>
          <c:xVal>
            <c:numRef>
              <c:f>Sheet1!$A$5:$A$5</c:f>
              <c:numCache>
                <c:formatCode>General</c:formatCode>
                <c:ptCount val="1"/>
                <c:pt idx="0">
                  <c:v>97.46422295635656</c:v>
                </c:pt>
              </c:numCache>
            </c:numRef>
          </c:xVal>
          <c:yVal>
            <c:numRef>
              <c:f>Sheet1!$B$5:$B$5</c:f>
              <c:numCache>
                <c:formatCode>General</c:formatCode>
                <c:ptCount val="1"/>
                <c:pt idx="0">
                  <c:v>223.73611974862158</c:v>
                </c:pt>
              </c:numCache>
            </c:numRef>
          </c:yVal>
          <c:bubbleSize>
            <c:numRef>
              <c:f>Sheet1!$C$5:$C$5</c:f>
              <c:numCache>
                <c:formatCode>General</c:formatCode>
                <c:ptCount val="1"/>
                <c:pt idx="0">
                  <c:v>9890.414</c:v>
                </c:pt>
              </c:numCache>
            </c:numRef>
          </c:bubbleSize>
          <c:bubble3D val="0"/>
        </c:ser>
        <c:ser>
          <c:idx val="2"/>
          <c:order val="2"/>
          <c:tx>
            <c:strRef>
              <c:f>Sheet1!$B$7</c:f>
              <c:strCache>
                <c:ptCount val="1"/>
                <c:pt idx="0">
                  <c:v>PET-Based</c:v>
                </c:pt>
              </c:strCache>
            </c:strRef>
          </c:tx>
          <c:spPr>
            <a:solidFill>
              <a:srgbClr val="008189"/>
            </a:solidFill>
          </c:spPr>
          <c:invertIfNegative val="0"/>
          <c:xVal>
            <c:numRef>
              <c:f>Sheet1!$A$8:$A$8</c:f>
              <c:numCache>
                <c:formatCode>General</c:formatCode>
                <c:ptCount val="1"/>
                <c:pt idx="0">
                  <c:v>102.9032740718294</c:v>
                </c:pt>
              </c:numCache>
            </c:numRef>
          </c:xVal>
          <c:yVal>
            <c:numRef>
              <c:f>Sheet1!$B$8:$B$8</c:f>
              <c:numCache>
                <c:formatCode>General</c:formatCode>
                <c:ptCount val="1"/>
                <c:pt idx="0">
                  <c:v>107.85205074039929</c:v>
                </c:pt>
              </c:numCache>
            </c:numRef>
          </c:yVal>
          <c:bubbleSize>
            <c:numRef>
              <c:f>Sheet1!$C$8:$C$8</c:f>
              <c:numCache>
                <c:formatCode>General</c:formatCode>
                <c:ptCount val="1"/>
                <c:pt idx="0">
                  <c:v>4930.234</c:v>
                </c:pt>
              </c:numCache>
            </c:numRef>
          </c:bubbleSize>
          <c:bubble3D val="0"/>
        </c:ser>
        <c:ser>
          <c:idx val="3"/>
          <c:order val="3"/>
          <c:tx>
            <c:strRef>
              <c:f>Sheet1!$B$10</c:f>
              <c:strCache>
                <c:ptCount val="1"/>
                <c:pt idx="0">
                  <c:v>PA-Based</c:v>
                </c:pt>
              </c:strCache>
            </c:strRef>
          </c:tx>
          <c:spPr>
            <a:solidFill>
              <a:srgbClr val="40315E"/>
            </a:solidFill>
          </c:spPr>
          <c:invertIfNegative val="0"/>
          <c:xVal>
            <c:numRef>
              <c:f>Sheet1!$A$11:$A$11</c:f>
              <c:numCache>
                <c:formatCode>General</c:formatCode>
                <c:ptCount val="1"/>
                <c:pt idx="0">
                  <c:v>97.33168330405516</c:v>
                </c:pt>
              </c:numCache>
            </c:numRef>
          </c:xVal>
          <c:yVal>
            <c:numRef>
              <c:f>Sheet1!$B$11:$B$11</c:f>
              <c:numCache>
                <c:formatCode>General</c:formatCode>
                <c:ptCount val="1"/>
                <c:pt idx="0">
                  <c:v>90.62404567384192</c:v>
                </c:pt>
              </c:numCache>
            </c:numRef>
          </c:yVal>
          <c:bubbleSize>
            <c:numRef>
              <c:f>Sheet1!$C$11:$C$11</c:f>
              <c:numCache>
                <c:formatCode>General</c:formatCode>
                <c:ptCount val="1"/>
                <c:pt idx="0">
                  <c:v>4002.823</c:v>
                </c:pt>
              </c:numCache>
            </c:numRef>
          </c:bubbleSize>
          <c:bubble3D val="0"/>
        </c:ser>
        <c:ser>
          <c:idx val="4"/>
          <c:order val="4"/>
          <c:tx>
            <c:strRef>
              <c:f>Sheet1!$B$13</c:f>
              <c:strCache>
                <c:ptCount val="1"/>
                <c:pt idx="0">
                  <c:v>EVOH-Based</c:v>
                </c:pt>
              </c:strCache>
            </c:strRef>
          </c:tx>
          <c:spPr>
            <a:solidFill>
              <a:srgbClr val="A35313"/>
            </a:solidFill>
          </c:spPr>
          <c:invertIfNegative val="0"/>
          <c:xVal>
            <c:numRef>
              <c:f>Sheet1!$A$14:$A$14</c:f>
              <c:numCache>
                <c:formatCode>General</c:formatCode>
                <c:ptCount val="1"/>
                <c:pt idx="0">
                  <c:v>103.33616406224209</c:v>
                </c:pt>
              </c:numCache>
            </c:numRef>
          </c:xVal>
          <c:yVal>
            <c:numRef>
              <c:f>Sheet1!$B$14:$B$14</c:f>
              <c:numCache>
                <c:formatCode>General</c:formatCode>
                <c:ptCount val="1"/>
                <c:pt idx="0">
                  <c:v>86.52080517575057</c:v>
                </c:pt>
              </c:numCache>
            </c:numRef>
          </c:yVal>
          <c:bubbleSize>
            <c:numRef>
              <c:f>Sheet1!$C$14:$C$14</c:f>
              <c:numCache>
                <c:formatCode>General</c:formatCode>
                <c:ptCount val="1"/>
                <c:pt idx="0">
                  <c:v>3965.669</c:v>
                </c:pt>
              </c:numCache>
            </c:numRef>
          </c:bubbleSize>
          <c:bubble3D val="0"/>
        </c:ser>
        <c:ser>
          <c:idx val="5"/>
          <c:order val="5"/>
          <c:tx>
            <c:strRef>
              <c:f>Sheet1!$B$16</c:f>
              <c:strCache>
                <c:ptCount val="1"/>
                <c:pt idx="0">
                  <c:v>PVDC-Based</c:v>
                </c:pt>
              </c:strCache>
            </c:strRef>
          </c:tx>
          <c:spPr>
            <a:solidFill>
              <a:srgbClr val="808080"/>
            </a:solidFill>
          </c:spPr>
          <c:invertIfNegative val="0"/>
          <c:xVal>
            <c:numRef>
              <c:f>Sheet1!$A$17:$A$17</c:f>
              <c:numCache>
                <c:formatCode>General</c:formatCode>
                <c:ptCount val="1"/>
                <c:pt idx="0">
                  <c:v>90.09916303087837</c:v>
                </c:pt>
              </c:numCache>
            </c:numRef>
          </c:xVal>
          <c:yVal>
            <c:numRef>
              <c:f>Sheet1!$B$17:$B$17</c:f>
              <c:numCache>
                <c:formatCode>General</c:formatCode>
                <c:ptCount val="1"/>
                <c:pt idx="0">
                  <c:v>56.85040109863395</c:v>
                </c:pt>
              </c:numCache>
            </c:numRef>
          </c:yVal>
          <c:bubbleSize>
            <c:numRef>
              <c:f>Sheet1!$C$17:$C$17</c:f>
              <c:numCache>
                <c:formatCode>General</c:formatCode>
                <c:ptCount val="1"/>
                <c:pt idx="0">
                  <c:v>2401.137</c:v>
                </c:pt>
              </c:numCache>
            </c:numRef>
          </c:bubbleSize>
          <c:bubble3D val="0"/>
        </c:ser>
        <c:ser>
          <c:idx val="6"/>
          <c:order val="6"/>
          <c:tx>
            <c:strRef>
              <c:f>Sheet1!$B$19</c:f>
              <c:strCache>
                <c:ptCount val="1"/>
                <c:pt idx="0">
                  <c:v>PVOH-Based</c:v>
                </c:pt>
              </c:strCache>
            </c:strRef>
          </c:tx>
          <c:spPr>
            <a:solidFill>
              <a:srgbClr val="0E72AE"/>
            </a:solidFill>
          </c:spPr>
          <c:invertIfNegative val="0"/>
          <c:xVal>
            <c:numRef>
              <c:f>Sheet1!$A$20:$A$20</c:f>
              <c:numCache>
                <c:formatCode>General</c:formatCode>
                <c:ptCount val="1"/>
                <c:pt idx="0">
                  <c:v>104.3548745765172</c:v>
                </c:pt>
              </c:numCache>
            </c:numRef>
          </c:xVal>
          <c:yVal>
            <c:numRef>
              <c:f>Sheet1!$B$20:$B$20</c:f>
              <c:numCache>
                <c:formatCode>General</c:formatCode>
                <c:ptCount val="1"/>
                <c:pt idx="0">
                  <c:v>21.634724869262932</c:v>
                </c:pt>
              </c:numCache>
            </c:numRef>
          </c:yVal>
          <c:bubbleSize>
            <c:numRef>
              <c:f>Sheet1!$C$20:$C$20</c:f>
              <c:numCache>
                <c:formatCode>General</c:formatCode>
                <c:ptCount val="1"/>
                <c:pt idx="0">
                  <c:v>997.857</c:v>
                </c:pt>
              </c:numCache>
            </c:numRef>
          </c:bubbleSize>
          <c:bubble3D val="0"/>
        </c:ser>
        <c:ser>
          <c:idx val="7"/>
          <c:order val="7"/>
          <c:tx>
            <c:strRef>
              <c:f>Sheet1!$B$22</c:f>
              <c:strCache>
                <c:ptCount val="1"/>
                <c:pt idx="0">
                  <c:v>Metallized Barrier</c:v>
                </c:pt>
              </c:strCache>
            </c:strRef>
          </c:tx>
          <c:spPr>
            <a:solidFill>
              <a:srgbClr val="A86F00"/>
            </a:solidFill>
          </c:spPr>
          <c:invertIfNegative val="0"/>
          <c:xVal>
            <c:numRef>
              <c:f>Sheet1!$A$23:$A$23</c:f>
              <c:numCache>
                <c:formatCode>General</c:formatCode>
                <c:ptCount val="1"/>
                <c:pt idx="0">
                  <c:v>98.70380638552982</c:v>
                </c:pt>
              </c:numCache>
            </c:numRef>
          </c:xVal>
          <c:yVal>
            <c:numRef>
              <c:f>Sheet1!$B$23:$B$23</c:f>
              <c:numCache>
                <c:formatCode>General</c:formatCode>
                <c:ptCount val="1"/>
                <c:pt idx="0">
                  <c:v>68.99723180142693</c:v>
                </c:pt>
              </c:numCache>
            </c:numRef>
          </c:yVal>
          <c:bubbleSize>
            <c:numRef>
              <c:f>Sheet1!$C$23:$C$23</c:f>
              <c:numCache>
                <c:formatCode>General</c:formatCode>
                <c:ptCount val="1"/>
                <c:pt idx="0">
                  <c:v>3073.497</c:v>
                </c:pt>
              </c:numCache>
            </c:numRef>
          </c:bubbleSize>
          <c:bubble3D val="0"/>
        </c:ser>
        <c:ser>
          <c:idx val="8"/>
          <c:order val="8"/>
          <c:tx>
            <c:strRef>
              <c:f>Sheet1!$B$25</c:f>
              <c:strCache>
                <c:ptCount val="1"/>
                <c:pt idx="0">
                  <c:v>AlOx / SiOx-Coated</c:v>
                </c:pt>
              </c:strCache>
            </c:strRef>
          </c:tx>
          <c:spPr>
            <a:solidFill>
              <a:srgbClr val="0B2E4A"/>
            </a:solidFill>
          </c:spPr>
          <c:invertIfNegative val="0"/>
          <c:xVal>
            <c:numRef>
              <c:f>Sheet1!$A$26:$A$26</c:f>
              <c:numCache>
                <c:formatCode>General</c:formatCode>
                <c:ptCount val="1"/>
                <c:pt idx="0">
                  <c:v>104.76565720834252</c:v>
                </c:pt>
              </c:numCache>
            </c:numRef>
          </c:xVal>
          <c:yVal>
            <c:numRef>
              <c:f>Sheet1!$B$26:$B$26</c:f>
              <c:numCache>
                <c:formatCode>General</c:formatCode>
                <c:ptCount val="1"/>
                <c:pt idx="0">
                  <c:v>32.601133850891564</c:v>
                </c:pt>
              </c:numCache>
            </c:numRef>
          </c:yVal>
          <c:bubbleSize>
            <c:numRef>
              <c:f>Sheet1!$C$26:$C$26</c:f>
              <c:numCache>
                <c:formatCode>General</c:formatCode>
                <c:ptCount val="1"/>
                <c:pt idx="0">
                  <c:v>1507.462</c:v>
                </c:pt>
              </c:numCache>
            </c:numRef>
          </c:bubbleSize>
          <c:bubble3D val="0"/>
        </c:ser>
        <c:ser>
          <c:idx val="9"/>
          <c:order val="9"/>
          <c:tx>
            <c:strRef>
              <c:f>Sheet1!$B$28</c:f>
              <c:strCache>
                <c:ptCount val="1"/>
                <c:pt idx="0">
                  <c:v>Aluminum Foil-Based</c:v>
                </c:pt>
              </c:strCache>
            </c:strRef>
          </c:tx>
          <c:spPr>
            <a:solidFill>
              <a:srgbClr val="6C7A89"/>
            </a:solidFill>
          </c:spPr>
          <c:invertIfNegative val="0"/>
          <c:xVal>
            <c:numRef>
              <c:f>Sheet1!$A$29:$A$29</c:f>
              <c:numCache>
                <c:formatCode>General</c:formatCode>
                <c:ptCount val="1"/>
                <c:pt idx="0">
                  <c:v>91.26218790134219</c:v>
                </c:pt>
              </c:numCache>
            </c:numRef>
          </c:xVal>
          <c:yVal>
            <c:numRef>
              <c:f>Sheet1!$B$29:$B$29</c:f>
              <c:numCache>
                <c:formatCode>General</c:formatCode>
                <c:ptCount val="1"/>
                <c:pt idx="0">
                  <c:v>34.64242351628737</c:v>
                </c:pt>
              </c:numCache>
            </c:numRef>
          </c:yVal>
          <c:bubbleSize>
            <c:numRef>
              <c:f>Sheet1!$C$29:$C$29</c:f>
              <c:numCache>
                <c:formatCode>General</c:formatCode>
                <c:ptCount val="1"/>
                <c:pt idx="0">
                  <c:v>1473.749</c:v>
                </c:pt>
              </c:numCache>
            </c:numRef>
          </c:bubbleSize>
          <c:bubble3D val="0"/>
        </c:ser>
        <c:ser>
          <c:idx val="10"/>
          <c:order val="10"/>
          <c:tx>
            <c:strRef>
              <c:f>Sheet1!$B$31</c:f>
              <c:strCache>
                <c:ptCount val="1"/>
                <c:pt idx="0">
                  <c:v>Other Specialty Barrier Technologies</c:v>
                </c:pt>
              </c:strCache>
            </c:strRef>
          </c:tx>
          <c:spPr>
            <a:solidFill>
              <a:srgbClr val="B2B2B2"/>
            </a:solidFill>
          </c:spPr>
          <c:invertIfNegative val="0"/>
          <c:xVal>
            <c:numRef>
              <c:f>Sheet1!$A$32:$A$32</c:f>
              <c:numCache>
                <c:formatCode>General</c:formatCode>
                <c:ptCount val="1"/>
                <c:pt idx="0">
                  <c:v>109.97982662823318</c:v>
                </c:pt>
              </c:numCache>
            </c:numRef>
          </c:xVal>
          <c:yVal>
            <c:numRef>
              <c:f>Sheet1!$B$32:$B$32</c:f>
              <c:numCache>
                <c:formatCode>General</c:formatCode>
                <c:ptCount val="1"/>
                <c:pt idx="0">
                  <c:v>30.32954160172515</c:v>
                </c:pt>
              </c:numCache>
            </c:numRef>
          </c:yVal>
          <c:bubbleSize>
            <c:numRef>
              <c:f>Sheet1!$C$32:$C$32</c:f>
              <c:numCache>
                <c:formatCode>General</c:formatCode>
                <c:ptCount val="1"/>
                <c:pt idx="0">
                  <c:v>1448.027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4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8227.505</c:v>
                </c:pt>
                <c:pt idx="2">
                  <c:v>9263.978</c:v>
                </c:pt>
                <c:pt idx="3">
                  <c:v>10521.285</c:v>
                </c:pt>
                <c:pt idx="4">
                  <c:v>12010.459</c:v>
                </c:pt>
                <c:pt idx="5">
                  <c:v>13742.93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8227.505</c:v>
                </c:pt>
                <c:pt idx="1">
                  <c:v>1036.473</c:v>
                </c:pt>
                <c:pt idx="2">
                  <c:v>1257.3070000000007</c:v>
                </c:pt>
                <c:pt idx="3">
                  <c:v>1489.174000000001</c:v>
                </c:pt>
                <c:pt idx="4">
                  <c:v>1732.4709999999995</c:v>
                </c:pt>
                <c:pt idx="5">
                  <c:v>1959.223</c:v>
                </c:pt>
                <c:pt idx="6">
                  <c:v>15702.153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5316.952</c:v>
                </c:pt>
                <c:pt idx="2">
                  <c:v>5924.071</c:v>
                </c:pt>
                <c:pt idx="3">
                  <c:v>6680.577</c:v>
                </c:pt>
                <c:pt idx="4">
                  <c:v>7611.259</c:v>
                </c:pt>
                <c:pt idx="5">
                  <c:v>8685.713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5316.952</c:v>
                </c:pt>
                <c:pt idx="1">
                  <c:v>607.1189999999997</c:v>
                </c:pt>
                <c:pt idx="2">
                  <c:v>756.5060000000003</c:v>
                </c:pt>
                <c:pt idx="3">
                  <c:v>930.6819999999998</c:v>
                </c:pt>
                <c:pt idx="4">
                  <c:v>1074.4539999999997</c:v>
                </c:pt>
                <c:pt idx="5">
                  <c:v>1204.701000000001</c:v>
                </c:pt>
                <c:pt idx="6">
                  <c:v>9890.414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2563.038</c:v>
                </c:pt>
                <c:pt idx="2">
                  <c:v>2874.503</c:v>
                </c:pt>
                <c:pt idx="3">
                  <c:v>3262.13</c:v>
                </c:pt>
                <c:pt idx="4">
                  <c:v>3737.469</c:v>
                </c:pt>
                <c:pt idx="5">
                  <c:v>4296.596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2563.038</c:v>
                </c:pt>
                <c:pt idx="1">
                  <c:v>311.46500000000015</c:v>
                </c:pt>
                <c:pt idx="2">
                  <c:v>387.62699999999995</c:v>
                </c:pt>
                <c:pt idx="3">
                  <c:v>475.33899999999994</c:v>
                </c:pt>
                <c:pt idx="4">
                  <c:v>559.1269999999995</c:v>
                </c:pt>
                <c:pt idx="5">
                  <c:v>633.6380000000008</c:v>
                </c:pt>
                <c:pt idx="6">
                  <c:v>4930.234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2153.625</c:v>
                </c:pt>
                <c:pt idx="2">
                  <c:v>2411.321</c:v>
                </c:pt>
                <c:pt idx="3">
                  <c:v>2721.798</c:v>
                </c:pt>
                <c:pt idx="4">
                  <c:v>3092.153</c:v>
                </c:pt>
                <c:pt idx="5">
                  <c:v>3520.672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2153.625</c:v>
                </c:pt>
                <c:pt idx="1">
                  <c:v>257.6959999999999</c:v>
                </c:pt>
                <c:pt idx="2">
                  <c:v>310.47699999999986</c:v>
                </c:pt>
                <c:pt idx="3">
                  <c:v>370.355</c:v>
                </c:pt>
                <c:pt idx="4">
                  <c:v>428.51900000000023</c:v>
                </c:pt>
                <c:pt idx="5">
                  <c:v>482.15099999999984</c:v>
                </c:pt>
                <c:pt idx="6">
                  <c:v>4002.823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2056.114</c:v>
                </c:pt>
                <c:pt idx="2">
                  <c:v>2309.774</c:v>
                </c:pt>
                <c:pt idx="3">
                  <c:v>2624.349</c:v>
                </c:pt>
                <c:pt idx="4">
                  <c:v>3010.212</c:v>
                </c:pt>
                <c:pt idx="5">
                  <c:v>3458.826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2056.114</c:v>
                </c:pt>
                <c:pt idx="1">
                  <c:v>253.65999999999985</c:v>
                </c:pt>
                <c:pt idx="2">
                  <c:v>314.5750000000003</c:v>
                </c:pt>
                <c:pt idx="3">
                  <c:v>385.86299999999983</c:v>
                </c:pt>
                <c:pt idx="4">
                  <c:v>448.61400000000003</c:v>
                </c:pt>
                <c:pt idx="5">
                  <c:v>506.84299999999985</c:v>
                </c:pt>
                <c:pt idx="6">
                  <c:v>3965.669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1351.015</c:v>
                </c:pt>
                <c:pt idx="2">
                  <c:v>1499.089</c:v>
                </c:pt>
                <c:pt idx="3">
                  <c:v>1677.633</c:v>
                </c:pt>
                <c:pt idx="4">
                  <c:v>1889.443</c:v>
                </c:pt>
                <c:pt idx="5">
                  <c:v>2131.38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1351.015</c:v>
                </c:pt>
                <c:pt idx="1">
                  <c:v>148.07399999999984</c:v>
                </c:pt>
                <c:pt idx="2">
                  <c:v>178.5440000000001</c:v>
                </c:pt>
                <c:pt idx="3">
                  <c:v>211.80999999999995</c:v>
                </c:pt>
                <c:pt idx="4">
                  <c:v>241.93700000000013</c:v>
                </c:pt>
                <c:pt idx="5">
                  <c:v>269.75700000000006</c:v>
                </c:pt>
                <c:pt idx="6">
                  <c:v>2401.137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514.136</c:v>
                </c:pt>
                <c:pt idx="2">
                  <c:v>577.691</c:v>
                </c:pt>
                <c:pt idx="3">
                  <c:v>657.829</c:v>
                </c:pt>
                <c:pt idx="4">
                  <c:v>754.918</c:v>
                </c:pt>
                <c:pt idx="5">
                  <c:v>868.679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514.136</c:v>
                </c:pt>
                <c:pt idx="1">
                  <c:v>63.555000000000064</c:v>
                </c:pt>
                <c:pt idx="2">
                  <c:v>80.13799999999992</c:v>
                </c:pt>
                <c:pt idx="3">
                  <c:v>97.08900000000006</c:v>
                </c:pt>
                <c:pt idx="4">
                  <c:v>113.76099999999997</c:v>
                </c:pt>
                <c:pt idx="5">
                  <c:v>129.178</c:v>
                </c:pt>
                <c:pt idx="6">
                  <c:v>997.857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1639.677</c:v>
                </c:pt>
                <c:pt idx="2">
                  <c:v>1834.453</c:v>
                </c:pt>
                <c:pt idx="3">
                  <c:v>2072.727</c:v>
                </c:pt>
                <c:pt idx="4">
                  <c:v>2361.065</c:v>
                </c:pt>
                <c:pt idx="5">
                  <c:v>2695.724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1639.677</c:v>
                </c:pt>
                <c:pt idx="1">
                  <c:v>194.77600000000007</c:v>
                </c:pt>
                <c:pt idx="2">
                  <c:v>238.2739999999999</c:v>
                </c:pt>
                <c:pt idx="3">
                  <c:v>288.3380000000002</c:v>
                </c:pt>
                <c:pt idx="4">
                  <c:v>334.6590000000001</c:v>
                </c:pt>
                <c:pt idx="5">
                  <c:v>377.7729999999997</c:v>
                </c:pt>
                <c:pt idx="6">
                  <c:v>3073.497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774.746</c:v>
                </c:pt>
                <c:pt idx="2">
                  <c:v>869.264</c:v>
                </c:pt>
                <c:pt idx="3">
                  <c:v>987.8</c:v>
                </c:pt>
                <c:pt idx="4">
                  <c:v>1135.222</c:v>
                </c:pt>
                <c:pt idx="5">
                  <c:v>1309.461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774.746</c:v>
                </c:pt>
                <c:pt idx="1">
                  <c:v>94.51800000000003</c:v>
                </c:pt>
                <c:pt idx="2">
                  <c:v>118.53599999999994</c:v>
                </c:pt>
                <c:pt idx="3">
                  <c:v>147.42200000000003</c:v>
                </c:pt>
                <c:pt idx="4">
                  <c:v>174.23900000000003</c:v>
                </c:pt>
                <c:pt idx="5">
                  <c:v>198.00099999999998</c:v>
                </c:pt>
                <c:pt idx="6">
                  <c:v>1507.462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823.256</c:v>
                </c:pt>
                <c:pt idx="2">
                  <c:v>912.775</c:v>
                </c:pt>
                <c:pt idx="3">
                  <c:v>1022.263</c:v>
                </c:pt>
                <c:pt idx="4">
                  <c:v>1153.763</c:v>
                </c:pt>
                <c:pt idx="5">
                  <c:v>1304.896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823.256</c:v>
                </c:pt>
                <c:pt idx="1">
                  <c:v>89.519</c:v>
                </c:pt>
                <c:pt idx="2">
                  <c:v>109.48800000000006</c:v>
                </c:pt>
                <c:pt idx="3">
                  <c:v>131.4999999999999</c:v>
                </c:pt>
                <c:pt idx="4">
                  <c:v>151.13300000000004</c:v>
                </c:pt>
                <c:pt idx="5">
                  <c:v>168.85300000000007</c:v>
                </c:pt>
                <c:pt idx="6">
                  <c:v>1473.749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720.763</c:v>
                </c:pt>
                <c:pt idx="2">
                  <c:v>817.576</c:v>
                </c:pt>
                <c:pt idx="3">
                  <c:v>936.579</c:v>
                </c:pt>
                <c:pt idx="4">
                  <c:v>1081.618</c:v>
                </c:pt>
                <c:pt idx="5">
                  <c:v>1252.984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720.763</c:v>
                </c:pt>
                <c:pt idx="1">
                  <c:v>96.81299999999999</c:v>
                </c:pt>
                <c:pt idx="2">
                  <c:v>119.00299999999993</c:v>
                </c:pt>
                <c:pt idx="3">
                  <c:v>145.039</c:v>
                </c:pt>
                <c:pt idx="4">
                  <c:v>171.36599999999999</c:v>
                </c:pt>
                <c:pt idx="5">
                  <c:v>195.04300000000012</c:v>
                </c:pt>
                <c:pt idx="6">
                  <c:v>1448.027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PE-Based</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30.848043446637252</c:v>
                </c:pt>
                <c:pt idx="1">
                  <c:v>31.473774720287157</c:v>
                </c:pt>
                <c:pt idx="2">
                  <c:v>31.79022534802588</c:v>
                </c:pt>
              </c:numCache>
            </c:numRef>
          </c:val>
        </c:ser>
        <c:ser>
          <c:idx val="1"/>
          <c:order val="1"/>
          <c:tx>
            <c:strRef>
              <c:f>Sheet1!$C$1</c:f>
              <c:strCache>
                <c:ptCount val="1"/>
                <c:pt idx="0">
                  <c:v>PP-Based</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20.773272559763374</c:v>
                </c:pt>
                <c:pt idx="1">
                  <c:v>20.339647249874687</c:v>
                </c:pt>
                <c:pt idx="2">
                  <c:v>20.023909450205334</c:v>
                </c:pt>
              </c:numCache>
            </c:numRef>
          </c:val>
        </c:ser>
        <c:ser>
          <c:idx val="2"/>
          <c:order val="2"/>
          <c:tx>
            <c:strRef>
              <c:f>Sheet1!$D$1</c:f>
              <c:strCache>
                <c:ptCount val="1"/>
                <c:pt idx="0">
                  <c:v>PET-Based</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9.847868884255442</c:v>
                </c:pt>
                <c:pt idx="1">
                  <c:v>9.804731885490844</c:v>
                </c:pt>
                <c:pt idx="2">
                  <c:v>9.981640726497764</c:v>
                </c:pt>
              </c:numCache>
            </c:numRef>
          </c:val>
        </c:ser>
        <c:ser>
          <c:idx val="3"/>
          <c:order val="3"/>
          <c:tx>
            <c:strRef>
              <c:f>Sheet1!$E$1</c:f>
              <c:strCache>
                <c:ptCount val="1"/>
                <c:pt idx="0">
                  <c:v>PA-Based</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8.189783251709256</c:v>
                </c:pt>
                <c:pt idx="1">
                  <c:v>8.238549606712901</c:v>
                </c:pt>
                <c:pt idx="2">
                  <c:v>8.104025301387713</c:v>
                </c:pt>
              </c:numCache>
            </c:numRef>
          </c:val>
        </c:ser>
        <c:ser>
          <c:idx val="4"/>
          <c:order val="4"/>
          <c:tx>
            <c:strRef>
              <c:f>Sheet1!$F$1</c:f>
              <c:strCache>
                <c:ptCount val="1"/>
                <c:pt idx="0">
                  <c:v>EVOH-Based</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7.838088541919216</c:v>
                </c:pt>
                <c:pt idx="1">
                  <c:v>7.86552774325005</c:v>
                </c:pt>
                <c:pt idx="2">
                  <c:v>8.028804149703575</c:v>
                </c:pt>
              </c:numCache>
            </c:numRef>
          </c:val>
        </c:ser>
        <c:ser>
          <c:idx val="5"/>
          <c:order val="5"/>
          <c:tx>
            <c:strRef>
              <c:f>Sheet1!$G$1</c:f>
              <c:strCache>
                <c:ptCount val="1"/>
                <c:pt idx="0">
                  <c:v>Metallized Barrier</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6.342273190127528</c:v>
                </c:pt>
                <c:pt idx="1">
                  <c:v>6.272475618311539</c:v>
                </c:pt>
                <c:pt idx="2">
                  <c:v>6.222532810403866</c:v>
                </c:pt>
              </c:numCache>
            </c:numRef>
          </c:val>
        </c:ser>
        <c:ser>
          <c:idx val="6"/>
          <c:order val="6"/>
          <c:tx>
            <c:strRef>
              <c:f>Sheet1!$H$1</c:f>
              <c:strCache>
                <c:ptCount val="1"/>
                <c:pt idx="0">
                  <c:v>PVDC-Based</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5.28391601609853</c:v>
                </c:pt>
                <c:pt idx="1">
                  <c:v>5.168218281693996</c:v>
                </c:pt>
                <c:pt idx="2">
                  <c:v>4.861287896091881</c:v>
                </c:pt>
              </c:numCache>
            </c:numRef>
          </c:val>
        </c:ser>
        <c:ser>
          <c:idx val="7"/>
          <c:order val="7"/>
          <c:tx>
            <c:strRef>
              <c:f>Sheet1!$I$1</c:f>
              <c:strCache>
                <c:ptCount val="1"/>
                <c:pt idx="0">
                  <c:v>AlOx / SiOx-Coated</c:v>
                </c:pt>
              </c:strCache>
            </c:strRef>
          </c:tx>
          <c:spPr>
            <a:solidFill>
              <a:srgbClr val="A86F0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Sheet1!$I$2:$I$4</c:f>
              <c:numCache>
                <c:formatCode>General</c:formatCode>
                <c:ptCount val="3"/>
                <c:pt idx="0">
                  <c:v>2.9540125103040293</c:v>
                </c:pt>
                <c:pt idx="1">
                  <c:v>2.963739440990141</c:v>
                </c:pt>
                <c:pt idx="2">
                  <c:v>3.0519736168400464</c:v>
                </c:pt>
              </c:numCache>
            </c:numRef>
          </c:val>
        </c:ser>
        <c:ser>
          <c:idx val="8"/>
          <c:order val="8"/>
          <c:tx>
            <c:strRef>
              <c:f>Sheet1!$J$1</c:f>
              <c:strCache>
                <c:ptCount val="1"/>
                <c:pt idx="0">
                  <c:v>Aluminum Foil-Based</c:v>
                </c:pt>
              </c:strCache>
            </c:strRef>
          </c:tx>
          <c:spPr>
            <a:solidFill>
              <a:srgbClr val="0B2E4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Sheet1!$J$2:$J$4</c:f>
              <c:numCache>
                <c:formatCode>General</c:formatCode>
                <c:ptCount val="3"/>
                <c:pt idx="0">
                  <c:v>3.255961790234205</c:v>
                </c:pt>
                <c:pt idx="1">
                  <c:v>3.149311228753398</c:v>
                </c:pt>
                <c:pt idx="2">
                  <c:v>2.9837190362638673</c:v>
                </c:pt>
              </c:numCache>
            </c:numRef>
          </c:val>
        </c:ser>
        <c:ser>
          <c:idx val="9"/>
          <c:order val="9"/>
          <c:tx>
            <c:strRef>
              <c:f>Sheet1!$K$1</c:f>
              <c:strCache>
                <c:ptCount val="1"/>
                <c:pt idx="0">
                  <c:v>Other Specialty Barrier Technologies</c:v>
                </c:pt>
              </c:strCache>
            </c:strRef>
          </c:tx>
          <c:spPr>
            <a:solidFill>
              <a:srgbClr val="6C7A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Sheet1!$K$2:$K$4</c:f>
              <c:numCache>
                <c:formatCode>General</c:formatCode>
                <c:ptCount val="3"/>
                <c:pt idx="0">
                  <c:v>2.6858846918489063</c:v>
                </c:pt>
                <c:pt idx="1">
                  <c:v>2.7572310547022862</c:v>
                </c:pt>
                <c:pt idx="2">
                  <c:v>2.931642854328694</c:v>
                </c:pt>
              </c:numCache>
            </c:numRef>
          </c:val>
        </c:ser>
        <c:ser>
          <c:idx val="10"/>
          <c:order val="10"/>
          <c:tx>
            <c:strRef>
              <c:f>Sheet1!$L$1</c:f>
              <c:strCache>
                <c:ptCount val="1"/>
                <c:pt idx="0">
                  <c:v>PVOH-Based</c:v>
                </c:pt>
              </c:strCache>
            </c:strRef>
          </c:tx>
          <c:spPr>
            <a:solidFill>
              <a:srgbClr val="B2B2B2"/>
            </a:solidFill>
            <a:ln>
              <a:noFill/>
            </a:ln>
          </c:spPr>
          <c:dLbls>
            <c:numFmt formatCode="0&quot;%&quot;" sourceLinked="0"/>
            <c:txPr>
              <a:bodyPr rot="0" vert="horz"/>
              <a:lstStyle/>
              <a:p>
                <a:pPr>
                  <a:defRPr sz="1100">
                    <a:solidFill>
                      <a:srgbClr val="2E2E2E"/>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Sheet1!$L$2:$L$4</c:f>
              <c:numCache>
                <c:formatCode>General</c:formatCode>
                <c:ptCount val="3"/>
                <c:pt idx="0">
                  <c:v>1.9808951171022642</c:v>
                </c:pt>
                <c:pt idx="1">
                  <c:v>1.9667931699329937</c:v>
                </c:pt>
                <c:pt idx="2">
                  <c:v>2.020238810251375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Monolayer Films</c:v>
                </c:pt>
              </c:strCache>
            </c:strRef>
          </c:tx>
          <c:spPr>
            <a:solidFill>
              <a:srgbClr val="3D85C6"/>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Sheet1!$B$2:$B$13</c:f>
              <c:numCache>
                <c:formatCode>General</c:formatCode>
                <c:ptCount val="12"/>
                <c:pt idx="0">
                  <c:v>16.34915364322021</c:v>
                </c:pt>
                <c:pt idx="1">
                  <c:v>15.659049669144359</c:v>
                </c:pt>
                <c:pt idx="2">
                  <c:v>15.602093598003222</c:v>
                </c:pt>
                <c:pt idx="3">
                  <c:v>16.26694045651335</c:v>
                </c:pt>
                <c:pt idx="4">
                  <c:v>16.305030075843426</c:v>
                </c:pt>
                <c:pt idx="5">
                  <c:v>16.384028051622295</c:v>
                </c:pt>
                <c:pt idx="6">
                  <c:v>15.694714689712624</c:v>
                </c:pt>
                <c:pt idx="7">
                  <c:v>15.75945227659375</c:v>
                </c:pt>
                <c:pt idx="8">
                  <c:v>15.798697352029622</c:v>
                </c:pt>
                <c:pt idx="9">
                  <c:v>16.235036579106414</c:v>
                </c:pt>
                <c:pt idx="10">
                  <c:v>15.843315254526571</c:v>
                </c:pt>
                <c:pt idx="11">
                  <c:v>15.916292875552404</c:v>
                </c:pt>
              </c:numCache>
            </c:numRef>
          </c:val>
        </c:ser>
        <c:ser>
          <c:idx val="1"/>
          <c:order val="1"/>
          <c:tx>
            <c:strRef>
              <c:f>Sheet1!$C$1</c:f>
              <c:strCache>
                <c:ptCount val="1"/>
                <c:pt idx="0">
                  <c:v>Coextruded Multilayer Films</c:v>
                </c:pt>
              </c:strCache>
            </c:strRef>
          </c:tx>
          <c:spPr>
            <a:solidFill>
              <a:srgbClr val="9E7E0A"/>
            </a:solidFill>
            <a:ln>
              <a:noFill/>
            </a:ln>
          </c:spPr>
          <c:dLbls>
            <c:dLbl>
              <c:idx val="0"/>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29%</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29%</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Sheet1!$C$2:$C$13</c:f>
              <c:numCache>
                <c:formatCode>General</c:formatCode>
                <c:ptCount val="12"/>
                <c:pt idx="0">
                  <c:v>28.867899743484028</c:v>
                </c:pt>
                <c:pt idx="1">
                  <c:v>29.04737666253502</c:v>
                </c:pt>
                <c:pt idx="2">
                  <c:v>28.962067568349763</c:v>
                </c:pt>
                <c:pt idx="3">
                  <c:v>28.742322396832478</c:v>
                </c:pt>
                <c:pt idx="4">
                  <c:v>28.799176806107322</c:v>
                </c:pt>
                <c:pt idx="5">
                  <c:v>28.90704264392258</c:v>
                </c:pt>
                <c:pt idx="6">
                  <c:v>29.14022770204999</c:v>
                </c:pt>
                <c:pt idx="7">
                  <c:v>29.25449295299776</c:v>
                </c:pt>
                <c:pt idx="8">
                  <c:v>29.31311398385269</c:v>
                </c:pt>
                <c:pt idx="9">
                  <c:v>28.677550171784873</c:v>
                </c:pt>
                <c:pt idx="10">
                  <c:v>29.319420309169224</c:v>
                </c:pt>
                <c:pt idx="11">
                  <c:v>29.19546017716705</c:v>
                </c:pt>
              </c:numCache>
            </c:numRef>
          </c:val>
        </c:ser>
        <c:ser>
          <c:idx val="2"/>
          <c:order val="2"/>
          <c:tx>
            <c:strRef>
              <c:f>Sheet1!$D$1</c:f>
              <c:strCache>
                <c:ptCount val="1"/>
                <c:pt idx="0">
                  <c:v>Laminated Films</c:v>
                </c:pt>
              </c:strCache>
            </c:strRef>
          </c:tx>
          <c:spPr>
            <a:solidFill>
              <a:srgbClr val="008189"/>
            </a:solidFill>
            <a:ln>
              <a:noFill/>
            </a:ln>
          </c:spPr>
          <c:dLbls>
            <c:dLbl>
              <c:idx val="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26%</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Sheet1!$D$2:$D$13</c:f>
              <c:numCache>
                <c:formatCode>General</c:formatCode>
                <c:ptCount val="12"/>
                <c:pt idx="0">
                  <c:v>25.244748355269163</c:v>
                </c:pt>
                <c:pt idx="1">
                  <c:v>25.43644579834708</c:v>
                </c:pt>
                <c:pt idx="2">
                  <c:v>25.35900399741106</c:v>
                </c:pt>
                <c:pt idx="3">
                  <c:v>25.134279445985776</c:v>
                </c:pt>
                <c:pt idx="4">
                  <c:v>25.184720475235682</c:v>
                </c:pt>
                <c:pt idx="5">
                  <c:v>25.313767550520232</c:v>
                </c:pt>
                <c:pt idx="6">
                  <c:v>25.445333907886226</c:v>
                </c:pt>
                <c:pt idx="7">
                  <c:v>25.360783908354673</c:v>
                </c:pt>
                <c:pt idx="8">
                  <c:v>25.409049567005333</c:v>
                </c:pt>
                <c:pt idx="9">
                  <c:v>25.07804005111158</c:v>
                </c:pt>
                <c:pt idx="10">
                  <c:v>25.485740070830577</c:v>
                </c:pt>
                <c:pt idx="11">
                  <c:v>25.59388064744817</c:v>
                </c:pt>
              </c:numCache>
            </c:numRef>
          </c:val>
        </c:ser>
        <c:ser>
          <c:idx val="3"/>
          <c:order val="3"/>
          <c:tx>
            <c:strRef>
              <c:f>Sheet1!$E$1</c:f>
              <c:strCache>
                <c:ptCount val="1"/>
                <c:pt idx="0">
                  <c:v>Coated Films</c:v>
                </c:pt>
              </c:strCache>
            </c:strRef>
          </c:tx>
          <c:spPr>
            <a:solidFill>
              <a:srgbClr val="40315E"/>
            </a:solidFill>
            <a:ln>
              <a:noFill/>
            </a:ln>
          </c:spPr>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Sheet1!$E$2:$E$13</c:f>
              <c:numCache>
                <c:formatCode>General</c:formatCode>
                <c:ptCount val="12"/>
                <c:pt idx="0">
                  <c:v>6.670692593146682</c:v>
                </c:pt>
                <c:pt idx="1">
                  <c:v>6.720701887994777</c:v>
                </c:pt>
                <c:pt idx="2">
                  <c:v>6.70004858634776</c:v>
                </c:pt>
                <c:pt idx="3">
                  <c:v>6.641351683857866</c:v>
                </c:pt>
                <c:pt idx="4">
                  <c:v>6.6546695393352175</c:v>
                </c:pt>
                <c:pt idx="5">
                  <c:v>6.688362920970881</c:v>
                </c:pt>
                <c:pt idx="6">
                  <c:v>6.739735962799474</c:v>
                </c:pt>
                <c:pt idx="7">
                  <c:v>6.765972287297813</c:v>
                </c:pt>
                <c:pt idx="8">
                  <c:v>6.779890425839157</c:v>
                </c:pt>
                <c:pt idx="9">
                  <c:v>6.627277427650573</c:v>
                </c:pt>
                <c:pt idx="10">
                  <c:v>6.7995865196280425</c:v>
                </c:pt>
                <c:pt idx="11">
                  <c:v>6.828974829557877</c:v>
                </c:pt>
              </c:numCache>
            </c:numRef>
          </c:val>
        </c:ser>
        <c:ser>
          <c:idx val="4"/>
          <c:order val="4"/>
          <c:tx>
            <c:strRef>
              <c:f>Sheet1!$F$1</c:f>
              <c:strCache>
                <c:ptCount val="1"/>
                <c:pt idx="0">
                  <c:v>Metallized Films</c:v>
                </c:pt>
              </c:strCache>
            </c:strRef>
          </c:tx>
          <c:spPr>
            <a:solidFill>
              <a:srgbClr val="A35313"/>
            </a:solidFill>
            <a:ln>
              <a:noFill/>
            </a:ln>
          </c:spPr>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Sheet1!$F$2:$F$13</c:f>
              <c:numCache>
                <c:formatCode>General</c:formatCode>
                <c:ptCount val="12"/>
                <c:pt idx="0">
                  <c:v>6.786544404996042</c:v>
                </c:pt>
                <c:pt idx="1">
                  <c:v>6.7301049490408476</c:v>
                </c:pt>
                <c:pt idx="2">
                  <c:v>6.821689857731454</c:v>
                </c:pt>
                <c:pt idx="3">
                  <c:v>6.760702591393033</c:v>
                </c:pt>
                <c:pt idx="4">
                  <c:v>6.77232648791362</c:v>
                </c:pt>
                <c:pt idx="5">
                  <c:v>6.808497150618679</c:v>
                </c:pt>
                <c:pt idx="6">
                  <c:v>6.756981416139881</c:v>
                </c:pt>
                <c:pt idx="7">
                  <c:v>6.781699917207747</c:v>
                </c:pt>
                <c:pt idx="8">
                  <c:v>6.791822026044339</c:v>
                </c:pt>
                <c:pt idx="9">
                  <c:v>6.745260181171774</c:v>
                </c:pt>
                <c:pt idx="10">
                  <c:v>6.813614691704616</c:v>
                </c:pt>
                <c:pt idx="11">
                  <c:v>6.840900808978937</c:v>
                </c:pt>
              </c:numCache>
            </c:numRef>
          </c:val>
        </c:ser>
        <c:ser>
          <c:idx val="5"/>
          <c:order val="5"/>
          <c:tx>
            <c:strRef>
              <c:f>Sheet1!$G$1</c:f>
              <c:strCache>
                <c:ptCount val="1"/>
                <c:pt idx="0">
                  <c:v>Foil-Laminated Structures</c:v>
                </c:pt>
              </c:strCache>
            </c:strRef>
          </c:tx>
          <c:spPr>
            <a:solidFill>
              <a:srgbClr val="808080"/>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Sheet1!$G$2:$G$13</c:f>
              <c:numCache>
                <c:formatCode>General</c:formatCode>
                <c:ptCount val="12"/>
                <c:pt idx="0">
                  <c:v>7.719288323232029</c:v>
                </c:pt>
                <c:pt idx="1">
                  <c:v>7.776953175087328</c:v>
                </c:pt>
                <c:pt idx="2">
                  <c:v>7.752548152227866</c:v>
                </c:pt>
                <c:pt idx="3">
                  <c:v>7.684588523814259</c:v>
                </c:pt>
                <c:pt idx="4">
                  <c:v>7.700412219634606</c:v>
                </c:pt>
                <c:pt idx="5">
                  <c:v>7.739117923896551</c:v>
                </c:pt>
                <c:pt idx="6">
                  <c:v>7.798070371202842</c:v>
                </c:pt>
                <c:pt idx="7">
                  <c:v>7.828553376851595</c:v>
                </c:pt>
                <c:pt idx="8">
                  <c:v>7.8451823146787145</c:v>
                </c:pt>
                <c:pt idx="9">
                  <c:v>7.668450822565342</c:v>
                </c:pt>
                <c:pt idx="10">
                  <c:v>7.867685696466594</c:v>
                </c:pt>
                <c:pt idx="11">
                  <c:v>7.5131947711205775</c:v>
                </c:pt>
              </c:numCache>
            </c:numRef>
          </c:val>
        </c:ser>
        <c:ser>
          <c:idx val="6"/>
          <c:order val="6"/>
          <c:tx>
            <c:strRef>
              <c:f>Sheet1!$H$1</c:f>
              <c:strCache>
                <c:ptCount val="1"/>
                <c:pt idx="0">
                  <c:v>Mono-Material Recyclable Structures</c:v>
                </c:pt>
              </c:strCache>
            </c:strRef>
          </c:tx>
          <c:spPr>
            <a:solidFill>
              <a:srgbClr val="0E72AE"/>
            </a:solidFill>
            <a:ln>
              <a:noFill/>
            </a:ln>
          </c:spPr>
          <c:dLbls>
            <c:dLbl>
              <c:idx val="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9%</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8%</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8%</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Sheet1!$H$2:$H$13</c:f>
              <c:numCache>
                <c:formatCode>General</c:formatCode>
                <c:ptCount val="12"/>
                <c:pt idx="0">
                  <c:v>8.361672936651864</c:v>
                </c:pt>
                <c:pt idx="1">
                  <c:v>8.629367857850584</c:v>
                </c:pt>
                <c:pt idx="2">
                  <c:v>8.802548239928855</c:v>
                </c:pt>
                <c:pt idx="3">
                  <c:v>8.769814901603226</c:v>
                </c:pt>
                <c:pt idx="4">
                  <c:v>8.583664395930109</c:v>
                </c:pt>
                <c:pt idx="5">
                  <c:v>8.159183758448782</c:v>
                </c:pt>
                <c:pt idx="6">
                  <c:v>8.424935950208964</c:v>
                </c:pt>
                <c:pt idx="7">
                  <c:v>8.24904528069665</c:v>
                </c:pt>
                <c:pt idx="8">
                  <c:v>8.062244330550156</c:v>
                </c:pt>
                <c:pt idx="9">
                  <c:v>8.968384766609423</c:v>
                </c:pt>
                <c:pt idx="10">
                  <c:v>7.870637457674373</c:v>
                </c:pt>
                <c:pt idx="11">
                  <c:v>8.11129589017498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Monolayer Films</c:v>
                </c:pt>
              </c:strCache>
            </c:strRef>
          </c:tx>
          <c:spPr>
            <a:solidFill>
              <a:srgbClr val="3D85C6"/>
            </a:solidFill>
          </c:spPr>
          <c:invertIfNegative val="0"/>
          <c:xVal>
            <c:numRef>
              <c:f>Sheet1!$A$2:$A$2</c:f>
              <c:numCache>
                <c:formatCode>General</c:formatCode>
                <c:ptCount val="1"/>
                <c:pt idx="0">
                  <c:v>103.27501531074131</c:v>
                </c:pt>
              </c:numCache>
            </c:numRef>
          </c:xVal>
          <c:yVal>
            <c:numRef>
              <c:f>Sheet1!$B$2:$B$2</c:f>
              <c:numCache>
                <c:formatCode>General</c:formatCode>
                <c:ptCount val="1"/>
                <c:pt idx="0">
                  <c:v>109.46089808099795</c:v>
                </c:pt>
              </c:numCache>
            </c:numRef>
          </c:yVal>
          <c:bubbleSize>
            <c:numRef>
              <c:f>Sheet1!$C$2:$C$2</c:f>
              <c:numCache>
                <c:formatCode>General</c:formatCode>
                <c:ptCount val="1"/>
                <c:pt idx="0">
                  <c:v>7881.088</c:v>
                </c:pt>
              </c:numCache>
            </c:numRef>
          </c:bubbleSize>
          <c:bubble3D val="0"/>
        </c:ser>
        <c:ser>
          <c:idx val="1"/>
          <c:order val="1"/>
          <c:tx>
            <c:strRef>
              <c:f>Sheet1!$B$4</c:f>
              <c:strCache>
                <c:ptCount val="1"/>
                <c:pt idx="0">
                  <c:v>Coextruded Multilayer Films</c:v>
                </c:pt>
              </c:strCache>
            </c:strRef>
          </c:tx>
          <c:spPr>
            <a:solidFill>
              <a:srgbClr val="9E7E0A"/>
            </a:solidFill>
          </c:spPr>
          <c:invertIfNegative val="0"/>
          <c:xVal>
            <c:numRef>
              <c:f>Sheet1!$A$5:$A$5</c:f>
              <c:numCache>
                <c:formatCode>General</c:formatCode>
                <c:ptCount val="1"/>
                <c:pt idx="0">
                  <c:v>97.92439567458841</c:v>
                </c:pt>
              </c:numCache>
            </c:numRef>
          </c:xVal>
          <c:yVal>
            <c:numRef>
              <c:f>Sheet1!$B$5:$B$5</c:f>
              <c:numCache>
                <c:formatCode>General</c:formatCode>
                <c:ptCount val="1"/>
                <c:pt idx="0">
                  <c:v>206.15619773620776</c:v>
                </c:pt>
              </c:numCache>
            </c:numRef>
          </c:yVal>
          <c:bubbleSize>
            <c:numRef>
              <c:f>Sheet1!$C$5:$C$5</c:f>
              <c:numCache>
                <c:formatCode>General</c:formatCode>
                <c:ptCount val="1"/>
                <c:pt idx="0">
                  <c:v>14361.613000000001</c:v>
                </c:pt>
              </c:numCache>
            </c:numRef>
          </c:bubbleSize>
          <c:bubble3D val="0"/>
        </c:ser>
        <c:ser>
          <c:idx val="2"/>
          <c:order val="2"/>
          <c:tx>
            <c:strRef>
              <c:f>Sheet1!$B$7</c:f>
              <c:strCache>
                <c:ptCount val="1"/>
                <c:pt idx="0">
                  <c:v>Laminated Films</c:v>
                </c:pt>
              </c:strCache>
            </c:strRef>
          </c:tx>
          <c:spPr>
            <a:solidFill>
              <a:srgbClr val="008189"/>
            </a:solidFill>
          </c:spPr>
          <c:invertIfNegative val="0"/>
          <c:xVal>
            <c:numRef>
              <c:f>Sheet1!$A$8:$A$8</c:f>
              <c:numCache>
                <c:formatCode>General</c:formatCode>
                <c:ptCount val="1"/>
                <c:pt idx="0">
                  <c:v>98.41856027762343</c:v>
                </c:pt>
              </c:numCache>
            </c:numRef>
          </c:xVal>
          <c:yVal>
            <c:numRef>
              <c:f>Sheet1!$B$8:$B$8</c:f>
              <c:numCache>
                <c:formatCode>General</c:formatCode>
                <c:ptCount val="1"/>
                <c:pt idx="0">
                  <c:v>179.30687885276157</c:v>
                </c:pt>
              </c:numCache>
            </c:numRef>
          </c:yVal>
          <c:bubbleSize>
            <c:numRef>
              <c:f>Sheet1!$C$8:$C$8</c:f>
              <c:numCache>
                <c:formatCode>General</c:formatCode>
                <c:ptCount val="1"/>
                <c:pt idx="0">
                  <c:v>12529.344000000001</c:v>
                </c:pt>
              </c:numCache>
            </c:numRef>
          </c:bubbleSize>
          <c:bubble3D val="0"/>
        </c:ser>
        <c:ser>
          <c:idx val="3"/>
          <c:order val="3"/>
          <c:tx>
            <c:strRef>
              <c:f>Sheet1!$B$10</c:f>
              <c:strCache>
                <c:ptCount val="1"/>
                <c:pt idx="0">
                  <c:v>Coated Films</c:v>
                </c:pt>
              </c:strCache>
            </c:strRef>
          </c:tx>
          <c:spPr>
            <a:solidFill>
              <a:srgbClr val="40315E"/>
            </a:solidFill>
          </c:spPr>
          <c:invertIfNegative val="0"/>
          <c:xVal>
            <c:numRef>
              <c:f>Sheet1!$A$11:$A$11</c:f>
              <c:numCache>
                <c:formatCode>General</c:formatCode>
                <c:ptCount val="1"/>
                <c:pt idx="0">
                  <c:v>99.66104434899049</c:v>
                </c:pt>
              </c:numCache>
            </c:numRef>
          </c:xVal>
          <c:yVal>
            <c:numRef>
              <c:f>Sheet1!$B$11:$B$11</c:f>
              <c:numCache>
                <c:formatCode>General</c:formatCode>
                <c:ptCount val="1"/>
                <c:pt idx="0">
                  <c:v>47.2642774461573</c:v>
                </c:pt>
              </c:numCache>
            </c:numRef>
          </c:yVal>
          <c:bubbleSize>
            <c:numRef>
              <c:f>Sheet1!$C$11:$C$11</c:f>
              <c:numCache>
                <c:formatCode>General</c:formatCode>
                <c:ptCount val="1"/>
                <c:pt idx="0">
                  <c:v>3328.074</c:v>
                </c:pt>
              </c:numCache>
            </c:numRef>
          </c:bubbleSize>
          <c:bubble3D val="0"/>
        </c:ser>
        <c:ser>
          <c:idx val="4"/>
          <c:order val="4"/>
          <c:tx>
            <c:strRef>
              <c:f>Sheet1!$B$13</c:f>
              <c:strCache>
                <c:ptCount val="1"/>
                <c:pt idx="0">
                  <c:v>Metallized Films</c:v>
                </c:pt>
              </c:strCache>
            </c:strRef>
          </c:tx>
          <c:spPr>
            <a:solidFill>
              <a:srgbClr val="A35313"/>
            </a:solidFill>
          </c:spPr>
          <c:invertIfNegative val="0"/>
          <c:xVal>
            <c:numRef>
              <c:f>Sheet1!$A$14:$A$14</c:f>
              <c:numCache>
                <c:formatCode>General</c:formatCode>
                <c:ptCount val="1"/>
                <c:pt idx="0">
                  <c:v>95.1081408365578</c:v>
                </c:pt>
              </c:numCache>
            </c:numRef>
          </c:xVal>
          <c:yVal>
            <c:numRef>
              <c:f>Sheet1!$B$14:$B$14</c:f>
              <c:numCache>
                <c:formatCode>General</c:formatCode>
                <c:ptCount val="1"/>
                <c:pt idx="0">
                  <c:v>48.99063063307063</c:v>
                </c:pt>
              </c:numCache>
            </c:numRef>
          </c:yVal>
          <c:bubbleSize>
            <c:numRef>
              <c:f>Sheet1!$C$14:$C$14</c:f>
              <c:numCache>
                <c:formatCode>General</c:formatCode>
                <c:ptCount val="1"/>
                <c:pt idx="0">
                  <c:v>3354.003</c:v>
                </c:pt>
              </c:numCache>
            </c:numRef>
          </c:bubbleSize>
          <c:bubble3D val="0"/>
        </c:ser>
        <c:ser>
          <c:idx val="5"/>
          <c:order val="5"/>
          <c:tx>
            <c:strRef>
              <c:f>Sheet1!$B$16</c:f>
              <c:strCache>
                <c:ptCount val="1"/>
                <c:pt idx="0">
                  <c:v>Foil-Laminated Structures</c:v>
                </c:pt>
              </c:strCache>
            </c:strRef>
          </c:tx>
          <c:spPr>
            <a:solidFill>
              <a:srgbClr val="808080"/>
            </a:solidFill>
          </c:spPr>
          <c:invertIfNegative val="0"/>
          <c:xVal>
            <c:numRef>
              <c:f>Sheet1!$A$17:$A$17</c:f>
              <c:numCache>
                <c:formatCode>General</c:formatCode>
                <c:ptCount val="1"/>
                <c:pt idx="0">
                  <c:v>100.75156451574114</c:v>
                </c:pt>
              </c:numCache>
            </c:numRef>
          </c:xVal>
          <c:yVal>
            <c:numRef>
              <c:f>Sheet1!$B$17:$B$17</c:f>
              <c:numCache>
                <c:formatCode>General</c:formatCode>
                <c:ptCount val="1"/>
                <c:pt idx="0">
                  <c:v>53.90916668397675</c:v>
                </c:pt>
              </c:numCache>
            </c:numRef>
          </c:yVal>
          <c:bubbleSize>
            <c:numRef>
              <c:f>Sheet1!$C$17:$C$17</c:f>
              <c:numCache>
                <c:formatCode>General</c:formatCode>
                <c:ptCount val="1"/>
                <c:pt idx="0">
                  <c:v>3821.571</c:v>
                </c:pt>
              </c:numCache>
            </c:numRef>
          </c:bubbleSize>
          <c:bubble3D val="0"/>
        </c:ser>
        <c:ser>
          <c:idx val="6"/>
          <c:order val="6"/>
          <c:tx>
            <c:strRef>
              <c:f>Sheet1!$B$19</c:f>
              <c:strCache>
                <c:ptCount val="1"/>
                <c:pt idx="0">
                  <c:v>Mono-Material Recyclable Structures</c:v>
                </c:pt>
              </c:strCache>
            </c:strRef>
          </c:tx>
          <c:spPr>
            <a:solidFill>
              <a:srgbClr val="0E72AE"/>
            </a:solidFill>
          </c:spPr>
          <c:invertIfNegative val="0"/>
          <c:xVal>
            <c:numRef>
              <c:f>Sheet1!$A$20:$A$20</c:f>
              <c:numCache>
                <c:formatCode>General</c:formatCode>
                <c:ptCount val="1"/>
                <c:pt idx="0">
                  <c:v>109.88334032731348</c:v>
                </c:pt>
              </c:numCache>
            </c:numRef>
          </c:xVal>
          <c:yVal>
            <c:numRef>
              <c:f>Sheet1!$B$20:$B$20</c:f>
              <c:numCache>
                <c:formatCode>General</c:formatCode>
                <c:ptCount val="1"/>
                <c:pt idx="0">
                  <c:v>54.91195056682788</c:v>
                </c:pt>
              </c:numCache>
            </c:numRef>
          </c:yVal>
          <c:bubbleSize>
            <c:numRef>
              <c:f>Sheet1!$C$20:$C$20</c:f>
              <c:numCache>
                <c:formatCode>General</c:formatCode>
                <c:ptCount val="1"/>
                <c:pt idx="0">
                  <c:v>4117.329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4087.712</c:v>
                </c:pt>
                <c:pt idx="2">
                  <c:v>4586.831</c:v>
                </c:pt>
                <c:pt idx="3">
                  <c:v>5210.837</c:v>
                </c:pt>
                <c:pt idx="4">
                  <c:v>5980.195</c:v>
                </c:pt>
                <c:pt idx="5">
                  <c:v>6873.614</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4087.712</c:v>
                </c:pt>
                <c:pt idx="1">
                  <c:v>499.11900000000014</c:v>
                </c:pt>
                <c:pt idx="2">
                  <c:v>624.0060000000003</c:v>
                </c:pt>
                <c:pt idx="3">
                  <c:v>769.3579999999993</c:v>
                </c:pt>
                <c:pt idx="4">
                  <c:v>893.4189999999999</c:v>
                </c:pt>
                <c:pt idx="5">
                  <c:v>1007.4740000000002</c:v>
                </c:pt>
                <c:pt idx="6">
                  <c:v>7881.088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7698.705</c:v>
                </c:pt>
                <c:pt idx="2">
                  <c:v>8608.768</c:v>
                </c:pt>
                <c:pt idx="3">
                  <c:v>9717.891</c:v>
                </c:pt>
                <c:pt idx="4">
                  <c:v>11057.407</c:v>
                </c:pt>
                <c:pt idx="5">
                  <c:v>12612.029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7698.705</c:v>
                </c:pt>
                <c:pt idx="1">
                  <c:v>910.0630000000001</c:v>
                </c:pt>
                <c:pt idx="2">
                  <c:v>1109.1229999999996</c:v>
                </c:pt>
                <c:pt idx="3">
                  <c:v>1339.5159999999996</c:v>
                </c:pt>
                <c:pt idx="4">
                  <c:v>1554.6220000000012</c:v>
                </c:pt>
                <c:pt idx="5">
                  <c:v>1749.5840000000007</c:v>
                </c:pt>
                <c:pt idx="6">
                  <c:v>14361.613000000001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6696.043</c:v>
                </c:pt>
                <c:pt idx="2">
                  <c:v>7504.666</c:v>
                </c:pt>
                <c:pt idx="3">
                  <c:v>8486.291</c:v>
                </c:pt>
                <c:pt idx="4">
                  <c:v>9652.833</c:v>
                </c:pt>
                <c:pt idx="5">
                  <c:v>11005.236</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6696.043</c:v>
                </c:pt>
                <c:pt idx="1">
                  <c:v>808.6230000000005</c:v>
                </c:pt>
                <c:pt idx="2">
                  <c:v>981.6249999999991</c:v>
                </c:pt>
                <c:pt idx="3">
                  <c:v>1166.5420000000013</c:v>
                </c:pt>
                <c:pt idx="4">
                  <c:v>1352.4030000000002</c:v>
                </c:pt>
                <c:pt idx="5">
                  <c:v>1524.1080000000002</c:v>
                </c:pt>
                <c:pt idx="6">
                  <c:v>12529.344000000001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1765.039</c:v>
                </c:pt>
                <c:pt idx="2">
                  <c:v>1976.048</c:v>
                </c:pt>
                <c:pt idx="3">
                  <c:v>2235.679</c:v>
                </c:pt>
                <c:pt idx="4">
                  <c:v>2551.217</c:v>
                </c:pt>
                <c:pt idx="5">
                  <c:v>2916.538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1765.039</c:v>
                </c:pt>
                <c:pt idx="1">
                  <c:v>211.00900000000001</c:v>
                </c:pt>
                <c:pt idx="2">
                  <c:v>259.6310000000001</c:v>
                </c:pt>
                <c:pt idx="3">
                  <c:v>315.538</c:v>
                </c:pt>
                <c:pt idx="4">
                  <c:v>365.3209999999999</c:v>
                </c:pt>
                <c:pt idx="5">
                  <c:v>411.53600000000006</c:v>
                </c:pt>
                <c:pt idx="6">
                  <c:v>3328.074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1829.508</c:v>
                </c:pt>
                <c:pt idx="2">
                  <c:v>2034.825</c:v>
                </c:pt>
                <c:pt idx="3">
                  <c:v>2287.654</c:v>
                </c:pt>
                <c:pt idx="4">
                  <c:v>2593.863</c:v>
                </c:pt>
                <c:pt idx="5">
                  <c:v>2951.307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1829.508</c:v>
                </c:pt>
                <c:pt idx="1">
                  <c:v>205.317</c:v>
                </c:pt>
                <c:pt idx="2">
                  <c:v>252.82899999999995</c:v>
                </c:pt>
                <c:pt idx="3">
                  <c:v>306.20899999999983</c:v>
                </c:pt>
                <c:pt idx="4">
                  <c:v>357.44399999999996</c:v>
                </c:pt>
                <c:pt idx="5">
                  <c:v>402.69600000000037</c:v>
                </c:pt>
                <c:pt idx="6">
                  <c:v>3354.003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2013.186</c:v>
                </c:pt>
                <c:pt idx="2">
                  <c:v>2254.394</c:v>
                </c:pt>
                <c:pt idx="3">
                  <c:v>2556.462</c:v>
                </c:pt>
                <c:pt idx="4">
                  <c:v>2919.239</c:v>
                </c:pt>
                <c:pt idx="5">
                  <c:v>3342.462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2013.186</c:v>
                </c:pt>
                <c:pt idx="1">
                  <c:v>241.20799999999986</c:v>
                </c:pt>
                <c:pt idx="2">
                  <c:v>302.0680000000002</c:v>
                </c:pt>
                <c:pt idx="3">
                  <c:v>362.77700000000004</c:v>
                </c:pt>
                <c:pt idx="4">
                  <c:v>423.22299999999996</c:v>
                </c:pt>
                <c:pt idx="5">
                  <c:v>479.1089999999999</c:v>
                </c:pt>
                <c:pt idx="6">
                  <c:v>3821.571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2050.634</c:v>
                </c:pt>
                <c:pt idx="2">
                  <c:v>2328.964</c:v>
                </c:pt>
                <c:pt idx="3">
                  <c:v>2670.154</c:v>
                </c:pt>
                <c:pt idx="4">
                  <c:v>3082.828</c:v>
                </c:pt>
                <c:pt idx="5">
                  <c:v>3566.671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2050.634</c:v>
                </c:pt>
                <c:pt idx="1">
                  <c:v>278.3299999999999</c:v>
                </c:pt>
                <c:pt idx="2">
                  <c:v>341.19000000000005</c:v>
                </c:pt>
                <c:pt idx="3">
                  <c:v>412.674</c:v>
                </c:pt>
                <c:pt idx="4">
                  <c:v>483.84299999999985</c:v>
                </c:pt>
                <c:pt idx="5">
                  <c:v>550.6579999999999</c:v>
                </c:pt>
                <c:pt idx="6">
                  <c:v>4117.329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Coextruded Multilayer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29.612180575086068</c:v>
                </c:pt>
                <c:pt idx="1">
                  <c:v>29.450885390886828</c:v>
                </c:pt>
                <c:pt idx="2">
                  <c:v>29.07619825326743</c:v>
                </c:pt>
              </c:numCache>
            </c:numRef>
          </c:val>
        </c:ser>
        <c:ser>
          <c:idx val="1"/>
          <c:order val="1"/>
          <c:tx>
            <c:strRef>
              <c:f>Sheet1!$C$1</c:f>
              <c:strCache>
                <c:ptCount val="1"/>
                <c:pt idx="0">
                  <c:v>Laminated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25.501435290694857</c:v>
                </c:pt>
                <c:pt idx="1">
                  <c:v>25.61526840753737</c:v>
                </c:pt>
                <c:pt idx="2">
                  <c:v>25.366627698949053</c:v>
                </c:pt>
              </c:numCache>
            </c:numRef>
          </c:val>
        </c:ser>
        <c:ser>
          <c:idx val="2"/>
          <c:order val="2"/>
          <c:tx>
            <c:strRef>
              <c:f>Sheet1!$D$1</c:f>
              <c:strCache>
                <c:ptCount val="1"/>
                <c:pt idx="0">
                  <c:v>Monolayer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15.664214711729624</c:v>
                </c:pt>
                <c:pt idx="1">
                  <c:v>15.637271154428282</c:v>
                </c:pt>
                <c:pt idx="2">
                  <c:v>15.955873281047673</c:v>
                </c:pt>
              </c:numCache>
            </c:numRef>
          </c:val>
        </c:ser>
        <c:ser>
          <c:idx val="3"/>
          <c:order val="3"/>
          <c:tx>
            <c:strRef>
              <c:f>Sheet1!$E$1</c:f>
              <c:strCache>
                <c:ptCount val="1"/>
                <c:pt idx="0">
                  <c:v>Mono-Material Recyclable Structures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7.5493769092760505</c:v>
                </c:pt>
                <c:pt idx="1">
                  <c:v>7.844564366689699</c:v>
                </c:pt>
                <c:pt idx="2">
                  <c:v>8.335851570288613</c:v>
                </c:pt>
              </c:numCache>
            </c:numRef>
          </c:val>
        </c:ser>
        <c:ser>
          <c:idx val="4"/>
          <c:order val="4"/>
          <c:tx>
            <c:strRef>
              <c:f>Sheet1!$F$1</c:f>
              <c:strCache>
                <c:ptCount val="1"/>
                <c:pt idx="0">
                  <c:v>Foil-Laminated Structures</c:v>
                </c:pt>
              </c:strCache>
            </c:strRef>
          </c:tx>
          <c:spPr>
            <a:solidFill>
              <a:srgbClr val="A35313"/>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Sheet1!$F$2:$F$4</c:f>
              <c:numCache>
                <c:formatCode>General</c:formatCode>
                <c:ptCount val="3"/>
                <c:pt idx="0">
                  <c:v>7.784541531300004</c:v>
                </c:pt>
                <c:pt idx="1">
                  <c:v>7.701309526282393</c:v>
                </c:pt>
                <c:pt idx="2">
                  <c:v>7.737066584020713</c:v>
                </c:pt>
              </c:numCache>
            </c:numRef>
          </c:val>
        </c:ser>
        <c:ser>
          <c:idx val="5"/>
          <c:order val="5"/>
          <c:tx>
            <c:strRef>
              <c:f>Sheet1!$G$1</c:f>
              <c:strCache>
                <c:ptCount val="1"/>
                <c:pt idx="0">
                  <c:v>Metallized Films</c:v>
                </c:pt>
              </c:strCache>
            </c:strRef>
          </c:tx>
          <c:spPr>
            <a:solidFill>
              <a:srgbClr val="808080"/>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Sheet1!$G$2:$G$4</c:f>
              <c:numCache>
                <c:formatCode>General</c:formatCode>
                <c:ptCount val="3"/>
                <c:pt idx="0">
                  <c:v>7.136027736022887</c:v>
                </c:pt>
                <c:pt idx="1">
                  <c:v>6.998661519010091</c:v>
                </c:pt>
                <c:pt idx="2">
                  <c:v>6.790438940949999</c:v>
                </c:pt>
              </c:numCache>
            </c:numRef>
          </c:val>
        </c:ser>
        <c:ser>
          <c:idx val="6"/>
          <c:order val="6"/>
          <c:tx>
            <c:strRef>
              <c:f>Sheet1!$H$1</c:f>
              <c:strCache>
                <c:ptCount val="1"/>
                <c:pt idx="0">
                  <c:v>Coated Films</c:v>
                </c:pt>
              </c:strCache>
            </c:strRef>
          </c:tx>
          <c:spPr>
            <a:solidFill>
              <a:srgbClr val="0E72A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Sheet1!$H$2:$H$4</c:f>
              <c:numCache>
                <c:formatCode>General</c:formatCode>
                <c:ptCount val="3"/>
                <c:pt idx="0">
                  <c:v>6.752223245890511</c:v>
                </c:pt>
                <c:pt idx="1">
                  <c:v>6.75203963516533</c:v>
                </c:pt>
                <c:pt idx="2">
                  <c:v>6.7379436714765095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Sheet1!$B$2:$B$13</c:f>
              <c:numCache>
                <c:formatCode>General</c:formatCode>
                <c:ptCount val="12"/>
                <c:pt idx="0">
                  <c:v>21.557305193176234</c:v>
                </c:pt>
                <c:pt idx="1">
                  <c:v>21.70055524686921</c:v>
                </c:pt>
                <c:pt idx="2">
                  <c:v>21.648716474667363</c:v>
                </c:pt>
                <c:pt idx="3">
                  <c:v>21.47780612768138</c:v>
                </c:pt>
                <c:pt idx="4">
                  <c:v>21.517328942137024</c:v>
                </c:pt>
                <c:pt idx="5">
                  <c:v>21.604528931351936</c:v>
                </c:pt>
                <c:pt idx="6">
                  <c:v>20.67419984292891</c:v>
                </c:pt>
                <c:pt idx="7">
                  <c:v>20.715607160901957</c:v>
                </c:pt>
                <c:pt idx="8">
                  <c:v>20.75544245444656</c:v>
                </c:pt>
                <c:pt idx="9">
                  <c:v>21.327297815667123</c:v>
                </c:pt>
                <c:pt idx="10">
                  <c:v>20.799497674538223</c:v>
                </c:pt>
                <c:pt idx="11">
                  <c:v>20.840471250976606</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Sheet1!$C$2:$C$13</c:f>
              <c:numCache>
                <c:formatCode>General</c:formatCode>
                <c:ptCount val="12"/>
                <c:pt idx="0">
                  <c:v>31.513728452227507</c:v>
                </c:pt>
                <c:pt idx="1">
                  <c:v>31.735097896745067</c:v>
                </c:pt>
                <c:pt idx="2">
                  <c:v>31.685300926078185</c:v>
                </c:pt>
                <c:pt idx="3">
                  <c:v>31.431292591774163</c:v>
                </c:pt>
                <c:pt idx="4">
                  <c:v>31.471527120712135</c:v>
                </c:pt>
                <c:pt idx="5">
                  <c:v>31.61131561627387</c:v>
                </c:pt>
                <c:pt idx="6">
                  <c:v>31.83540208625699</c:v>
                </c:pt>
                <c:pt idx="7">
                  <c:v>31.888581141721588</c:v>
                </c:pt>
                <c:pt idx="8">
                  <c:v>31.92862353693544</c:v>
                </c:pt>
                <c:pt idx="9">
                  <c:v>31.70008311367495</c:v>
                </c:pt>
                <c:pt idx="10">
                  <c:v>32.00289272598362</c:v>
                </c:pt>
                <c:pt idx="11">
                  <c:v>32.052664581122606</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Sheet1!$D$2:$D$13</c:f>
              <c:numCache>
                <c:formatCode>General</c:formatCode>
                <c:ptCount val="12"/>
                <c:pt idx="0">
                  <c:v>34.202222714820934</c:v>
                </c:pt>
                <c:pt idx="1">
                  <c:v>32.72420666529378</c:v>
                </c:pt>
                <c:pt idx="2">
                  <c:v>34.291466215182176</c:v>
                </c:pt>
                <c:pt idx="3">
                  <c:v>34.01842662034018</c:v>
                </c:pt>
                <c:pt idx="4">
                  <c:v>34.11135094980169</c:v>
                </c:pt>
                <c:pt idx="5">
                  <c:v>34.23431961929929</c:v>
                </c:pt>
                <c:pt idx="6">
                  <c:v>32.74134274725453</c:v>
                </c:pt>
                <c:pt idx="7">
                  <c:v>32.820298303290144</c:v>
                </c:pt>
                <c:pt idx="8">
                  <c:v>32.9128250346956</c:v>
                </c:pt>
                <c:pt idx="9">
                  <c:v>33.7908895560894</c:v>
                </c:pt>
                <c:pt idx="10">
                  <c:v>32.9700036765501</c:v>
                </c:pt>
                <c:pt idx="11">
                  <c:v>33.05259143513488</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Sheet1!$E$2:$E$13</c:f>
              <c:numCache>
                <c:formatCode>General</c:formatCode>
                <c:ptCount val="12"/>
                <c:pt idx="0">
                  <c:v>12.72674363977534</c:v>
                </c:pt>
                <c:pt idx="1">
                  <c:v>13.840140191091962</c:v>
                </c:pt>
                <c:pt idx="2">
                  <c:v>12.37451638407228</c:v>
                </c:pt>
                <c:pt idx="3">
                  <c:v>13.072474660204284</c:v>
                </c:pt>
                <c:pt idx="4">
                  <c:v>12.89979298734916</c:v>
                </c:pt>
                <c:pt idx="5">
                  <c:v>12.549835833074896</c:v>
                </c:pt>
                <c:pt idx="6">
                  <c:v>14.74905532355958</c:v>
                </c:pt>
                <c:pt idx="7">
                  <c:v>14.575513394086293</c:v>
                </c:pt>
                <c:pt idx="8">
                  <c:v>14.403108973922391</c:v>
                </c:pt>
                <c:pt idx="9">
                  <c:v>13.181729514568527</c:v>
                </c:pt>
                <c:pt idx="10">
                  <c:v>14.227605922928053</c:v>
                </c:pt>
                <c:pt idx="11">
                  <c:v>14.054272732765904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98.88266014318819</c:v>
                </c:pt>
              </c:numCache>
            </c:numRef>
          </c:xVal>
          <c:yVal>
            <c:numRef>
              <c:f>Sheet1!$B$2:$B$2</c:f>
              <c:numCache>
                <c:formatCode>General</c:formatCode>
                <c:ptCount val="1"/>
                <c:pt idx="0">
                  <c:v>84.80982200026887</c:v>
                </c:pt>
              </c:numCache>
            </c:numRef>
          </c:yVal>
          <c:bubbleSize>
            <c:numRef>
              <c:f>Sheet1!$C$2:$C$2</c:f>
              <c:numCache>
                <c:formatCode>General</c:formatCode>
                <c:ptCount val="1"/>
                <c:pt idx="0">
                  <c:v>10400.619</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93.24297759672041</c:v>
                </c:pt>
              </c:numCache>
            </c:numRef>
          </c:xVal>
          <c:yVal>
            <c:numRef>
              <c:f>Sheet1!$B$5:$B$5</c:f>
              <c:numCache>
                <c:formatCode>General</c:formatCode>
                <c:ptCount val="1"/>
                <c:pt idx="0">
                  <c:v>132.68985455930124</c:v>
                </c:pt>
              </c:numCache>
            </c:numRef>
          </c:yVal>
          <c:bubbleSize>
            <c:numRef>
              <c:f>Sheet1!$C$5:$C$5</c:f>
              <c:numCache>
                <c:formatCode>General</c:formatCode>
                <c:ptCount val="1"/>
                <c:pt idx="0">
                  <c:v>15715.002</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107.07862417330796</c:v>
                </c:pt>
              </c:numCache>
            </c:numRef>
          </c:xVal>
          <c:yVal>
            <c:numRef>
              <c:f>Sheet1!$B$8:$B$8</c:f>
              <c:numCache>
                <c:formatCode>General</c:formatCode>
                <c:ptCount val="1"/>
                <c:pt idx="0">
                  <c:v>127.63843040001875</c:v>
                </c:pt>
              </c:numCache>
            </c:numRef>
          </c:yVal>
          <c:bubbleSize>
            <c:numRef>
              <c:f>Sheet1!$C$8:$C$8</c:f>
              <c:numCache>
                <c:formatCode>General</c:formatCode>
                <c:ptCount val="1"/>
                <c:pt idx="0">
                  <c:v>16462.583</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100.96311823722421</c:v>
                </c:pt>
              </c:numCache>
            </c:numRef>
          </c:xVal>
          <c:yVal>
            <c:numRef>
              <c:f>Sheet1!$B$11:$B$11</c:f>
              <c:numCache>
                <c:formatCode>General</c:formatCode>
                <c:ptCount val="1"/>
                <c:pt idx="0">
                  <c:v>54.8618930404112</c:v>
                </c:pt>
              </c:numCache>
            </c:numRef>
          </c:yVal>
          <c:bubbleSize>
            <c:numRef>
              <c:f>Sheet1!$C$11:$C$11</c:f>
              <c:numCache>
                <c:formatCode>General</c:formatCode>
                <c:ptCount val="1"/>
                <c:pt idx="0">
                  <c:v>6814.818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5542.497</c:v>
                </c:pt>
                <c:pt idx="2">
                  <c:v>6193.004</c:v>
                </c:pt>
                <c:pt idx="3">
                  <c:v>6998.464</c:v>
                </c:pt>
                <c:pt idx="4">
                  <c:v>7978.597</c:v>
                </c:pt>
                <c:pt idx="5">
                  <c:v>9117.407</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5542.497</c:v>
                </c:pt>
                <c:pt idx="1">
                  <c:v>650.5069999999996</c:v>
                </c:pt>
                <c:pt idx="2">
                  <c:v>805.46</c:v>
                </c:pt>
                <c:pt idx="3">
                  <c:v>980.1329999999998</c:v>
                </c:pt>
                <c:pt idx="4">
                  <c:v>1138.8099999999995</c:v>
                </c:pt>
                <c:pt idx="5">
                  <c:v>1283.2120000000014</c:v>
                </c:pt>
                <c:pt idx="6">
                  <c:v>10400.619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8671.556</c:v>
                </c:pt>
                <c:pt idx="2">
                  <c:v>9633.956</c:v>
                </c:pt>
                <c:pt idx="3">
                  <c:v>10799.353</c:v>
                </c:pt>
                <c:pt idx="4">
                  <c:v>12213.131</c:v>
                </c:pt>
                <c:pt idx="5">
                  <c:v>13861.519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8671.556</c:v>
                </c:pt>
                <c:pt idx="1">
                  <c:v>962.3999999999996</c:v>
                </c:pt>
                <c:pt idx="2">
                  <c:v>1165.396999999999</c:v>
                </c:pt>
                <c:pt idx="3">
                  <c:v>1413.7780000000002</c:v>
                </c:pt>
                <c:pt idx="4">
                  <c:v>1648.3880000000008</c:v>
                </c:pt>
                <c:pt idx="5">
                  <c:v>1853.4830000000002</c:v>
                </c:pt>
                <c:pt idx="6">
                  <c:v>15715.002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8341.435</c:v>
                </c:pt>
                <c:pt idx="2">
                  <c:v>9430.424</c:v>
                </c:pt>
                <c:pt idx="3">
                  <c:v>10783.552</c:v>
                </c:pt>
                <c:pt idx="4">
                  <c:v>12417.544</c:v>
                </c:pt>
                <c:pt idx="5">
                  <c:v>14314.583</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8341.435</c:v>
                </c:pt>
                <c:pt idx="1">
                  <c:v>1088.9890000000014</c:v>
                </c:pt>
                <c:pt idx="2">
                  <c:v>1353.1279999999988</c:v>
                </c:pt>
                <c:pt idx="3">
                  <c:v>1633.9920000000002</c:v>
                </c:pt>
                <c:pt idx="4">
                  <c:v>1897.0390000000007</c:v>
                </c:pt>
                <c:pt idx="5">
                  <c:v>2147.999999999998</c:v>
                </c:pt>
                <c:pt idx="6">
                  <c:v>16462.583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3585.338</c:v>
                </c:pt>
                <c:pt idx="2">
                  <c:v>4037.112</c:v>
                </c:pt>
                <c:pt idx="3">
                  <c:v>4583.601</c:v>
                </c:pt>
                <c:pt idx="4">
                  <c:v>5228.311</c:v>
                </c:pt>
                <c:pt idx="5">
                  <c:v>5974.351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3585.338</c:v>
                </c:pt>
                <c:pt idx="1">
                  <c:v>451.7739999999999</c:v>
                </c:pt>
                <c:pt idx="2">
                  <c:v>546.4889999999996</c:v>
                </c:pt>
                <c:pt idx="3">
                  <c:v>644.71</c:v>
                </c:pt>
                <c:pt idx="4">
                  <c:v>746.04</c:v>
                </c:pt>
                <c:pt idx="5">
                  <c:v>840.4670000000006</c:v>
                </c:pt>
                <c:pt idx="6">
                  <c:v>6814.818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31.379246472385198</c:v>
                </c:pt>
                <c:pt idx="1">
                  <c:v>31.90960760000468</c:v>
                </c:pt>
                <c:pt idx="2">
                  <c:v>33.32977480098302</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33.67164331086651</c:v>
                </c:pt>
                <c:pt idx="1">
                  <c:v>33.1724636398253</c:v>
                </c:pt>
                <c:pt idx="2">
                  <c:v>31.81623914406371</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21.504839257140087</c:v>
                </c:pt>
                <c:pt idx="1">
                  <c:v>21.202455500067213</c:v>
                </c:pt>
                <c:pt idx="2">
                  <c:v>21.056859003281883</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13.444270959608204</c:v>
                </c:pt>
                <c:pt idx="1">
                  <c:v>13.715473260102797</c:v>
                </c:pt>
                <c:pt idx="2">
                  <c:v>13.79712705167139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Food Packaging</c:v>
                </c:pt>
              </c:strCache>
            </c:strRef>
          </c:tx>
          <c:spPr>
            <a:solidFill>
              <a:srgbClr val="3D85C6"/>
            </a:solidFill>
            <a:ln>
              <a:noFill/>
            </a:ln>
          </c:spPr>
          <c:dLbls>
            <c:dLbl>
              <c:idx val="0"/>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84%</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85%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85%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83%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85%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85%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Sheet1!$B$2:$B$13</c:f>
              <c:numCache>
                <c:formatCode>General</c:formatCode>
                <c:ptCount val="12"/>
                <c:pt idx="0">
                  <c:v>83.70033524139662</c:v>
                </c:pt>
                <c:pt idx="1">
                  <c:v>84.20280428374821</c:v>
                </c:pt>
                <c:pt idx="2">
                  <c:v>84.01796289288347</c:v>
                </c:pt>
                <c:pt idx="3">
                  <c:v>83.36498343835854</c:v>
                </c:pt>
                <c:pt idx="4">
                  <c:v>83.53323689973666</c:v>
                </c:pt>
                <c:pt idx="5">
                  <c:v>83.8657241532326</c:v>
                </c:pt>
                <c:pt idx="6">
                  <c:v>84.36579956172609</c:v>
                </c:pt>
                <c:pt idx="7">
                  <c:v>84.53536718330213</c:v>
                </c:pt>
                <c:pt idx="8">
                  <c:v>84.70324287733592</c:v>
                </c:pt>
                <c:pt idx="9">
                  <c:v>83.19872101168183</c:v>
                </c:pt>
                <c:pt idx="10">
                  <c:v>84.86014710006138</c:v>
                </c:pt>
                <c:pt idx="11">
                  <c:v>85.04266187860678</c:v>
                </c:pt>
              </c:numCache>
            </c:numRef>
          </c:val>
        </c:ser>
        <c:ser>
          <c:idx val="1"/>
          <c:order val="1"/>
          <c:tx>
            <c:strRef>
              <c:f>Sheet1!$C$1</c:f>
              <c:strCache>
                <c:ptCount val="1"/>
                <c:pt idx="0">
                  <c:v>Non-Food Packaging</c:v>
                </c:pt>
              </c:strCache>
            </c:strRef>
          </c:tx>
          <c:spPr>
            <a:solidFill>
              <a:srgbClr val="9E7E0A"/>
            </a:solidFill>
            <a:ln>
              <a:noFill/>
            </a:ln>
          </c:spPr>
          <c:dLbls>
            <c:dLbl>
              <c:idx val="0"/>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16%</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17%</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15%</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Sheet1!$C$2:$C$13</c:f>
              <c:numCache>
                <c:formatCode>General</c:formatCode>
                <c:ptCount val="12"/>
                <c:pt idx="0">
                  <c:v>16.29966475860339</c:v>
                </c:pt>
                <c:pt idx="1">
                  <c:v>15.797195716251805</c:v>
                </c:pt>
                <c:pt idx="2">
                  <c:v>15.98203710711653</c:v>
                </c:pt>
                <c:pt idx="3">
                  <c:v>16.635016561641464</c:v>
                </c:pt>
                <c:pt idx="4">
                  <c:v>16.466763100263336</c:v>
                </c:pt>
                <c:pt idx="5">
                  <c:v>16.134275846767405</c:v>
                </c:pt>
                <c:pt idx="6">
                  <c:v>15.634200438273913</c:v>
                </c:pt>
                <c:pt idx="7">
                  <c:v>15.464632816697883</c:v>
                </c:pt>
                <c:pt idx="8">
                  <c:v>15.296757122664067</c:v>
                </c:pt>
                <c:pt idx="9">
                  <c:v>16.801278988318185</c:v>
                </c:pt>
                <c:pt idx="10">
                  <c:v>15.139852899938614</c:v>
                </c:pt>
                <c:pt idx="11">
                  <c:v>14.957338121393219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Food Packaging</c:v>
                </c:pt>
              </c:strCache>
            </c:strRef>
          </c:tx>
          <c:spPr>
            <a:solidFill>
              <a:srgbClr val="3D85C6"/>
            </a:solidFill>
          </c:spPr>
          <c:invertIfNegative val="0"/>
          <c:xVal>
            <c:numRef>
              <c:f>Sheet1!$A$2:$A$2</c:f>
              <c:numCache>
                <c:formatCode>General</c:formatCode>
                <c:ptCount val="1"/>
                <c:pt idx="0">
                  <c:v>100.12225637778562</c:v>
                </c:pt>
              </c:numCache>
            </c:numRef>
          </c:xVal>
          <c:yVal>
            <c:numRef>
              <c:f>Sheet1!$B$2:$B$2</c:f>
              <c:numCache>
                <c:formatCode>General</c:formatCode>
                <c:ptCount val="1"/>
                <c:pt idx="0">
                  <c:v>168.43895686854296</c:v>
                </c:pt>
              </c:numCache>
            </c:numRef>
          </c:yVal>
          <c:bubbleSize>
            <c:numRef>
              <c:f>Sheet1!$C$2:$C$2</c:f>
              <c:numCache>
                <c:formatCode>General</c:formatCode>
                <c:ptCount val="1"/>
                <c:pt idx="0">
                  <c:v>41629.907999999996</c:v>
                </c:pt>
              </c:numCache>
            </c:numRef>
          </c:bubbleSize>
          <c:bubble3D val="0"/>
        </c:ser>
        <c:ser>
          <c:idx val="1"/>
          <c:order val="1"/>
          <c:tx>
            <c:strRef>
              <c:f>Sheet1!$B$4</c:f>
              <c:strCache>
                <c:ptCount val="1"/>
                <c:pt idx="0">
                  <c:v>Non-Food Packaging</c:v>
                </c:pt>
              </c:strCache>
            </c:strRef>
          </c:tx>
          <c:spPr>
            <a:solidFill>
              <a:srgbClr val="9E7E0A"/>
            </a:solidFill>
          </c:spPr>
          <c:invertIfNegative val="0"/>
          <c:xVal>
            <c:numRef>
              <c:f>Sheet1!$A$5:$A$5</c:f>
              <c:numCache>
                <c:formatCode>General</c:formatCode>
                <c:ptCount val="1"/>
                <c:pt idx="0">
                  <c:v>99.34612054081703</c:v>
                </c:pt>
              </c:numCache>
            </c:numRef>
          </c:xVal>
          <c:yVal>
            <c:numRef>
              <c:f>Sheet1!$B$5:$B$5</c:f>
              <c:numCache>
                <c:formatCode>General</c:formatCode>
                <c:ptCount val="1"/>
                <c:pt idx="0">
                  <c:v>31.56104313145704</c:v>
                </c:pt>
              </c:numCache>
            </c:numRef>
          </c:yVal>
          <c:bubbleSize>
            <c:numRef>
              <c:f>Sheet1!$C$5:$C$5</c:f>
              <c:numCache>
                <c:formatCode>General</c:formatCode>
                <c:ptCount val="1"/>
                <c:pt idx="0">
                  <c:v>7763.113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22015.669</c:v>
                </c:pt>
                <c:pt idx="2">
                  <c:v>24671.99</c:v>
                </c:pt>
                <c:pt idx="3">
                  <c:v>27935.729</c:v>
                </c:pt>
                <c:pt idx="4">
                  <c:v>31878.473</c:v>
                </c:pt>
                <c:pt idx="5">
                  <c:v>36460.841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22015.669</c:v>
                </c:pt>
                <c:pt idx="1">
                  <c:v>2656.321</c:v>
                </c:pt>
                <c:pt idx="2">
                  <c:v>3263.7389999999978</c:v>
                </c:pt>
                <c:pt idx="3">
                  <c:v>3942.7440000000024</c:v>
                </c:pt>
                <c:pt idx="4">
                  <c:v>4582.367999999999</c:v>
                </c:pt>
                <c:pt idx="5">
                  <c:v>5169.0669999999955</c:v>
                </c:pt>
                <c:pt idx="6">
                  <c:v>41629.907999999996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4125.159</c:v>
                </c:pt>
                <c:pt idx="2">
                  <c:v>4622.505</c:v>
                </c:pt>
                <c:pt idx="3">
                  <c:v>5229.2429999999995</c:v>
                </c:pt>
                <c:pt idx="4">
                  <c:v>5959.111</c:v>
                </c:pt>
                <c:pt idx="5">
                  <c:v>6807.0199999999995</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4125.159</c:v>
                </c:pt>
                <c:pt idx="1">
                  <c:v>497.34600000000046</c:v>
                </c:pt>
                <c:pt idx="2">
                  <c:v>606.7379999999994</c:v>
                </c:pt>
                <c:pt idx="3">
                  <c:v>729.8680000000004</c:v>
                </c:pt>
                <c:pt idx="4">
                  <c:v>847.9089999999997</c:v>
                </c:pt>
                <c:pt idx="5">
                  <c:v>956.0930000000008</c:v>
                </c:pt>
                <c:pt idx="6">
                  <c:v>7763.113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Food Packaging</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84.27214019219218</c:v>
                </c:pt>
                <c:pt idx="1">
                  <c:v>84.21947843427148</c:v>
                </c:pt>
                <c:pt idx="2">
                  <c:v>84.2829759289273</c:v>
                </c:pt>
              </c:numCache>
            </c:numRef>
          </c:val>
        </c:ser>
        <c:ser>
          <c:idx val="1"/>
          <c:order val="1"/>
          <c:tx>
            <c:strRef>
              <c:f>Sheet1!$C$1</c:f>
              <c:strCache>
                <c:ptCount val="1"/>
                <c:pt idx="0">
                  <c:v>Non-Food Packaging</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15.727859807807818</c:v>
                </c:pt>
                <c:pt idx="1">
                  <c:v>15.78052156572852</c:v>
                </c:pt>
                <c:pt idx="2">
                  <c:v>15.717024071072716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Low-Barrier Films</c:v>
                </c:pt>
              </c:strCache>
            </c:strRef>
          </c:tx>
          <c:spPr>
            <a:solidFill>
              <a:srgbClr val="3D85C6"/>
            </a:solidFill>
            <a:ln>
              <a:noFill/>
            </a:ln>
          </c:spPr>
          <c:dLbls>
            <c:dLbl>
              <c:idx val="0"/>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22%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21%</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21%</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Sheet1!$B$2:$B$13</c:f>
              <c:numCache>
                <c:formatCode>General</c:formatCode>
                <c:ptCount val="12"/>
                <c:pt idx="0">
                  <c:v>21.557253301101508</c:v>
                </c:pt>
                <c:pt idx="1">
                  <c:v>21.70046067192202</c:v>
                </c:pt>
                <c:pt idx="2">
                  <c:v>21.648735460814088</c:v>
                </c:pt>
                <c:pt idx="3">
                  <c:v>21.477853139616514</c:v>
                </c:pt>
                <c:pt idx="4">
                  <c:v>21.517342340729524</c:v>
                </c:pt>
                <c:pt idx="5">
                  <c:v>21.604542358386908</c:v>
                </c:pt>
                <c:pt idx="6">
                  <c:v>20.674204425655216</c:v>
                </c:pt>
                <c:pt idx="7">
                  <c:v>20.71557252061788</c:v>
                </c:pt>
                <c:pt idx="8">
                  <c:v>20.755428790946333</c:v>
                </c:pt>
                <c:pt idx="9">
                  <c:v>21.327328415589538</c:v>
                </c:pt>
                <c:pt idx="10">
                  <c:v>20.799489140584242</c:v>
                </c:pt>
                <c:pt idx="11">
                  <c:v>20.84048229733648</c:v>
                </c:pt>
              </c:numCache>
            </c:numRef>
          </c:val>
        </c:ser>
        <c:ser>
          <c:idx val="1"/>
          <c:order val="1"/>
          <c:tx>
            <c:strRef>
              <c:f>Sheet1!$C$1</c:f>
              <c:strCache>
                <c:ptCount val="1"/>
                <c:pt idx="0">
                  <c:v>Medium-Barrier Films</c:v>
                </c:pt>
              </c:strCache>
            </c:strRef>
          </c:tx>
          <c:spPr>
            <a:solidFill>
              <a:srgbClr val="9E7E0A"/>
            </a:solidFill>
            <a:ln>
              <a:noFill/>
            </a:ln>
          </c:spPr>
          <c:dLbls>
            <c:dLbl>
              <c:idx val="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31%</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32%</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32%</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Sheet1!$C$2:$C$13</c:f>
              <c:numCache>
                <c:formatCode>General</c:formatCode>
                <c:ptCount val="12"/>
                <c:pt idx="0">
                  <c:v>31.51378594722799</c:v>
                </c:pt>
                <c:pt idx="1">
                  <c:v>31.735150946211427</c:v>
                </c:pt>
                <c:pt idx="2">
                  <c:v>31.68532871441257</c:v>
                </c:pt>
                <c:pt idx="3">
                  <c:v>31.431227355650858</c:v>
                </c:pt>
                <c:pt idx="4">
                  <c:v>31.471515583245818</c:v>
                </c:pt>
                <c:pt idx="5">
                  <c:v>31.611304187859535</c:v>
                </c:pt>
                <c:pt idx="6">
                  <c:v>31.83538697661799</c:v>
                </c:pt>
                <c:pt idx="7">
                  <c:v>31.888548660214344</c:v>
                </c:pt>
                <c:pt idx="8">
                  <c:v>31.928629042130613</c:v>
                </c:pt>
                <c:pt idx="9">
                  <c:v>31.700060558397748</c:v>
                </c:pt>
                <c:pt idx="10">
                  <c:v>32.002902078946484</c:v>
                </c:pt>
                <c:pt idx="11">
                  <c:v>32.05264181715932</c:v>
                </c:pt>
              </c:numCache>
            </c:numRef>
          </c:val>
        </c:ser>
        <c:ser>
          <c:idx val="2"/>
          <c:order val="2"/>
          <c:tx>
            <c:strRef>
              <c:f>Sheet1!$D$1</c:f>
              <c:strCache>
                <c:ptCount val="1"/>
                <c:pt idx="0">
                  <c:v>High-Barrier Films</c:v>
                </c:pt>
              </c:strCache>
            </c:strRef>
          </c:tx>
          <c:spPr>
            <a:solidFill>
              <a:srgbClr val="008189"/>
            </a:solidFill>
            <a:ln>
              <a:noFill/>
            </a:ln>
          </c:spPr>
          <c:dLbls>
            <c:dLbl>
              <c:idx val="0"/>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34%</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33%</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33%</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Sheet1!$D$2:$D$13</c:f>
              <c:numCache>
                <c:formatCode>General</c:formatCode>
                <c:ptCount val="12"/>
                <c:pt idx="0">
                  <c:v>34.202285114825884</c:v>
                </c:pt>
                <c:pt idx="1">
                  <c:v>32.72418123492404</c:v>
                </c:pt>
                <c:pt idx="2">
                  <c:v>34.29149628915029</c:v>
                </c:pt>
                <c:pt idx="3">
                  <c:v>34.01843978547805</c:v>
                </c:pt>
                <c:pt idx="4">
                  <c:v>34.11134105612322</c:v>
                </c:pt>
                <c:pt idx="5">
                  <c:v>34.23427874647614</c:v>
                </c:pt>
                <c:pt idx="6">
                  <c:v>32.74135000483227</c:v>
                </c:pt>
                <c:pt idx="7">
                  <c:v>32.82034328746944</c:v>
                </c:pt>
                <c:pt idx="8">
                  <c:v>32.912796225200985</c:v>
                </c:pt>
                <c:pt idx="9">
                  <c:v>33.7908837689793</c:v>
                </c:pt>
                <c:pt idx="10">
                  <c:v>32.96999869947117</c:v>
                </c:pt>
                <c:pt idx="11">
                  <c:v>33.05260895445176</c:v>
                </c:pt>
              </c:numCache>
            </c:numRef>
          </c:val>
        </c:ser>
        <c:ser>
          <c:idx val="3"/>
          <c:order val="3"/>
          <c:tx>
            <c:strRef>
              <c:f>Sheet1!$E$1</c:f>
              <c:strCache>
                <c:ptCount val="1"/>
                <c:pt idx="0">
                  <c:v>Ultra-High-Barrier Films</c:v>
                </c:pt>
              </c:strCache>
            </c:strRef>
          </c:tx>
          <c:spPr>
            <a:solidFill>
              <a:srgbClr val="40315E"/>
            </a:solidFill>
            <a:ln>
              <a:noFill/>
            </a:ln>
          </c:spPr>
          <c:dLbls>
            <c:dLbl>
              <c:idx val="0"/>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2"/>
              <c:tx>
                <c:rich>
                  <a:bodyPr/>
                  <a:lstStyle/>
                  <a:p>
                    <a:r>
                      <a:rPr sz="1100">
                        <a:solidFill>
                          <a:srgbClr val="FFFFFF"/>
                        </a:solidFill>
                        <a:latin typeface="Calibri"/>
                      </a:rPr>
                      <a:t>12%</a:t>
                    </a:r>
                  </a:p>
                </c:rich>
              </c:tx>
              <c:dLblPos val="ctr"/>
              <c:showLegendKey val="0"/>
              <c:showVal val="1"/>
              <c:showCatName val="0"/>
              <c:showSerName val="0"/>
              <c:showPercent val="0"/>
              <c:showBubbleSize val="0"/>
            </c:dLbl>
            <c:dLbl>
              <c:idx val="3"/>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4"/>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5"/>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6"/>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7"/>
              <c:tx>
                <c:rich>
                  <a:bodyPr/>
                  <a:lstStyle/>
                  <a:p>
                    <a:r>
                      <a:rPr sz="1100">
                        <a:solidFill>
                          <a:srgbClr val="FFFFFF"/>
                        </a:solidFill>
                        <a:latin typeface="Calibri"/>
                      </a:rPr>
                      <a:t>15%</a:t>
                    </a:r>
                  </a:p>
                </c:rich>
              </c:tx>
              <c:dLblPos val="ctr"/>
              <c:showLegendKey val="0"/>
              <c:showVal val="1"/>
              <c:showCatName val="0"/>
              <c:showSerName val="0"/>
              <c:showPercent val="0"/>
              <c:showBubbleSize val="0"/>
            </c:dLbl>
            <c:dLbl>
              <c:idx val="8"/>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9"/>
              <c:tx>
                <c:rich>
                  <a:bodyPr/>
                  <a:lstStyle/>
                  <a:p>
                    <a:r>
                      <a:rPr sz="1100">
                        <a:solidFill>
                          <a:srgbClr val="FFFFFF"/>
                        </a:solidFill>
                        <a:latin typeface="Calibri"/>
                      </a:rPr>
                      <a:t>13%</a:t>
                    </a:r>
                  </a:p>
                </c:rich>
              </c:tx>
              <c:dLblPos val="ctr"/>
              <c:showLegendKey val="0"/>
              <c:showVal val="1"/>
              <c:showCatName val="0"/>
              <c:showSerName val="0"/>
              <c:showPercent val="0"/>
              <c:showBubbleSize val="0"/>
            </c:dLbl>
            <c:dLbl>
              <c:idx val="10"/>
              <c:tx>
                <c:rich>
                  <a:bodyPr/>
                  <a:lstStyle/>
                  <a:p>
                    <a:r>
                      <a:rPr sz="1100">
                        <a:solidFill>
                          <a:srgbClr val="FFFFFF"/>
                        </a:solidFill>
                        <a:latin typeface="Calibri"/>
                      </a:rPr>
                      <a:t>14%</a:t>
                    </a:r>
                  </a:p>
                </c:rich>
              </c:tx>
              <c:dLblPos val="ctr"/>
              <c:showLegendKey val="0"/>
              <c:showVal val="1"/>
              <c:showCatName val="0"/>
              <c:showSerName val="0"/>
              <c:showPercent val="0"/>
              <c:showBubbleSize val="0"/>
            </c:dLbl>
            <c:dLbl>
              <c:idx val="11"/>
              <c:tx>
                <c:rich>
                  <a:bodyPr/>
                  <a:lstStyle/>
                  <a:p>
                    <a:r>
                      <a:rPr sz="1100">
                        <a:solidFill>
                          <a:srgbClr val="FFFFFF"/>
                        </a:solidFill>
                        <a:latin typeface="Calibri"/>
                      </a:rPr>
                      <a:t>14%</a:t>
                    </a:r>
                  </a:p>
                </c:rich>
              </c:tx>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f>Sheet1!$A$2:$A$13</c:f>
              <c:strCache>
                <c:ptCount val="12"/>
                <c:pt idx="0">
                  <c:v>Switzerland  ·  1,096</c:v>
                </c:pt>
                <c:pt idx="1">
                  <c:v>Belgium  ·  1,287</c:v>
                </c:pt>
                <c:pt idx="2">
                  <c:v>Netherlands  ·  2,280</c:v>
                </c:pt>
                <c:pt idx="3">
                  <c:v>Poland  ·  2,584</c:v>
                </c:pt>
                <c:pt idx="4">
                  <c:v>Russia  ·  3,212</c:v>
                </c:pt>
                <c:pt idx="5">
                  <c:v>Nordic  ·  3,218</c:v>
                </c:pt>
                <c:pt idx="6">
                  <c:v>Spain  ·  4,511</c:v>
                </c:pt>
                <c:pt idx="7">
                  <c:v>Italy  ·  5,176</c:v>
                </c:pt>
                <c:pt idx="8">
                  <c:v>France  ·  5,800</c:v>
                </c:pt>
                <c:pt idx="9">
                  <c:v>Rest of Europe  ·  5,839</c:v>
                </c:pt>
                <c:pt idx="10">
                  <c:v>U.K.  ·  6,843</c:v>
                </c:pt>
                <c:pt idx="11">
                  <c:v>Germany  ·  7,547</c:v>
                </c:pt>
              </c:strCache>
            </c:strRef>
          </c:cat>
          <c:val>
            <c:numRef>
              <c:f>Sheet1!$E$2:$E$13</c:f>
              <c:numCache>
                <c:formatCode>General</c:formatCode>
                <c:ptCount val="12"/>
                <c:pt idx="0">
                  <c:v>12.726675636844629</c:v>
                </c:pt>
                <c:pt idx="1">
                  <c:v>13.840207146942534</c:v>
                </c:pt>
                <c:pt idx="2">
                  <c:v>12.374439535623063</c:v>
                </c:pt>
                <c:pt idx="3">
                  <c:v>13.072479719254575</c:v>
                </c:pt>
                <c:pt idx="4">
                  <c:v>12.899801019901435</c:v>
                </c:pt>
                <c:pt idx="5">
                  <c:v>12.54987470727742</c:v>
                </c:pt>
                <c:pt idx="6">
                  <c:v>14.749058592894515</c:v>
                </c:pt>
                <c:pt idx="7">
                  <c:v>14.575535531698328</c:v>
                </c:pt>
                <c:pt idx="8">
                  <c:v>14.403145941722077</c:v>
                </c:pt>
                <c:pt idx="9">
                  <c:v>13.181727257033405</c:v>
                </c:pt>
                <c:pt idx="10">
                  <c:v>14.227610080998105</c:v>
                </c:pt>
                <c:pt idx="11">
                  <c:v>14.05426693105245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f>Sheet1!$B$1</c:f>
              <c:strCache>
                <c:ptCount val="1"/>
                <c:pt idx="0">
                  <c:v>Low-Barrier Films</c:v>
                </c:pt>
              </c:strCache>
            </c:strRef>
          </c:tx>
          <c:spPr>
            <a:solidFill>
              <a:srgbClr val="3D85C6"/>
            </a:solidFill>
          </c:spPr>
          <c:invertIfNegative val="0"/>
          <c:xVal>
            <c:numRef>
              <c:f>Sheet1!$A$2:$A$2</c:f>
              <c:numCache>
                <c:formatCode>General</c:formatCode>
                <c:ptCount val="1"/>
                <c:pt idx="0">
                  <c:v>98.88264773892897</c:v>
                </c:pt>
              </c:numCache>
            </c:numRef>
          </c:xVal>
          <c:yVal>
            <c:numRef>
              <c:f>Sheet1!$B$2:$B$2</c:f>
              <c:numCache>
                <c:formatCode>General</c:formatCode>
                <c:ptCount val="1"/>
                <c:pt idx="0">
                  <c:v>84.80981551158212</c:v>
                </c:pt>
              </c:numCache>
            </c:numRef>
          </c:yVal>
          <c:bubbleSize>
            <c:numRef>
              <c:f>Sheet1!$C$2:$C$2</c:f>
              <c:numCache>
                <c:formatCode>General</c:formatCode>
                <c:ptCount val="1"/>
                <c:pt idx="0">
                  <c:v>10400.617</c:v>
                </c:pt>
              </c:numCache>
            </c:numRef>
          </c:bubbleSize>
          <c:bubble3D val="0"/>
        </c:ser>
        <c:ser>
          <c:idx val="1"/>
          <c:order val="1"/>
          <c:tx>
            <c:strRef>
              <c:f>Sheet1!$B$4</c:f>
              <c:strCache>
                <c:ptCount val="1"/>
                <c:pt idx="0">
                  <c:v>Medium-Barrier Films</c:v>
                </c:pt>
              </c:strCache>
            </c:strRef>
          </c:tx>
          <c:spPr>
            <a:solidFill>
              <a:srgbClr val="9E7E0A"/>
            </a:solidFill>
          </c:spPr>
          <c:invertIfNegative val="0"/>
          <c:xVal>
            <c:numRef>
              <c:f>Sheet1!$A$5:$A$5</c:f>
              <c:numCache>
                <c:formatCode>General</c:formatCode>
                <c:ptCount val="1"/>
                <c:pt idx="0">
                  <c:v>93.24297666488232</c:v>
                </c:pt>
              </c:numCache>
            </c:numRef>
          </c:xVal>
          <c:yVal>
            <c:numRef>
              <c:f>Sheet1!$B$5:$B$5</c:f>
              <c:numCache>
                <c:formatCode>General</c:formatCode>
                <c:ptCount val="1"/>
                <c:pt idx="0">
                  <c:v>132.68985970911095</c:v>
                </c:pt>
              </c:numCache>
            </c:numRef>
          </c:yVal>
          <c:bubbleSize>
            <c:numRef>
              <c:f>Sheet1!$C$5:$C$5</c:f>
              <c:numCache>
                <c:formatCode>General</c:formatCode>
                <c:ptCount val="1"/>
                <c:pt idx="0">
                  <c:v>15715.002</c:v>
                </c:pt>
              </c:numCache>
            </c:numRef>
          </c:bubbleSize>
          <c:bubble3D val="0"/>
        </c:ser>
        <c:ser>
          <c:idx val="2"/>
          <c:order val="2"/>
          <c:tx>
            <c:strRef>
              <c:f>Sheet1!$B$7</c:f>
              <c:strCache>
                <c:ptCount val="1"/>
                <c:pt idx="0">
                  <c:v>High-Barrier Films</c:v>
                </c:pt>
              </c:strCache>
            </c:strRef>
          </c:tx>
          <c:spPr>
            <a:solidFill>
              <a:srgbClr val="008189"/>
            </a:solidFill>
          </c:spPr>
          <c:invertIfNegative val="0"/>
          <c:xVal>
            <c:numRef>
              <c:f>Sheet1!$A$8:$A$8</c:f>
              <c:numCache>
                <c:formatCode>General</c:formatCode>
                <c:ptCount val="1"/>
                <c:pt idx="0">
                  <c:v>107.0786249641792</c:v>
                </c:pt>
              </c:numCache>
            </c:numRef>
          </c:xVal>
          <c:yVal>
            <c:numRef>
              <c:f>Sheet1!$B$8:$B$8</c:f>
              <c:numCache>
                <c:formatCode>General</c:formatCode>
                <c:ptCount val="1"/>
                <c:pt idx="0">
                  <c:v>127.63843593630624</c:v>
                </c:pt>
              </c:numCache>
            </c:numRef>
          </c:yVal>
          <c:bubbleSize>
            <c:numRef>
              <c:f>Sheet1!$C$8:$C$8</c:f>
              <c:numCache>
                <c:formatCode>General</c:formatCode>
                <c:ptCount val="1"/>
                <c:pt idx="0">
                  <c:v>16462.583</c:v>
                </c:pt>
              </c:numCache>
            </c:numRef>
          </c:bubbleSize>
          <c:bubble3D val="0"/>
        </c:ser>
        <c:ser>
          <c:idx val="3"/>
          <c:order val="3"/>
          <c:tx>
            <c:strRef>
              <c:f>Sheet1!$B$10</c:f>
              <c:strCache>
                <c:ptCount val="1"/>
                <c:pt idx="0">
                  <c:v>Ultra-High-Barrier Films</c:v>
                </c:pt>
              </c:strCache>
            </c:strRef>
          </c:tx>
          <c:spPr>
            <a:solidFill>
              <a:srgbClr val="40315E"/>
            </a:solidFill>
          </c:spPr>
          <c:invertIfNegative val="0"/>
          <c:xVal>
            <c:numRef>
              <c:f>Sheet1!$A$11:$A$11</c:f>
              <c:numCache>
                <c:formatCode>General</c:formatCode>
                <c:ptCount val="1"/>
                <c:pt idx="0">
                  <c:v>100.96313739849256</c:v>
                </c:pt>
              </c:numCache>
            </c:numRef>
          </c:xVal>
          <c:yVal>
            <c:numRef>
              <c:f>Sheet1!$B$11:$B$11</c:f>
              <c:numCache>
                <c:formatCode>General</c:formatCode>
                <c:ptCount val="1"/>
                <c:pt idx="0">
                  <c:v>54.86188884300069</c:v>
                </c:pt>
              </c:numCache>
            </c:numRef>
          </c:yVal>
          <c:bubbleSize>
            <c:numRef>
              <c:f>Sheet1!$C$11:$C$11</c:f>
              <c:numCache>
                <c:formatCode>General</c:formatCode>
                <c:ptCount val="1"/>
                <c:pt idx="0">
                  <c:v>6814.818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8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5542.496999999999</c:v>
                </c:pt>
                <c:pt idx="2">
                  <c:v>6193.005</c:v>
                </c:pt>
                <c:pt idx="3">
                  <c:v>6998.464</c:v>
                </c:pt>
                <c:pt idx="4">
                  <c:v>7978.597</c:v>
                </c:pt>
                <c:pt idx="5">
                  <c:v>9117.409</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5542.496999999999</c:v>
                </c:pt>
                <c:pt idx="1">
                  <c:v>650.5080000000007</c:v>
                </c:pt>
                <c:pt idx="2">
                  <c:v>805.4589999999998</c:v>
                </c:pt>
                <c:pt idx="3">
                  <c:v>980.1329999999998</c:v>
                </c:pt>
                <c:pt idx="4">
                  <c:v>1138.812</c:v>
                </c:pt>
                <c:pt idx="5">
                  <c:v>1283.2080000000005</c:v>
                </c:pt>
                <c:pt idx="6">
                  <c:v>10400.617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8671.556999999999</c:v>
                </c:pt>
                <c:pt idx="2">
                  <c:v>9633.956</c:v>
                </c:pt>
                <c:pt idx="3">
                  <c:v>10799.354</c:v>
                </c:pt>
                <c:pt idx="4">
                  <c:v>12213.131</c:v>
                </c:pt>
                <c:pt idx="5">
                  <c:v>13861.518</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8671.556999999999</c:v>
                </c:pt>
                <c:pt idx="1">
                  <c:v>962.3990000000013</c:v>
                </c:pt>
                <c:pt idx="2">
                  <c:v>1165.3979999999992</c:v>
                </c:pt>
                <c:pt idx="3">
                  <c:v>1413.777</c:v>
                </c:pt>
                <c:pt idx="4">
                  <c:v>1648.3870000000006</c:v>
                </c:pt>
                <c:pt idx="5">
                  <c:v>1853.4840000000004</c:v>
                </c:pt>
                <c:pt idx="6">
                  <c:v>15715.002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8341.436</c:v>
                </c:pt>
                <c:pt idx="2">
                  <c:v>9430.424</c:v>
                </c:pt>
                <c:pt idx="3">
                  <c:v>10783.553</c:v>
                </c:pt>
                <c:pt idx="4">
                  <c:v>12417.543</c:v>
                </c:pt>
                <c:pt idx="5">
                  <c:v>14314.581</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8341.436</c:v>
                </c:pt>
                <c:pt idx="1">
                  <c:v>1088.9880000000012</c:v>
                </c:pt>
                <c:pt idx="2">
                  <c:v>1353.128999999999</c:v>
                </c:pt>
                <c:pt idx="3">
                  <c:v>1633.9899999999998</c:v>
                </c:pt>
                <c:pt idx="4">
                  <c:v>1897.0380000000005</c:v>
                </c:pt>
                <c:pt idx="5">
                  <c:v>2148.0019999999986</c:v>
                </c:pt>
                <c:pt idx="6">
                  <c:v>16462.583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Sheet1!$A$2:$A$8</c:f>
              <c:strCache>
                <c:ptCount val="7"/>
                <c:pt idx="0">
                  <c:v>2026</c:v>
                </c:pt>
                <c:pt idx="1">
                  <c:v>2028</c:v>
                </c:pt>
                <c:pt idx="2">
                  <c:v>2030</c:v>
                </c:pt>
                <c:pt idx="3">
                  <c:v>2032</c:v>
                </c:pt>
                <c:pt idx="4">
                  <c:v>2034</c:v>
                </c:pt>
                <c:pt idx="5">
                  <c:v>2036</c:v>
                </c:pt>
                <c:pt idx="6">
                  <c:v>2036 Total</c:v>
                </c:pt>
              </c:strCache>
            </c:strRef>
          </c:cat>
          <c:val>
            <c:numRef>
              <c:f>Sheet1!$B$2:$B$8</c:f>
              <c:numCache>
                <c:formatCode>General</c:formatCode>
                <c:ptCount val="7"/>
                <c:pt idx="0">
                  <c:v>0.0</c:v>
                </c:pt>
                <c:pt idx="1">
                  <c:v>3585.338</c:v>
                </c:pt>
                <c:pt idx="2">
                  <c:v>4037.112</c:v>
                </c:pt>
                <c:pt idx="3">
                  <c:v>4583.603</c:v>
                </c:pt>
                <c:pt idx="4">
                  <c:v>5228.311</c:v>
                </c:pt>
                <c:pt idx="5">
                  <c:v>5974.352</c:v>
                </c:pt>
                <c:pt idx="6">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Sheet1!$A$2:$A$8</c:f>
              <c:strCache>
                <c:ptCount val="7"/>
                <c:pt idx="0">
                  <c:v>2026</c:v>
                </c:pt>
                <c:pt idx="1">
                  <c:v>2028</c:v>
                </c:pt>
                <c:pt idx="2">
                  <c:v>2030</c:v>
                </c:pt>
                <c:pt idx="3">
                  <c:v>2032</c:v>
                </c:pt>
                <c:pt idx="4">
                  <c:v>2034</c:v>
                </c:pt>
                <c:pt idx="5">
                  <c:v>2036</c:v>
                </c:pt>
                <c:pt idx="6">
                  <c:v>2036 Total</c:v>
                </c:pt>
              </c:strCache>
            </c:strRef>
          </c:cat>
          <c:val>
            <c:numRef>
              <c:f>Sheet1!$C$2:$C$8</c:f>
              <c:numCache>
                <c:formatCode>General</c:formatCode>
                <c:ptCount val="7"/>
                <c:pt idx="0">
                  <c:v>3585.338</c:v>
                </c:pt>
                <c:pt idx="1">
                  <c:v>451.7739999999999</c:v>
                </c:pt>
                <c:pt idx="2">
                  <c:v>546.491</c:v>
                </c:pt>
                <c:pt idx="3">
                  <c:v>644.7079999999996</c:v>
                </c:pt>
                <c:pt idx="4">
                  <c:v>746.0410000000002</c:v>
                </c:pt>
                <c:pt idx="5">
                  <c:v>840.4660000000003</c:v>
                </c:pt>
                <c:pt idx="6">
                  <c:v>6814.818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f>Sheet1!$B$1</c:f>
              <c:strCache>
                <c:ptCount val="1"/>
                <c:pt idx="0">
                  <c:v>High-Barrier Films</c:v>
                </c:pt>
              </c:strCache>
            </c:strRef>
          </c:tx>
          <c:spPr>
            <a:solidFill>
              <a:srgbClr val="3D85C6"/>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Sheet1!$B$2:$B$4</c:f>
              <c:numCache>
                <c:formatCode>General</c:formatCode>
                <c:ptCount val="3"/>
                <c:pt idx="0">
                  <c:v>31.379244950819718</c:v>
                </c:pt>
                <c:pt idx="1">
                  <c:v>31.90960898407656</c:v>
                </c:pt>
                <c:pt idx="2">
                  <c:v>33.32977615055731</c:v>
                </c:pt>
              </c:numCache>
            </c:numRef>
          </c:val>
        </c:ser>
        <c:ser>
          <c:idx val="1"/>
          <c:order val="1"/>
          <c:tx>
            <c:strRef>
              <c:f>Sheet1!$C$1</c:f>
              <c:strCache>
                <c:ptCount val="1"/>
                <c:pt idx="0">
                  <c:v>Medium-Barrier Films</c:v>
                </c:pt>
              </c:strCache>
            </c:strRef>
          </c:tx>
          <c:spPr>
            <a:solidFill>
              <a:srgbClr val="9E7E0A"/>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Sheet1!$C$2:$C$4</c:f>
              <c:numCache>
                <c:formatCode>General</c:formatCode>
                <c:ptCount val="3"/>
                <c:pt idx="0">
                  <c:v>33.671641678143736</c:v>
                </c:pt>
                <c:pt idx="1">
                  <c:v>33.17246492727774</c:v>
                </c:pt>
                <c:pt idx="2">
                  <c:v>31.81624043235259</c:v>
                </c:pt>
              </c:numCache>
            </c:numRef>
          </c:val>
        </c:ser>
        <c:ser>
          <c:idx val="2"/>
          <c:order val="2"/>
          <c:tx>
            <c:strRef>
              <c:f>Sheet1!$D$1</c:f>
              <c:strCache>
                <c:ptCount val="1"/>
                <c:pt idx="0">
                  <c:v>Low-Barrier Films</c:v>
                </c:pt>
              </c:strCache>
            </c:strRef>
          </c:tx>
          <c:spPr>
            <a:solidFill>
              <a:srgbClr val="008189"/>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Sheet1!$D$2:$D$4</c:f>
              <c:numCache>
                <c:formatCode>General</c:formatCode>
                <c:ptCount val="3"/>
                <c:pt idx="0">
                  <c:v>21.504838214380147</c:v>
                </c:pt>
                <c:pt idx="1">
                  <c:v>21.20245387789553</c:v>
                </c:pt>
                <c:pt idx="2">
                  <c:v>21.056855806751646</c:v>
                </c:pt>
              </c:numCache>
            </c:numRef>
          </c:val>
        </c:ser>
        <c:ser>
          <c:idx val="3"/>
          <c:order val="3"/>
          <c:tx>
            <c:strRef>
              <c:f>Sheet1!$E$1</c:f>
              <c:strCache>
                <c:ptCount val="1"/>
                <c:pt idx="0">
                  <c:v>Ultra-High-Barrier Films</c:v>
                </c:pt>
              </c:strCache>
            </c:strRef>
          </c:tx>
          <c:spPr>
            <a:solidFill>
              <a:srgbClr val="40315E"/>
            </a:solidFill>
            <a:ln>
              <a:noFill/>
            </a:ln>
          </c:spPr>
          <c:dLbls>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Sheet1!$A$2:$A$4</c:f>
              <c:strCache>
                <c:ptCount val="3"/>
                <c:pt idx="0">
                  <c:v>2021</c:v>
                </c:pt>
                <c:pt idx="1">
                  <c:v>2026</c:v>
                </c:pt>
                <c:pt idx="2">
                  <c:v>2036</c:v>
                </c:pt>
              </c:strCache>
            </c:strRef>
          </c:cat>
          <c:val>
            <c:numRef>
              <c:f>Sheet1!$E$2:$E$4</c:f>
              <c:numCache>
                <c:formatCode>General</c:formatCode>
                <c:ptCount val="3"/>
                <c:pt idx="0">
                  <c:v>13.444275156656394</c:v>
                </c:pt>
                <c:pt idx="1">
                  <c:v>13.715472210750173</c:v>
                </c:pt>
                <c:pt idx="2">
                  <c:v>13.797127610338467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1054.22</c:v>
                </c:pt>
                <c:pt idx="1">
                  <c:v>1088.845</c:v>
                </c:pt>
                <c:pt idx="2">
                  <c:v>1125.145</c:v>
                </c:pt>
                <c:pt idx="3">
                  <c:v>1163.351</c:v>
                </c:pt>
                <c:pt idx="4">
                  <c:v>1203.771</c:v>
                </c:pt>
                <c:pt idx="5">
                  <c:v>1247.16</c:v>
                </c:pt>
                <c:pt idx="6">
                  <c:v>1293.4859999999999</c:v>
                </c:pt>
                <c:pt idx="7">
                  <c:v>1343.1799999999998</c:v>
                </c:pt>
                <c:pt idx="8">
                  <c:v>1396.6480000000001</c:v>
                </c:pt>
                <c:pt idx="9">
                  <c:v>1454.1989999999998</c:v>
                </c:pt>
                <c:pt idx="10">
                  <c:v>1515.357</c:v>
                </c:pt>
                <c:pt idx="11">
                  <c:v>1579.575</c:v>
                </c:pt>
                <c:pt idx="12">
                  <c:v>1645.9340000000002</c:v>
                </c:pt>
                <c:pt idx="13">
                  <c:v>1713.9610000000002</c:v>
                </c:pt>
                <c:pt idx="14">
                  <c:v>1782.699</c:v>
                </c:pt>
                <c:pt idx="15">
                  <c:v>1852.021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Germany</c:v>
                </c:pt>
              </c:strCache>
            </c:strRef>
          </c:cat>
          <c:val>
            <c:numRef>
              <c:f>Sheet1!$B$2:$B$3</c:f>
              <c:numCache>
                <c:formatCode>General</c:formatCode>
                <c:ptCount val="2"/>
                <c:pt idx="0">
                  <c:v>0.05239999740743384</c:v>
                </c:pt>
                <c:pt idx="1">
                  <c:v>0.04033299654014533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7399965000356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1247.16</c:v>
                </c:pt>
                <c:pt idx="2">
                  <c:v>1293.4859999999999</c:v>
                </c:pt>
                <c:pt idx="3">
                  <c:v>1343.1799999999998</c:v>
                </c:pt>
                <c:pt idx="4">
                  <c:v>1396.6480000000001</c:v>
                </c:pt>
                <c:pt idx="5">
                  <c:v>1454.1989999999998</c:v>
                </c:pt>
                <c:pt idx="6">
                  <c:v>1515.357</c:v>
                </c:pt>
                <c:pt idx="7">
                  <c:v>1579.575</c:v>
                </c:pt>
                <c:pt idx="8">
                  <c:v>1645.9340000000002</c:v>
                </c:pt>
                <c:pt idx="9">
                  <c:v>1713.9610000000002</c:v>
                </c:pt>
                <c:pt idx="10">
                  <c:v>1782.699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1247.16</c:v>
                </c:pt>
                <c:pt idx="1">
                  <c:v>46.325999999999794</c:v>
                </c:pt>
                <c:pt idx="2">
                  <c:v>49.69399999999996</c:v>
                </c:pt>
                <c:pt idx="3">
                  <c:v>53.4680000000003</c:v>
                </c:pt>
                <c:pt idx="4">
                  <c:v>57.5509999999997</c:v>
                </c:pt>
                <c:pt idx="5">
                  <c:v>61.15800000000013</c:v>
                </c:pt>
                <c:pt idx="6">
                  <c:v>64.21800000000007</c:v>
                </c:pt>
                <c:pt idx="7">
                  <c:v>66.35900000000015</c:v>
                </c:pt>
                <c:pt idx="8">
                  <c:v>68.02700000000004</c:v>
                </c:pt>
                <c:pt idx="9">
                  <c:v>68.73799999999983</c:v>
                </c:pt>
                <c:pt idx="10">
                  <c:v>69.32199999999989</c:v>
                </c:pt>
                <c:pt idx="11">
                  <c:v>1852.021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Germany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15.830899449112218</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84.16910055088778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3693.1870000000004</c:v>
                </c:pt>
                <c:pt idx="1">
                  <c:v>3828.3590000000004</c:v>
                </c:pt>
                <c:pt idx="2">
                  <c:v>3971.267</c:v>
                </c:pt>
                <c:pt idx="3">
                  <c:v>4124.579</c:v>
                </c:pt>
                <c:pt idx="4">
                  <c:v>4287.718</c:v>
                </c:pt>
                <c:pt idx="5">
                  <c:v>4479.527</c:v>
                </c:pt>
                <c:pt idx="6">
                  <c:v>4688.846</c:v>
                </c:pt>
                <c:pt idx="7">
                  <c:v>4917.656</c:v>
                </c:pt>
                <c:pt idx="8">
                  <c:v>5167.2880000000005</c:v>
                </c:pt>
                <c:pt idx="9">
                  <c:v>5441.485000000001</c:v>
                </c:pt>
                <c:pt idx="10">
                  <c:v>5739.1230000000005</c:v>
                </c:pt>
                <c:pt idx="11">
                  <c:v>6060.354</c:v>
                </c:pt>
                <c:pt idx="12">
                  <c:v>6402.686000000001</c:v>
                </c:pt>
                <c:pt idx="13">
                  <c:v>6765.218</c:v>
                </c:pt>
                <c:pt idx="14">
                  <c:v>7146.719</c:v>
                </c:pt>
                <c:pt idx="15">
                  <c:v>7546.551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Germany</c:v>
                </c:pt>
              </c:strCache>
            </c:strRef>
          </c:cat>
          <c:val>
            <c:numRef>
              <c:f>Sheet1!$B$2:$B$3</c:f>
              <c:numCache>
                <c:formatCode>General</c:formatCode>
                <c:ptCount val="2"/>
                <c:pt idx="0">
                  <c:v>0.06569916400258924</c:v>
                </c:pt>
                <c:pt idx="1">
                  <c:v>0.05354147021893696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693871403495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4479.527</c:v>
                </c:pt>
                <c:pt idx="2">
                  <c:v>4688.846</c:v>
                </c:pt>
                <c:pt idx="3">
                  <c:v>4917.656</c:v>
                </c:pt>
                <c:pt idx="4">
                  <c:v>5167.2880000000005</c:v>
                </c:pt>
                <c:pt idx="5">
                  <c:v>5441.485000000001</c:v>
                </c:pt>
                <c:pt idx="6">
                  <c:v>5739.1230000000005</c:v>
                </c:pt>
                <c:pt idx="7">
                  <c:v>6060.354</c:v>
                </c:pt>
                <c:pt idx="8">
                  <c:v>6402.686000000001</c:v>
                </c:pt>
                <c:pt idx="9">
                  <c:v>6765.218</c:v>
                </c:pt>
                <c:pt idx="10">
                  <c:v>7146.719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4479.527</c:v>
                </c:pt>
                <c:pt idx="1">
                  <c:v>209.3189999999995</c:v>
                </c:pt>
                <c:pt idx="2">
                  <c:v>228.8100000000004</c:v>
                </c:pt>
                <c:pt idx="3">
                  <c:v>249.63200000000052</c:v>
                </c:pt>
                <c:pt idx="4">
                  <c:v>274.1970000000001</c:v>
                </c:pt>
                <c:pt idx="5">
                  <c:v>297.6379999999999</c:v>
                </c:pt>
                <c:pt idx="6">
                  <c:v>321.23099999999977</c:v>
                </c:pt>
                <c:pt idx="7">
                  <c:v>342.33200000000033</c:v>
                </c:pt>
                <c:pt idx="8">
                  <c:v>362.53199999999924</c:v>
                </c:pt>
                <c:pt idx="9">
                  <c:v>381.5010000000002</c:v>
                </c:pt>
                <c:pt idx="10">
                  <c:v>399.83200000000033</c:v>
                </c:pt>
                <c:pt idx="11">
                  <c:v>7546.551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Germany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17.13613345132501</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82.86386654867499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398.515</c:v>
                </c:pt>
                <c:pt idx="8">
                  <c:v>485.328</c:v>
                </c:pt>
                <c:pt idx="9">
                  <c:v>1254.785</c:v>
                </c:pt>
                <c:pt idx="10">
                  <c:v>2340.899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136.80466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85.793</c:v>
                </c:pt>
                <c:pt idx="1">
                  <c:v>123.536</c:v>
                </c:pt>
                <c:pt idx="2">
                  <c:v>130.985</c:v>
                </c:pt>
                <c:pt idx="3">
                  <c:v>142.895</c:v>
                </c:pt>
                <c:pt idx="4">
                  <c:v>232.525</c:v>
                </c:pt>
                <c:pt idx="5">
                  <c:v>285.906</c:v>
                </c:pt>
                <c:pt idx="6">
                  <c:v>344.829</c:v>
                </c:pt>
                <c:pt idx="7">
                  <c:v>372.206</c:v>
                </c:pt>
                <c:pt idx="8">
                  <c:v>426.578</c:v>
                </c:pt>
                <c:pt idx="9">
                  <c:v>909.651</c:v>
                </c:pt>
                <c:pt idx="10">
                  <c:v>1424.623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908.9948200000001"/>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306.842</c:v>
                </c:pt>
                <c:pt idx="5">
                  <c:v>317.844</c:v>
                </c:pt>
                <c:pt idx="6">
                  <c:v>331.999</c:v>
                </c:pt>
                <c:pt idx="7">
                  <c:v>341.442</c:v>
                </c:pt>
                <c:pt idx="8">
                  <c:v>688.803</c:v>
                </c:pt>
                <c:pt idx="9">
                  <c:v>1163.587</c:v>
                </c:pt>
                <c:pt idx="10">
                  <c:v>1329.01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780.87340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629.819</c:v>
                </c:pt>
                <c:pt idx="8">
                  <c:v>938.691</c:v>
                </c:pt>
                <c:pt idx="9">
                  <c:v>1418.887</c:v>
                </c:pt>
                <c:pt idx="10">
                  <c:v>1492.131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999.45554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675.509</c:v>
                </c:pt>
                <c:pt idx="10">
                  <c:v>3804.016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097.38144"/>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629.8199999999999</c:v>
                </c:pt>
                <c:pt idx="8">
                  <c:v>938.691</c:v>
                </c:pt>
                <c:pt idx="9">
                  <c:v>1418.886</c:v>
                </c:pt>
                <c:pt idx="10">
                  <c:v>1492.132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999.45688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4479.527</c:v>
                </c:pt>
                <c:pt idx="2">
                  <c:v>6079.117</c:v>
                </c:pt>
                <c:pt idx="3">
                  <c:v>6397.258</c:v>
                </c:pt>
                <c:pt idx="4">
                  <c:v>7293.089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4479.527</c:v>
                </c:pt>
                <c:pt idx="1">
                  <c:v>1599.5900000000001</c:v>
                </c:pt>
                <c:pt idx="2">
                  <c:v>318.1410000000001</c:v>
                </c:pt>
                <c:pt idx="3">
                  <c:v>895.8309999999999</c:v>
                </c:pt>
                <c:pt idx="4">
                  <c:v>253.462</c:v>
                </c:pt>
                <c:pt idx="5">
                  <c:v>7546.551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1599.5900000000001</c:v>
                </c:pt>
                <c:pt idx="2">
                  <c:v>1917.7310000000002</c:v>
                </c:pt>
                <c:pt idx="3">
                  <c:v>2813.562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1599.5900000000001</c:v>
                </c:pt>
                <c:pt idx="1">
                  <c:v>318.1410000000001</c:v>
                </c:pt>
                <c:pt idx="2">
                  <c:v>895.8309999999999</c:v>
                </c:pt>
                <c:pt idx="3">
                  <c:v>253.462</c:v>
                </c:pt>
                <c:pt idx="4">
                  <c:v>3067.024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4479.527</c:v>
                </c:pt>
                <c:pt idx="2">
                  <c:v>5481.157999999999</c:v>
                </c:pt>
                <c:pt idx="3">
                  <c:v>6090.603999999999</c:v>
                </c:pt>
                <c:pt idx="4">
                  <c:v>6393.8859999999995</c:v>
                </c:pt>
                <c:pt idx="5">
                  <c:v>6636.945</c:v>
                </c:pt>
                <c:pt idx="6">
                  <c:v>6883.36</c:v>
                </c:pt>
                <c:pt idx="7">
                  <c:v>7020.07</c:v>
                </c:pt>
                <c:pt idx="8">
                  <c:v>7083.951</c:v>
                </c:pt>
                <c:pt idx="9">
                  <c:v>7271.142</c:v>
                </c:pt>
                <c:pt idx="10">
                  <c:v>7367.487999999999</c:v>
                </c:pt>
                <c:pt idx="11">
                  <c:v>7451.732999999999</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4479.527</c:v>
                </c:pt>
                <c:pt idx="1">
                  <c:v>1001.6309999999999</c:v>
                </c:pt>
                <c:pt idx="2">
                  <c:v>609.446</c:v>
                </c:pt>
                <c:pt idx="3">
                  <c:v>303.28200000000004</c:v>
                </c:pt>
                <c:pt idx="4">
                  <c:v>243.05899999999997</c:v>
                </c:pt>
                <c:pt idx="5">
                  <c:v>246.41500000000002</c:v>
                </c:pt>
                <c:pt idx="6">
                  <c:v>136.71</c:v>
                </c:pt>
                <c:pt idx="7">
                  <c:v>63.881</c:v>
                </c:pt>
                <c:pt idx="8">
                  <c:v>187.19099999999997</c:v>
                </c:pt>
                <c:pt idx="9">
                  <c:v>96.34599999999998</c:v>
                </c:pt>
                <c:pt idx="10">
                  <c:v>84.24499999999998</c:v>
                </c:pt>
                <c:pt idx="11">
                  <c:v>94.81800000000001</c:v>
                </c:pt>
                <c:pt idx="12">
                  <c:v>7546.551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1001.6309999999999</c:v>
                </c:pt>
                <c:pt idx="2">
                  <c:v>1611.0769999999998</c:v>
                </c:pt>
                <c:pt idx="3">
                  <c:v>1914.359</c:v>
                </c:pt>
                <c:pt idx="4">
                  <c:v>2157.4179999999997</c:v>
                </c:pt>
                <c:pt idx="5">
                  <c:v>2403.8329999999996</c:v>
                </c:pt>
                <c:pt idx="6">
                  <c:v>2540.5429999999997</c:v>
                </c:pt>
                <c:pt idx="7">
                  <c:v>2604.4239999999995</c:v>
                </c:pt>
                <c:pt idx="8">
                  <c:v>2791.6149999999993</c:v>
                </c:pt>
                <c:pt idx="9">
                  <c:v>2887.9609999999993</c:v>
                </c:pt>
                <c:pt idx="10">
                  <c:v>2972.205999999999</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1001.6309999999999</c:v>
                </c:pt>
                <c:pt idx="1">
                  <c:v>609.446</c:v>
                </c:pt>
                <c:pt idx="2">
                  <c:v>303.28200000000004</c:v>
                </c:pt>
                <c:pt idx="3">
                  <c:v>243.05899999999997</c:v>
                </c:pt>
                <c:pt idx="4">
                  <c:v>246.41500000000002</c:v>
                </c:pt>
                <c:pt idx="5">
                  <c:v>136.71</c:v>
                </c:pt>
                <c:pt idx="6">
                  <c:v>63.881</c:v>
                </c:pt>
                <c:pt idx="7">
                  <c:v>187.19099999999997</c:v>
                </c:pt>
                <c:pt idx="8">
                  <c:v>96.34599999999998</c:v>
                </c:pt>
                <c:pt idx="9">
                  <c:v>84.24499999999998</c:v>
                </c:pt>
                <c:pt idx="10">
                  <c:v>94.81800000000001</c:v>
                </c:pt>
                <c:pt idx="11">
                  <c:v>3067.024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4479.527</c:v>
                </c:pt>
                <c:pt idx="2">
                  <c:v>4991.8550000000005</c:v>
                </c:pt>
                <c:pt idx="3">
                  <c:v>5866.095</c:v>
                </c:pt>
                <c:pt idx="4">
                  <c:v>6633.963</c:v>
                </c:pt>
                <c:pt idx="5">
                  <c:v>6842.473</c:v>
                </c:pt>
                <c:pt idx="6">
                  <c:v>7040.881</c:v>
                </c:pt>
                <c:pt idx="7">
                  <c:v>7275.869000000001</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4479.527</c:v>
                </c:pt>
                <c:pt idx="1">
                  <c:v>512.3280000000001</c:v>
                </c:pt>
                <c:pt idx="2">
                  <c:v>874.24</c:v>
                </c:pt>
                <c:pt idx="3">
                  <c:v>767.8679999999999</c:v>
                </c:pt>
                <c:pt idx="4">
                  <c:v>208.51</c:v>
                </c:pt>
                <c:pt idx="5">
                  <c:v>198.40799999999996</c:v>
                </c:pt>
                <c:pt idx="6">
                  <c:v>234.98799999999994</c:v>
                </c:pt>
                <c:pt idx="7">
                  <c:v>270.6809999999999</c:v>
                </c:pt>
                <c:pt idx="8">
                  <c:v>7546.55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512.3280000000001</c:v>
                </c:pt>
                <c:pt idx="2">
                  <c:v>1386.5680000000002</c:v>
                </c:pt>
                <c:pt idx="3">
                  <c:v>2154.436</c:v>
                </c:pt>
                <c:pt idx="4">
                  <c:v>2362.946</c:v>
                </c:pt>
                <c:pt idx="5">
                  <c:v>2561.354</c:v>
                </c:pt>
                <c:pt idx="6">
                  <c:v>2796.3419999999996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512.3280000000001</c:v>
                </c:pt>
                <c:pt idx="1">
                  <c:v>874.24</c:v>
                </c:pt>
                <c:pt idx="2">
                  <c:v>767.8679999999999</c:v>
                </c:pt>
                <c:pt idx="3">
                  <c:v>208.51</c:v>
                </c:pt>
                <c:pt idx="4">
                  <c:v>198.40799999999996</c:v>
                </c:pt>
                <c:pt idx="5">
                  <c:v>234.98799999999994</c:v>
                </c:pt>
                <c:pt idx="6">
                  <c:v>270.6809999999999</c:v>
                </c:pt>
                <c:pt idx="7">
                  <c:v>3067.0229999999997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4479.528</c:v>
                </c:pt>
                <c:pt idx="2">
                  <c:v>5113.5740000000005</c:v>
                </c:pt>
                <c:pt idx="3">
                  <c:v>6040.314</c:v>
                </c:pt>
                <c:pt idx="4">
                  <c:v>7115.758000000001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4479.528</c:v>
                </c:pt>
                <c:pt idx="1">
                  <c:v>634.046</c:v>
                </c:pt>
                <c:pt idx="2">
                  <c:v>926.74</c:v>
                </c:pt>
                <c:pt idx="3">
                  <c:v>1075.4440000000002</c:v>
                </c:pt>
                <c:pt idx="4">
                  <c:v>430.7940000000001</c:v>
                </c:pt>
                <c:pt idx="5">
                  <c:v>7546.552000000001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634.046</c:v>
                </c:pt>
                <c:pt idx="2">
                  <c:v>1560.786</c:v>
                </c:pt>
                <c:pt idx="3">
                  <c:v>2636.2300000000005</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634.046</c:v>
                </c:pt>
                <c:pt idx="1">
                  <c:v>926.74</c:v>
                </c:pt>
                <c:pt idx="2">
                  <c:v>1075.4440000000002</c:v>
                </c:pt>
                <c:pt idx="3">
                  <c:v>430.7940000000001</c:v>
                </c:pt>
                <c:pt idx="4">
                  <c:v>3067.0240000000003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4479.525</c:v>
                </c:pt>
                <c:pt idx="2">
                  <c:v>7093.296</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4479.525</c:v>
                </c:pt>
                <c:pt idx="1">
                  <c:v>2613.771</c:v>
                </c:pt>
                <c:pt idx="2">
                  <c:v>453.2539999999999</c:v>
                </c:pt>
                <c:pt idx="3">
                  <c:v>7546.55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2613.771</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2613.771</c:v>
                </c:pt>
                <c:pt idx="1">
                  <c:v>453.2539999999999</c:v>
                </c:pt>
                <c:pt idx="2">
                  <c:v>3067.025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4479.529</c:v>
                </c:pt>
                <c:pt idx="2">
                  <c:v>5113.575000000001</c:v>
                </c:pt>
                <c:pt idx="3">
                  <c:v>6040.311000000001</c:v>
                </c:pt>
                <c:pt idx="4">
                  <c:v>7115.756000000001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4479.529</c:v>
                </c:pt>
                <c:pt idx="1">
                  <c:v>634.046</c:v>
                </c:pt>
                <c:pt idx="2">
                  <c:v>926.7359999999999</c:v>
                </c:pt>
                <c:pt idx="3">
                  <c:v>1075.4450000000002</c:v>
                </c:pt>
                <c:pt idx="4">
                  <c:v>430.79200000000014</c:v>
                </c:pt>
                <c:pt idx="5">
                  <c:v>7546.548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634.046</c:v>
                </c:pt>
                <c:pt idx="2">
                  <c:v>1560.782</c:v>
                </c:pt>
                <c:pt idx="3">
                  <c:v>2636.227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634.046</c:v>
                </c:pt>
                <c:pt idx="1">
                  <c:v>926.7359999999999</c:v>
                </c:pt>
                <c:pt idx="2">
                  <c:v>1075.4450000000002</c:v>
                </c:pt>
                <c:pt idx="3">
                  <c:v>430.79200000000014</c:v>
                </c:pt>
                <c:pt idx="4">
                  <c:v>3067.0190000000002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851.6980000000001</c:v>
                </c:pt>
                <c:pt idx="1">
                  <c:v>889.352</c:v>
                </c:pt>
                <c:pt idx="2">
                  <c:v>928.7069999999999</c:v>
                </c:pt>
                <c:pt idx="3">
                  <c:v>970.0790000000001</c:v>
                </c:pt>
                <c:pt idx="4">
                  <c:v>1013.7560000000001</c:v>
                </c:pt>
                <c:pt idx="5">
                  <c:v>1060.754</c:v>
                </c:pt>
                <c:pt idx="6">
                  <c:v>1111.458</c:v>
                </c:pt>
                <c:pt idx="7">
                  <c:v>1166.479</c:v>
                </c:pt>
                <c:pt idx="8">
                  <c:v>1226.115</c:v>
                </c:pt>
                <c:pt idx="9">
                  <c:v>1290.0379999999998</c:v>
                </c:pt>
                <c:pt idx="10">
                  <c:v>1357.5069999999998</c:v>
                </c:pt>
                <c:pt idx="11">
                  <c:v>1428.063</c:v>
                </c:pt>
                <c:pt idx="12">
                  <c:v>1501.23</c:v>
                </c:pt>
                <c:pt idx="13">
                  <c:v>1576.642</c:v>
                </c:pt>
                <c:pt idx="14">
                  <c:v>1653.61</c:v>
                </c:pt>
                <c:pt idx="15">
                  <c:v>1731.7530000000002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U.K.</c:v>
                </c:pt>
              </c:strCache>
            </c:strRef>
          </c:cat>
          <c:val>
            <c:numRef>
              <c:f>Sheet1!$B$2:$B$3</c:f>
              <c:numCache>
                <c:formatCode>General</c:formatCode>
                <c:ptCount val="2"/>
                <c:pt idx="0">
                  <c:v>0.05239999740743384</c:v>
                </c:pt>
                <c:pt idx="1">
                  <c:v>0.05023654676041245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7399965000356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1060.754</c:v>
                </c:pt>
                <c:pt idx="2">
                  <c:v>1111.458</c:v>
                </c:pt>
                <c:pt idx="3">
                  <c:v>1166.479</c:v>
                </c:pt>
                <c:pt idx="4">
                  <c:v>1226.115</c:v>
                </c:pt>
                <c:pt idx="5">
                  <c:v>1290.0379999999998</c:v>
                </c:pt>
                <c:pt idx="6">
                  <c:v>1357.5069999999998</c:v>
                </c:pt>
                <c:pt idx="7">
                  <c:v>1428.063</c:v>
                </c:pt>
                <c:pt idx="8">
                  <c:v>1501.23</c:v>
                </c:pt>
                <c:pt idx="9">
                  <c:v>1576.642</c:v>
                </c:pt>
                <c:pt idx="10">
                  <c:v>1653.61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1060.754</c:v>
                </c:pt>
                <c:pt idx="1">
                  <c:v>50.70400000000018</c:v>
                </c:pt>
                <c:pt idx="2">
                  <c:v>55.02099999999996</c:v>
                </c:pt>
                <c:pt idx="3">
                  <c:v>59.63599999999997</c:v>
                </c:pt>
                <c:pt idx="4">
                  <c:v>63.922999999999774</c:v>
                </c:pt>
                <c:pt idx="5">
                  <c:v>67.46900000000005</c:v>
                </c:pt>
                <c:pt idx="6">
                  <c:v>70.55600000000027</c:v>
                </c:pt>
                <c:pt idx="7">
                  <c:v>73.16699999999992</c:v>
                </c:pt>
                <c:pt idx="8">
                  <c:v>75.41200000000003</c:v>
                </c:pt>
                <c:pt idx="9">
                  <c:v>76.96799999999985</c:v>
                </c:pt>
                <c:pt idx="10">
                  <c:v>78.14300000000026</c:v>
                </c:pt>
                <c:pt idx="11">
                  <c:v>1731.7530000000002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U.K.</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13.464743829375205</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86.53525617062479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2914.17</c:v>
                </c:pt>
                <c:pt idx="1">
                  <c:v>3051.6609999999996</c:v>
                </c:pt>
                <c:pt idx="2">
                  <c:v>3196.959</c:v>
                </c:pt>
                <c:pt idx="3">
                  <c:v>3352.958</c:v>
                </c:pt>
                <c:pt idx="4">
                  <c:v>3519.3970000000004</c:v>
                </c:pt>
                <c:pt idx="5">
                  <c:v>3712.865</c:v>
                </c:pt>
                <c:pt idx="6">
                  <c:v>3925.3780000000006</c:v>
                </c:pt>
                <c:pt idx="7">
                  <c:v>4159.679</c:v>
                </c:pt>
                <c:pt idx="8">
                  <c:v>4417.684</c:v>
                </c:pt>
                <c:pt idx="9">
                  <c:v>4699.517</c:v>
                </c:pt>
                <c:pt idx="10">
                  <c:v>5004.014</c:v>
                </c:pt>
                <c:pt idx="11">
                  <c:v>5330.759</c:v>
                </c:pt>
                <c:pt idx="12">
                  <c:v>5678.13</c:v>
                </c:pt>
                <c:pt idx="13">
                  <c:v>6046.446</c:v>
                </c:pt>
                <c:pt idx="14">
                  <c:v>6435.179999999999</c:v>
                </c:pt>
                <c:pt idx="15">
                  <c:v>6843.374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U.K.</c:v>
                </c:pt>
              </c:strCache>
            </c:strRef>
          </c:cat>
          <c:val>
            <c:numRef>
              <c:f>Sheet1!$B$2:$B$3</c:f>
              <c:numCache>
                <c:formatCode>General</c:formatCode>
                <c:ptCount val="2"/>
                <c:pt idx="0">
                  <c:v>0.06569916400258924</c:v>
                </c:pt>
                <c:pt idx="1">
                  <c:v>0.06305592329404974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693871403495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3712.865</c:v>
                </c:pt>
                <c:pt idx="2">
                  <c:v>3925.3780000000006</c:v>
                </c:pt>
                <c:pt idx="3">
                  <c:v>4159.679</c:v>
                </c:pt>
                <c:pt idx="4">
                  <c:v>4417.684</c:v>
                </c:pt>
                <c:pt idx="5">
                  <c:v>4699.517</c:v>
                </c:pt>
                <c:pt idx="6">
                  <c:v>5004.014</c:v>
                </c:pt>
                <c:pt idx="7">
                  <c:v>5330.759</c:v>
                </c:pt>
                <c:pt idx="8">
                  <c:v>5678.13</c:v>
                </c:pt>
                <c:pt idx="9">
                  <c:v>6046.446</c:v>
                </c:pt>
                <c:pt idx="10">
                  <c:v>6435.179999999999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3712.865</c:v>
                </c:pt>
                <c:pt idx="1">
                  <c:v>212.51300000000083</c:v>
                </c:pt>
                <c:pt idx="2">
                  <c:v>234.30099999999948</c:v>
                </c:pt>
                <c:pt idx="3">
                  <c:v>258.0050000000001</c:v>
                </c:pt>
                <c:pt idx="4">
                  <c:v>281.83299999999963</c:v>
                </c:pt>
                <c:pt idx="5">
                  <c:v>304.4970000000003</c:v>
                </c:pt>
                <c:pt idx="6">
                  <c:v>326.7449999999999</c:v>
                </c:pt>
                <c:pt idx="7">
                  <c:v>347.3710000000001</c:v>
                </c:pt>
                <c:pt idx="8">
                  <c:v>368.3159999999998</c:v>
                </c:pt>
                <c:pt idx="9">
                  <c:v>388.73399999999947</c:v>
                </c:pt>
                <c:pt idx="10">
                  <c:v>408.1940000000004</c:v>
                </c:pt>
                <c:pt idx="11">
                  <c:v>6843.374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U.K.</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14.203318816195065</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85.79668118380494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336.336</c:v>
                </c:pt>
                <c:pt idx="8">
                  <c:v>399.58299999999997</c:v>
                </c:pt>
                <c:pt idx="9">
                  <c:v>1037.257</c:v>
                </c:pt>
                <c:pt idx="10">
                  <c:v>1939.689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599.18326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71.726</c:v>
                </c:pt>
                <c:pt idx="1">
                  <c:v>90.025</c:v>
                </c:pt>
                <c:pt idx="2">
                  <c:v>107.873</c:v>
                </c:pt>
                <c:pt idx="3">
                  <c:v>118.083</c:v>
                </c:pt>
                <c:pt idx="4">
                  <c:v>193.264</c:v>
                </c:pt>
                <c:pt idx="5">
                  <c:v>231.521</c:v>
                </c:pt>
                <c:pt idx="6">
                  <c:v>286.573</c:v>
                </c:pt>
                <c:pt idx="7">
                  <c:v>311.032</c:v>
                </c:pt>
                <c:pt idx="8">
                  <c:v>371.222</c:v>
                </c:pt>
                <c:pt idx="9">
                  <c:v>756.609</c:v>
                </c:pt>
                <c:pt idx="10">
                  <c:v>1174.933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574.4102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Mono-Material Recycla…</c:v>
                </c:pt>
                <c:pt idx="7">
                  <c:v>Foil-Laminated Struct…</c:v>
                </c:pt>
                <c:pt idx="8">
                  <c:v>Monolayer Films</c:v>
                </c:pt>
                <c:pt idx="9">
                  <c:v>Laminated Films</c:v>
                </c:pt>
                <c:pt idx="10">
                  <c:v>Coextruded Multilayer…</c:v>
                </c:pt>
              </c:strCache>
            </c:strRef>
          </c:cat>
          <c:val>
            <c:numRef>
              <c:f>Sheet1!$B$2:$B$12</c:f>
              <c:numCache>
                <c:formatCode>General</c:formatCode>
                <c:ptCount val="11"/>
                <c:pt idx="4">
                  <c:v>254.581</c:v>
                </c:pt>
                <c:pt idx="5">
                  <c:v>262.523</c:v>
                </c:pt>
                <c:pt idx="6">
                  <c:v>277.413</c:v>
                </c:pt>
                <c:pt idx="7">
                  <c:v>291.333</c:v>
                </c:pt>
                <c:pt idx="8">
                  <c:v>572.544</c:v>
                </c:pt>
                <c:pt idx="9">
                  <c:v>957.808</c:v>
                </c:pt>
                <c:pt idx="10">
                  <c:v>1096.662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69.52708"/>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525.28</c:v>
                </c:pt>
                <c:pt idx="8">
                  <c:v>766.84</c:v>
                </c:pt>
                <c:pt idx="9">
                  <c:v>1178.325</c:v>
                </c:pt>
                <c:pt idx="10">
                  <c:v>1242.418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664.8401199999998"/>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566.253</c:v>
                </c:pt>
                <c:pt idx="10">
                  <c:v>3146.611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216.45874"/>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525.281</c:v>
                </c:pt>
                <c:pt idx="8">
                  <c:v>766.841</c:v>
                </c:pt>
                <c:pt idx="9">
                  <c:v>1178.325</c:v>
                </c:pt>
                <c:pt idx="10">
                  <c:v>1242.417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664.83878"/>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3712.865</c:v>
                </c:pt>
                <c:pt idx="2">
                  <c:v>5330.286</c:v>
                </c:pt>
                <c:pt idx="3">
                  <c:v>5655.195</c:v>
                </c:pt>
                <c:pt idx="4">
                  <c:v>6554.727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3712.865</c:v>
                </c:pt>
                <c:pt idx="1">
                  <c:v>1617.421</c:v>
                </c:pt>
                <c:pt idx="2">
                  <c:v>324.909</c:v>
                </c:pt>
                <c:pt idx="3">
                  <c:v>899.5319999999999</c:v>
                </c:pt>
                <c:pt idx="4">
                  <c:v>288.64699999999993</c:v>
                </c:pt>
                <c:pt idx="5">
                  <c:v>6843.374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1617.421</c:v>
                </c:pt>
                <c:pt idx="2">
                  <c:v>1942.33</c:v>
                </c:pt>
                <c:pt idx="3">
                  <c:v>2841.862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1617.421</c:v>
                </c:pt>
                <c:pt idx="1">
                  <c:v>324.909</c:v>
                </c:pt>
                <c:pt idx="2">
                  <c:v>899.5319999999999</c:v>
                </c:pt>
                <c:pt idx="3">
                  <c:v>288.64699999999993</c:v>
                </c:pt>
                <c:pt idx="4">
                  <c:v>3130.509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3712.861</c:v>
                </c:pt>
                <c:pt idx="2">
                  <c:v>4733.715</c:v>
                </c:pt>
                <c:pt idx="3">
                  <c:v>5352.338</c:v>
                </c:pt>
                <c:pt idx="4">
                  <c:v>5675.8369999999995</c:v>
                </c:pt>
                <c:pt idx="5">
                  <c:v>5921.785999999999</c:v>
                </c:pt>
                <c:pt idx="6">
                  <c:v>6170.205999999999</c:v>
                </c:pt>
                <c:pt idx="7">
                  <c:v>6311.3589999999995</c:v>
                </c:pt>
                <c:pt idx="8">
                  <c:v>6375.062</c:v>
                </c:pt>
                <c:pt idx="9">
                  <c:v>6571.791</c:v>
                </c:pt>
                <c:pt idx="10">
                  <c:v>6669.608</c:v>
                </c:pt>
                <c:pt idx="11">
                  <c:v>6757.227</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3712.861</c:v>
                </c:pt>
                <c:pt idx="1">
                  <c:v>1020.8539999999998</c:v>
                </c:pt>
                <c:pt idx="2">
                  <c:v>618.6229999999999</c:v>
                </c:pt>
                <c:pt idx="3">
                  <c:v>323.499</c:v>
                </c:pt>
                <c:pt idx="4">
                  <c:v>245.949</c:v>
                </c:pt>
                <c:pt idx="5">
                  <c:v>248.42000000000007</c:v>
                </c:pt>
                <c:pt idx="6">
                  <c:v>141.15299999999996</c:v>
                </c:pt>
                <c:pt idx="7">
                  <c:v>63.703</c:v>
                </c:pt>
                <c:pt idx="8">
                  <c:v>196.729</c:v>
                </c:pt>
                <c:pt idx="9">
                  <c:v>97.817</c:v>
                </c:pt>
                <c:pt idx="10">
                  <c:v>87.619</c:v>
                </c:pt>
                <c:pt idx="11">
                  <c:v>86.14599999999999</c:v>
                </c:pt>
                <c:pt idx="12">
                  <c:v>6843.373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1020.8539999999998</c:v>
                </c:pt>
                <c:pt idx="2">
                  <c:v>1639.4769999999999</c:v>
                </c:pt>
                <c:pt idx="3">
                  <c:v>1962.9759999999999</c:v>
                </c:pt>
                <c:pt idx="4">
                  <c:v>2208.9249999999997</c:v>
                </c:pt>
                <c:pt idx="5">
                  <c:v>2457.345</c:v>
                </c:pt>
                <c:pt idx="6">
                  <c:v>2598.4979999999996</c:v>
                </c:pt>
                <c:pt idx="7">
                  <c:v>2662.2009999999996</c:v>
                </c:pt>
                <c:pt idx="8">
                  <c:v>2858.9299999999994</c:v>
                </c:pt>
                <c:pt idx="9">
                  <c:v>2956.7469999999994</c:v>
                </c:pt>
                <c:pt idx="10">
                  <c:v>3044.3659999999995</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1020.8539999999998</c:v>
                </c:pt>
                <c:pt idx="1">
                  <c:v>618.6229999999999</c:v>
                </c:pt>
                <c:pt idx="2">
                  <c:v>323.499</c:v>
                </c:pt>
                <c:pt idx="3">
                  <c:v>245.949</c:v>
                </c:pt>
                <c:pt idx="4">
                  <c:v>248.42000000000007</c:v>
                </c:pt>
                <c:pt idx="5">
                  <c:v>141.15299999999996</c:v>
                </c:pt>
                <c:pt idx="6">
                  <c:v>63.703</c:v>
                </c:pt>
                <c:pt idx="7">
                  <c:v>196.729</c:v>
                </c:pt>
                <c:pt idx="8">
                  <c:v>97.817</c:v>
                </c:pt>
                <c:pt idx="9">
                  <c:v>87.619</c:v>
                </c:pt>
                <c:pt idx="10">
                  <c:v>86.14599999999999</c:v>
                </c:pt>
                <c:pt idx="11">
                  <c:v>3130.5120000000006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3712.8640000000005</c:v>
                </c:pt>
                <c:pt idx="2">
                  <c:v>4224.537</c:v>
                </c:pt>
                <c:pt idx="3">
                  <c:v>5134.312</c:v>
                </c:pt>
                <c:pt idx="4">
                  <c:v>5920.588</c:v>
                </c:pt>
                <c:pt idx="5">
                  <c:v>6131.3279999999995</c:v>
                </c:pt>
                <c:pt idx="6">
                  <c:v>6335.085999999999</c:v>
                </c:pt>
                <c:pt idx="7">
                  <c:v>6582.168</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3712.8640000000005</c:v>
                </c:pt>
                <c:pt idx="1">
                  <c:v>511.6730000000001</c:v>
                </c:pt>
                <c:pt idx="2">
                  <c:v>909.7750000000001</c:v>
                </c:pt>
                <c:pt idx="3">
                  <c:v>786.2759999999998</c:v>
                </c:pt>
                <c:pt idx="4">
                  <c:v>210.74000000000004</c:v>
                </c:pt>
                <c:pt idx="5">
                  <c:v>203.75799999999998</c:v>
                </c:pt>
                <c:pt idx="6">
                  <c:v>247.08199999999994</c:v>
                </c:pt>
                <c:pt idx="7">
                  <c:v>261.20399999999995</c:v>
                </c:pt>
                <c:pt idx="8">
                  <c:v>6843.372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511.6730000000001</c:v>
                </c:pt>
                <c:pt idx="2">
                  <c:v>1421.4480000000003</c:v>
                </c:pt>
                <c:pt idx="3">
                  <c:v>2207.724</c:v>
                </c:pt>
                <c:pt idx="4">
                  <c:v>2418.4640000000004</c:v>
                </c:pt>
                <c:pt idx="5">
                  <c:v>2622.222</c:v>
                </c:pt>
                <c:pt idx="6">
                  <c:v>2869.304</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511.6730000000001</c:v>
                </c:pt>
                <c:pt idx="1">
                  <c:v>909.7750000000001</c:v>
                </c:pt>
                <c:pt idx="2">
                  <c:v>786.2759999999998</c:v>
                </c:pt>
                <c:pt idx="3">
                  <c:v>210.74000000000004</c:v>
                </c:pt>
                <c:pt idx="4">
                  <c:v>203.75799999999998</c:v>
                </c:pt>
                <c:pt idx="5">
                  <c:v>247.08199999999994</c:v>
                </c:pt>
                <c:pt idx="6">
                  <c:v>261.20399999999995</c:v>
                </c:pt>
                <c:pt idx="7">
                  <c:v>3130.508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3712.8629999999994</c:v>
                </c:pt>
                <c:pt idx="2">
                  <c:v>4369.409999999999</c:v>
                </c:pt>
                <c:pt idx="3">
                  <c:v>5317.0689999999995</c:v>
                </c:pt>
                <c:pt idx="4">
                  <c:v>6395.004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3712.8629999999994</c:v>
                </c:pt>
                <c:pt idx="1">
                  <c:v>656.5469999999999</c:v>
                </c:pt>
                <c:pt idx="2">
                  <c:v>947.6590000000003</c:v>
                </c:pt>
                <c:pt idx="3">
                  <c:v>1077.9350000000002</c:v>
                </c:pt>
                <c:pt idx="4">
                  <c:v>448.36800000000005</c:v>
                </c:pt>
                <c:pt idx="5">
                  <c:v>6843.372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656.5469999999999</c:v>
                </c:pt>
                <c:pt idx="2">
                  <c:v>1604.2060000000001</c:v>
                </c:pt>
                <c:pt idx="3">
                  <c:v>2682.1410000000005</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656.5469999999999</c:v>
                </c:pt>
                <c:pt idx="1">
                  <c:v>947.6590000000003</c:v>
                </c:pt>
                <c:pt idx="2">
                  <c:v>1077.9350000000002</c:v>
                </c:pt>
                <c:pt idx="3">
                  <c:v>448.36800000000005</c:v>
                </c:pt>
                <c:pt idx="4">
                  <c:v>3130.5090000000005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3712.864</c:v>
                </c:pt>
                <c:pt idx="2">
                  <c:v>6373.546</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3712.864</c:v>
                </c:pt>
                <c:pt idx="1">
                  <c:v>2660.682</c:v>
                </c:pt>
                <c:pt idx="2">
                  <c:v>469.823</c:v>
                </c:pt>
                <c:pt idx="3">
                  <c:v>6843.369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2660.682</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2660.682</c:v>
                </c:pt>
                <c:pt idx="1">
                  <c:v>469.823</c:v>
                </c:pt>
                <c:pt idx="2">
                  <c:v>3130.5049999999997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3712.8639999999996</c:v>
                </c:pt>
                <c:pt idx="2">
                  <c:v>4369.409</c:v>
                </c:pt>
                <c:pt idx="3">
                  <c:v>5317.0689999999995</c:v>
                </c:pt>
                <c:pt idx="4">
                  <c:v>6395.003</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3712.8639999999996</c:v>
                </c:pt>
                <c:pt idx="1">
                  <c:v>656.545</c:v>
                </c:pt>
                <c:pt idx="2">
                  <c:v>947.6599999999999</c:v>
                </c:pt>
                <c:pt idx="3">
                  <c:v>1077.934</c:v>
                </c:pt>
                <c:pt idx="4">
                  <c:v>448.3670000000001</c:v>
                </c:pt>
                <c:pt idx="5">
                  <c:v>6843.37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656.545</c:v>
                </c:pt>
                <c:pt idx="2">
                  <c:v>1604.205</c:v>
                </c:pt>
                <c:pt idx="3">
                  <c:v>2682.139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656.545</c:v>
                </c:pt>
                <c:pt idx="1">
                  <c:v>947.6599999999999</c:v>
                </c:pt>
                <c:pt idx="2">
                  <c:v>1077.934</c:v>
                </c:pt>
                <c:pt idx="3">
                  <c:v>448.3670000000001</c:v>
                </c:pt>
                <c:pt idx="4">
                  <c:v>3130.5060000000003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805.746</c:v>
                </c:pt>
                <c:pt idx="1">
                  <c:v>835.997</c:v>
                </c:pt>
                <c:pt idx="2">
                  <c:v>867.3760000000001</c:v>
                </c:pt>
                <c:pt idx="3">
                  <c:v>900.158</c:v>
                </c:pt>
                <c:pt idx="4">
                  <c:v>934.268</c:v>
                </c:pt>
                <c:pt idx="5">
                  <c:v>970.4939999999999</c:v>
                </c:pt>
                <c:pt idx="6">
                  <c:v>1008.8199999999999</c:v>
                </c:pt>
                <c:pt idx="7">
                  <c:v>1049.954</c:v>
                </c:pt>
                <c:pt idx="8">
                  <c:v>1094.23</c:v>
                </c:pt>
                <c:pt idx="9">
                  <c:v>1142.069</c:v>
                </c:pt>
                <c:pt idx="10">
                  <c:v>1193.2520000000002</c:v>
                </c:pt>
                <c:pt idx="11">
                  <c:v>1247.6200000000001</c:v>
                </c:pt>
                <c:pt idx="12">
                  <c:v>1304.6169999999997</c:v>
                </c:pt>
                <c:pt idx="13">
                  <c:v>1363.408</c:v>
                </c:pt>
                <c:pt idx="14">
                  <c:v>1423.0980000000002</c:v>
                </c:pt>
                <c:pt idx="15">
                  <c:v>1483.534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France</c:v>
                </c:pt>
              </c:strCache>
            </c:strRef>
          </c:cat>
          <c:val>
            <c:numRef>
              <c:f>Sheet1!$B$2:$B$3</c:f>
              <c:numCache>
                <c:formatCode>General</c:formatCode>
                <c:ptCount val="2"/>
                <c:pt idx="0">
                  <c:v>0.05239999740743384</c:v>
                </c:pt>
                <c:pt idx="1">
                  <c:v>0.04335106797977417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7399965000356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970.4939999999999</c:v>
                </c:pt>
                <c:pt idx="2">
                  <c:v>1008.8199999999999</c:v>
                </c:pt>
                <c:pt idx="3">
                  <c:v>1049.954</c:v>
                </c:pt>
                <c:pt idx="4">
                  <c:v>1094.23</c:v>
                </c:pt>
                <c:pt idx="5">
                  <c:v>1142.069</c:v>
                </c:pt>
                <c:pt idx="6">
                  <c:v>1193.2520000000002</c:v>
                </c:pt>
                <c:pt idx="7">
                  <c:v>1247.6200000000001</c:v>
                </c:pt>
                <c:pt idx="8">
                  <c:v>1304.6169999999997</c:v>
                </c:pt>
                <c:pt idx="9">
                  <c:v>1363.408</c:v>
                </c:pt>
                <c:pt idx="10">
                  <c:v>1423.0980000000002</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970.4939999999999</c:v>
                </c:pt>
                <c:pt idx="1">
                  <c:v>38.32600000000002</c:v>
                </c:pt>
                <c:pt idx="2">
                  <c:v>41.134000000000015</c:v>
                </c:pt>
                <c:pt idx="3">
                  <c:v>44.27600000000007</c:v>
                </c:pt>
                <c:pt idx="4">
                  <c:v>47.83899999999994</c:v>
                </c:pt>
                <c:pt idx="5">
                  <c:v>51.18300000000022</c:v>
                </c:pt>
                <c:pt idx="6">
                  <c:v>54.36799999999994</c:v>
                </c:pt>
                <c:pt idx="7">
                  <c:v>56.996999999999616</c:v>
                </c:pt>
                <c:pt idx="8">
                  <c:v>58.79100000000017</c:v>
                </c:pt>
                <c:pt idx="9">
                  <c:v>59.69000000000028</c:v>
                </c:pt>
                <c:pt idx="10">
                  <c:v>60.43599999999992</c:v>
                </c:pt>
                <c:pt idx="11">
                  <c:v>1483.534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France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12.319023164603347</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87.68097683539665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2699.012</c:v>
                </c:pt>
                <c:pt idx="1">
                  <c:v>2807.75</c:v>
                </c:pt>
                <c:pt idx="2">
                  <c:v>2922.031</c:v>
                </c:pt>
                <c:pt idx="3">
                  <c:v>3044.083</c:v>
                </c:pt>
                <c:pt idx="4">
                  <c:v>3172.4179999999997</c:v>
                </c:pt>
                <c:pt idx="5">
                  <c:v>3322.154</c:v>
                </c:pt>
                <c:pt idx="6">
                  <c:v>3484.742</c:v>
                </c:pt>
                <c:pt idx="7">
                  <c:v>3663.327</c:v>
                </c:pt>
                <c:pt idx="8">
                  <c:v>3859.5969999999998</c:v>
                </c:pt>
                <c:pt idx="9">
                  <c:v>4077.0519999999997</c:v>
                </c:pt>
                <c:pt idx="10">
                  <c:v>4315.174</c:v>
                </c:pt>
                <c:pt idx="11">
                  <c:v>4574.794</c:v>
                </c:pt>
                <c:pt idx="12">
                  <c:v>4854.94</c:v>
                </c:pt>
                <c:pt idx="13">
                  <c:v>5153.233</c:v>
                </c:pt>
                <c:pt idx="14">
                  <c:v>5468.098</c:v>
                </c:pt>
                <c:pt idx="15">
                  <c:v>5799.7300000000005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France</c:v>
                </c:pt>
              </c:strCache>
            </c:strRef>
          </c:cat>
          <c:val>
            <c:numRef>
              <c:f>Sheet1!$B$2:$B$3</c:f>
              <c:numCache>
                <c:formatCode>General</c:formatCode>
                <c:ptCount val="2"/>
                <c:pt idx="0">
                  <c:v>0.06569916400258924</c:v>
                </c:pt>
                <c:pt idx="1">
                  <c:v>0.057301386062921233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693871403495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3322.154</c:v>
                </c:pt>
                <c:pt idx="2">
                  <c:v>3484.742</c:v>
                </c:pt>
                <c:pt idx="3">
                  <c:v>3663.327</c:v>
                </c:pt>
                <c:pt idx="4">
                  <c:v>3859.5969999999998</c:v>
                </c:pt>
                <c:pt idx="5">
                  <c:v>4077.0519999999997</c:v>
                </c:pt>
                <c:pt idx="6">
                  <c:v>4315.174</c:v>
                </c:pt>
                <c:pt idx="7">
                  <c:v>4574.794</c:v>
                </c:pt>
                <c:pt idx="8">
                  <c:v>4854.94</c:v>
                </c:pt>
                <c:pt idx="9">
                  <c:v>5153.233</c:v>
                </c:pt>
                <c:pt idx="10">
                  <c:v>5468.098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3322.154</c:v>
                </c:pt>
                <c:pt idx="1">
                  <c:v>162.5880000000002</c:v>
                </c:pt>
                <c:pt idx="2">
                  <c:v>178.58500000000004</c:v>
                </c:pt>
                <c:pt idx="3">
                  <c:v>196.26999999999953</c:v>
                </c:pt>
                <c:pt idx="4">
                  <c:v>217.45499999999993</c:v>
                </c:pt>
                <c:pt idx="5">
                  <c:v>238.1220000000003</c:v>
                </c:pt>
                <c:pt idx="6">
                  <c:v>259.6199999999999</c:v>
                </c:pt>
                <c:pt idx="7">
                  <c:v>280.14599999999973</c:v>
                </c:pt>
                <c:pt idx="8">
                  <c:v>298.2930000000006</c:v>
                </c:pt>
                <c:pt idx="9">
                  <c:v>314.8649999999998</c:v>
                </c:pt>
                <c:pt idx="10">
                  <c:v>331.6320000000005</c:v>
                </c:pt>
                <c:pt idx="11">
                  <c:v>5799.7300000000005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France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12.708679798079839</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87.29132020192016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217.878</c:v>
                </c:pt>
                <c:pt idx="8">
                  <c:v>357.07</c:v>
                </c:pt>
                <c:pt idx="9">
                  <c:v>927.048</c:v>
                </c:pt>
                <c:pt idx="10">
                  <c:v>1820.158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439.0117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63.589</c:v>
                </c:pt>
                <c:pt idx="1">
                  <c:v>73.673</c:v>
                </c:pt>
                <c:pt idx="2">
                  <c:v>96.451</c:v>
                </c:pt>
                <c:pt idx="3">
                  <c:v>105.488</c:v>
                </c:pt>
                <c:pt idx="4">
                  <c:v>171.709</c:v>
                </c:pt>
                <c:pt idx="5">
                  <c:v>208.888</c:v>
                </c:pt>
                <c:pt idx="6">
                  <c:v>262.727</c:v>
                </c:pt>
                <c:pt idx="7">
                  <c:v>273.647</c:v>
                </c:pt>
                <c:pt idx="8">
                  <c:v>330.287</c:v>
                </c:pt>
                <c:pt idx="9">
                  <c:v>678.753</c:v>
                </c:pt>
                <c:pt idx="10">
                  <c:v>1056.94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16.2996"/>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Mono-Material Recycla…</c:v>
                </c:pt>
                <c:pt idx="7">
                  <c:v>Foil-Laminated Struct…</c:v>
                </c:pt>
                <c:pt idx="8">
                  <c:v>Monolayer Films</c:v>
                </c:pt>
                <c:pt idx="9">
                  <c:v>Laminated Films</c:v>
                </c:pt>
                <c:pt idx="10">
                  <c:v>Coextruded Multilayer…</c:v>
                </c:pt>
              </c:strCache>
            </c:strRef>
          </c:cat>
          <c:val>
            <c:numRef>
              <c:f>Sheet1!$B$2:$B$12</c:f>
              <c:numCache>
                <c:formatCode>General</c:formatCode>
                <c:ptCount val="11"/>
                <c:pt idx="4">
                  <c:v>222.532</c:v>
                </c:pt>
                <c:pt idx="5">
                  <c:v>234.007</c:v>
                </c:pt>
                <c:pt idx="6">
                  <c:v>251.978</c:v>
                </c:pt>
                <c:pt idx="7">
                  <c:v>258.856</c:v>
                </c:pt>
                <c:pt idx="8">
                  <c:v>515.007</c:v>
                </c:pt>
                <c:pt idx="9">
                  <c:v>859.606</c:v>
                </c:pt>
                <c:pt idx="10">
                  <c:v>980.1659999999999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313.4224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474.566</c:v>
                </c:pt>
                <c:pt idx="8">
                  <c:v>690.211</c:v>
                </c:pt>
                <c:pt idx="9">
                  <c:v>1053.455</c:v>
                </c:pt>
                <c:pt idx="10">
                  <c:v>1103.92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79.2528000000002"/>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512.507</c:v>
                </c:pt>
                <c:pt idx="10">
                  <c:v>2809.6440000000002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764.9229600000003"/>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474.56600000000003</c:v>
                </c:pt>
                <c:pt idx="8">
                  <c:v>690.21</c:v>
                </c:pt>
                <c:pt idx="9">
                  <c:v>1053.457</c:v>
                </c:pt>
                <c:pt idx="10">
                  <c:v>1103.9189999999999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479.25146"/>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3322.154</c:v>
                </c:pt>
                <c:pt idx="2">
                  <c:v>4675.034</c:v>
                </c:pt>
                <c:pt idx="3">
                  <c:v>4937.164</c:v>
                </c:pt>
                <c:pt idx="4">
                  <c:v>5643.201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3322.154</c:v>
                </c:pt>
                <c:pt idx="1">
                  <c:v>1352.88</c:v>
                </c:pt>
                <c:pt idx="2">
                  <c:v>262.12999999999994</c:v>
                </c:pt>
                <c:pt idx="3">
                  <c:v>706.037</c:v>
                </c:pt>
                <c:pt idx="4">
                  <c:v>156.529</c:v>
                </c:pt>
                <c:pt idx="5">
                  <c:v>5799.7300000000005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1352.88</c:v>
                </c:pt>
                <c:pt idx="2">
                  <c:v>1615.01</c:v>
                </c:pt>
                <c:pt idx="3">
                  <c:v>2321.047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1352.88</c:v>
                </c:pt>
                <c:pt idx="1">
                  <c:v>262.12999999999994</c:v>
                </c:pt>
                <c:pt idx="2">
                  <c:v>706.037</c:v>
                </c:pt>
                <c:pt idx="3">
                  <c:v>156.529</c:v>
                </c:pt>
                <c:pt idx="4">
                  <c:v>2477.576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3322.152</c:v>
                </c:pt>
                <c:pt idx="2">
                  <c:v>4122.755</c:v>
                </c:pt>
                <c:pt idx="3">
                  <c:v>4607.036</c:v>
                </c:pt>
                <c:pt idx="4">
                  <c:v>4864.472</c:v>
                </c:pt>
                <c:pt idx="5">
                  <c:v>5061.876</c:v>
                </c:pt>
                <c:pt idx="6">
                  <c:v>5275.193</c:v>
                </c:pt>
                <c:pt idx="7">
                  <c:v>5386.216</c:v>
                </c:pt>
                <c:pt idx="8">
                  <c:v>5437.192</c:v>
                </c:pt>
                <c:pt idx="9">
                  <c:v>5590.51</c:v>
                </c:pt>
                <c:pt idx="10">
                  <c:v>5668.070000000001</c:v>
                </c:pt>
                <c:pt idx="11">
                  <c:v>5736.5070000000005</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3322.152</c:v>
                </c:pt>
                <c:pt idx="1">
                  <c:v>800.6029999999998</c:v>
                </c:pt>
                <c:pt idx="2">
                  <c:v>484.28100000000006</c:v>
                </c:pt>
                <c:pt idx="3">
                  <c:v>257.436</c:v>
                </c:pt>
                <c:pt idx="4">
                  <c:v>197.404</c:v>
                </c:pt>
                <c:pt idx="5">
                  <c:v>213.317</c:v>
                </c:pt>
                <c:pt idx="6">
                  <c:v>111.02300000000002</c:v>
                </c:pt>
                <c:pt idx="7">
                  <c:v>50.976</c:v>
                </c:pt>
                <c:pt idx="8">
                  <c:v>153.318</c:v>
                </c:pt>
                <c:pt idx="9">
                  <c:v>77.56</c:v>
                </c:pt>
                <c:pt idx="10">
                  <c:v>68.43700000000001</c:v>
                </c:pt>
                <c:pt idx="11">
                  <c:v>63.218999999999994</c:v>
                </c:pt>
                <c:pt idx="12">
                  <c:v>5799.726000000001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800.6029999999998</c:v>
                </c:pt>
                <c:pt idx="2">
                  <c:v>1284.884</c:v>
                </c:pt>
                <c:pt idx="3">
                  <c:v>1542.32</c:v>
                </c:pt>
                <c:pt idx="4">
                  <c:v>1739.724</c:v>
                </c:pt>
                <c:pt idx="5">
                  <c:v>1953.041</c:v>
                </c:pt>
                <c:pt idx="6">
                  <c:v>2064.064</c:v>
                </c:pt>
                <c:pt idx="7">
                  <c:v>2115.04</c:v>
                </c:pt>
                <c:pt idx="8">
                  <c:v>2268.358</c:v>
                </c:pt>
                <c:pt idx="9">
                  <c:v>2345.918</c:v>
                </c:pt>
                <c:pt idx="10">
                  <c:v>2414.355</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800.6029999999998</c:v>
                </c:pt>
                <c:pt idx="1">
                  <c:v>484.28100000000006</c:v>
                </c:pt>
                <c:pt idx="2">
                  <c:v>257.436</c:v>
                </c:pt>
                <c:pt idx="3">
                  <c:v>197.404</c:v>
                </c:pt>
                <c:pt idx="4">
                  <c:v>213.317</c:v>
                </c:pt>
                <c:pt idx="5">
                  <c:v>111.02300000000002</c:v>
                </c:pt>
                <c:pt idx="6">
                  <c:v>50.976</c:v>
                </c:pt>
                <c:pt idx="7">
                  <c:v>153.318</c:v>
                </c:pt>
                <c:pt idx="8">
                  <c:v>77.56</c:v>
                </c:pt>
                <c:pt idx="9">
                  <c:v>68.43700000000001</c:v>
                </c:pt>
                <c:pt idx="10">
                  <c:v>63.218999999999994</c:v>
                </c:pt>
                <c:pt idx="11">
                  <c:v>2477.574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3322.152</c:v>
                </c:pt>
                <c:pt idx="2">
                  <c:v>3723.426</c:v>
                </c:pt>
                <c:pt idx="3">
                  <c:v>4443.34</c:v>
                </c:pt>
                <c:pt idx="4">
                  <c:v>5057.389</c:v>
                </c:pt>
                <c:pt idx="5">
                  <c:v>5228.072</c:v>
                </c:pt>
                <c:pt idx="6">
                  <c:v>5387.972</c:v>
                </c:pt>
                <c:pt idx="7">
                  <c:v>5584.115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3322.152</c:v>
                </c:pt>
                <c:pt idx="1">
                  <c:v>401.274</c:v>
                </c:pt>
                <c:pt idx="2">
                  <c:v>719.9140000000002</c:v>
                </c:pt>
                <c:pt idx="3">
                  <c:v>614.049</c:v>
                </c:pt>
                <c:pt idx="4">
                  <c:v>170.68299999999996</c:v>
                </c:pt>
                <c:pt idx="5">
                  <c:v>159.89999999999998</c:v>
                </c:pt>
                <c:pt idx="6">
                  <c:v>196.14300000000003</c:v>
                </c:pt>
                <c:pt idx="7">
                  <c:v>215.60999999999996</c:v>
                </c:pt>
                <c:pt idx="8">
                  <c:v>5799.724999999999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401.274</c:v>
                </c:pt>
                <c:pt idx="2">
                  <c:v>1121.188</c:v>
                </c:pt>
                <c:pt idx="3">
                  <c:v>1735.237</c:v>
                </c:pt>
                <c:pt idx="4">
                  <c:v>1905.92</c:v>
                </c:pt>
                <c:pt idx="5">
                  <c:v>2065.82</c:v>
                </c:pt>
                <c:pt idx="6">
                  <c:v>2261.963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401.274</c:v>
                </c:pt>
                <c:pt idx="1">
                  <c:v>719.9140000000002</c:v>
                </c:pt>
                <c:pt idx="2">
                  <c:v>614.049</c:v>
                </c:pt>
                <c:pt idx="3">
                  <c:v>170.68299999999996</c:v>
                </c:pt>
                <c:pt idx="4">
                  <c:v>159.89999999999998</c:v>
                </c:pt>
                <c:pt idx="5">
                  <c:v>196.14300000000003</c:v>
                </c:pt>
                <c:pt idx="6">
                  <c:v>215.60999999999996</c:v>
                </c:pt>
                <c:pt idx="7">
                  <c:v>2477.5730000000003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3322.152</c:v>
                </c:pt>
                <c:pt idx="2">
                  <c:v>3835.7</c:v>
                </c:pt>
                <c:pt idx="3">
                  <c:v>4583.553</c:v>
                </c:pt>
                <c:pt idx="4">
                  <c:v>5438.952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3322.152</c:v>
                </c:pt>
                <c:pt idx="1">
                  <c:v>513.548</c:v>
                </c:pt>
                <c:pt idx="2">
                  <c:v>747.8529999999998</c:v>
                </c:pt>
                <c:pt idx="3">
                  <c:v>855.3990000000001</c:v>
                </c:pt>
                <c:pt idx="4">
                  <c:v>360.77500000000003</c:v>
                </c:pt>
                <c:pt idx="5">
                  <c:v>5799.727000000001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513.548</c:v>
                </c:pt>
                <c:pt idx="2">
                  <c:v>1261.4009999999998</c:v>
                </c:pt>
                <c:pt idx="3">
                  <c:v>2116.8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513.548</c:v>
                </c:pt>
                <c:pt idx="1">
                  <c:v>747.8529999999998</c:v>
                </c:pt>
                <c:pt idx="2">
                  <c:v>855.3990000000001</c:v>
                </c:pt>
                <c:pt idx="3">
                  <c:v>360.77500000000003</c:v>
                </c:pt>
                <c:pt idx="4">
                  <c:v>2477.5750000000003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3322.1510000000003</c:v>
                </c:pt>
                <c:pt idx="2">
                  <c:v>5425.063</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3322.1510000000003</c:v>
                </c:pt>
                <c:pt idx="1">
                  <c:v>2102.9120000000003</c:v>
                </c:pt>
                <c:pt idx="2">
                  <c:v>374.663</c:v>
                </c:pt>
                <c:pt idx="3">
                  <c:v>5799.726000000001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2102.9120000000003</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2102.9120000000003</c:v>
                </c:pt>
                <c:pt idx="1">
                  <c:v>374.663</c:v>
                </c:pt>
                <c:pt idx="2">
                  <c:v>2477.5750000000003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3322.152</c:v>
                </c:pt>
                <c:pt idx="2">
                  <c:v>3835.7</c:v>
                </c:pt>
                <c:pt idx="3">
                  <c:v>4583.554</c:v>
                </c:pt>
                <c:pt idx="4">
                  <c:v>5438.9490000000005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3322.152</c:v>
                </c:pt>
                <c:pt idx="1">
                  <c:v>513.548</c:v>
                </c:pt>
                <c:pt idx="2">
                  <c:v>747.854</c:v>
                </c:pt>
                <c:pt idx="3">
                  <c:v>855.395</c:v>
                </c:pt>
                <c:pt idx="4">
                  <c:v>360.77699999999993</c:v>
                </c:pt>
                <c:pt idx="5">
                  <c:v>5799.726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513.548</c:v>
                </c:pt>
                <c:pt idx="2">
                  <c:v>1261.402</c:v>
                </c:pt>
                <c:pt idx="3">
                  <c:v>2116.797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513.548</c:v>
                </c:pt>
                <c:pt idx="1">
                  <c:v>747.854</c:v>
                </c:pt>
                <c:pt idx="2">
                  <c:v>855.395</c:v>
                </c:pt>
                <c:pt idx="3">
                  <c:v>360.77699999999993</c:v>
                </c:pt>
                <c:pt idx="4">
                  <c:v>2477.574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611.833</c:v>
                </c:pt>
                <c:pt idx="1">
                  <c:v>643.3</c:v>
                </c:pt>
                <c:pt idx="2">
                  <c:v>676.859</c:v>
                </c:pt>
                <c:pt idx="3">
                  <c:v>712.703</c:v>
                </c:pt>
                <c:pt idx="4">
                  <c:v>751.117</c:v>
                </c:pt>
                <c:pt idx="5">
                  <c:v>792.852</c:v>
                </c:pt>
                <c:pt idx="6">
                  <c:v>838.105</c:v>
                </c:pt>
                <c:pt idx="7">
                  <c:v>887.323</c:v>
                </c:pt>
                <c:pt idx="8">
                  <c:v>940.783</c:v>
                </c:pt>
                <c:pt idx="9">
                  <c:v>998.901</c:v>
                </c:pt>
                <c:pt idx="10">
                  <c:v>1061.488</c:v>
                </c:pt>
                <c:pt idx="11">
                  <c:v>1128.3170000000002</c:v>
                </c:pt>
                <c:pt idx="12">
                  <c:v>1198.565</c:v>
                </c:pt>
                <c:pt idx="13">
                  <c:v>1271.765</c:v>
                </c:pt>
                <c:pt idx="14">
                  <c:v>1347.113</c:v>
                </c:pt>
                <c:pt idx="15">
                  <c:v>1424.554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Italy</c:v>
                </c:pt>
              </c:strCache>
            </c:strRef>
          </c:cat>
          <c:val>
            <c:numRef>
              <c:f>Sheet1!$B$2:$B$3</c:f>
              <c:numCache>
                <c:formatCode>General</c:formatCode>
                <c:ptCount val="2"/>
                <c:pt idx="0">
                  <c:v>0.05239999740743384</c:v>
                </c:pt>
                <c:pt idx="1">
                  <c:v>0.06034862865557389</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14706486850247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792.852</c:v>
                </c:pt>
                <c:pt idx="2">
                  <c:v>838.105</c:v>
                </c:pt>
                <c:pt idx="3">
                  <c:v>887.323</c:v>
                </c:pt>
                <c:pt idx="4">
                  <c:v>940.783</c:v>
                </c:pt>
                <c:pt idx="5">
                  <c:v>998.901</c:v>
                </c:pt>
                <c:pt idx="6">
                  <c:v>1061.488</c:v>
                </c:pt>
                <c:pt idx="7">
                  <c:v>1128.3170000000002</c:v>
                </c:pt>
                <c:pt idx="8">
                  <c:v>1198.565</c:v>
                </c:pt>
                <c:pt idx="9">
                  <c:v>1271.765</c:v>
                </c:pt>
                <c:pt idx="10">
                  <c:v>1347.113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792.852</c:v>
                </c:pt>
                <c:pt idx="1">
                  <c:v>45.25300000000004</c:v>
                </c:pt>
                <c:pt idx="2">
                  <c:v>49.21799999999996</c:v>
                </c:pt>
                <c:pt idx="3">
                  <c:v>53.460000000000036</c:v>
                </c:pt>
                <c:pt idx="4">
                  <c:v>58.11799999999994</c:v>
                </c:pt>
                <c:pt idx="5">
                  <c:v>62.5870000000001</c:v>
                </c:pt>
                <c:pt idx="6">
                  <c:v>66.82900000000018</c:v>
                </c:pt>
                <c:pt idx="7">
                  <c:v>70.24799999999982</c:v>
                </c:pt>
                <c:pt idx="8">
                  <c:v>73.20000000000005</c:v>
                </c:pt>
                <c:pt idx="9">
                  <c:v>75.34799999999996</c:v>
                </c:pt>
                <c:pt idx="10">
                  <c:v>77.44100000000003</c:v>
                </c:pt>
                <c:pt idx="11">
                  <c:v>1424.554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Italy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10.06411389880009</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89.93588610119991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1908.961</c:v>
                </c:pt>
                <c:pt idx="1">
                  <c:v>2013.133</c:v>
                </c:pt>
                <c:pt idx="2">
                  <c:v>2125.3680000000004</c:v>
                </c:pt>
                <c:pt idx="3">
                  <c:v>2247.4139999999998</c:v>
                </c:pt>
                <c:pt idx="4">
                  <c:v>2379.307</c:v>
                </c:pt>
                <c:pt idx="5">
                  <c:v>2532.4819999999995</c:v>
                </c:pt>
                <c:pt idx="6">
                  <c:v>2701.644</c:v>
                </c:pt>
                <c:pt idx="7">
                  <c:v>2889.101</c:v>
                </c:pt>
                <c:pt idx="8">
                  <c:v>3096.386</c:v>
                </c:pt>
                <c:pt idx="9">
                  <c:v>3326.7459999999996</c:v>
                </c:pt>
                <c:pt idx="10">
                  <c:v>3580.1189999999997</c:v>
                </c:pt>
                <c:pt idx="11">
                  <c:v>3856.7140000000004</c:v>
                </c:pt>
                <c:pt idx="12">
                  <c:v>4154.596</c:v>
                </c:pt>
                <c:pt idx="13">
                  <c:v>4474.013000000001</c:v>
                </c:pt>
                <c:pt idx="14">
                  <c:v>4813.974</c:v>
                </c:pt>
                <c:pt idx="15">
                  <c:v>5175.603999999999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Italy</c:v>
                </c:pt>
              </c:strCache>
            </c:strRef>
          </c:cat>
          <c:val>
            <c:numRef>
              <c:f>Sheet1!$B$2:$B$3</c:f>
              <c:numCache>
                <c:formatCode>General</c:formatCode>
                <c:ptCount val="2"/>
                <c:pt idx="0">
                  <c:v>0.06569916400258924</c:v>
                </c:pt>
                <c:pt idx="1">
                  <c:v>0.07409196378396965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00241511083590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2532.4819999999995</c:v>
                </c:pt>
                <c:pt idx="2">
                  <c:v>2701.644</c:v>
                </c:pt>
                <c:pt idx="3">
                  <c:v>2889.101</c:v>
                </c:pt>
                <c:pt idx="4">
                  <c:v>3096.386</c:v>
                </c:pt>
                <c:pt idx="5">
                  <c:v>3326.7459999999996</c:v>
                </c:pt>
                <c:pt idx="6">
                  <c:v>3580.1189999999997</c:v>
                </c:pt>
                <c:pt idx="7">
                  <c:v>3856.7140000000004</c:v>
                </c:pt>
                <c:pt idx="8">
                  <c:v>4154.596</c:v>
                </c:pt>
                <c:pt idx="9">
                  <c:v>4474.013000000001</c:v>
                </c:pt>
                <c:pt idx="10">
                  <c:v>4813.974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2532.4819999999995</c:v>
                </c:pt>
                <c:pt idx="1">
                  <c:v>169.16200000000026</c:v>
                </c:pt>
                <c:pt idx="2">
                  <c:v>187.45700000000033</c:v>
                </c:pt>
                <c:pt idx="3">
                  <c:v>207.28499999999985</c:v>
                </c:pt>
                <c:pt idx="4">
                  <c:v>230.35999999999967</c:v>
                </c:pt>
                <c:pt idx="5">
                  <c:v>253.37300000000005</c:v>
                </c:pt>
                <c:pt idx="6">
                  <c:v>276.5950000000007</c:v>
                </c:pt>
                <c:pt idx="7">
                  <c:v>297.88199999999915</c:v>
                </c:pt>
                <c:pt idx="8">
                  <c:v>319.4170000000013</c:v>
                </c:pt>
                <c:pt idx="9">
                  <c:v>339.96099999999933</c:v>
                </c:pt>
                <c:pt idx="10">
                  <c:v>361.6299999999992</c:v>
                </c:pt>
                <c:pt idx="11">
                  <c:v>5175.603999999999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Italy</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9.68784193399849</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90.31215806600152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156.287</c:v>
                </c:pt>
                <c:pt idx="8">
                  <c:v>285.538</c:v>
                </c:pt>
                <c:pt idx="9">
                  <c:v>704.185</c:v>
                </c:pt>
                <c:pt idx="10">
                  <c:v>1386.472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857.87248"/>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50.796</c:v>
                </c:pt>
                <c:pt idx="1">
                  <c:v>58.727</c:v>
                </c:pt>
                <c:pt idx="2">
                  <c:v>73.353</c:v>
                </c:pt>
                <c:pt idx="3">
                  <c:v>78.758</c:v>
                </c:pt>
                <c:pt idx="4">
                  <c:v>132.602</c:v>
                </c:pt>
                <c:pt idx="5">
                  <c:v>158.528</c:v>
                </c:pt>
                <c:pt idx="6">
                  <c:v>202.889</c:v>
                </c:pt>
                <c:pt idx="7">
                  <c:v>209.012</c:v>
                </c:pt>
                <c:pt idx="8">
                  <c:v>253.688</c:v>
                </c:pt>
                <c:pt idx="9">
                  <c:v>516.662</c:v>
                </c:pt>
                <c:pt idx="10">
                  <c:v>797.465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068.603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171.43</c:v>
                </c:pt>
                <c:pt idx="5">
                  <c:v>179.303</c:v>
                </c:pt>
                <c:pt idx="6">
                  <c:v>196.254</c:v>
                </c:pt>
                <c:pt idx="7">
                  <c:v>198.097</c:v>
                </c:pt>
                <c:pt idx="8">
                  <c:v>391.19</c:v>
                </c:pt>
                <c:pt idx="9">
                  <c:v>645.564</c:v>
                </c:pt>
                <c:pt idx="10">
                  <c:v>750.643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005.86162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370.923</c:v>
                </c:pt>
                <c:pt idx="8">
                  <c:v>535.744</c:v>
                </c:pt>
                <c:pt idx="9">
                  <c:v>790.975</c:v>
                </c:pt>
                <c:pt idx="10">
                  <c:v>834.84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118.685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393.642</c:v>
                </c:pt>
                <c:pt idx="10">
                  <c:v>2138.838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866.0429200000003"/>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370.922</c:v>
                </c:pt>
                <c:pt idx="8">
                  <c:v>535.744</c:v>
                </c:pt>
                <c:pt idx="9">
                  <c:v>790.976</c:v>
                </c:pt>
                <c:pt idx="10">
                  <c:v>834.841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118.6869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2532.4819999999995</c:v>
                </c:pt>
                <c:pt idx="2">
                  <c:v>3956.4889999999996</c:v>
                </c:pt>
                <c:pt idx="3">
                  <c:v>4244.062999999999</c:v>
                </c:pt>
                <c:pt idx="4">
                  <c:v>5009.052999999999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2532.4819999999995</c:v>
                </c:pt>
                <c:pt idx="1">
                  <c:v>1424.0069999999998</c:v>
                </c:pt>
                <c:pt idx="2">
                  <c:v>287.57399999999996</c:v>
                </c:pt>
                <c:pt idx="3">
                  <c:v>764.99</c:v>
                </c:pt>
                <c:pt idx="4">
                  <c:v>166.55100000000002</c:v>
                </c:pt>
                <c:pt idx="5">
                  <c:v>5175.603999999999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1424.0069999999998</c:v>
                </c:pt>
                <c:pt idx="2">
                  <c:v>1711.5809999999997</c:v>
                </c:pt>
                <c:pt idx="3">
                  <c:v>2476.571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1424.0069999999998</c:v>
                </c:pt>
                <c:pt idx="1">
                  <c:v>287.57399999999996</c:v>
                </c:pt>
                <c:pt idx="2">
                  <c:v>764.99</c:v>
                </c:pt>
                <c:pt idx="3">
                  <c:v>166.55100000000002</c:v>
                </c:pt>
                <c:pt idx="4">
                  <c:v>2643.122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2532.4799999999996</c:v>
                </c:pt>
                <c:pt idx="2">
                  <c:v>3388.8459999999995</c:v>
                </c:pt>
                <c:pt idx="3">
                  <c:v>3908.2539999999995</c:v>
                </c:pt>
                <c:pt idx="4">
                  <c:v>4177.803999999999</c:v>
                </c:pt>
                <c:pt idx="5">
                  <c:v>4388.393999999999</c:v>
                </c:pt>
                <c:pt idx="6">
                  <c:v>4609.293</c:v>
                </c:pt>
                <c:pt idx="7">
                  <c:v>4728.74</c:v>
                </c:pt>
                <c:pt idx="8">
                  <c:v>4785.205</c:v>
                </c:pt>
                <c:pt idx="9">
                  <c:v>4949.285</c:v>
                </c:pt>
                <c:pt idx="10">
                  <c:v>5030.809</c:v>
                </c:pt>
                <c:pt idx="11">
                  <c:v>5107.084</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2532.4799999999996</c:v>
                </c:pt>
                <c:pt idx="1">
                  <c:v>856.3659999999999</c:v>
                </c:pt>
                <c:pt idx="2">
                  <c:v>519.4079999999999</c:v>
                </c:pt>
                <c:pt idx="3">
                  <c:v>269.55000000000007</c:v>
                </c:pt>
                <c:pt idx="4">
                  <c:v>210.58999999999997</c:v>
                </c:pt>
                <c:pt idx="5">
                  <c:v>220.899</c:v>
                </c:pt>
                <c:pt idx="6">
                  <c:v>119.447</c:v>
                </c:pt>
                <c:pt idx="7">
                  <c:v>56.464999999999996</c:v>
                </c:pt>
                <c:pt idx="8">
                  <c:v>164.08</c:v>
                </c:pt>
                <c:pt idx="9">
                  <c:v>81.52400000000002</c:v>
                </c:pt>
                <c:pt idx="10">
                  <c:v>76.27499999999999</c:v>
                </c:pt>
                <c:pt idx="11">
                  <c:v>68.52000000000001</c:v>
                </c:pt>
                <c:pt idx="12">
                  <c:v>5175.604000000001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856.3659999999999</c:v>
                </c:pt>
                <c:pt idx="2">
                  <c:v>1375.774</c:v>
                </c:pt>
                <c:pt idx="3">
                  <c:v>1645.324</c:v>
                </c:pt>
                <c:pt idx="4">
                  <c:v>1855.914</c:v>
                </c:pt>
                <c:pt idx="5">
                  <c:v>2076.813</c:v>
                </c:pt>
                <c:pt idx="6">
                  <c:v>2196.26</c:v>
                </c:pt>
                <c:pt idx="7">
                  <c:v>2252.7250000000004</c:v>
                </c:pt>
                <c:pt idx="8">
                  <c:v>2416.8050000000003</c:v>
                </c:pt>
                <c:pt idx="9">
                  <c:v>2498.329</c:v>
                </c:pt>
                <c:pt idx="10">
                  <c:v>2574.6040000000003</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856.3659999999999</c:v>
                </c:pt>
                <c:pt idx="1">
                  <c:v>519.4079999999999</c:v>
                </c:pt>
                <c:pt idx="2">
                  <c:v>269.55000000000007</c:v>
                </c:pt>
                <c:pt idx="3">
                  <c:v>210.58999999999997</c:v>
                </c:pt>
                <c:pt idx="4">
                  <c:v>220.899</c:v>
                </c:pt>
                <c:pt idx="5">
                  <c:v>119.447</c:v>
                </c:pt>
                <c:pt idx="6">
                  <c:v>56.464999999999996</c:v>
                </c:pt>
                <c:pt idx="7">
                  <c:v>164.08</c:v>
                </c:pt>
                <c:pt idx="8">
                  <c:v>81.52400000000002</c:v>
                </c:pt>
                <c:pt idx="9">
                  <c:v>76.27499999999999</c:v>
                </c:pt>
                <c:pt idx="10">
                  <c:v>68.52000000000001</c:v>
                </c:pt>
                <c:pt idx="11">
                  <c:v>2643.1240000000003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2532.481</c:v>
                </c:pt>
                <c:pt idx="2">
                  <c:v>2956.938</c:v>
                </c:pt>
                <c:pt idx="3">
                  <c:v>3720.392</c:v>
                </c:pt>
                <c:pt idx="4">
                  <c:v>4387.402</c:v>
                </c:pt>
                <c:pt idx="5">
                  <c:v>4566.152</c:v>
                </c:pt>
                <c:pt idx="6">
                  <c:v>4737.843</c:v>
                </c:pt>
                <c:pt idx="7">
                  <c:v>4946.764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2532.481</c:v>
                </c:pt>
                <c:pt idx="1">
                  <c:v>424.45700000000005</c:v>
                </c:pt>
                <c:pt idx="2">
                  <c:v>763.454</c:v>
                </c:pt>
                <c:pt idx="3">
                  <c:v>667.0100000000001</c:v>
                </c:pt>
                <c:pt idx="4">
                  <c:v>178.75</c:v>
                </c:pt>
                <c:pt idx="5">
                  <c:v>171.69100000000003</c:v>
                </c:pt>
                <c:pt idx="6">
                  <c:v>208.92100000000002</c:v>
                </c:pt>
                <c:pt idx="7">
                  <c:v>228.84099999999998</c:v>
                </c:pt>
                <c:pt idx="8">
                  <c:v>5175.6050000000005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424.45700000000005</c:v>
                </c:pt>
                <c:pt idx="2">
                  <c:v>1187.911</c:v>
                </c:pt>
                <c:pt idx="3">
                  <c:v>1854.9210000000003</c:v>
                </c:pt>
                <c:pt idx="4">
                  <c:v>2033.6710000000003</c:v>
                </c:pt>
                <c:pt idx="5">
                  <c:v>2205.362</c:v>
                </c:pt>
                <c:pt idx="6">
                  <c:v>2414.283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424.45700000000005</c:v>
                </c:pt>
                <c:pt idx="1">
                  <c:v>763.454</c:v>
                </c:pt>
                <c:pt idx="2">
                  <c:v>667.0100000000001</c:v>
                </c:pt>
                <c:pt idx="3">
                  <c:v>178.75</c:v>
                </c:pt>
                <c:pt idx="4">
                  <c:v>171.69100000000003</c:v>
                </c:pt>
                <c:pt idx="5">
                  <c:v>208.92100000000002</c:v>
                </c:pt>
                <c:pt idx="6">
                  <c:v>228.84099999999998</c:v>
                </c:pt>
                <c:pt idx="7">
                  <c:v>2643.124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2532.482</c:v>
                </c:pt>
                <c:pt idx="2">
                  <c:v>3068.8959999999997</c:v>
                </c:pt>
                <c:pt idx="3">
                  <c:v>3884.4829999999997</c:v>
                </c:pt>
                <c:pt idx="4">
                  <c:v>4792.156999999999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2532.482</c:v>
                </c:pt>
                <c:pt idx="1">
                  <c:v>536.4139999999999</c:v>
                </c:pt>
                <c:pt idx="2">
                  <c:v>815.5869999999999</c:v>
                </c:pt>
                <c:pt idx="3">
                  <c:v>907.6739999999999</c:v>
                </c:pt>
                <c:pt idx="4">
                  <c:v>383.448</c:v>
                </c:pt>
                <c:pt idx="5">
                  <c:v>5175.6050000000005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536.4139999999999</c:v>
                </c:pt>
                <c:pt idx="2">
                  <c:v>1352.0009999999997</c:v>
                </c:pt>
                <c:pt idx="3">
                  <c:v>2259.6749999999997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536.4139999999999</c:v>
                </c:pt>
                <c:pt idx="1">
                  <c:v>815.5869999999999</c:v>
                </c:pt>
                <c:pt idx="2">
                  <c:v>907.6739999999999</c:v>
                </c:pt>
                <c:pt idx="3">
                  <c:v>383.448</c:v>
                </c:pt>
                <c:pt idx="4">
                  <c:v>2643.1229999999996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2532.48</c:v>
                </c:pt>
                <c:pt idx="2">
                  <c:v>4768.857</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2532.48</c:v>
                </c:pt>
                <c:pt idx="1">
                  <c:v>2236.377</c:v>
                </c:pt>
                <c:pt idx="2">
                  <c:v>406.74600000000004</c:v>
                </c:pt>
                <c:pt idx="3">
                  <c:v>5175.603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2236.377</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2236.377</c:v>
                </c:pt>
                <c:pt idx="1">
                  <c:v>406.74600000000004</c:v>
                </c:pt>
                <c:pt idx="2">
                  <c:v>2643.123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2532.483</c:v>
                </c:pt>
                <c:pt idx="2">
                  <c:v>3068.895</c:v>
                </c:pt>
                <c:pt idx="3">
                  <c:v>3884.479</c:v>
                </c:pt>
                <c:pt idx="4">
                  <c:v>4792.1539999999995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2532.483</c:v>
                </c:pt>
                <c:pt idx="1">
                  <c:v>536.4119999999999</c:v>
                </c:pt>
                <c:pt idx="2">
                  <c:v>815.584</c:v>
                </c:pt>
                <c:pt idx="3">
                  <c:v>907.6750000000001</c:v>
                </c:pt>
                <c:pt idx="4">
                  <c:v>383.44999999999993</c:v>
                </c:pt>
                <c:pt idx="5">
                  <c:v>5175.604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536.4119999999999</c:v>
                </c:pt>
                <c:pt idx="2">
                  <c:v>1351.9959999999999</c:v>
                </c:pt>
                <c:pt idx="3">
                  <c:v>2259.671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536.4119999999999</c:v>
                </c:pt>
                <c:pt idx="1">
                  <c:v>815.584</c:v>
                </c:pt>
                <c:pt idx="2">
                  <c:v>907.6750000000001</c:v>
                </c:pt>
                <c:pt idx="3">
                  <c:v>383.44999999999993</c:v>
                </c:pt>
                <c:pt idx="4">
                  <c:v>2643.1209999999996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508.663</c:v>
                </c:pt>
                <c:pt idx="1">
                  <c:v>536.5210000000001</c:v>
                </c:pt>
                <c:pt idx="2">
                  <c:v>566.527</c:v>
                </c:pt>
                <c:pt idx="3">
                  <c:v>598.842</c:v>
                </c:pt>
                <c:pt idx="4">
                  <c:v>633.6239999999999</c:v>
                </c:pt>
                <c:pt idx="5">
                  <c:v>671.7969999999999</c:v>
                </c:pt>
                <c:pt idx="6">
                  <c:v>713.7379999999999</c:v>
                </c:pt>
                <c:pt idx="7">
                  <c:v>760.327</c:v>
                </c:pt>
                <c:pt idx="8">
                  <c:v>812.093</c:v>
                </c:pt>
                <c:pt idx="9">
                  <c:v>869.158</c:v>
                </c:pt>
                <c:pt idx="10">
                  <c:v>931.3130000000001</c:v>
                </c:pt>
                <c:pt idx="11">
                  <c:v>998.233</c:v>
                </c:pt>
                <c:pt idx="12">
                  <c:v>1069.768</c:v>
                </c:pt>
                <c:pt idx="13">
                  <c:v>1145.257</c:v>
                </c:pt>
                <c:pt idx="14">
                  <c:v>1223.6439999999998</c:v>
                </c:pt>
                <c:pt idx="15">
                  <c:v>1304.5919999999999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Spain</c:v>
                </c:pt>
              </c:strCache>
            </c:strRef>
          </c:cat>
          <c:val>
            <c:numRef>
              <c:f>Sheet1!$B$2:$B$3</c:f>
              <c:numCache>
                <c:formatCode>General</c:formatCode>
                <c:ptCount val="2"/>
                <c:pt idx="0">
                  <c:v>0.05239999740743384</c:v>
                </c:pt>
                <c:pt idx="1">
                  <c:v>0.06862090311325852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26382192028990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671.7969999999999</c:v>
                </c:pt>
                <c:pt idx="2">
                  <c:v>713.7379999999999</c:v>
                </c:pt>
                <c:pt idx="3">
                  <c:v>760.327</c:v>
                </c:pt>
                <c:pt idx="4">
                  <c:v>812.093</c:v>
                </c:pt>
                <c:pt idx="5">
                  <c:v>869.158</c:v>
                </c:pt>
                <c:pt idx="6">
                  <c:v>931.3130000000001</c:v>
                </c:pt>
                <c:pt idx="7">
                  <c:v>998.233</c:v>
                </c:pt>
                <c:pt idx="8">
                  <c:v>1069.768</c:v>
                </c:pt>
                <c:pt idx="9">
                  <c:v>1145.257</c:v>
                </c:pt>
                <c:pt idx="10">
                  <c:v>1223.6439999999998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671.7969999999999</c:v>
                </c:pt>
                <c:pt idx="1">
                  <c:v>41.94100000000003</c:v>
                </c:pt>
                <c:pt idx="2">
                  <c:v>46.589000000000055</c:v>
                </c:pt>
                <c:pt idx="3">
                  <c:v>51.76599999999996</c:v>
                </c:pt>
                <c:pt idx="4">
                  <c:v>57.065000000000055</c:v>
                </c:pt>
                <c:pt idx="5">
                  <c:v>62.155000000000086</c:v>
                </c:pt>
                <c:pt idx="6">
                  <c:v>66.91999999999985</c:v>
                </c:pt>
                <c:pt idx="7">
                  <c:v>71.53500000000008</c:v>
                </c:pt>
                <c:pt idx="8">
                  <c:v>75.48900000000003</c:v>
                </c:pt>
                <c:pt idx="9">
                  <c:v>78.38699999999972</c:v>
                </c:pt>
                <c:pt idx="10">
                  <c:v>80.94800000000009</c:v>
                </c:pt>
                <c:pt idx="11">
                  <c:v>1304.5919999999999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Spain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8.52749507458164</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91.47250492541836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1528.474</c:v>
                </c:pt>
                <c:pt idx="1">
                  <c:v>1617.4230000000002</c:v>
                </c:pt>
                <c:pt idx="2">
                  <c:v>1713.8000000000002</c:v>
                </c:pt>
                <c:pt idx="3">
                  <c:v>1819.077</c:v>
                </c:pt>
                <c:pt idx="4">
                  <c:v>1933.191</c:v>
                </c:pt>
                <c:pt idx="5">
                  <c:v>2066.0449999999996</c:v>
                </c:pt>
                <c:pt idx="6">
                  <c:v>2213.973</c:v>
                </c:pt>
                <c:pt idx="7">
                  <c:v>2380.4089999999997</c:v>
                </c:pt>
                <c:pt idx="8">
                  <c:v>2567.5499999999997</c:v>
                </c:pt>
                <c:pt idx="9">
                  <c:v>2777.214</c:v>
                </c:pt>
                <c:pt idx="10">
                  <c:v>3009.761</c:v>
                </c:pt>
                <c:pt idx="11">
                  <c:v>3265.346</c:v>
                </c:pt>
                <c:pt idx="12">
                  <c:v>3544.5820000000003</c:v>
                </c:pt>
                <c:pt idx="13">
                  <c:v>3846.1229999999996</c:v>
                </c:pt>
                <c:pt idx="14">
                  <c:v>4168.455</c:v>
                </c:pt>
                <c:pt idx="15">
                  <c:v>4511.335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Spain</c:v>
                </c:pt>
              </c:strCache>
            </c:strRef>
          </c:cat>
          <c:val>
            <c:numRef>
              <c:f>Sheet1!$B$2:$B$3</c:f>
              <c:numCache>
                <c:formatCode>General</c:formatCode>
                <c:ptCount val="2"/>
                <c:pt idx="0">
                  <c:v>0.06569916400258924</c:v>
                </c:pt>
                <c:pt idx="1">
                  <c:v>0.08122612348073721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965526669899524"/>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2066.0449999999996</c:v>
                </c:pt>
                <c:pt idx="2">
                  <c:v>2213.973</c:v>
                </c:pt>
                <c:pt idx="3">
                  <c:v>2380.4089999999997</c:v>
                </c:pt>
                <c:pt idx="4">
                  <c:v>2567.5499999999997</c:v>
                </c:pt>
                <c:pt idx="5">
                  <c:v>2777.214</c:v>
                </c:pt>
                <c:pt idx="6">
                  <c:v>3009.761</c:v>
                </c:pt>
                <c:pt idx="7">
                  <c:v>3265.346</c:v>
                </c:pt>
                <c:pt idx="8">
                  <c:v>3544.5820000000003</c:v>
                </c:pt>
                <c:pt idx="9">
                  <c:v>3846.1229999999996</c:v>
                </c:pt>
                <c:pt idx="10">
                  <c:v>4168.455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2066.0449999999996</c:v>
                </c:pt>
                <c:pt idx="1">
                  <c:v>147.92800000000034</c:v>
                </c:pt>
                <c:pt idx="2">
                  <c:v>166.4359999999997</c:v>
                </c:pt>
                <c:pt idx="3">
                  <c:v>187.14100000000008</c:v>
                </c:pt>
                <c:pt idx="4">
                  <c:v>209.66400000000021</c:v>
                </c:pt>
                <c:pt idx="5">
                  <c:v>232.54700000000003</c:v>
                </c:pt>
                <c:pt idx="6">
                  <c:v>255.58500000000004</c:v>
                </c:pt>
                <c:pt idx="7">
                  <c:v>279.23600000000033</c:v>
                </c:pt>
                <c:pt idx="8">
                  <c:v>301.54099999999926</c:v>
                </c:pt>
                <c:pt idx="9">
                  <c:v>322.33200000000033</c:v>
                </c:pt>
                <c:pt idx="10">
                  <c:v>342.8800000000001</c:v>
                </c:pt>
                <c:pt idx="11">
                  <c:v>4511.335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Spain</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7.903518125115168</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92.09648187488483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131.489</c:v>
                </c:pt>
                <c:pt idx="8">
                  <c:v>232.523</c:v>
                </c:pt>
                <c:pt idx="9">
                  <c:v>572.068</c:v>
                </c:pt>
                <c:pt idx="10">
                  <c:v>1129.965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514.1531"/>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41.579</c:v>
                </c:pt>
                <c:pt idx="1">
                  <c:v>49.24</c:v>
                </c:pt>
                <c:pt idx="2">
                  <c:v>61.437</c:v>
                </c:pt>
                <c:pt idx="3">
                  <c:v>65.122</c:v>
                </c:pt>
                <c:pt idx="4">
                  <c:v>106.639</c:v>
                </c:pt>
                <c:pt idx="5">
                  <c:v>128.659</c:v>
                </c:pt>
                <c:pt idx="6">
                  <c:v>164.316</c:v>
                </c:pt>
                <c:pt idx="7">
                  <c:v>170.251</c:v>
                </c:pt>
                <c:pt idx="8">
                  <c:v>200.744</c:v>
                </c:pt>
                <c:pt idx="9">
                  <c:v>427.305</c:v>
                </c:pt>
                <c:pt idx="10">
                  <c:v>650.751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72.0063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138.744</c:v>
                </c:pt>
                <c:pt idx="5">
                  <c:v>142.068</c:v>
                </c:pt>
                <c:pt idx="6">
                  <c:v>160.487</c:v>
                </c:pt>
                <c:pt idx="7">
                  <c:v>164.00799999999998</c:v>
                </c:pt>
                <c:pt idx="8">
                  <c:v>323.566</c:v>
                </c:pt>
                <c:pt idx="9">
                  <c:v>530.088</c:v>
                </c:pt>
                <c:pt idx="10">
                  <c:v>607.083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13.491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305.562</c:v>
                </c:pt>
                <c:pt idx="8">
                  <c:v>430.894</c:v>
                </c:pt>
                <c:pt idx="9">
                  <c:v>649.165</c:v>
                </c:pt>
                <c:pt idx="10">
                  <c:v>680.423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911.766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325.764</c:v>
                </c:pt>
                <c:pt idx="10">
                  <c:v>1740.279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331.97386"/>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305.562</c:v>
                </c:pt>
                <c:pt idx="8">
                  <c:v>430.894</c:v>
                </c:pt>
                <c:pt idx="9">
                  <c:v>649.164</c:v>
                </c:pt>
                <c:pt idx="10">
                  <c:v>680.425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911.769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2066.0449999999996</c:v>
                </c:pt>
                <c:pt idx="2">
                  <c:v>3385.87</c:v>
                </c:pt>
                <c:pt idx="3">
                  <c:v>3635.8199999999997</c:v>
                </c:pt>
                <c:pt idx="4">
                  <c:v>4360.782999999999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2066.0449999999996</c:v>
                </c:pt>
                <c:pt idx="1">
                  <c:v>1319.825</c:v>
                </c:pt>
                <c:pt idx="2">
                  <c:v>249.95000000000002</c:v>
                </c:pt>
                <c:pt idx="3">
                  <c:v>724.963</c:v>
                </c:pt>
                <c:pt idx="4">
                  <c:v>150.552</c:v>
                </c:pt>
                <c:pt idx="5">
                  <c:v>4511.335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1319.825</c:v>
                </c:pt>
                <c:pt idx="2">
                  <c:v>1569.775</c:v>
                </c:pt>
                <c:pt idx="3">
                  <c:v>2294.7380000000003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1319.825</c:v>
                </c:pt>
                <c:pt idx="1">
                  <c:v>249.95000000000002</c:v>
                </c:pt>
                <c:pt idx="2">
                  <c:v>724.963</c:v>
                </c:pt>
                <c:pt idx="3">
                  <c:v>150.552</c:v>
                </c:pt>
                <c:pt idx="4">
                  <c:v>2445.2900000000004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2066.0429999999997</c:v>
                </c:pt>
                <c:pt idx="2">
                  <c:v>2853.7469999999994</c:v>
                </c:pt>
                <c:pt idx="3">
                  <c:v>3327.7939999999994</c:v>
                </c:pt>
                <c:pt idx="4">
                  <c:v>3582.138999999999</c:v>
                </c:pt>
                <c:pt idx="5">
                  <c:v>3776.921999999999</c:v>
                </c:pt>
                <c:pt idx="6">
                  <c:v>3981.184999999999</c:v>
                </c:pt>
                <c:pt idx="7">
                  <c:v>4093.899999999999</c:v>
                </c:pt>
                <c:pt idx="8">
                  <c:v>4145.6089999999995</c:v>
                </c:pt>
                <c:pt idx="9">
                  <c:v>4297.590999999999</c:v>
                </c:pt>
                <c:pt idx="10">
                  <c:v>4377.812999999999</c:v>
                </c:pt>
                <c:pt idx="11">
                  <c:v>4447.602999999999</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2066.0429999999997</c:v>
                </c:pt>
                <c:pt idx="1">
                  <c:v>787.704</c:v>
                </c:pt>
                <c:pt idx="2">
                  <c:v>474.04699999999997</c:v>
                </c:pt>
                <c:pt idx="3">
                  <c:v>254.345</c:v>
                </c:pt>
                <c:pt idx="4">
                  <c:v>194.783</c:v>
                </c:pt>
                <c:pt idx="5">
                  <c:v>204.263</c:v>
                </c:pt>
                <c:pt idx="6">
                  <c:v>112.71500000000002</c:v>
                </c:pt>
                <c:pt idx="7">
                  <c:v>51.708999999999996</c:v>
                </c:pt>
                <c:pt idx="8">
                  <c:v>151.98200000000003</c:v>
                </c:pt>
                <c:pt idx="9">
                  <c:v>80.222</c:v>
                </c:pt>
                <c:pt idx="10">
                  <c:v>69.79</c:v>
                </c:pt>
                <c:pt idx="11">
                  <c:v>63.731</c:v>
                </c:pt>
                <c:pt idx="12">
                  <c:v>4511.333999999999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787.704</c:v>
                </c:pt>
                <c:pt idx="2">
                  <c:v>1261.751</c:v>
                </c:pt>
                <c:pt idx="3">
                  <c:v>1516.096</c:v>
                </c:pt>
                <c:pt idx="4">
                  <c:v>1710.879</c:v>
                </c:pt>
                <c:pt idx="5">
                  <c:v>1915.1419999999998</c:v>
                </c:pt>
                <c:pt idx="6">
                  <c:v>2027.8569999999997</c:v>
                </c:pt>
                <c:pt idx="7">
                  <c:v>2079.566</c:v>
                </c:pt>
                <c:pt idx="8">
                  <c:v>2231.548</c:v>
                </c:pt>
                <c:pt idx="9">
                  <c:v>2311.77</c:v>
                </c:pt>
                <c:pt idx="10">
                  <c:v>2381.56</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787.704</c:v>
                </c:pt>
                <c:pt idx="1">
                  <c:v>474.04699999999997</c:v>
                </c:pt>
                <c:pt idx="2">
                  <c:v>254.345</c:v>
                </c:pt>
                <c:pt idx="3">
                  <c:v>194.783</c:v>
                </c:pt>
                <c:pt idx="4">
                  <c:v>204.263</c:v>
                </c:pt>
                <c:pt idx="5">
                  <c:v>112.71500000000002</c:v>
                </c:pt>
                <c:pt idx="6">
                  <c:v>51.708999999999996</c:v>
                </c:pt>
                <c:pt idx="7">
                  <c:v>151.98200000000003</c:v>
                </c:pt>
                <c:pt idx="8">
                  <c:v>80.222</c:v>
                </c:pt>
                <c:pt idx="9">
                  <c:v>69.79</c:v>
                </c:pt>
                <c:pt idx="10">
                  <c:v>63.731</c:v>
                </c:pt>
                <c:pt idx="11">
                  <c:v>2445.291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2066.044</c:v>
                </c:pt>
                <c:pt idx="2">
                  <c:v>2450.519</c:v>
                </c:pt>
                <c:pt idx="3">
                  <c:v>3158.049</c:v>
                </c:pt>
                <c:pt idx="4">
                  <c:v>3775.885</c:v>
                </c:pt>
                <c:pt idx="5">
                  <c:v>3941.193</c:v>
                </c:pt>
                <c:pt idx="6">
                  <c:v>4103.955</c:v>
                </c:pt>
                <c:pt idx="7">
                  <c:v>4295.265</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2066.044</c:v>
                </c:pt>
                <c:pt idx="1">
                  <c:v>384.4750000000001</c:v>
                </c:pt>
                <c:pt idx="2">
                  <c:v>707.5300000000001</c:v>
                </c:pt>
                <c:pt idx="3">
                  <c:v>617.836</c:v>
                </c:pt>
                <c:pt idx="4">
                  <c:v>165.30800000000002</c:v>
                </c:pt>
                <c:pt idx="5">
                  <c:v>162.76199999999997</c:v>
                </c:pt>
                <c:pt idx="6">
                  <c:v>191.31000000000003</c:v>
                </c:pt>
                <c:pt idx="7">
                  <c:v>216.06900000000002</c:v>
                </c:pt>
                <c:pt idx="8">
                  <c:v>4511.334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384.4750000000001</c:v>
                </c:pt>
                <c:pt idx="2">
                  <c:v>1092.005</c:v>
                </c:pt>
                <c:pt idx="3">
                  <c:v>1709.8410000000001</c:v>
                </c:pt>
                <c:pt idx="4">
                  <c:v>1875.1490000000001</c:v>
                </c:pt>
                <c:pt idx="5">
                  <c:v>2037.911</c:v>
                </c:pt>
                <c:pt idx="6">
                  <c:v>2229.221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384.4750000000001</c:v>
                </c:pt>
                <c:pt idx="1">
                  <c:v>707.5300000000001</c:v>
                </c:pt>
                <c:pt idx="2">
                  <c:v>617.836</c:v>
                </c:pt>
                <c:pt idx="3">
                  <c:v>165.30800000000002</c:v>
                </c:pt>
                <c:pt idx="4">
                  <c:v>162.76199999999997</c:v>
                </c:pt>
                <c:pt idx="5">
                  <c:v>191.31000000000003</c:v>
                </c:pt>
                <c:pt idx="6">
                  <c:v>216.06900000000002</c:v>
                </c:pt>
                <c:pt idx="7">
                  <c:v>2445.29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2066.044</c:v>
                </c:pt>
                <c:pt idx="2">
                  <c:v>2567.832</c:v>
                </c:pt>
                <c:pt idx="3">
                  <c:v>3323.6099999999997</c:v>
                </c:pt>
                <c:pt idx="4">
                  <c:v>4151.516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2066.044</c:v>
                </c:pt>
                <c:pt idx="1">
                  <c:v>501.788</c:v>
                </c:pt>
                <c:pt idx="2">
                  <c:v>755.778</c:v>
                </c:pt>
                <c:pt idx="3">
                  <c:v>827.906</c:v>
                </c:pt>
                <c:pt idx="4">
                  <c:v>359.817</c:v>
                </c:pt>
                <c:pt idx="5">
                  <c:v>4511.333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501.788</c:v>
                </c:pt>
                <c:pt idx="2">
                  <c:v>1257.566</c:v>
                </c:pt>
                <c:pt idx="3">
                  <c:v>2085.4719999999998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501.788</c:v>
                </c:pt>
                <c:pt idx="1">
                  <c:v>755.778</c:v>
                </c:pt>
                <c:pt idx="2">
                  <c:v>827.906</c:v>
                </c:pt>
                <c:pt idx="3">
                  <c:v>359.817</c:v>
                </c:pt>
                <c:pt idx="4">
                  <c:v>2445.2889999999998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2066.043</c:v>
                </c:pt>
                <c:pt idx="2">
                  <c:v>4131.787</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2066.043</c:v>
                </c:pt>
                <c:pt idx="1">
                  <c:v>2065.744</c:v>
                </c:pt>
                <c:pt idx="2">
                  <c:v>379.547</c:v>
                </c:pt>
                <c:pt idx="3">
                  <c:v>4511.334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2065.744</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2065.744</c:v>
                </c:pt>
                <c:pt idx="1">
                  <c:v>379.547</c:v>
                </c:pt>
                <c:pt idx="2">
                  <c:v>2445.291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2066.045</c:v>
                </c:pt>
                <c:pt idx="2">
                  <c:v>2567.833</c:v>
                </c:pt>
                <c:pt idx="3">
                  <c:v>3323.608</c:v>
                </c:pt>
                <c:pt idx="4">
                  <c:v>4151.515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2066.045</c:v>
                </c:pt>
                <c:pt idx="1">
                  <c:v>501.788</c:v>
                </c:pt>
                <c:pt idx="2">
                  <c:v>755.7750000000001</c:v>
                </c:pt>
                <c:pt idx="3">
                  <c:v>827.9069999999999</c:v>
                </c:pt>
                <c:pt idx="4">
                  <c:v>359.817</c:v>
                </c:pt>
                <c:pt idx="5">
                  <c:v>4511.332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501.788</c:v>
                </c:pt>
                <c:pt idx="2">
                  <c:v>1257.563</c:v>
                </c:pt>
                <c:pt idx="3">
                  <c:v>2085.4700000000003</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501.788</c:v>
                </c:pt>
                <c:pt idx="1">
                  <c:v>755.7750000000001</c:v>
                </c:pt>
                <c:pt idx="2">
                  <c:v>827.9069999999999</c:v>
                </c:pt>
                <c:pt idx="3">
                  <c:v>359.817</c:v>
                </c:pt>
                <c:pt idx="4">
                  <c:v>2445.2870000000003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187.05700000000002</c:v>
                </c:pt>
                <c:pt idx="1">
                  <c:v>192.765</c:v>
                </c:pt>
                <c:pt idx="2">
                  <c:v>198.72400000000002</c:v>
                </c:pt>
                <c:pt idx="3">
                  <c:v>204.96699999999998</c:v>
                </c:pt>
                <c:pt idx="4">
                  <c:v>211.55200000000002</c:v>
                </c:pt>
                <c:pt idx="5">
                  <c:v>218.65999999999997</c:v>
                </c:pt>
                <c:pt idx="6">
                  <c:v>226.315</c:v>
                </c:pt>
                <c:pt idx="7">
                  <c:v>234.58</c:v>
                </c:pt>
                <c:pt idx="8">
                  <c:v>243.449</c:v>
                </c:pt>
                <c:pt idx="9">
                  <c:v>252.95200000000003</c:v>
                </c:pt>
                <c:pt idx="10">
                  <c:v>263.035</c:v>
                </c:pt>
                <c:pt idx="11">
                  <c:v>273.613</c:v>
                </c:pt>
                <c:pt idx="12">
                  <c:v>284.563</c:v>
                </c:pt>
                <c:pt idx="13">
                  <c:v>295.779</c:v>
                </c:pt>
                <c:pt idx="14">
                  <c:v>307.094</c:v>
                </c:pt>
                <c:pt idx="15">
                  <c:v>318.48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Belgium</c:v>
                </c:pt>
              </c:strCache>
            </c:strRef>
          </c:cat>
          <c:val>
            <c:numRef>
              <c:f>Sheet1!$B$2:$B$3</c:f>
              <c:numCache>
                <c:formatCode>General</c:formatCode>
                <c:ptCount val="2"/>
                <c:pt idx="0">
                  <c:v>0.05239999740743384</c:v>
                </c:pt>
                <c:pt idx="1">
                  <c:v>0.03832014979968923</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7399965000356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218.65999999999997</c:v>
                </c:pt>
                <c:pt idx="2">
                  <c:v>226.315</c:v>
                </c:pt>
                <c:pt idx="3">
                  <c:v>234.58</c:v>
                </c:pt>
                <c:pt idx="4">
                  <c:v>243.449</c:v>
                </c:pt>
                <c:pt idx="5">
                  <c:v>252.95200000000003</c:v>
                </c:pt>
                <c:pt idx="6">
                  <c:v>263.035</c:v>
                </c:pt>
                <c:pt idx="7">
                  <c:v>273.613</c:v>
                </c:pt>
                <c:pt idx="8">
                  <c:v>284.563</c:v>
                </c:pt>
                <c:pt idx="9">
                  <c:v>295.779</c:v>
                </c:pt>
                <c:pt idx="10">
                  <c:v>307.094</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218.65999999999997</c:v>
                </c:pt>
                <c:pt idx="1">
                  <c:v>7.65500000000003</c:v>
                </c:pt>
                <c:pt idx="2">
                  <c:v>8.265000000000015</c:v>
                </c:pt>
                <c:pt idx="3">
                  <c:v>8.869</c:v>
                </c:pt>
                <c:pt idx="4">
                  <c:v>9.503000000000014</c:v>
                </c:pt>
                <c:pt idx="5">
                  <c:v>10.082999999999998</c:v>
                </c:pt>
                <c:pt idx="6">
                  <c:v>10.577999999999975</c:v>
                </c:pt>
                <c:pt idx="7">
                  <c:v>10.949999999999989</c:v>
                </c:pt>
                <c:pt idx="8">
                  <c:v>11.216000000000008</c:v>
                </c:pt>
                <c:pt idx="9">
                  <c:v>11.314999999999998</c:v>
                </c:pt>
                <c:pt idx="10">
                  <c:v>11.386000000000024</c:v>
                </c:pt>
                <c:pt idx="11">
                  <c:v>318.48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Belgium</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2.775573682240352</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97.22442631775965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646.5749999999999</c:v>
                </c:pt>
                <c:pt idx="1">
                  <c:v>668.7</c:v>
                </c:pt>
                <c:pt idx="2">
                  <c:v>692.0079999999999</c:v>
                </c:pt>
                <c:pt idx="3">
                  <c:v>716.987</c:v>
                </c:pt>
                <c:pt idx="4">
                  <c:v>743.5310000000001</c:v>
                </c:pt>
                <c:pt idx="5">
                  <c:v>775.158</c:v>
                </c:pt>
                <c:pt idx="6">
                  <c:v>809.8199999999999</c:v>
                </c:pt>
                <c:pt idx="7">
                  <c:v>847.932</c:v>
                </c:pt>
                <c:pt idx="8">
                  <c:v>889.6410000000001</c:v>
                </c:pt>
                <c:pt idx="9">
                  <c:v>935.3190000000001</c:v>
                </c:pt>
                <c:pt idx="10">
                  <c:v>985.01</c:v>
                </c:pt>
                <c:pt idx="11">
                  <c:v>1038.634</c:v>
                </c:pt>
                <c:pt idx="12">
                  <c:v>1095.853</c:v>
                </c:pt>
                <c:pt idx="13">
                  <c:v>1156.491</c:v>
                </c:pt>
                <c:pt idx="14">
                  <c:v>1220.1040000000003</c:v>
                </c:pt>
                <c:pt idx="15">
                  <c:v>1286.8159999999998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Belgium</c:v>
                </c:pt>
              </c:strCache>
            </c:strRef>
          </c:cat>
          <c:val>
            <c:numRef>
              <c:f>Sheet1!$B$2:$B$3</c:f>
              <c:numCache>
                <c:formatCode>General</c:formatCode>
                <c:ptCount val="2"/>
                <c:pt idx="0">
                  <c:v>0.06569916400258924</c:v>
                </c:pt>
                <c:pt idx="1">
                  <c:v>0.051992447354575866</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693871403495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775.158</c:v>
                </c:pt>
                <c:pt idx="2">
                  <c:v>809.8199999999999</c:v>
                </c:pt>
                <c:pt idx="3">
                  <c:v>847.932</c:v>
                </c:pt>
                <c:pt idx="4">
                  <c:v>889.6410000000001</c:v>
                </c:pt>
                <c:pt idx="5">
                  <c:v>935.3190000000001</c:v>
                </c:pt>
                <c:pt idx="6">
                  <c:v>985.01</c:v>
                </c:pt>
                <c:pt idx="7">
                  <c:v>1038.634</c:v>
                </c:pt>
                <c:pt idx="8">
                  <c:v>1095.853</c:v>
                </c:pt>
                <c:pt idx="9">
                  <c:v>1156.491</c:v>
                </c:pt>
                <c:pt idx="10">
                  <c:v>1220.1040000000003</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775.158</c:v>
                </c:pt>
                <c:pt idx="1">
                  <c:v>34.66199999999992</c:v>
                </c:pt>
                <c:pt idx="2">
                  <c:v>38.11200000000008</c:v>
                </c:pt>
                <c:pt idx="3">
                  <c:v>41.70900000000006</c:v>
                </c:pt>
                <c:pt idx="4">
                  <c:v>45.678</c:v>
                </c:pt>
                <c:pt idx="5">
                  <c:v>49.69099999999992</c:v>
                </c:pt>
                <c:pt idx="6">
                  <c:v>53.624000000000024</c:v>
                </c:pt>
                <c:pt idx="7">
                  <c:v>57.21900000000005</c:v>
                </c:pt>
                <c:pt idx="8">
                  <c:v>60.63799999999992</c:v>
                </c:pt>
                <c:pt idx="9">
                  <c:v>63.613000000000284</c:v>
                </c:pt>
                <c:pt idx="10">
                  <c:v>66.71199999999953</c:v>
                </c:pt>
                <c:pt idx="11">
                  <c:v>1286.8159999999998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Belgium</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2.9653155196658467</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97.03468448033415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50.647999999999996</c:v>
                </c:pt>
                <c:pt idx="8">
                  <c:v>87.035</c:v>
                </c:pt>
                <c:pt idx="9">
                  <c:v>214.452</c:v>
                </c:pt>
                <c:pt idx="10">
                  <c:v>423.023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66.85082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15.577</c:v>
                </c:pt>
                <c:pt idx="1">
                  <c:v>19.558</c:v>
                </c:pt>
                <c:pt idx="2">
                  <c:v>23.482</c:v>
                </c:pt>
                <c:pt idx="3">
                  <c:v>24.337</c:v>
                </c:pt>
                <c:pt idx="4">
                  <c:v>39.991</c:v>
                </c:pt>
                <c:pt idx="5">
                  <c:v>48.535</c:v>
                </c:pt>
                <c:pt idx="6">
                  <c:v>61.613</c:v>
                </c:pt>
                <c:pt idx="7">
                  <c:v>63.991</c:v>
                </c:pt>
                <c:pt idx="8">
                  <c:v>76.707</c:v>
                </c:pt>
                <c:pt idx="9">
                  <c:v>157.708</c:v>
                </c:pt>
                <c:pt idx="10">
                  <c:v>243.657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26.5003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52.009</c:v>
                </c:pt>
                <c:pt idx="5">
                  <c:v>54.182</c:v>
                </c:pt>
                <c:pt idx="6">
                  <c:v>60.099</c:v>
                </c:pt>
                <c:pt idx="7">
                  <c:v>63.34</c:v>
                </c:pt>
                <c:pt idx="8">
                  <c:v>119.283</c:v>
                </c:pt>
                <c:pt idx="9">
                  <c:v>197.646</c:v>
                </c:pt>
                <c:pt idx="10">
                  <c:v>228.59699999999998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06.3199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105.124</c:v>
                </c:pt>
                <c:pt idx="8">
                  <c:v>171.069</c:v>
                </c:pt>
                <c:pt idx="9">
                  <c:v>241.934</c:v>
                </c:pt>
                <c:pt idx="10">
                  <c:v>257.029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44.4188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123.199</c:v>
                </c:pt>
                <c:pt idx="10">
                  <c:v>651.9590000000001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73.62506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105.125</c:v>
                </c:pt>
                <c:pt idx="8">
                  <c:v>171.06799999999998</c:v>
                </c:pt>
                <c:pt idx="9">
                  <c:v>241.935</c:v>
                </c:pt>
                <c:pt idx="10">
                  <c:v>257.03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44.42019999999997"/>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775.158</c:v>
                </c:pt>
                <c:pt idx="2">
                  <c:v>1055.627</c:v>
                </c:pt>
                <c:pt idx="3">
                  <c:v>1108.509</c:v>
                </c:pt>
                <c:pt idx="4">
                  <c:v>1256.308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775.158</c:v>
                </c:pt>
                <c:pt idx="1">
                  <c:v>280.46899999999994</c:v>
                </c:pt>
                <c:pt idx="2">
                  <c:v>52.882000000000005</c:v>
                </c:pt>
                <c:pt idx="3">
                  <c:v>147.79899999999998</c:v>
                </c:pt>
                <c:pt idx="4">
                  <c:v>30.50800000000001</c:v>
                </c:pt>
                <c:pt idx="5">
                  <c:v>1286.8159999999998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280.46899999999994</c:v>
                </c:pt>
                <c:pt idx="2">
                  <c:v>333.35099999999994</c:v>
                </c:pt>
                <c:pt idx="3">
                  <c:v>481.1499999999999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280.46899999999994</c:v>
                </c:pt>
                <c:pt idx="1">
                  <c:v>52.882000000000005</c:v>
                </c:pt>
                <c:pt idx="2">
                  <c:v>147.79899999999998</c:v>
                </c:pt>
                <c:pt idx="3">
                  <c:v>30.50800000000001</c:v>
                </c:pt>
                <c:pt idx="4">
                  <c:v>511.6579999999999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775.156</c:v>
                </c:pt>
                <c:pt idx="2">
                  <c:v>941.116</c:v>
                </c:pt>
                <c:pt idx="3">
                  <c:v>1039.789</c:v>
                </c:pt>
                <c:pt idx="4">
                  <c:v>1092.689</c:v>
                </c:pt>
                <c:pt idx="5">
                  <c:v>1132.5430000000001</c:v>
                </c:pt>
                <c:pt idx="6">
                  <c:v>1175.9140000000002</c:v>
                </c:pt>
                <c:pt idx="7">
                  <c:v>1198.2350000000001</c:v>
                </c:pt>
                <c:pt idx="8">
                  <c:v>1209.2320000000002</c:v>
                </c:pt>
                <c:pt idx="9">
                  <c:v>1240.5490000000002</c:v>
                </c:pt>
                <c:pt idx="10">
                  <c:v>1257.4230000000002</c:v>
                </c:pt>
                <c:pt idx="11">
                  <c:v>1271.4220000000003</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775.156</c:v>
                </c:pt>
                <c:pt idx="1">
                  <c:v>165.96</c:v>
                </c:pt>
                <c:pt idx="2">
                  <c:v>98.67299999999997</c:v>
                </c:pt>
                <c:pt idx="3">
                  <c:v>52.900000000000006</c:v>
                </c:pt>
                <c:pt idx="4">
                  <c:v>39.854</c:v>
                </c:pt>
                <c:pt idx="5">
                  <c:v>43.370999999999995</c:v>
                </c:pt>
                <c:pt idx="6">
                  <c:v>22.320999999999998</c:v>
                </c:pt>
                <c:pt idx="7">
                  <c:v>10.997000000000002</c:v>
                </c:pt>
                <c:pt idx="8">
                  <c:v>31.317000000000007</c:v>
                </c:pt>
                <c:pt idx="9">
                  <c:v>16.874000000000002</c:v>
                </c:pt>
                <c:pt idx="10">
                  <c:v>13.998999999999999</c:v>
                </c:pt>
                <c:pt idx="11">
                  <c:v>15.392000000000003</c:v>
                </c:pt>
                <c:pt idx="12">
                  <c:v>1286.814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165.96</c:v>
                </c:pt>
                <c:pt idx="2">
                  <c:v>264.633</c:v>
                </c:pt>
                <c:pt idx="3">
                  <c:v>317.533</c:v>
                </c:pt>
                <c:pt idx="4">
                  <c:v>357.387</c:v>
                </c:pt>
                <c:pt idx="5">
                  <c:v>400.758</c:v>
                </c:pt>
                <c:pt idx="6">
                  <c:v>423.07899999999995</c:v>
                </c:pt>
                <c:pt idx="7">
                  <c:v>434.07599999999996</c:v>
                </c:pt>
                <c:pt idx="8">
                  <c:v>465.393</c:v>
                </c:pt>
                <c:pt idx="9">
                  <c:v>482.267</c:v>
                </c:pt>
                <c:pt idx="10">
                  <c:v>496.266</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165.96</c:v>
                </c:pt>
                <c:pt idx="1">
                  <c:v>98.67299999999997</c:v>
                </c:pt>
                <c:pt idx="2">
                  <c:v>52.900000000000006</c:v>
                </c:pt>
                <c:pt idx="3">
                  <c:v>39.854</c:v>
                </c:pt>
                <c:pt idx="4">
                  <c:v>43.370999999999995</c:v>
                </c:pt>
                <c:pt idx="5">
                  <c:v>22.320999999999998</c:v>
                </c:pt>
                <c:pt idx="6">
                  <c:v>10.997000000000002</c:v>
                </c:pt>
                <c:pt idx="7">
                  <c:v>31.317000000000007</c:v>
                </c:pt>
                <c:pt idx="8">
                  <c:v>16.874000000000002</c:v>
                </c:pt>
                <c:pt idx="9">
                  <c:v>13.998999999999999</c:v>
                </c:pt>
                <c:pt idx="10">
                  <c:v>15.392000000000003</c:v>
                </c:pt>
                <c:pt idx="11">
                  <c:v>511.6580000000001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775.1560000000001</c:v>
                </c:pt>
                <c:pt idx="2">
                  <c:v>857.3760000000001</c:v>
                </c:pt>
                <c:pt idx="3">
                  <c:v>1002.565</c:v>
                </c:pt>
                <c:pt idx="4">
                  <c:v>1132.239</c:v>
                </c:pt>
                <c:pt idx="5">
                  <c:v>1166.713</c:v>
                </c:pt>
                <c:pt idx="6">
                  <c:v>1199.135</c:v>
                </c:pt>
                <c:pt idx="7">
                  <c:v>1239.111</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775.1560000000001</c:v>
                </c:pt>
                <c:pt idx="1">
                  <c:v>82.21999999999998</c:v>
                </c:pt>
                <c:pt idx="2">
                  <c:v>145.18900000000002</c:v>
                </c:pt>
                <c:pt idx="3">
                  <c:v>129.674</c:v>
                </c:pt>
                <c:pt idx="4">
                  <c:v>34.474000000000004</c:v>
                </c:pt>
                <c:pt idx="5">
                  <c:v>32.422</c:v>
                </c:pt>
                <c:pt idx="6">
                  <c:v>39.976000000000006</c:v>
                </c:pt>
                <c:pt idx="7">
                  <c:v>47.70399999999999</c:v>
                </c:pt>
                <c:pt idx="8">
                  <c:v>1286.815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82.21999999999998</c:v>
                </c:pt>
                <c:pt idx="2">
                  <c:v>227.409</c:v>
                </c:pt>
                <c:pt idx="3">
                  <c:v>357.08299999999997</c:v>
                </c:pt>
                <c:pt idx="4">
                  <c:v>391.55699999999996</c:v>
                </c:pt>
                <c:pt idx="5">
                  <c:v>423.9789999999999</c:v>
                </c:pt>
                <c:pt idx="6">
                  <c:v>463.9549999999999</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82.21999999999998</c:v>
                </c:pt>
                <c:pt idx="1">
                  <c:v>145.18900000000002</c:v>
                </c:pt>
                <c:pt idx="2">
                  <c:v>129.674</c:v>
                </c:pt>
                <c:pt idx="3">
                  <c:v>34.474000000000004</c:v>
                </c:pt>
                <c:pt idx="4">
                  <c:v>32.422</c:v>
                </c:pt>
                <c:pt idx="5">
                  <c:v>39.976000000000006</c:v>
                </c:pt>
                <c:pt idx="6">
                  <c:v>47.70399999999999</c:v>
                </c:pt>
                <c:pt idx="7">
                  <c:v>511.65899999999993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775.156</c:v>
                </c:pt>
                <c:pt idx="2">
                  <c:v>883.333</c:v>
                </c:pt>
                <c:pt idx="3">
                  <c:v>1034.676</c:v>
                </c:pt>
                <c:pt idx="4">
                  <c:v>1213.8419999999999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775.156</c:v>
                </c:pt>
                <c:pt idx="1">
                  <c:v>108.17699999999999</c:v>
                </c:pt>
                <c:pt idx="2">
                  <c:v>151.34300000000002</c:v>
                </c:pt>
                <c:pt idx="3">
                  <c:v>179.16600000000003</c:v>
                </c:pt>
                <c:pt idx="4">
                  <c:v>72.97300000000001</c:v>
                </c:pt>
                <c:pt idx="5">
                  <c:v>1286.8149999999998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108.17699999999999</c:v>
                </c:pt>
                <c:pt idx="2">
                  <c:v>259.52</c:v>
                </c:pt>
                <c:pt idx="3">
                  <c:v>438.68600000000004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108.17699999999999</c:v>
                </c:pt>
                <c:pt idx="1">
                  <c:v>151.34300000000002</c:v>
                </c:pt>
                <c:pt idx="2">
                  <c:v>179.16600000000003</c:v>
                </c:pt>
                <c:pt idx="3">
                  <c:v>72.97300000000001</c:v>
                </c:pt>
                <c:pt idx="4">
                  <c:v>511.65900000000005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775.158</c:v>
                </c:pt>
                <c:pt idx="2">
                  <c:v>1206.7350000000001</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775.158</c:v>
                </c:pt>
                <c:pt idx="1">
                  <c:v>431.577</c:v>
                </c:pt>
                <c:pt idx="2">
                  <c:v>80.08200000000001</c:v>
                </c:pt>
                <c:pt idx="3">
                  <c:v>1286.817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431.577</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431.577</c:v>
                </c:pt>
                <c:pt idx="1">
                  <c:v>80.08200000000001</c:v>
                </c:pt>
                <c:pt idx="2">
                  <c:v>511.659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775.1579999999999</c:v>
                </c:pt>
                <c:pt idx="2">
                  <c:v>883.3349999999999</c:v>
                </c:pt>
                <c:pt idx="3">
                  <c:v>1034.6779999999999</c:v>
                </c:pt>
                <c:pt idx="4">
                  <c:v>1213.8429999999998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775.1579999999999</c:v>
                </c:pt>
                <c:pt idx="1">
                  <c:v>108.17700000000002</c:v>
                </c:pt>
                <c:pt idx="2">
                  <c:v>151.34300000000002</c:v>
                </c:pt>
                <c:pt idx="3">
                  <c:v>179.16500000000002</c:v>
                </c:pt>
                <c:pt idx="4">
                  <c:v>72.97300000000001</c:v>
                </c:pt>
                <c:pt idx="5">
                  <c:v>1286.8159999999998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108.17700000000002</c:v>
                </c:pt>
                <c:pt idx="2">
                  <c:v>259.52000000000004</c:v>
                </c:pt>
                <c:pt idx="3">
                  <c:v>438.68500000000006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108.17700000000002</c:v>
                </c:pt>
                <c:pt idx="1">
                  <c:v>151.34300000000002</c:v>
                </c:pt>
                <c:pt idx="2">
                  <c:v>179.16500000000002</c:v>
                </c:pt>
                <c:pt idx="3">
                  <c:v>72.97300000000001</c:v>
                </c:pt>
                <c:pt idx="4">
                  <c:v>511.6580000000001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240.418</c:v>
                </c:pt>
                <c:pt idx="1">
                  <c:v>252.489</c:v>
                </c:pt>
                <c:pt idx="2">
                  <c:v>265.299</c:v>
                </c:pt>
                <c:pt idx="3">
                  <c:v>279.044</c:v>
                </c:pt>
                <c:pt idx="4">
                  <c:v>293.78600000000006</c:v>
                </c:pt>
                <c:pt idx="5">
                  <c:v>309.917</c:v>
                </c:pt>
                <c:pt idx="6">
                  <c:v>327.421</c:v>
                </c:pt>
                <c:pt idx="7">
                  <c:v>346.645</c:v>
                </c:pt>
                <c:pt idx="8">
                  <c:v>367.881</c:v>
                </c:pt>
                <c:pt idx="9">
                  <c:v>391.477</c:v>
                </c:pt>
                <c:pt idx="10">
                  <c:v>417.31600000000003</c:v>
                </c:pt>
                <c:pt idx="11">
                  <c:v>445.09</c:v>
                </c:pt>
                <c:pt idx="12">
                  <c:v>474.299</c:v>
                </c:pt>
                <c:pt idx="13">
                  <c:v>504.83899999999994</c:v>
                </c:pt>
                <c:pt idx="14">
                  <c:v>536.379</c:v>
                </c:pt>
                <c:pt idx="15">
                  <c:v>568.847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Netherlands</c:v>
                </c:pt>
              </c:strCache>
            </c:strRef>
          </c:cat>
          <c:val>
            <c:numRef>
              <c:f>Sheet1!$B$2:$B$3</c:f>
              <c:numCache>
                <c:formatCode>General</c:formatCode>
                <c:ptCount val="2"/>
                <c:pt idx="0">
                  <c:v>0.05239999740743384</c:v>
                </c:pt>
                <c:pt idx="1">
                  <c:v>0.06261271250520228</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45271618820230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309.917</c:v>
                </c:pt>
                <c:pt idx="2">
                  <c:v>327.421</c:v>
                </c:pt>
                <c:pt idx="3">
                  <c:v>346.645</c:v>
                </c:pt>
                <c:pt idx="4">
                  <c:v>367.881</c:v>
                </c:pt>
                <c:pt idx="5">
                  <c:v>391.477</c:v>
                </c:pt>
                <c:pt idx="6">
                  <c:v>417.31600000000003</c:v>
                </c:pt>
                <c:pt idx="7">
                  <c:v>445.09</c:v>
                </c:pt>
                <c:pt idx="8">
                  <c:v>474.299</c:v>
                </c:pt>
                <c:pt idx="9">
                  <c:v>504.83899999999994</c:v>
                </c:pt>
                <c:pt idx="10">
                  <c:v>536.379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309.917</c:v>
                </c:pt>
                <c:pt idx="1">
                  <c:v>17.50400000000002</c:v>
                </c:pt>
                <c:pt idx="2">
                  <c:v>19.22399999999999</c:v>
                </c:pt>
                <c:pt idx="3">
                  <c:v>21.23599999999999</c:v>
                </c:pt>
                <c:pt idx="4">
                  <c:v>23.596000000000004</c:v>
                </c:pt>
                <c:pt idx="5">
                  <c:v>25.839000000000055</c:v>
                </c:pt>
                <c:pt idx="6">
                  <c:v>27.773999999999944</c:v>
                </c:pt>
                <c:pt idx="7">
                  <c:v>29.209000000000003</c:v>
                </c:pt>
                <c:pt idx="8">
                  <c:v>30.539999999999964</c:v>
                </c:pt>
                <c:pt idx="9">
                  <c:v>31.540000000000077</c:v>
                </c:pt>
                <c:pt idx="10">
                  <c:v>32.46799999999996</c:v>
                </c:pt>
                <c:pt idx="11">
                  <c:v>568.847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Netherlands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3.9339498256603087</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96.0660501743397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818.49</c:v>
                </c:pt>
                <c:pt idx="1">
                  <c:v>862.394</c:v>
                </c:pt>
                <c:pt idx="2">
                  <c:v>909.383</c:v>
                </c:pt>
                <c:pt idx="3">
                  <c:v>960.6850000000001</c:v>
                </c:pt>
                <c:pt idx="4">
                  <c:v>1016.1650000000001</c:v>
                </c:pt>
                <c:pt idx="5">
                  <c:v>1081.446</c:v>
                </c:pt>
                <c:pt idx="6">
                  <c:v>1153.842</c:v>
                </c:pt>
                <c:pt idx="7">
                  <c:v>1234.8780000000002</c:v>
                </c:pt>
                <c:pt idx="8">
                  <c:v>1325.9260000000002</c:v>
                </c:pt>
                <c:pt idx="9">
                  <c:v>1428.973</c:v>
                </c:pt>
                <c:pt idx="10">
                  <c:v>1543.969</c:v>
                </c:pt>
                <c:pt idx="11">
                  <c:v>1670.586</c:v>
                </c:pt>
                <c:pt idx="12">
                  <c:v>1807.49</c:v>
                </c:pt>
                <c:pt idx="13">
                  <c:v>1954.913</c:v>
                </c:pt>
                <c:pt idx="14">
                  <c:v>2112.4469999999997</c:v>
                </c:pt>
                <c:pt idx="15">
                  <c:v>2280.4759999999997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Netherlands</c:v>
                </c:pt>
              </c:strCache>
            </c:strRef>
          </c:cat>
          <c:val>
            <c:numRef>
              <c:f>Sheet1!$B$2:$B$3</c:f>
              <c:numCache>
                <c:formatCode>General</c:formatCode>
                <c:ptCount val="2"/>
                <c:pt idx="0">
                  <c:v>0.06569916400258924</c:v>
                </c:pt>
                <c:pt idx="1">
                  <c:v>0.07746225892153125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45740495440671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1081.446</c:v>
                </c:pt>
                <c:pt idx="2">
                  <c:v>1153.842</c:v>
                </c:pt>
                <c:pt idx="3">
                  <c:v>1234.8780000000002</c:v>
                </c:pt>
                <c:pt idx="4">
                  <c:v>1325.9260000000002</c:v>
                </c:pt>
                <c:pt idx="5">
                  <c:v>1428.973</c:v>
                </c:pt>
                <c:pt idx="6">
                  <c:v>1543.969</c:v>
                </c:pt>
                <c:pt idx="7">
                  <c:v>1670.586</c:v>
                </c:pt>
                <c:pt idx="8">
                  <c:v>1807.49</c:v>
                </c:pt>
                <c:pt idx="9">
                  <c:v>1954.913</c:v>
                </c:pt>
                <c:pt idx="10">
                  <c:v>2112.4469999999997</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1081.446</c:v>
                </c:pt>
                <c:pt idx="1">
                  <c:v>72.39600000000019</c:v>
                </c:pt>
                <c:pt idx="2">
                  <c:v>81.03600000000006</c:v>
                </c:pt>
                <c:pt idx="3">
                  <c:v>91.048</c:v>
                </c:pt>
                <c:pt idx="4">
                  <c:v>103.0469999999998</c:v>
                </c:pt>
                <c:pt idx="5">
                  <c:v>114.9960000000001</c:v>
                </c:pt>
                <c:pt idx="6">
                  <c:v>126.61699999999996</c:v>
                </c:pt>
                <c:pt idx="7">
                  <c:v>136.904</c:v>
                </c:pt>
                <c:pt idx="8">
                  <c:v>147.423</c:v>
                </c:pt>
                <c:pt idx="9">
                  <c:v>157.53399999999965</c:v>
                </c:pt>
                <c:pt idx="10">
                  <c:v>168.029</c:v>
                </c:pt>
                <c:pt idx="11">
                  <c:v>2280.4759999999997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Netherlands</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4.136999950307616</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95.86300004969239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57.295</c:v>
                </c:pt>
                <c:pt idx="8">
                  <c:v>120.57300000000001</c:v>
                </c:pt>
                <c:pt idx="9">
                  <c:v>312.922</c:v>
                </c:pt>
                <c:pt idx="10">
                  <c:v>590.656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91.4790399999999"/>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21.212</c:v>
                </c:pt>
                <c:pt idx="1">
                  <c:v>29.706</c:v>
                </c:pt>
                <c:pt idx="2">
                  <c:v>32.916</c:v>
                </c:pt>
                <c:pt idx="3">
                  <c:v>33.719</c:v>
                </c:pt>
                <c:pt idx="4">
                  <c:v>55.685</c:v>
                </c:pt>
                <c:pt idx="5">
                  <c:v>67.34</c:v>
                </c:pt>
                <c:pt idx="6">
                  <c:v>85.956</c:v>
                </c:pt>
                <c:pt idx="7">
                  <c:v>87.045</c:v>
                </c:pt>
                <c:pt idx="8">
                  <c:v>106.174</c:v>
                </c:pt>
                <c:pt idx="9">
                  <c:v>220.098</c:v>
                </c:pt>
                <c:pt idx="10">
                  <c:v>341.594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57.73596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72.783</c:v>
                </c:pt>
                <c:pt idx="5">
                  <c:v>75.369</c:v>
                </c:pt>
                <c:pt idx="6">
                  <c:v>82.163</c:v>
                </c:pt>
                <c:pt idx="7">
                  <c:v>89.173</c:v>
                </c:pt>
                <c:pt idx="8">
                  <c:v>166.79</c:v>
                </c:pt>
                <c:pt idx="9">
                  <c:v>276.855</c:v>
                </c:pt>
                <c:pt idx="10">
                  <c:v>318.313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26.5394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133.019</c:v>
                </c:pt>
                <c:pt idx="8">
                  <c:v>236.67</c:v>
                </c:pt>
                <c:pt idx="9">
                  <c:v>353.525</c:v>
                </c:pt>
                <c:pt idx="10">
                  <c:v>358.232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80.03088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173.671</c:v>
                </c:pt>
                <c:pt idx="10">
                  <c:v>907.778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16.422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133.02</c:v>
                </c:pt>
                <c:pt idx="8">
                  <c:v>236.67</c:v>
                </c:pt>
                <c:pt idx="9">
                  <c:v>353.526</c:v>
                </c:pt>
                <c:pt idx="10">
                  <c:v>358.232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80.03088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1081.446</c:v>
                </c:pt>
                <c:pt idx="2">
                  <c:v>1741.624</c:v>
                </c:pt>
                <c:pt idx="3">
                  <c:v>1876.868</c:v>
                </c:pt>
                <c:pt idx="4">
                  <c:v>2219.611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1081.446</c:v>
                </c:pt>
                <c:pt idx="1">
                  <c:v>660.1780000000001</c:v>
                </c:pt>
                <c:pt idx="2">
                  <c:v>135.244</c:v>
                </c:pt>
                <c:pt idx="3">
                  <c:v>342.74299999999994</c:v>
                </c:pt>
                <c:pt idx="4">
                  <c:v>60.864999999999995</c:v>
                </c:pt>
                <c:pt idx="5">
                  <c:v>2280.4759999999997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660.1780000000001</c:v>
                </c:pt>
                <c:pt idx="2">
                  <c:v>795.4220000000001</c:v>
                </c:pt>
                <c:pt idx="3">
                  <c:v>1138.165</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660.1780000000001</c:v>
                </c:pt>
                <c:pt idx="1">
                  <c:v>135.244</c:v>
                </c:pt>
                <c:pt idx="2">
                  <c:v>342.74299999999994</c:v>
                </c:pt>
                <c:pt idx="3">
                  <c:v>60.864999999999995</c:v>
                </c:pt>
                <c:pt idx="4">
                  <c:v>1199.03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1081.445</c:v>
                </c:pt>
                <c:pt idx="2">
                  <c:v>1461.7179999999998</c:v>
                </c:pt>
                <c:pt idx="3">
                  <c:v>1700.973</c:v>
                </c:pt>
                <c:pt idx="4">
                  <c:v>1823.185</c:v>
                </c:pt>
                <c:pt idx="5">
                  <c:v>1919.277</c:v>
                </c:pt>
                <c:pt idx="6">
                  <c:v>2018.298</c:v>
                </c:pt>
                <c:pt idx="7">
                  <c:v>2072.63</c:v>
                </c:pt>
                <c:pt idx="8">
                  <c:v>2098.234</c:v>
                </c:pt>
                <c:pt idx="9">
                  <c:v>2171.696</c:v>
                </c:pt>
                <c:pt idx="10">
                  <c:v>2209.879</c:v>
                </c:pt>
                <c:pt idx="11">
                  <c:v>2243.831</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1081.445</c:v>
                </c:pt>
                <c:pt idx="1">
                  <c:v>380.27299999999997</c:v>
                </c:pt>
                <c:pt idx="2">
                  <c:v>239.255</c:v>
                </c:pt>
                <c:pt idx="3">
                  <c:v>122.21199999999999</c:v>
                </c:pt>
                <c:pt idx="4">
                  <c:v>96.092</c:v>
                </c:pt>
                <c:pt idx="5">
                  <c:v>99.021</c:v>
                </c:pt>
                <c:pt idx="6">
                  <c:v>54.331999999999994</c:v>
                </c:pt>
                <c:pt idx="7">
                  <c:v>25.604000000000003</c:v>
                </c:pt>
                <c:pt idx="8">
                  <c:v>73.46199999999999</c:v>
                </c:pt>
                <c:pt idx="9">
                  <c:v>38.18300000000001</c:v>
                </c:pt>
                <c:pt idx="10">
                  <c:v>33.952000000000005</c:v>
                </c:pt>
                <c:pt idx="11">
                  <c:v>36.646</c:v>
                </c:pt>
                <c:pt idx="12">
                  <c:v>2280.477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380.27299999999997</c:v>
                </c:pt>
                <c:pt idx="2">
                  <c:v>619.528</c:v>
                </c:pt>
                <c:pt idx="3">
                  <c:v>741.74</c:v>
                </c:pt>
                <c:pt idx="4">
                  <c:v>837.832</c:v>
                </c:pt>
                <c:pt idx="5">
                  <c:v>936.853</c:v>
                </c:pt>
                <c:pt idx="6">
                  <c:v>991.185</c:v>
                </c:pt>
                <c:pt idx="7">
                  <c:v>1016.789</c:v>
                </c:pt>
                <c:pt idx="8">
                  <c:v>1090.251</c:v>
                </c:pt>
                <c:pt idx="9">
                  <c:v>1128.434</c:v>
                </c:pt>
                <c:pt idx="10">
                  <c:v>1162.386</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380.27299999999997</c:v>
                </c:pt>
                <c:pt idx="1">
                  <c:v>239.255</c:v>
                </c:pt>
                <c:pt idx="2">
                  <c:v>122.21199999999999</c:v>
                </c:pt>
                <c:pt idx="3">
                  <c:v>96.092</c:v>
                </c:pt>
                <c:pt idx="4">
                  <c:v>99.021</c:v>
                </c:pt>
                <c:pt idx="5">
                  <c:v>54.331999999999994</c:v>
                </c:pt>
                <c:pt idx="6">
                  <c:v>25.604000000000003</c:v>
                </c:pt>
                <c:pt idx="7">
                  <c:v>73.46199999999999</c:v>
                </c:pt>
                <c:pt idx="8">
                  <c:v>38.18300000000001</c:v>
                </c:pt>
                <c:pt idx="9">
                  <c:v>33.952000000000005</c:v>
                </c:pt>
                <c:pt idx="10">
                  <c:v>36.646</c:v>
                </c:pt>
                <c:pt idx="11">
                  <c:v>1199.032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1081.446</c:v>
                </c:pt>
                <c:pt idx="2">
                  <c:v>1270.4579999999999</c:v>
                </c:pt>
                <c:pt idx="3">
                  <c:v>1612.618</c:v>
                </c:pt>
                <c:pt idx="4">
                  <c:v>1914.069</c:v>
                </c:pt>
                <c:pt idx="5">
                  <c:v>1994.079</c:v>
                </c:pt>
                <c:pt idx="6">
                  <c:v>2074.277</c:v>
                </c:pt>
                <c:pt idx="7">
                  <c:v>2168.909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1081.446</c:v>
                </c:pt>
                <c:pt idx="1">
                  <c:v>189.01200000000003</c:v>
                </c:pt>
                <c:pt idx="2">
                  <c:v>342.1600000000001</c:v>
                </c:pt>
                <c:pt idx="3">
                  <c:v>301.451</c:v>
                </c:pt>
                <c:pt idx="4">
                  <c:v>80.01</c:v>
                </c:pt>
                <c:pt idx="5">
                  <c:v>80.19800000000001</c:v>
                </c:pt>
                <c:pt idx="6">
                  <c:v>94.63199999999999</c:v>
                </c:pt>
                <c:pt idx="7">
                  <c:v>111.56700000000001</c:v>
                </c:pt>
                <c:pt idx="8">
                  <c:v>2280.4760000000006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189.01200000000003</c:v>
                </c:pt>
                <c:pt idx="2">
                  <c:v>531.1720000000001</c:v>
                </c:pt>
                <c:pt idx="3">
                  <c:v>832.6230000000002</c:v>
                </c:pt>
                <c:pt idx="4">
                  <c:v>912.6330000000002</c:v>
                </c:pt>
                <c:pt idx="5">
                  <c:v>992.8310000000001</c:v>
                </c:pt>
                <c:pt idx="6">
                  <c:v>1087.4630000000002</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189.01200000000003</c:v>
                </c:pt>
                <c:pt idx="1">
                  <c:v>342.1600000000001</c:v>
                </c:pt>
                <c:pt idx="2">
                  <c:v>301.451</c:v>
                </c:pt>
                <c:pt idx="3">
                  <c:v>80.01</c:v>
                </c:pt>
                <c:pt idx="4">
                  <c:v>80.19800000000001</c:v>
                </c:pt>
                <c:pt idx="5">
                  <c:v>94.63199999999999</c:v>
                </c:pt>
                <c:pt idx="6">
                  <c:v>111.56700000000001</c:v>
                </c:pt>
                <c:pt idx="7">
                  <c:v>1199.0300000000002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1081.446</c:v>
                </c:pt>
                <c:pt idx="2">
                  <c:v>1338.4699999999998</c:v>
                </c:pt>
                <c:pt idx="3">
                  <c:v>1702.8139999999999</c:v>
                </c:pt>
                <c:pt idx="4">
                  <c:v>2131.298</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1081.446</c:v>
                </c:pt>
                <c:pt idx="1">
                  <c:v>257.024</c:v>
                </c:pt>
                <c:pt idx="2">
                  <c:v>364.344</c:v>
                </c:pt>
                <c:pt idx="3">
                  <c:v>428.48400000000004</c:v>
                </c:pt>
                <c:pt idx="4">
                  <c:v>149.17899999999997</c:v>
                </c:pt>
                <c:pt idx="5">
                  <c:v>2280.477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257.024</c:v>
                </c:pt>
                <c:pt idx="2">
                  <c:v>621.3679999999999</c:v>
                </c:pt>
                <c:pt idx="3">
                  <c:v>1049.8519999999999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257.024</c:v>
                </c:pt>
                <c:pt idx="1">
                  <c:v>364.344</c:v>
                </c:pt>
                <c:pt idx="2">
                  <c:v>428.48400000000004</c:v>
                </c:pt>
                <c:pt idx="3">
                  <c:v>149.17899999999997</c:v>
                </c:pt>
                <c:pt idx="4">
                  <c:v>1199.031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1081.449</c:v>
                </c:pt>
                <c:pt idx="2">
                  <c:v>2089.683</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1081.449</c:v>
                </c:pt>
                <c:pt idx="1">
                  <c:v>1008.2339999999999</c:v>
                </c:pt>
                <c:pt idx="2">
                  <c:v>190.796</c:v>
                </c:pt>
                <c:pt idx="3">
                  <c:v>2280.479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1008.2339999999999</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1008.2339999999999</c:v>
                </c:pt>
                <c:pt idx="1">
                  <c:v>190.796</c:v>
                </c:pt>
                <c:pt idx="2">
                  <c:v>1199.03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1081.448</c:v>
                </c:pt>
                <c:pt idx="2">
                  <c:v>1338.4720000000002</c:v>
                </c:pt>
                <c:pt idx="3">
                  <c:v>1702.8160000000003</c:v>
                </c:pt>
                <c:pt idx="4">
                  <c:v>2131.2990000000004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1081.448</c:v>
                </c:pt>
                <c:pt idx="1">
                  <c:v>257.024</c:v>
                </c:pt>
                <c:pt idx="2">
                  <c:v>364.344</c:v>
                </c:pt>
                <c:pt idx="3">
                  <c:v>428.483</c:v>
                </c:pt>
                <c:pt idx="4">
                  <c:v>149.17600000000002</c:v>
                </c:pt>
                <c:pt idx="5">
                  <c:v>2280.475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257.024</c:v>
                </c:pt>
                <c:pt idx="2">
                  <c:v>621.3679999999999</c:v>
                </c:pt>
                <c:pt idx="3">
                  <c:v>1049.8509999999999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257.024</c:v>
                </c:pt>
                <c:pt idx="1">
                  <c:v>364.344</c:v>
                </c:pt>
                <c:pt idx="2">
                  <c:v>428.483</c:v>
                </c:pt>
                <c:pt idx="3">
                  <c:v>149.17600000000002</c:v>
                </c:pt>
                <c:pt idx="4">
                  <c:v>1199.0269999999998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346.924</c:v>
                </c:pt>
                <c:pt idx="1">
                  <c:v>362.69699999999995</c:v>
                </c:pt>
                <c:pt idx="2">
                  <c:v>379.4</c:v>
                </c:pt>
                <c:pt idx="3">
                  <c:v>397.173</c:v>
                </c:pt>
                <c:pt idx="4">
                  <c:v>416.261</c:v>
                </c:pt>
                <c:pt idx="5">
                  <c:v>437.093</c:v>
                </c:pt>
                <c:pt idx="6">
                  <c:v>459.80899999999997</c:v>
                </c:pt>
                <c:pt idx="7">
                  <c:v>484.503</c:v>
                </c:pt>
                <c:pt idx="8">
                  <c:v>511.288</c:v>
                </c:pt>
                <c:pt idx="9">
                  <c:v>540.258</c:v>
                </c:pt>
                <c:pt idx="10">
                  <c:v>571.2669999999999</c:v>
                </c:pt>
                <c:pt idx="11">
                  <c:v>604.191</c:v>
                </c:pt>
                <c:pt idx="12">
                  <c:v>638.769</c:v>
                </c:pt>
                <c:pt idx="13">
                  <c:v>674.7070000000001</c:v>
                </c:pt>
                <c:pt idx="14">
                  <c:v>711.528</c:v>
                </c:pt>
                <c:pt idx="15">
                  <c:v>749.181</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Nordic</c:v>
                </c:pt>
              </c:strCache>
            </c:strRef>
          </c:cat>
          <c:val>
            <c:numRef>
              <c:f>Sheet1!$B$2:$B$3</c:f>
              <c:numCache>
                <c:formatCode>General</c:formatCode>
                <c:ptCount val="2"/>
                <c:pt idx="0">
                  <c:v>0.05239999740743384</c:v>
                </c:pt>
                <c:pt idx="1">
                  <c:v>0.0553616055493531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47381674916266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437.093</c:v>
                </c:pt>
                <c:pt idx="2">
                  <c:v>459.80899999999997</c:v>
                </c:pt>
                <c:pt idx="3">
                  <c:v>484.503</c:v>
                </c:pt>
                <c:pt idx="4">
                  <c:v>511.288</c:v>
                </c:pt>
                <c:pt idx="5">
                  <c:v>540.258</c:v>
                </c:pt>
                <c:pt idx="6">
                  <c:v>571.2669999999999</c:v>
                </c:pt>
                <c:pt idx="7">
                  <c:v>604.191</c:v>
                </c:pt>
                <c:pt idx="8">
                  <c:v>638.769</c:v>
                </c:pt>
                <c:pt idx="9">
                  <c:v>674.7070000000001</c:v>
                </c:pt>
                <c:pt idx="10">
                  <c:v>711.528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437.093</c:v>
                </c:pt>
                <c:pt idx="1">
                  <c:v>22.71599999999995</c:v>
                </c:pt>
                <c:pt idx="2">
                  <c:v>24.694000000000017</c:v>
                </c:pt>
                <c:pt idx="3">
                  <c:v>26.785000000000025</c:v>
                </c:pt>
                <c:pt idx="4">
                  <c:v>28.970000000000027</c:v>
                </c:pt>
                <c:pt idx="5">
                  <c:v>31.0089999999999</c:v>
                </c:pt>
                <c:pt idx="6">
                  <c:v>32.92400000000009</c:v>
                </c:pt>
                <c:pt idx="7">
                  <c:v>34.577999999999975</c:v>
                </c:pt>
                <c:pt idx="8">
                  <c:v>35.9380000000001</c:v>
                </c:pt>
                <c:pt idx="9">
                  <c:v>36.82099999999991</c:v>
                </c:pt>
                <c:pt idx="10">
                  <c:v>37.65300000000002</c:v>
                </c:pt>
                <c:pt idx="11">
                  <c:v>749.181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Nordic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5.548265926513684</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94.45173407348632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1260.922</c:v>
                </c:pt>
                <c:pt idx="1">
                  <c:v>1322.1930000000002</c:v>
                </c:pt>
                <c:pt idx="2">
                  <c:v>1387.8829999999998</c:v>
                </c:pt>
                <c:pt idx="3">
                  <c:v>1459.248</c:v>
                </c:pt>
                <c:pt idx="4">
                  <c:v>1536.638</c:v>
                </c:pt>
                <c:pt idx="5">
                  <c:v>1628.5110000000002</c:v>
                </c:pt>
                <c:pt idx="6">
                  <c:v>1730.816</c:v>
                </c:pt>
                <c:pt idx="7">
                  <c:v>1844.4910000000002</c:v>
                </c:pt>
                <c:pt idx="8">
                  <c:v>1970.4080000000001</c:v>
                </c:pt>
                <c:pt idx="9">
                  <c:v>2109.644</c:v>
                </c:pt>
                <c:pt idx="10">
                  <c:v>2262.059</c:v>
                </c:pt>
                <c:pt idx="11">
                  <c:v>2427.912</c:v>
                </c:pt>
                <c:pt idx="12">
                  <c:v>2606.986</c:v>
                </c:pt>
                <c:pt idx="13">
                  <c:v>2798.669</c:v>
                </c:pt>
                <c:pt idx="14">
                  <c:v>3002.409</c:v>
                </c:pt>
                <c:pt idx="15">
                  <c:v>3218.0669999999996</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Nordic</c:v>
                </c:pt>
              </c:strCache>
            </c:strRef>
          </c:cat>
          <c:val>
            <c:numRef>
              <c:f>Sheet1!$B$2:$B$3</c:f>
              <c:numCache>
                <c:formatCode>General</c:formatCode>
                <c:ptCount val="2"/>
                <c:pt idx="0">
                  <c:v>0.06569916400258924</c:v>
                </c:pt>
                <c:pt idx="1">
                  <c:v>0.07048463606615307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515425868930666"/>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1628.5110000000002</c:v>
                </c:pt>
                <c:pt idx="2">
                  <c:v>1730.816</c:v>
                </c:pt>
                <c:pt idx="3">
                  <c:v>1844.4910000000002</c:v>
                </c:pt>
                <c:pt idx="4">
                  <c:v>1970.4080000000001</c:v>
                </c:pt>
                <c:pt idx="5">
                  <c:v>2109.644</c:v>
                </c:pt>
                <c:pt idx="6">
                  <c:v>2262.059</c:v>
                </c:pt>
                <c:pt idx="7">
                  <c:v>2427.912</c:v>
                </c:pt>
                <c:pt idx="8">
                  <c:v>2606.986</c:v>
                </c:pt>
                <c:pt idx="9">
                  <c:v>2798.669</c:v>
                </c:pt>
                <c:pt idx="10">
                  <c:v>3002.409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1628.5110000000002</c:v>
                </c:pt>
                <c:pt idx="1">
                  <c:v>102.30499999999984</c:v>
                </c:pt>
                <c:pt idx="2">
                  <c:v>113.67500000000018</c:v>
                </c:pt>
                <c:pt idx="3">
                  <c:v>125.91699999999992</c:v>
                </c:pt>
                <c:pt idx="4">
                  <c:v>139.23599999999965</c:v>
                </c:pt>
                <c:pt idx="5">
                  <c:v>152.41500000000042</c:v>
                </c:pt>
                <c:pt idx="6">
                  <c:v>165.8529999999996</c:v>
                </c:pt>
                <c:pt idx="7">
                  <c:v>179.07400000000007</c:v>
                </c:pt>
                <c:pt idx="8">
                  <c:v>191.683</c:v>
                </c:pt>
                <c:pt idx="9">
                  <c:v>203.74000000000024</c:v>
                </c:pt>
                <c:pt idx="10">
                  <c:v>215.65799999999945</c:v>
                </c:pt>
                <c:pt idx="11">
                  <c:v>3218.0669999999996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Nordic</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6.229760825852986</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93.77023917414701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89.894</c:v>
                </c:pt>
                <c:pt idx="8">
                  <c:v>180.923</c:v>
                </c:pt>
                <c:pt idx="9">
                  <c:v>471.882</c:v>
                </c:pt>
                <c:pt idx="10">
                  <c:v>885.812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186.9880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Other Specialty Barri…</c:v>
                </c:pt>
                <c:pt idx="2">
                  <c:v>AlOx / SiOx-Coated</c:v>
                </c:pt>
                <c:pt idx="3">
                  <c:v>Aluminum Foil-Based</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32.593</c:v>
                </c:pt>
                <c:pt idx="1">
                  <c:v>48.029</c:v>
                </c:pt>
                <c:pt idx="2">
                  <c:v>49.72</c:v>
                </c:pt>
                <c:pt idx="3">
                  <c:v>51.3</c:v>
                </c:pt>
                <c:pt idx="4">
                  <c:v>84.724</c:v>
                </c:pt>
                <c:pt idx="5">
                  <c:v>100.283</c:v>
                </c:pt>
                <c:pt idx="6">
                  <c:v>129.91</c:v>
                </c:pt>
                <c:pt idx="7">
                  <c:v>134.173</c:v>
                </c:pt>
                <c:pt idx="8">
                  <c:v>160.436</c:v>
                </c:pt>
                <c:pt idx="9">
                  <c:v>333.114</c:v>
                </c:pt>
                <c:pt idx="10">
                  <c:v>504.228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675.665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109.091</c:v>
                </c:pt>
                <c:pt idx="5">
                  <c:v>112.943</c:v>
                </c:pt>
                <c:pt idx="6">
                  <c:v>125.145</c:v>
                </c:pt>
                <c:pt idx="7">
                  <c:v>125.823</c:v>
                </c:pt>
                <c:pt idx="8">
                  <c:v>263.308</c:v>
                </c:pt>
                <c:pt idx="9">
                  <c:v>411.54200000000003</c:v>
                </c:pt>
                <c:pt idx="10">
                  <c:v>480.659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644.083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201.065</c:v>
                </c:pt>
                <c:pt idx="8">
                  <c:v>354.209</c:v>
                </c:pt>
                <c:pt idx="9">
                  <c:v>531.411</c:v>
                </c:pt>
                <c:pt idx="10">
                  <c:v>541.825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26.04550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263.401</c:v>
                </c:pt>
                <c:pt idx="10">
                  <c:v>1365.109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829.24606"/>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201.065</c:v>
                </c:pt>
                <c:pt idx="8">
                  <c:v>354.21</c:v>
                </c:pt>
                <c:pt idx="9">
                  <c:v>531.4110000000001</c:v>
                </c:pt>
                <c:pt idx="10">
                  <c:v>541.824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26.044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1628.5110000000002</c:v>
                </c:pt>
                <c:pt idx="2">
                  <c:v>2480.425</c:v>
                </c:pt>
                <c:pt idx="3">
                  <c:v>2660.4970000000003</c:v>
                </c:pt>
                <c:pt idx="4">
                  <c:v>3131.9330000000004</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1628.5110000000002</c:v>
                </c:pt>
                <c:pt idx="1">
                  <c:v>851.9140000000001</c:v>
                </c:pt>
                <c:pt idx="2">
                  <c:v>180.072</c:v>
                </c:pt>
                <c:pt idx="3">
                  <c:v>471.436</c:v>
                </c:pt>
                <c:pt idx="4">
                  <c:v>86.13399999999999</c:v>
                </c:pt>
                <c:pt idx="5">
                  <c:v>3218.0669999999996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851.9140000000001</c:v>
                </c:pt>
                <c:pt idx="2">
                  <c:v>1031.986</c:v>
                </c:pt>
                <c:pt idx="3">
                  <c:v>1503.422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851.9140000000001</c:v>
                </c:pt>
                <c:pt idx="1">
                  <c:v>180.072</c:v>
                </c:pt>
                <c:pt idx="2">
                  <c:v>471.436</c:v>
                </c:pt>
                <c:pt idx="3">
                  <c:v>86.13399999999999</c:v>
                </c:pt>
                <c:pt idx="4">
                  <c:v>1589.556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1628.51</c:v>
                </c:pt>
                <c:pt idx="2">
                  <c:v>2139.566</c:v>
                </c:pt>
                <c:pt idx="3">
                  <c:v>2452.392</c:v>
                </c:pt>
                <c:pt idx="4">
                  <c:v>2613.187</c:v>
                </c:pt>
                <c:pt idx="5">
                  <c:v>2740.6279999999997</c:v>
                </c:pt>
                <c:pt idx="6">
                  <c:v>2870.9019999999996</c:v>
                </c:pt>
                <c:pt idx="7">
                  <c:v>2940.8269999999998</c:v>
                </c:pt>
                <c:pt idx="8">
                  <c:v>2974.0869999999995</c:v>
                </c:pt>
                <c:pt idx="9">
                  <c:v>3071.8029999999994</c:v>
                </c:pt>
                <c:pt idx="10">
                  <c:v>3122.0939999999996</c:v>
                </c:pt>
                <c:pt idx="11">
                  <c:v>3165.9209999999994</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1628.51</c:v>
                </c:pt>
                <c:pt idx="1">
                  <c:v>511.056</c:v>
                </c:pt>
                <c:pt idx="2">
                  <c:v>312.8260000000001</c:v>
                </c:pt>
                <c:pt idx="3">
                  <c:v>160.795</c:v>
                </c:pt>
                <c:pt idx="4">
                  <c:v>127.44099999999997</c:v>
                </c:pt>
                <c:pt idx="5">
                  <c:v>130.27400000000003</c:v>
                </c:pt>
                <c:pt idx="6">
                  <c:v>69.925</c:v>
                </c:pt>
                <c:pt idx="7">
                  <c:v>33.25999999999999</c:v>
                </c:pt>
                <c:pt idx="8">
                  <c:v>97.716</c:v>
                </c:pt>
                <c:pt idx="9">
                  <c:v>50.291</c:v>
                </c:pt>
                <c:pt idx="10">
                  <c:v>43.827</c:v>
                </c:pt>
                <c:pt idx="11">
                  <c:v>52.145</c:v>
                </c:pt>
                <c:pt idx="12">
                  <c:v>3218.0660000000003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511.056</c:v>
                </c:pt>
                <c:pt idx="2">
                  <c:v>823.8820000000001</c:v>
                </c:pt>
                <c:pt idx="3">
                  <c:v>984.677</c:v>
                </c:pt>
                <c:pt idx="4">
                  <c:v>1112.118</c:v>
                </c:pt>
                <c:pt idx="5">
                  <c:v>1242.392</c:v>
                </c:pt>
                <c:pt idx="6">
                  <c:v>1312.317</c:v>
                </c:pt>
                <c:pt idx="7">
                  <c:v>1345.577</c:v>
                </c:pt>
                <c:pt idx="8">
                  <c:v>1443.293</c:v>
                </c:pt>
                <c:pt idx="9">
                  <c:v>1493.5839999999998</c:v>
                </c:pt>
                <c:pt idx="10">
                  <c:v>1537.4109999999998</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511.056</c:v>
                </c:pt>
                <c:pt idx="1">
                  <c:v>312.8260000000001</c:v>
                </c:pt>
                <c:pt idx="2">
                  <c:v>160.795</c:v>
                </c:pt>
                <c:pt idx="3">
                  <c:v>127.44099999999997</c:v>
                </c:pt>
                <c:pt idx="4">
                  <c:v>130.27400000000003</c:v>
                </c:pt>
                <c:pt idx="5">
                  <c:v>69.925</c:v>
                </c:pt>
                <c:pt idx="6">
                  <c:v>33.25999999999999</c:v>
                </c:pt>
                <c:pt idx="7">
                  <c:v>97.716</c:v>
                </c:pt>
                <c:pt idx="8">
                  <c:v>50.291</c:v>
                </c:pt>
                <c:pt idx="9">
                  <c:v>43.827</c:v>
                </c:pt>
                <c:pt idx="10">
                  <c:v>52.145</c:v>
                </c:pt>
                <c:pt idx="11">
                  <c:v>1589.5559999999998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1628.511</c:v>
                </c:pt>
                <c:pt idx="2">
                  <c:v>1892.452</c:v>
                </c:pt>
                <c:pt idx="3">
                  <c:v>2342.041</c:v>
                </c:pt>
                <c:pt idx="4">
                  <c:v>2745.1130000000003</c:v>
                </c:pt>
                <c:pt idx="5">
                  <c:v>2851.2580000000003</c:v>
                </c:pt>
                <c:pt idx="6">
                  <c:v>2957.4170000000004</c:v>
                </c:pt>
                <c:pt idx="7">
                  <c:v>3081.3220000000006</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1628.511</c:v>
                </c:pt>
                <c:pt idx="1">
                  <c:v>263.94100000000003</c:v>
                </c:pt>
                <c:pt idx="2">
                  <c:v>449.58900000000006</c:v>
                </c:pt>
                <c:pt idx="3">
                  <c:v>403.072</c:v>
                </c:pt>
                <c:pt idx="4">
                  <c:v>106.145</c:v>
                </c:pt>
                <c:pt idx="5">
                  <c:v>106.159</c:v>
                </c:pt>
                <c:pt idx="6">
                  <c:v>123.90500000000002</c:v>
                </c:pt>
                <c:pt idx="7">
                  <c:v>136.745</c:v>
                </c:pt>
                <c:pt idx="8">
                  <c:v>3218.067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263.94100000000003</c:v>
                </c:pt>
                <c:pt idx="2">
                  <c:v>713.5300000000001</c:v>
                </c:pt>
                <c:pt idx="3">
                  <c:v>1116.602</c:v>
                </c:pt>
                <c:pt idx="4">
                  <c:v>1222.747</c:v>
                </c:pt>
                <c:pt idx="5">
                  <c:v>1328.9060000000002</c:v>
                </c:pt>
                <c:pt idx="6">
                  <c:v>1452.8110000000001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263.94100000000003</c:v>
                </c:pt>
                <c:pt idx="1">
                  <c:v>449.58900000000006</c:v>
                </c:pt>
                <c:pt idx="2">
                  <c:v>403.072</c:v>
                </c:pt>
                <c:pt idx="3">
                  <c:v>106.145</c:v>
                </c:pt>
                <c:pt idx="4">
                  <c:v>106.159</c:v>
                </c:pt>
                <c:pt idx="5">
                  <c:v>123.90500000000002</c:v>
                </c:pt>
                <c:pt idx="6">
                  <c:v>136.745</c:v>
                </c:pt>
                <c:pt idx="7">
                  <c:v>1589.556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1628.5100000000002</c:v>
                </c:pt>
                <c:pt idx="2">
                  <c:v>1969.5490000000002</c:v>
                </c:pt>
                <c:pt idx="3">
                  <c:v>2444.9970000000003</c:v>
                </c:pt>
                <c:pt idx="4">
                  <c:v>3015.2690000000002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1628.5100000000002</c:v>
                </c:pt>
                <c:pt idx="1">
                  <c:v>341.03900000000004</c:v>
                </c:pt>
                <c:pt idx="2">
                  <c:v>475.448</c:v>
                </c:pt>
                <c:pt idx="3">
                  <c:v>570.272</c:v>
                </c:pt>
                <c:pt idx="4">
                  <c:v>202.79700000000003</c:v>
                </c:pt>
                <c:pt idx="5">
                  <c:v>3218.0660000000003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341.03900000000004</c:v>
                </c:pt>
                <c:pt idx="2">
                  <c:v>816.4870000000001</c:v>
                </c:pt>
                <c:pt idx="3">
                  <c:v>1386.759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341.03900000000004</c:v>
                </c:pt>
                <c:pt idx="1">
                  <c:v>475.448</c:v>
                </c:pt>
                <c:pt idx="2">
                  <c:v>570.272</c:v>
                </c:pt>
                <c:pt idx="3">
                  <c:v>202.79700000000003</c:v>
                </c:pt>
                <c:pt idx="4">
                  <c:v>1589.556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1628.51</c:v>
                </c:pt>
                <c:pt idx="2">
                  <c:v>2962.2520000000004</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1628.51</c:v>
                </c:pt>
                <c:pt idx="1">
                  <c:v>1333.7420000000002</c:v>
                </c:pt>
                <c:pt idx="2">
                  <c:v>255.81</c:v>
                </c:pt>
                <c:pt idx="3">
                  <c:v>3218.062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1333.7420000000002</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1333.7420000000002</c:v>
                </c:pt>
                <c:pt idx="1">
                  <c:v>255.81</c:v>
                </c:pt>
                <c:pt idx="2">
                  <c:v>1589.5520000000001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1628.51</c:v>
                </c:pt>
                <c:pt idx="2">
                  <c:v>1969.548</c:v>
                </c:pt>
                <c:pt idx="3">
                  <c:v>2444.996</c:v>
                </c:pt>
                <c:pt idx="4">
                  <c:v>3015.266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1628.51</c:v>
                </c:pt>
                <c:pt idx="1">
                  <c:v>341.03800000000007</c:v>
                </c:pt>
                <c:pt idx="2">
                  <c:v>475.448</c:v>
                </c:pt>
                <c:pt idx="3">
                  <c:v>570.27</c:v>
                </c:pt>
                <c:pt idx="4">
                  <c:v>202.798</c:v>
                </c:pt>
                <c:pt idx="5">
                  <c:v>3218.064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341.03800000000007</c:v>
                </c:pt>
                <c:pt idx="2">
                  <c:v>816.4860000000001</c:v>
                </c:pt>
                <c:pt idx="3">
                  <c:v>1386.756</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341.03800000000007</c:v>
                </c:pt>
                <c:pt idx="1">
                  <c:v>475.448</c:v>
                </c:pt>
                <c:pt idx="2">
                  <c:v>570.27</c:v>
                </c:pt>
                <c:pt idx="3">
                  <c:v>202.798</c:v>
                </c:pt>
                <c:pt idx="4">
                  <c:v>1589.554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156.526</c:v>
                </c:pt>
                <c:pt idx="1">
                  <c:v>160.497</c:v>
                </c:pt>
                <c:pt idx="2">
                  <c:v>164.528</c:v>
                </c:pt>
                <c:pt idx="3">
                  <c:v>168.647</c:v>
                </c:pt>
                <c:pt idx="4">
                  <c:v>172.917</c:v>
                </c:pt>
                <c:pt idx="5">
                  <c:v>177.53699999999998</c:v>
                </c:pt>
                <c:pt idx="6">
                  <c:v>182.567</c:v>
                </c:pt>
                <c:pt idx="7">
                  <c:v>188.066</c:v>
                </c:pt>
                <c:pt idx="8">
                  <c:v>194.04899999999998</c:v>
                </c:pt>
                <c:pt idx="9">
                  <c:v>200.49</c:v>
                </c:pt>
                <c:pt idx="10">
                  <c:v>207.28900000000002</c:v>
                </c:pt>
                <c:pt idx="11">
                  <c:v>214.393</c:v>
                </c:pt>
                <c:pt idx="12">
                  <c:v>221.716</c:v>
                </c:pt>
                <c:pt idx="13">
                  <c:v>229.18</c:v>
                </c:pt>
                <c:pt idx="14">
                  <c:v>236.691</c:v>
                </c:pt>
                <c:pt idx="15">
                  <c:v>244.233</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Switzerland</c:v>
                </c:pt>
              </c:strCache>
            </c:strRef>
          </c:cat>
          <c:val>
            <c:numRef>
              <c:f>Sheet1!$B$2:$B$3</c:f>
              <c:numCache>
                <c:formatCode>General</c:formatCode>
                <c:ptCount val="2"/>
                <c:pt idx="0">
                  <c:v>0.05239999740743384</c:v>
                </c:pt>
                <c:pt idx="1">
                  <c:v>0.03240844105684415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7399965000356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177.53699999999998</c:v>
                </c:pt>
                <c:pt idx="2">
                  <c:v>182.567</c:v>
                </c:pt>
                <c:pt idx="3">
                  <c:v>188.066</c:v>
                </c:pt>
                <c:pt idx="4">
                  <c:v>194.04899999999998</c:v>
                </c:pt>
                <c:pt idx="5">
                  <c:v>200.49</c:v>
                </c:pt>
                <c:pt idx="6">
                  <c:v>207.28900000000002</c:v>
                </c:pt>
                <c:pt idx="7">
                  <c:v>214.393</c:v>
                </c:pt>
                <c:pt idx="8">
                  <c:v>221.716</c:v>
                </c:pt>
                <c:pt idx="9">
                  <c:v>229.18</c:v>
                </c:pt>
                <c:pt idx="10">
                  <c:v>236.691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177.53699999999998</c:v>
                </c:pt>
                <c:pt idx="1">
                  <c:v>5.03000000000003</c:v>
                </c:pt>
                <c:pt idx="2">
                  <c:v>5.498999999999995</c:v>
                </c:pt>
                <c:pt idx="3">
                  <c:v>5.982999999999976</c:v>
                </c:pt>
                <c:pt idx="4">
                  <c:v>6.441000000000031</c:v>
                </c:pt>
                <c:pt idx="5">
                  <c:v>6.799000000000007</c:v>
                </c:pt>
                <c:pt idx="6">
                  <c:v>7.103999999999985</c:v>
                </c:pt>
                <c:pt idx="7">
                  <c:v>7.3230000000000075</c:v>
                </c:pt>
                <c:pt idx="8">
                  <c:v>7.463999999999999</c:v>
                </c:pt>
                <c:pt idx="9">
                  <c:v>7.510999999999996</c:v>
                </c:pt>
                <c:pt idx="10">
                  <c:v>7.542000000000002</c:v>
                </c:pt>
                <c:pt idx="11">
                  <c:v>244.233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Switzerland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2.2535764420740207</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97.74642355792598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595.996</c:v>
                </c:pt>
                <c:pt idx="1">
                  <c:v>613.126</c:v>
                </c:pt>
                <c:pt idx="2">
                  <c:v>630.8389999999999</c:v>
                </c:pt>
                <c:pt idx="3">
                  <c:v>649.548</c:v>
                </c:pt>
                <c:pt idx="4">
                  <c:v>669.18</c:v>
                </c:pt>
                <c:pt idx="5">
                  <c:v>693.2489999999999</c:v>
                </c:pt>
                <c:pt idx="6">
                  <c:v>719.942</c:v>
                </c:pt>
                <c:pt idx="7">
                  <c:v>749.682</c:v>
                </c:pt>
                <c:pt idx="8">
                  <c:v>782.55</c:v>
                </c:pt>
                <c:pt idx="9">
                  <c:v>818.765</c:v>
                </c:pt>
                <c:pt idx="10">
                  <c:v>857.999</c:v>
                </c:pt>
                <c:pt idx="11">
                  <c:v>900.2660000000001</c:v>
                </c:pt>
                <c:pt idx="12">
                  <c:v>945.338</c:v>
                </c:pt>
                <c:pt idx="13">
                  <c:v>993.073</c:v>
                </c:pt>
                <c:pt idx="14">
                  <c:v>1043.378</c:v>
                </c:pt>
                <c:pt idx="15">
                  <c:v>1096.228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Switzerland</c:v>
                </c:pt>
              </c:strCache>
            </c:strRef>
          </c:cat>
          <c:val>
            <c:numRef>
              <c:f>Sheet1!$B$2:$B$3</c:f>
              <c:numCache>
                <c:formatCode>General</c:formatCode>
                <c:ptCount val="2"/>
                <c:pt idx="0">
                  <c:v>0.06569916400258924</c:v>
                </c:pt>
                <c:pt idx="1">
                  <c:v>0.046890271164190755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693871403495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693.2489999999999</c:v>
                </c:pt>
                <c:pt idx="2">
                  <c:v>719.942</c:v>
                </c:pt>
                <c:pt idx="3">
                  <c:v>749.682</c:v>
                </c:pt>
                <c:pt idx="4">
                  <c:v>782.55</c:v>
                </c:pt>
                <c:pt idx="5">
                  <c:v>818.765</c:v>
                </c:pt>
                <c:pt idx="6">
                  <c:v>857.999</c:v>
                </c:pt>
                <c:pt idx="7">
                  <c:v>900.2660000000001</c:v>
                </c:pt>
                <c:pt idx="8">
                  <c:v>945.338</c:v>
                </c:pt>
                <c:pt idx="9">
                  <c:v>993.073</c:v>
                </c:pt>
                <c:pt idx="10">
                  <c:v>1043.378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693.2489999999999</c:v>
                </c:pt>
                <c:pt idx="1">
                  <c:v>26.693000000000097</c:v>
                </c:pt>
                <c:pt idx="2">
                  <c:v>29.74000000000001</c:v>
                </c:pt>
                <c:pt idx="3">
                  <c:v>32.86799999999994</c:v>
                </c:pt>
                <c:pt idx="4">
                  <c:v>36.21500000000003</c:v>
                </c:pt>
                <c:pt idx="5">
                  <c:v>39.23400000000004</c:v>
                </c:pt>
                <c:pt idx="6">
                  <c:v>42.26700000000005</c:v>
                </c:pt>
                <c:pt idx="7">
                  <c:v>45.07199999999989</c:v>
                </c:pt>
                <c:pt idx="8">
                  <c:v>47.735000000000014</c:v>
                </c:pt>
                <c:pt idx="9">
                  <c:v>50.30499999999995</c:v>
                </c:pt>
                <c:pt idx="10">
                  <c:v>52.850000000000136</c:v>
                </c:pt>
                <c:pt idx="11">
                  <c:v>1096.228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Switzerland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2.6519780724611346</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97.34802192753887</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2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39.6</c:v>
                </c:pt>
                <c:pt idx="8">
                  <c:v>77.297</c:v>
                </c:pt>
                <c:pt idx="9">
                  <c:v>200.873</c:v>
                </c:pt>
                <c:pt idx="10">
                  <c:v>375.479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03.1418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Aluminum Foil-Based</c:v>
                </c:pt>
                <c:pt idx="3">
                  <c:v>Other Specialty Barri…</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13.897</c:v>
                </c:pt>
                <c:pt idx="1">
                  <c:v>21.188</c:v>
                </c:pt>
                <c:pt idx="2">
                  <c:v>21.66</c:v>
                </c:pt>
                <c:pt idx="3">
                  <c:v>21.68</c:v>
                </c:pt>
                <c:pt idx="4">
                  <c:v>35.3</c:v>
                </c:pt>
                <c:pt idx="5">
                  <c:v>43.004</c:v>
                </c:pt>
                <c:pt idx="6">
                  <c:v>54.363</c:v>
                </c:pt>
                <c:pt idx="7">
                  <c:v>56.53</c:v>
                </c:pt>
                <c:pt idx="8">
                  <c:v>68.155</c:v>
                </c:pt>
                <c:pt idx="9">
                  <c:v>141.085</c:v>
                </c:pt>
                <c:pt idx="10">
                  <c:v>216.389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89.96126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45.999</c:v>
                </c:pt>
                <c:pt idx="5">
                  <c:v>48.295</c:v>
                </c:pt>
                <c:pt idx="6">
                  <c:v>53.719</c:v>
                </c:pt>
                <c:pt idx="7">
                  <c:v>54.566</c:v>
                </c:pt>
                <c:pt idx="8">
                  <c:v>112.353</c:v>
                </c:pt>
                <c:pt idx="9">
                  <c:v>176.26299999999998</c:v>
                </c:pt>
                <c:pt idx="10">
                  <c:v>202.055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70.7537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87.183</c:v>
                </c:pt>
                <c:pt idx="8">
                  <c:v>151.015</c:v>
                </c:pt>
                <c:pt idx="9">
                  <c:v>226.628</c:v>
                </c:pt>
                <c:pt idx="10">
                  <c:v>228.424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06.088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113.576</c:v>
                </c:pt>
                <c:pt idx="10">
                  <c:v>579.674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76.763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87.183</c:v>
                </c:pt>
                <c:pt idx="8">
                  <c:v>151.014</c:v>
                </c:pt>
                <c:pt idx="9">
                  <c:v>226.629</c:v>
                </c:pt>
                <c:pt idx="10">
                  <c:v>228.425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06.08950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693.2489999999999</c:v>
                </c:pt>
                <c:pt idx="2">
                  <c:v>910.614</c:v>
                </c:pt>
                <c:pt idx="3">
                  <c:v>953.678</c:v>
                </c:pt>
                <c:pt idx="4">
                  <c:v>1075.06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693.2489999999999</c:v>
                </c:pt>
                <c:pt idx="1">
                  <c:v>217.36500000000007</c:v>
                </c:pt>
                <c:pt idx="2">
                  <c:v>43.06399999999999</c:v>
                </c:pt>
                <c:pt idx="3">
                  <c:v>121.382</c:v>
                </c:pt>
                <c:pt idx="4">
                  <c:v>21.168</c:v>
                </c:pt>
                <c:pt idx="5">
                  <c:v>1096.228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217.36500000000007</c:v>
                </c:pt>
                <c:pt idx="2">
                  <c:v>260.4290000000001</c:v>
                </c:pt>
                <c:pt idx="3">
                  <c:v>381.8110000000001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217.36500000000007</c:v>
                </c:pt>
                <c:pt idx="1">
                  <c:v>43.06399999999999</c:v>
                </c:pt>
                <c:pt idx="2">
                  <c:v>121.382</c:v>
                </c:pt>
                <c:pt idx="3">
                  <c:v>21.168</c:v>
                </c:pt>
                <c:pt idx="4">
                  <c:v>402.9790000000001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693.251</c:v>
                </c:pt>
                <c:pt idx="2">
                  <c:v>821.795</c:v>
                </c:pt>
                <c:pt idx="3">
                  <c:v>900.0469999999999</c:v>
                </c:pt>
                <c:pt idx="4">
                  <c:v>941.0379999999999</c:v>
                </c:pt>
                <c:pt idx="5">
                  <c:v>973.348</c:v>
                </c:pt>
                <c:pt idx="6">
                  <c:v>1007.394</c:v>
                </c:pt>
                <c:pt idx="7">
                  <c:v>1025.394</c:v>
                </c:pt>
                <c:pt idx="8">
                  <c:v>1033.876</c:v>
                </c:pt>
                <c:pt idx="9">
                  <c:v>1058.1</c:v>
                </c:pt>
                <c:pt idx="10">
                  <c:v>1070.903</c:v>
                </c:pt>
                <c:pt idx="11">
                  <c:v>1081.506</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693.251</c:v>
                </c:pt>
                <c:pt idx="1">
                  <c:v>128.54399999999998</c:v>
                </c:pt>
                <c:pt idx="2">
                  <c:v>78.25199999999998</c:v>
                </c:pt>
                <c:pt idx="3">
                  <c:v>40.991</c:v>
                </c:pt>
                <c:pt idx="4">
                  <c:v>32.31</c:v>
                </c:pt>
                <c:pt idx="5">
                  <c:v>34.04600000000001</c:v>
                </c:pt>
                <c:pt idx="6">
                  <c:v>18.0</c:v>
                </c:pt>
                <c:pt idx="7">
                  <c:v>8.482000000000001</c:v>
                </c:pt>
                <c:pt idx="8">
                  <c:v>24.223999999999997</c:v>
                </c:pt>
                <c:pt idx="9">
                  <c:v>12.803</c:v>
                </c:pt>
                <c:pt idx="10">
                  <c:v>10.602999999999998</c:v>
                </c:pt>
                <c:pt idx="11">
                  <c:v>14.721000000000004</c:v>
                </c:pt>
                <c:pt idx="12">
                  <c:v>1096.227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128.54399999999998</c:v>
                </c:pt>
                <c:pt idx="2">
                  <c:v>206.79599999999996</c:v>
                </c:pt>
                <c:pt idx="3">
                  <c:v>247.78699999999998</c:v>
                </c:pt>
                <c:pt idx="4">
                  <c:v>280.097</c:v>
                </c:pt>
                <c:pt idx="5">
                  <c:v>314.143</c:v>
                </c:pt>
                <c:pt idx="6">
                  <c:v>332.143</c:v>
                </c:pt>
                <c:pt idx="7">
                  <c:v>340.625</c:v>
                </c:pt>
                <c:pt idx="8">
                  <c:v>364.849</c:v>
                </c:pt>
                <c:pt idx="9">
                  <c:v>377.652</c:v>
                </c:pt>
                <c:pt idx="10">
                  <c:v>388.255</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128.54399999999998</c:v>
                </c:pt>
                <c:pt idx="1">
                  <c:v>78.25199999999998</c:v>
                </c:pt>
                <c:pt idx="2">
                  <c:v>40.991</c:v>
                </c:pt>
                <c:pt idx="3">
                  <c:v>32.31</c:v>
                </c:pt>
                <c:pt idx="4">
                  <c:v>34.04600000000001</c:v>
                </c:pt>
                <c:pt idx="5">
                  <c:v>18.0</c:v>
                </c:pt>
                <c:pt idx="6">
                  <c:v>8.482000000000001</c:v>
                </c:pt>
                <c:pt idx="7">
                  <c:v>24.223999999999997</c:v>
                </c:pt>
                <c:pt idx="8">
                  <c:v>12.803</c:v>
                </c:pt>
                <c:pt idx="9">
                  <c:v>10.602999999999998</c:v>
                </c:pt>
                <c:pt idx="10">
                  <c:v>14.721000000000004</c:v>
                </c:pt>
                <c:pt idx="11">
                  <c:v>402.976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693.25</c:v>
                </c:pt>
                <c:pt idx="2">
                  <c:v>760.121</c:v>
                </c:pt>
                <c:pt idx="3">
                  <c:v>874.524</c:v>
                </c:pt>
                <c:pt idx="4">
                  <c:v>975.001</c:v>
                </c:pt>
                <c:pt idx="5">
                  <c:v>1002.1279999999999</c:v>
                </c:pt>
                <c:pt idx="6">
                  <c:v>1028.2289999999998</c:v>
                </c:pt>
                <c:pt idx="7">
                  <c:v>1059.1309999999999</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693.25</c:v>
                </c:pt>
                <c:pt idx="1">
                  <c:v>66.871</c:v>
                </c:pt>
                <c:pt idx="2">
                  <c:v>114.40300000000002</c:v>
                </c:pt>
                <c:pt idx="3">
                  <c:v>100.47700000000003</c:v>
                </c:pt>
                <c:pt idx="4">
                  <c:v>27.127000000000002</c:v>
                </c:pt>
                <c:pt idx="5">
                  <c:v>26.101</c:v>
                </c:pt>
                <c:pt idx="6">
                  <c:v>30.901999999999994</c:v>
                </c:pt>
                <c:pt idx="7">
                  <c:v>37.096999999999994</c:v>
                </c:pt>
                <c:pt idx="8">
                  <c:v>1096.2279999999998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66.871</c:v>
                </c:pt>
                <c:pt idx="2">
                  <c:v>181.274</c:v>
                </c:pt>
                <c:pt idx="3">
                  <c:v>281.75100000000003</c:v>
                </c:pt>
                <c:pt idx="4">
                  <c:v>308.87800000000004</c:v>
                </c:pt>
                <c:pt idx="5">
                  <c:v>334.97900000000004</c:v>
                </c:pt>
                <c:pt idx="6">
                  <c:v>365.88100000000003</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66.871</c:v>
                </c:pt>
                <c:pt idx="1">
                  <c:v>114.40300000000002</c:v>
                </c:pt>
                <c:pt idx="2">
                  <c:v>100.47700000000003</c:v>
                </c:pt>
                <c:pt idx="3">
                  <c:v>27.127000000000002</c:v>
                </c:pt>
                <c:pt idx="4">
                  <c:v>26.101</c:v>
                </c:pt>
                <c:pt idx="5">
                  <c:v>30.901999999999994</c:v>
                </c:pt>
                <c:pt idx="6">
                  <c:v>37.096999999999994</c:v>
                </c:pt>
                <c:pt idx="7">
                  <c:v>402.978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693.25</c:v>
                </c:pt>
                <c:pt idx="2">
                  <c:v>778.552</c:v>
                </c:pt>
                <c:pt idx="3">
                  <c:v>895.59</c:v>
                </c:pt>
                <c:pt idx="4">
                  <c:v>1043.8960000000002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693.25</c:v>
                </c:pt>
                <c:pt idx="1">
                  <c:v>85.30200000000002</c:v>
                </c:pt>
                <c:pt idx="2">
                  <c:v>117.03799999999998</c:v>
                </c:pt>
                <c:pt idx="3">
                  <c:v>148.30600000000004</c:v>
                </c:pt>
                <c:pt idx="4">
                  <c:v>52.331</c:v>
                </c:pt>
                <c:pt idx="5">
                  <c:v>1096.2269999999999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85.30200000000002</c:v>
                </c:pt>
                <c:pt idx="2">
                  <c:v>202.34</c:v>
                </c:pt>
                <c:pt idx="3">
                  <c:v>350.6460000000001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85.30200000000002</c:v>
                </c:pt>
                <c:pt idx="1">
                  <c:v>117.03799999999998</c:v>
                </c:pt>
                <c:pt idx="2">
                  <c:v>148.30600000000004</c:v>
                </c:pt>
                <c:pt idx="3">
                  <c:v>52.331</c:v>
                </c:pt>
                <c:pt idx="4">
                  <c:v>402.9770000000001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693.25</c:v>
                </c:pt>
                <c:pt idx="2">
                  <c:v>1031.12</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693.25</c:v>
                </c:pt>
                <c:pt idx="1">
                  <c:v>337.87</c:v>
                </c:pt>
                <c:pt idx="2">
                  <c:v>65.10500000000002</c:v>
                </c:pt>
                <c:pt idx="3">
                  <c:v>1096.225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337.87</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337.87</c:v>
                </c:pt>
                <c:pt idx="1">
                  <c:v>65.10500000000002</c:v>
                </c:pt>
                <c:pt idx="2">
                  <c:v>402.975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693.251</c:v>
                </c:pt>
                <c:pt idx="2">
                  <c:v>778.553</c:v>
                </c:pt>
                <c:pt idx="3">
                  <c:v>895.5899999999999</c:v>
                </c:pt>
                <c:pt idx="4">
                  <c:v>1043.895</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693.251</c:v>
                </c:pt>
                <c:pt idx="1">
                  <c:v>85.30199999999999</c:v>
                </c:pt>
                <c:pt idx="2">
                  <c:v>117.03699999999998</c:v>
                </c:pt>
                <c:pt idx="3">
                  <c:v>148.30500000000004</c:v>
                </c:pt>
                <c:pt idx="4">
                  <c:v>52.33</c:v>
                </c:pt>
                <c:pt idx="5">
                  <c:v>1096.225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85.30199999999999</c:v>
                </c:pt>
                <c:pt idx="2">
                  <c:v>202.33899999999997</c:v>
                </c:pt>
                <c:pt idx="3">
                  <c:v>350.644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85.30199999999999</c:v>
                </c:pt>
                <c:pt idx="1">
                  <c:v>117.03699999999998</c:v>
                </c:pt>
                <c:pt idx="2">
                  <c:v>148.30500000000004</c:v>
                </c:pt>
                <c:pt idx="3">
                  <c:v>52.33</c:v>
                </c:pt>
                <c:pt idx="4">
                  <c:v>402.974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2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526.185</c:v>
                </c:pt>
                <c:pt idx="1">
                  <c:v>545.619</c:v>
                </c:pt>
                <c:pt idx="2">
                  <c:v>566.1320000000001</c:v>
                </c:pt>
                <c:pt idx="3">
                  <c:v>587.9399999999999</c:v>
                </c:pt>
                <c:pt idx="4">
                  <c:v>611.384</c:v>
                </c:pt>
                <c:pt idx="5">
                  <c:v>637.05</c:v>
                </c:pt>
                <c:pt idx="6">
                  <c:v>665.039</c:v>
                </c:pt>
                <c:pt idx="7">
                  <c:v>695.557</c:v>
                </c:pt>
                <c:pt idx="8">
                  <c:v>728.672</c:v>
                </c:pt>
                <c:pt idx="9">
                  <c:v>764.347</c:v>
                </c:pt>
                <c:pt idx="10">
                  <c:v>802.254</c:v>
                </c:pt>
                <c:pt idx="11">
                  <c:v>841.957</c:v>
                </c:pt>
                <c:pt idx="12">
                  <c:v>883.133</c:v>
                </c:pt>
                <c:pt idx="13">
                  <c:v>925.505</c:v>
                </c:pt>
                <c:pt idx="14">
                  <c:v>968.5930000000001</c:v>
                </c:pt>
                <c:pt idx="15">
                  <c:v>1012.2959999999999</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Russia</c:v>
                </c:pt>
              </c:strCache>
            </c:strRef>
          </c:cat>
          <c:val>
            <c:numRef>
              <c:f>Sheet1!$B$2:$B$3</c:f>
              <c:numCache>
                <c:formatCode>General</c:formatCode>
                <c:ptCount val="2"/>
                <c:pt idx="0">
                  <c:v>0.05239999740743384</c:v>
                </c:pt>
                <c:pt idx="1">
                  <c:v>0.04740200295951502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073999650003569"/>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637.05</c:v>
                </c:pt>
                <c:pt idx="2">
                  <c:v>665.039</c:v>
                </c:pt>
                <c:pt idx="3">
                  <c:v>695.557</c:v>
                </c:pt>
                <c:pt idx="4">
                  <c:v>728.672</c:v>
                </c:pt>
                <c:pt idx="5">
                  <c:v>764.347</c:v>
                </c:pt>
                <c:pt idx="6">
                  <c:v>802.254</c:v>
                </c:pt>
                <c:pt idx="7">
                  <c:v>841.957</c:v>
                </c:pt>
                <c:pt idx="8">
                  <c:v>883.133</c:v>
                </c:pt>
                <c:pt idx="9">
                  <c:v>925.505</c:v>
                </c:pt>
                <c:pt idx="10">
                  <c:v>968.5930000000001</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637.05</c:v>
                </c:pt>
                <c:pt idx="1">
                  <c:v>27.989000000000033</c:v>
                </c:pt>
                <c:pt idx="2">
                  <c:v>30.51800000000003</c:v>
                </c:pt>
                <c:pt idx="3">
                  <c:v>33.11500000000001</c:v>
                </c:pt>
                <c:pt idx="4">
                  <c:v>35.674999999999955</c:v>
                </c:pt>
                <c:pt idx="5">
                  <c:v>37.90700000000004</c:v>
                </c:pt>
                <c:pt idx="6">
                  <c:v>39.702999999999975</c:v>
                </c:pt>
                <c:pt idx="7">
                  <c:v>41.176000000000045</c:v>
                </c:pt>
                <c:pt idx="8">
                  <c:v>42.37199999999996</c:v>
                </c:pt>
                <c:pt idx="9">
                  <c:v>43.08800000000008</c:v>
                </c:pt>
                <c:pt idx="10">
                  <c:v>43.70299999999986</c:v>
                </c:pt>
                <c:pt idx="11">
                  <c:v>1012.2959999999999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Russia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8.086431968678387</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91.91356803132162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1426.549</c:v>
                </c:pt>
                <c:pt idx="1">
                  <c:v>1484.2350000000001</c:v>
                </c:pt>
                <c:pt idx="2">
                  <c:v>1545.8149999999998</c:v>
                </c:pt>
                <c:pt idx="3">
                  <c:v>1612.782</c:v>
                </c:pt>
                <c:pt idx="4">
                  <c:v>1685.345</c:v>
                </c:pt>
                <c:pt idx="5">
                  <c:v>1772.032</c:v>
                </c:pt>
                <c:pt idx="6">
                  <c:v>1867.8990000000001</c:v>
                </c:pt>
                <c:pt idx="7">
                  <c:v>1973.9959999999999</c:v>
                </c:pt>
                <c:pt idx="8">
                  <c:v>2090.877</c:v>
                </c:pt>
                <c:pt idx="9">
                  <c:v>2219.7219999999998</c:v>
                </c:pt>
                <c:pt idx="10">
                  <c:v>2359.939</c:v>
                </c:pt>
                <c:pt idx="11">
                  <c:v>2510.941</c:v>
                </c:pt>
                <c:pt idx="12">
                  <c:v>2671.9230000000002</c:v>
                </c:pt>
                <c:pt idx="13">
                  <c:v>2842.688</c:v>
                </c:pt>
                <c:pt idx="14">
                  <c:v>3022.75</c:v>
                </c:pt>
                <c:pt idx="15">
                  <c:v>3211.8779999999997</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Russia</c:v>
                </c:pt>
              </c:strCache>
            </c:strRef>
          </c:cat>
          <c:val>
            <c:numRef>
              <c:f>Sheet1!$B$2:$B$3</c:f>
              <c:numCache>
                <c:formatCode>General</c:formatCode>
                <c:ptCount val="2"/>
                <c:pt idx="0">
                  <c:v>0.06569916400258924</c:v>
                </c:pt>
                <c:pt idx="1">
                  <c:v>0.061276989591867004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6938714034954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1772.032</c:v>
                </c:pt>
                <c:pt idx="2">
                  <c:v>1867.8990000000001</c:v>
                </c:pt>
                <c:pt idx="3">
                  <c:v>1973.9959999999999</c:v>
                </c:pt>
                <c:pt idx="4">
                  <c:v>2090.877</c:v>
                </c:pt>
                <c:pt idx="5">
                  <c:v>2219.7219999999998</c:v>
                </c:pt>
                <c:pt idx="6">
                  <c:v>2359.939</c:v>
                </c:pt>
                <c:pt idx="7">
                  <c:v>2510.941</c:v>
                </c:pt>
                <c:pt idx="8">
                  <c:v>2671.9230000000002</c:v>
                </c:pt>
                <c:pt idx="9">
                  <c:v>2842.688</c:v>
                </c:pt>
                <c:pt idx="10">
                  <c:v>3022.75</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1772.032</c:v>
                </c:pt>
                <c:pt idx="1">
                  <c:v>95.86700000000019</c:v>
                </c:pt>
                <c:pt idx="2">
                  <c:v>106.09699999999975</c:v>
                </c:pt>
                <c:pt idx="3">
                  <c:v>116.88100000000009</c:v>
                </c:pt>
                <c:pt idx="4">
                  <c:v>128.8449999999998</c:v>
                </c:pt>
                <c:pt idx="5">
                  <c:v>140.2170000000001</c:v>
                </c:pt>
                <c:pt idx="6">
                  <c:v>151.00199999999995</c:v>
                </c:pt>
                <c:pt idx="7">
                  <c:v>160.98200000000043</c:v>
                </c:pt>
                <c:pt idx="8">
                  <c:v>170.76499999999987</c:v>
                </c:pt>
                <c:pt idx="9">
                  <c:v>180.0619999999999</c:v>
                </c:pt>
                <c:pt idx="10">
                  <c:v>189.1279999999997</c:v>
                </c:pt>
                <c:pt idx="11">
                  <c:v>3211.8779999999997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Russia</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6.77879089288185</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93.22120910711816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0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104.981</c:v>
                </c:pt>
                <c:pt idx="8">
                  <c:v>196.81799999999998</c:v>
                </c:pt>
                <c:pt idx="9">
                  <c:v>510.317</c:v>
                </c:pt>
                <c:pt idx="10">
                  <c:v>959.916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86.2874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Aluminum Foil-Based</c:v>
                </c:pt>
                <c:pt idx="3">
                  <c:v>Other Specialty Barri…</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35.569</c:v>
                </c:pt>
                <c:pt idx="1">
                  <c:v>53.852</c:v>
                </c:pt>
                <c:pt idx="2">
                  <c:v>54.756</c:v>
                </c:pt>
                <c:pt idx="3">
                  <c:v>59.301</c:v>
                </c:pt>
                <c:pt idx="4">
                  <c:v>91.162</c:v>
                </c:pt>
                <c:pt idx="5">
                  <c:v>110.99</c:v>
                </c:pt>
                <c:pt idx="6">
                  <c:v>140.06</c:v>
                </c:pt>
                <c:pt idx="7">
                  <c:v>144.425</c:v>
                </c:pt>
                <c:pt idx="8">
                  <c:v>174.319</c:v>
                </c:pt>
                <c:pt idx="9">
                  <c:v>355.163</c:v>
                </c:pt>
                <c:pt idx="10">
                  <c:v>552.436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40.26424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118.23</c:v>
                </c:pt>
                <c:pt idx="5">
                  <c:v>123.298</c:v>
                </c:pt>
                <c:pt idx="6">
                  <c:v>137.217</c:v>
                </c:pt>
                <c:pt idx="7">
                  <c:v>143.26500000000001</c:v>
                </c:pt>
                <c:pt idx="8">
                  <c:v>281.968</c:v>
                </c:pt>
                <c:pt idx="9">
                  <c:v>447.666</c:v>
                </c:pt>
                <c:pt idx="10">
                  <c:v>520.389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697.3212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227.267</c:v>
                </c:pt>
                <c:pt idx="8">
                  <c:v>388.81</c:v>
                </c:pt>
                <c:pt idx="9">
                  <c:v>570.402</c:v>
                </c:pt>
                <c:pt idx="10">
                  <c:v>585.554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84.6423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292.28</c:v>
                </c:pt>
                <c:pt idx="10">
                  <c:v>1479.751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982.86634"/>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227.268</c:v>
                </c:pt>
                <c:pt idx="8">
                  <c:v>388.80899999999997</c:v>
                </c:pt>
                <c:pt idx="9">
                  <c:v>570.401</c:v>
                </c:pt>
                <c:pt idx="10">
                  <c:v>585.554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784.6423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1772.032</c:v>
                </c:pt>
                <c:pt idx="2">
                  <c:v>2570.5409999999997</c:v>
                </c:pt>
                <c:pt idx="3">
                  <c:v>2716.3259999999996</c:v>
                </c:pt>
                <c:pt idx="4">
                  <c:v>3133.1499999999996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1772.032</c:v>
                </c:pt>
                <c:pt idx="1">
                  <c:v>798.5089999999999</c:v>
                </c:pt>
                <c:pt idx="2">
                  <c:v>145.78500000000003</c:v>
                </c:pt>
                <c:pt idx="3">
                  <c:v>416.82399999999996</c:v>
                </c:pt>
                <c:pt idx="4">
                  <c:v>78.72800000000001</c:v>
                </c:pt>
                <c:pt idx="5">
                  <c:v>3211.8779999999997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798.5089999999999</c:v>
                </c:pt>
                <c:pt idx="2">
                  <c:v>944.2939999999999</c:v>
                </c:pt>
                <c:pt idx="3">
                  <c:v>1361.118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798.5089999999999</c:v>
                </c:pt>
                <c:pt idx="1">
                  <c:v>145.78500000000003</c:v>
                </c:pt>
                <c:pt idx="2">
                  <c:v>416.82399999999996</c:v>
                </c:pt>
                <c:pt idx="3">
                  <c:v>78.72800000000001</c:v>
                </c:pt>
                <c:pt idx="4">
                  <c:v>1439.846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1772.0330000000001</c:v>
                </c:pt>
                <c:pt idx="2">
                  <c:v>2226.9700000000003</c:v>
                </c:pt>
                <c:pt idx="3">
                  <c:v>2512.545</c:v>
                </c:pt>
                <c:pt idx="4">
                  <c:v>2656.963</c:v>
                </c:pt>
                <c:pt idx="5">
                  <c:v>2772.0530000000003</c:v>
                </c:pt>
                <c:pt idx="6">
                  <c:v>2890.1690000000003</c:v>
                </c:pt>
                <c:pt idx="7">
                  <c:v>2954.8140000000003</c:v>
                </c:pt>
                <c:pt idx="8">
                  <c:v>2984.5930000000003</c:v>
                </c:pt>
                <c:pt idx="9">
                  <c:v>3073.157</c:v>
                </c:pt>
                <c:pt idx="10">
                  <c:v>3118.552</c:v>
                </c:pt>
                <c:pt idx="11">
                  <c:v>3158.1220000000003</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1772.0330000000001</c:v>
                </c:pt>
                <c:pt idx="1">
                  <c:v>454.937</c:v>
                </c:pt>
                <c:pt idx="2">
                  <c:v>285.57500000000005</c:v>
                </c:pt>
                <c:pt idx="3">
                  <c:v>144.41800000000003</c:v>
                </c:pt>
                <c:pt idx="4">
                  <c:v>115.08999999999997</c:v>
                </c:pt>
                <c:pt idx="5">
                  <c:v>118.11599999999999</c:v>
                </c:pt>
                <c:pt idx="6">
                  <c:v>64.64499999999998</c:v>
                </c:pt>
                <c:pt idx="7">
                  <c:v>29.778999999999996</c:v>
                </c:pt>
                <c:pt idx="8">
                  <c:v>88.56400000000001</c:v>
                </c:pt>
                <c:pt idx="9">
                  <c:v>45.395</c:v>
                </c:pt>
                <c:pt idx="10">
                  <c:v>39.56999999999999</c:v>
                </c:pt>
                <c:pt idx="11">
                  <c:v>53.757999999999996</c:v>
                </c:pt>
                <c:pt idx="12">
                  <c:v>3211.8800000000006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454.937</c:v>
                </c:pt>
                <c:pt idx="2">
                  <c:v>740.5120000000001</c:v>
                </c:pt>
                <c:pt idx="3">
                  <c:v>884.9300000000001</c:v>
                </c:pt>
                <c:pt idx="4">
                  <c:v>1000.02</c:v>
                </c:pt>
                <c:pt idx="5">
                  <c:v>1118.136</c:v>
                </c:pt>
                <c:pt idx="6">
                  <c:v>1182.781</c:v>
                </c:pt>
                <c:pt idx="7">
                  <c:v>1212.56</c:v>
                </c:pt>
                <c:pt idx="8">
                  <c:v>1301.124</c:v>
                </c:pt>
                <c:pt idx="9">
                  <c:v>1346.519</c:v>
                </c:pt>
                <c:pt idx="10">
                  <c:v>1386.089</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454.937</c:v>
                </c:pt>
                <c:pt idx="1">
                  <c:v>285.57500000000005</c:v>
                </c:pt>
                <c:pt idx="2">
                  <c:v>144.41800000000003</c:v>
                </c:pt>
                <c:pt idx="3">
                  <c:v>115.08999999999997</c:v>
                </c:pt>
                <c:pt idx="4">
                  <c:v>118.11599999999999</c:v>
                </c:pt>
                <c:pt idx="5">
                  <c:v>64.64499999999998</c:v>
                </c:pt>
                <c:pt idx="6">
                  <c:v>29.778999999999996</c:v>
                </c:pt>
                <c:pt idx="7">
                  <c:v>88.56400000000001</c:v>
                </c:pt>
                <c:pt idx="8">
                  <c:v>45.395</c:v>
                </c:pt>
                <c:pt idx="9">
                  <c:v>39.56999999999999</c:v>
                </c:pt>
                <c:pt idx="10">
                  <c:v>53.757999999999996</c:v>
                </c:pt>
                <c:pt idx="11">
                  <c:v>1439.847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1772.0330000000001</c:v>
                </c:pt>
                <c:pt idx="2">
                  <c:v>2013.7630000000001</c:v>
                </c:pt>
                <c:pt idx="3">
                  <c:v>2418.369</c:v>
                </c:pt>
                <c:pt idx="4">
                  <c:v>2779.606</c:v>
                </c:pt>
                <c:pt idx="5">
                  <c:v>2875.1160000000004</c:v>
                </c:pt>
                <c:pt idx="6">
                  <c:v>2969.3370000000004</c:v>
                </c:pt>
                <c:pt idx="7">
                  <c:v>3079.4480000000003</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1772.0330000000001</c:v>
                </c:pt>
                <c:pt idx="1">
                  <c:v>241.72999999999996</c:v>
                </c:pt>
                <c:pt idx="2">
                  <c:v>404.606</c:v>
                </c:pt>
                <c:pt idx="3">
                  <c:v>361.237</c:v>
                </c:pt>
                <c:pt idx="4">
                  <c:v>95.51</c:v>
                </c:pt>
                <c:pt idx="5">
                  <c:v>94.221</c:v>
                </c:pt>
                <c:pt idx="6">
                  <c:v>110.11099999999999</c:v>
                </c:pt>
                <c:pt idx="7">
                  <c:v>132.432</c:v>
                </c:pt>
                <c:pt idx="8">
                  <c:v>3211.8800000000006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241.72999999999996</c:v>
                </c:pt>
                <c:pt idx="2">
                  <c:v>646.336</c:v>
                </c:pt>
                <c:pt idx="3">
                  <c:v>1007.5730000000001</c:v>
                </c:pt>
                <c:pt idx="4">
                  <c:v>1103.083</c:v>
                </c:pt>
                <c:pt idx="5">
                  <c:v>1197.304</c:v>
                </c:pt>
                <c:pt idx="6">
                  <c:v>1307.415</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241.72999999999996</c:v>
                </c:pt>
                <c:pt idx="1">
                  <c:v>404.606</c:v>
                </c:pt>
                <c:pt idx="2">
                  <c:v>361.237</c:v>
                </c:pt>
                <c:pt idx="3">
                  <c:v>95.51</c:v>
                </c:pt>
                <c:pt idx="4">
                  <c:v>94.221</c:v>
                </c:pt>
                <c:pt idx="5">
                  <c:v>110.11099999999999</c:v>
                </c:pt>
                <c:pt idx="6">
                  <c:v>132.432</c:v>
                </c:pt>
                <c:pt idx="7">
                  <c:v>1439.847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1772.0330000000001</c:v>
                </c:pt>
                <c:pt idx="2">
                  <c:v>2074.3340000000003</c:v>
                </c:pt>
                <c:pt idx="3">
                  <c:v>2499.608</c:v>
                </c:pt>
                <c:pt idx="4">
                  <c:v>3024.822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1772.0330000000001</c:v>
                </c:pt>
                <c:pt idx="1">
                  <c:v>302.301</c:v>
                </c:pt>
                <c:pt idx="2">
                  <c:v>425.274</c:v>
                </c:pt>
                <c:pt idx="3">
                  <c:v>525.2139999999999</c:v>
                </c:pt>
                <c:pt idx="4">
                  <c:v>187.05900000000003</c:v>
                </c:pt>
                <c:pt idx="5">
                  <c:v>3211.881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302.301</c:v>
                </c:pt>
                <c:pt idx="2">
                  <c:v>727.575</c:v>
                </c:pt>
                <c:pt idx="3">
                  <c:v>1252.789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302.301</c:v>
                </c:pt>
                <c:pt idx="1">
                  <c:v>425.274</c:v>
                </c:pt>
                <c:pt idx="2">
                  <c:v>525.2139999999999</c:v>
                </c:pt>
                <c:pt idx="3">
                  <c:v>187.05900000000003</c:v>
                </c:pt>
                <c:pt idx="4">
                  <c:v>1439.848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1772.031</c:v>
                </c:pt>
                <c:pt idx="2">
                  <c:v>2975.2690000000002</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1772.031</c:v>
                </c:pt>
                <c:pt idx="1">
                  <c:v>1203.238</c:v>
                </c:pt>
                <c:pt idx="2">
                  <c:v>236.61300000000006</c:v>
                </c:pt>
                <c:pt idx="3">
                  <c:v>3211.882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1203.238</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1203.238</c:v>
                </c:pt>
                <c:pt idx="1">
                  <c:v>236.61300000000006</c:v>
                </c:pt>
                <c:pt idx="2">
                  <c:v>1439.851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1772.032</c:v>
                </c:pt>
                <c:pt idx="2">
                  <c:v>2074.334</c:v>
                </c:pt>
                <c:pt idx="3">
                  <c:v>2499.607</c:v>
                </c:pt>
                <c:pt idx="4">
                  <c:v>3024.821</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1772.032</c:v>
                </c:pt>
                <c:pt idx="1">
                  <c:v>302.302</c:v>
                </c:pt>
                <c:pt idx="2">
                  <c:v>425.273</c:v>
                </c:pt>
                <c:pt idx="3">
                  <c:v>525.214</c:v>
                </c:pt>
                <c:pt idx="4">
                  <c:v>187.05800000000002</c:v>
                </c:pt>
                <c:pt idx="5">
                  <c:v>3211.879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302.302</c:v>
                </c:pt>
                <c:pt idx="2">
                  <c:v>727.575</c:v>
                </c:pt>
                <c:pt idx="3">
                  <c:v>1252.7890000000002</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302.302</c:v>
                </c:pt>
                <c:pt idx="1">
                  <c:v>425.273</c:v>
                </c:pt>
                <c:pt idx="2">
                  <c:v>525.214</c:v>
                </c:pt>
                <c:pt idx="3">
                  <c:v>187.05800000000002</c:v>
                </c:pt>
                <c:pt idx="4">
                  <c:v>1439.8470000000002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325.23199999999997</c:v>
                </c:pt>
                <c:pt idx="1">
                  <c:v>342.666</c:v>
                </c:pt>
                <c:pt idx="2">
                  <c:v>361.082</c:v>
                </c:pt>
                <c:pt idx="3">
                  <c:v>380.46700000000004</c:v>
                </c:pt>
                <c:pt idx="4">
                  <c:v>400.99</c:v>
                </c:pt>
                <c:pt idx="5">
                  <c:v>423.414</c:v>
                </c:pt>
                <c:pt idx="6">
                  <c:v>447.921</c:v>
                </c:pt>
                <c:pt idx="7">
                  <c:v>475.01800000000003</c:v>
                </c:pt>
                <c:pt idx="8">
                  <c:v>505.095</c:v>
                </c:pt>
                <c:pt idx="9">
                  <c:v>538.4789999999999</c:v>
                </c:pt>
                <c:pt idx="10">
                  <c:v>574.975</c:v>
                </c:pt>
                <c:pt idx="11">
                  <c:v>614.389</c:v>
                </c:pt>
                <c:pt idx="12">
                  <c:v>656.224</c:v>
                </c:pt>
                <c:pt idx="13">
                  <c:v>700.126</c:v>
                </c:pt>
                <c:pt idx="14">
                  <c:v>745.58</c:v>
                </c:pt>
                <c:pt idx="15">
                  <c:v>792.535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Poland</c:v>
                </c:pt>
              </c:strCache>
            </c:strRef>
          </c:cat>
          <c:val>
            <c:numRef>
              <c:f>Sheet1!$B$2:$B$3</c:f>
              <c:numCache>
                <c:formatCode>General</c:formatCode>
                <c:ptCount val="2"/>
                <c:pt idx="0">
                  <c:v>0.05239999740743384</c:v>
                </c:pt>
                <c:pt idx="1">
                  <c:v>0.06469526759115762</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73386112480628"/>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423.414</c:v>
                </c:pt>
                <c:pt idx="2">
                  <c:v>447.921</c:v>
                </c:pt>
                <c:pt idx="3">
                  <c:v>475.01800000000003</c:v>
                </c:pt>
                <c:pt idx="4">
                  <c:v>505.095</c:v>
                </c:pt>
                <c:pt idx="5">
                  <c:v>538.4789999999999</c:v>
                </c:pt>
                <c:pt idx="6">
                  <c:v>574.975</c:v>
                </c:pt>
                <c:pt idx="7">
                  <c:v>614.389</c:v>
                </c:pt>
                <c:pt idx="8">
                  <c:v>656.224</c:v>
                </c:pt>
                <c:pt idx="9">
                  <c:v>700.126</c:v>
                </c:pt>
                <c:pt idx="10">
                  <c:v>745.58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423.414</c:v>
                </c:pt>
                <c:pt idx="1">
                  <c:v>24.507000000000005</c:v>
                </c:pt>
                <c:pt idx="2">
                  <c:v>27.097000000000037</c:v>
                </c:pt>
                <c:pt idx="3">
                  <c:v>30.076999999999998</c:v>
                </c:pt>
                <c:pt idx="4">
                  <c:v>33.3839999999999</c:v>
                </c:pt>
                <c:pt idx="5">
                  <c:v>36.496000000000095</c:v>
                </c:pt>
                <c:pt idx="6">
                  <c:v>39.41399999999999</c:v>
                </c:pt>
                <c:pt idx="7">
                  <c:v>41.835000000000036</c:v>
                </c:pt>
                <c:pt idx="8">
                  <c:v>43.90199999999993</c:v>
                </c:pt>
                <c:pt idx="9">
                  <c:v>45.454000000000065</c:v>
                </c:pt>
                <c:pt idx="10">
                  <c:v>46.95499999999993</c:v>
                </c:pt>
                <c:pt idx="11">
                  <c:v>792.535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Poland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5.374630728492255</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94.62536927150775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909.062</c:v>
                </c:pt>
                <c:pt idx="1">
                  <c:v>961.304</c:v>
                </c:pt>
                <c:pt idx="2">
                  <c:v>1016.9399999999999</c:v>
                </c:pt>
                <c:pt idx="3">
                  <c:v>1076.5069999999998</c:v>
                </c:pt>
                <c:pt idx="4">
                  <c:v>1140.0859999999998</c:v>
                </c:pt>
                <c:pt idx="5">
                  <c:v>1214.379</c:v>
                </c:pt>
                <c:pt idx="6">
                  <c:v>1296.8929999999998</c:v>
                </c:pt>
                <c:pt idx="7">
                  <c:v>1389.414</c:v>
                </c:pt>
                <c:pt idx="8">
                  <c:v>1493.3809999999999</c:v>
                </c:pt>
                <c:pt idx="9">
                  <c:v>1610.47</c:v>
                </c:pt>
                <c:pt idx="10">
                  <c:v>1740.8560000000002</c:v>
                </c:pt>
                <c:pt idx="11">
                  <c:v>1884.947</c:v>
                </c:pt>
                <c:pt idx="12">
                  <c:v>2041.698</c:v>
                </c:pt>
                <c:pt idx="13">
                  <c:v>2210.838</c:v>
                </c:pt>
                <c:pt idx="14">
                  <c:v>2391.489</c:v>
                </c:pt>
                <c:pt idx="15">
                  <c:v>2583.9780000000005</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Poland</c:v>
                </c:pt>
              </c:strCache>
            </c:strRef>
          </c:cat>
          <c:val>
            <c:numRef>
              <c:f>Sheet1!$B$2:$B$3</c:f>
              <c:numCache>
                <c:formatCode>General</c:formatCode>
                <c:ptCount val="2"/>
                <c:pt idx="0">
                  <c:v>0.06569916400258924</c:v>
                </c:pt>
                <c:pt idx="1">
                  <c:v>0.07843371402570831</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10588551393470623"/>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1214.379</c:v>
                </c:pt>
                <c:pt idx="2">
                  <c:v>1296.8929999999998</c:v>
                </c:pt>
                <c:pt idx="3">
                  <c:v>1389.414</c:v>
                </c:pt>
                <c:pt idx="4">
                  <c:v>1493.3809999999999</c:v>
                </c:pt>
                <c:pt idx="5">
                  <c:v>1610.47</c:v>
                </c:pt>
                <c:pt idx="6">
                  <c:v>1740.8560000000002</c:v>
                </c:pt>
                <c:pt idx="7">
                  <c:v>1884.947</c:v>
                </c:pt>
                <c:pt idx="8">
                  <c:v>2041.698</c:v>
                </c:pt>
                <c:pt idx="9">
                  <c:v>2210.838</c:v>
                </c:pt>
                <c:pt idx="10">
                  <c:v>2391.489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1214.379</c:v>
                </c:pt>
                <c:pt idx="1">
                  <c:v>82.5139999999999</c:v>
                </c:pt>
                <c:pt idx="2">
                  <c:v>92.52100000000019</c:v>
                </c:pt>
                <c:pt idx="3">
                  <c:v>103.96699999999987</c:v>
                </c:pt>
                <c:pt idx="4">
                  <c:v>117.08900000000017</c:v>
                </c:pt>
                <c:pt idx="5">
                  <c:v>130.3860000000002</c:v>
                </c:pt>
                <c:pt idx="6">
                  <c:v>144.09099999999967</c:v>
                </c:pt>
                <c:pt idx="7">
                  <c:v>156.7510000000002</c:v>
                </c:pt>
                <c:pt idx="8">
                  <c:v>169.1400000000001</c:v>
                </c:pt>
                <c:pt idx="9">
                  <c:v>180.65099999999984</c:v>
                </c:pt>
                <c:pt idx="10">
                  <c:v>192.4890000000005</c:v>
                </c:pt>
                <c:pt idx="11">
                  <c:v>2583.9780000000005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Poland</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4.645526325544329</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95.35447367445568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74.146</c:v>
                </c:pt>
                <c:pt idx="8">
                  <c:v>135.207</c:v>
                </c:pt>
                <c:pt idx="9">
                  <c:v>349.039</c:v>
                </c:pt>
                <c:pt idx="10">
                  <c:v>655.987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879.0225800000001"/>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Aluminum Foil-Based</c:v>
                </c:pt>
                <c:pt idx="3">
                  <c:v>Other Specialty Barri…</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24.697</c:v>
                </c:pt>
                <c:pt idx="1">
                  <c:v>36.889</c:v>
                </c:pt>
                <c:pt idx="2">
                  <c:v>37.681</c:v>
                </c:pt>
                <c:pt idx="3">
                  <c:v>42.88</c:v>
                </c:pt>
                <c:pt idx="4">
                  <c:v>62.033</c:v>
                </c:pt>
                <c:pt idx="5">
                  <c:v>75.731</c:v>
                </c:pt>
                <c:pt idx="6">
                  <c:v>96.594</c:v>
                </c:pt>
                <c:pt idx="7">
                  <c:v>99.083</c:v>
                </c:pt>
                <c:pt idx="8">
                  <c:v>116.667</c:v>
                </c:pt>
                <c:pt idx="9">
                  <c:v>245.957</c:v>
                </c:pt>
                <c:pt idx="10">
                  <c:v>376.167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04.0637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81.565</c:v>
                </c:pt>
                <c:pt idx="5">
                  <c:v>82.666</c:v>
                </c:pt>
                <c:pt idx="6">
                  <c:v>95.294</c:v>
                </c:pt>
                <c:pt idx="7">
                  <c:v>100.207</c:v>
                </c:pt>
                <c:pt idx="8">
                  <c:v>195.556</c:v>
                </c:pt>
                <c:pt idx="9">
                  <c:v>306.46700000000004</c:v>
                </c:pt>
                <c:pt idx="10">
                  <c:v>352.623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472.51482000000004"/>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157.87</c:v>
                </c:pt>
                <c:pt idx="8">
                  <c:v>260.131</c:v>
                </c:pt>
                <c:pt idx="9">
                  <c:v>394.594</c:v>
                </c:pt>
                <c:pt idx="10">
                  <c:v>401.784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38.3905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202.724</c:v>
                </c:pt>
                <c:pt idx="10">
                  <c:v>1011.655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355.6177"/>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157.869</c:v>
                </c:pt>
                <c:pt idx="8">
                  <c:v>260.132</c:v>
                </c:pt>
                <c:pt idx="9">
                  <c:v>394.594</c:v>
                </c:pt>
                <c:pt idx="10">
                  <c:v>401.783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538.3892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1214.379</c:v>
                </c:pt>
                <c:pt idx="2">
                  <c:v>1954.9189999999999</c:v>
                </c:pt>
                <c:pt idx="3">
                  <c:v>2104.255</c:v>
                </c:pt>
                <c:pt idx="4">
                  <c:v>2503.806</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1214.379</c:v>
                </c:pt>
                <c:pt idx="1">
                  <c:v>740.5400000000001</c:v>
                </c:pt>
                <c:pt idx="2">
                  <c:v>149.336</c:v>
                </c:pt>
                <c:pt idx="3">
                  <c:v>399.55100000000004</c:v>
                </c:pt>
                <c:pt idx="4">
                  <c:v>80.17200000000001</c:v>
                </c:pt>
                <c:pt idx="5">
                  <c:v>2583.9780000000005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740.5400000000001</c:v>
                </c:pt>
                <c:pt idx="2">
                  <c:v>889.8760000000001</c:v>
                </c:pt>
                <c:pt idx="3">
                  <c:v>1289.4270000000001</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740.5400000000001</c:v>
                </c:pt>
                <c:pt idx="1">
                  <c:v>149.336</c:v>
                </c:pt>
                <c:pt idx="2">
                  <c:v>399.55100000000004</c:v>
                </c:pt>
                <c:pt idx="3">
                  <c:v>80.17200000000001</c:v>
                </c:pt>
                <c:pt idx="4">
                  <c:v>1369.5990000000002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1214.3790000000001</c:v>
                </c:pt>
                <c:pt idx="2">
                  <c:v>1646.8300000000002</c:v>
                </c:pt>
                <c:pt idx="3">
                  <c:v>1915.3470000000002</c:v>
                </c:pt>
                <c:pt idx="4">
                  <c:v>2054.5170000000003</c:v>
                </c:pt>
                <c:pt idx="5">
                  <c:v>2163.7960000000003</c:v>
                </c:pt>
                <c:pt idx="6">
                  <c:v>2274.4170000000004</c:v>
                </c:pt>
                <c:pt idx="7">
                  <c:v>2337.5800000000004</c:v>
                </c:pt>
                <c:pt idx="8">
                  <c:v>2365.3300000000004</c:v>
                </c:pt>
                <c:pt idx="9">
                  <c:v>2449.8020000000006</c:v>
                </c:pt>
                <c:pt idx="10">
                  <c:v>2492.5610000000006</c:v>
                </c:pt>
                <c:pt idx="11">
                  <c:v>2530.6840000000007</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1214.3790000000001</c:v>
                </c:pt>
                <c:pt idx="1">
                  <c:v>432.4510000000001</c:v>
                </c:pt>
                <c:pt idx="2">
                  <c:v>268.51700000000005</c:v>
                </c:pt>
                <c:pt idx="3">
                  <c:v>139.17</c:v>
                </c:pt>
                <c:pt idx="4">
                  <c:v>109.279</c:v>
                </c:pt>
                <c:pt idx="5">
                  <c:v>110.62100000000001</c:v>
                </c:pt>
                <c:pt idx="6">
                  <c:v>63.163</c:v>
                </c:pt>
                <c:pt idx="7">
                  <c:v>27.750000000000004</c:v>
                </c:pt>
                <c:pt idx="8">
                  <c:v>84.47200000000001</c:v>
                </c:pt>
                <c:pt idx="9">
                  <c:v>42.75899999999999</c:v>
                </c:pt>
                <c:pt idx="10">
                  <c:v>38.123000000000005</c:v>
                </c:pt>
                <c:pt idx="11">
                  <c:v>53.294999999999995</c:v>
                </c:pt>
                <c:pt idx="12">
                  <c:v>2583.9790000000007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432.4510000000001</c:v>
                </c:pt>
                <c:pt idx="2">
                  <c:v>700.9680000000001</c:v>
                </c:pt>
                <c:pt idx="3">
                  <c:v>840.138</c:v>
                </c:pt>
                <c:pt idx="4">
                  <c:v>949.417</c:v>
                </c:pt>
                <c:pt idx="5">
                  <c:v>1060.038</c:v>
                </c:pt>
                <c:pt idx="6">
                  <c:v>1123.201</c:v>
                </c:pt>
                <c:pt idx="7">
                  <c:v>1150.951</c:v>
                </c:pt>
                <c:pt idx="8">
                  <c:v>1235.423</c:v>
                </c:pt>
                <c:pt idx="9">
                  <c:v>1278.182</c:v>
                </c:pt>
                <c:pt idx="10">
                  <c:v>1316.305</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432.4510000000001</c:v>
                </c:pt>
                <c:pt idx="1">
                  <c:v>268.51700000000005</c:v>
                </c:pt>
                <c:pt idx="2">
                  <c:v>139.17</c:v>
                </c:pt>
                <c:pt idx="3">
                  <c:v>109.279</c:v>
                </c:pt>
                <c:pt idx="4">
                  <c:v>110.62100000000001</c:v>
                </c:pt>
                <c:pt idx="5">
                  <c:v>63.163</c:v>
                </c:pt>
                <c:pt idx="6">
                  <c:v>27.750000000000004</c:v>
                </c:pt>
                <c:pt idx="7">
                  <c:v>84.47200000000001</c:v>
                </c:pt>
                <c:pt idx="8">
                  <c:v>42.75899999999999</c:v>
                </c:pt>
                <c:pt idx="9">
                  <c:v>38.123000000000005</c:v>
                </c:pt>
                <c:pt idx="10">
                  <c:v>53.294999999999995</c:v>
                </c:pt>
                <c:pt idx="11">
                  <c:v>1369.6000000000001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1214.3780000000002</c:v>
                </c:pt>
                <c:pt idx="2">
                  <c:v>1439.1560000000002</c:v>
                </c:pt>
                <c:pt idx="3">
                  <c:v>1829.2280000000003</c:v>
                </c:pt>
                <c:pt idx="4">
                  <c:v>2172.2250000000004</c:v>
                </c:pt>
                <c:pt idx="5">
                  <c:v>2262.271</c:v>
                </c:pt>
                <c:pt idx="6">
                  <c:v>2354.3</c:v>
                </c:pt>
                <c:pt idx="7">
                  <c:v>2457.574</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1214.3780000000002</c:v>
                </c:pt>
                <c:pt idx="1">
                  <c:v>224.778</c:v>
                </c:pt>
                <c:pt idx="2">
                  <c:v>390.07200000000006</c:v>
                </c:pt>
                <c:pt idx="3">
                  <c:v>342.9969999999999</c:v>
                </c:pt>
                <c:pt idx="4">
                  <c:v>90.04599999999999</c:v>
                </c:pt>
                <c:pt idx="5">
                  <c:v>92.029</c:v>
                </c:pt>
                <c:pt idx="6">
                  <c:v>103.27400000000002</c:v>
                </c:pt>
                <c:pt idx="7">
                  <c:v>126.40300000000002</c:v>
                </c:pt>
                <c:pt idx="8">
                  <c:v>2583.9770000000003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224.778</c:v>
                </c:pt>
                <c:pt idx="2">
                  <c:v>614.85</c:v>
                </c:pt>
                <c:pt idx="3">
                  <c:v>957.847</c:v>
                </c:pt>
                <c:pt idx="4">
                  <c:v>1047.893</c:v>
                </c:pt>
                <c:pt idx="5">
                  <c:v>1139.922</c:v>
                </c:pt>
                <c:pt idx="6">
                  <c:v>1243.1960000000001</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224.778</c:v>
                </c:pt>
                <c:pt idx="1">
                  <c:v>390.07200000000006</c:v>
                </c:pt>
                <c:pt idx="2">
                  <c:v>342.9969999999999</c:v>
                </c:pt>
                <c:pt idx="3">
                  <c:v>90.04599999999999</c:v>
                </c:pt>
                <c:pt idx="4">
                  <c:v>92.029</c:v>
                </c:pt>
                <c:pt idx="5">
                  <c:v>103.27400000000002</c:v>
                </c:pt>
                <c:pt idx="6">
                  <c:v>126.40300000000002</c:v>
                </c:pt>
                <c:pt idx="7">
                  <c:v>1369.5990000000002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1214.379</c:v>
                </c:pt>
                <c:pt idx="2">
                  <c:v>1509.23</c:v>
                </c:pt>
                <c:pt idx="3">
                  <c:v>1919.624</c:v>
                </c:pt>
                <c:pt idx="4">
                  <c:v>2404.059</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1214.379</c:v>
                </c:pt>
                <c:pt idx="1">
                  <c:v>294.851</c:v>
                </c:pt>
                <c:pt idx="2">
                  <c:v>410.394</c:v>
                </c:pt>
                <c:pt idx="3">
                  <c:v>484.435</c:v>
                </c:pt>
                <c:pt idx="4">
                  <c:v>179.92000000000002</c:v>
                </c:pt>
                <c:pt idx="5">
                  <c:v>2583.979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294.851</c:v>
                </c:pt>
                <c:pt idx="2">
                  <c:v>705.245</c:v>
                </c:pt>
                <c:pt idx="3">
                  <c:v>1189.68</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294.851</c:v>
                </c:pt>
                <c:pt idx="1">
                  <c:v>410.394</c:v>
                </c:pt>
                <c:pt idx="2">
                  <c:v>484.435</c:v>
                </c:pt>
                <c:pt idx="3">
                  <c:v>179.92000000000002</c:v>
                </c:pt>
                <c:pt idx="4">
                  <c:v>1369.6000000000001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1214.379</c:v>
                </c:pt>
                <c:pt idx="2">
                  <c:v>2356.861</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1214.379</c:v>
                </c:pt>
                <c:pt idx="1">
                  <c:v>1142.4820000000002</c:v>
                </c:pt>
                <c:pt idx="2">
                  <c:v>227.122</c:v>
                </c:pt>
                <c:pt idx="3">
                  <c:v>2583.983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1142.4820000000002</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1142.4820000000002</c:v>
                </c:pt>
                <c:pt idx="1">
                  <c:v>227.122</c:v>
                </c:pt>
                <c:pt idx="2">
                  <c:v>1369.6040000000003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1214.378</c:v>
                </c:pt>
                <c:pt idx="2">
                  <c:v>1509.2289999999998</c:v>
                </c:pt>
                <c:pt idx="3">
                  <c:v>1919.6219999999998</c:v>
                </c:pt>
                <c:pt idx="4">
                  <c:v>2404.057</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1214.378</c:v>
                </c:pt>
                <c:pt idx="1">
                  <c:v>294.85099999999994</c:v>
                </c:pt>
                <c:pt idx="2">
                  <c:v>410.3929999999999</c:v>
                </c:pt>
                <c:pt idx="3">
                  <c:v>484.435</c:v>
                </c:pt>
                <c:pt idx="4">
                  <c:v>179.92100000000002</c:v>
                </c:pt>
                <c:pt idx="5">
                  <c:v>2583.978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294.85099999999994</c:v>
                </c:pt>
                <c:pt idx="2">
                  <c:v>705.2439999999999</c:v>
                </c:pt>
                <c:pt idx="3">
                  <c:v>1189.6789999999999</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294.85099999999994</c:v>
                </c:pt>
                <c:pt idx="1">
                  <c:v>410.3929999999999</c:v>
                </c:pt>
                <c:pt idx="2">
                  <c:v>484.435</c:v>
                </c:pt>
                <c:pt idx="3">
                  <c:v>179.92100000000002</c:v>
                </c:pt>
                <c:pt idx="4">
                  <c:v>1369.6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Volume (Thousand MT)</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740.8489999999999</c:v>
                </c:pt>
                <c:pt idx="1">
                  <c:v>774.051</c:v>
                </c:pt>
                <c:pt idx="2">
                  <c:v>809.243</c:v>
                </c:pt>
                <c:pt idx="3">
                  <c:v>846.7990000000001</c:v>
                </c:pt>
                <c:pt idx="4">
                  <c:v>887.0690000000001</c:v>
                </c:pt>
                <c:pt idx="5">
                  <c:v>931.2829999999999</c:v>
                </c:pt>
                <c:pt idx="6">
                  <c:v>979.637</c:v>
                </c:pt>
                <c:pt idx="7">
                  <c:v>1032.6039999999998</c:v>
                </c:pt>
                <c:pt idx="8">
                  <c:v>1090.67</c:v>
                </c:pt>
                <c:pt idx="9">
                  <c:v>1154.748</c:v>
                </c:pt>
                <c:pt idx="10">
                  <c:v>1225.212</c:v>
                </c:pt>
                <c:pt idx="11">
                  <c:v>1301.796</c:v>
                </c:pt>
                <c:pt idx="12">
                  <c:v>1383.078</c:v>
                </c:pt>
                <c:pt idx="13">
                  <c:v>1468.3619999999999</c:v>
                </c:pt>
                <c:pt idx="14">
                  <c:v>1556.298</c:v>
                </c:pt>
                <c:pt idx="15">
                  <c:v>1646.772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Rest of Europe</c:v>
                </c:pt>
              </c:strCache>
            </c:strRef>
          </c:cat>
          <c:val>
            <c:numRef>
              <c:f>Sheet1!$B$2:$B$3</c:f>
              <c:numCache>
                <c:formatCode>General</c:formatCode>
                <c:ptCount val="2"/>
                <c:pt idx="0">
                  <c:v>0.05239999740743384</c:v>
                </c:pt>
                <c:pt idx="1">
                  <c:v>0.058656771842987565</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7918664198803321"/>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931.2829999999999</c:v>
                </c:pt>
                <c:pt idx="2">
                  <c:v>979.637</c:v>
                </c:pt>
                <c:pt idx="3">
                  <c:v>1032.6039999999998</c:v>
                </c:pt>
                <c:pt idx="4">
                  <c:v>1090.67</c:v>
                </c:pt>
                <c:pt idx="5">
                  <c:v>1154.748</c:v>
                </c:pt>
                <c:pt idx="6">
                  <c:v>1225.212</c:v>
                </c:pt>
                <c:pt idx="7">
                  <c:v>1301.796</c:v>
                </c:pt>
                <c:pt idx="8">
                  <c:v>1383.078</c:v>
                </c:pt>
                <c:pt idx="9">
                  <c:v>1468.3619999999999</c:v>
                </c:pt>
                <c:pt idx="10">
                  <c:v>1556.298</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931.2829999999999</c:v>
                </c:pt>
                <c:pt idx="1">
                  <c:v>48.35400000000004</c:v>
                </c:pt>
                <c:pt idx="2">
                  <c:v>52.96699999999987</c:v>
                </c:pt>
                <c:pt idx="3">
                  <c:v>58.06600000000026</c:v>
                </c:pt>
                <c:pt idx="4">
                  <c:v>64.07799999999997</c:v>
                </c:pt>
                <c:pt idx="5">
                  <c:v>70.46399999999994</c:v>
                </c:pt>
                <c:pt idx="6">
                  <c:v>76.58400000000006</c:v>
                </c:pt>
                <c:pt idx="7">
                  <c:v>81.28199999999993</c:v>
                </c:pt>
                <c:pt idx="8">
                  <c:v>85.28399999999988</c:v>
                </c:pt>
                <c:pt idx="9">
                  <c:v>87.93600000000015</c:v>
                </c:pt>
                <c:pt idx="10">
                  <c:v>90.47399999999993</c:v>
                </c:pt>
                <c:pt idx="11">
                  <c:v>1646.772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Europe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11.82129600986848</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88.17870399013152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f>Sheet1!$B$1</c:f>
              <c:strCache>
                <c:ptCount val="1"/>
                <c:pt idx="0">
                  <c:v>Value (US$ Mn)</c:v>
                </c:pt>
              </c:strCache>
            </c:strRef>
          </c:tx>
          <c:spPr>
            <a:solidFill>
              <a:srgbClr val="3D85C6"/>
            </a:solidFill>
            <a:ln>
              <a:noFill/>
            </a:ln>
          </c:spPr>
          <c:dLbls>
            <c:dLbl>
              <c:idx val="1"/>
              <c:delete val="1"/>
            </c:dLbl>
            <c:dLbl>
              <c:idx val="2"/>
              <c:delete val="1"/>
            </c:dLbl>
            <c:dLbl>
              <c:idx val="3"/>
              <c:delete val="1"/>
            </c:dLbl>
            <c:dLbl>
              <c:idx val="4"/>
              <c:delete val="1"/>
            </c:dLbl>
            <c:dLbl>
              <c:idx val="5"/>
              <c:delete val="1"/>
            </c:dLbl>
            <c:dLbl>
              <c:idx val="6"/>
              <c:delete val="1"/>
            </c:dLbl>
            <c:dLbl>
              <c:idx val="7"/>
              <c:delete val="1"/>
            </c:dLbl>
            <c:dLbl>
              <c:idx val="8"/>
              <c:delete val="1"/>
            </c:dLbl>
            <c:dLbl>
              <c:idx val="9"/>
              <c:delete val="1"/>
            </c:dLbl>
            <c:dLbl>
              <c:idx val="10"/>
              <c:delete val="1"/>
            </c:dLbl>
            <c:dLbl>
              <c:idx val="11"/>
              <c:delete val="1"/>
            </c:dLbl>
            <c:dLbl>
              <c:idx val="12"/>
              <c:delete val="1"/>
            </c:dLbl>
            <c:dLbl>
              <c:idx val="13"/>
              <c:delete val="1"/>
            </c:dLbl>
            <c:dLbl>
              <c:idx val="14"/>
              <c:delete val="1"/>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2221.599</c:v>
                </c:pt>
                <c:pt idx="1">
                  <c:v>2328.3990000000003</c:v>
                </c:pt>
                <c:pt idx="2">
                  <c:v>2442.548</c:v>
                </c:pt>
                <c:pt idx="3">
                  <c:v>2566.815</c:v>
                </c:pt>
                <c:pt idx="4">
                  <c:v>2701.502</c:v>
                </c:pt>
                <c:pt idx="5">
                  <c:v>2862.9869999999996</c:v>
                </c:pt>
                <c:pt idx="6">
                  <c:v>3043.008</c:v>
                </c:pt>
                <c:pt idx="7">
                  <c:v>3243.924</c:v>
                </c:pt>
                <c:pt idx="8">
                  <c:v>3468.147</c:v>
                </c:pt>
                <c:pt idx="9">
                  <c:v>3720.0690000000004</c:v>
                </c:pt>
                <c:pt idx="10">
                  <c:v>4002.369</c:v>
                </c:pt>
                <c:pt idx="11">
                  <c:v>4316.340999999999</c:v>
                </c:pt>
                <c:pt idx="12">
                  <c:v>4657.878000000001</c:v>
                </c:pt>
                <c:pt idx="13">
                  <c:v>5026.139</c:v>
                </c:pt>
                <c:pt idx="14">
                  <c:v>5419.634999999999</c:v>
                </c:pt>
                <c:pt idx="15">
                  <c:v>5838.992</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CAGR</c:v>
                </c:pt>
              </c:strCache>
            </c:strRef>
          </c:tx>
          <c:spPr>
            <a:solidFill>
              <a:srgbClr val="3D85C6"/>
            </a:solidFill>
            <a:ln>
              <a:noFill/>
            </a:ln>
          </c:spPr>
          <c:dPt>
            <c:idx val="0"/>
            <c:spPr>
              <a:solidFill>
                <a:srgbClr val="9E7E0A"/>
              </a:solidFill>
            </c:spPr>
          </c:dPt>
          <c:dPt>
            <c:idx val="1"/>
            <c:spPr>
              <a:solidFill>
                <a:srgbClr val="3D85C6"/>
              </a:solidFill>
            </c:spPr>
          </c:dPt>
          <c:dLbls>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f>Sheet1!$A$2:$A$3</c:f>
              <c:strCache>
                <c:ptCount val="2"/>
                <c:pt idx="0">
                  <c:v>Europe</c:v>
                </c:pt>
                <c:pt idx="1">
                  <c:v>Rest of Europe</c:v>
                </c:pt>
              </c:strCache>
            </c:strRef>
          </c:cat>
          <c:val>
            <c:numRef>
              <c:f>Sheet1!$B$2:$B$3</c:f>
              <c:numCache>
                <c:formatCode>General</c:formatCode>
                <c:ptCount val="2"/>
                <c:pt idx="0">
                  <c:v>0.06569916400258924</c:v>
                </c:pt>
                <c:pt idx="1">
                  <c:v>0.0738703473422524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972496891204075"/>
          <c:min val="0.0"/>
        </c:scaling>
        <c:delete/>
        <c:axPos val="b"/>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Sheet1!$B$2:$B$13</c:f>
              <c:numCache>
                <c:formatCode>General</c:formatCode>
                <c:ptCount val="12"/>
                <c:pt idx="0">
                  <c:v>0.0</c:v>
                </c:pt>
                <c:pt idx="1">
                  <c:v>2862.9869999999996</c:v>
                </c:pt>
                <c:pt idx="2">
                  <c:v>3043.008</c:v>
                </c:pt>
                <c:pt idx="3">
                  <c:v>3243.924</c:v>
                </c:pt>
                <c:pt idx="4">
                  <c:v>3468.147</c:v>
                </c:pt>
                <c:pt idx="5">
                  <c:v>3720.0690000000004</c:v>
                </c:pt>
                <c:pt idx="6">
                  <c:v>4002.369</c:v>
                </c:pt>
                <c:pt idx="7">
                  <c:v>4316.340999999999</c:v>
                </c:pt>
                <c:pt idx="8">
                  <c:v>4657.878000000001</c:v>
                </c:pt>
                <c:pt idx="9">
                  <c:v>5026.139</c:v>
                </c:pt>
                <c:pt idx="10">
                  <c:v>5419.634999999999</c:v>
                </c:pt>
                <c:pt idx="11">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f>Sheet1!$C$2:$C$13</c:f>
              <c:numCache>
                <c:formatCode>General</c:formatCode>
                <c:ptCount val="12"/>
                <c:pt idx="0">
                  <c:v>2862.9869999999996</c:v>
                </c:pt>
                <c:pt idx="1">
                  <c:v>180.02100000000019</c:v>
                </c:pt>
                <c:pt idx="2">
                  <c:v>200.91600000000017</c:v>
                </c:pt>
                <c:pt idx="3">
                  <c:v>224.22299999999996</c:v>
                </c:pt>
                <c:pt idx="4">
                  <c:v>251.92200000000048</c:v>
                </c:pt>
                <c:pt idx="5">
                  <c:v>282.2999999999997</c:v>
                </c:pt>
                <c:pt idx="6">
                  <c:v>313.9719999999993</c:v>
                </c:pt>
                <c:pt idx="7">
                  <c:v>341.53700000000117</c:v>
                </c:pt>
                <c:pt idx="8">
                  <c:v>368.2609999999995</c:v>
                </c:pt>
                <c:pt idx="9">
                  <c:v>393.4959999999992</c:v>
                </c:pt>
                <c:pt idx="10">
                  <c:v>419.3570000000009</c:v>
                </c:pt>
                <c:pt idx="11">
                  <c:v>5838.992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f>Sheet1!$B$1</c:f>
              <c:strCache>
                <c:ptCount val="1"/>
                <c:pt idx="0">
                  <c:v>Rest of Europe</c:v>
                </c:pt>
              </c:strCache>
            </c:strRef>
          </c:tx>
          <c:spPr>
            <a:solidFill>
              <a:srgbClr val="3D85C6"/>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Sheet1!$B$2:$B$2</c:f>
              <c:numCache>
                <c:formatCode>General</c:formatCode>
                <c:ptCount val="1"/>
                <c:pt idx="0">
                  <c:v>10.95216689204209</c:v>
                </c:pt>
              </c:numCache>
            </c:numRef>
          </c:val>
        </c:ser>
        <c:ser>
          <c:idx val="1"/>
          <c:order val="1"/>
          <c:tx>
            <c:strRef>
              <c:f>Sheet1!$C$1</c:f>
              <c:strCache>
                <c:ptCount val="1"/>
                <c:pt idx="0">
                  <c:v>Rest of Europe</c:v>
                </c:pt>
              </c:strCache>
            </c:strRef>
          </c:tx>
          <c:spPr>
            <a:solidFill>
              <a:srgbClr val="9E7E0A"/>
            </a:solidFill>
            <a:ln>
              <a:noFill/>
            </a:ln>
          </c:spPr>
          <c:dLbls>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f>Sheet1!$A$2:$A$2</c:f>
              <c:strCache>
                <c:ptCount val="1"/>
                <c:pt idx="0">
                  <c:v>Share of Europe</c:v>
                </c:pt>
              </c:strCache>
            </c:strRef>
          </c:cat>
          <c:val>
            <c:numRef>
              <c:f>Sheet1!$C$2:$C$2</c:f>
              <c:numCache>
                <c:formatCode>General</c:formatCode>
                <c:ptCount val="1"/>
                <c:pt idx="0">
                  <c:v>89.04783310795791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externalData r:id="rId1">
    <c:autoUpdate val="0"/>
  </c:externalData>
</c:chartSpace>
</file>

<file path=ppt/charts/chart3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6EAACE"/>
              </a:solidFill>
            </c:spPr>
          </c:dPt>
          <c:dPt>
            <c:idx val="9"/>
            <c:spPr>
              <a:solidFill>
                <a:srgbClr val="3E8EBE"/>
              </a:solidFill>
            </c:spPr>
          </c:dPt>
          <c:dPt>
            <c:idx val="10"/>
            <c:spPr>
              <a:solidFill>
                <a:srgbClr val="0E72AE"/>
              </a:solidFill>
            </c:spPr>
          </c:dPt>
          <c:cat>
            <c:strRef>
              <c:f>Sheet1!$A$2:$A$12</c:f>
              <c:strCache>
                <c:ptCount val="11"/>
                <c:pt idx="0">
                  <c:v> </c:v>
                </c:pt>
                <c:pt idx="1">
                  <c:v>  </c:v>
                </c:pt>
                <c:pt idx="2">
                  <c:v>   </c:v>
                </c:pt>
                <c:pt idx="3">
                  <c:v>    </c:v>
                </c:pt>
                <c:pt idx="4">
                  <c:v>     </c:v>
                </c:pt>
                <c:pt idx="5">
                  <c:v>      </c:v>
                </c:pt>
                <c:pt idx="6">
                  <c:v>       </c:v>
                </c:pt>
                <c:pt idx="7">
                  <c:v>Sachets &amp; Stick Packs</c:v>
                </c:pt>
                <c:pt idx="8">
                  <c:v>Barrier Casings</c:v>
                </c:pt>
                <c:pt idx="9">
                  <c:v>Premade Pouches &amp; Bags</c:v>
                </c:pt>
                <c:pt idx="10">
                  <c:v>Rollstock Films</c:v>
                </c:pt>
              </c:strCache>
            </c:strRef>
          </c:cat>
          <c:val>
            <c:numRef>
              <c:f>Sheet1!$B$2:$B$12</c:f>
              <c:numCache>
                <c:formatCode>General</c:formatCode>
                <c:ptCount val="11"/>
                <c:pt idx="7">
                  <c:v>180.47</c:v>
                </c:pt>
                <c:pt idx="8">
                  <c:v>318.246</c:v>
                </c:pt>
                <c:pt idx="9">
                  <c:v>824.915</c:v>
                </c:pt>
                <c:pt idx="10">
                  <c:v>1539.356</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2062.73704"/>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9DABB6"/>
              </a:solidFill>
            </c:spPr>
          </c:dPt>
          <c:dPt>
            <c:idx val="1"/>
            <c:spPr>
              <a:solidFill>
                <a:srgbClr val="8E9EAB"/>
              </a:solidFill>
            </c:spPr>
          </c:dPt>
          <c:dPt>
            <c:idx val="2"/>
            <c:spPr>
              <a:solidFill>
                <a:srgbClr val="8092A0"/>
              </a:solidFill>
            </c:spPr>
          </c:dPt>
          <c:dPt>
            <c:idx val="3"/>
            <c:spPr>
              <a:solidFill>
                <a:srgbClr val="718596"/>
              </a:solidFill>
            </c:spPr>
          </c:dPt>
          <c:dPt>
            <c:idx val="4"/>
            <c:spPr>
              <a:solidFill>
                <a:srgbClr val="62798B"/>
              </a:solidFill>
            </c:spPr>
          </c:dPt>
          <c:dPt>
            <c:idx val="5"/>
            <c:spPr>
              <a:solidFill>
                <a:srgbClr val="546C80"/>
              </a:solidFill>
            </c:spPr>
          </c:dPt>
          <c:dPt>
            <c:idx val="6"/>
            <c:spPr>
              <a:solidFill>
                <a:srgbClr val="456075"/>
              </a:solidFill>
            </c:spPr>
          </c:dPt>
          <c:dPt>
            <c:idx val="7"/>
            <c:spPr>
              <a:solidFill>
                <a:srgbClr val="36536A"/>
              </a:solidFill>
            </c:spPr>
          </c:dPt>
          <c:dPt>
            <c:idx val="8"/>
            <c:spPr>
              <a:solidFill>
                <a:srgbClr val="28475F"/>
              </a:solidFill>
            </c:spPr>
          </c:dPt>
          <c:dPt>
            <c:idx val="9"/>
            <c:spPr>
              <a:solidFill>
                <a:srgbClr val="193A54"/>
              </a:solidFill>
            </c:spPr>
          </c:dPt>
          <c:dPt>
            <c:idx val="10"/>
            <c:spPr>
              <a:solidFill>
                <a:srgbClr val="0B2E4A"/>
              </a:solidFill>
            </c:spPr>
          </c:dPt>
          <c:cat>
            <c:strRef>
              <c:f>Sheet1!$A$2:$A$12</c:f>
              <c:strCache>
                <c:ptCount val="11"/>
                <c:pt idx="0">
                  <c:v>PVOH-Based</c:v>
                </c:pt>
                <c:pt idx="1">
                  <c:v>AlOx / SiOx-Coated</c:v>
                </c:pt>
                <c:pt idx="2">
                  <c:v>Aluminum Foil-Based</c:v>
                </c:pt>
                <c:pt idx="3">
                  <c:v>Other Specialty Barri…</c:v>
                </c:pt>
                <c:pt idx="4">
                  <c:v>PVDC-Based</c:v>
                </c:pt>
                <c:pt idx="5">
                  <c:v>Metallized Barrier</c:v>
                </c:pt>
                <c:pt idx="6">
                  <c:v>EVOH-Based</c:v>
                </c:pt>
                <c:pt idx="7">
                  <c:v>PA-Based</c:v>
                </c:pt>
                <c:pt idx="8">
                  <c:v>PET-Based</c:v>
                </c:pt>
                <c:pt idx="9">
                  <c:v>PP-Based</c:v>
                </c:pt>
                <c:pt idx="10">
                  <c:v>PE-Based</c:v>
                </c:pt>
              </c:strCache>
            </c:strRef>
          </c:cat>
          <c:val>
            <c:numRef>
              <c:f>Sheet1!$B$2:$B$12</c:f>
              <c:numCache>
                <c:formatCode>General</c:formatCode>
                <c:ptCount val="11"/>
                <c:pt idx="0">
                  <c:v>57.107</c:v>
                </c:pt>
                <c:pt idx="1">
                  <c:v>86.598</c:v>
                </c:pt>
                <c:pt idx="2">
                  <c:v>89.457</c:v>
                </c:pt>
                <c:pt idx="3">
                  <c:v>104.407</c:v>
                </c:pt>
                <c:pt idx="4">
                  <c:v>145.381</c:v>
                </c:pt>
                <c:pt idx="5">
                  <c:v>180.292</c:v>
                </c:pt>
                <c:pt idx="6">
                  <c:v>226.286</c:v>
                </c:pt>
                <c:pt idx="7">
                  <c:v>232.231</c:v>
                </c:pt>
                <c:pt idx="8">
                  <c:v>278.062</c:v>
                </c:pt>
                <c:pt idx="9">
                  <c:v>574.846</c:v>
                </c:pt>
                <c:pt idx="10">
                  <c:v>888.32</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190.34880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C5B1E6"/>
              </a:solidFill>
            </c:spPr>
          </c:dPt>
          <c:dPt>
            <c:idx val="5"/>
            <c:spPr>
              <a:solidFill>
                <a:srgbClr val="B79DE0"/>
              </a:solidFill>
            </c:spPr>
          </c:dPt>
          <c:dPt>
            <c:idx val="6"/>
            <c:spPr>
              <a:solidFill>
                <a:srgbClr val="A88ADA"/>
              </a:solidFill>
            </c:spPr>
          </c:dPt>
          <c:dPt>
            <c:idx val="7"/>
            <c:spPr>
              <a:solidFill>
                <a:srgbClr val="9A76D4"/>
              </a:solidFill>
            </c:spPr>
          </c:dPt>
          <c:dPt>
            <c:idx val="8"/>
            <c:spPr>
              <a:solidFill>
                <a:srgbClr val="8B63CE"/>
              </a:solidFill>
            </c:spPr>
          </c:dPt>
          <c:dPt>
            <c:idx val="9"/>
            <c:spPr>
              <a:solidFill>
                <a:srgbClr val="7D4FC8"/>
              </a:solidFill>
            </c:spPr>
          </c:dPt>
          <c:dPt>
            <c:idx val="10"/>
            <c:spPr>
              <a:solidFill>
                <a:srgbClr val="6F3CC2"/>
              </a:solidFill>
            </c:spPr>
          </c:dPt>
          <c:cat>
            <c:strRef>
              <c:f>Sheet1!$A$2:$A$12</c:f>
              <c:strCache>
                <c:ptCount val="11"/>
                <c:pt idx="0">
                  <c:v> </c:v>
                </c:pt>
                <c:pt idx="1">
                  <c:v>  </c:v>
                </c:pt>
                <c:pt idx="2">
                  <c:v>   </c:v>
                </c:pt>
                <c:pt idx="3">
                  <c:v>    </c:v>
                </c:pt>
                <c:pt idx="4">
                  <c:v>Coated Films</c:v>
                </c:pt>
                <c:pt idx="5">
                  <c:v>Metallized Films</c:v>
                </c:pt>
                <c:pt idx="6">
                  <c:v>Foil-Laminated Struct…</c:v>
                </c:pt>
                <c:pt idx="7">
                  <c:v>Mono-Material Recycla…</c:v>
                </c:pt>
                <c:pt idx="8">
                  <c:v>Monolayer Films</c:v>
                </c:pt>
                <c:pt idx="9">
                  <c:v>Laminated Films</c:v>
                </c:pt>
                <c:pt idx="10">
                  <c:v>Coextruded Multilayer…</c:v>
                </c:pt>
              </c:strCache>
            </c:strRef>
          </c:cat>
          <c:val>
            <c:numRef>
              <c:f>Sheet1!$B$2:$B$12</c:f>
              <c:numCache>
                <c:formatCode>General</c:formatCode>
                <c:ptCount val="11"/>
                <c:pt idx="4">
                  <c:v>191.233</c:v>
                </c:pt>
                <c:pt idx="5">
                  <c:v>197.01</c:v>
                </c:pt>
                <c:pt idx="6">
                  <c:v>220.62</c:v>
                </c:pt>
                <c:pt idx="7">
                  <c:v>241.321</c:v>
                </c:pt>
                <c:pt idx="8">
                  <c:v>457.345</c:v>
                </c:pt>
                <c:pt idx="9">
                  <c:v>722.9499999999999</c:v>
                </c:pt>
                <c:pt idx="10">
                  <c:v>832.507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115.55938"/>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DABAA0"/>
              </a:solidFill>
            </c:spPr>
          </c:dPt>
          <c:dPt>
            <c:idx val="8"/>
            <c:spPr>
              <a:solidFill>
                <a:srgbClr val="C79771"/>
              </a:solidFill>
            </c:spPr>
          </c:dPt>
          <c:dPt>
            <c:idx val="9"/>
            <c:spPr>
              <a:solidFill>
                <a:srgbClr val="B57542"/>
              </a:solidFill>
            </c:spPr>
          </c:dPt>
          <c:dPt>
            <c:idx val="10"/>
            <c:spPr>
              <a:solidFill>
                <a:srgbClr val="A35313"/>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367.661</c:v>
                </c:pt>
                <c:pt idx="8">
                  <c:v>618.214</c:v>
                </c:pt>
                <c:pt idx="9">
                  <c:v>932.134</c:v>
                </c:pt>
                <c:pt idx="10">
                  <c:v>944.978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66.2705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FFFFFF"/>
              </a:solidFill>
            </c:spPr>
          </c:dPt>
          <c:dPt>
            <c:idx val="8"/>
            <c:spPr>
              <a:solidFill>
                <a:srgbClr val="FFFFFF"/>
              </a:solidFill>
            </c:spPr>
          </c:dPt>
          <c:dPt>
            <c:idx val="9"/>
            <c:spPr>
              <a:solidFill>
                <a:srgbClr val="DCC599"/>
              </a:solidFill>
            </c:spPr>
          </c:dPt>
          <c:dPt>
            <c:idx val="10"/>
            <c:spPr>
              <a:solidFill>
                <a:srgbClr val="A86F00"/>
              </a:solidFill>
            </c:spPr>
          </c:dPt>
          <c:cat>
            <c:strRef>
              <c:f>Sheet1!$A$2:$A$12</c:f>
              <c:strCache>
                <c:ptCount val="11"/>
                <c:pt idx="0">
                  <c:v> </c:v>
                </c:pt>
                <c:pt idx="1">
                  <c:v>  </c:v>
                </c:pt>
                <c:pt idx="2">
                  <c:v>   </c:v>
                </c:pt>
                <c:pt idx="3">
                  <c:v>    </c:v>
                </c:pt>
                <c:pt idx="4">
                  <c:v>     </c:v>
                </c:pt>
                <c:pt idx="5">
                  <c:v>      </c:v>
                </c:pt>
                <c:pt idx="6">
                  <c:v>       </c:v>
                </c:pt>
                <c:pt idx="7">
                  <c:v>        </c:v>
                </c:pt>
                <c:pt idx="8">
                  <c:v>         </c:v>
                </c:pt>
                <c:pt idx="9">
                  <c:v>Non-Food Packaging</c:v>
                </c:pt>
                <c:pt idx="10">
                  <c:v>Food Packaging</c:v>
                </c:pt>
              </c:strCache>
            </c:strRef>
          </c:cat>
          <c:val>
            <c:numRef>
              <c:f>Sheet1!$B$2:$B$12</c:f>
              <c:numCache>
                <c:formatCode>General</c:formatCode>
                <c:ptCount val="11"/>
                <c:pt idx="9">
                  <c:v>482.628</c:v>
                </c:pt>
                <c:pt idx="10">
                  <c:v>2380.358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3189.6797200000005"/>
          <c:min val="0.0"/>
        </c:scaling>
        <c:delete val="0"/>
        <c:axPos val="b"/>
        <c:numFmt formatCode="#,##0" sourceLinked="0"/>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f>Sheet1!$B$1</c: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E59999"/>
              </a:solidFill>
            </c:spPr>
          </c:dPt>
          <c:dPt>
            <c:idx val="8"/>
            <c:spPr>
              <a:solidFill>
                <a:srgbClr val="D96565"/>
              </a:solidFill>
            </c:spPr>
          </c:dPt>
          <c:dPt>
            <c:idx val="9"/>
            <c:spPr>
              <a:solidFill>
                <a:srgbClr val="CC3232"/>
              </a:solidFill>
            </c:spPr>
          </c:dPt>
          <c:dPt>
            <c:idx val="10"/>
            <c:spPr>
              <a:solidFill>
                <a:srgbClr val="C00000"/>
              </a:solidFill>
            </c:spPr>
          </c:dPt>
          <c:cat>
            <c:strRef>
              <c:f>Sheet1!$A$2:$A$12</c:f>
              <c:strCache>
                <c:ptCount val="11"/>
                <c:pt idx="0">
                  <c:v> </c:v>
                </c:pt>
                <c:pt idx="1">
                  <c:v>  </c:v>
                </c:pt>
                <c:pt idx="2">
                  <c:v>   </c:v>
                </c:pt>
                <c:pt idx="3">
                  <c:v>    </c:v>
                </c:pt>
                <c:pt idx="4">
                  <c:v>     </c:v>
                </c:pt>
                <c:pt idx="5">
                  <c:v>      </c:v>
                </c:pt>
                <c:pt idx="6">
                  <c:v>       </c:v>
                </c:pt>
                <c:pt idx="7">
                  <c:v>Ultra-High-Barrier Fi…</c:v>
                </c:pt>
                <c:pt idx="8">
                  <c:v>Low-Barrier Films</c:v>
                </c:pt>
                <c:pt idx="9">
                  <c:v>High-Barrier Films</c:v>
                </c:pt>
                <c:pt idx="10">
                  <c:v>Medium-Barrier Films</c:v>
                </c:pt>
              </c:strCache>
            </c:strRef>
          </c:cat>
          <c:val>
            <c:numRef>
              <c:f>Sheet1!$B$2:$B$12</c:f>
              <c:numCache>
                <c:formatCode>General</c:formatCode>
                <c:ptCount val="11"/>
                <c:pt idx="7">
                  <c:v>367.66</c:v>
                </c:pt>
                <c:pt idx="8">
                  <c:v>618.213</c:v>
                </c:pt>
                <c:pt idx="9">
                  <c:v>932.136</c:v>
                </c:pt>
                <c:pt idx="10">
                  <c:v>944.979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catAx>
      <c:valAx>
        <c:axId val="-2113994440"/>
        <c:scaling>
          <c:max val="1266.2718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Sheet1!$B$2:$B$7</c:f>
              <c:numCache>
                <c:formatCode>General</c:formatCode>
                <c:ptCount val="6"/>
                <c:pt idx="0">
                  <c:v>0.0</c:v>
                </c:pt>
                <c:pt idx="1">
                  <c:v>2862.9869999999996</c:v>
                </c:pt>
                <c:pt idx="2">
                  <c:v>4509.459</c:v>
                </c:pt>
                <c:pt idx="3">
                  <c:v>4819.586</c:v>
                </c:pt>
                <c:pt idx="4">
                  <c:v>5671.322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Rollstock Films</c:v>
                </c:pt>
                <c:pt idx="2">
                  <c:v>Barrier Casings</c:v>
                </c:pt>
                <c:pt idx="3">
                  <c:v>Premade Pouches &amp; Bags</c:v>
                </c:pt>
                <c:pt idx="4">
                  <c:v>Sachets &amp; Stick Packs</c:v>
                </c:pt>
                <c:pt idx="5">
                  <c:v>2036 Total</c:v>
                </c:pt>
              </c:strCache>
            </c:strRef>
          </c:cat>
          <c:val>
            <c:numRef>
              <c:f>Sheet1!$C$2:$C$7</c:f>
              <c:numCache>
                <c:formatCode>General</c:formatCode>
                <c:ptCount val="6"/>
                <c:pt idx="0">
                  <c:v>2862.9869999999996</c:v>
                </c:pt>
                <c:pt idx="1">
                  <c:v>1646.472</c:v>
                </c:pt>
                <c:pt idx="2">
                  <c:v>310.12700000000007</c:v>
                </c:pt>
                <c:pt idx="3">
                  <c:v>851.7360000000001</c:v>
                </c:pt>
                <c:pt idx="4">
                  <c:v>167.67</c:v>
                </c:pt>
                <c:pt idx="5">
                  <c:v>5838.992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Sheet1!$B$2:$B$6</c:f>
              <c:numCache>
                <c:formatCode>General</c:formatCode>
                <c:ptCount val="5"/>
                <c:pt idx="0">
                  <c:v>0.0</c:v>
                </c:pt>
                <c:pt idx="1">
                  <c:v>1646.472</c:v>
                </c:pt>
                <c:pt idx="2">
                  <c:v>1956.5990000000002</c:v>
                </c:pt>
                <c:pt idx="3">
                  <c:v>2808.335</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Rollstock Films</c:v>
                </c:pt>
                <c:pt idx="1">
                  <c:v>Barrier Casings</c:v>
                </c:pt>
                <c:pt idx="2">
                  <c:v>Premade Pouches &amp; Bags</c:v>
                </c:pt>
                <c:pt idx="3">
                  <c:v>Sachets &amp; Stick Packs</c:v>
                </c:pt>
                <c:pt idx="4">
                  <c:v>Total Absolute $ Opportunity</c:v>
                </c:pt>
              </c:strCache>
            </c:strRef>
          </c:cat>
          <c:val>
            <c:numRef>
              <c:f>Sheet1!$C$2:$C$6</c:f>
              <c:numCache>
                <c:formatCode>General</c:formatCode>
                <c:ptCount val="5"/>
                <c:pt idx="0">
                  <c:v>1646.472</c:v>
                </c:pt>
                <c:pt idx="1">
                  <c:v>310.12700000000007</c:v>
                </c:pt>
                <c:pt idx="2">
                  <c:v>851.7360000000001</c:v>
                </c:pt>
                <c:pt idx="3">
                  <c:v>167.67</c:v>
                </c:pt>
                <c:pt idx="4">
                  <c:v>2976.005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Sheet1!$B$2:$B$14</c:f>
              <c:numCache>
                <c:formatCode>General</c:formatCode>
                <c:ptCount val="13"/>
                <c:pt idx="0">
                  <c:v>0.0</c:v>
                </c:pt>
                <c:pt idx="1">
                  <c:v>2862.9870000000005</c:v>
                </c:pt>
                <c:pt idx="2">
                  <c:v>3797.2590000000005</c:v>
                </c:pt>
                <c:pt idx="3">
                  <c:v>4381.817000000001</c:v>
                </c:pt>
                <c:pt idx="4">
                  <c:v>4680.417000000001</c:v>
                </c:pt>
                <c:pt idx="5">
                  <c:v>4917.763000000001</c:v>
                </c:pt>
                <c:pt idx="6">
                  <c:v>5158.555000000001</c:v>
                </c:pt>
                <c:pt idx="7">
                  <c:v>5295.243000000001</c:v>
                </c:pt>
                <c:pt idx="8">
                  <c:v>5356.357000000001</c:v>
                </c:pt>
                <c:pt idx="9">
                  <c:v>5537.122000000001</c:v>
                </c:pt>
                <c:pt idx="10">
                  <c:v>5630.065000000001</c:v>
                </c:pt>
                <c:pt idx="11">
                  <c:v>5714.118000000001</c:v>
                </c:pt>
                <c:pt idx="12">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08189"/>
              </a:solidFill>
            </c:spPr>
          </c:dPt>
          <c:dPt>
            <c:idx val="1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Sheet1!$A$2:$A$14</c:f>
              <c:strCache>
                <c:ptCount val="13"/>
                <c:pt idx="0">
                  <c:v>2026</c:v>
                </c:pt>
                <c:pt idx="1">
                  <c:v>PE-Based</c:v>
                </c:pt>
                <c:pt idx="2">
                  <c:v>PP-Based</c:v>
                </c:pt>
                <c:pt idx="3">
                  <c:v>PET-Based</c:v>
                </c:pt>
                <c:pt idx="4">
                  <c:v>PA-Based</c:v>
                </c:pt>
                <c:pt idx="5">
                  <c:v>EVOH-Based</c:v>
                </c:pt>
                <c:pt idx="6">
                  <c:v>PVDC-Based</c:v>
                </c:pt>
                <c:pt idx="7">
                  <c:v>PVOH-Based</c:v>
                </c:pt>
                <c:pt idx="8">
                  <c:v>Metallized Barrier</c:v>
                </c:pt>
                <c:pt idx="9">
                  <c:v>AlOx / SiOx-Coated</c:v>
                </c:pt>
                <c:pt idx="10">
                  <c:v>Aluminum Foil-Based</c:v>
                </c:pt>
                <c:pt idx="11">
                  <c:v>Other Specialty Barrier Technologies</c:v>
                </c:pt>
                <c:pt idx="12">
                  <c:v>2036 Total</c:v>
                </c:pt>
              </c:strCache>
            </c:strRef>
          </c:cat>
          <c:val>
            <c:numRef>
              <c:f>Sheet1!$C$2:$C$14</c:f>
              <c:numCache>
                <c:formatCode>General</c:formatCode>
                <c:ptCount val="13"/>
                <c:pt idx="0">
                  <c:v>2862.9870000000005</c:v>
                </c:pt>
                <c:pt idx="1">
                  <c:v>934.272</c:v>
                </c:pt>
                <c:pt idx="2">
                  <c:v>584.558</c:v>
                </c:pt>
                <c:pt idx="3">
                  <c:v>298.6</c:v>
                </c:pt>
                <c:pt idx="4">
                  <c:v>237.346</c:v>
                </c:pt>
                <c:pt idx="5">
                  <c:v>240.79199999999997</c:v>
                </c:pt>
                <c:pt idx="6">
                  <c:v>136.68800000000002</c:v>
                </c:pt>
                <c:pt idx="7">
                  <c:v>61.114000000000004</c:v>
                </c:pt>
                <c:pt idx="8">
                  <c:v>180.76500000000001</c:v>
                </c:pt>
                <c:pt idx="9">
                  <c:v>92.943</c:v>
                </c:pt>
                <c:pt idx="10">
                  <c:v>84.053</c:v>
                </c:pt>
                <c:pt idx="11">
                  <c:v>124.873</c:v>
                </c:pt>
                <c:pt idx="12">
                  <c:v>5838.991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Sheet1!$B$2:$B$13</c:f>
              <c:numCache>
                <c:formatCode>General</c:formatCode>
                <c:ptCount val="12"/>
                <c:pt idx="0">
                  <c:v>0.0</c:v>
                </c:pt>
                <c:pt idx="1">
                  <c:v>934.272</c:v>
                </c:pt>
                <c:pt idx="2">
                  <c:v>1518.83</c:v>
                </c:pt>
                <c:pt idx="3">
                  <c:v>1817.4299999999998</c:v>
                </c:pt>
                <c:pt idx="4">
                  <c:v>2054.776</c:v>
                </c:pt>
                <c:pt idx="5">
                  <c:v>2295.5679999999998</c:v>
                </c:pt>
                <c:pt idx="6">
                  <c:v>2432.256</c:v>
                </c:pt>
                <c:pt idx="7">
                  <c:v>2493.37</c:v>
                </c:pt>
                <c:pt idx="8">
                  <c:v>2674.1349999999998</c:v>
                </c:pt>
                <c:pt idx="9">
                  <c:v>2767.078</c:v>
                </c:pt>
                <c:pt idx="10">
                  <c:v>2851.131</c:v>
                </c:pt>
                <c:pt idx="11">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Sheet1!$A$2:$A$13</c:f>
              <c:strCache>
                <c:ptCount val="12"/>
                <c:pt idx="0">
                  <c:v>PE-Based</c:v>
                </c:pt>
                <c:pt idx="1">
                  <c:v>PP-Based</c:v>
                </c:pt>
                <c:pt idx="2">
                  <c:v>PET-Based</c:v>
                </c:pt>
                <c:pt idx="3">
                  <c:v>PA-Based</c:v>
                </c:pt>
                <c:pt idx="4">
                  <c:v>EVOH-Based</c:v>
                </c:pt>
                <c:pt idx="5">
                  <c:v>PVDC-Based</c:v>
                </c:pt>
                <c:pt idx="6">
                  <c:v>PVOH-Based</c:v>
                </c:pt>
                <c:pt idx="7">
                  <c:v>Metallized Barrier</c:v>
                </c:pt>
                <c:pt idx="8">
                  <c:v>AlOx / SiOx-Coated</c:v>
                </c:pt>
                <c:pt idx="9">
                  <c:v>Aluminum Foil-Based</c:v>
                </c:pt>
                <c:pt idx="10">
                  <c:v>Other Specialty Barrier Technologies</c:v>
                </c:pt>
                <c:pt idx="11">
                  <c:v>Total Absolute $ Opportunity</c:v>
                </c:pt>
              </c:strCache>
            </c:strRef>
          </c:cat>
          <c:val>
            <c:numRef>
              <c:f>Sheet1!$C$2:$C$13</c:f>
              <c:numCache>
                <c:formatCode>General</c:formatCode>
                <c:ptCount val="12"/>
                <c:pt idx="0">
                  <c:v>934.272</c:v>
                </c:pt>
                <c:pt idx="1">
                  <c:v>584.558</c:v>
                </c:pt>
                <c:pt idx="2">
                  <c:v>298.6</c:v>
                </c:pt>
                <c:pt idx="3">
                  <c:v>237.346</c:v>
                </c:pt>
                <c:pt idx="4">
                  <c:v>240.79199999999997</c:v>
                </c:pt>
                <c:pt idx="5">
                  <c:v>136.68800000000002</c:v>
                </c:pt>
                <c:pt idx="6">
                  <c:v>61.114000000000004</c:v>
                </c:pt>
                <c:pt idx="7">
                  <c:v>180.76500000000001</c:v>
                </c:pt>
                <c:pt idx="8">
                  <c:v>92.943</c:v>
                </c:pt>
                <c:pt idx="9">
                  <c:v>84.053</c:v>
                </c:pt>
                <c:pt idx="10">
                  <c:v>124.873</c:v>
                </c:pt>
                <c:pt idx="11">
                  <c:v>2976.004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Sheet1!$B$2:$B$10</c:f>
              <c:numCache>
                <c:formatCode>General</c:formatCode>
                <c:ptCount val="9"/>
                <c:pt idx="0">
                  <c:v>0.0</c:v>
                </c:pt>
                <c:pt idx="1">
                  <c:v>2862.986</c:v>
                </c:pt>
                <c:pt idx="2">
                  <c:v>3353.603</c:v>
                </c:pt>
                <c:pt idx="3">
                  <c:v>4195.575</c:v>
                </c:pt>
                <c:pt idx="4">
                  <c:v>4936.929</c:v>
                </c:pt>
                <c:pt idx="5">
                  <c:v>5132.662</c:v>
                </c:pt>
                <c:pt idx="6">
                  <c:v>5329.5070000000005</c:v>
                </c:pt>
                <c:pt idx="7">
                  <c:v>5556.647000000001</c:v>
                </c:pt>
                <c:pt idx="8">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Sheet1!$A$2:$A$10</c:f>
              <c:strCache>
                <c:ptCount val="9"/>
                <c:pt idx="0">
                  <c:v>2026</c:v>
                </c:pt>
                <c:pt idx="1">
                  <c:v>Monolayer Films</c:v>
                </c:pt>
                <c:pt idx="2">
                  <c:v>Coextruded Multilayer Films</c:v>
                </c:pt>
                <c:pt idx="3">
                  <c:v>Laminated Films</c:v>
                </c:pt>
                <c:pt idx="4">
                  <c:v>Coated Films</c:v>
                </c:pt>
                <c:pt idx="5">
                  <c:v>Metallized Films</c:v>
                </c:pt>
                <c:pt idx="6">
                  <c:v>Foil-Laminated Structures</c:v>
                </c:pt>
                <c:pt idx="7">
                  <c:v>Mono-Material Recyclable Structures</c:v>
                </c:pt>
                <c:pt idx="8">
                  <c:v>2036 Total</c:v>
                </c:pt>
              </c:strCache>
            </c:strRef>
          </c:cat>
          <c:val>
            <c:numRef>
              <c:f>Sheet1!$C$2:$C$10</c:f>
              <c:numCache>
                <c:formatCode>General</c:formatCode>
                <c:ptCount val="9"/>
                <c:pt idx="0">
                  <c:v>2862.986</c:v>
                </c:pt>
                <c:pt idx="1">
                  <c:v>490.61699999999996</c:v>
                </c:pt>
                <c:pt idx="2">
                  <c:v>841.9720000000001</c:v>
                </c:pt>
                <c:pt idx="3">
                  <c:v>741.3539999999999</c:v>
                </c:pt>
                <c:pt idx="4">
                  <c:v>195.733</c:v>
                </c:pt>
                <c:pt idx="5">
                  <c:v>196.84500000000003</c:v>
                </c:pt>
                <c:pt idx="6">
                  <c:v>227.14</c:v>
                </c:pt>
                <c:pt idx="7">
                  <c:v>282.342</c:v>
                </c:pt>
                <c:pt idx="8">
                  <c:v>5838.989000000001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Sheet1!$B$2:$B$9</c:f>
              <c:numCache>
                <c:formatCode>General</c:formatCode>
                <c:ptCount val="8"/>
                <c:pt idx="0">
                  <c:v>0.0</c:v>
                </c:pt>
                <c:pt idx="1">
                  <c:v>490.61699999999996</c:v>
                </c:pt>
                <c:pt idx="2">
                  <c:v>1332.589</c:v>
                </c:pt>
                <c:pt idx="3">
                  <c:v>2073.9429999999998</c:v>
                </c:pt>
                <c:pt idx="4">
                  <c:v>2269.676</c:v>
                </c:pt>
                <c:pt idx="5">
                  <c:v>2466.5209999999997</c:v>
                </c:pt>
                <c:pt idx="6">
                  <c:v>2693.6609999999996</c:v>
                </c:pt>
                <c:pt idx="7">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Sheet1!$A$2:$A$9</c:f>
              <c:strCache>
                <c:ptCount val="8"/>
                <c:pt idx="0">
                  <c:v>Monolayer Films</c:v>
                </c:pt>
                <c:pt idx="1">
                  <c:v>Coextruded Multilayer Films</c:v>
                </c:pt>
                <c:pt idx="2">
                  <c:v>Laminated Films</c:v>
                </c:pt>
                <c:pt idx="3">
                  <c:v>Coated Films</c:v>
                </c:pt>
                <c:pt idx="4">
                  <c:v>Metallized Films</c:v>
                </c:pt>
                <c:pt idx="5">
                  <c:v>Foil-Laminated Structures</c:v>
                </c:pt>
                <c:pt idx="6">
                  <c:v>Mono-Material Recyclable Structures</c:v>
                </c:pt>
                <c:pt idx="7">
                  <c:v>Total Absolute $ Opportunity</c:v>
                </c:pt>
              </c:strCache>
            </c:strRef>
          </c:cat>
          <c:val>
            <c:numRef>
              <c:f>Sheet1!$C$2:$C$9</c:f>
              <c:numCache>
                <c:formatCode>General</c:formatCode>
                <c:ptCount val="8"/>
                <c:pt idx="0">
                  <c:v>490.61699999999996</c:v>
                </c:pt>
                <c:pt idx="1">
                  <c:v>841.9720000000001</c:v>
                </c:pt>
                <c:pt idx="2">
                  <c:v>741.3539999999999</c:v>
                </c:pt>
                <c:pt idx="3">
                  <c:v>195.733</c:v>
                </c:pt>
                <c:pt idx="4">
                  <c:v>196.84500000000003</c:v>
                </c:pt>
                <c:pt idx="5">
                  <c:v>227.14</c:v>
                </c:pt>
                <c:pt idx="6">
                  <c:v>282.342</c:v>
                </c:pt>
                <c:pt idx="7">
                  <c:v>2976.0029999999997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2862.987</c:v>
                </c:pt>
                <c:pt idx="2">
                  <c:v>3490.072</c:v>
                </c:pt>
                <c:pt idx="3">
                  <c:v>4396.059</c:v>
                </c:pt>
                <c:pt idx="4">
                  <c:v>5436.972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2862.987</c:v>
                </c:pt>
                <c:pt idx="1">
                  <c:v>627.0849999999999</c:v>
                </c:pt>
                <c:pt idx="2">
                  <c:v>905.987</c:v>
                </c:pt>
                <c:pt idx="3">
                  <c:v>1040.913</c:v>
                </c:pt>
                <c:pt idx="4">
                  <c:v>402.01899999999995</c:v>
                </c:pt>
                <c:pt idx="5">
                  <c:v>5838.991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627.0849999999999</c:v>
                </c:pt>
                <c:pt idx="2">
                  <c:v>1533.072</c:v>
                </c:pt>
                <c:pt idx="3">
                  <c:v>2573.9849999999997</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627.0849999999999</c:v>
                </c:pt>
                <c:pt idx="1">
                  <c:v>905.987</c:v>
                </c:pt>
                <c:pt idx="2">
                  <c:v>1040.913</c:v>
                </c:pt>
                <c:pt idx="3">
                  <c:v>402.01899999999995</c:v>
                </c:pt>
                <c:pt idx="4">
                  <c:v>2976.0039999999995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Sheet1!$A$2:$A$5</c:f>
              <c:strCache>
                <c:ptCount val="4"/>
                <c:pt idx="0">
                  <c:v>2026</c:v>
                </c:pt>
                <c:pt idx="1">
                  <c:v>Food Packaging</c:v>
                </c:pt>
                <c:pt idx="2">
                  <c:v>Non-Food Packaging</c:v>
                </c:pt>
                <c:pt idx="3">
                  <c:v>2036 Total</c:v>
                </c:pt>
              </c:strCache>
            </c:strRef>
          </c:cat>
          <c:val>
            <c:numRef>
              <c:f>Sheet1!$B$2:$B$5</c:f>
              <c:numCache>
                <c:formatCode>General</c:formatCode>
                <c:ptCount val="4"/>
                <c:pt idx="0">
                  <c:v>0.0</c:v>
                </c:pt>
                <c:pt idx="1">
                  <c:v>2862.9860000000003</c:v>
                </c:pt>
                <c:pt idx="2">
                  <c:v>5340.593000000001</c:v>
                </c:pt>
                <c:pt idx="3">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Sheet1!$A$2:$A$5</c:f>
              <c:strCache>
                <c:ptCount val="4"/>
                <c:pt idx="0">
                  <c:v>2026</c:v>
                </c:pt>
                <c:pt idx="1">
                  <c:v>Food Packaging</c:v>
                </c:pt>
                <c:pt idx="2">
                  <c:v>Non-Food Packaging</c:v>
                </c:pt>
                <c:pt idx="3">
                  <c:v>2036 Total</c:v>
                </c:pt>
              </c:strCache>
            </c:strRef>
          </c:cat>
          <c:val>
            <c:numRef>
              <c:f>Sheet1!$C$2:$C$5</c:f>
              <c:numCache>
                <c:formatCode>General</c:formatCode>
                <c:ptCount val="4"/>
                <c:pt idx="0">
                  <c:v>2862.9860000000003</c:v>
                </c:pt>
                <c:pt idx="1">
                  <c:v>2477.607</c:v>
                </c:pt>
                <c:pt idx="2">
                  <c:v>498.397</c:v>
                </c:pt>
                <c:pt idx="3">
                  <c:v>5838.99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Sheet1!$A$2:$A$4</c:f>
              <c:strCache>
                <c:ptCount val="3"/>
                <c:pt idx="0">
                  <c:v>Food Packaging</c:v>
                </c:pt>
                <c:pt idx="1">
                  <c:v>Non-Food Packaging</c:v>
                </c:pt>
                <c:pt idx="2">
                  <c:v>Total Absolute $ Opportunity</c:v>
                </c:pt>
              </c:strCache>
            </c:strRef>
          </c:cat>
          <c:val>
            <c:numRef>
              <c:f>Sheet1!$B$2:$B$4</c:f>
              <c:numCache>
                <c:formatCode>General</c:formatCode>
                <c:ptCount val="3"/>
                <c:pt idx="0">
                  <c:v>0.0</c:v>
                </c:pt>
                <c:pt idx="1">
                  <c:v>2477.607</c:v>
                </c:pt>
                <c:pt idx="2">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Sheet1!$A$2:$A$4</c:f>
              <c:strCache>
                <c:ptCount val="3"/>
                <c:pt idx="0">
                  <c:v>Food Packaging</c:v>
                </c:pt>
                <c:pt idx="1">
                  <c:v>Non-Food Packaging</c:v>
                </c:pt>
                <c:pt idx="2">
                  <c:v>Total Absolute $ Opportunity</c:v>
                </c:pt>
              </c:strCache>
            </c:strRef>
          </c:cat>
          <c:val>
            <c:numRef>
              <c:f>Sheet1!$C$2:$C$4</c:f>
              <c:numCache>
                <c:formatCode>General</c:formatCode>
                <c:ptCount val="3"/>
                <c:pt idx="0">
                  <c:v>2477.607</c:v>
                </c:pt>
                <c:pt idx="1">
                  <c:v>498.397</c:v>
                </c:pt>
                <c:pt idx="2">
                  <c:v>2976.004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Sheet1!$B$2:$B$7</c:f>
              <c:numCache>
                <c:formatCode>General</c:formatCode>
                <c:ptCount val="6"/>
                <c:pt idx="0">
                  <c:v>0.0</c:v>
                </c:pt>
                <c:pt idx="1">
                  <c:v>2862.988</c:v>
                </c:pt>
                <c:pt idx="2">
                  <c:v>3490.076</c:v>
                </c:pt>
                <c:pt idx="3">
                  <c:v>4396.061</c:v>
                </c:pt>
                <c:pt idx="4">
                  <c:v>5436.972</c:v>
                </c:pt>
                <c:pt idx="5">
                  <c:v>0.0</c:v>
                </c:pt>
              </c:numCache>
            </c:numRef>
          </c:val>
        </c:ser>
        <c:ser>
          <c:idx val="1"/>
          <c:order val="1"/>
          <c:tx>
            <c:strRef>
              <c:f>Sheet1!$C$1</c:f>
              <c:strCache>
                <c:ptCount val="1"/>
                <c:pt idx="0">
                  <c:v>value</c:v>
                </c:pt>
              </c:strCache>
            </c:strRef>
          </c:tx>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Sheet1!$A$2:$A$7</c:f>
              <c:strCache>
                <c:ptCount val="6"/>
                <c:pt idx="0">
                  <c:v>2026</c:v>
                </c:pt>
                <c:pt idx="1">
                  <c:v>Low-Barrier Films</c:v>
                </c:pt>
                <c:pt idx="2">
                  <c:v>Medium-Barrier Films</c:v>
                </c:pt>
                <c:pt idx="3">
                  <c:v>High-Barrier Films</c:v>
                </c:pt>
                <c:pt idx="4">
                  <c:v>Ultra-High-Barrier Films</c:v>
                </c:pt>
                <c:pt idx="5">
                  <c:v>2036 Total</c:v>
                </c:pt>
              </c:strCache>
            </c:strRef>
          </c:cat>
          <c:val>
            <c:numRef>
              <c:f>Sheet1!$C$2:$C$7</c:f>
              <c:numCache>
                <c:formatCode>General</c:formatCode>
                <c:ptCount val="6"/>
                <c:pt idx="0">
                  <c:v>2862.988</c:v>
                </c:pt>
                <c:pt idx="1">
                  <c:v>627.088</c:v>
                </c:pt>
                <c:pt idx="2">
                  <c:v>905.9849999999999</c:v>
                </c:pt>
                <c:pt idx="3">
                  <c:v>1040.911</c:v>
                </c:pt>
                <c:pt idx="4">
                  <c:v>402.0199999999999</c:v>
                </c:pt>
                <c:pt idx="5">
                  <c:v>5838.992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f>Sheet1!$B$1</c:f>
              <c:strCache>
                <c:ptCount val="1"/>
                <c:pt idx="0">
                  <c:v>base</c:v>
                </c:pt>
              </c:strCache>
            </c:strRef>
          </c:tx>
          <c:spPr>
            <a:noFill/>
            <a:ln>
              <a:noFill/>
            </a:ln>
          </c:spPr>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Sheet1!$B$2:$B$6</c:f>
              <c:numCache>
                <c:formatCode>General</c:formatCode>
                <c:ptCount val="5"/>
                <c:pt idx="0">
                  <c:v>0.0</c:v>
                </c:pt>
                <c:pt idx="1">
                  <c:v>627.088</c:v>
                </c:pt>
                <c:pt idx="2">
                  <c:v>1533.0729999999999</c:v>
                </c:pt>
                <c:pt idx="3">
                  <c:v>2573.984</c:v>
                </c:pt>
                <c:pt idx="4">
                  <c:v>0.0</c:v>
                </c:pt>
              </c:numCache>
            </c:numRef>
          </c:val>
        </c:ser>
        <c:ser>
          <c:idx val="1"/>
          <c:order val="1"/>
          <c:tx>
            <c:strRef>
              <c:f>Sheet1!$C$1</c:f>
              <c:strCache>
                <c:ptCount val="1"/>
                <c:pt idx="0">
                  <c:v>value</c:v>
                </c:pt>
              </c:strCache>
            </c:strRef>
          </c:tx>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E72AE"/>
              </a:solidFill>
            </c:spPr>
          </c:dPt>
          <c:dLbls>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f>Sheet1!$A$2:$A$6</c:f>
              <c:strCache>
                <c:ptCount val="5"/>
                <c:pt idx="0">
                  <c:v>Low-Barrier Films</c:v>
                </c:pt>
                <c:pt idx="1">
                  <c:v>Medium-Barrier Films</c:v>
                </c:pt>
                <c:pt idx="2">
                  <c:v>High-Barrier Films</c:v>
                </c:pt>
                <c:pt idx="3">
                  <c:v>Ultra-High-Barrier Films</c:v>
                </c:pt>
                <c:pt idx="4">
                  <c:v>Total Absolute $ Opportunity</c:v>
                </c:pt>
              </c:strCache>
            </c:strRef>
          </c:cat>
          <c:val>
            <c:numRef>
              <c:f>Sheet1!$C$2:$C$6</c:f>
              <c:numCache>
                <c:formatCode>General</c:formatCode>
                <c:ptCount val="5"/>
                <c:pt idx="0">
                  <c:v>627.088</c:v>
                </c:pt>
                <c:pt idx="1">
                  <c:v>905.9849999999999</c:v>
                </c:pt>
                <c:pt idx="2">
                  <c:v>1040.911</c:v>
                </c:pt>
                <c:pt idx="3">
                  <c:v>402.0199999999999</c:v>
                </c:pt>
                <c:pt idx="4">
                  <c:v>2976.004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externalData r:id="rId1">
    <c:autoUpdate val="0"/>
  </c:externalData>
</c:chartSpace>
</file>

<file path=ppt/charts/chart377.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f>Sheet1!$B$1</c:f>
              <c:strCache>
                <c:ptCount val="1"/>
                <c:pt idx="0">
                  <c:v>Barrier Casings</c:v>
                </c:pt>
              </c:strCache>
            </c:strRef>
          </c:tx>
          <c:spPr>
            <a:ln w="25400">
              <a:solidFill>
                <a:srgbClr val="C55A11"/>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Sheet1!$B$2:$B$17</c:f>
              <c:numCache>
                <c:formatCode>General</c:formatCode>
                <c:ptCount val="16"/>
                <c:pt idx="0">
                  <c:v>4684.0</c:v>
                </c:pt>
                <c:pt idx="1">
                  <c:v>4715.0</c:v>
                </c:pt>
                <c:pt idx="2">
                  <c:v>4740.0</c:v>
                </c:pt>
                <c:pt idx="3">
                  <c:v>4759.0</c:v>
                </c:pt>
                <c:pt idx="4">
                  <c:v>4773.0</c:v>
                </c:pt>
                <c:pt idx="5">
                  <c:v>4783.0</c:v>
                </c:pt>
                <c:pt idx="6">
                  <c:v>4845.0</c:v>
                </c:pt>
                <c:pt idx="7">
                  <c:v>4900.0</c:v>
                </c:pt>
                <c:pt idx="8">
                  <c:v>4948.0</c:v>
                </c:pt>
                <c:pt idx="9">
                  <c:v>4997.0</c:v>
                </c:pt>
                <c:pt idx="10">
                  <c:v>5046.0</c:v>
                </c:pt>
                <c:pt idx="11">
                  <c:v>5101.0</c:v>
                </c:pt>
                <c:pt idx="12">
                  <c:v>5161.0</c:v>
                </c:pt>
                <c:pt idx="13">
                  <c:v>5220.0</c:v>
                </c:pt>
                <c:pt idx="14">
                  <c:v>5276.0</c:v>
                </c:pt>
                <c:pt idx="15">
                  <c:v>5329.0</c:v>
                </c:pt>
              </c:numCache>
            </c:numRef>
          </c:val>
          <c:smooth val="0"/>
        </c:ser>
        <c:ser>
          <c:idx val="1"/>
          <c:order val="1"/>
          <c:tx>
            <c:strRef>
              <c:f>Sheet1!$C$1</c:f>
              <c:strCache>
                <c:ptCount val="1"/>
                <c:pt idx="0">
                  <c:v>Rollstock Films</c:v>
                </c:pt>
              </c:strCache>
            </c:strRef>
          </c:tx>
          <c:spPr>
            <a:ln w="25400">
              <a:solidFill>
                <a:srgbClr val="0B2E4A"/>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Sheet1!$C$2:$C$17</c:f>
              <c:numCache>
                <c:formatCode>General</c:formatCode>
                <c:ptCount val="16"/>
                <c:pt idx="0">
                  <c:v>3253.0</c:v>
                </c:pt>
                <c:pt idx="1">
                  <c:v>3260.0</c:v>
                </c:pt>
                <c:pt idx="2">
                  <c:v>3269.0</c:v>
                </c:pt>
                <c:pt idx="3">
                  <c:v>3285.0</c:v>
                </c:pt>
                <c:pt idx="4">
                  <c:v>3302.0</c:v>
                </c:pt>
                <c:pt idx="5">
                  <c:v>3324.0</c:v>
                </c:pt>
                <c:pt idx="6">
                  <c:v>3322.0</c:v>
                </c:pt>
                <c:pt idx="7">
                  <c:v>3333.0</c:v>
                </c:pt>
                <c:pt idx="8">
                  <c:v>3357.0</c:v>
                </c:pt>
                <c:pt idx="9">
                  <c:v>3395.0</c:v>
                </c:pt>
                <c:pt idx="10">
                  <c:v>3438.0</c:v>
                </c:pt>
                <c:pt idx="11">
                  <c:v>3485.0</c:v>
                </c:pt>
                <c:pt idx="12">
                  <c:v>3539.0</c:v>
                </c:pt>
                <c:pt idx="13">
                  <c:v>3605.0</c:v>
                </c:pt>
                <c:pt idx="14">
                  <c:v>3684.0</c:v>
                </c:pt>
                <c:pt idx="15">
                  <c:v>3774.0</c:v>
                </c:pt>
              </c:numCache>
            </c:numRef>
          </c:val>
          <c:smooth val="0"/>
        </c:ser>
        <c:ser>
          <c:idx val="2"/>
          <c:order val="2"/>
          <c:tx>
            <c:strRef>
              <c:f>Sheet1!$D$1</c:f>
              <c:strCache>
                <c:ptCount val="1"/>
                <c:pt idx="0">
                  <c:v>Premade Pouches &amp; Bags</c:v>
                </c:pt>
              </c:strCache>
            </c:strRef>
          </c:tx>
          <c:spPr>
            <a:ln w="25400">
              <a:solidFill>
                <a:srgbClr val="7030A0"/>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Sheet1!$D$2:$D$17</c:f>
              <c:numCache>
                <c:formatCode>General</c:formatCode>
                <c:ptCount val="16"/>
                <c:pt idx="0">
                  <c:v>2985.0</c:v>
                </c:pt>
                <c:pt idx="1">
                  <c:v>3003.0</c:v>
                </c:pt>
                <c:pt idx="2">
                  <c:v>3020.0</c:v>
                </c:pt>
                <c:pt idx="3">
                  <c:v>3034.0</c:v>
                </c:pt>
                <c:pt idx="4">
                  <c:v>3047.0</c:v>
                </c:pt>
                <c:pt idx="5">
                  <c:v>3058.0</c:v>
                </c:pt>
                <c:pt idx="6">
                  <c:v>3098.0</c:v>
                </c:pt>
                <c:pt idx="7">
                  <c:v>3136.0</c:v>
                </c:pt>
                <c:pt idx="8">
                  <c:v>3177.0</c:v>
                </c:pt>
                <c:pt idx="9">
                  <c:v>3227.0</c:v>
                </c:pt>
                <c:pt idx="10">
                  <c:v>3280.0</c:v>
                </c:pt>
                <c:pt idx="11">
                  <c:v>3332.0</c:v>
                </c:pt>
                <c:pt idx="12">
                  <c:v>3375.0</c:v>
                </c:pt>
                <c:pt idx="13">
                  <c:v>3415.0</c:v>
                </c:pt>
                <c:pt idx="14">
                  <c:v>3452.0</c:v>
                </c:pt>
                <c:pt idx="15">
                  <c:v>3483.0</c:v>
                </c:pt>
              </c:numCache>
            </c:numRef>
          </c:val>
          <c:smooth val="0"/>
        </c:ser>
        <c:ser>
          <c:idx val="3"/>
          <c:order val="3"/>
          <c:tx>
            <c:strRef>
              <c:f>Sheet1!$E$1</c:f>
              <c:strCache>
                <c:ptCount val="1"/>
                <c:pt idx="0">
                  <c:v>Sachets &amp; Stick Packs</c:v>
                </c:pt>
              </c:strCache>
            </c:strRef>
          </c:tx>
          <c:spPr>
            <a:ln w="25400">
              <a:solidFill>
                <a:srgbClr val="008189"/>
              </a:solidFill>
            </a:ln>
          </c:spPr>
          <c:marker>
            <c:symbol val="none"/>
          </c:marker>
          <c:cat>
            <c:strRef>
              <c:f>Sheet1!$A$2:$A$17</c: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f>Sheet1!$E$2:$E$17</c:f>
              <c:numCache>
                <c:formatCode>General</c:formatCode>
                <c:ptCount val="16"/>
                <c:pt idx="0">
                  <c:v>2826.0</c:v>
                </c:pt>
                <c:pt idx="1">
                  <c:v>2831.0</c:v>
                </c:pt>
                <c:pt idx="2">
                  <c:v>2837.0</c:v>
                </c:pt>
                <c:pt idx="3">
                  <c:v>2847.0</c:v>
                </c:pt>
                <c:pt idx="4">
                  <c:v>2862.0</c:v>
                </c:pt>
                <c:pt idx="5">
                  <c:v>2883.0</c:v>
                </c:pt>
                <c:pt idx="6">
                  <c:v>2926.0</c:v>
                </c:pt>
                <c:pt idx="7">
                  <c:v>2981.0</c:v>
                </c:pt>
                <c:pt idx="8">
                  <c:v>3039.0</c:v>
                </c:pt>
                <c:pt idx="9">
                  <c:v>3090.0</c:v>
                </c:pt>
                <c:pt idx="10">
                  <c:v>3136.0</c:v>
                </c:pt>
                <c:pt idx="11">
                  <c:v>3172.0</c:v>
                </c:pt>
                <c:pt idx="12">
                  <c:v>3201.0</c:v>
                </c:pt>
                <c:pt idx="13">
                  <c:v>3229.0</c:v>
                </c:pt>
                <c:pt idx="14">
                  <c:v>3250.0</c:v>
                </c:pt>
                <c:pt idx="15">
                  <c:v>3262.0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5500.0"/>
          <c:min val="250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externalData r:id="rId1">
    <c:autoUpdate val="0"/>
  </c:externalData>
</c:chartSpace>
</file>

<file path=ppt/charts/chart3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f>Sheet1!$B$1</c:f>
              <c:strCache>
                <c:ptCount val="1"/>
                <c:pt idx="0">
                  <c:v>Index</c:v>
                </c:pt>
              </c:strCache>
            </c:strRef>
          </c:tx>
          <c:dPt>
            <c:idx val="0"/>
            <c:spPr>
              <a:solidFill>
                <a:srgbClr val="5B7DB1"/>
              </a:solidFill>
            </c:spPr>
          </c:dPt>
          <c:dPt>
            <c:idx val="1"/>
            <c:spPr>
              <a:solidFill>
                <a:srgbClr val="5B7DB1"/>
              </a:solidFill>
            </c:spPr>
          </c:dPt>
          <c:dPt>
            <c:idx val="2"/>
            <c:spPr>
              <a:solidFill>
                <a:srgbClr val="C55A11"/>
              </a:solidFill>
            </c:spPr>
          </c:dPt>
          <c:dPt>
            <c:idx val="3"/>
            <c:spPr>
              <a:solidFill>
                <a:srgbClr val="C55A11"/>
              </a:solidFill>
            </c:spPr>
          </c:dPt>
          <c:cat>
            <c:strRef>
              <c:f>Sheet1!$A$2:$A$5</c:f>
              <c:strCache>
                <c:ptCount val="4"/>
                <c:pt idx="0">
                  <c:v>Sachets &amp; Stick Packs</c:v>
                </c:pt>
                <c:pt idx="1">
                  <c:v>Premade Pouches &amp; Bags</c:v>
                </c:pt>
                <c:pt idx="2">
                  <c:v>Rollstock Films</c:v>
                </c:pt>
                <c:pt idx="3">
                  <c:v>Barrier Casings</c:v>
                </c:pt>
              </c:strCache>
            </c:strRef>
          </c:cat>
          <c:val>
            <c:numRef>
              <c:f>Sheet1!$B$2:$B$5</c:f>
              <c:numCache>
                <c:formatCode>General</c:formatCode>
                <c:ptCount val="4"/>
                <c:pt idx="0">
                  <c:v>86.9</c:v>
                </c:pt>
                <c:pt idx="1">
                  <c:v>92.2</c:v>
                </c:pt>
                <c:pt idx="2">
                  <c:v>100.2</c:v>
                </c:pt>
                <c:pt idx="3">
                  <c:v>144.1</c:v>
                </c:pt>
              </c:numCache>
            </c:numRef>
          </c:val>
        </c:ser>
        <c:dLbls>
          <c:numFmt formatCode="0.0" sourceLinked="0"/>
          <c:txPr>
            <a:bodyPr/>
            <a:lstStyle/>
            <a:p>
              <a:pPr>
                <a:defRPr sz="900" b="1">
                  <a:solidFill>
                    <a:srgbClr val="1F1F1F"/>
                  </a:solidFill>
                </a:defRPr>
              </a:pPr>
            </a:p>
          </c:txPr>
          <c:dLblPos val="outEnd"/>
          <c:showLegendKey val="0"/>
          <c:showVal val="1"/>
          <c:showCatName val="0"/>
          <c:showSerName val="0"/>
          <c:showPercent val="0"/>
          <c:showBubbleSize val="0"/>
          <c:showLeaderLines val="1"/>
        </c:dLbls>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46.0"/>
          <c:min val="84.0"/>
        </c:scaling>
        <c:delete/>
        <c:axPos val="b"/>
        <c:majorTickMark val="out"/>
        <c:minorTickMark val="none"/>
        <c:tickLblPos val="nextTo"/>
        <c:crossAx val="-2068027336"/>
        <c:crosses val="autoZero"/>
      </c:valAx>
    </c:plotArea>
    <c:dispBlanksAs val="gap"/>
  </c:chart>
  <c:txPr>
    <a:bodyPr/>
    <a:lstStyle/>
    <a:p>
      <a:pPr>
        <a:defRPr sz="1800"/>
      </a:pPr>
      <a:endParaRPr lang="en-US"/>
    </a:p>
  </c:txPr>
  <c:externalData r:id="rId1">
    <c:autoUpdate val="0"/>
  </c:externalData>
</c:chartSpace>
</file>

<file path=ppt/charts/chart379.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f>Sheet1!$B$1</c:f>
              <c:strCache>
                <c:ptCount val="1"/>
                <c:pt idx="0">
                  <c:v>Base</c:v>
                </c:pt>
              </c:strCache>
            </c:strRef>
          </c:tx>
          <c:spPr>
            <a:noFill/>
          </c:spPr>
          <c:cat>
            <c:strRef>
              <c:f>Sheet1!$A$2:$A$12</c:f>
              <c:strCache>
                <c:ptCount val="11"/>
                <c:pt idx="0">
                  <c:v>Switzerland</c:v>
                </c:pt>
                <c:pt idx="1">
                  <c:v>Nordic</c:v>
                </c:pt>
                <c:pt idx="2">
                  <c:v>Germany</c:v>
                </c:pt>
                <c:pt idx="3">
                  <c:v>Belgium</c:v>
                </c:pt>
                <c:pt idx="4">
                  <c:v>U.K.</c:v>
                </c:pt>
                <c:pt idx="5">
                  <c:v>Netherlands</c:v>
                </c:pt>
                <c:pt idx="6">
                  <c:v>France</c:v>
                </c:pt>
                <c:pt idx="7">
                  <c:v>Italy</c:v>
                </c:pt>
                <c:pt idx="8">
                  <c:v>Spain</c:v>
                </c:pt>
                <c:pt idx="9">
                  <c:v>Poland</c:v>
                </c:pt>
                <c:pt idx="10">
                  <c:v>Russia</c:v>
                </c:pt>
              </c:strCache>
            </c:strRef>
          </c:cat>
          <c:val>
            <c:numRef>
              <c:f>Sheet1!$B$2:$B$12</c:f>
              <c:numCache>
                <c:formatCode>General</c:formatCode>
                <c:ptCount val="11"/>
                <c:pt idx="0">
                  <c:v>101.3</c:v>
                </c:pt>
                <c:pt idx="1">
                  <c:v>96.8</c:v>
                </c:pt>
                <c:pt idx="2">
                  <c:v>93.4</c:v>
                </c:pt>
                <c:pt idx="3">
                  <c:v>92.0</c:v>
                </c:pt>
                <c:pt idx="4">
                  <c:v>91.3</c:v>
                </c:pt>
                <c:pt idx="5">
                  <c:v>90.5</c:v>
                </c:pt>
                <c:pt idx="6">
                  <c:v>88.9</c:v>
                </c:pt>
                <c:pt idx="7">
                  <c:v>83.0</c:v>
                </c:pt>
                <c:pt idx="8">
                  <c:v>79.7</c:v>
                </c:pt>
                <c:pt idx="9">
                  <c:v>74.4</c:v>
                </c:pt>
                <c:pt idx="10">
                  <c:v>72.1</c:v>
                </c:pt>
              </c:numCache>
            </c:numRef>
          </c:val>
        </c:ser>
        <c:ser>
          <c:idx val="1"/>
          <c:order val="1"/>
          <c:tx>
            <c:strRef>
              <c:f>Sheet1!$C$1</c:f>
              <c:strCache>
                <c:ptCount val="1"/>
                <c:pt idx="0">
                  <c:v>Range</c:v>
                </c:pt>
              </c:strCache>
            </c:strRef>
          </c:tx>
          <c:spPr>
            <a:solidFill>
              <a:srgbClr val="008189"/>
            </a:solidFill>
          </c:spPr>
          <c:dPt>
            <c:idx val="7"/>
            <c:spPr>
              <a:solidFill>
                <a:srgbClr val="5B7DB1"/>
              </a:solidFill>
            </c:spPr>
          </c:dPt>
          <c:dPt>
            <c:idx val="8"/>
            <c:spPr>
              <a:solidFill>
                <a:srgbClr val="5B7DB1"/>
              </a:solidFill>
            </c:spPr>
          </c:dPt>
          <c:dPt>
            <c:idx val="9"/>
            <c:spPr>
              <a:solidFill>
                <a:srgbClr val="5B7DB1"/>
              </a:solidFill>
            </c:spPr>
          </c:dPt>
          <c:dPt>
            <c:idx val="10"/>
            <c:spPr>
              <a:solidFill>
                <a:srgbClr val="5B7DB1"/>
              </a:solidFill>
            </c:spPr>
          </c:dPt>
          <c:cat>
            <c:strRef>
              <c:f>Sheet1!$A$2:$A$12</c:f>
              <c:strCache>
                <c:ptCount val="11"/>
                <c:pt idx="0">
                  <c:v>Switzerland</c:v>
                </c:pt>
                <c:pt idx="1">
                  <c:v>Nordic</c:v>
                </c:pt>
                <c:pt idx="2">
                  <c:v>Germany</c:v>
                </c:pt>
                <c:pt idx="3">
                  <c:v>Belgium</c:v>
                </c:pt>
                <c:pt idx="4">
                  <c:v>U.K.</c:v>
                </c:pt>
                <c:pt idx="5">
                  <c:v>Netherlands</c:v>
                </c:pt>
                <c:pt idx="6">
                  <c:v>France</c:v>
                </c:pt>
                <c:pt idx="7">
                  <c:v>Italy</c:v>
                </c:pt>
                <c:pt idx="8">
                  <c:v>Spain</c:v>
                </c:pt>
                <c:pt idx="9">
                  <c:v>Poland</c:v>
                </c:pt>
                <c:pt idx="10">
                  <c:v>Russia</c:v>
                </c:pt>
              </c:strCache>
            </c:strRef>
          </c:cat>
          <c:val>
            <c:numRef>
              <c:f>Sheet1!$C$2:$C$12</c:f>
              <c:numCache>
                <c:formatCode>General</c:formatCode>
                <c:ptCount val="11"/>
                <c:pt idx="0">
                  <c:v>68.1</c:v>
                </c:pt>
                <c:pt idx="1">
                  <c:v>65.1</c:v>
                </c:pt>
                <c:pt idx="2">
                  <c:v>63.0</c:v>
                </c:pt>
                <c:pt idx="3">
                  <c:v>61.4</c:v>
                </c:pt>
                <c:pt idx="4">
                  <c:v>61.6</c:v>
                </c:pt>
                <c:pt idx="5">
                  <c:v>61.0</c:v>
                </c:pt>
                <c:pt idx="6">
                  <c:v>59.9</c:v>
                </c:pt>
                <c:pt idx="7">
                  <c:v>55.9</c:v>
                </c:pt>
                <c:pt idx="8">
                  <c:v>53.9</c:v>
                </c:pt>
                <c:pt idx="9">
                  <c:v>50.1</c:v>
                </c:pt>
                <c:pt idx="10">
                  <c:v>48.4</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70.0"/>
          <c:min val="70.0"/>
        </c:scaling>
        <c:delete val="0"/>
        <c:axPos val="l"/>
        <c:majorGridlines>
          <c:spPr>
            <a:ln>
              <a:solidFill>
                <a:srgbClr val="D9DEE4"/>
              </a:solidFill>
            </a:ln>
          </c:spPr>
        </c:majorGridlines>
        <c:numFmt formatCode="0" sourceLinked="0"/>
        <c:majorTickMark val="out"/>
        <c:minorTickMark val="none"/>
        <c:tickLblPos val="nextTo"/>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8.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9.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0.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2.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3.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6.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7.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9.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0.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3.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4.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6.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7.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8.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9.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0.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2.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5.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6.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7.xm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8.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9.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2.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3.xm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2.xm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3.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4.xm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5.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6.xm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6.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7.xm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8.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9.xm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0.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1.xm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2.xm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3.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4.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5.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6.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7.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8.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9.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1.xm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2.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3.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4.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5.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6.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7.xm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8.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9.xm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0.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2.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3.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4.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5.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6.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7.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8.xml"/></Relationships>
</file>

<file path=ppt/notesSlides/_rels/notesSlide3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9.xml"/></Relationships>
</file>

<file path=ppt/notesSlides/_rels/notesSlide3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0.xml"/></Relationships>
</file>

<file path=ppt/notesSlides/_rels/notesSlide4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2.xml"/></Relationships>
</file>

<file path=ppt/notesSlides/_rels/notesSlide4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3.xml"/></Relationships>
</file>

<file path=ppt/notesSlides/_rels/notesSlide4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4.xml"/></Relationships>
</file>

<file path=ppt/notesSlides/_rels/notesSlide4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5.xml"/></Relationships>
</file>

<file path=ppt/notesSlides/_rels/notesSlide4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6.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7.xml"/></Relationships>
</file>

<file path=ppt/notesSlides/_rels/notesSlide4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8.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9.xml"/></Relationships>
</file>

<file path=ppt/notesSlides/_rels/notesSlide4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0.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1.xml"/></Relationships>
</file>

<file path=ppt/notesSlides/_rels/notesSlide4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2.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4.xml"/></Relationships>
</file>

<file path=ppt/notesSlides/_rels/notesSlide4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5.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6.xml"/></Relationships>
</file>

<file path=ppt/notesSlides/_rels/notesSlide4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7.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8.xml"/></Relationships>
</file>

<file path=ppt/notesSlides/_rels/notesSlide4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9.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0.xml"/></Relationships>
</file>

<file path=ppt/notesSlides/_rels/notesSlide4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2.xml"/></Relationships>
</file>

<file path=ppt/notesSlides/_rels/notesSlide4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3.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4.xml"/></Relationships>
</file>

<file path=ppt/notesSlides/_rels/notesSlide4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5.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6.xml"/></Relationships>
</file>

<file path=ppt/notesSlides/_rels/notesSlide4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7.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8.xml"/></Relationships>
</file>

<file path=ppt/notesSlides/_rels/notesSlide4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9.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0.xml"/></Relationships>
</file>

<file path=ppt/notesSlides/_rels/notesSlide4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2.xml"/></Relationships>
</file>

<file path=ppt/notesSlides/_rels/notesSlide4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3.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4.xml"/></Relationships>
</file>

<file path=ppt/notesSlides/_rels/notesSlide4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5.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6.xml"/></Relationships>
</file>

<file path=ppt/notesSlides/_rels/notesSlide4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7.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8.xml"/></Relationships>
</file>

<file path=ppt/notesSlides/_rels/notesSlide4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9.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0.xml"/></Relationships>
</file>

<file path=ppt/notesSlides/_rels/notesSlide4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2.xml"/></Relationships>
</file>

<file path=ppt/notesSlides/_rels/notesSlide4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3.xml"/></Relationships>
</file>

<file path=ppt/notesSlides/_rels/notesSlide4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4.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5.xml"/></Relationships>
</file>

<file path=ppt/notesSlides/_rels/notesSlide4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7.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8.xml"/></Relationships>
</file>

<file path=ppt/notesSlides/_rels/notesSlide4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9.xml"/></Relationships>
</file>

<file path=ppt/notesSlides/_rels/notesSlide4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0.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1.xml"/></Relationships>
</file>

<file path=ppt/notesSlides/_rels/notesSlide4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2.xml"/></Relationships>
</file>

<file path=ppt/notesSlides/_rels/notesSlide4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3.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4.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5.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6.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7.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8.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9.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0.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2.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3.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4.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5.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6.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7.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8.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9.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0.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2.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3.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4.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5.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6.xml"/></Relationships>
</file>

<file path=ppt/notesSlides/_rels/notesSlide4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7.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8.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9.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2.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3.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4.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5.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6.xml"/></Relationships>
</file>

<file path=ppt/notesSlides/_rels/notesSlide4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7.xml"/></Relationships>
</file>

<file path=ppt/notesSlides/_rels/notesSlide4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8.xml"/></Relationships>
</file>

<file path=ppt/notesSlides/_rels/notesSlide4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9.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0.xml"/></Relationships>
</file>

<file path=ppt/notesSlides/_rels/notesSlide4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1.xml"/></Relationships>
</file>

<file path=ppt/notesSlides/_rels/notesSlide4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3.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4.xml"/></Relationships>
</file>

<file path=ppt/notesSlides/_rels/notesSlide4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5.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6.xml"/></Relationships>
</file>

<file path=ppt/notesSlides/_rels/notesSlide4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8.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9.xml"/></Relationships>
</file>

<file path=ppt/notesSlides/_rels/notesSlide4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0.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1.xml"/></Relationships>
</file>

<file path=ppt/notesSlides/_rels/notesSlide4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2.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3.xml"/></Relationships>
</file>

<file path=ppt/notesSlides/_rels/notesSlide4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4.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5.xml"/></Relationships>
</file>

<file path=ppt/notesSlides/_rels/notesSlide5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6.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7.xml"/></Relationships>
</file>

<file path=ppt/notesSlides/_rels/notesSlide5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8.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9.xml"/></Relationships>
</file>

<file path=ppt/notesSlides/_rels/notesSlide5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0.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1.xml"/></Relationships>
</file>

<file path=ppt/notesSlides/_rels/notesSlide5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3.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4.xml"/></Relationships>
</file>

<file path=ppt/notesSlides/_rels/notesSlide5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5.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6.xml"/></Relationships>
</file>

<file path=ppt/notesSlides/_rels/notesSlide5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7.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8.xml"/></Relationships>
</file>

<file path=ppt/notesSlides/_rels/notesSlide5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9.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0.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Market Segments</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Europe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Europe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Europe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Europe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Europe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Europe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Europe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Europe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Europe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Europe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Europe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Europe Flexible Plastic Packaging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Product Type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By Principal Material / Barrier Technology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(1/3)</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(2/3)</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Absolute $ Analysis  (3/3)</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Principal Material / Barrier Technology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By Material Structure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Material Structure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By Barrier Level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Volume</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YoY Analysis Value</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By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Volume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By Barrier Level Vs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Volume Analysis</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(1/2)</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Volume  (2/2)</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(1/2)</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Barrier Level Vs Application YoY Analysis Value  (2/2)</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2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2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2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2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2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2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2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2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2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2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2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2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2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2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2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2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2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2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2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3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3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3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3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3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3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3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3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3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3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3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3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3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3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3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3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3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3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3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3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3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3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3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3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3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3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3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3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3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3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3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3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3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3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3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3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3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3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3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3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3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3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3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3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3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3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3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3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4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4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4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4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4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4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4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4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4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4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4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4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4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4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4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4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4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4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4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4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4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4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4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4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4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4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4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4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4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4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4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4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4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Overview Key Segments (Value)</a:t>
            </a:r>
          </a:p>
        </p:txBody>
      </p:sp>
      <p:sp>
        <p:nvSpPr>
          <p:cNvPr id="4" name="Slide Number Placeholder 3"/>
          <p:cNvSpPr>
            <a:spLocks noGrp="1"/>
          </p:cNvSpPr>
          <p:nvPr>
            <p:ph type="sldNum" idx="5" sz="quarter"/>
          </p:nvPr>
        </p:nvSpPr>
        <p:spPr/>
      </p:sp>
    </p:spTree>
  </p:cSld>
  <p:clrMapOvr>
    <a:masterClrMapping/>
  </p:clrMapOvr>
</p:notes>
</file>

<file path=ppt/notesSlides/notesSlide4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4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(1/2)</a:t>
            </a:r>
          </a:p>
        </p:txBody>
      </p:sp>
      <p:sp>
        <p:nvSpPr>
          <p:cNvPr id="4" name="Slide Number Placeholder 3"/>
          <p:cNvSpPr>
            <a:spLocks noGrp="1"/>
          </p:cNvSpPr>
          <p:nvPr>
            <p:ph type="sldNum" idx="5" sz="quarter"/>
          </p:nvPr>
        </p:nvSpPr>
        <p:spPr/>
      </p:sp>
    </p:spTree>
  </p:cSld>
  <p:clrMapOvr>
    <a:masterClrMapping/>
  </p:clrMapOvr>
</p:notes>
</file>

<file path=ppt/notesSlides/notesSlide4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Product Type YoY  (2/2)</a:t>
            </a:r>
          </a:p>
        </p:txBody>
      </p:sp>
      <p:sp>
        <p:nvSpPr>
          <p:cNvPr id="4" name="Slide Number Placeholder 3"/>
          <p:cNvSpPr>
            <a:spLocks noGrp="1"/>
          </p:cNvSpPr>
          <p:nvPr>
            <p:ph type="sldNum" idx="5" sz="quarter"/>
          </p:nvPr>
        </p:nvSpPr>
        <p:spPr/>
      </p:sp>
    </p:spTree>
  </p:cSld>
  <p:clrMapOvr>
    <a:masterClrMapping/>
  </p:clrMapOvr>
</p:notes>
</file>

<file path=ppt/notesSlides/notesSlide4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4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4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(1/2)</a:t>
            </a:r>
          </a:p>
        </p:txBody>
      </p:sp>
      <p:sp>
        <p:nvSpPr>
          <p:cNvPr id="4" name="Slide Number Placeholder 3"/>
          <p:cNvSpPr>
            <a:spLocks noGrp="1"/>
          </p:cNvSpPr>
          <p:nvPr>
            <p:ph type="sldNum" idx="5" sz="quarter"/>
          </p:nvPr>
        </p:nvSpPr>
        <p:spPr/>
      </p:sp>
    </p:spTree>
  </p:cSld>
  <p:clrMapOvr>
    <a:masterClrMapping/>
  </p:clrMapOvr>
</p:notes>
</file>

<file path=ppt/notesSlides/notesSlide4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Principal Material / Barrier Technology YoY  (2/2)</a:t>
            </a:r>
          </a:p>
        </p:txBody>
      </p:sp>
      <p:sp>
        <p:nvSpPr>
          <p:cNvPr id="4" name="Slide Number Placeholder 3"/>
          <p:cNvSpPr>
            <a:spLocks noGrp="1"/>
          </p:cNvSpPr>
          <p:nvPr>
            <p:ph type="sldNum" idx="5" sz="quarter"/>
          </p:nvPr>
        </p:nvSpPr>
        <p:spPr/>
      </p:sp>
    </p:spTree>
  </p:cSld>
  <p:clrMapOvr>
    <a:masterClrMapping/>
  </p:clrMapOvr>
</p:notes>
</file>

<file path=ppt/notesSlides/notesSlide4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4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(1/2)</a:t>
            </a:r>
          </a:p>
        </p:txBody>
      </p:sp>
      <p:sp>
        <p:nvSpPr>
          <p:cNvPr id="4" name="Slide Number Placeholder 3"/>
          <p:cNvSpPr>
            <a:spLocks noGrp="1"/>
          </p:cNvSpPr>
          <p:nvPr>
            <p:ph type="sldNum" idx="5" sz="quarter"/>
          </p:nvPr>
        </p:nvSpPr>
        <p:spPr/>
      </p:sp>
    </p:spTree>
  </p:cSld>
  <p:clrMapOvr>
    <a:masterClrMapping/>
  </p:clrMapOvr>
</p:notes>
</file>

<file path=ppt/notesSlides/notesSlide4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Material Structure YoY  (2/2)</a:t>
            </a:r>
          </a:p>
        </p:txBody>
      </p:sp>
      <p:sp>
        <p:nvSpPr>
          <p:cNvPr id="4" name="Slide Number Placeholder 3"/>
          <p:cNvSpPr>
            <a:spLocks noGrp="1"/>
          </p:cNvSpPr>
          <p:nvPr>
            <p:ph type="sldNum" idx="5" sz="quarter"/>
          </p:nvPr>
        </p:nvSpPr>
        <p:spPr/>
      </p:sp>
    </p:spTree>
  </p:cSld>
  <p:clrMapOvr>
    <a:masterClrMapping/>
  </p:clrMapOvr>
</p:notes>
</file>

<file path=ppt/notesSlides/notesSlide4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4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4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YoY</a:t>
            </a:r>
          </a:p>
        </p:txBody>
      </p:sp>
      <p:sp>
        <p:nvSpPr>
          <p:cNvPr id="4" name="Slide Number Placeholder 3"/>
          <p:cNvSpPr>
            <a:spLocks noGrp="1"/>
          </p:cNvSpPr>
          <p:nvPr>
            <p:ph type="sldNum" idx="5" sz="quarter"/>
          </p:nvPr>
        </p:nvSpPr>
        <p:spPr/>
      </p:sp>
    </p:spTree>
  </p:cSld>
  <p:clrMapOvr>
    <a:masterClrMapping/>
  </p:clrMapOvr>
</p:notes>
</file>

<file path=ppt/notesSlides/notesSlide4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4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4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4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4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(1/2)</a:t>
            </a:r>
          </a:p>
        </p:txBody>
      </p:sp>
      <p:sp>
        <p:nvSpPr>
          <p:cNvPr id="4" name="Slide Number Placeholder 3"/>
          <p:cNvSpPr>
            <a:spLocks noGrp="1"/>
          </p:cNvSpPr>
          <p:nvPr>
            <p:ph type="sldNum" idx="5" sz="quarter"/>
          </p:nvPr>
        </p:nvSpPr>
        <p:spPr/>
      </p:sp>
    </p:spTree>
  </p:cSld>
  <p:clrMapOvr>
    <a:masterClrMapping/>
  </p:clrMapOvr>
</p:notes>
</file>

<file path=ppt/notesSlides/notesSlide4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4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(1/2)</a:t>
            </a:r>
          </a:p>
        </p:txBody>
      </p:sp>
      <p:sp>
        <p:nvSpPr>
          <p:cNvPr id="4" name="Slide Number Placeholder 3"/>
          <p:cNvSpPr>
            <a:spLocks noGrp="1"/>
          </p:cNvSpPr>
          <p:nvPr>
            <p:ph type="sldNum" idx="5" sz="quarter"/>
          </p:nvPr>
        </p:nvSpPr>
        <p:spPr/>
      </p:sp>
    </p:spTree>
  </p:cSld>
  <p:clrMapOvr>
    <a:masterClrMapping/>
  </p:clrMapOvr>
</p:notes>
</file>

<file path=ppt/notesSlides/notesSlide4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Country Barrier Level Vs Application YoY  (2/2)</a:t>
            </a:r>
          </a:p>
        </p:txBody>
      </p:sp>
      <p:sp>
        <p:nvSpPr>
          <p:cNvPr id="4" name="Slide Number Placeholder 3"/>
          <p:cNvSpPr>
            <a:spLocks noGrp="1"/>
          </p:cNvSpPr>
          <p:nvPr>
            <p:ph type="sldNum" idx="5" sz="quarter"/>
          </p:nvPr>
        </p:nvSpPr>
        <p:spPr/>
      </p:sp>
    </p:spTree>
  </p:cSld>
  <p:clrMapOvr>
    <a:masterClrMapping/>
  </p:clrMapOvr>
</p:notes>
</file>

<file path=ppt/notesSlides/notesSlide4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4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4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Europe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4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Europe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4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4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4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4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Regional Price Assessment  (1/2)</a:t>
            </a:r>
          </a:p>
        </p:txBody>
      </p:sp>
      <p:sp>
        <p:nvSpPr>
          <p:cNvPr id="4" name="Slide Number Placeholder 3"/>
          <p:cNvSpPr>
            <a:spLocks noGrp="1"/>
          </p:cNvSpPr>
          <p:nvPr>
            <p:ph type="sldNum" idx="5" sz="quarter"/>
          </p:nvPr>
        </p:nvSpPr>
        <p:spPr/>
      </p:sp>
    </p:spTree>
  </p:cSld>
  <p:clrMapOvr>
    <a:masterClrMapping/>
  </p:clrMapOvr>
</p:notes>
</file>

<file path=ppt/notesSlides/notesSlide4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Regional Price Assessment  (2/2)</a:t>
            </a:r>
          </a:p>
        </p:txBody>
      </p:sp>
      <p:sp>
        <p:nvSpPr>
          <p:cNvPr id="4" name="Slide Number Placeholder 3"/>
          <p:cNvSpPr>
            <a:spLocks noGrp="1"/>
          </p:cNvSpPr>
          <p:nvPr>
            <p:ph type="sldNum" idx="5" sz="quarter"/>
          </p:nvPr>
        </p:nvSpPr>
        <p:spPr/>
      </p:sp>
    </p:spTree>
  </p:cSld>
  <p:clrMapOvr>
    <a:masterClrMapping/>
  </p:clrMapOvr>
</p:notes>
</file>

<file path=ppt/notesSlides/notesSlide4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Europe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4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4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4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4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4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4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4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Dynamics by Geography  (1/2)</a:t>
            </a:r>
          </a:p>
        </p:txBody>
      </p:sp>
      <p:sp>
        <p:nvSpPr>
          <p:cNvPr id="4" name="Slide Number Placeholder 3"/>
          <p:cNvSpPr>
            <a:spLocks noGrp="1"/>
          </p:cNvSpPr>
          <p:nvPr>
            <p:ph type="sldNum" idx="5" sz="quarter"/>
          </p:nvPr>
        </p:nvSpPr>
        <p:spPr/>
      </p:sp>
    </p:spTree>
  </p:cSld>
  <p:clrMapOvr>
    <a:masterClrMapping/>
  </p:clrMapOvr>
</p:notes>
</file>

<file path=ppt/notesSlides/notesSlide4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Dynamics by Geography  (2/2)</a:t>
            </a:r>
          </a:p>
        </p:txBody>
      </p:sp>
      <p:sp>
        <p:nvSpPr>
          <p:cNvPr id="4" name="Slide Number Placeholder 3"/>
          <p:cNvSpPr>
            <a:spLocks noGrp="1"/>
          </p:cNvSpPr>
          <p:nvPr>
            <p:ph type="sldNum" idx="5" sz="quarter"/>
          </p:nvPr>
        </p:nvSpPr>
        <p:spPr/>
      </p:sp>
    </p:spTree>
  </p:cSld>
  <p:clrMapOvr>
    <a:masterClrMapping/>
  </p:clrMapOvr>
</p:notes>
</file>

<file path=ppt/notesSlides/notesSlide4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4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4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4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4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4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5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(1/6)</a:t>
            </a:r>
          </a:p>
        </p:txBody>
      </p:sp>
      <p:sp>
        <p:nvSpPr>
          <p:cNvPr id="4" name="Slide Number Placeholder 3"/>
          <p:cNvSpPr>
            <a:spLocks noGrp="1"/>
          </p:cNvSpPr>
          <p:nvPr>
            <p:ph type="sldNum" idx="5" sz="quarter"/>
          </p:nvPr>
        </p:nvSpPr>
        <p:spPr/>
      </p:sp>
    </p:spTree>
  </p:cSld>
  <p:clrMapOvr>
    <a:masterClrMapping/>
  </p:clrMapOvr>
</p:notes>
</file>

<file path=ppt/notesSlides/notesSlide5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(2/6)</a:t>
            </a:r>
          </a:p>
        </p:txBody>
      </p:sp>
      <p:sp>
        <p:nvSpPr>
          <p:cNvPr id="4" name="Slide Number Placeholder 3"/>
          <p:cNvSpPr>
            <a:spLocks noGrp="1"/>
          </p:cNvSpPr>
          <p:nvPr>
            <p:ph type="sldNum" idx="5" sz="quarter"/>
          </p:nvPr>
        </p:nvSpPr>
        <p:spPr/>
      </p:sp>
    </p:spTree>
  </p:cSld>
  <p:clrMapOvr>
    <a:masterClrMapping/>
  </p:clrMapOvr>
</p:notes>
</file>

<file path=ppt/notesSlides/notesSlide5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(3/6)</a:t>
            </a:r>
          </a:p>
        </p:txBody>
      </p:sp>
      <p:sp>
        <p:nvSpPr>
          <p:cNvPr id="4" name="Slide Number Placeholder 3"/>
          <p:cNvSpPr>
            <a:spLocks noGrp="1"/>
          </p:cNvSpPr>
          <p:nvPr>
            <p:ph type="sldNum" idx="5" sz="quarter"/>
          </p:nvPr>
        </p:nvSpPr>
        <p:spPr/>
      </p:sp>
    </p:spTree>
  </p:cSld>
  <p:clrMapOvr>
    <a:masterClrMapping/>
  </p:clrMapOvr>
</p:notes>
</file>

<file path=ppt/notesSlides/notesSlide5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(4/6)</a:t>
            </a:r>
          </a:p>
        </p:txBody>
      </p:sp>
      <p:sp>
        <p:nvSpPr>
          <p:cNvPr id="4" name="Slide Number Placeholder 3"/>
          <p:cNvSpPr>
            <a:spLocks noGrp="1"/>
          </p:cNvSpPr>
          <p:nvPr>
            <p:ph type="sldNum" idx="5" sz="quarter"/>
          </p:nvPr>
        </p:nvSpPr>
        <p:spPr/>
      </p:sp>
    </p:spTree>
  </p:cSld>
  <p:clrMapOvr>
    <a:masterClrMapping/>
  </p:clrMapOvr>
</p:notes>
</file>

<file path=ppt/notesSlides/notesSlide5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(5/6)</a:t>
            </a:r>
          </a:p>
        </p:txBody>
      </p:sp>
      <p:sp>
        <p:nvSpPr>
          <p:cNvPr id="4" name="Slide Number Placeholder 3"/>
          <p:cNvSpPr>
            <a:spLocks noGrp="1"/>
          </p:cNvSpPr>
          <p:nvPr>
            <p:ph type="sldNum" idx="5" sz="quarter"/>
          </p:nvPr>
        </p:nvSpPr>
        <p:spPr/>
      </p:sp>
    </p:spTree>
  </p:cSld>
  <p:clrMapOvr>
    <a:masterClrMapping/>
  </p:clrMapOvr>
</p:notes>
</file>

<file path=ppt/notesSlides/notesSlide5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Table of Contents  (6/6)</a:t>
            </a:r>
          </a:p>
        </p:txBody>
      </p:sp>
      <p:sp>
        <p:nvSpPr>
          <p:cNvPr id="4" name="Slide Number Placeholder 3"/>
          <p:cNvSpPr>
            <a:spLocks noGrp="1"/>
          </p:cNvSpPr>
          <p:nvPr>
            <p:ph type="sldNum" idx="5" sz="quarter"/>
          </p:nvPr>
        </p:nvSpPr>
        <p:spPr/>
      </p:sp>
    </p:spTree>
  </p:cSld>
  <p:clrMapOvr>
    <a:masterClrMapping/>
  </p:clrMapOvr>
</p:notes>
</file>

<file path=ppt/notesSlides/notesSlide5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5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5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5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5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5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5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5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Flexible Plastic Packaging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542.xml"/><Relationship Id="rId7" Type="http://schemas.openxmlformats.org/officeDocument/2006/relationships/slide" Target="slide551.xml"/><Relationship Id="rId8" Type="http://schemas.openxmlformats.org/officeDocument/2006/relationships/slide" Target="slide10.xml"/><Relationship Id="rId9" Type="http://schemas.openxmlformats.org/officeDocument/2006/relationships/slide" Target="slide11.xml"/><Relationship Id="rId10" Type="http://schemas.openxmlformats.org/officeDocument/2006/relationships/slide" Target="slide22.xml"/><Relationship Id="rId11" Type="http://schemas.openxmlformats.org/officeDocument/2006/relationships/slide" Target="slide30.xml"/><Relationship Id="rId12" Type="http://schemas.openxmlformats.org/officeDocument/2006/relationships/slide" Target="slide104.xml"/><Relationship Id="rId13" Type="http://schemas.openxmlformats.org/officeDocument/2006/relationships/slide" Target="slide106.xml"/><Relationship Id="rId14" Type="http://schemas.openxmlformats.org/officeDocument/2006/relationships/slide" Target="slide110.xml"/><Relationship Id="rId15" Type="http://schemas.openxmlformats.org/officeDocument/2006/relationships/slide" Target="slide509.xml"/><Relationship Id="rId16" Type="http://schemas.openxmlformats.org/officeDocument/2006/relationships/slide" Target="slide510.xml"/><Relationship Id="rId17" Type="http://schemas.openxmlformats.org/officeDocument/2006/relationships/slide" Target="slide522.xml"/><Relationship Id="rId18" Type="http://schemas.openxmlformats.org/officeDocument/2006/relationships/slide" Target="slide526.xml"/><Relationship Id="rId19" Type="http://schemas.openxmlformats.org/officeDocument/2006/relationships/slide" Target="slide52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7" Type="http://schemas.openxmlformats.org/officeDocument/2006/relationships/notesSlide" Target="../notesSlides/notesSlide2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xml"/><Relationship Id="rId4" Type="http://schemas.openxmlformats.org/officeDocument/2006/relationships/notesSlide" Target="../notesSlides/notesSlide3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chart" Target="../charts/chart25.xml"/><Relationship Id="rId5" Type="http://schemas.openxmlformats.org/officeDocument/2006/relationships/chart" Target="../charts/chart26.xml"/><Relationship Id="rId6" Type="http://schemas.openxmlformats.org/officeDocument/2006/relationships/chart" Target="../charts/chart27.xml"/><Relationship Id="rId7" Type="http://schemas.openxmlformats.org/officeDocument/2006/relationships/notesSlide" Target="../notesSlides/notesSlide3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xml"/><Relationship Id="rId4" Type="http://schemas.openxmlformats.org/officeDocument/2006/relationships/chart" Target="../charts/chart29.xml"/><Relationship Id="rId5" Type="http://schemas.openxmlformats.org/officeDocument/2006/relationships/chart" Target="../charts/chart30.xml"/><Relationship Id="rId6" Type="http://schemas.openxmlformats.org/officeDocument/2006/relationships/chart" Target="../charts/chart31.xml"/><Relationship Id="rId7" Type="http://schemas.openxmlformats.org/officeDocument/2006/relationships/notesSlide" Target="../notesSlides/notesSlide4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xml"/><Relationship Id="rId4" Type="http://schemas.openxmlformats.org/officeDocument/2006/relationships/chart" Target="../charts/chart33.xml"/><Relationship Id="rId5" Type="http://schemas.openxmlformats.org/officeDocument/2006/relationships/chart" Target="../charts/chart34.xml"/><Relationship Id="rId6" Type="http://schemas.openxmlformats.org/officeDocument/2006/relationships/notesSlide" Target="../notesSlides/notesSlide4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xml"/><Relationship Id="rId4" Type="http://schemas.openxmlformats.org/officeDocument/2006/relationships/notesSlide" Target="../notesSlides/notesSlide4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notesSlide" Target="../notesSlides/notesSlide4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8.xml"/><Relationship Id="rId4" Type="http://schemas.openxmlformats.org/officeDocument/2006/relationships/chart" Target="../charts/chart39.xml"/><Relationship Id="rId5" Type="http://schemas.openxmlformats.org/officeDocument/2006/relationships/chart" Target="../charts/chart40.xml"/><Relationship Id="rId6" Type="http://schemas.openxmlformats.org/officeDocument/2006/relationships/chart" Target="../charts/chart41.xml"/><Relationship Id="rId7" Type="http://schemas.openxmlformats.org/officeDocument/2006/relationships/notesSlide" Target="../notesSlides/notesSlide5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2.xml"/><Relationship Id="rId4" Type="http://schemas.openxmlformats.org/officeDocument/2006/relationships/chart" Target="../charts/chart43.xml"/><Relationship Id="rId5" Type="http://schemas.openxmlformats.org/officeDocument/2006/relationships/chart" Target="../charts/chart44.xml"/><Relationship Id="rId6" Type="http://schemas.openxmlformats.org/officeDocument/2006/relationships/notesSlide" Target="../notesSlides/notesSlide5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xml"/><Relationship Id="rId4" Type="http://schemas.openxmlformats.org/officeDocument/2006/relationships/notesSlide" Target="../notesSlides/notesSlide5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6.xml"/><Relationship Id="rId4" Type="http://schemas.openxmlformats.org/officeDocument/2006/relationships/chart" Target="../charts/chart47.xml"/><Relationship Id="rId5" Type="http://schemas.openxmlformats.org/officeDocument/2006/relationships/notesSlide" Target="../notesSlides/notesSlide6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8.xml"/><Relationship Id="rId4" Type="http://schemas.openxmlformats.org/officeDocument/2006/relationships/chart" Target="../charts/chart49.xml"/><Relationship Id="rId5" Type="http://schemas.openxmlformats.org/officeDocument/2006/relationships/chart" Target="../charts/chart50.xml"/><Relationship Id="rId6" Type="http://schemas.openxmlformats.org/officeDocument/2006/relationships/chart" Target="../charts/chart51.xml"/><Relationship Id="rId7" Type="http://schemas.openxmlformats.org/officeDocument/2006/relationships/notesSlide" Target="../notesSlides/notesSlide6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2.xml"/><Relationship Id="rId4" Type="http://schemas.openxmlformats.org/officeDocument/2006/relationships/notesSlide" Target="../notesSlides/notesSlide6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9.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3.xml"/><Relationship Id="rId4" Type="http://schemas.openxmlformats.org/officeDocument/2006/relationships/chart" Target="../charts/chart54.xml"/><Relationship Id="rId5" Type="http://schemas.openxmlformats.org/officeDocument/2006/relationships/notesSlide" Target="../notesSlides/notesSlide70.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chart" Target="../charts/chart56.xml"/><Relationship Id="rId5" Type="http://schemas.openxmlformats.org/officeDocument/2006/relationships/notesSlide" Target="../notesSlides/notesSlide7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xml"/><Relationship Id="rId4" Type="http://schemas.openxmlformats.org/officeDocument/2006/relationships/notesSlide" Target="../notesSlides/notesSlide7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0.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8.xml"/><Relationship Id="rId4" Type="http://schemas.openxmlformats.org/officeDocument/2006/relationships/chart" Target="../charts/chart59.xml"/><Relationship Id="rId5" Type="http://schemas.openxmlformats.org/officeDocument/2006/relationships/notesSlide" Target="../notesSlides/notesSlide8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0.xml"/><Relationship Id="rId4" Type="http://schemas.openxmlformats.org/officeDocument/2006/relationships/chart" Target="../charts/chart61.xml"/><Relationship Id="rId5" Type="http://schemas.openxmlformats.org/officeDocument/2006/relationships/chart" Target="../charts/chart62.xml"/><Relationship Id="rId6" Type="http://schemas.openxmlformats.org/officeDocument/2006/relationships/chart" Target="../charts/chart63.xml"/><Relationship Id="rId7" Type="http://schemas.openxmlformats.org/officeDocument/2006/relationships/notesSlide" Target="../notesSlides/notesSlide8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4.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8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8.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9.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0.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chart" Target="../charts/chart66.xml"/><Relationship Id="rId5" Type="http://schemas.openxmlformats.org/officeDocument/2006/relationships/chart" Target="../charts/chart67.xml"/><Relationship Id="rId6" Type="http://schemas.openxmlformats.org/officeDocument/2006/relationships/chart" Target="../charts/chart68.xml"/><Relationship Id="rId7" Type="http://schemas.openxmlformats.org/officeDocument/2006/relationships/notesSlide" Target="../notesSlides/notesSlide9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9.xml"/><Relationship Id="rId4" Type="http://schemas.openxmlformats.org/officeDocument/2006/relationships/chart" Target="../charts/chart70.xml"/><Relationship Id="rId5" Type="http://schemas.openxmlformats.org/officeDocument/2006/relationships/chart" Target="../charts/chart71.xml"/><Relationship Id="rId6" Type="http://schemas.openxmlformats.org/officeDocument/2006/relationships/chart" Target="../charts/chart72.xml"/><Relationship Id="rId7" Type="http://schemas.openxmlformats.org/officeDocument/2006/relationships/notesSlide" Target="../notesSlides/notesSlide93.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chart" Target="../charts/chart74.xml"/><Relationship Id="rId5" Type="http://schemas.openxmlformats.org/officeDocument/2006/relationships/chart" Target="../charts/chart75.xml"/><Relationship Id="rId6" Type="http://schemas.openxmlformats.org/officeDocument/2006/relationships/chart" Target="../charts/chart76.xml"/><Relationship Id="rId7" Type="http://schemas.openxmlformats.org/officeDocument/2006/relationships/chart" Target="../charts/chart77.xml"/><Relationship Id="rId8" Type="http://schemas.openxmlformats.org/officeDocument/2006/relationships/chart" Target="../charts/chart78.xml"/><Relationship Id="rId9" Type="http://schemas.openxmlformats.org/officeDocument/2006/relationships/notesSlide" Target="../notesSlides/notesSlide94.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9.xml"/><Relationship Id="rId4" Type="http://schemas.openxmlformats.org/officeDocument/2006/relationships/chart" Target="../charts/chart80.xml"/><Relationship Id="rId5" Type="http://schemas.openxmlformats.org/officeDocument/2006/relationships/notesSlide" Target="../notesSlides/notesSlide95.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1.xml"/><Relationship Id="rId4" Type="http://schemas.openxmlformats.org/officeDocument/2006/relationships/notesSlide" Target="../notesSlides/notesSlide10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2.xml"/><Relationship Id="rId4" Type="http://schemas.openxmlformats.org/officeDocument/2006/relationships/notesSlide" Target="../notesSlides/notesSlide10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xml"/><Relationship Id="rId4" Type="http://schemas.openxmlformats.org/officeDocument/2006/relationships/chart" Target="../charts/chart84.xml"/><Relationship Id="rId5" Type="http://schemas.openxmlformats.org/officeDocument/2006/relationships/notesSlide" Target="../notesSlides/notesSlide10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chart" Target="../charts/chart86.xml"/><Relationship Id="rId5" Type="http://schemas.openxmlformats.org/officeDocument/2006/relationships/notesSlide" Target="../notesSlides/notesSlide11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chart" Target="../charts/chart88.xml"/><Relationship Id="rId5" Type="http://schemas.openxmlformats.org/officeDocument/2006/relationships/notesSlide" Target="../notesSlides/notesSlide114.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8.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xml"/><Relationship Id="rId4" Type="http://schemas.openxmlformats.org/officeDocument/2006/relationships/chart" Target="../charts/chart90.xml"/><Relationship Id="rId5" Type="http://schemas.openxmlformats.org/officeDocument/2006/relationships/notesSlide" Target="../notesSlides/notesSlide11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xml"/><Relationship Id="rId4" Type="http://schemas.openxmlformats.org/officeDocument/2006/relationships/chart" Target="../charts/chart92.xml"/><Relationship Id="rId5" Type="http://schemas.openxmlformats.org/officeDocument/2006/relationships/chart" Target="../charts/chart93.xml"/><Relationship Id="rId6" Type="http://schemas.openxmlformats.org/officeDocument/2006/relationships/chart" Target="../charts/chart94.xml"/><Relationship Id="rId7" Type="http://schemas.openxmlformats.org/officeDocument/2006/relationships/notesSlide" Target="../notesSlides/notesSlide12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xml"/><Relationship Id="rId4" Type="http://schemas.openxmlformats.org/officeDocument/2006/relationships/chart" Target="../charts/chart96.xml"/><Relationship Id="rId5" Type="http://schemas.openxmlformats.org/officeDocument/2006/relationships/chart" Target="../charts/chart97.xml"/><Relationship Id="rId6" Type="http://schemas.openxmlformats.org/officeDocument/2006/relationships/chart" Target="../charts/chart98.xml"/><Relationship Id="rId7" Type="http://schemas.openxmlformats.org/officeDocument/2006/relationships/notesSlide" Target="../notesSlides/notesSlide125.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chart" Target="../charts/chart100.xml"/><Relationship Id="rId5" Type="http://schemas.openxmlformats.org/officeDocument/2006/relationships/chart" Target="../charts/chart101.xml"/><Relationship Id="rId6" Type="http://schemas.openxmlformats.org/officeDocument/2006/relationships/chart" Target="../charts/chart102.xml"/><Relationship Id="rId7" Type="http://schemas.openxmlformats.org/officeDocument/2006/relationships/chart" Target="../charts/chart103.xml"/><Relationship Id="rId8" Type="http://schemas.openxmlformats.org/officeDocument/2006/relationships/chart" Target="../charts/chart104.xml"/><Relationship Id="rId9" Type="http://schemas.openxmlformats.org/officeDocument/2006/relationships/notesSlide" Target="../notesSlides/notesSlide12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chart" Target="../charts/chart106.xml"/><Relationship Id="rId5" Type="http://schemas.openxmlformats.org/officeDocument/2006/relationships/notesSlide" Target="../notesSlides/notesSlide12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9.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7.xml"/><Relationship Id="rId4" Type="http://schemas.openxmlformats.org/officeDocument/2006/relationships/notesSlide" Target="../notesSlides/notesSlide13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xml"/><Relationship Id="rId4" Type="http://schemas.openxmlformats.org/officeDocument/2006/relationships/notesSlide" Target="../notesSlides/notesSlide13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9.xml"/><Relationship Id="rId4" Type="http://schemas.openxmlformats.org/officeDocument/2006/relationships/chart" Target="../charts/chart110.xml"/><Relationship Id="rId5" Type="http://schemas.openxmlformats.org/officeDocument/2006/relationships/notesSlide" Target="../notesSlides/notesSlide13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0.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1.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notesSlide" Target="../notesSlides/notesSlide14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4.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5.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notesSlide" Target="../notesSlides/notesSlide146.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8.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9.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0.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5.xml"/><Relationship Id="rId4" Type="http://schemas.openxmlformats.org/officeDocument/2006/relationships/chart" Target="../charts/chart116.xml"/><Relationship Id="rId5" Type="http://schemas.openxmlformats.org/officeDocument/2006/relationships/notesSlide" Target="../notesSlides/notesSlide151.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4.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5.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xml"/><Relationship Id="rId4" Type="http://schemas.openxmlformats.org/officeDocument/2006/relationships/chart" Target="../charts/chart118.xml"/><Relationship Id="rId5" Type="http://schemas.openxmlformats.org/officeDocument/2006/relationships/chart" Target="../charts/chart119.xml"/><Relationship Id="rId6" Type="http://schemas.openxmlformats.org/officeDocument/2006/relationships/chart" Target="../charts/chart120.xml"/><Relationship Id="rId7" Type="http://schemas.openxmlformats.org/officeDocument/2006/relationships/notesSlide" Target="../notesSlides/notesSlide15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1.xml"/><Relationship Id="rId4" Type="http://schemas.openxmlformats.org/officeDocument/2006/relationships/chart" Target="../charts/chart122.xml"/><Relationship Id="rId5" Type="http://schemas.openxmlformats.org/officeDocument/2006/relationships/chart" Target="../charts/chart123.xml"/><Relationship Id="rId6" Type="http://schemas.openxmlformats.org/officeDocument/2006/relationships/chart" Target="../charts/chart124.xml"/><Relationship Id="rId7" Type="http://schemas.openxmlformats.org/officeDocument/2006/relationships/notesSlide" Target="../notesSlides/notesSlide15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5.xml"/><Relationship Id="rId4" Type="http://schemas.openxmlformats.org/officeDocument/2006/relationships/chart" Target="../charts/chart126.xml"/><Relationship Id="rId5" Type="http://schemas.openxmlformats.org/officeDocument/2006/relationships/chart" Target="../charts/chart127.xml"/><Relationship Id="rId6" Type="http://schemas.openxmlformats.org/officeDocument/2006/relationships/chart" Target="../charts/chart128.xml"/><Relationship Id="rId7" Type="http://schemas.openxmlformats.org/officeDocument/2006/relationships/chart" Target="../charts/chart129.xml"/><Relationship Id="rId8" Type="http://schemas.openxmlformats.org/officeDocument/2006/relationships/chart" Target="../charts/chart130.xml"/><Relationship Id="rId9" Type="http://schemas.openxmlformats.org/officeDocument/2006/relationships/notesSlide" Target="../notesSlides/notesSlide158.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notesSlide" Target="../notesSlides/notesSlide159.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0.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notesSlide" Target="../notesSlides/notesSlide164.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4.xml"/><Relationship Id="rId4" Type="http://schemas.openxmlformats.org/officeDocument/2006/relationships/notesSlide" Target="../notesSlides/notesSlide165.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8.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9.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5.xml"/><Relationship Id="rId4" Type="http://schemas.openxmlformats.org/officeDocument/2006/relationships/chart" Target="../charts/chart136.xml"/><Relationship Id="rId5" Type="http://schemas.openxmlformats.org/officeDocument/2006/relationships/notesSlide" Target="../notesSlides/notesSlide170.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1.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3.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4.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chart" Target="../charts/chart138.xml"/><Relationship Id="rId5" Type="http://schemas.openxmlformats.org/officeDocument/2006/relationships/notesSlide" Target="../notesSlides/notesSlide17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9.xml"/><Relationship Id="rId4" Type="http://schemas.openxmlformats.org/officeDocument/2006/relationships/chart" Target="../charts/chart140.xml"/><Relationship Id="rId5" Type="http://schemas.openxmlformats.org/officeDocument/2006/relationships/notesSlide" Target="../notesSlides/notesSlide178.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9.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0.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xml"/><Relationship Id="rId4" Type="http://schemas.openxmlformats.org/officeDocument/2006/relationships/chart" Target="../charts/chart142.xml"/><Relationship Id="rId5" Type="http://schemas.openxmlformats.org/officeDocument/2006/relationships/notesSlide" Target="../notesSlides/notesSlide183.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4.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6.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chart" Target="../charts/chart144.xml"/><Relationship Id="rId5" Type="http://schemas.openxmlformats.org/officeDocument/2006/relationships/chart" Target="../charts/chart145.xml"/><Relationship Id="rId6" Type="http://schemas.openxmlformats.org/officeDocument/2006/relationships/chart" Target="../charts/chart146.xml"/><Relationship Id="rId7" Type="http://schemas.openxmlformats.org/officeDocument/2006/relationships/notesSlide" Target="../notesSlides/notesSlide18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7.xml"/><Relationship Id="rId4" Type="http://schemas.openxmlformats.org/officeDocument/2006/relationships/chart" Target="../charts/chart148.xml"/><Relationship Id="rId5" Type="http://schemas.openxmlformats.org/officeDocument/2006/relationships/chart" Target="../charts/chart149.xml"/><Relationship Id="rId6" Type="http://schemas.openxmlformats.org/officeDocument/2006/relationships/chart" Target="../charts/chart150.xml"/><Relationship Id="rId7" Type="http://schemas.openxmlformats.org/officeDocument/2006/relationships/notesSlide" Target="../notesSlides/notesSlide189.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xml"/><Relationship Id="rId4" Type="http://schemas.openxmlformats.org/officeDocument/2006/relationships/chart" Target="../charts/chart152.xml"/><Relationship Id="rId5" Type="http://schemas.openxmlformats.org/officeDocument/2006/relationships/chart" Target="../charts/chart153.xml"/><Relationship Id="rId6" Type="http://schemas.openxmlformats.org/officeDocument/2006/relationships/chart" Target="../charts/chart154.xml"/><Relationship Id="rId7" Type="http://schemas.openxmlformats.org/officeDocument/2006/relationships/chart" Target="../charts/chart155.xml"/><Relationship Id="rId8" Type="http://schemas.openxmlformats.org/officeDocument/2006/relationships/chart" Target="../charts/chart156.xml"/><Relationship Id="rId9" Type="http://schemas.openxmlformats.org/officeDocument/2006/relationships/notesSlide" Target="../notesSlides/notesSlide190.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chart" Target="../charts/chart158.xml"/><Relationship Id="rId5" Type="http://schemas.openxmlformats.org/officeDocument/2006/relationships/notesSlide" Target="../notesSlides/notesSlide19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4.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5.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xml"/><Relationship Id="rId4" Type="http://schemas.openxmlformats.org/officeDocument/2006/relationships/notesSlide" Target="../notesSlides/notesSlide196.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xml"/><Relationship Id="rId4" Type="http://schemas.openxmlformats.org/officeDocument/2006/relationships/notesSlide" Target="../notesSlides/notesSlide19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9.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0.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1.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1.xml"/><Relationship Id="rId4" Type="http://schemas.openxmlformats.org/officeDocument/2006/relationships/chart" Target="../charts/chart162.xml"/><Relationship Id="rId5" Type="http://schemas.openxmlformats.org/officeDocument/2006/relationships/notesSlide" Target="../notesSlides/notesSlide20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4.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6.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3.xml"/><Relationship Id="rId4" Type="http://schemas.openxmlformats.org/officeDocument/2006/relationships/chart" Target="../charts/chart164.xml"/><Relationship Id="rId5" Type="http://schemas.openxmlformats.org/officeDocument/2006/relationships/notesSlide" Target="../notesSlides/notesSlide20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8.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9.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5.xml"/><Relationship Id="rId4" Type="http://schemas.openxmlformats.org/officeDocument/2006/relationships/chart" Target="../charts/chart166.xml"/><Relationship Id="rId5" Type="http://schemas.openxmlformats.org/officeDocument/2006/relationships/notesSlide" Target="../notesSlides/notesSlide210.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1.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4.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7.xml"/><Relationship Id="rId4" Type="http://schemas.openxmlformats.org/officeDocument/2006/relationships/chart" Target="../charts/chart168.xml"/><Relationship Id="rId5" Type="http://schemas.openxmlformats.org/officeDocument/2006/relationships/notesSlide" Target="../notesSlides/notesSlide215.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9.xml"/><Relationship Id="rId4" Type="http://schemas.openxmlformats.org/officeDocument/2006/relationships/chart" Target="../charts/chart170.xml"/><Relationship Id="rId5" Type="http://schemas.openxmlformats.org/officeDocument/2006/relationships/chart" Target="../charts/chart171.xml"/><Relationship Id="rId6" Type="http://schemas.openxmlformats.org/officeDocument/2006/relationships/chart" Target="../charts/chart172.xml"/><Relationship Id="rId7" Type="http://schemas.openxmlformats.org/officeDocument/2006/relationships/notesSlide" Target="../notesSlides/notesSlide220.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3.xml"/><Relationship Id="rId4" Type="http://schemas.openxmlformats.org/officeDocument/2006/relationships/chart" Target="../charts/chart174.xml"/><Relationship Id="rId5" Type="http://schemas.openxmlformats.org/officeDocument/2006/relationships/chart" Target="../charts/chart175.xml"/><Relationship Id="rId6" Type="http://schemas.openxmlformats.org/officeDocument/2006/relationships/chart" Target="../charts/chart176.xml"/><Relationship Id="rId7" Type="http://schemas.openxmlformats.org/officeDocument/2006/relationships/notesSlide" Target="../notesSlides/notesSlide221.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7.xml"/><Relationship Id="rId4" Type="http://schemas.openxmlformats.org/officeDocument/2006/relationships/chart" Target="../charts/chart178.xml"/><Relationship Id="rId5" Type="http://schemas.openxmlformats.org/officeDocument/2006/relationships/chart" Target="../charts/chart179.xml"/><Relationship Id="rId6" Type="http://schemas.openxmlformats.org/officeDocument/2006/relationships/chart" Target="../charts/chart180.xml"/><Relationship Id="rId7" Type="http://schemas.openxmlformats.org/officeDocument/2006/relationships/chart" Target="../charts/chart181.xml"/><Relationship Id="rId8" Type="http://schemas.openxmlformats.org/officeDocument/2006/relationships/chart" Target="../charts/chart182.xml"/><Relationship Id="rId9" Type="http://schemas.openxmlformats.org/officeDocument/2006/relationships/notesSlide" Target="../notesSlides/notesSlide22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3.xml"/><Relationship Id="rId4" Type="http://schemas.openxmlformats.org/officeDocument/2006/relationships/chart" Target="../charts/chart184.xml"/><Relationship Id="rId5" Type="http://schemas.openxmlformats.org/officeDocument/2006/relationships/notesSlide" Target="../notesSlides/notesSlide223.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4.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5.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6.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5.xml"/><Relationship Id="rId4" Type="http://schemas.openxmlformats.org/officeDocument/2006/relationships/notesSlide" Target="../notesSlides/notesSlide228.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6.xml"/><Relationship Id="rId4" Type="http://schemas.openxmlformats.org/officeDocument/2006/relationships/notesSlide" Target="../notesSlides/notesSlide229.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0.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3.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7.xml"/><Relationship Id="rId4" Type="http://schemas.openxmlformats.org/officeDocument/2006/relationships/chart" Target="../charts/chart188.xml"/><Relationship Id="rId5" Type="http://schemas.openxmlformats.org/officeDocument/2006/relationships/notesSlide" Target="../notesSlides/notesSlide234.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5.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6.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8.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9.xml"/><Relationship Id="rId4" Type="http://schemas.openxmlformats.org/officeDocument/2006/relationships/chart" Target="../charts/chart190.xml"/><Relationship Id="rId5" Type="http://schemas.openxmlformats.org/officeDocument/2006/relationships/notesSlide" Target="../notesSlides/notesSlide23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1.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1.xml"/><Relationship Id="rId4" Type="http://schemas.openxmlformats.org/officeDocument/2006/relationships/chart" Target="../charts/chart192.xml"/><Relationship Id="rId5" Type="http://schemas.openxmlformats.org/officeDocument/2006/relationships/notesSlide" Target="../notesSlides/notesSlide242.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3.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5.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6.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3.xml"/><Relationship Id="rId4" Type="http://schemas.openxmlformats.org/officeDocument/2006/relationships/chart" Target="../charts/chart194.xml"/><Relationship Id="rId5" Type="http://schemas.openxmlformats.org/officeDocument/2006/relationships/notesSlide" Target="../notesSlides/notesSlide247.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0.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1.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5.xml"/><Relationship Id="rId4" Type="http://schemas.openxmlformats.org/officeDocument/2006/relationships/chart" Target="../charts/chart196.xml"/><Relationship Id="rId5" Type="http://schemas.openxmlformats.org/officeDocument/2006/relationships/chart" Target="../charts/chart197.xml"/><Relationship Id="rId6" Type="http://schemas.openxmlformats.org/officeDocument/2006/relationships/chart" Target="../charts/chart198.xml"/><Relationship Id="rId7" Type="http://schemas.openxmlformats.org/officeDocument/2006/relationships/notesSlide" Target="../notesSlides/notesSlide25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9.xml"/><Relationship Id="rId4" Type="http://schemas.openxmlformats.org/officeDocument/2006/relationships/chart" Target="../charts/chart200.xml"/><Relationship Id="rId5" Type="http://schemas.openxmlformats.org/officeDocument/2006/relationships/chart" Target="../charts/chart201.xml"/><Relationship Id="rId6" Type="http://schemas.openxmlformats.org/officeDocument/2006/relationships/chart" Target="../charts/chart202.xml"/><Relationship Id="rId7" Type="http://schemas.openxmlformats.org/officeDocument/2006/relationships/notesSlide" Target="../notesSlides/notesSlide253.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3.xml"/><Relationship Id="rId4" Type="http://schemas.openxmlformats.org/officeDocument/2006/relationships/chart" Target="../charts/chart204.xml"/><Relationship Id="rId5" Type="http://schemas.openxmlformats.org/officeDocument/2006/relationships/chart" Target="../charts/chart205.xml"/><Relationship Id="rId6" Type="http://schemas.openxmlformats.org/officeDocument/2006/relationships/chart" Target="../charts/chart206.xml"/><Relationship Id="rId7" Type="http://schemas.openxmlformats.org/officeDocument/2006/relationships/chart" Target="../charts/chart207.xml"/><Relationship Id="rId8" Type="http://schemas.openxmlformats.org/officeDocument/2006/relationships/chart" Target="../charts/chart208.xml"/><Relationship Id="rId9" Type="http://schemas.openxmlformats.org/officeDocument/2006/relationships/notesSlide" Target="../notesSlides/notesSlide254.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9.xml"/><Relationship Id="rId4" Type="http://schemas.openxmlformats.org/officeDocument/2006/relationships/chart" Target="../charts/chart210.xml"/><Relationship Id="rId5" Type="http://schemas.openxmlformats.org/officeDocument/2006/relationships/notesSlide" Target="../notesSlides/notesSlide255.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6.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8.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9.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1.xml"/><Relationship Id="rId4" Type="http://schemas.openxmlformats.org/officeDocument/2006/relationships/notesSlide" Target="../notesSlides/notesSlide260.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2.xml"/><Relationship Id="rId4" Type="http://schemas.openxmlformats.org/officeDocument/2006/relationships/notesSlide" Target="../notesSlides/notesSlide261.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3.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4.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5.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3.xml"/><Relationship Id="rId4" Type="http://schemas.openxmlformats.org/officeDocument/2006/relationships/chart" Target="../charts/chart214.xml"/><Relationship Id="rId5" Type="http://schemas.openxmlformats.org/officeDocument/2006/relationships/notesSlide" Target="../notesSlides/notesSlide266.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8.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9.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0.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5.xml"/><Relationship Id="rId4" Type="http://schemas.openxmlformats.org/officeDocument/2006/relationships/chart" Target="../charts/chart216.xml"/><Relationship Id="rId5" Type="http://schemas.openxmlformats.org/officeDocument/2006/relationships/notesSlide" Target="../notesSlides/notesSlide271.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2.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3.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7.xml"/><Relationship Id="rId4" Type="http://schemas.openxmlformats.org/officeDocument/2006/relationships/chart" Target="../charts/chart218.xml"/><Relationship Id="rId5" Type="http://schemas.openxmlformats.org/officeDocument/2006/relationships/notesSlide" Target="../notesSlides/notesSlide274.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5.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6.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8.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9.xml"/><Relationship Id="rId4" Type="http://schemas.openxmlformats.org/officeDocument/2006/relationships/chart" Target="../charts/chart220.xml"/><Relationship Id="rId5" Type="http://schemas.openxmlformats.org/officeDocument/2006/relationships/notesSlide" Target="../notesSlides/notesSlide279.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0.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1.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2.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3.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1.xml"/><Relationship Id="rId4" Type="http://schemas.openxmlformats.org/officeDocument/2006/relationships/chart" Target="../charts/chart222.xml"/><Relationship Id="rId5" Type="http://schemas.openxmlformats.org/officeDocument/2006/relationships/chart" Target="../charts/chart223.xml"/><Relationship Id="rId6" Type="http://schemas.openxmlformats.org/officeDocument/2006/relationships/chart" Target="../charts/chart224.xml"/><Relationship Id="rId7" Type="http://schemas.openxmlformats.org/officeDocument/2006/relationships/notesSlide" Target="../notesSlides/notesSlide284.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5.xml"/><Relationship Id="rId4" Type="http://schemas.openxmlformats.org/officeDocument/2006/relationships/chart" Target="../charts/chart226.xml"/><Relationship Id="rId5" Type="http://schemas.openxmlformats.org/officeDocument/2006/relationships/chart" Target="../charts/chart227.xml"/><Relationship Id="rId6" Type="http://schemas.openxmlformats.org/officeDocument/2006/relationships/chart" Target="../charts/chart228.xml"/><Relationship Id="rId7" Type="http://schemas.openxmlformats.org/officeDocument/2006/relationships/notesSlide" Target="../notesSlides/notesSlide285.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9.xml"/><Relationship Id="rId4" Type="http://schemas.openxmlformats.org/officeDocument/2006/relationships/chart" Target="../charts/chart230.xml"/><Relationship Id="rId5" Type="http://schemas.openxmlformats.org/officeDocument/2006/relationships/chart" Target="../charts/chart231.xml"/><Relationship Id="rId6" Type="http://schemas.openxmlformats.org/officeDocument/2006/relationships/chart" Target="../charts/chart232.xml"/><Relationship Id="rId7" Type="http://schemas.openxmlformats.org/officeDocument/2006/relationships/chart" Target="../charts/chart233.xml"/><Relationship Id="rId8" Type="http://schemas.openxmlformats.org/officeDocument/2006/relationships/chart" Target="../charts/chart234.xml"/><Relationship Id="rId9" Type="http://schemas.openxmlformats.org/officeDocument/2006/relationships/notesSlide" Target="../notesSlides/notesSlide286.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5.xml"/><Relationship Id="rId4" Type="http://schemas.openxmlformats.org/officeDocument/2006/relationships/chart" Target="../charts/chart236.xml"/><Relationship Id="rId5" Type="http://schemas.openxmlformats.org/officeDocument/2006/relationships/notesSlide" Target="../notesSlides/notesSlide28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8.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9.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0.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1.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7.xml"/><Relationship Id="rId4" Type="http://schemas.openxmlformats.org/officeDocument/2006/relationships/notesSlide" Target="../notesSlides/notesSlide292.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8.xml"/><Relationship Id="rId4" Type="http://schemas.openxmlformats.org/officeDocument/2006/relationships/notesSlide" Target="../notesSlides/notesSlide293.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4.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5.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6.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7.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39.xml"/><Relationship Id="rId4" Type="http://schemas.openxmlformats.org/officeDocument/2006/relationships/chart" Target="../charts/chart240.xml"/><Relationship Id="rId5" Type="http://schemas.openxmlformats.org/officeDocument/2006/relationships/notesSlide" Target="../notesSlides/notesSlide298.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9.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0.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1.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2.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1.xml"/><Relationship Id="rId4" Type="http://schemas.openxmlformats.org/officeDocument/2006/relationships/chart" Target="../charts/chart242.xml"/><Relationship Id="rId5" Type="http://schemas.openxmlformats.org/officeDocument/2006/relationships/notesSlide" Target="../notesSlides/notesSlide303.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4.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5.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3.xml"/><Relationship Id="rId4" Type="http://schemas.openxmlformats.org/officeDocument/2006/relationships/chart" Target="../charts/chart244.xml"/><Relationship Id="rId5" Type="http://schemas.openxmlformats.org/officeDocument/2006/relationships/notesSlide" Target="../notesSlides/notesSlide306.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8.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9.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0.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5.xml"/><Relationship Id="rId4" Type="http://schemas.openxmlformats.org/officeDocument/2006/relationships/chart" Target="../charts/chart246.xml"/><Relationship Id="rId5" Type="http://schemas.openxmlformats.org/officeDocument/2006/relationships/notesSlide" Target="../notesSlides/notesSlide311.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2.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3.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4.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5.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7.xml"/><Relationship Id="rId4" Type="http://schemas.openxmlformats.org/officeDocument/2006/relationships/chart" Target="../charts/chart248.xml"/><Relationship Id="rId5" Type="http://schemas.openxmlformats.org/officeDocument/2006/relationships/chart" Target="../charts/chart249.xml"/><Relationship Id="rId6" Type="http://schemas.openxmlformats.org/officeDocument/2006/relationships/chart" Target="../charts/chart250.xml"/><Relationship Id="rId7" Type="http://schemas.openxmlformats.org/officeDocument/2006/relationships/notesSlide" Target="../notesSlides/notesSlide316.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1.xml"/><Relationship Id="rId4" Type="http://schemas.openxmlformats.org/officeDocument/2006/relationships/chart" Target="../charts/chart252.xml"/><Relationship Id="rId5" Type="http://schemas.openxmlformats.org/officeDocument/2006/relationships/chart" Target="../charts/chart253.xml"/><Relationship Id="rId6" Type="http://schemas.openxmlformats.org/officeDocument/2006/relationships/chart" Target="../charts/chart254.xml"/><Relationship Id="rId7" Type="http://schemas.openxmlformats.org/officeDocument/2006/relationships/notesSlide" Target="../notesSlides/notesSlide317.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5.xml"/><Relationship Id="rId4" Type="http://schemas.openxmlformats.org/officeDocument/2006/relationships/chart" Target="../charts/chart256.xml"/><Relationship Id="rId5" Type="http://schemas.openxmlformats.org/officeDocument/2006/relationships/chart" Target="../charts/chart257.xml"/><Relationship Id="rId6" Type="http://schemas.openxmlformats.org/officeDocument/2006/relationships/chart" Target="../charts/chart258.xml"/><Relationship Id="rId7" Type="http://schemas.openxmlformats.org/officeDocument/2006/relationships/chart" Target="../charts/chart259.xml"/><Relationship Id="rId8" Type="http://schemas.openxmlformats.org/officeDocument/2006/relationships/chart" Target="../charts/chart260.xml"/><Relationship Id="rId9" Type="http://schemas.openxmlformats.org/officeDocument/2006/relationships/notesSlide" Target="../notesSlides/notesSlide318.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1.xml"/><Relationship Id="rId4" Type="http://schemas.openxmlformats.org/officeDocument/2006/relationships/chart" Target="../charts/chart262.xml"/><Relationship Id="rId5" Type="http://schemas.openxmlformats.org/officeDocument/2006/relationships/notesSlide" Target="../notesSlides/notesSlide319.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0.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1.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2.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3.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3.xml"/><Relationship Id="rId4" Type="http://schemas.openxmlformats.org/officeDocument/2006/relationships/notesSlide" Target="../notesSlides/notesSlide324.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4.xml"/><Relationship Id="rId4" Type="http://schemas.openxmlformats.org/officeDocument/2006/relationships/notesSlide" Target="../notesSlides/notesSlide325.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6.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7.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8.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9.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5.xml"/><Relationship Id="rId4" Type="http://schemas.openxmlformats.org/officeDocument/2006/relationships/chart" Target="../charts/chart266.xml"/><Relationship Id="rId5" Type="http://schemas.openxmlformats.org/officeDocument/2006/relationships/notesSlide" Target="../notesSlides/notesSlide330.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1.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2.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3.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4.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7.xml"/><Relationship Id="rId4" Type="http://schemas.openxmlformats.org/officeDocument/2006/relationships/chart" Target="../charts/chart268.xml"/><Relationship Id="rId5" Type="http://schemas.openxmlformats.org/officeDocument/2006/relationships/notesSlide" Target="../notesSlides/notesSlide335.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6.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7.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69.xml"/><Relationship Id="rId4" Type="http://schemas.openxmlformats.org/officeDocument/2006/relationships/chart" Target="../charts/chart270.xml"/><Relationship Id="rId5" Type="http://schemas.openxmlformats.org/officeDocument/2006/relationships/notesSlide" Target="../notesSlides/notesSlide338.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9.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0.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1.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2.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1.xml"/><Relationship Id="rId4" Type="http://schemas.openxmlformats.org/officeDocument/2006/relationships/chart" Target="../charts/chart272.xml"/><Relationship Id="rId5" Type="http://schemas.openxmlformats.org/officeDocument/2006/relationships/notesSlide" Target="../notesSlides/notesSlide343.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4.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5.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6.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4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3.xml"/><Relationship Id="rId4" Type="http://schemas.openxmlformats.org/officeDocument/2006/relationships/chart" Target="../charts/chart274.xml"/><Relationship Id="rId5" Type="http://schemas.openxmlformats.org/officeDocument/2006/relationships/chart" Target="../charts/chart275.xml"/><Relationship Id="rId6" Type="http://schemas.openxmlformats.org/officeDocument/2006/relationships/chart" Target="../charts/chart276.xml"/><Relationship Id="rId7" Type="http://schemas.openxmlformats.org/officeDocument/2006/relationships/notesSlide" Target="../notesSlides/notesSlide348.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7.xml"/><Relationship Id="rId4" Type="http://schemas.openxmlformats.org/officeDocument/2006/relationships/chart" Target="../charts/chart278.xml"/><Relationship Id="rId5" Type="http://schemas.openxmlformats.org/officeDocument/2006/relationships/chart" Target="../charts/chart279.xml"/><Relationship Id="rId6" Type="http://schemas.openxmlformats.org/officeDocument/2006/relationships/chart" Target="../charts/chart280.xml"/><Relationship Id="rId7" Type="http://schemas.openxmlformats.org/officeDocument/2006/relationships/notesSlide" Target="../notesSlides/notesSlide349.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1.xml"/><Relationship Id="rId4" Type="http://schemas.openxmlformats.org/officeDocument/2006/relationships/chart" Target="../charts/chart282.xml"/><Relationship Id="rId5" Type="http://schemas.openxmlformats.org/officeDocument/2006/relationships/chart" Target="../charts/chart283.xml"/><Relationship Id="rId6" Type="http://schemas.openxmlformats.org/officeDocument/2006/relationships/chart" Target="../charts/chart284.xml"/><Relationship Id="rId7" Type="http://schemas.openxmlformats.org/officeDocument/2006/relationships/chart" Target="../charts/chart285.xml"/><Relationship Id="rId8" Type="http://schemas.openxmlformats.org/officeDocument/2006/relationships/chart" Target="../charts/chart286.xml"/><Relationship Id="rId9" Type="http://schemas.openxmlformats.org/officeDocument/2006/relationships/notesSlide" Target="../notesSlides/notesSlide350.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7.xml"/><Relationship Id="rId4" Type="http://schemas.openxmlformats.org/officeDocument/2006/relationships/chart" Target="../charts/chart288.xml"/><Relationship Id="rId5" Type="http://schemas.openxmlformats.org/officeDocument/2006/relationships/notesSlide" Target="../notesSlides/notesSlide351.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2.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3.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5.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89.xml"/><Relationship Id="rId4" Type="http://schemas.openxmlformats.org/officeDocument/2006/relationships/notesSlide" Target="../notesSlides/notesSlide356.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0.xml"/><Relationship Id="rId4" Type="http://schemas.openxmlformats.org/officeDocument/2006/relationships/notesSlide" Target="../notesSlides/notesSlide357.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8.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59.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1.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1.xml"/><Relationship Id="rId4" Type="http://schemas.openxmlformats.org/officeDocument/2006/relationships/chart" Target="../charts/chart292.xml"/><Relationship Id="rId5" Type="http://schemas.openxmlformats.org/officeDocument/2006/relationships/notesSlide" Target="../notesSlides/notesSlide362.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3.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4.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5.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6.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3.xml"/><Relationship Id="rId4" Type="http://schemas.openxmlformats.org/officeDocument/2006/relationships/chart" Target="../charts/chart294.xml"/><Relationship Id="rId5" Type="http://schemas.openxmlformats.org/officeDocument/2006/relationships/notesSlide" Target="../notesSlides/notesSlide367.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8.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69.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5.xml"/><Relationship Id="rId4" Type="http://schemas.openxmlformats.org/officeDocument/2006/relationships/chart" Target="../charts/chart296.xml"/><Relationship Id="rId5" Type="http://schemas.openxmlformats.org/officeDocument/2006/relationships/notesSlide" Target="../notesSlides/notesSlide37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1.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2.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3.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4.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7.xml"/><Relationship Id="rId4" Type="http://schemas.openxmlformats.org/officeDocument/2006/relationships/chart" Target="../charts/chart298.xml"/><Relationship Id="rId5" Type="http://schemas.openxmlformats.org/officeDocument/2006/relationships/notesSlide" Target="../notesSlides/notesSlide375.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6.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7.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8.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9.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99.xml"/><Relationship Id="rId4" Type="http://schemas.openxmlformats.org/officeDocument/2006/relationships/chart" Target="../charts/chart300.xml"/><Relationship Id="rId5" Type="http://schemas.openxmlformats.org/officeDocument/2006/relationships/chart" Target="../charts/chart301.xml"/><Relationship Id="rId6" Type="http://schemas.openxmlformats.org/officeDocument/2006/relationships/chart" Target="../charts/chart302.xml"/><Relationship Id="rId7" Type="http://schemas.openxmlformats.org/officeDocument/2006/relationships/notesSlide" Target="../notesSlides/notesSlide380.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3.xml"/><Relationship Id="rId4" Type="http://schemas.openxmlformats.org/officeDocument/2006/relationships/chart" Target="../charts/chart304.xml"/><Relationship Id="rId5" Type="http://schemas.openxmlformats.org/officeDocument/2006/relationships/chart" Target="../charts/chart305.xml"/><Relationship Id="rId6" Type="http://schemas.openxmlformats.org/officeDocument/2006/relationships/chart" Target="../charts/chart306.xml"/><Relationship Id="rId7" Type="http://schemas.openxmlformats.org/officeDocument/2006/relationships/notesSlide" Target="../notesSlides/notesSlide381.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07.xml"/><Relationship Id="rId4" Type="http://schemas.openxmlformats.org/officeDocument/2006/relationships/chart" Target="../charts/chart308.xml"/><Relationship Id="rId5" Type="http://schemas.openxmlformats.org/officeDocument/2006/relationships/chart" Target="../charts/chart309.xml"/><Relationship Id="rId6" Type="http://schemas.openxmlformats.org/officeDocument/2006/relationships/chart" Target="../charts/chart310.xml"/><Relationship Id="rId7" Type="http://schemas.openxmlformats.org/officeDocument/2006/relationships/chart" Target="../charts/chart311.xml"/><Relationship Id="rId8" Type="http://schemas.openxmlformats.org/officeDocument/2006/relationships/chart" Target="../charts/chart312.xml"/><Relationship Id="rId9" Type="http://schemas.openxmlformats.org/officeDocument/2006/relationships/notesSlide" Target="../notesSlides/notesSlide382.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3.xml"/><Relationship Id="rId4" Type="http://schemas.openxmlformats.org/officeDocument/2006/relationships/chart" Target="../charts/chart314.xml"/><Relationship Id="rId5" Type="http://schemas.openxmlformats.org/officeDocument/2006/relationships/notesSlide" Target="../notesSlides/notesSlide383.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5.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6.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87.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5.xml"/><Relationship Id="rId4" Type="http://schemas.openxmlformats.org/officeDocument/2006/relationships/notesSlide" Target="../notesSlides/notesSlide388.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6.xml"/><Relationship Id="rId4" Type="http://schemas.openxmlformats.org/officeDocument/2006/relationships/notesSlide" Target="../notesSlides/notesSlide389.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0.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1.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3.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7.xml"/><Relationship Id="rId4" Type="http://schemas.openxmlformats.org/officeDocument/2006/relationships/chart" Target="../charts/chart318.xml"/><Relationship Id="rId5" Type="http://schemas.openxmlformats.org/officeDocument/2006/relationships/notesSlide" Target="../notesSlides/notesSlide394.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5.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6.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7.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98.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9.xml"/><Relationship Id="rId4" Type="http://schemas.openxmlformats.org/officeDocument/2006/relationships/chart" Target="../charts/chart320.xml"/><Relationship Id="rId5" Type="http://schemas.openxmlformats.org/officeDocument/2006/relationships/notesSlide" Target="../notesSlides/notesSlide399.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0.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1.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1.xml"/><Relationship Id="rId4" Type="http://schemas.openxmlformats.org/officeDocument/2006/relationships/chart" Target="../charts/chart322.xml"/><Relationship Id="rId5" Type="http://schemas.openxmlformats.org/officeDocument/2006/relationships/notesSlide" Target="../notesSlides/notesSlide402.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3.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4.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5.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6.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3.xml"/><Relationship Id="rId4" Type="http://schemas.openxmlformats.org/officeDocument/2006/relationships/chart" Target="../charts/chart324.xml"/><Relationship Id="rId5" Type="http://schemas.openxmlformats.org/officeDocument/2006/relationships/notesSlide" Target="../notesSlides/notesSlide407.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8.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09.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0.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1.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5.xml"/><Relationship Id="rId4" Type="http://schemas.openxmlformats.org/officeDocument/2006/relationships/chart" Target="../charts/chart326.xml"/><Relationship Id="rId5" Type="http://schemas.openxmlformats.org/officeDocument/2006/relationships/chart" Target="../charts/chart327.xml"/><Relationship Id="rId6" Type="http://schemas.openxmlformats.org/officeDocument/2006/relationships/chart" Target="../charts/chart328.xml"/><Relationship Id="rId7" Type="http://schemas.openxmlformats.org/officeDocument/2006/relationships/notesSlide" Target="../notesSlides/notesSlide412.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29.xml"/><Relationship Id="rId4" Type="http://schemas.openxmlformats.org/officeDocument/2006/relationships/chart" Target="../charts/chart330.xml"/><Relationship Id="rId5" Type="http://schemas.openxmlformats.org/officeDocument/2006/relationships/chart" Target="../charts/chart331.xml"/><Relationship Id="rId6" Type="http://schemas.openxmlformats.org/officeDocument/2006/relationships/chart" Target="../charts/chart332.xml"/><Relationship Id="rId7" Type="http://schemas.openxmlformats.org/officeDocument/2006/relationships/notesSlide" Target="../notesSlides/notesSlide413.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3.xml"/><Relationship Id="rId4" Type="http://schemas.openxmlformats.org/officeDocument/2006/relationships/chart" Target="../charts/chart334.xml"/><Relationship Id="rId5" Type="http://schemas.openxmlformats.org/officeDocument/2006/relationships/chart" Target="../charts/chart335.xml"/><Relationship Id="rId6" Type="http://schemas.openxmlformats.org/officeDocument/2006/relationships/chart" Target="../charts/chart336.xml"/><Relationship Id="rId7" Type="http://schemas.openxmlformats.org/officeDocument/2006/relationships/chart" Target="../charts/chart337.xml"/><Relationship Id="rId8" Type="http://schemas.openxmlformats.org/officeDocument/2006/relationships/chart" Target="../charts/chart338.xml"/><Relationship Id="rId9" Type="http://schemas.openxmlformats.org/officeDocument/2006/relationships/notesSlide" Target="../notesSlides/notesSlide414.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9.xml"/><Relationship Id="rId4" Type="http://schemas.openxmlformats.org/officeDocument/2006/relationships/chart" Target="../charts/chart340.xml"/><Relationship Id="rId5" Type="http://schemas.openxmlformats.org/officeDocument/2006/relationships/notesSlide" Target="../notesSlides/notesSlide415.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6.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7.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8.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9.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1.xml"/><Relationship Id="rId4" Type="http://schemas.openxmlformats.org/officeDocument/2006/relationships/notesSlide" Target="../notesSlides/notesSlide420.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2.xml"/><Relationship Id="rId4" Type="http://schemas.openxmlformats.org/officeDocument/2006/relationships/notesSlide" Target="../notesSlides/notesSlide421.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2.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3.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4.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5.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3.xml"/><Relationship Id="rId4" Type="http://schemas.openxmlformats.org/officeDocument/2006/relationships/chart" Target="../charts/chart344.xml"/><Relationship Id="rId5" Type="http://schemas.openxmlformats.org/officeDocument/2006/relationships/notesSlide" Target="../notesSlides/notesSlide426.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7.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8.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29.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0.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5.xml"/><Relationship Id="rId4" Type="http://schemas.openxmlformats.org/officeDocument/2006/relationships/chart" Target="../charts/chart346.xml"/><Relationship Id="rId5" Type="http://schemas.openxmlformats.org/officeDocument/2006/relationships/notesSlide" Target="../notesSlides/notesSlide431.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2.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3.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7.xml"/><Relationship Id="rId4" Type="http://schemas.openxmlformats.org/officeDocument/2006/relationships/chart" Target="../charts/chart348.xml"/><Relationship Id="rId5" Type="http://schemas.openxmlformats.org/officeDocument/2006/relationships/notesSlide" Target="../notesSlides/notesSlide434.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5.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6.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7.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38.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9.xml"/><Relationship Id="rId4" Type="http://schemas.openxmlformats.org/officeDocument/2006/relationships/chart" Target="../charts/chart350.xml"/><Relationship Id="rId5" Type="http://schemas.openxmlformats.org/officeDocument/2006/relationships/notesSlide" Target="../notesSlides/notesSlide439.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0.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1.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2.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3.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1.xml"/><Relationship Id="rId4" Type="http://schemas.openxmlformats.org/officeDocument/2006/relationships/chart" Target="../charts/chart352.xml"/><Relationship Id="rId5" Type="http://schemas.openxmlformats.org/officeDocument/2006/relationships/chart" Target="../charts/chart353.xml"/><Relationship Id="rId6" Type="http://schemas.openxmlformats.org/officeDocument/2006/relationships/chart" Target="../charts/chart354.xml"/><Relationship Id="rId7" Type="http://schemas.openxmlformats.org/officeDocument/2006/relationships/notesSlide" Target="../notesSlides/notesSlide444.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5.xml"/><Relationship Id="rId4" Type="http://schemas.openxmlformats.org/officeDocument/2006/relationships/chart" Target="../charts/chart356.xml"/><Relationship Id="rId5" Type="http://schemas.openxmlformats.org/officeDocument/2006/relationships/chart" Target="../charts/chart357.xml"/><Relationship Id="rId6" Type="http://schemas.openxmlformats.org/officeDocument/2006/relationships/chart" Target="../charts/chart358.xml"/><Relationship Id="rId7" Type="http://schemas.openxmlformats.org/officeDocument/2006/relationships/notesSlide" Target="../notesSlides/notesSlide445.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59.xml"/><Relationship Id="rId4" Type="http://schemas.openxmlformats.org/officeDocument/2006/relationships/chart" Target="../charts/chart360.xml"/><Relationship Id="rId5" Type="http://schemas.openxmlformats.org/officeDocument/2006/relationships/chart" Target="../charts/chart361.xml"/><Relationship Id="rId6" Type="http://schemas.openxmlformats.org/officeDocument/2006/relationships/chart" Target="../charts/chart362.xml"/><Relationship Id="rId7" Type="http://schemas.openxmlformats.org/officeDocument/2006/relationships/chart" Target="../charts/chart363.xml"/><Relationship Id="rId8" Type="http://schemas.openxmlformats.org/officeDocument/2006/relationships/chart" Target="../charts/chart364.xml"/><Relationship Id="rId9" Type="http://schemas.openxmlformats.org/officeDocument/2006/relationships/notesSlide" Target="../notesSlides/notesSlide446.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5.xml"/><Relationship Id="rId4" Type="http://schemas.openxmlformats.org/officeDocument/2006/relationships/chart" Target="../charts/chart366.xml"/><Relationship Id="rId5" Type="http://schemas.openxmlformats.org/officeDocument/2006/relationships/notesSlide" Target="../notesSlides/notesSlide447.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8.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49.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0.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1.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7.xml"/><Relationship Id="rId4" Type="http://schemas.openxmlformats.org/officeDocument/2006/relationships/notesSlide" Target="../notesSlides/notesSlide452.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8.xml"/><Relationship Id="rId4" Type="http://schemas.openxmlformats.org/officeDocument/2006/relationships/notesSlide" Target="../notesSlides/notesSlide453.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4.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5.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6.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7.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9.xml"/><Relationship Id="rId4" Type="http://schemas.openxmlformats.org/officeDocument/2006/relationships/chart" Target="../charts/chart370.xml"/><Relationship Id="rId5" Type="http://schemas.openxmlformats.org/officeDocument/2006/relationships/notesSlide" Target="../notesSlides/notesSlide458.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59.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0.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1.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2.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1.xml"/><Relationship Id="rId4" Type="http://schemas.openxmlformats.org/officeDocument/2006/relationships/chart" Target="../charts/chart372.xml"/><Relationship Id="rId5" Type="http://schemas.openxmlformats.org/officeDocument/2006/relationships/notesSlide" Target="../notesSlides/notesSlide463.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4.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5.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3.xml"/><Relationship Id="rId4" Type="http://schemas.openxmlformats.org/officeDocument/2006/relationships/chart" Target="../charts/chart374.xml"/><Relationship Id="rId5" Type="http://schemas.openxmlformats.org/officeDocument/2006/relationships/notesSlide" Target="../notesSlides/notesSlide466.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7.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8.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9.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0.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5.xml"/><Relationship Id="rId4" Type="http://schemas.openxmlformats.org/officeDocument/2006/relationships/chart" Target="../charts/chart376.xml"/><Relationship Id="rId5" Type="http://schemas.openxmlformats.org/officeDocument/2006/relationships/notesSlide" Target="../notesSlides/notesSlide471.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2.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3.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4.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5.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6.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77.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7.xml"/><Relationship Id="rId4" Type="http://schemas.openxmlformats.org/officeDocument/2006/relationships/chart" Target="../charts/chart378.xml"/><Relationship Id="rId5" Type="http://schemas.openxmlformats.org/officeDocument/2006/relationships/notesSlide" Target="../notesSlides/notesSlide478.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79.xml"/><Relationship Id="rId4" Type="http://schemas.openxmlformats.org/officeDocument/2006/relationships/notesSlide" Target="../notesSlides/notesSlide479.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0.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1.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2.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3.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4.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5.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6.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7.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8.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89.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0.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1.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2.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3.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4.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5.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6.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7.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8.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99.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0.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1.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2.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3.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4.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5.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6.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7.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8.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9.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0.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1.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2.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13.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8F8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Oval 2"/>
          <p:cNvSpPr/>
          <p:nvPr/>
        </p:nvSpPr>
        <p:spPr>
          <a:xfrm>
            <a:off x="-1905000" y="4476750"/>
            <a:ext cx="5334000" cy="5334000"/>
          </a:xfrm>
          <a:prstGeom prst="ellipse">
            <a:avLst/>
          </a:prstGeom>
          <a:solidFill>
            <a:srgbClr val="EAF6FB">
              <a:alpha val="4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Oval 3"/>
          <p:cNvSpPr/>
          <p:nvPr/>
        </p:nvSpPr>
        <p:spPr>
          <a:xfrm>
            <a:off x="8001000" y="-2000250"/>
            <a:ext cx="5334000" cy="533400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Oval 4"/>
          <p:cNvSpPr/>
          <p:nvPr/>
        </p:nvSpPr>
        <p:spPr>
          <a:xfrm>
            <a:off x="8715375" y="-1285875"/>
            <a:ext cx="3905250" cy="39052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Oval 5"/>
          <p:cNvSpPr/>
          <p:nvPr/>
        </p:nvSpPr>
        <p:spPr>
          <a:xfrm>
            <a:off x="9382125" y="-619125"/>
            <a:ext cx="2571750" cy="2571750"/>
          </a:xfrm>
          <a:prstGeom prst="ellipse">
            <a:avLst/>
          </a:prstGeom>
          <a:noFill/>
          <a:ln w="19050">
            <a:solidFill>
              <a:srgbClr val="B2B2B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Oval 6"/>
          <p:cNvSpPr/>
          <p:nvPr/>
        </p:nvSpPr>
        <p:spPr>
          <a:xfrm>
            <a:off x="10096500" y="95250"/>
            <a:ext cx="1143000" cy="1143000"/>
          </a:xfrm>
          <a:prstGeom prst="ellipse">
            <a:avLst/>
          </a:prstGeom>
          <a:solidFill>
            <a:srgbClr val="EAF6FB">
              <a:alpha val="22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 name="Rounded Rectangle 7"/>
          <p:cNvSpPr/>
          <p:nvPr/>
        </p:nvSpPr>
        <p:spPr>
          <a:xfrm>
            <a:off x="9010650" y="5848350"/>
            <a:ext cx="228600" cy="2476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 name="Rounded Rectangle 8"/>
          <p:cNvSpPr/>
          <p:nvPr/>
        </p:nvSpPr>
        <p:spPr>
          <a:xfrm>
            <a:off x="9391650" y="5676900"/>
            <a:ext cx="228600" cy="4191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 name="Rounded Rectangle 9"/>
          <p:cNvSpPr/>
          <p:nvPr/>
        </p:nvSpPr>
        <p:spPr>
          <a:xfrm>
            <a:off x="9772650" y="5772150"/>
            <a:ext cx="228600" cy="3238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ounded Rectangle 10"/>
          <p:cNvSpPr/>
          <p:nvPr/>
        </p:nvSpPr>
        <p:spPr>
          <a:xfrm>
            <a:off x="10153650" y="5524500"/>
            <a:ext cx="228600" cy="5715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ounded Rectangle 11"/>
          <p:cNvSpPr/>
          <p:nvPr/>
        </p:nvSpPr>
        <p:spPr>
          <a:xfrm>
            <a:off x="10534650" y="5314950"/>
            <a:ext cx="228600" cy="78105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ounded Rectangle 12"/>
          <p:cNvSpPr/>
          <p:nvPr/>
        </p:nvSpPr>
        <p:spPr>
          <a:xfrm>
            <a:off x="10915650" y="5600700"/>
            <a:ext cx="228600" cy="4953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ounded Rectangle 13"/>
          <p:cNvSpPr/>
          <p:nvPr/>
        </p:nvSpPr>
        <p:spPr>
          <a:xfrm>
            <a:off x="11296650" y="5181600"/>
            <a:ext cx="228600" cy="914400"/>
          </a:xfrm>
          <a:prstGeom prst="roundRect">
            <a:avLst/>
          </a:prstGeom>
          <a:solidFill>
            <a:srgbClr val="3D85C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15" name="Picture 14" descr="fmi_logo_template.png"/>
          <p:cNvPicPr>
            <a:picLocks noChangeAspect="1"/>
          </p:cNvPicPr>
          <p:nvPr/>
        </p:nvPicPr>
        <p:blipFill>
          <a:blip r:embed="rId2"/>
          <a:stretch>
            <a:fillRect/>
          </a:stretch>
        </p:blipFill>
        <p:spPr>
          <a:xfrm>
            <a:off x="914400" y="381000"/>
            <a:ext cx="1307592" cy="1325880"/>
          </a:xfrm>
          <a:prstGeom prst="rect">
            <a:avLst/>
          </a:prstGeom>
        </p:spPr>
      </p:pic>
      <p:sp>
        <p:nvSpPr>
          <p:cNvPr id="16" name="TextBox 15"/>
          <p:cNvSpPr txBox="1"/>
          <p:nvPr/>
        </p:nvSpPr>
        <p:spPr>
          <a:xfrm>
            <a:off x="1143000" y="2667000"/>
            <a:ext cx="9334500" cy="1809750"/>
          </a:xfrm>
          <a:prstGeom prst="rect">
            <a:avLst/>
          </a:prstGeom>
          <a:noFill/>
        </p:spPr>
        <p:txBody>
          <a:bodyPr wrap="square" lIns="28575" rIns="28575" tIns="9525" bIns="9525" anchor="ctr">
            <a:spAutoFit/>
          </a:bodyPr>
          <a:lstStyle/>
          <a:p>
            <a:pPr algn="l"/>
            <a:r>
              <a:rPr sz="3400" b="1">
                <a:solidFill>
                  <a:srgbClr val="0B2E4A"/>
                </a:solidFill>
                <a:latin typeface="Calibri"/>
              </a:rPr>
              <a:t>Europe Flexible Plastic Packaging Market</a:t>
            </a:r>
          </a:p>
        </p:txBody>
      </p:sp>
      <p:sp>
        <p:nvSpPr>
          <p:cNvPr id="17" name="TextBox 16"/>
          <p:cNvSpPr txBox="1"/>
          <p:nvPr/>
        </p:nvSpPr>
        <p:spPr>
          <a:xfrm>
            <a:off x="1162050" y="4686300"/>
            <a:ext cx="9334500" cy="857250"/>
          </a:xfrm>
          <a:prstGeom prst="rect">
            <a:avLst/>
          </a:prstGeom>
          <a:noFill/>
        </p:spPr>
        <p:txBody>
          <a:bodyPr wrap="square" lIns="28575" rIns="28575" tIns="9525" bIns="9525">
            <a:spAutoFit/>
          </a:bodyPr>
          <a:lstStyle/>
          <a:p>
            <a:pPr algn="l"/>
            <a:r>
              <a:rPr sz="1600" b="0">
                <a:solidFill>
                  <a:srgbClr val="6C7A89"/>
                </a:solidFill>
                <a:latin typeface="Calibri"/>
              </a:rPr>
              <a:t>Value (US$ Mn) and Volume (Thousand MT) Analysis and Forecast, 2021–2036</a:t>
            </a:r>
          </a:p>
          <a:p>
            <a:pPr algn="l"/>
            <a:r>
              <a:rPr sz="1100" b="0">
                <a:solidFill>
                  <a:srgbClr val="8FCBE6"/>
                </a:solidFill>
                <a:latin typeface="Calibri"/>
              </a:rPr>
              <a:t>Region focus: Europe   ·   Country focus: Germany   ·   Generated 08 Oct 2026   ·   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71915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86913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3453257"/>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403737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Europe Market Outlook</a:t>
            </a:r>
          </a:p>
        </p:txBody>
      </p:sp>
      <p:sp>
        <p:nvSpPr>
          <p:cNvPr id="16" name="Rounded Rectangle 15">
            <a:hlinkClick action="ppaction://hlinksldjump" r:id="rId9"/>
          </p:cNvPr>
          <p:cNvSpPr/>
          <p:nvPr/>
        </p:nvSpPr>
        <p:spPr>
          <a:xfrm>
            <a:off x="314325" y="460324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Europe Overview</a:t>
            </a:r>
          </a:p>
        </p:txBody>
      </p:sp>
      <p:sp>
        <p:nvSpPr>
          <p:cNvPr id="17" name="Rounded Rectangle 16">
            <a:hlinkClick action="ppaction://hlinksldjump" r:id="rId10"/>
          </p:cNvPr>
          <p:cNvSpPr/>
          <p:nvPr/>
        </p:nvSpPr>
        <p:spPr>
          <a:xfrm>
            <a:off x="314325" y="5187358"/>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Europe Market Analysis By Country</a:t>
            </a:r>
          </a:p>
        </p:txBody>
      </p:sp>
      <p:sp>
        <p:nvSpPr>
          <p:cNvPr id="18" name="Rounded Rectangle 17">
            <a:hlinkClick action="ppaction://hlinksldjump" r:id="rId11"/>
          </p:cNvPr>
          <p:cNvSpPr/>
          <p:nvPr/>
        </p:nvSpPr>
        <p:spPr>
          <a:xfrm>
            <a:off x="314325" y="5771476"/>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Europe Market Analysis By Segments</a:t>
            </a:r>
          </a:p>
        </p:txBody>
      </p:sp>
      <p:sp>
        <p:nvSpPr>
          <p:cNvPr id="19" name="Rounded Rectangle 18">
            <a:hlinkClick action="ppaction://hlinksldjump" r:id="rId12"/>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0" name="Rounded Rectangle 19">
            <a:hlinkClick action="ppaction://hlinksldjump" r:id="rId13"/>
          </p:cNvPr>
          <p:cNvSpPr/>
          <p:nvPr/>
        </p:nvSpPr>
        <p:spPr>
          <a:xfrm>
            <a:off x="6391275" y="1700902"/>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Flexible Plastic Packaging Market Overview (Volume &amp; Value)</a:t>
            </a:r>
          </a:p>
        </p:txBody>
      </p:sp>
      <p:sp>
        <p:nvSpPr>
          <p:cNvPr id="21" name="Rounded Rectangle 20">
            <a:hlinkClick action="ppaction://hlinksldjump" r:id="rId14"/>
          </p:cNvPr>
          <p:cNvSpPr/>
          <p:nvPr/>
        </p:nvSpPr>
        <p:spPr>
          <a:xfrm>
            <a:off x="6391275" y="2285020"/>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Segment Overview (Volume &amp; Value)</a:t>
            </a:r>
          </a:p>
        </p:txBody>
      </p:sp>
      <p:sp>
        <p:nvSpPr>
          <p:cNvPr id="22" name="Rounded Rectangle 21">
            <a:hlinkClick action="ppaction://hlinksldjump" r:id="rId15"/>
          </p:cNvPr>
          <p:cNvSpPr/>
          <p:nvPr/>
        </p:nvSpPr>
        <p:spPr>
          <a:xfrm>
            <a:off x="6219825" y="2869138"/>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23" name="Rounded Rectangle 22">
            <a:hlinkClick action="ppaction://hlinksldjump" r:id="rId16"/>
          </p:cNvPr>
          <p:cNvSpPr/>
          <p:nvPr/>
        </p:nvSpPr>
        <p:spPr>
          <a:xfrm>
            <a:off x="6391275" y="3435003"/>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Flexible Plastic Packaging Market Pricing Analysis</a:t>
            </a:r>
          </a:p>
        </p:txBody>
      </p:sp>
      <p:sp>
        <p:nvSpPr>
          <p:cNvPr id="24" name="Rounded Rectangle 23">
            <a:hlinkClick action="ppaction://hlinksldjump" r:id="rId17"/>
          </p:cNvPr>
          <p:cNvSpPr/>
          <p:nvPr/>
        </p:nvSpPr>
        <p:spPr>
          <a:xfrm>
            <a:off x="6391275" y="4019121"/>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Supply Chain Analysis</a:t>
            </a:r>
          </a:p>
        </p:txBody>
      </p:sp>
      <p:sp>
        <p:nvSpPr>
          <p:cNvPr id="25" name="Rounded Rectangle 24">
            <a:hlinkClick action="ppaction://hlinksldjump" r:id="rId18"/>
          </p:cNvPr>
          <p:cNvSpPr/>
          <p:nvPr/>
        </p:nvSpPr>
        <p:spPr>
          <a:xfrm>
            <a:off x="6219825" y="4603240"/>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26" name="Rounded Rectangle 25">
            <a:hlinkClick action="ppaction://hlinksldjump" r:id="rId19"/>
          </p:cNvPr>
          <p:cNvSpPr/>
          <p:nvPr/>
        </p:nvSpPr>
        <p:spPr>
          <a:xfrm>
            <a:off x="6391275" y="5169104"/>
            <a:ext cx="5657850" cy="328567"/>
          </a:xfrm>
          <a:prstGeom prst="roundRect">
            <a:avLst>
              <a:gd name="adj" fmla="val 2222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Market Dynamics &amp; Forces</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Flexible Plastic Packaging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Flexible Plastic Packaging demand, the evidence behind each and what it implies for the Europe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Flexible Plastic Packaging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Europe demand expands at a 6.6% forecast CAGR (2026–2036), accelerating from 4.5% across 2021–2025.</a:t>
                      </a:r>
                    </a:p>
                  </a:txBody>
                  <a:tcPr marL="70000" marR="70000" marT="45000" marB="45000" anchor="ctr">
                    <a:solidFill>
                      <a:srgbClr val="FFFFFF"/>
                    </a:solidFill>
                  </a:tcPr>
                </a:tc>
                <a:tc>
                  <a:txBody>
                    <a:bodyPr wrap="square"/>
                    <a:lstStyle/>
                    <a:p>
                      <a:pPr algn="l"/>
                      <a:r>
                        <a:rPr sz="1100" b="0">
                          <a:solidFill>
                            <a:srgbClr val="2E2E2E"/>
                          </a:solidFill>
                          <a:latin typeface="Calibri"/>
                        </a:rPr>
                        <a:t>127,346 → 240,208 US$ Mn  ·  CAGR 6.6%</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Rollstock Films leads Product Type, at 53.6% of 2036 value, within a mix of 4 tracked categories.</a:t>
                      </a:r>
                    </a:p>
                  </a:txBody>
                  <a:tcPr marL="70000" marR="70000" marT="45000" marB="45000" anchor="ctr">
                    <a:solidFill>
                      <a:srgbClr val="F6F9FC"/>
                    </a:solidFill>
                  </a:tcPr>
                </a:tc>
                <a:tc>
                  <a:txBody>
                    <a:bodyPr wrap="square"/>
                    <a:lstStyle/>
                    <a:p>
                      <a:pPr algn="l"/>
                      <a:r>
                        <a:rPr sz="1100" b="0">
                          <a:solidFill>
                            <a:srgbClr val="2E2E2E"/>
                          </a:solidFill>
                          <a:latin typeface="Calibri"/>
                        </a:rPr>
                        <a:t>Lead: Rollstock Films  ·  53.6% share (2036)</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Food Packaging is the fastest-growing part of Application, at a 6.6% forecast CAGR outpacing the wider market.</a:t>
                      </a:r>
                    </a:p>
                  </a:txBody>
                  <a:tcPr marL="70000" marR="70000" marT="45000" marB="45000" anchor="ctr">
                    <a:solidFill>
                      <a:srgbClr val="FFFFFF"/>
                    </a:solidFill>
                  </a:tcPr>
                </a:tc>
                <a:tc>
                  <a:txBody>
                    <a:bodyPr wrap="square"/>
                    <a:lstStyle/>
                    <a:p>
                      <a:pPr algn="l"/>
                      <a:r>
                        <a:rPr sz="1100" b="0">
                          <a:solidFill>
                            <a:srgbClr val="2E2E2E"/>
                          </a:solidFill>
                          <a:latin typeface="Calibri"/>
                        </a:rPr>
                        <a:t>Fastest: Food Packaging  ·  6.6% F-CAGR</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Flexible Plastic Packaging demand?</a:t>
                      </a:r>
                    </a:p>
                  </a:txBody>
                  <a:tcPr marL="70000" marR="70000" marT="45000" marB="45000" anchor="ctr">
                    <a:solidFill>
                      <a:srgbClr val="F6F9FC"/>
                    </a:solidFill>
                  </a:tcPr>
                </a:tc>
                <a:tc>
                  <a:txBody>
                    <a:bodyPr wrap="square"/>
                    <a:lstStyle/>
                    <a:p>
                      <a:pPr algn="l"/>
                      <a:r>
                        <a:rPr sz="1100" b="0">
                          <a:solidFill>
                            <a:srgbClr val="2E2E2E"/>
                          </a:solidFill>
                          <a:latin typeface="Calibri"/>
                        </a:rPr>
                        <a:t>East Asia is the largest regional market (26.5% of 2036 value), while Middle East &amp; Africa grows fastest at 8.3%.</a:t>
                      </a:r>
                    </a:p>
                  </a:txBody>
                  <a:tcPr marL="70000" marR="70000" marT="45000" marB="45000" anchor="ctr">
                    <a:solidFill>
                      <a:srgbClr val="F6F9FC"/>
                    </a:solidFill>
                  </a:tcPr>
                </a:tc>
                <a:tc>
                  <a:txBody>
                    <a:bodyPr wrap="square"/>
                    <a:lstStyle/>
                    <a:p>
                      <a:pPr algn="l"/>
                      <a:r>
                        <a:rPr sz="1100" b="0">
                          <a:solidFill>
                            <a:srgbClr val="2E2E2E"/>
                          </a:solidFill>
                          <a:latin typeface="Calibri"/>
                        </a:rPr>
                        <a:t>Largest: East Asia (26.5%)  ·  Fastest: Middle East &amp; Africa (8.3%)</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An incremental 112,862 US$ Mn of demand is added between 2026 and 2036, front-loaded in the leading categories and regions above.</a:t>
                      </a:r>
                    </a:p>
                  </a:txBody>
                  <a:tcPr marL="70000" marR="70000" marT="45000" marB="45000" anchor="ctr">
                    <a:solidFill>
                      <a:srgbClr val="FFFFFF"/>
                    </a:solidFill>
                  </a:tcPr>
                </a:tc>
                <a:tc>
                  <a:txBody>
                    <a:bodyPr wrap="square"/>
                    <a:lstStyle/>
                    <a:p>
                      <a:pPr algn="l"/>
                      <a:r>
                        <a:rPr sz="1100" b="0">
                          <a:solidFill>
                            <a:srgbClr val="2E2E2E"/>
                          </a:solidFill>
                          <a:latin typeface="Calibri"/>
                        </a:rPr>
                        <a:t>$ opportunity 112,862 US$ Mn (2026–2036)  ·  44,547 by 2031</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Europe market broken into 12 countries and the countries assessed under each</a:t>
            </a:r>
          </a:p>
        </p:txBody>
      </p:sp>
      <p:cxnSp>
        <p:nvCxnSpPr>
          <p:cNvPr id="10" name="Connector 9"/>
          <p:cNvCxnSpPr/>
          <p:nvPr/>
        </p:nvCxnSpPr>
        <p:spPr>
          <a:xfrm>
            <a:off x="6096000" y="1682648"/>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846931"/>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846931"/>
            <a:ext cx="0" cy="164283"/>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152775"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75048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09730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45325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380007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1468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49371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484966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19648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54330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58901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153025" y="624607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71628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488617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9163050" y="524211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31240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750489"/>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10643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46238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3818331"/>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17427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4" name="Connector 53"/>
          <p:cNvCxnSpPr/>
          <p:nvPr/>
        </p:nvCxnSpPr>
        <p:spPr>
          <a:xfrm>
            <a:off x="11163300" y="453022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5" name="Rounded Rectangle 54"/>
          <p:cNvSpPr/>
          <p:nvPr/>
        </p:nvSpPr>
        <p:spPr>
          <a:xfrm>
            <a:off x="4667250" y="1080276"/>
            <a:ext cx="2857500" cy="602372"/>
          </a:xfrm>
          <a:prstGeom prst="roundRect">
            <a:avLst>
              <a:gd name="adj" fmla="val 10606"/>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Flexible Plastic Packaging Market</a:t>
            </a:r>
          </a:p>
        </p:txBody>
      </p:sp>
      <p:sp>
        <p:nvSpPr>
          <p:cNvPr id="56" name="Rounded Rectangle 55"/>
          <p:cNvSpPr/>
          <p:nvPr/>
        </p:nvSpPr>
        <p:spPr>
          <a:xfrm>
            <a:off x="1428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7" name="Rounded Rectangle 56"/>
          <p:cNvSpPr/>
          <p:nvPr/>
        </p:nvSpPr>
        <p:spPr>
          <a:xfrm>
            <a:off x="2762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8" name="Rounded Rectangle 57"/>
          <p:cNvSpPr/>
          <p:nvPr/>
        </p:nvSpPr>
        <p:spPr>
          <a:xfrm>
            <a:off x="27622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9" name="Rounded Rectangle 58"/>
          <p:cNvSpPr/>
          <p:nvPr/>
        </p:nvSpPr>
        <p:spPr>
          <a:xfrm>
            <a:off x="214312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60" name="Rounded Rectangle 59"/>
          <p:cNvSpPr/>
          <p:nvPr/>
        </p:nvSpPr>
        <p:spPr>
          <a:xfrm>
            <a:off x="227647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1" name="Rounded Rectangle 60"/>
          <p:cNvSpPr/>
          <p:nvPr/>
        </p:nvSpPr>
        <p:spPr>
          <a:xfrm>
            <a:off x="2276475"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2" name="Rounded Rectangle 61"/>
          <p:cNvSpPr/>
          <p:nvPr/>
        </p:nvSpPr>
        <p:spPr>
          <a:xfrm>
            <a:off x="2276475"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Colombia</a:t>
            </a:r>
          </a:p>
        </p:txBody>
      </p:sp>
      <p:sp>
        <p:nvSpPr>
          <p:cNvPr id="63" name="Rounded Rectangle 62"/>
          <p:cNvSpPr/>
          <p:nvPr/>
        </p:nvSpPr>
        <p:spPr>
          <a:xfrm>
            <a:off x="2276475"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Latin America</a:t>
            </a:r>
          </a:p>
        </p:txBody>
      </p:sp>
      <p:sp>
        <p:nvSpPr>
          <p:cNvPr id="64" name="Rounded Rectangle 63"/>
          <p:cNvSpPr/>
          <p:nvPr/>
        </p:nvSpPr>
        <p:spPr>
          <a:xfrm>
            <a:off x="4143375"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5" name="Rounded Rectangle 64"/>
          <p:cNvSpPr/>
          <p:nvPr/>
        </p:nvSpPr>
        <p:spPr>
          <a:xfrm>
            <a:off x="4276725"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6" name="Rounded Rectangle 65"/>
          <p:cNvSpPr/>
          <p:nvPr/>
        </p:nvSpPr>
        <p:spPr>
          <a:xfrm>
            <a:off x="4276725" y="281437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7" name="Rounded Rectangle 66"/>
          <p:cNvSpPr/>
          <p:nvPr/>
        </p:nvSpPr>
        <p:spPr>
          <a:xfrm>
            <a:off x="4276725" y="317032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8" name="Rounded Rectangle 67"/>
          <p:cNvSpPr/>
          <p:nvPr/>
        </p:nvSpPr>
        <p:spPr>
          <a:xfrm>
            <a:off x="4276725" y="35171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9" name="Rounded Rectangle 68"/>
          <p:cNvSpPr/>
          <p:nvPr/>
        </p:nvSpPr>
        <p:spPr>
          <a:xfrm>
            <a:off x="4276725" y="386396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70" name="Rounded Rectangle 69"/>
          <p:cNvSpPr/>
          <p:nvPr/>
        </p:nvSpPr>
        <p:spPr>
          <a:xfrm>
            <a:off x="4276725" y="421078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71" name="Rounded Rectangle 70"/>
          <p:cNvSpPr/>
          <p:nvPr/>
        </p:nvSpPr>
        <p:spPr>
          <a:xfrm>
            <a:off x="4276725" y="456673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2" name="Rounded Rectangle 71"/>
          <p:cNvSpPr/>
          <p:nvPr/>
        </p:nvSpPr>
        <p:spPr>
          <a:xfrm>
            <a:off x="4276725" y="491355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3" name="Rounded Rectangle 72"/>
          <p:cNvSpPr/>
          <p:nvPr/>
        </p:nvSpPr>
        <p:spPr>
          <a:xfrm>
            <a:off x="4276725" y="526037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5607193"/>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5" name="Rounded Rectangle 74"/>
          <p:cNvSpPr/>
          <p:nvPr/>
        </p:nvSpPr>
        <p:spPr>
          <a:xfrm>
            <a:off x="4276725" y="59631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6" name="Rounded Rectangle 75"/>
          <p:cNvSpPr/>
          <p:nvPr/>
        </p:nvSpPr>
        <p:spPr>
          <a:xfrm>
            <a:off x="4276725" y="630996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7" name="Rounded Rectangle 76"/>
          <p:cNvSpPr/>
          <p:nvPr/>
        </p:nvSpPr>
        <p:spPr>
          <a:xfrm>
            <a:off x="61531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8" name="Rounded Rectangle 77"/>
          <p:cNvSpPr/>
          <p:nvPr/>
        </p:nvSpPr>
        <p:spPr>
          <a:xfrm>
            <a:off x="62865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9" name="Rounded Rectangle 78"/>
          <p:cNvSpPr/>
          <p:nvPr/>
        </p:nvSpPr>
        <p:spPr>
          <a:xfrm>
            <a:off x="62865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80" name="Rounded Rectangle 79"/>
          <p:cNvSpPr/>
          <p:nvPr/>
        </p:nvSpPr>
        <p:spPr>
          <a:xfrm>
            <a:off x="62865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81" name="Rounded Rectangle 80"/>
          <p:cNvSpPr/>
          <p:nvPr/>
        </p:nvSpPr>
        <p:spPr>
          <a:xfrm>
            <a:off x="815340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2" name="Rounded Rectangle 81"/>
          <p:cNvSpPr/>
          <p:nvPr/>
        </p:nvSpPr>
        <p:spPr>
          <a:xfrm>
            <a:off x="828675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3" name="Rounded Rectangle 82"/>
          <p:cNvSpPr/>
          <p:nvPr/>
        </p:nvSpPr>
        <p:spPr>
          <a:xfrm>
            <a:off x="828675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4" name="Rounded Rectangle 83"/>
          <p:cNvSpPr/>
          <p:nvPr/>
        </p:nvSpPr>
        <p:spPr>
          <a:xfrm>
            <a:off x="828675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5" name="Rounded Rectangle 84"/>
          <p:cNvSpPr/>
          <p:nvPr/>
        </p:nvSpPr>
        <p:spPr>
          <a:xfrm>
            <a:off x="828675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6" name="Rounded Rectangle 85"/>
          <p:cNvSpPr/>
          <p:nvPr/>
        </p:nvSpPr>
        <p:spPr>
          <a:xfrm>
            <a:off x="828675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7" name="Rounded Rectangle 86"/>
          <p:cNvSpPr/>
          <p:nvPr/>
        </p:nvSpPr>
        <p:spPr>
          <a:xfrm>
            <a:off x="828675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8" name="Rounded Rectangle 87"/>
          <p:cNvSpPr/>
          <p:nvPr/>
        </p:nvSpPr>
        <p:spPr>
          <a:xfrm>
            <a:off x="828675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9" name="Rounded Rectangle 88"/>
          <p:cNvSpPr/>
          <p:nvPr/>
        </p:nvSpPr>
        <p:spPr>
          <a:xfrm>
            <a:off x="8286750" y="495918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90" name="Rounded Rectangle 89"/>
          <p:cNvSpPr/>
          <p:nvPr/>
        </p:nvSpPr>
        <p:spPr>
          <a:xfrm>
            <a:off x="8286750" y="531513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Asia</a:t>
            </a:r>
          </a:p>
        </p:txBody>
      </p:sp>
      <p:sp>
        <p:nvSpPr>
          <p:cNvPr id="91" name="Rounded Rectangle 90"/>
          <p:cNvSpPr/>
          <p:nvPr/>
        </p:nvSpPr>
        <p:spPr>
          <a:xfrm>
            <a:off x="10153650" y="201121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2" name="Rounded Rectangle 91"/>
          <p:cNvSpPr/>
          <p:nvPr/>
        </p:nvSpPr>
        <p:spPr>
          <a:xfrm>
            <a:off x="10287000" y="2467557"/>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3" name="Rounded Rectangle 92"/>
          <p:cNvSpPr/>
          <p:nvPr/>
        </p:nvSpPr>
        <p:spPr>
          <a:xfrm>
            <a:off x="10287000" y="2823504"/>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4" name="Rounded Rectangle 93"/>
          <p:cNvSpPr/>
          <p:nvPr/>
        </p:nvSpPr>
        <p:spPr>
          <a:xfrm>
            <a:off x="10287000" y="3179451"/>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5" name="Rounded Rectangle 94"/>
          <p:cNvSpPr/>
          <p:nvPr/>
        </p:nvSpPr>
        <p:spPr>
          <a:xfrm>
            <a:off x="10287000" y="3535398"/>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6" name="Rounded Rectangle 95"/>
          <p:cNvSpPr/>
          <p:nvPr/>
        </p:nvSpPr>
        <p:spPr>
          <a:xfrm>
            <a:off x="10287000" y="3891345"/>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7" name="Rounded Rectangle 96"/>
          <p:cNvSpPr/>
          <p:nvPr/>
        </p:nvSpPr>
        <p:spPr>
          <a:xfrm>
            <a:off x="10287000" y="4247292"/>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8" name="Rounded Rectangle 97"/>
          <p:cNvSpPr/>
          <p:nvPr/>
        </p:nvSpPr>
        <p:spPr>
          <a:xfrm>
            <a:off x="10287000" y="4603240"/>
            <a:ext cx="1752600" cy="282932"/>
          </a:xfrm>
          <a:prstGeom prst="roundRect">
            <a:avLst>
              <a:gd name="adj" fmla="val 22580"/>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9" name="TextBox 9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6 axes and the sub-segments sized under each</a:t>
            </a:r>
          </a:p>
        </p:txBody>
      </p:sp>
      <p:sp>
        <p:nvSpPr>
          <p:cNvPr id="10" name="Rectangle 9"/>
          <p:cNvSpPr/>
          <p:nvPr/>
        </p:nvSpPr>
        <p:spPr>
          <a:xfrm>
            <a:off x="142875" y="1028700"/>
            <a:ext cx="2876550" cy="377190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Rollstock Films</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Lidding &amp; Tray-Sealing Films</a:t>
            </a:r>
          </a:p>
        </p:txBody>
      </p:sp>
      <p:cxnSp>
        <p:nvCxnSpPr>
          <p:cNvPr id="18" name="Connector 17"/>
          <p:cNvCxnSpPr/>
          <p:nvPr/>
        </p:nvCxnSpPr>
        <p:spPr>
          <a:xfrm>
            <a:off x="1524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Thermoforming Films</a:t>
            </a:r>
          </a:p>
        </p:txBody>
      </p:sp>
      <p:cxnSp>
        <p:nvCxnSpPr>
          <p:cNvPr id="21" name="Connector 20"/>
          <p:cNvCxnSpPr/>
          <p:nvPr/>
        </p:nvCxnSpPr>
        <p:spPr>
          <a:xfrm>
            <a:off x="1524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Skin Packaging Films</a:t>
            </a:r>
          </a:p>
        </p:txBody>
      </p:sp>
      <p:cxnSp>
        <p:nvCxnSpPr>
          <p:cNvPr id="24" name="Connector 23"/>
          <p:cNvCxnSpPr/>
          <p:nvPr/>
        </p:nvCxnSpPr>
        <p:spPr>
          <a:xfrm>
            <a:off x="1524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HFFS / Flow-Pack Films</a:t>
            </a:r>
          </a:p>
        </p:txBody>
      </p:sp>
      <p:cxnSp>
        <p:nvCxnSpPr>
          <p:cNvPr id="27" name="Connector 26"/>
          <p:cNvCxnSpPr/>
          <p:nvPr/>
        </p:nvCxnSpPr>
        <p:spPr>
          <a:xfrm>
            <a:off x="1524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VFFS Rollstock Films</a:t>
            </a:r>
          </a:p>
        </p:txBody>
      </p:sp>
      <p:cxnSp>
        <p:nvCxnSpPr>
          <p:cNvPr id="30" name="Connector 29"/>
          <p:cNvCxnSpPr/>
          <p:nvPr/>
        </p:nvCxnSpPr>
        <p:spPr>
          <a:xfrm>
            <a:off x="1524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3714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5619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&amp; Overwrap Films</a:t>
            </a:r>
          </a:p>
        </p:txBody>
      </p:sp>
      <p:cxnSp>
        <p:nvCxnSpPr>
          <p:cNvPr id="33" name="Connector 32"/>
          <p:cNvCxnSpPr/>
          <p:nvPr/>
        </p:nvCxnSpPr>
        <p:spPr>
          <a:xfrm>
            <a:off x="1524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2000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390525" y="249745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Barrier Casings</a:t>
            </a:r>
          </a:p>
        </p:txBody>
      </p:sp>
      <p:cxnSp>
        <p:nvCxnSpPr>
          <p:cNvPr id="36" name="Connector 35"/>
          <p:cNvCxnSpPr/>
          <p:nvPr/>
        </p:nvCxnSpPr>
        <p:spPr>
          <a:xfrm>
            <a:off x="1524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Non-Shrink Casings</a:t>
            </a:r>
          </a:p>
        </p:txBody>
      </p:sp>
      <p:cxnSp>
        <p:nvCxnSpPr>
          <p:cNvPr id="39" name="Connector 38"/>
          <p:cNvCxnSpPr/>
          <p:nvPr/>
        </p:nvCxnSpPr>
        <p:spPr>
          <a:xfrm>
            <a:off x="1524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Casings</a:t>
            </a:r>
          </a:p>
        </p:txBody>
      </p:sp>
      <p:cxnSp>
        <p:nvCxnSpPr>
          <p:cNvPr id="42" name="Connector 41"/>
          <p:cNvCxnSpPr/>
          <p:nvPr/>
        </p:nvCxnSpPr>
        <p:spPr>
          <a:xfrm>
            <a:off x="1524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Casings</a:t>
            </a:r>
          </a:p>
        </p:txBody>
      </p:sp>
      <p:cxnSp>
        <p:nvCxnSpPr>
          <p:cNvPr id="45" name="Connector 44"/>
          <p:cNvCxnSpPr/>
          <p:nvPr/>
        </p:nvCxnSpPr>
        <p:spPr>
          <a:xfrm>
            <a:off x="1524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2000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3905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Premade Pouches &amp; Bags</a:t>
            </a:r>
          </a:p>
        </p:txBody>
      </p:sp>
      <p:cxnSp>
        <p:nvCxnSpPr>
          <p:cNvPr id="48" name="Connector 47"/>
          <p:cNvCxnSpPr/>
          <p:nvPr/>
        </p:nvCxnSpPr>
        <p:spPr>
          <a:xfrm>
            <a:off x="1524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7147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561975" y="33832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Vacuum Pouches</a:t>
            </a:r>
          </a:p>
        </p:txBody>
      </p:sp>
      <p:cxnSp>
        <p:nvCxnSpPr>
          <p:cNvPr id="51" name="Connector 50"/>
          <p:cNvCxnSpPr/>
          <p:nvPr/>
        </p:nvCxnSpPr>
        <p:spPr>
          <a:xfrm>
            <a:off x="1524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3714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3" name="TextBox 52"/>
          <p:cNvSpPr txBox="1"/>
          <p:nvPr/>
        </p:nvSpPr>
        <p:spPr>
          <a:xfrm>
            <a:off x="5619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Shrink Bags</a:t>
            </a:r>
          </a:p>
        </p:txBody>
      </p:sp>
      <p:cxnSp>
        <p:nvCxnSpPr>
          <p:cNvPr id="54" name="Connector 53"/>
          <p:cNvCxnSpPr/>
          <p:nvPr/>
        </p:nvCxnSpPr>
        <p:spPr>
          <a:xfrm>
            <a:off x="1524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3714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6" name="TextBox 55"/>
          <p:cNvSpPr txBox="1"/>
          <p:nvPr/>
        </p:nvSpPr>
        <p:spPr>
          <a:xfrm>
            <a:off x="5619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Stand-Up Pouches</a:t>
            </a:r>
          </a:p>
        </p:txBody>
      </p:sp>
      <p:cxnSp>
        <p:nvCxnSpPr>
          <p:cNvPr id="57" name="Connector 56"/>
          <p:cNvCxnSpPr/>
          <p:nvPr/>
        </p:nvCxnSpPr>
        <p:spPr>
          <a:xfrm>
            <a:off x="1524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714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9" name="TextBox 58"/>
          <p:cNvSpPr txBox="1"/>
          <p:nvPr/>
        </p:nvSpPr>
        <p:spPr>
          <a:xfrm>
            <a:off x="5619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Flat Pouches</a:t>
            </a:r>
          </a:p>
        </p:txBody>
      </p:sp>
      <p:cxnSp>
        <p:nvCxnSpPr>
          <p:cNvPr id="60" name="Connector 59"/>
          <p:cNvCxnSpPr/>
          <p:nvPr/>
        </p:nvCxnSpPr>
        <p:spPr>
          <a:xfrm>
            <a:off x="152400" y="40919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714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2" name="TextBox 61"/>
          <p:cNvSpPr txBox="1"/>
          <p:nvPr/>
        </p:nvSpPr>
        <p:spPr>
          <a:xfrm>
            <a:off x="561975" y="409194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Retort Pouches</a:t>
            </a:r>
          </a:p>
        </p:txBody>
      </p:sp>
      <p:cxnSp>
        <p:nvCxnSpPr>
          <p:cNvPr id="63" name="Connector 62"/>
          <p:cNvCxnSpPr/>
          <p:nvPr/>
        </p:nvCxnSpPr>
        <p:spPr>
          <a:xfrm>
            <a:off x="152400" y="42691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20002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5" name="TextBox 64"/>
          <p:cNvSpPr txBox="1"/>
          <p:nvPr/>
        </p:nvSpPr>
        <p:spPr>
          <a:xfrm>
            <a:off x="390525" y="426910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Sachets &amp; Stick Packs</a:t>
            </a:r>
          </a:p>
        </p:txBody>
      </p:sp>
      <p:cxnSp>
        <p:nvCxnSpPr>
          <p:cNvPr id="66" name="Connector 65"/>
          <p:cNvCxnSpPr/>
          <p:nvPr/>
        </p:nvCxnSpPr>
        <p:spPr>
          <a:xfrm>
            <a:off x="152400" y="44462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3714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61975" y="44462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Sachets</a:t>
            </a:r>
          </a:p>
        </p:txBody>
      </p:sp>
      <p:cxnSp>
        <p:nvCxnSpPr>
          <p:cNvPr id="69" name="Connector 68"/>
          <p:cNvCxnSpPr/>
          <p:nvPr/>
        </p:nvCxnSpPr>
        <p:spPr>
          <a:xfrm>
            <a:off x="152400" y="46234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3714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61975" y="46234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Stick Packs</a:t>
            </a:r>
          </a:p>
        </p:txBody>
      </p:sp>
      <p:sp>
        <p:nvSpPr>
          <p:cNvPr id="72" name="Rectangle 71"/>
          <p:cNvSpPr/>
          <p:nvPr/>
        </p:nvSpPr>
        <p:spPr>
          <a:xfrm>
            <a:off x="3152775" y="1028700"/>
            <a:ext cx="2876550" cy="23602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3152775" y="1028700"/>
            <a:ext cx="2876550" cy="41148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3228975" y="1028700"/>
            <a:ext cx="2724150" cy="411480"/>
          </a:xfrm>
          <a:prstGeom prst="rect">
            <a:avLst/>
          </a:prstGeom>
          <a:noFill/>
        </p:spPr>
        <p:txBody>
          <a:bodyPr wrap="square" lIns="28575" rIns="28575" tIns="9525" bIns="9525" anchor="t">
            <a:spAutoFit/>
          </a:bodyPr>
          <a:lstStyle/>
          <a:p>
            <a:pPr algn="l">
              <a:lnSpc>
                <a:spcPct val="100000"/>
              </a:lnSpc>
            </a:pPr>
            <a:r>
              <a:rPr sz="1100" b="1">
                <a:solidFill>
                  <a:srgbClr val="FFFFFF"/>
                </a:solidFill>
                <a:latin typeface="Calibri"/>
              </a:rPr>
              <a:t>By Principal Material / Barrier Technology</a:t>
            </a:r>
          </a:p>
        </p:txBody>
      </p:sp>
      <p:sp>
        <p:nvSpPr>
          <p:cNvPr id="75" name="TextBox 74"/>
          <p:cNvSpPr txBox="1"/>
          <p:nvPr/>
        </p:nvSpPr>
        <p:spPr>
          <a:xfrm>
            <a:off x="3209925" y="1440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6" name="TextBox 75"/>
          <p:cNvSpPr txBox="1"/>
          <p:nvPr/>
        </p:nvSpPr>
        <p:spPr>
          <a:xfrm>
            <a:off x="3400425" y="144018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77" name="Connector 76"/>
          <p:cNvCxnSpPr/>
          <p:nvPr/>
        </p:nvCxnSpPr>
        <p:spPr>
          <a:xfrm>
            <a:off x="3162300" y="1617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3209925" y="1617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3400425" y="161734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80" name="Connector 79"/>
          <p:cNvCxnSpPr/>
          <p:nvPr/>
        </p:nvCxnSpPr>
        <p:spPr>
          <a:xfrm>
            <a:off x="3162300" y="17945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1" name="TextBox 80"/>
          <p:cNvSpPr txBox="1"/>
          <p:nvPr/>
        </p:nvSpPr>
        <p:spPr>
          <a:xfrm>
            <a:off x="3209925" y="17945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2" name="TextBox 81"/>
          <p:cNvSpPr txBox="1"/>
          <p:nvPr/>
        </p:nvSpPr>
        <p:spPr>
          <a:xfrm>
            <a:off x="3400425" y="179451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cxnSp>
        <p:nvCxnSpPr>
          <p:cNvPr id="83" name="Connector 82"/>
          <p:cNvCxnSpPr/>
          <p:nvPr/>
        </p:nvCxnSpPr>
        <p:spPr>
          <a:xfrm>
            <a:off x="3162300" y="19716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4" name="TextBox 83"/>
          <p:cNvSpPr txBox="1"/>
          <p:nvPr/>
        </p:nvSpPr>
        <p:spPr>
          <a:xfrm>
            <a:off x="3209925" y="19716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5" name="TextBox 84"/>
          <p:cNvSpPr txBox="1"/>
          <p:nvPr/>
        </p:nvSpPr>
        <p:spPr>
          <a:xfrm>
            <a:off x="3400425" y="197167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cxnSp>
        <p:nvCxnSpPr>
          <p:cNvPr id="86" name="Connector 85"/>
          <p:cNvCxnSpPr/>
          <p:nvPr/>
        </p:nvCxnSpPr>
        <p:spPr>
          <a:xfrm>
            <a:off x="3162300" y="2148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3209925" y="2148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8" name="TextBox 87"/>
          <p:cNvSpPr txBox="1"/>
          <p:nvPr/>
        </p:nvSpPr>
        <p:spPr>
          <a:xfrm>
            <a:off x="3400425" y="214884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cxnSp>
        <p:nvCxnSpPr>
          <p:cNvPr id="89" name="Connector 88"/>
          <p:cNvCxnSpPr/>
          <p:nvPr/>
        </p:nvCxnSpPr>
        <p:spPr>
          <a:xfrm>
            <a:off x="3162300" y="2326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0" name="TextBox 89"/>
          <p:cNvSpPr txBox="1"/>
          <p:nvPr/>
        </p:nvSpPr>
        <p:spPr>
          <a:xfrm>
            <a:off x="3209925" y="2326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1" name="TextBox 90"/>
          <p:cNvSpPr txBox="1"/>
          <p:nvPr/>
        </p:nvSpPr>
        <p:spPr>
          <a:xfrm>
            <a:off x="3400425" y="232600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cxnSp>
        <p:nvCxnSpPr>
          <p:cNvPr id="92" name="Connector 91"/>
          <p:cNvCxnSpPr/>
          <p:nvPr/>
        </p:nvCxnSpPr>
        <p:spPr>
          <a:xfrm>
            <a:off x="3162300" y="2503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3209925" y="2503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4" name="TextBox 93"/>
          <p:cNvSpPr txBox="1"/>
          <p:nvPr/>
        </p:nvSpPr>
        <p:spPr>
          <a:xfrm>
            <a:off x="3400425" y="250317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cxnSp>
        <p:nvCxnSpPr>
          <p:cNvPr id="95" name="Connector 94"/>
          <p:cNvCxnSpPr/>
          <p:nvPr/>
        </p:nvCxnSpPr>
        <p:spPr>
          <a:xfrm>
            <a:off x="3162300" y="2680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3209925" y="2680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7" name="TextBox 96"/>
          <p:cNvSpPr txBox="1"/>
          <p:nvPr/>
        </p:nvSpPr>
        <p:spPr>
          <a:xfrm>
            <a:off x="3400425" y="268033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cxnSp>
        <p:nvCxnSpPr>
          <p:cNvPr id="98" name="Connector 97"/>
          <p:cNvCxnSpPr/>
          <p:nvPr/>
        </p:nvCxnSpPr>
        <p:spPr>
          <a:xfrm>
            <a:off x="3162300" y="2857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3209925" y="2857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3400425" y="28575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cxnSp>
        <p:nvCxnSpPr>
          <p:cNvPr id="101" name="Connector 100"/>
          <p:cNvCxnSpPr/>
          <p:nvPr/>
        </p:nvCxnSpPr>
        <p:spPr>
          <a:xfrm>
            <a:off x="3162300" y="3034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209925" y="3034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3400425" y="30346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cxnSp>
        <p:nvCxnSpPr>
          <p:cNvPr id="104" name="Connector 103"/>
          <p:cNvCxnSpPr/>
          <p:nvPr/>
        </p:nvCxnSpPr>
        <p:spPr>
          <a:xfrm>
            <a:off x="3162300" y="32118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3209925" y="32118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3400425" y="32118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07" name="Rectangle 106"/>
          <p:cNvSpPr/>
          <p:nvPr/>
        </p:nvSpPr>
        <p:spPr>
          <a:xfrm>
            <a:off x="3152775" y="3503295"/>
            <a:ext cx="2876550" cy="235458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3152775" y="3503295"/>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3228975" y="3503295"/>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 Vs Application</a:t>
            </a:r>
          </a:p>
        </p:txBody>
      </p:sp>
      <p:sp>
        <p:nvSpPr>
          <p:cNvPr id="110" name="TextBox 109"/>
          <p:cNvSpPr txBox="1"/>
          <p:nvPr/>
        </p:nvSpPr>
        <p:spPr>
          <a:xfrm>
            <a:off x="3209925" y="37318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1" name="TextBox 110"/>
          <p:cNvSpPr txBox="1"/>
          <p:nvPr/>
        </p:nvSpPr>
        <p:spPr>
          <a:xfrm>
            <a:off x="3400425" y="373189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Low-Barrier Films</a:t>
            </a:r>
          </a:p>
        </p:txBody>
      </p:sp>
      <p:cxnSp>
        <p:nvCxnSpPr>
          <p:cNvPr id="112" name="Connector 111"/>
          <p:cNvCxnSpPr/>
          <p:nvPr/>
        </p:nvCxnSpPr>
        <p:spPr>
          <a:xfrm>
            <a:off x="3162300" y="39090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3" name="TextBox 112"/>
          <p:cNvSpPr txBox="1"/>
          <p:nvPr/>
        </p:nvSpPr>
        <p:spPr>
          <a:xfrm>
            <a:off x="3381375" y="39090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4" name="TextBox 113"/>
          <p:cNvSpPr txBox="1"/>
          <p:nvPr/>
        </p:nvSpPr>
        <p:spPr>
          <a:xfrm>
            <a:off x="3571875" y="39090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15" name="Connector 114"/>
          <p:cNvCxnSpPr/>
          <p:nvPr/>
        </p:nvCxnSpPr>
        <p:spPr>
          <a:xfrm>
            <a:off x="3162300" y="40862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3381375" y="40862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3571875" y="40862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18" name="Connector 117"/>
          <p:cNvCxnSpPr/>
          <p:nvPr/>
        </p:nvCxnSpPr>
        <p:spPr>
          <a:xfrm>
            <a:off x="3162300" y="42633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3209925" y="42633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3400425" y="426339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Medium-Barrier Films</a:t>
            </a:r>
          </a:p>
        </p:txBody>
      </p:sp>
      <p:cxnSp>
        <p:nvCxnSpPr>
          <p:cNvPr id="121" name="Connector 120"/>
          <p:cNvCxnSpPr/>
          <p:nvPr/>
        </p:nvCxnSpPr>
        <p:spPr>
          <a:xfrm>
            <a:off x="3162300" y="44405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3381375" y="44405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3571875" y="44405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24" name="Connector 123"/>
          <p:cNvCxnSpPr/>
          <p:nvPr/>
        </p:nvCxnSpPr>
        <p:spPr>
          <a:xfrm>
            <a:off x="3162300" y="46177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3381375" y="46177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6" name="TextBox 125"/>
          <p:cNvSpPr txBox="1"/>
          <p:nvPr/>
        </p:nvSpPr>
        <p:spPr>
          <a:xfrm>
            <a:off x="3571875" y="46177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27" name="Connector 126"/>
          <p:cNvCxnSpPr/>
          <p:nvPr/>
        </p:nvCxnSpPr>
        <p:spPr>
          <a:xfrm>
            <a:off x="3162300" y="47948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3209925" y="47948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3400425" y="47948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High-Barrier Films</a:t>
            </a:r>
          </a:p>
        </p:txBody>
      </p:sp>
      <p:cxnSp>
        <p:nvCxnSpPr>
          <p:cNvPr id="130" name="Connector 129"/>
          <p:cNvCxnSpPr/>
          <p:nvPr/>
        </p:nvCxnSpPr>
        <p:spPr>
          <a:xfrm>
            <a:off x="3162300" y="49720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3381375" y="49720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3571875" y="49720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33" name="Connector 132"/>
          <p:cNvCxnSpPr/>
          <p:nvPr/>
        </p:nvCxnSpPr>
        <p:spPr>
          <a:xfrm>
            <a:off x="3162300" y="51492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4" name="TextBox 133"/>
          <p:cNvSpPr txBox="1"/>
          <p:nvPr/>
        </p:nvSpPr>
        <p:spPr>
          <a:xfrm>
            <a:off x="3381375" y="51492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5" name="TextBox 134"/>
          <p:cNvSpPr txBox="1"/>
          <p:nvPr/>
        </p:nvSpPr>
        <p:spPr>
          <a:xfrm>
            <a:off x="3571875" y="51492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cxnSp>
        <p:nvCxnSpPr>
          <p:cNvPr id="136" name="Connector 135"/>
          <p:cNvCxnSpPr/>
          <p:nvPr/>
        </p:nvCxnSpPr>
        <p:spPr>
          <a:xfrm>
            <a:off x="3162300" y="53263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7" name="TextBox 136"/>
          <p:cNvSpPr txBox="1"/>
          <p:nvPr/>
        </p:nvSpPr>
        <p:spPr>
          <a:xfrm>
            <a:off x="3209925" y="53263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8" name="TextBox 137"/>
          <p:cNvSpPr txBox="1"/>
          <p:nvPr/>
        </p:nvSpPr>
        <p:spPr>
          <a:xfrm>
            <a:off x="3400425" y="53263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Ultra-High-Barrier Films</a:t>
            </a:r>
          </a:p>
        </p:txBody>
      </p:sp>
      <p:cxnSp>
        <p:nvCxnSpPr>
          <p:cNvPr id="139" name="Connector 138"/>
          <p:cNvCxnSpPr/>
          <p:nvPr/>
        </p:nvCxnSpPr>
        <p:spPr>
          <a:xfrm>
            <a:off x="3162300" y="55035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0" name="TextBox 139"/>
          <p:cNvSpPr txBox="1"/>
          <p:nvPr/>
        </p:nvSpPr>
        <p:spPr>
          <a:xfrm>
            <a:off x="3381375" y="55035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1" name="TextBox 140"/>
          <p:cNvSpPr txBox="1"/>
          <p:nvPr/>
        </p:nvSpPr>
        <p:spPr>
          <a:xfrm>
            <a:off x="3571875" y="55035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cxnSp>
        <p:nvCxnSpPr>
          <p:cNvPr id="142" name="Connector 141"/>
          <p:cNvCxnSpPr/>
          <p:nvPr/>
        </p:nvCxnSpPr>
        <p:spPr>
          <a:xfrm>
            <a:off x="3162300" y="56807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3381375" y="56807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4" name="TextBox 143"/>
          <p:cNvSpPr txBox="1"/>
          <p:nvPr/>
        </p:nvSpPr>
        <p:spPr>
          <a:xfrm>
            <a:off x="3571875" y="56807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45" name="Rectangle 144"/>
          <p:cNvSpPr/>
          <p:nvPr/>
        </p:nvSpPr>
        <p:spPr>
          <a:xfrm>
            <a:off x="6162675" y="1028700"/>
            <a:ext cx="2876550" cy="306324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Material Structure</a:t>
            </a:r>
          </a:p>
        </p:txBody>
      </p:sp>
      <p:sp>
        <p:nvSpPr>
          <p:cNvPr id="148" name="TextBox 147"/>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9" name="TextBox 148"/>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Monolayer Films</a:t>
            </a:r>
          </a:p>
        </p:txBody>
      </p:sp>
      <p:cxnSp>
        <p:nvCxnSpPr>
          <p:cNvPr id="150" name="Connector 149"/>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1" name="TextBox 150"/>
          <p:cNvSpPr txBox="1"/>
          <p:nvPr/>
        </p:nvSpPr>
        <p:spPr>
          <a:xfrm>
            <a:off x="62198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2" name="TextBox 151"/>
          <p:cNvSpPr txBox="1"/>
          <p:nvPr/>
        </p:nvSpPr>
        <p:spPr>
          <a:xfrm>
            <a:off x="6410325" y="14344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Coextruded Multilayer Films</a:t>
            </a:r>
          </a:p>
        </p:txBody>
      </p:sp>
      <p:cxnSp>
        <p:nvCxnSpPr>
          <p:cNvPr id="153" name="Connector 152"/>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4" name="TextBox 153"/>
          <p:cNvSpPr txBox="1"/>
          <p:nvPr/>
        </p:nvSpPr>
        <p:spPr>
          <a:xfrm>
            <a:off x="63912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5" name="TextBox 154"/>
          <p:cNvSpPr txBox="1"/>
          <p:nvPr/>
        </p:nvSpPr>
        <p:spPr>
          <a:xfrm>
            <a:off x="65817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3–5 Layer</a:t>
            </a:r>
          </a:p>
        </p:txBody>
      </p:sp>
      <p:cxnSp>
        <p:nvCxnSpPr>
          <p:cNvPr id="156" name="Connector 155"/>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57" name="TextBox 156"/>
          <p:cNvSpPr txBox="1"/>
          <p:nvPr/>
        </p:nvSpPr>
        <p:spPr>
          <a:xfrm>
            <a:off x="63912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58" name="TextBox 157"/>
          <p:cNvSpPr txBox="1"/>
          <p:nvPr/>
        </p:nvSpPr>
        <p:spPr>
          <a:xfrm>
            <a:off x="65817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7 Layer</a:t>
            </a:r>
          </a:p>
        </p:txBody>
      </p:sp>
      <p:cxnSp>
        <p:nvCxnSpPr>
          <p:cNvPr id="159" name="Connector 158"/>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63912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1" name="TextBox 160"/>
          <p:cNvSpPr txBox="1"/>
          <p:nvPr/>
        </p:nvSpPr>
        <p:spPr>
          <a:xfrm>
            <a:off x="65817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9 Layer and Above</a:t>
            </a:r>
          </a:p>
        </p:txBody>
      </p:sp>
      <p:cxnSp>
        <p:nvCxnSpPr>
          <p:cNvPr id="162" name="Connector 161"/>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3" name="TextBox 162"/>
          <p:cNvSpPr txBox="1"/>
          <p:nvPr/>
        </p:nvSpPr>
        <p:spPr>
          <a:xfrm>
            <a:off x="62198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4" name="TextBox 163"/>
          <p:cNvSpPr txBox="1"/>
          <p:nvPr/>
        </p:nvSpPr>
        <p:spPr>
          <a:xfrm>
            <a:off x="6410325" y="214312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Laminated Films</a:t>
            </a:r>
          </a:p>
        </p:txBody>
      </p:sp>
      <p:cxnSp>
        <p:nvCxnSpPr>
          <p:cNvPr id="165" name="Connector 164"/>
          <p:cNvCxnSpPr/>
          <p:nvPr/>
        </p:nvCxnSpPr>
        <p:spPr>
          <a:xfrm>
            <a:off x="61722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6" name="TextBox 165"/>
          <p:cNvSpPr txBox="1"/>
          <p:nvPr/>
        </p:nvSpPr>
        <p:spPr>
          <a:xfrm>
            <a:off x="63912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67" name="TextBox 166"/>
          <p:cNvSpPr txBox="1"/>
          <p:nvPr/>
        </p:nvSpPr>
        <p:spPr>
          <a:xfrm>
            <a:off x="65817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Duplex</a:t>
            </a:r>
          </a:p>
        </p:txBody>
      </p:sp>
      <p:cxnSp>
        <p:nvCxnSpPr>
          <p:cNvPr id="168" name="Connector 167"/>
          <p:cNvCxnSpPr/>
          <p:nvPr/>
        </p:nvCxnSpPr>
        <p:spPr>
          <a:xfrm>
            <a:off x="61722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9" name="TextBox 168"/>
          <p:cNvSpPr txBox="1"/>
          <p:nvPr/>
        </p:nvSpPr>
        <p:spPr>
          <a:xfrm>
            <a:off x="63912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0" name="TextBox 169"/>
          <p:cNvSpPr txBox="1"/>
          <p:nvPr/>
        </p:nvSpPr>
        <p:spPr>
          <a:xfrm>
            <a:off x="6581775" y="24974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Triplex</a:t>
            </a:r>
          </a:p>
        </p:txBody>
      </p:sp>
      <p:cxnSp>
        <p:nvCxnSpPr>
          <p:cNvPr id="171" name="Connector 170"/>
          <p:cNvCxnSpPr/>
          <p:nvPr/>
        </p:nvCxnSpPr>
        <p:spPr>
          <a:xfrm>
            <a:off x="6172200" y="26746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2" name="TextBox 171"/>
          <p:cNvSpPr txBox="1"/>
          <p:nvPr/>
        </p:nvSpPr>
        <p:spPr>
          <a:xfrm>
            <a:off x="63912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3" name="TextBox 172"/>
          <p:cNvSpPr txBox="1"/>
          <p:nvPr/>
        </p:nvSpPr>
        <p:spPr>
          <a:xfrm>
            <a:off x="6581775" y="26746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Multi-Ply</a:t>
            </a:r>
          </a:p>
        </p:txBody>
      </p:sp>
      <p:cxnSp>
        <p:nvCxnSpPr>
          <p:cNvPr id="174" name="Connector 173"/>
          <p:cNvCxnSpPr/>
          <p:nvPr/>
        </p:nvCxnSpPr>
        <p:spPr>
          <a:xfrm>
            <a:off x="6172200" y="28517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5" name="TextBox 174"/>
          <p:cNvSpPr txBox="1"/>
          <p:nvPr/>
        </p:nvSpPr>
        <p:spPr>
          <a:xfrm>
            <a:off x="621982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6" name="TextBox 175"/>
          <p:cNvSpPr txBox="1"/>
          <p:nvPr/>
        </p:nvSpPr>
        <p:spPr>
          <a:xfrm>
            <a:off x="6410325" y="285178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Coated Films</a:t>
            </a:r>
          </a:p>
        </p:txBody>
      </p:sp>
      <p:cxnSp>
        <p:nvCxnSpPr>
          <p:cNvPr id="177" name="Connector 176"/>
          <p:cNvCxnSpPr/>
          <p:nvPr/>
        </p:nvCxnSpPr>
        <p:spPr>
          <a:xfrm>
            <a:off x="6172200" y="30289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78" name="TextBox 177"/>
          <p:cNvSpPr txBox="1"/>
          <p:nvPr/>
        </p:nvSpPr>
        <p:spPr>
          <a:xfrm>
            <a:off x="621982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9" name="TextBox 178"/>
          <p:cNvSpPr txBox="1"/>
          <p:nvPr/>
        </p:nvSpPr>
        <p:spPr>
          <a:xfrm>
            <a:off x="6410325" y="302895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Metallized Films</a:t>
            </a:r>
          </a:p>
        </p:txBody>
      </p:sp>
      <p:cxnSp>
        <p:nvCxnSpPr>
          <p:cNvPr id="180" name="Connector 179"/>
          <p:cNvCxnSpPr/>
          <p:nvPr/>
        </p:nvCxnSpPr>
        <p:spPr>
          <a:xfrm>
            <a:off x="6172200" y="32061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1" name="TextBox 180"/>
          <p:cNvSpPr txBox="1"/>
          <p:nvPr/>
        </p:nvSpPr>
        <p:spPr>
          <a:xfrm>
            <a:off x="621982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2" name="TextBox 181"/>
          <p:cNvSpPr txBox="1"/>
          <p:nvPr/>
        </p:nvSpPr>
        <p:spPr>
          <a:xfrm>
            <a:off x="6410325" y="320611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Foil-Laminated Structures</a:t>
            </a:r>
          </a:p>
        </p:txBody>
      </p:sp>
      <p:cxnSp>
        <p:nvCxnSpPr>
          <p:cNvPr id="183" name="Connector 182"/>
          <p:cNvCxnSpPr/>
          <p:nvPr/>
        </p:nvCxnSpPr>
        <p:spPr>
          <a:xfrm>
            <a:off x="6172200" y="33832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4" name="TextBox 183"/>
          <p:cNvSpPr txBox="1"/>
          <p:nvPr/>
        </p:nvSpPr>
        <p:spPr>
          <a:xfrm>
            <a:off x="621982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5" name="TextBox 184"/>
          <p:cNvSpPr txBox="1"/>
          <p:nvPr/>
        </p:nvSpPr>
        <p:spPr>
          <a:xfrm>
            <a:off x="6410325" y="338328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Mono-Material Recyclable Structures</a:t>
            </a:r>
          </a:p>
        </p:txBody>
      </p:sp>
      <p:cxnSp>
        <p:nvCxnSpPr>
          <p:cNvPr id="186" name="Connector 185"/>
          <p:cNvCxnSpPr/>
          <p:nvPr/>
        </p:nvCxnSpPr>
        <p:spPr>
          <a:xfrm>
            <a:off x="6172200" y="35604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7" name="TextBox 186"/>
          <p:cNvSpPr txBox="1"/>
          <p:nvPr/>
        </p:nvSpPr>
        <p:spPr>
          <a:xfrm>
            <a:off x="63912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88" name="TextBox 187"/>
          <p:cNvSpPr txBox="1"/>
          <p:nvPr/>
        </p:nvSpPr>
        <p:spPr>
          <a:xfrm>
            <a:off x="6581775" y="356044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cxnSp>
        <p:nvCxnSpPr>
          <p:cNvPr id="189" name="Connector 188"/>
          <p:cNvCxnSpPr/>
          <p:nvPr/>
        </p:nvCxnSpPr>
        <p:spPr>
          <a:xfrm>
            <a:off x="6172200" y="373761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0" name="TextBox 189"/>
          <p:cNvSpPr txBox="1"/>
          <p:nvPr/>
        </p:nvSpPr>
        <p:spPr>
          <a:xfrm>
            <a:off x="63912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1" name="TextBox 190"/>
          <p:cNvSpPr txBox="1"/>
          <p:nvPr/>
        </p:nvSpPr>
        <p:spPr>
          <a:xfrm>
            <a:off x="6581775" y="373761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cxnSp>
        <p:nvCxnSpPr>
          <p:cNvPr id="192" name="Connector 191"/>
          <p:cNvCxnSpPr/>
          <p:nvPr/>
        </p:nvCxnSpPr>
        <p:spPr>
          <a:xfrm>
            <a:off x="6172200" y="391477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3" name="TextBox 192"/>
          <p:cNvSpPr txBox="1"/>
          <p:nvPr/>
        </p:nvSpPr>
        <p:spPr>
          <a:xfrm>
            <a:off x="63912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4" name="TextBox 193"/>
          <p:cNvSpPr txBox="1"/>
          <p:nvPr/>
        </p:nvSpPr>
        <p:spPr>
          <a:xfrm>
            <a:off x="6581775" y="391477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195" name="Rectangle 194"/>
          <p:cNvSpPr/>
          <p:nvPr/>
        </p:nvSpPr>
        <p:spPr>
          <a:xfrm>
            <a:off x="9172575" y="1028700"/>
            <a:ext cx="2876550" cy="93726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TextBox 196"/>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Barrier Level</a:t>
            </a:r>
          </a:p>
        </p:txBody>
      </p:sp>
      <p:sp>
        <p:nvSpPr>
          <p:cNvPr id="198" name="TextBox 197"/>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99" name="TextBox 198"/>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cxnSp>
        <p:nvCxnSpPr>
          <p:cNvPr id="200" name="Connector 199"/>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1" name="TextBox 200"/>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2" name="TextBox 201"/>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cxnSp>
        <p:nvCxnSpPr>
          <p:cNvPr id="203" name="Connector 202"/>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4" name="TextBox 203"/>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5" name="TextBox 204"/>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cxnSp>
        <p:nvCxnSpPr>
          <p:cNvPr id="206" name="Connector 205"/>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07" name="TextBox 206"/>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8" name="TextBox 207"/>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209" name="Rectangle 208"/>
          <p:cNvSpPr/>
          <p:nvPr/>
        </p:nvSpPr>
        <p:spPr>
          <a:xfrm>
            <a:off x="9172575" y="2080260"/>
            <a:ext cx="2876550" cy="341757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9172575" y="208026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9248775" y="208026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Application</a:t>
            </a:r>
          </a:p>
        </p:txBody>
      </p:sp>
      <p:sp>
        <p:nvSpPr>
          <p:cNvPr id="212" name="TextBox 211"/>
          <p:cNvSpPr txBox="1"/>
          <p:nvPr/>
        </p:nvSpPr>
        <p:spPr>
          <a:xfrm>
            <a:off x="92297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3" name="TextBox 212"/>
          <p:cNvSpPr txBox="1"/>
          <p:nvPr/>
        </p:nvSpPr>
        <p:spPr>
          <a:xfrm>
            <a:off x="9420225" y="230886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Food Packaging</a:t>
            </a:r>
          </a:p>
        </p:txBody>
      </p:sp>
      <p:cxnSp>
        <p:nvCxnSpPr>
          <p:cNvPr id="214" name="Connector 213"/>
          <p:cNvCxnSpPr/>
          <p:nvPr/>
        </p:nvCxnSpPr>
        <p:spPr>
          <a:xfrm>
            <a:off x="91821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5" name="TextBox 214"/>
          <p:cNvSpPr txBox="1"/>
          <p:nvPr/>
        </p:nvSpPr>
        <p:spPr>
          <a:xfrm>
            <a:off x="940117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6" name="TextBox 215"/>
          <p:cNvSpPr txBox="1"/>
          <p:nvPr/>
        </p:nvSpPr>
        <p:spPr>
          <a:xfrm>
            <a:off x="9591675" y="24860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Meat and Processed Meat</a:t>
            </a:r>
          </a:p>
        </p:txBody>
      </p:sp>
      <p:cxnSp>
        <p:nvCxnSpPr>
          <p:cNvPr id="217" name="Connector 216"/>
          <p:cNvCxnSpPr/>
          <p:nvPr/>
        </p:nvCxnSpPr>
        <p:spPr>
          <a:xfrm>
            <a:off x="91821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940117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19" name="TextBox 218"/>
          <p:cNvSpPr txBox="1"/>
          <p:nvPr/>
        </p:nvSpPr>
        <p:spPr>
          <a:xfrm>
            <a:off x="9591675" y="26631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Poultry</a:t>
            </a:r>
          </a:p>
        </p:txBody>
      </p:sp>
      <p:cxnSp>
        <p:nvCxnSpPr>
          <p:cNvPr id="220" name="Connector 219"/>
          <p:cNvCxnSpPr/>
          <p:nvPr/>
        </p:nvCxnSpPr>
        <p:spPr>
          <a:xfrm>
            <a:off x="91821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1" name="TextBox 220"/>
          <p:cNvSpPr txBox="1"/>
          <p:nvPr/>
        </p:nvSpPr>
        <p:spPr>
          <a:xfrm>
            <a:off x="940117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2" name="TextBox 221"/>
          <p:cNvSpPr txBox="1"/>
          <p:nvPr/>
        </p:nvSpPr>
        <p:spPr>
          <a:xfrm>
            <a:off x="9591675" y="284035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Fish and Seafood</a:t>
            </a:r>
          </a:p>
        </p:txBody>
      </p:sp>
      <p:cxnSp>
        <p:nvCxnSpPr>
          <p:cNvPr id="223" name="Connector 222"/>
          <p:cNvCxnSpPr/>
          <p:nvPr/>
        </p:nvCxnSpPr>
        <p:spPr>
          <a:xfrm>
            <a:off x="91821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4" name="TextBox 223"/>
          <p:cNvSpPr txBox="1"/>
          <p:nvPr/>
        </p:nvSpPr>
        <p:spPr>
          <a:xfrm>
            <a:off x="940117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5" name="TextBox 224"/>
          <p:cNvSpPr txBox="1"/>
          <p:nvPr/>
        </p:nvSpPr>
        <p:spPr>
          <a:xfrm>
            <a:off x="9591675" y="301752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Dairy and Cheese</a:t>
            </a:r>
          </a:p>
        </p:txBody>
      </p:sp>
      <p:cxnSp>
        <p:nvCxnSpPr>
          <p:cNvPr id="226" name="Connector 225"/>
          <p:cNvCxnSpPr/>
          <p:nvPr/>
        </p:nvCxnSpPr>
        <p:spPr>
          <a:xfrm>
            <a:off x="91821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7" name="TextBox 226"/>
          <p:cNvSpPr txBox="1"/>
          <p:nvPr/>
        </p:nvSpPr>
        <p:spPr>
          <a:xfrm>
            <a:off x="940117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8" name="TextBox 227"/>
          <p:cNvSpPr txBox="1"/>
          <p:nvPr/>
        </p:nvSpPr>
        <p:spPr>
          <a:xfrm>
            <a:off x="9591675" y="319468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Ready Meals and Prepared Foods</a:t>
            </a:r>
          </a:p>
        </p:txBody>
      </p:sp>
      <p:cxnSp>
        <p:nvCxnSpPr>
          <p:cNvPr id="229" name="Connector 228"/>
          <p:cNvCxnSpPr/>
          <p:nvPr/>
        </p:nvCxnSpPr>
        <p:spPr>
          <a:xfrm>
            <a:off x="91821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0" name="TextBox 229"/>
          <p:cNvSpPr txBox="1"/>
          <p:nvPr/>
        </p:nvSpPr>
        <p:spPr>
          <a:xfrm>
            <a:off x="940117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1" name="TextBox 230"/>
          <p:cNvSpPr txBox="1"/>
          <p:nvPr/>
        </p:nvSpPr>
        <p:spPr>
          <a:xfrm>
            <a:off x="9591675" y="337185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Bakery, Confectionery and Snacks</a:t>
            </a:r>
          </a:p>
        </p:txBody>
      </p:sp>
      <p:cxnSp>
        <p:nvCxnSpPr>
          <p:cNvPr id="232" name="Connector 231"/>
          <p:cNvCxnSpPr/>
          <p:nvPr/>
        </p:nvCxnSpPr>
        <p:spPr>
          <a:xfrm>
            <a:off x="9182100" y="354901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3" name="TextBox 232"/>
          <p:cNvSpPr txBox="1"/>
          <p:nvPr/>
        </p:nvSpPr>
        <p:spPr>
          <a:xfrm>
            <a:off x="9401175" y="35490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4" name="TextBox 233"/>
          <p:cNvSpPr txBox="1"/>
          <p:nvPr/>
        </p:nvSpPr>
        <p:spPr>
          <a:xfrm>
            <a:off x="9591675" y="354901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Dry Foods and Powders</a:t>
            </a:r>
          </a:p>
        </p:txBody>
      </p:sp>
      <p:cxnSp>
        <p:nvCxnSpPr>
          <p:cNvPr id="235" name="Connector 234"/>
          <p:cNvCxnSpPr/>
          <p:nvPr/>
        </p:nvCxnSpPr>
        <p:spPr>
          <a:xfrm>
            <a:off x="9182100" y="372618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6" name="TextBox 235"/>
          <p:cNvSpPr txBox="1"/>
          <p:nvPr/>
        </p:nvSpPr>
        <p:spPr>
          <a:xfrm>
            <a:off x="9401175" y="37261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7" name="TextBox 236"/>
          <p:cNvSpPr txBox="1"/>
          <p:nvPr/>
        </p:nvSpPr>
        <p:spPr>
          <a:xfrm>
            <a:off x="9591675" y="372618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Pet Food</a:t>
            </a:r>
          </a:p>
        </p:txBody>
      </p:sp>
      <p:cxnSp>
        <p:nvCxnSpPr>
          <p:cNvPr id="238" name="Connector 237"/>
          <p:cNvCxnSpPr/>
          <p:nvPr/>
        </p:nvCxnSpPr>
        <p:spPr>
          <a:xfrm>
            <a:off x="9182100" y="390334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39" name="TextBox 238"/>
          <p:cNvSpPr txBox="1"/>
          <p:nvPr/>
        </p:nvSpPr>
        <p:spPr>
          <a:xfrm>
            <a:off x="9401175" y="39033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0" name="TextBox 239"/>
          <p:cNvSpPr txBox="1"/>
          <p:nvPr/>
        </p:nvSpPr>
        <p:spPr>
          <a:xfrm>
            <a:off x="9591675" y="3903345"/>
            <a:ext cx="2419350" cy="531495"/>
          </a:xfrm>
          <a:prstGeom prst="rect">
            <a:avLst/>
          </a:prstGeom>
          <a:noFill/>
        </p:spPr>
        <p:txBody>
          <a:bodyPr wrap="square" lIns="28575" rIns="28575" tIns="9525" bIns="9525" anchor="t">
            <a:spAutoFit/>
          </a:bodyPr>
          <a:lstStyle/>
          <a:p>
            <a:pPr algn="l">
              <a:lnSpc>
                <a:spcPct val="100000"/>
              </a:lnSpc>
            </a:pPr>
            <a:r>
              <a:rPr sz="1100" b="0">
                <a:solidFill>
                  <a:srgbClr val="2E2E2E"/>
                </a:solidFill>
                <a:latin typeface="Calibri"/>
              </a:rPr>
              <a:t>Other Food Products (Fresh Produce, Plant-Based Foods, Condiments and Dressings, Foodservice Products)</a:t>
            </a:r>
          </a:p>
        </p:txBody>
      </p:sp>
      <p:cxnSp>
        <p:nvCxnSpPr>
          <p:cNvPr id="241" name="Connector 240"/>
          <p:cNvCxnSpPr/>
          <p:nvPr/>
        </p:nvCxnSpPr>
        <p:spPr>
          <a:xfrm>
            <a:off x="9182100" y="443484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2" name="TextBox 241"/>
          <p:cNvSpPr txBox="1"/>
          <p:nvPr/>
        </p:nvSpPr>
        <p:spPr>
          <a:xfrm>
            <a:off x="9229725" y="44348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3" name="TextBox 242"/>
          <p:cNvSpPr txBox="1"/>
          <p:nvPr/>
        </p:nvSpPr>
        <p:spPr>
          <a:xfrm>
            <a:off x="9420225" y="443484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Non-Food Packaging</a:t>
            </a:r>
          </a:p>
        </p:txBody>
      </p:sp>
      <p:cxnSp>
        <p:nvCxnSpPr>
          <p:cNvPr id="244" name="Connector 243"/>
          <p:cNvCxnSpPr/>
          <p:nvPr/>
        </p:nvCxnSpPr>
        <p:spPr>
          <a:xfrm>
            <a:off x="9182100" y="461200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5" name="TextBox 244"/>
          <p:cNvSpPr txBox="1"/>
          <p:nvPr/>
        </p:nvSpPr>
        <p:spPr>
          <a:xfrm>
            <a:off x="9401175" y="46120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6" name="TextBox 245"/>
          <p:cNvSpPr txBox="1"/>
          <p:nvPr/>
        </p:nvSpPr>
        <p:spPr>
          <a:xfrm>
            <a:off x="9591675" y="461200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Pharmaceutical and Healthcare</a:t>
            </a:r>
          </a:p>
        </p:txBody>
      </p:sp>
      <p:cxnSp>
        <p:nvCxnSpPr>
          <p:cNvPr id="247" name="Connector 246"/>
          <p:cNvCxnSpPr/>
          <p:nvPr/>
        </p:nvCxnSpPr>
        <p:spPr>
          <a:xfrm>
            <a:off x="9182100" y="478917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8" name="TextBox 247"/>
          <p:cNvSpPr txBox="1"/>
          <p:nvPr/>
        </p:nvSpPr>
        <p:spPr>
          <a:xfrm>
            <a:off x="9401175" y="47891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49" name="TextBox 248"/>
          <p:cNvSpPr txBox="1"/>
          <p:nvPr/>
        </p:nvSpPr>
        <p:spPr>
          <a:xfrm>
            <a:off x="9591675" y="478917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Personal Care and Cosmetics</a:t>
            </a:r>
          </a:p>
        </p:txBody>
      </p:sp>
      <p:cxnSp>
        <p:nvCxnSpPr>
          <p:cNvPr id="250" name="Connector 249"/>
          <p:cNvCxnSpPr/>
          <p:nvPr/>
        </p:nvCxnSpPr>
        <p:spPr>
          <a:xfrm>
            <a:off x="9182100" y="496633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1" name="TextBox 250"/>
          <p:cNvSpPr txBox="1"/>
          <p:nvPr/>
        </p:nvSpPr>
        <p:spPr>
          <a:xfrm>
            <a:off x="9401175" y="49663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2" name="TextBox 251"/>
          <p:cNvSpPr txBox="1"/>
          <p:nvPr/>
        </p:nvSpPr>
        <p:spPr>
          <a:xfrm>
            <a:off x="9591675" y="496633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Household Care</a:t>
            </a:r>
          </a:p>
        </p:txBody>
      </p:sp>
      <p:cxnSp>
        <p:nvCxnSpPr>
          <p:cNvPr id="253" name="Connector 252"/>
          <p:cNvCxnSpPr/>
          <p:nvPr/>
        </p:nvCxnSpPr>
        <p:spPr>
          <a:xfrm>
            <a:off x="9182100" y="514350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4" name="TextBox 253"/>
          <p:cNvSpPr txBox="1"/>
          <p:nvPr/>
        </p:nvSpPr>
        <p:spPr>
          <a:xfrm>
            <a:off x="9401175" y="51435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5" name="TextBox 254"/>
          <p:cNvSpPr txBox="1"/>
          <p:nvPr/>
        </p:nvSpPr>
        <p:spPr>
          <a:xfrm>
            <a:off x="9591675" y="514350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Chemicals and Agrochemicals</a:t>
            </a:r>
          </a:p>
        </p:txBody>
      </p:sp>
      <p:cxnSp>
        <p:nvCxnSpPr>
          <p:cNvPr id="256" name="Connector 255"/>
          <p:cNvCxnSpPr/>
          <p:nvPr/>
        </p:nvCxnSpPr>
        <p:spPr>
          <a:xfrm>
            <a:off x="9182100" y="53206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7" name="TextBox 256"/>
          <p:cNvSpPr txBox="1"/>
          <p:nvPr/>
        </p:nvSpPr>
        <p:spPr>
          <a:xfrm>
            <a:off x="9401175" y="53206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8" name="TextBox 257"/>
          <p:cNvSpPr txBox="1"/>
          <p:nvPr/>
        </p:nvSpPr>
        <p:spPr>
          <a:xfrm>
            <a:off x="9591675" y="532066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Electronics and Technical Products</a:t>
            </a:r>
          </a:p>
        </p:txBody>
      </p:sp>
      <p:sp>
        <p:nvSpPr>
          <p:cNvPr id="259" name="TextBox 2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Flexible Plastic Packaging Market profiled and benchmarked in the Competition Assessment section.</a:t>
            </a:r>
          </a:p>
        </p:txBody>
      </p:sp>
      <p:sp>
        <p:nvSpPr>
          <p:cNvPr id="11" name="Rectangle 10"/>
          <p:cNvSpPr/>
          <p:nvPr/>
        </p:nvSpPr>
        <p:spPr>
          <a:xfrm>
            <a:off x="142875"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A</a:t>
            </a:r>
          </a:p>
        </p:txBody>
      </p:sp>
      <p:sp>
        <p:nvSpPr>
          <p:cNvPr id="16" name="Rectangle 15"/>
          <p:cNvSpPr/>
          <p:nvPr/>
        </p:nvSpPr>
        <p:spPr>
          <a:xfrm>
            <a:off x="152400"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B</a:t>
            </a:r>
          </a:p>
        </p:txBody>
      </p:sp>
      <p:cxnSp>
        <p:nvCxnSpPr>
          <p:cNvPr id="20" name="Connector 19"/>
          <p:cNvCxnSpPr/>
          <p:nvPr/>
        </p:nvCxnSpPr>
        <p:spPr>
          <a:xfrm>
            <a:off x="152400"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C</a:t>
            </a:r>
          </a:p>
        </p:txBody>
      </p:sp>
      <p:sp>
        <p:nvSpPr>
          <p:cNvPr id="23" name="Rectangle 22"/>
          <p:cNvSpPr/>
          <p:nvPr/>
        </p:nvSpPr>
        <p:spPr>
          <a:xfrm>
            <a:off x="152400"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D</a:t>
            </a:r>
          </a:p>
        </p:txBody>
      </p:sp>
      <p:sp>
        <p:nvSpPr>
          <p:cNvPr id="27" name="Rectangle 26"/>
          <p:cNvSpPr/>
          <p:nvPr/>
        </p:nvSpPr>
        <p:spPr>
          <a:xfrm>
            <a:off x="6191250" y="2796123"/>
            <a:ext cx="5857875" cy="21721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191250" y="2796123"/>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191250" y="2860011"/>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30" name="TextBox 29"/>
          <p:cNvSpPr txBox="1"/>
          <p:nvPr/>
        </p:nvSpPr>
        <p:spPr>
          <a:xfrm>
            <a:off x="6381750" y="3069929"/>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1" name="TextBox 30"/>
          <p:cNvSpPr txBox="1"/>
          <p:nvPr/>
        </p:nvSpPr>
        <p:spPr>
          <a:xfrm>
            <a:off x="6629400" y="3069929"/>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E</a:t>
            </a:r>
          </a:p>
        </p:txBody>
      </p:sp>
      <p:sp>
        <p:nvSpPr>
          <p:cNvPr id="32" name="Rectangle 31"/>
          <p:cNvSpPr/>
          <p:nvPr/>
        </p:nvSpPr>
        <p:spPr>
          <a:xfrm>
            <a:off x="6200775" y="3544525"/>
            <a:ext cx="5838825" cy="474596"/>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3" name="Connector 32"/>
          <p:cNvCxnSpPr/>
          <p:nvPr/>
        </p:nvCxnSpPr>
        <p:spPr>
          <a:xfrm>
            <a:off x="6200775" y="354452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6381750" y="3544525"/>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5" name="TextBox 34"/>
          <p:cNvSpPr txBox="1"/>
          <p:nvPr/>
        </p:nvSpPr>
        <p:spPr>
          <a:xfrm>
            <a:off x="6629400" y="3544525"/>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F</a:t>
            </a:r>
          </a:p>
        </p:txBody>
      </p:sp>
      <p:cxnSp>
        <p:nvCxnSpPr>
          <p:cNvPr id="36" name="Connector 35"/>
          <p:cNvCxnSpPr/>
          <p:nvPr/>
        </p:nvCxnSpPr>
        <p:spPr>
          <a:xfrm>
            <a:off x="6200775" y="401912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6381750" y="4019121"/>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8" name="TextBox 37"/>
          <p:cNvSpPr txBox="1"/>
          <p:nvPr/>
        </p:nvSpPr>
        <p:spPr>
          <a:xfrm>
            <a:off x="6629400" y="4019121"/>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G</a:t>
            </a:r>
          </a:p>
        </p:txBody>
      </p:sp>
      <p:sp>
        <p:nvSpPr>
          <p:cNvPr id="39" name="Rectangle 38"/>
          <p:cNvSpPr/>
          <p:nvPr/>
        </p:nvSpPr>
        <p:spPr>
          <a:xfrm>
            <a:off x="6200775" y="4493717"/>
            <a:ext cx="5838825" cy="46546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0" name="Connector 39"/>
          <p:cNvCxnSpPr/>
          <p:nvPr/>
        </p:nvCxnSpPr>
        <p:spPr>
          <a:xfrm>
            <a:off x="6200775" y="449371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1" name="TextBox 40"/>
          <p:cNvSpPr txBox="1"/>
          <p:nvPr/>
        </p:nvSpPr>
        <p:spPr>
          <a:xfrm>
            <a:off x="6381750" y="4493717"/>
            <a:ext cx="190500" cy="474596"/>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2" name="TextBox 41"/>
          <p:cNvSpPr txBox="1"/>
          <p:nvPr/>
        </p:nvSpPr>
        <p:spPr>
          <a:xfrm>
            <a:off x="6629400" y="4493717"/>
            <a:ext cx="5324475" cy="474596"/>
          </a:xfrm>
          <a:prstGeom prst="rect">
            <a:avLst/>
          </a:prstGeom>
          <a:noFill/>
        </p:spPr>
        <p:txBody>
          <a:bodyPr wrap="square" lIns="28575" rIns="28575" tIns="9525" bIns="9525" anchor="ctr">
            <a:spAutoFit/>
          </a:bodyPr>
          <a:lstStyle/>
          <a:p>
            <a:pPr algn="l"/>
            <a:r>
              <a:rPr sz="1100" b="0">
                <a:solidFill>
                  <a:srgbClr val="2E2E2E"/>
                </a:solidFill>
                <a:latin typeface="Calibri"/>
              </a:rPr>
              <a:t>Company H</a:t>
            </a:r>
          </a:p>
        </p:txBody>
      </p:sp>
      <p:sp>
        <p:nvSpPr>
          <p:cNvPr id="43" name="TextBox 42"/>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44" name="TextBox 4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17360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478405"/>
            <a:ext cx="7239000" cy="514350"/>
          </a:xfrm>
          <a:prstGeom prst="rect">
            <a:avLst/>
          </a:prstGeom>
          <a:noFill/>
        </p:spPr>
        <p:txBody>
          <a:bodyPr wrap="square" lIns="0" rIns="0" tIns="0">
            <a:spAutoFit/>
          </a:bodyPr>
          <a:lstStyle/>
          <a:p>
            <a:r>
              <a:rPr sz="3000" b="1" cap="all" spc="400">
                <a:solidFill>
                  <a:srgbClr val="FFFFFF"/>
                </a:solidFill>
                <a:latin typeface="Calibri"/>
              </a:rPr>
              <a:t>Europe Market Outlook</a:t>
            </a:r>
          </a:p>
        </p:txBody>
      </p:sp>
      <p:sp>
        <p:nvSpPr>
          <p:cNvPr id="7" name="TextBox 6"/>
          <p:cNvSpPr txBox="1"/>
          <p:nvPr/>
        </p:nvSpPr>
        <p:spPr>
          <a:xfrm>
            <a:off x="914400" y="3183255"/>
            <a:ext cx="7124700" cy="29298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Europe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Europe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Europe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Europe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Summary, By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Europe market volume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(THOUSAND MT)</a:t>
            </a:r>
          </a:p>
          <a:p>
            <a:pPr algn="ctr">
              <a:lnSpc>
                <a:spcPct val="95000"/>
              </a:lnSpc>
            </a:pPr>
            <a:r>
              <a:rPr sz="1500" b="1">
                <a:solidFill>
                  <a:srgbClr val="0E72AE"/>
                </a:solidFill>
                <a:latin typeface="Calibri"/>
              </a:rPr>
              <a:t>7,878</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13,129</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4.3%</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5.2%</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(Thousand MT)</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Europe flexible plastic packaging market is projected to register 1.7X increase in volume by the end of forecast period, 2036. Europe flexible plastic packaging market volume stood at 7,530 Thousand MT in 2025 and is expected to reach 13,129 Thousand MT by 2036 end, at a CAGR of 5.2%.</a:t>
            </a:r>
          </a:p>
          <a:p>
            <a:pPr algn="l">
              <a:lnSpc>
                <a:spcPct val="110000"/>
              </a:lnSpc>
              <a:spcBef>
                <a:spcPts val="0"/>
              </a:spcBef>
              <a:spcAft>
                <a:spcPts val="500"/>
              </a:spcAft>
            </a:pPr>
            <a:r>
              <a:rPr sz="1100" b="0">
                <a:solidFill>
                  <a:srgbClr val="2E2E2E"/>
                </a:solidFill>
                <a:latin typeface="Calibri"/>
              </a:rPr>
              <a:t>Value is projected to grow faster than volume over the forecast period, owing to an increase in average selling price.</a:t>
            </a:r>
          </a:p>
        </p:txBody>
      </p:sp>
      <p:sp>
        <p:nvSpPr>
          <p:cNvPr id="25" name="Rounded Rectangle 24"/>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'Spain' leads regional growth at 6.9%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Product Type  ·  range across 2021–2036 (US$/MT)</a:t>
            </a:r>
          </a:p>
        </p:txBody>
      </p:sp>
      <p:cxnSp>
        <p:nvCxnSpPr>
          <p:cNvPr id="13" name="Connector 12"/>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4"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2,451</a:t>
            </a:r>
          </a:p>
        </p:txBody>
      </p:sp>
      <p:sp>
        <p:nvSpPr>
          <p:cNvPr id="25"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4,077</a:t>
            </a:r>
          </a:p>
        </p:txBody>
      </p:sp>
      <p:sp>
        <p:nvSpPr>
          <p:cNvPr id="26"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5,704</a:t>
            </a:r>
          </a:p>
        </p:txBody>
      </p:sp>
      <p:cxnSp>
        <p:nvCxnSpPr>
          <p:cNvPr id="27" name="Connector 26"/>
          <p:cNvCxnSpPr/>
          <p:nvPr/>
        </p:nvCxnSpPr>
        <p:spPr>
          <a:xfrm flipV="1">
            <a:off x="1533525" y="2570706"/>
            <a:ext cx="0" cy="30145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1402080" y="287216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1402080" y="2570706"/>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314450" y="2691921"/>
            <a:ext cx="438150" cy="156781"/>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314450" y="278421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657225" y="241830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3,405</a:t>
            </a:r>
          </a:p>
        </p:txBody>
      </p:sp>
      <p:cxnSp>
        <p:nvCxnSpPr>
          <p:cNvPr id="33" name="Connector 32"/>
          <p:cNvCxnSpPr/>
          <p:nvPr/>
        </p:nvCxnSpPr>
        <p:spPr>
          <a:xfrm flipV="1">
            <a:off x="3286125" y="1670329"/>
            <a:ext cx="0" cy="37313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3154680" y="2043465"/>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31546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3067050" y="1815701"/>
            <a:ext cx="438150" cy="19300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7" name="Connector 36"/>
          <p:cNvCxnSpPr/>
          <p:nvPr/>
        </p:nvCxnSpPr>
        <p:spPr>
          <a:xfrm>
            <a:off x="3067050" y="1928063"/>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409825" y="1517929"/>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4,884</a:t>
            </a:r>
          </a:p>
        </p:txBody>
      </p:sp>
      <p:cxnSp>
        <p:nvCxnSpPr>
          <p:cNvPr id="39" name="Connector 38"/>
          <p:cNvCxnSpPr/>
          <p:nvPr/>
        </p:nvCxnSpPr>
        <p:spPr>
          <a:xfrm flipV="1">
            <a:off x="5038725" y="2739202"/>
            <a:ext cx="0" cy="288176"/>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4907280" y="3027378"/>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4907280" y="273920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4819650" y="2853312"/>
            <a:ext cx="438150" cy="149114"/>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3" name="Connector 42"/>
          <p:cNvCxnSpPr/>
          <p:nvPr/>
        </p:nvCxnSpPr>
        <p:spPr>
          <a:xfrm>
            <a:off x="4819650" y="2940166"/>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4162425" y="2586802"/>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3,136</a:t>
            </a:r>
          </a:p>
        </p:txBody>
      </p:sp>
      <p:cxnSp>
        <p:nvCxnSpPr>
          <p:cNvPr id="45" name="Connector 44"/>
          <p:cNvCxnSpPr/>
          <p:nvPr/>
        </p:nvCxnSpPr>
        <p:spPr>
          <a:xfrm flipV="1">
            <a:off x="6791325" y="2867263"/>
            <a:ext cx="0" cy="252289"/>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6598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659880" y="286726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6572250" y="2969710"/>
            <a:ext cx="438150" cy="131413"/>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9" name="Connector 48"/>
          <p:cNvCxnSpPr/>
          <p:nvPr/>
        </p:nvCxnSpPr>
        <p:spPr>
          <a:xfrm>
            <a:off x="6572250" y="304763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5915025" y="2714863"/>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2,950</a:t>
            </a:r>
          </a:p>
        </p:txBody>
      </p:sp>
      <p:sp>
        <p:nvSpPr>
          <p:cNvPr id="51" name="TextBox 50"/>
          <p:cNvSpPr txBox="1"/>
          <p:nvPr/>
        </p:nvSpPr>
        <p:spPr>
          <a:xfrm>
            <a:off x="6572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sp>
        <p:nvSpPr>
          <p:cNvPr id="52" name="TextBox 51"/>
          <p:cNvSpPr txBox="1"/>
          <p:nvPr/>
        </p:nvSpPr>
        <p:spPr>
          <a:xfrm>
            <a:off x="24098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sp>
        <p:nvSpPr>
          <p:cNvPr id="53" name="TextBox 52"/>
          <p:cNvSpPr txBox="1"/>
          <p:nvPr/>
        </p:nvSpPr>
        <p:spPr>
          <a:xfrm>
            <a:off x="41624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sp>
        <p:nvSpPr>
          <p:cNvPr id="54" name="TextBox 53"/>
          <p:cNvSpPr txBox="1"/>
          <p:nvPr/>
        </p:nvSpPr>
        <p:spPr>
          <a:xfrm>
            <a:off x="5915025" y="3365510"/>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55" name="Rounded Rectangle 54"/>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Europe  ·  2026–2036</a:t>
            </a:r>
          </a:p>
        </p:txBody>
      </p:sp>
      <p:cxnSp>
        <p:nvCxnSpPr>
          <p:cNvPr id="57" name="Connector 56"/>
          <p:cNvCxnSpPr/>
          <p:nvPr/>
        </p:nvCxnSpPr>
        <p:spPr>
          <a:xfrm>
            <a:off x="619125" y="4316233"/>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8" name="Connector 57"/>
          <p:cNvCxnSpPr/>
          <p:nvPr/>
        </p:nvCxnSpPr>
        <p:spPr>
          <a:xfrm>
            <a:off x="619125" y="4728004"/>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59" name="Connector 58"/>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0" name="Connector 59"/>
          <p:cNvCxnSpPr/>
          <p:nvPr/>
        </p:nvCxnSpPr>
        <p:spPr>
          <a:xfrm>
            <a:off x="619125" y="555154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1" name="Connector 60"/>
          <p:cNvCxnSpPr/>
          <p:nvPr/>
        </p:nvCxnSpPr>
        <p:spPr>
          <a:xfrm>
            <a:off x="619125" y="596331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62" name="Connector 61"/>
          <p:cNvCxnSpPr/>
          <p:nvPr/>
        </p:nvCxnSpPr>
        <p:spPr>
          <a:xfrm>
            <a:off x="619125" y="4316233"/>
            <a:ext cx="0" cy="1647086"/>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3" name="Connector 62"/>
          <p:cNvCxnSpPr/>
          <p:nvPr/>
        </p:nvCxnSpPr>
        <p:spPr>
          <a:xfrm>
            <a:off x="590550" y="431623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4" name="Connector 63"/>
          <p:cNvCxnSpPr/>
          <p:nvPr/>
        </p:nvCxnSpPr>
        <p:spPr>
          <a:xfrm>
            <a:off x="590550" y="4728004"/>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5" name="Connector 64"/>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6" name="Connector 65"/>
          <p:cNvCxnSpPr/>
          <p:nvPr/>
        </p:nvCxnSpPr>
        <p:spPr>
          <a:xfrm>
            <a:off x="590550" y="555154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67" name="Connector 66"/>
          <p:cNvCxnSpPr/>
          <p:nvPr/>
        </p:nvCxnSpPr>
        <p:spPr>
          <a:xfrm>
            <a:off x="590550" y="596331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68" name="FMI Scale tick"/>
          <p:cNvSpPr txBox="1"/>
          <p:nvPr/>
        </p:nvSpPr>
        <p:spPr>
          <a:xfrm>
            <a:off x="219075" y="4249558"/>
            <a:ext cx="361950" cy="133350"/>
          </a:xfrm>
          <a:prstGeom prst="rect">
            <a:avLst/>
          </a:prstGeom>
          <a:noFill/>
        </p:spPr>
        <p:txBody>
          <a:bodyPr wrap="none" lIns="0" rIns="0" tIns="0" bIns="0" anchor="ctr">
            <a:spAutoFit/>
          </a:bodyPr>
          <a:lstStyle/>
          <a:p>
            <a:pPr algn="r"/>
            <a:r>
              <a:rPr sz="1100" b="0">
                <a:solidFill>
                  <a:srgbClr val="6C7A89"/>
                </a:solidFill>
                <a:latin typeface="Calibri"/>
              </a:rPr>
              <a:t>+21%</a:t>
            </a:r>
          </a:p>
        </p:txBody>
      </p:sp>
      <p:sp>
        <p:nvSpPr>
          <p:cNvPr id="69" name="FMI Scale tick"/>
          <p:cNvSpPr txBox="1"/>
          <p:nvPr/>
        </p:nvSpPr>
        <p:spPr>
          <a:xfrm>
            <a:off x="219075" y="4661329"/>
            <a:ext cx="361950" cy="13335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70" name="FMI Scale tick"/>
          <p:cNvSpPr txBox="1"/>
          <p:nvPr/>
        </p:nvSpPr>
        <p:spPr>
          <a:xfrm>
            <a:off x="66675" y="5073101"/>
            <a:ext cx="514350" cy="133350"/>
          </a:xfrm>
          <a:prstGeom prst="rect">
            <a:avLst/>
          </a:prstGeom>
          <a:noFill/>
        </p:spPr>
        <p:txBody>
          <a:bodyPr wrap="square" lIns="28575" rIns="28575" tIns="9525" bIns="9525" anchor="ctr">
            <a:spAutoFit/>
          </a:bodyPr>
          <a:lstStyle/>
          <a:p>
            <a:pPr algn="r"/>
            <a:r>
              <a:rPr sz="1100" b="1">
                <a:solidFill>
                  <a:srgbClr val="6C7A89"/>
                </a:solidFill>
                <a:latin typeface="Calibri"/>
              </a:rPr>
              <a:t>Europe</a:t>
            </a:r>
          </a:p>
        </p:txBody>
      </p:sp>
      <p:sp>
        <p:nvSpPr>
          <p:cNvPr id="71" name="FMI Scale tick"/>
          <p:cNvSpPr txBox="1"/>
          <p:nvPr/>
        </p:nvSpPr>
        <p:spPr>
          <a:xfrm>
            <a:off x="219075" y="5484872"/>
            <a:ext cx="361950" cy="13335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72" name="FMI Scale tick"/>
          <p:cNvSpPr txBox="1"/>
          <p:nvPr/>
        </p:nvSpPr>
        <p:spPr>
          <a:xfrm>
            <a:off x="219075" y="5896644"/>
            <a:ext cx="361950" cy="133350"/>
          </a:xfrm>
          <a:prstGeom prst="rect">
            <a:avLst/>
          </a:prstGeom>
          <a:noFill/>
        </p:spPr>
        <p:txBody>
          <a:bodyPr wrap="none" lIns="0" rIns="0" tIns="0" bIns="0" anchor="ctr">
            <a:spAutoFit/>
          </a:bodyPr>
          <a:lstStyle/>
          <a:p>
            <a:pPr algn="r"/>
            <a:r>
              <a:rPr sz="1100" b="0">
                <a:solidFill>
                  <a:srgbClr val="6C7A89"/>
                </a:solidFill>
                <a:latin typeface="Calibri"/>
              </a:rPr>
              <a:t>-21%</a:t>
            </a:r>
          </a:p>
        </p:txBody>
      </p:sp>
      <p:cxnSp>
        <p:nvCxnSpPr>
          <p:cNvPr id="73" name="Connector 72"/>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718979" y="4819783"/>
            <a:ext cx="387668" cy="31999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MI Data Label"/>
          <p:cNvSpPr txBox="1"/>
          <p:nvPr/>
        </p:nvSpPr>
        <p:spPr>
          <a:xfrm>
            <a:off x="619125" y="4676908"/>
            <a:ext cx="587375" cy="133350"/>
          </a:xfrm>
          <a:prstGeom prst="rect">
            <a:avLst/>
          </a:prstGeom>
          <a:noFill/>
        </p:spPr>
        <p:txBody>
          <a:bodyPr wrap="square" lIns="28575" rIns="28575" tIns="9525" bIns="9525">
            <a:spAutoFit/>
          </a:bodyPr>
          <a:lstStyle/>
          <a:p>
            <a:pPr algn="ctr"/>
            <a:r>
              <a:rPr sz="1100" b="1">
                <a:solidFill>
                  <a:srgbClr val="2E2E2E"/>
                </a:solidFill>
                <a:latin typeface="Calibri"/>
              </a:rPr>
              <a:t>+8.1%</a:t>
            </a:r>
          </a:p>
        </p:txBody>
      </p:sp>
      <p:sp>
        <p:nvSpPr>
          <p:cNvPr id="76" name="Rectangle 75"/>
          <p:cNvSpPr/>
          <p:nvPr/>
        </p:nvSpPr>
        <p:spPr>
          <a:xfrm>
            <a:off x="1306354" y="4931942"/>
            <a:ext cx="387668" cy="2078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MI Data Label"/>
          <p:cNvSpPr txBox="1"/>
          <p:nvPr/>
        </p:nvSpPr>
        <p:spPr>
          <a:xfrm>
            <a:off x="1206500" y="4789067"/>
            <a:ext cx="587375" cy="133350"/>
          </a:xfrm>
          <a:prstGeom prst="rect">
            <a:avLst/>
          </a:prstGeom>
          <a:noFill/>
        </p:spPr>
        <p:txBody>
          <a:bodyPr wrap="square" lIns="28575" rIns="28575" tIns="9525" bIns="9525">
            <a:spAutoFit/>
          </a:bodyPr>
          <a:lstStyle/>
          <a:p>
            <a:pPr algn="ctr"/>
            <a:r>
              <a:rPr sz="1100" b="1">
                <a:solidFill>
                  <a:srgbClr val="2E2E2E"/>
                </a:solidFill>
                <a:latin typeface="Calibri"/>
              </a:rPr>
              <a:t>+5.3%</a:t>
            </a:r>
          </a:p>
        </p:txBody>
      </p:sp>
      <p:sp>
        <p:nvSpPr>
          <p:cNvPr id="78" name="Rectangle 77"/>
          <p:cNvSpPr/>
          <p:nvPr/>
        </p:nvSpPr>
        <p:spPr>
          <a:xfrm>
            <a:off x="1893729" y="5006760"/>
            <a:ext cx="387668" cy="133016"/>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MI Data Label"/>
          <p:cNvSpPr txBox="1"/>
          <p:nvPr/>
        </p:nvSpPr>
        <p:spPr>
          <a:xfrm>
            <a:off x="1793875" y="4863885"/>
            <a:ext cx="587375" cy="133350"/>
          </a:xfrm>
          <a:prstGeom prst="rect">
            <a:avLst/>
          </a:prstGeom>
          <a:noFill/>
        </p:spPr>
        <p:txBody>
          <a:bodyPr wrap="square" lIns="28575" rIns="28575" tIns="9525" bIns="9525">
            <a:spAutoFit/>
          </a:bodyPr>
          <a:lstStyle/>
          <a:p>
            <a:pPr algn="ctr"/>
            <a:r>
              <a:rPr sz="1100" b="1">
                <a:solidFill>
                  <a:srgbClr val="2E2E2E"/>
                </a:solidFill>
                <a:latin typeface="Calibri"/>
              </a:rPr>
              <a:t>+3.4%</a:t>
            </a:r>
          </a:p>
        </p:txBody>
      </p:sp>
      <p:sp>
        <p:nvSpPr>
          <p:cNvPr id="80" name="Rectangle 79"/>
          <p:cNvSpPr/>
          <p:nvPr/>
        </p:nvSpPr>
        <p:spPr>
          <a:xfrm>
            <a:off x="2481104" y="5139776"/>
            <a:ext cx="387668" cy="13704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MI Data Label"/>
          <p:cNvSpPr txBox="1"/>
          <p:nvPr/>
        </p:nvSpPr>
        <p:spPr>
          <a:xfrm>
            <a:off x="2381250" y="5286346"/>
            <a:ext cx="587375" cy="133350"/>
          </a:xfrm>
          <a:prstGeom prst="rect">
            <a:avLst/>
          </a:prstGeom>
          <a:noFill/>
        </p:spPr>
        <p:txBody>
          <a:bodyPr wrap="square" lIns="28575" rIns="28575" tIns="9525" bIns="9525">
            <a:spAutoFit/>
          </a:bodyPr>
          <a:lstStyle/>
          <a:p>
            <a:pPr algn="ctr"/>
            <a:r>
              <a:rPr sz="1100" b="1">
                <a:solidFill>
                  <a:srgbClr val="2E2E2E"/>
                </a:solidFill>
                <a:latin typeface="Calibri"/>
              </a:rPr>
              <a:t>-3.5%</a:t>
            </a:r>
          </a:p>
        </p:txBody>
      </p:sp>
      <p:sp>
        <p:nvSpPr>
          <p:cNvPr id="82" name="Rectangle 81"/>
          <p:cNvSpPr/>
          <p:nvPr/>
        </p:nvSpPr>
        <p:spPr>
          <a:xfrm>
            <a:off x="3068479" y="5139776"/>
            <a:ext cx="387668" cy="296638"/>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MI Data Label"/>
          <p:cNvSpPr txBox="1"/>
          <p:nvPr/>
        </p:nvSpPr>
        <p:spPr>
          <a:xfrm>
            <a:off x="2968625" y="5445938"/>
            <a:ext cx="587375" cy="133350"/>
          </a:xfrm>
          <a:prstGeom prst="rect">
            <a:avLst/>
          </a:prstGeom>
          <a:noFill/>
        </p:spPr>
        <p:txBody>
          <a:bodyPr wrap="square" lIns="28575" rIns="28575" tIns="9525" bIns="9525">
            <a:spAutoFit/>
          </a:bodyPr>
          <a:lstStyle/>
          <a:p>
            <a:pPr algn="ctr"/>
            <a:r>
              <a:rPr sz="1100" b="1">
                <a:solidFill>
                  <a:srgbClr val="2E2E2E"/>
                </a:solidFill>
                <a:latin typeface="Calibri"/>
              </a:rPr>
              <a:t>-7.5%</a:t>
            </a:r>
          </a:p>
        </p:txBody>
      </p:sp>
      <p:sp>
        <p:nvSpPr>
          <p:cNvPr id="84" name="Rectangle 83"/>
          <p:cNvSpPr/>
          <p:nvPr/>
        </p:nvSpPr>
        <p:spPr>
          <a:xfrm>
            <a:off x="3655854" y="4866744"/>
            <a:ext cx="387668" cy="27303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MI Data Label"/>
          <p:cNvSpPr txBox="1"/>
          <p:nvPr/>
        </p:nvSpPr>
        <p:spPr>
          <a:xfrm>
            <a:off x="3556000" y="4723869"/>
            <a:ext cx="587375" cy="133350"/>
          </a:xfrm>
          <a:prstGeom prst="rect">
            <a:avLst/>
          </a:prstGeom>
          <a:noFill/>
        </p:spPr>
        <p:txBody>
          <a:bodyPr wrap="square" lIns="28575" rIns="28575" tIns="9525" bIns="9525">
            <a:spAutoFit/>
          </a:bodyPr>
          <a:lstStyle/>
          <a:p>
            <a:pPr algn="ctr"/>
            <a:r>
              <a:rPr sz="1100" b="1">
                <a:solidFill>
                  <a:srgbClr val="2E2E2E"/>
                </a:solidFill>
                <a:latin typeface="Calibri"/>
              </a:rPr>
              <a:t>+6.9%</a:t>
            </a:r>
          </a:p>
        </p:txBody>
      </p:sp>
      <p:sp>
        <p:nvSpPr>
          <p:cNvPr id="86" name="Rectangle 85"/>
          <p:cNvSpPr/>
          <p:nvPr/>
        </p:nvSpPr>
        <p:spPr>
          <a:xfrm>
            <a:off x="4243229" y="4901836"/>
            <a:ext cx="387668" cy="23793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FMI Data Label"/>
          <p:cNvSpPr txBox="1"/>
          <p:nvPr/>
        </p:nvSpPr>
        <p:spPr>
          <a:xfrm>
            <a:off x="4143375" y="4758961"/>
            <a:ext cx="587375" cy="133350"/>
          </a:xfrm>
          <a:prstGeom prst="rect">
            <a:avLst/>
          </a:prstGeom>
          <a:noFill/>
        </p:spPr>
        <p:txBody>
          <a:bodyPr wrap="square" lIns="28575" rIns="28575" tIns="9525" bIns="9525">
            <a:spAutoFit/>
          </a:bodyPr>
          <a:lstStyle/>
          <a:p>
            <a:pPr algn="ctr"/>
            <a:r>
              <a:rPr sz="1100" b="1">
                <a:solidFill>
                  <a:srgbClr val="2E2E2E"/>
                </a:solidFill>
                <a:latin typeface="Calibri"/>
              </a:rPr>
              <a:t>+6.0%</a:t>
            </a:r>
          </a:p>
        </p:txBody>
      </p:sp>
      <p:sp>
        <p:nvSpPr>
          <p:cNvPr id="88" name="Rectangle 87"/>
          <p:cNvSpPr/>
          <p:nvPr/>
        </p:nvSpPr>
        <p:spPr>
          <a:xfrm>
            <a:off x="4830604" y="4612914"/>
            <a:ext cx="387668" cy="52686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MI Data Label"/>
          <p:cNvSpPr txBox="1"/>
          <p:nvPr/>
        </p:nvSpPr>
        <p:spPr>
          <a:xfrm>
            <a:off x="4730750" y="4470039"/>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+13.4%</a:t>
            </a:r>
          </a:p>
        </p:txBody>
      </p:sp>
      <p:sp>
        <p:nvSpPr>
          <p:cNvPr id="90" name="Rectangle 89"/>
          <p:cNvSpPr/>
          <p:nvPr/>
        </p:nvSpPr>
        <p:spPr>
          <a:xfrm>
            <a:off x="5417979" y="4423458"/>
            <a:ext cx="387668"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MI Data Label"/>
          <p:cNvSpPr txBox="1"/>
          <p:nvPr/>
        </p:nvSpPr>
        <p:spPr>
          <a:xfrm>
            <a:off x="5318125" y="4280583"/>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+18.2%</a:t>
            </a:r>
          </a:p>
        </p:txBody>
      </p:sp>
      <p:sp>
        <p:nvSpPr>
          <p:cNvPr id="92" name="Rectangle 91"/>
          <p:cNvSpPr/>
          <p:nvPr/>
        </p:nvSpPr>
        <p:spPr>
          <a:xfrm>
            <a:off x="6005354" y="5139776"/>
            <a:ext cx="387668" cy="627586"/>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MI Data Label"/>
          <p:cNvSpPr txBox="1"/>
          <p:nvPr/>
        </p:nvSpPr>
        <p:spPr>
          <a:xfrm>
            <a:off x="5905500" y="5776887"/>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-15.9%</a:t>
            </a:r>
          </a:p>
        </p:txBody>
      </p:sp>
      <p:sp>
        <p:nvSpPr>
          <p:cNvPr id="94" name="Rectangle 93"/>
          <p:cNvSpPr/>
          <p:nvPr/>
        </p:nvSpPr>
        <p:spPr>
          <a:xfrm>
            <a:off x="6592729" y="5139776"/>
            <a:ext cx="387668" cy="52386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FMI Data Label"/>
          <p:cNvSpPr txBox="1"/>
          <p:nvPr/>
        </p:nvSpPr>
        <p:spPr>
          <a:xfrm>
            <a:off x="6492875" y="5673165"/>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-13.3%</a:t>
            </a:r>
          </a:p>
        </p:txBody>
      </p:sp>
      <p:sp>
        <p:nvSpPr>
          <p:cNvPr id="96" name="Rectangle 95"/>
          <p:cNvSpPr/>
          <p:nvPr/>
        </p:nvSpPr>
        <p:spPr>
          <a:xfrm>
            <a:off x="7180104" y="5139776"/>
            <a:ext cx="387668" cy="252231"/>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FMI Data Label"/>
          <p:cNvSpPr txBox="1"/>
          <p:nvPr/>
        </p:nvSpPr>
        <p:spPr>
          <a:xfrm>
            <a:off x="7080250" y="5401532"/>
            <a:ext cx="587375" cy="133350"/>
          </a:xfrm>
          <a:prstGeom prst="rect">
            <a:avLst/>
          </a:prstGeom>
          <a:noFill/>
        </p:spPr>
        <p:txBody>
          <a:bodyPr wrap="square" lIns="28575" rIns="28575" tIns="9525" bIns="9525">
            <a:spAutoFit/>
          </a:bodyPr>
          <a:lstStyle/>
          <a:p>
            <a:pPr algn="ctr"/>
            <a:r>
              <a:rPr sz="1100" b="1">
                <a:solidFill>
                  <a:srgbClr val="2E2E2E"/>
                </a:solidFill>
                <a:latin typeface="Calibri"/>
              </a:rPr>
              <a:t>-6.4%</a:t>
            </a:r>
          </a:p>
        </p:txBody>
      </p:sp>
      <p:sp>
        <p:nvSpPr>
          <p:cNvPr id="98" name="TextBox 97"/>
          <p:cNvSpPr txBox="1"/>
          <p:nvPr/>
        </p:nvSpPr>
        <p:spPr>
          <a:xfrm>
            <a:off x="603250" y="6135380"/>
            <a:ext cx="619125" cy="247650"/>
          </a:xfrm>
          <a:prstGeom prst="rect">
            <a:avLst/>
          </a:prstGeom>
          <a:noFill/>
        </p:spPr>
        <p:txBody>
          <a:bodyPr wrap="square" lIns="28575" rIns="28575" tIns="9525" bIns="9525">
            <a:spAutoFit/>
          </a:bodyPr>
          <a:lstStyle/>
          <a:p>
            <a:pPr algn="ctr"/>
            <a:r>
              <a:rPr sz="1100" b="0">
                <a:solidFill>
                  <a:srgbClr val="2E2E2E"/>
                </a:solidFill>
                <a:latin typeface="Calibri"/>
              </a:rPr>
              <a:t>Germany</a:t>
            </a:r>
          </a:p>
        </p:txBody>
      </p:sp>
      <p:sp>
        <p:nvSpPr>
          <p:cNvPr id="99" name="TextBox 98"/>
          <p:cNvSpPr txBox="1"/>
          <p:nvPr/>
        </p:nvSpPr>
        <p:spPr>
          <a:xfrm>
            <a:off x="1206500" y="6135380"/>
            <a:ext cx="587375" cy="247650"/>
          </a:xfrm>
          <a:prstGeom prst="rect">
            <a:avLst/>
          </a:prstGeom>
          <a:noFill/>
        </p:spPr>
        <p:txBody>
          <a:bodyPr wrap="none" lIns="0" rIns="0" tIns="0" bIns="0">
            <a:spAutoFit/>
          </a:bodyPr>
          <a:lstStyle/>
          <a:p>
            <a:pPr algn="ctr"/>
            <a:r>
              <a:rPr sz="1100" b="0">
                <a:solidFill>
                  <a:srgbClr val="2E2E2E"/>
                </a:solidFill>
                <a:latin typeface="Calibri"/>
              </a:rPr>
              <a:t>U.K.</a:t>
            </a:r>
          </a:p>
        </p:txBody>
      </p:sp>
      <p:sp>
        <p:nvSpPr>
          <p:cNvPr id="100" name="TextBox 99"/>
          <p:cNvSpPr txBox="1"/>
          <p:nvPr/>
        </p:nvSpPr>
        <p:spPr>
          <a:xfrm>
            <a:off x="179387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France</a:t>
            </a:r>
          </a:p>
        </p:txBody>
      </p:sp>
      <p:sp>
        <p:nvSpPr>
          <p:cNvPr id="101" name="TextBox 100"/>
          <p:cNvSpPr txBox="1"/>
          <p:nvPr/>
        </p:nvSpPr>
        <p:spPr>
          <a:xfrm>
            <a:off x="23812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Italy</a:t>
            </a:r>
          </a:p>
        </p:txBody>
      </p:sp>
      <p:sp>
        <p:nvSpPr>
          <p:cNvPr id="102" name="TextBox 101"/>
          <p:cNvSpPr txBox="1"/>
          <p:nvPr/>
        </p:nvSpPr>
        <p:spPr>
          <a:xfrm>
            <a:off x="296862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Spain</a:t>
            </a:r>
          </a:p>
        </p:txBody>
      </p:sp>
      <p:sp>
        <p:nvSpPr>
          <p:cNvPr id="103" name="TextBox 102"/>
          <p:cNvSpPr txBox="1"/>
          <p:nvPr/>
        </p:nvSpPr>
        <p:spPr>
          <a:xfrm>
            <a:off x="355600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Belgium</a:t>
            </a:r>
          </a:p>
        </p:txBody>
      </p:sp>
      <p:sp>
        <p:nvSpPr>
          <p:cNvPr id="104" name="TextBox 103"/>
          <p:cNvSpPr txBox="1"/>
          <p:nvPr/>
        </p:nvSpPr>
        <p:spPr>
          <a:xfrm>
            <a:off x="4038203" y="6135380"/>
            <a:ext cx="797719" cy="247650"/>
          </a:xfrm>
          <a:prstGeom prst="rect">
            <a:avLst/>
          </a:prstGeom>
          <a:noFill/>
        </p:spPr>
        <p:txBody>
          <a:bodyPr wrap="square" lIns="28575" rIns="28575" tIns="9525" bIns="9525">
            <a:spAutoFit/>
          </a:bodyPr>
          <a:lstStyle/>
          <a:p>
            <a:pPr algn="ctr"/>
            <a:r>
              <a:rPr sz="1100" b="0">
                <a:solidFill>
                  <a:srgbClr val="2E2E2E"/>
                </a:solidFill>
                <a:latin typeface="Calibri"/>
              </a:rPr>
              <a:t>Netherlands</a:t>
            </a:r>
          </a:p>
        </p:txBody>
      </p:sp>
      <p:sp>
        <p:nvSpPr>
          <p:cNvPr id="105" name="TextBox 104"/>
          <p:cNvSpPr txBox="1"/>
          <p:nvPr/>
        </p:nvSpPr>
        <p:spPr>
          <a:xfrm>
            <a:off x="47307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Nordic</a:t>
            </a:r>
          </a:p>
        </p:txBody>
      </p:sp>
      <p:sp>
        <p:nvSpPr>
          <p:cNvPr id="106" name="TextBox 105"/>
          <p:cNvSpPr txBox="1"/>
          <p:nvPr/>
        </p:nvSpPr>
        <p:spPr>
          <a:xfrm>
            <a:off x="5230813" y="6135380"/>
            <a:ext cx="762000" cy="247650"/>
          </a:xfrm>
          <a:prstGeom prst="rect">
            <a:avLst/>
          </a:prstGeom>
          <a:noFill/>
        </p:spPr>
        <p:txBody>
          <a:bodyPr wrap="square" lIns="28575" rIns="28575" tIns="9525" bIns="9525">
            <a:spAutoFit/>
          </a:bodyPr>
          <a:lstStyle/>
          <a:p>
            <a:pPr algn="ctr"/>
            <a:r>
              <a:rPr sz="1100" b="0">
                <a:solidFill>
                  <a:srgbClr val="2E2E2E"/>
                </a:solidFill>
                <a:latin typeface="Calibri"/>
              </a:rPr>
              <a:t>Switzerland</a:t>
            </a:r>
          </a:p>
        </p:txBody>
      </p:sp>
      <p:sp>
        <p:nvSpPr>
          <p:cNvPr id="107" name="TextBox 106"/>
          <p:cNvSpPr txBox="1"/>
          <p:nvPr/>
        </p:nvSpPr>
        <p:spPr>
          <a:xfrm>
            <a:off x="590550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Russia</a:t>
            </a:r>
          </a:p>
        </p:txBody>
      </p:sp>
      <p:sp>
        <p:nvSpPr>
          <p:cNvPr id="108" name="TextBox 107"/>
          <p:cNvSpPr txBox="1"/>
          <p:nvPr/>
        </p:nvSpPr>
        <p:spPr>
          <a:xfrm>
            <a:off x="649287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Poland</a:t>
            </a:r>
          </a:p>
        </p:txBody>
      </p:sp>
      <p:sp>
        <p:nvSpPr>
          <p:cNvPr id="109" name="TextBox 108"/>
          <p:cNvSpPr txBox="1"/>
          <p:nvPr/>
        </p:nvSpPr>
        <p:spPr>
          <a:xfrm>
            <a:off x="70802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Rest of Europe</a:t>
            </a:r>
          </a:p>
        </p:txBody>
      </p:sp>
      <p:sp>
        <p:nvSpPr>
          <p:cNvPr id="110" name="Rounded Rectangle 109"/>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12" name="Rectangle 111"/>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Barrier casings segment is expected to command the highest average price of US$ 5,329 per MT in 2036. Average selling price of flexible plastic packaging is estimated at US$ 3,291 per MT in 2025 and is projected to increase to US$ 3,762 per MT by 2036. Switzerland is the highest-priced country, while Russia is the most price-competitive market.</a:t>
            </a:r>
          </a:p>
          <a:p>
            <a:pPr algn="l">
              <a:lnSpc>
                <a:spcPct val="110000"/>
              </a:lnSpc>
              <a:spcBef>
                <a:spcPts val="0"/>
              </a:spcBef>
              <a:spcAft>
                <a:spcPts val="500"/>
              </a:spcAft>
            </a:pPr>
            <a:r>
              <a:rPr sz="1150" b="0">
                <a:solidFill>
                  <a:srgbClr val="2E2E2E"/>
                </a:solidFill>
                <a:latin typeface="Calibri"/>
              </a:rPr>
              <a:t>Against the Europe price of 3,538 US$/MT, 7 of 12 countries price above and 5 below. 'Switzerland' is the dearest at +18.2% versus Europe, 'Russia' the cheapest at -15.9% pointing to premiumisation headroom in the lower-priced countries.</a:t>
            </a:r>
          </a:p>
          <a:p>
            <a:pPr algn="l">
              <a:lnSpc>
                <a:spcPct val="110000"/>
              </a:lnSpc>
              <a:spcBef>
                <a:spcPts val="0"/>
              </a:spcBef>
              <a:spcAft>
                <a:spcPts val="500"/>
              </a:spcAft>
            </a:pPr>
            <a:r>
              <a:rPr sz="1150" b="0">
                <a:solidFill>
                  <a:srgbClr val="2E2E2E"/>
                </a:solidFill>
                <a:latin typeface="Calibri"/>
              </a:rPr>
              <a:t>European average price rises from US$3,318 to US$3,762 per MT, so value grows at 6.6% against 5.2% for volume. The lift comes from resin and energy cost pass-through, recycled-content and EPR obligations, and a steady move to mono-material and high-barrier structures that cost more per tonne than the commodity films they replace.</a:t>
            </a:r>
          </a:p>
        </p:txBody>
      </p:sp>
      <p:sp>
        <p:nvSpPr>
          <p:cNvPr id="114" name="TextBox 1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Europe market value growth, incremental opportunity and the geographies driving it,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26,141</a:t>
            </a:r>
          </a:p>
        </p:txBody>
      </p:sp>
      <p:sp>
        <p:nvSpPr>
          <p:cNvPr id="12" name="Rounded Rectangle 11"/>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49,393</a:t>
            </a:r>
          </a:p>
        </p:txBody>
      </p:sp>
      <p:sp>
        <p:nvSpPr>
          <p:cNvPr id="13" name="Rounded Rectangle 12"/>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4.7%</a:t>
            </a:r>
          </a:p>
        </p:txBody>
      </p:sp>
      <p:sp>
        <p:nvSpPr>
          <p:cNvPr id="14" name="Rounded Rectangle 13"/>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6.6%</a:t>
            </a:r>
          </a:p>
        </p:txBody>
      </p:sp>
      <p:sp>
        <p:nvSpPr>
          <p:cNvPr id="15" name="Rounded Rectangle 14"/>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7" name="Chart 16"/>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8" name="Rounded Rectangle 17"/>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20" name="Chart 19"/>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1" name="Rounded Rectangle 20"/>
          <p:cNvSpPr/>
          <p:nvPr/>
        </p:nvSpPr>
        <p:spPr>
          <a:xfrm>
            <a:off x="7915275" y="1627887"/>
            <a:ext cx="4133850" cy="3046469"/>
          </a:xfrm>
          <a:prstGeom prst="roundRect">
            <a:avLst>
              <a:gd name="adj" fmla="val 25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3" name="Rectangle 22"/>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8048625" y="2037462"/>
            <a:ext cx="3867150" cy="2560694"/>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Flexible plastic packaging market value in Europe is expected to increase 2.0X between 2025 and 2036. In 2025, the flexible plastic packaging market in Europe was valued at US$ 24,784 Mn and is estimated to account for US$ 26,141 Mn by the end of 2026, reflecting a Y-o-Y growth rate of 5.5%.</a:t>
            </a:r>
          </a:p>
          <a:p>
            <a:pPr algn="l">
              <a:lnSpc>
                <a:spcPct val="100000"/>
              </a:lnSpc>
              <a:spcBef>
                <a:spcPts val="0"/>
              </a:spcBef>
              <a:spcAft>
                <a:spcPts val="300"/>
              </a:spcAft>
            </a:pPr>
            <a:r>
              <a:rPr sz="1100" b="0">
                <a:solidFill>
                  <a:srgbClr val="2E2E2E"/>
                </a:solidFill>
                <a:latin typeface="Calibri"/>
              </a:rPr>
              <a:t>The market in Europe is expected to account for US$ 49,393 Mn by 2036 at a CAGR of 6.6% over the forecast period. Europe is expected to create an incremental opportunity of US$ 24,609 Mn for the overall flexible plastic packaging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US$ 1,356 Mn.</a:t>
            </a:r>
          </a:p>
        </p:txBody>
      </p:sp>
      <p:sp>
        <p:nvSpPr>
          <p:cNvPr id="25" name="Rounded Rectangle 24"/>
          <p:cNvSpPr/>
          <p:nvPr/>
        </p:nvSpPr>
        <p:spPr>
          <a:xfrm>
            <a:off x="7915275" y="4729117"/>
            <a:ext cx="4133850" cy="1827269"/>
          </a:xfrm>
          <a:prstGeom prst="roundRect">
            <a:avLst>
              <a:gd name="adj" fmla="val 41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8048625" y="4814842"/>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7" name="Rectangle 26"/>
          <p:cNvSpPr/>
          <p:nvPr/>
        </p:nvSpPr>
        <p:spPr>
          <a:xfrm>
            <a:off x="8048625" y="505296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8048625" y="5138692"/>
            <a:ext cx="3867150" cy="134149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'Spain' leads regional growth at 8.1%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concentrates in 'Rollstock Films' within Product Type.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Product innovation and premiumisation lifting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Expanding end-use applications and access.</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Europe market and the incremental $ opportunity it creates,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4695825" cy="2400300"/>
          </a:xfrm>
          <a:prstGeom prst="roundRect">
            <a:avLst>
              <a:gd name="adj" fmla="val 317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2021–2025 (Historical)</a:t>
            </a:r>
          </a:p>
        </p:txBody>
      </p:sp>
      <p:graphicFrame>
        <p:nvGraphicFramePr>
          <p:cNvPr id="13" name="Chart 12"/>
          <p:cNvGraphicFramePr>
            <a:graphicFrameLocks noGrp="1"/>
          </p:cNvGraphicFramePr>
          <p:nvPr/>
        </p:nvGraphicFramePr>
        <p:xfrm>
          <a:off x="238125" y="1266825"/>
          <a:ext cx="4505325" cy="2057400"/>
        </p:xfrm>
        <a:graphic>
          <a:graphicData uri="http://schemas.openxmlformats.org/drawingml/2006/chart">
            <c:chart xmlns:c="http://schemas.openxmlformats.org/drawingml/2006/chart" r:id="rId3"/>
          </a:graphicData>
        </a:graphic>
      </p:graphicFrame>
      <p:sp>
        <p:nvSpPr>
          <p:cNvPr id="14" name="Rounded Rectangle 13"/>
          <p:cNvSpPr/>
          <p:nvPr/>
        </p:nvSpPr>
        <p:spPr>
          <a:xfrm>
            <a:off x="4991100" y="981075"/>
            <a:ext cx="7048500" cy="2400300"/>
          </a:xfrm>
          <a:prstGeom prst="roundRect">
            <a:avLst>
              <a:gd name="adj" fmla="val 317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2026–2036 (Forecast)</a:t>
            </a:r>
          </a:p>
        </p:txBody>
      </p:sp>
      <p:graphicFrame>
        <p:nvGraphicFramePr>
          <p:cNvPr id="16" name="Chart 15"/>
          <p:cNvGraphicFramePr>
            <a:graphicFrameLocks noGrp="1"/>
          </p:cNvGraphicFramePr>
          <p:nvPr/>
        </p:nvGraphicFramePr>
        <p:xfrm>
          <a:off x="5086350" y="1266825"/>
          <a:ext cx="6858000" cy="205740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514725"/>
            <a:ext cx="25146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4.7%</a:t>
            </a:r>
          </a:p>
        </p:txBody>
      </p:sp>
      <p:sp>
        <p:nvSpPr>
          <p:cNvPr id="18" name="Rounded Rectangle 17"/>
          <p:cNvSpPr/>
          <p:nvPr/>
        </p:nvSpPr>
        <p:spPr>
          <a:xfrm>
            <a:off x="2809875" y="3514725"/>
            <a:ext cx="25146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6.6%</a:t>
            </a:r>
          </a:p>
        </p:txBody>
      </p:sp>
      <p:sp>
        <p:nvSpPr>
          <p:cNvPr id="19" name="Rounded Rectangle 18"/>
          <p:cNvSpPr/>
          <p:nvPr/>
        </p:nvSpPr>
        <p:spPr>
          <a:xfrm>
            <a:off x="5476875" y="3514725"/>
            <a:ext cx="32004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9,260 US$ Mn</a:t>
            </a:r>
          </a:p>
        </p:txBody>
      </p:sp>
      <p:sp>
        <p:nvSpPr>
          <p:cNvPr id="20" name="Rounded Rectangle 19"/>
          <p:cNvSpPr/>
          <p:nvPr/>
        </p:nvSpPr>
        <p:spPr>
          <a:xfrm>
            <a:off x="8829675" y="3514725"/>
            <a:ext cx="3200400" cy="5619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23,252 US$ Mn</a:t>
            </a:r>
          </a:p>
        </p:txBody>
      </p:sp>
      <p:sp>
        <p:nvSpPr>
          <p:cNvPr id="21" name="Rounded Rectangle 20"/>
          <p:cNvSpPr/>
          <p:nvPr/>
        </p:nvSpPr>
        <p:spPr>
          <a:xfrm>
            <a:off x="142875" y="4210050"/>
            <a:ext cx="11906250" cy="2400300"/>
          </a:xfrm>
          <a:prstGeom prst="roundRect">
            <a:avLst>
              <a:gd name="adj" fmla="val 317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295775"/>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&amp; Value Analysis</a:t>
            </a:r>
          </a:p>
        </p:txBody>
      </p:sp>
      <p:sp>
        <p:nvSpPr>
          <p:cNvPr id="23" name="Rectangle 22"/>
          <p:cNvSpPr/>
          <p:nvPr/>
        </p:nvSpPr>
        <p:spPr>
          <a:xfrm>
            <a:off x="276225" y="45339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4619625"/>
            <a:ext cx="11639550" cy="19145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Flexible plastic packaging market value in Europe is expected to increase 2.0X between 2025 and 2036. In 2025, the flexible plastic packaging market in Europe was valued at US$ 24,784 Mn and is estimated to account for US$ 26,141 Mn by the end of 2026, reflecting a Y-o-Y growth rate of 5.5%. The market in Europe is expected to account for US$ 49,393 Mn by 2036 at a CAGR of 6.6% over the forecast period. Europe is expected to create an incremental opportunity of US$ 24,609 Mn for the overall flexible plastic packaging market from 2025 to 2036.</a:t>
            </a:r>
          </a:p>
          <a:p>
            <a:pPr algn="l">
              <a:lnSpc>
                <a:spcPct val="100000"/>
              </a:lnSpc>
              <a:spcBef>
                <a:spcPts val="0"/>
              </a:spcBef>
              <a:spcAft>
                <a:spcPts val="300"/>
              </a:spcAft>
            </a:pPr>
            <a:r>
              <a:rPr sz="1100" b="0">
                <a:solidFill>
                  <a:srgbClr val="2E2E2E"/>
                </a:solidFill>
                <a:latin typeface="Calibri"/>
              </a:rPr>
              <a:t>Absolute $ value for 2026 is estimated to be US$ 1,356 Mn. Europe flexible plastic packaging market is projected to register 1.7X increase in volume by the end of forecast period, 2036. Europe flexible plastic packaging market volume stood at 7,530 Thousand MT in 2025 and is expected to reach 13,129 Thousand MT by 2036 end, at a CAGR of 5.2%. Value is projected to grow faster than volume over the forecast period, owing to an increase in average selling price.</a:t>
            </a:r>
          </a:p>
          <a:p>
            <a:pPr algn="l">
              <a:lnSpc>
                <a:spcPct val="100000"/>
              </a:lnSpc>
              <a:spcBef>
                <a:spcPts val="0"/>
              </a:spcBef>
              <a:spcAft>
                <a:spcPts val="300"/>
              </a:spcAft>
            </a:pPr>
            <a:r>
              <a:rPr sz="1100" b="0">
                <a:solidFill>
                  <a:srgbClr val="2E2E2E"/>
                </a:solidFill>
                <a:latin typeface="Calibri"/>
              </a:rPr>
              <a:t>Europe's volume grows at 5.2% because the market is mature and gains come from ready meals, convenience food, e-commerce and a shift from rigid to flexible formats, led by Spain, Poland, Italy and the Netherlands. Value grows faster at 6.6% as average price rises from US$3,318 to US$3,762 per MT, reflecting recyclable mono-material and recycled-content structures that cost more under strict packaging regulation.</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0"/>
        </p:xfrm>
        <a:graphic>
          <a:graphicData uri="http://schemas.openxmlformats.org/drawingml/2006/table">
            <a:tbl>
              <a:tblPr>
                <a:tableStyleId>{5C22544A-7EE6-4342-B048-85BDC9FD1C3A}</a:tableStyleId>
              </a:tblPr>
              <a:tblGrid>
                <a:gridCol w="1013910"/>
                <a:gridCol w="969873"/>
                <a:gridCol w="661933"/>
                <a:gridCol w="1269060"/>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3361">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2,445</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Poland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r>
              <a:tr h="383361">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r>
              <a:tr h="383361">
                <a:tc>
                  <a:txBody>
                    <a:bodyPr wrap="none"/>
                    <a:lstStyle/>
                    <a:p>
                      <a:pPr algn="l"/>
                      <a:r>
                        <a:rPr sz="1100" b="1">
                          <a:solidFill>
                            <a:srgbClr val="2E2E2E"/>
                          </a:solidFill>
                          <a:latin typeface="Calibri"/>
                        </a:rPr>
                        <a:t>Nordic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1963123" cy="1554164"/>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7,547</a:t>
            </a:r>
          </a:p>
        </p:txBody>
      </p:sp>
      <p:sp>
        <p:nvSpPr>
          <p:cNvPr id="19" name="Rectangle 18"/>
          <p:cNvSpPr/>
          <p:nvPr/>
        </p:nvSpPr>
        <p:spPr>
          <a:xfrm>
            <a:off x="6173173" y="1293011"/>
            <a:ext cx="1780202" cy="1554164"/>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6,843</a:t>
            </a:r>
          </a:p>
        </p:txBody>
      </p:sp>
      <p:sp>
        <p:nvSpPr>
          <p:cNvPr id="20" name="Rectangle 19"/>
          <p:cNvSpPr/>
          <p:nvPr/>
        </p:nvSpPr>
        <p:spPr>
          <a:xfrm>
            <a:off x="4210050" y="2847176"/>
            <a:ext cx="1463746" cy="1601910"/>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5,800</a:t>
            </a:r>
          </a:p>
        </p:txBody>
      </p:sp>
      <p:sp>
        <p:nvSpPr>
          <p:cNvPr id="21" name="Rectangle 20"/>
          <p:cNvSpPr/>
          <p:nvPr/>
        </p:nvSpPr>
        <p:spPr>
          <a:xfrm>
            <a:off x="4210050" y="4449086"/>
            <a:ext cx="1463746" cy="1429524"/>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Italy</a:t>
            </a:r>
          </a:p>
          <a:p>
            <a:pPr algn="ctr"/>
            <a:r>
              <a:rPr sz="1100" b="0">
                <a:solidFill>
                  <a:srgbClr val="FFFFFF"/>
                </a:solidFill>
                <a:latin typeface="Calibri"/>
              </a:rPr>
              <a:t>5,176</a:t>
            </a:r>
          </a:p>
        </p:txBody>
      </p:sp>
      <p:sp>
        <p:nvSpPr>
          <p:cNvPr id="22" name="Rectangle 21"/>
          <p:cNvSpPr/>
          <p:nvPr/>
        </p:nvSpPr>
        <p:spPr>
          <a:xfrm>
            <a:off x="5673796" y="2847176"/>
            <a:ext cx="1330497" cy="1370841"/>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Spain</a:t>
            </a:r>
          </a:p>
          <a:p>
            <a:pPr algn="ctr"/>
            <a:r>
              <a:rPr sz="1100" b="0">
                <a:solidFill>
                  <a:srgbClr val="FFFFFF"/>
                </a:solidFill>
                <a:latin typeface="Calibri"/>
              </a:rPr>
              <a:t>4,511</a:t>
            </a:r>
          </a:p>
        </p:txBody>
      </p:sp>
      <p:sp>
        <p:nvSpPr>
          <p:cNvPr id="23" name="Rectangle 22"/>
          <p:cNvSpPr/>
          <p:nvPr/>
        </p:nvSpPr>
        <p:spPr>
          <a:xfrm>
            <a:off x="7004293" y="2847176"/>
            <a:ext cx="949082" cy="1370841"/>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Nordic</a:t>
            </a:r>
          </a:p>
          <a:p>
            <a:pPr algn="ctr"/>
            <a:r>
              <a:rPr sz="1100" b="0">
                <a:solidFill>
                  <a:srgbClr val="FFFFFF"/>
                </a:solidFill>
                <a:latin typeface="Calibri"/>
              </a:rPr>
              <a:t>3,218</a:t>
            </a:r>
          </a:p>
        </p:txBody>
      </p:sp>
      <p:sp>
        <p:nvSpPr>
          <p:cNvPr id="24" name="Rectangle 23"/>
          <p:cNvSpPr/>
          <p:nvPr/>
        </p:nvSpPr>
        <p:spPr>
          <a:xfrm>
            <a:off x="5673796" y="4218017"/>
            <a:ext cx="1411076" cy="920247"/>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Russia</a:t>
            </a:r>
          </a:p>
          <a:p>
            <a:pPr algn="ctr"/>
            <a:r>
              <a:rPr sz="1100" b="0">
                <a:solidFill>
                  <a:srgbClr val="FFFFFF"/>
                </a:solidFill>
                <a:latin typeface="Calibri"/>
              </a:rPr>
              <a:t>3,212</a:t>
            </a:r>
          </a:p>
        </p:txBody>
      </p:sp>
      <p:sp>
        <p:nvSpPr>
          <p:cNvPr id="25" name="Rectangle 24"/>
          <p:cNvSpPr/>
          <p:nvPr/>
        </p:nvSpPr>
        <p:spPr>
          <a:xfrm>
            <a:off x="5673796" y="5138264"/>
            <a:ext cx="1411076" cy="740345"/>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Poland</a:t>
            </a:r>
          </a:p>
          <a:p>
            <a:pPr algn="ctr"/>
            <a:r>
              <a:rPr sz="1100" b="0">
                <a:solidFill>
                  <a:srgbClr val="FFFFFF"/>
                </a:solidFill>
                <a:latin typeface="Calibri"/>
              </a:rPr>
              <a:t>2,584</a:t>
            </a:r>
          </a:p>
        </p:txBody>
      </p:sp>
      <p:sp>
        <p:nvSpPr>
          <p:cNvPr id="26" name="Rectangle 25"/>
          <p:cNvSpPr/>
          <p:nvPr/>
        </p:nvSpPr>
        <p:spPr>
          <a:xfrm>
            <a:off x="7084872" y="4218017"/>
            <a:ext cx="868503" cy="1061573"/>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Netherlands</a:t>
            </a:r>
          </a:p>
          <a:p>
            <a:pPr algn="ctr"/>
            <a:r>
              <a:rPr sz="1100" b="0">
                <a:solidFill>
                  <a:srgbClr val="FFFFFF"/>
                </a:solidFill>
                <a:latin typeface="Calibri"/>
              </a:rPr>
              <a:t>2,280</a:t>
            </a:r>
          </a:p>
        </p:txBody>
      </p:sp>
      <p:sp>
        <p:nvSpPr>
          <p:cNvPr id="27" name="Rectangle 26"/>
          <p:cNvSpPr/>
          <p:nvPr/>
        </p:nvSpPr>
        <p:spPr>
          <a:xfrm>
            <a:off x="7084872" y="5279590"/>
            <a:ext cx="868503" cy="599019"/>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Belgium</a:t>
            </a:r>
          </a:p>
          <a:p>
            <a:pPr algn="ctr"/>
            <a:r>
              <a:rPr sz="1100" b="0">
                <a:solidFill>
                  <a:srgbClr val="FFFFFF"/>
                </a:solidFill>
                <a:latin typeface="Calibri"/>
              </a:rPr>
              <a:t>1,287</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14776" cy="2159450"/>
        </p:xfrm>
        <a:graphic>
          <a:graphicData uri="http://schemas.openxmlformats.org/drawingml/2006/table">
            <a:tbl>
              <a:tblPr>
                <a:tableStyleId>{5C22544A-7EE6-4342-B048-85BDC9FD1C3A}</a:tableStyleId>
              </a:tblPr>
              <a:tblGrid>
                <a:gridCol w="671383"/>
                <a:gridCol w="1081131"/>
                <a:gridCol w="1081131"/>
                <a:gridCol w="1081131"/>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388837">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3,067</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Italy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FFFFF"/>
                    </a:solidFill>
                  </a:tcPr>
                </a:tc>
              </a:tr>
              <a:tr h="388837">
                <a:tc>
                  <a:txBody>
                    <a:bodyPr wrap="none"/>
                    <a:lstStyle/>
                    <a:p>
                      <a:pPr algn="l"/>
                      <a:r>
                        <a:rPr sz="1100" b="1">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5F8FA"/>
                    </a:solidFill>
                  </a:tcPr>
                </a:tc>
              </a:tr>
              <a:tr h="388837">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2,445</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Germany flexible plastic packaging market is projected to register 1.1X higher value than the U.K. in 2036. Spain posts the highest CAGR Index (124), growing at 8.1% against the Europe benchmark, while U.K. offers the largest absolute opportunity 3,131 US$ Mn of incremental market between 2026 and 2036 (13% of the Europe increment).</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199" cy="1295400"/>
        </p:xfrm>
        <a:graphic>
          <a:graphicData uri="http://schemas.openxmlformats.org/drawingml/2006/table">
            <a:tbl>
              <a:tblPr>
                <a:tableStyleId>{5C22544A-7EE6-4342-B048-85BDC9FD1C3A}</a:tableStyleId>
              </a:tblPr>
              <a:tblGrid>
                <a:gridCol w="2038652"/>
                <a:gridCol w="3282849"/>
                <a:gridCol w="3282849"/>
                <a:gridCol w="3282849"/>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U.K.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Russia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Belgium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511.7</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362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714625"/>
            <a:ext cx="11906250" cy="1600200"/>
          </a:xfrm>
          <a:prstGeom prst="roundRect">
            <a:avLst>
              <a:gd name="adj" fmla="val 476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790825"/>
          <a:ext cx="11887200" cy="1295400"/>
        </p:xfrm>
        <a:graphic>
          <a:graphicData uri="http://schemas.openxmlformats.org/drawingml/2006/table">
            <a:tbl>
              <a:tblPr>
                <a:tableStyleId>{5C22544A-7EE6-4342-B048-85BDC9FD1C3A}</a:tableStyleId>
              </a:tblPr>
              <a:tblGrid>
                <a:gridCol w="2499963"/>
                <a:gridCol w="3129079"/>
                <a:gridCol w="3129079"/>
                <a:gridCol w="3129079"/>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 Opp (US$ Mn)</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Nordic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Russia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Poland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Netherlands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Belgium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511.7</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095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Global flexible plastic packaging market is expected to witness 2.0X increase in revenue by 2036 end. Global flexible plastic packaging market accounted for US$ 24,784 Mn in 2025, which is expected to increase to US$ 49,393 Mn in 2036 at a CAGR of 6.6%.</a:t>
            </a:r>
          </a:p>
          <a:p>
            <a:pPr algn="l">
              <a:lnSpc>
                <a:spcPct val="110000"/>
              </a:lnSpc>
              <a:spcBef>
                <a:spcPts val="0"/>
              </a:spcBef>
              <a:spcAft>
                <a:spcPts val="500"/>
              </a:spcAft>
            </a:pPr>
            <a:r>
              <a:rPr sz="1150" b="0">
                <a:solidFill>
                  <a:srgbClr val="2E2E2E"/>
                </a:solidFill>
                <a:latin typeface="Calibri"/>
              </a:rPr>
              <a:t>The global flexible plastic packaging market has been analysed on the basis of product type, principal material / barrier technology, material structure and barrier level across the globe. Germany is expected to remain the largest market for flexible plastic packaging, while demand in Spain is projected to increase at the highest CAGR of 8.1% throughout the forecast period.</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market is consolidated: the leading product type category 'Rollstock Films' holds 53.8% of 2036 value.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spans 12 countries and 6 segmentation lenses (4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Germany is the largest country market at 15.3% of 2036 value.</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Accelerating uptake of 'Premade Pouches &amp; Bags' (6.7%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Fast-growing demand in Spain (8.1%).</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Momentum in Food Packaging within application (6.6%).</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Slower momentum in 'Sachets &amp; Stick Packs' (6.3%).</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Maturing demand in established categories caps the blended 6.6%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 concentration in 'Rollstock Films' raises barriers for new entrants.</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'Premade Pouches &amp; Bags'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Spain outpacing the Europe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4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'Premade Pouches &amp; Bags' and Spain.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Germany and Spain.</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2026 size 26,141 US$ Mn; 2036 49,393 US$ Mn.</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Forecast CAGR 6.6% (2026–2036).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category 'Rollstock Films' 53.8% of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Lead country Germany 15.3%.</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Incremental opportunity 23,252 US$ Mn.</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Investment is flowing toward the fastest-growing tier 'Premade Pouches &amp; Bags' (6.7%).</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Spain (8.1%) is a priority country for new capacity.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Scale players anchor around 'Rollstock Films' (53.8% share).</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R&amp;D aligns with the migration to 'Premade Pouches &amp; Bags' and adjacent premium tiers.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Development spend targets product type categories gaining share to 2036.</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Innovation underpins the 6.6% forecast CAGR.</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2036</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scale in 'Rollstock Films' with targeted growth in 'Premade Pouches &amp; Bags', pursuing the 6.6% CAGR trajectory to 2036.</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'Premade Pouches &amp; Bags' tier and Food Packaging within application.</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Prioritise 'Premade Pouches &amp; Bags' (6.7%); 'Rollstock Films' anchors 53.8% of value.</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Lead with Germany (15.3%); capture upside in Spain (8.1%).</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Flexible Plastic Packaging adds 23,252 US$ Mn of demand to 2036 a 1.9× expansion.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Concentrate resources on the leading segment/country while seeding the fastest-growing pockets early.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Defend share in 'Rollstock Films' as the value anchor of the portfolio.</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OPTIMISTIC (2036)</a:t>
            </a:r>
          </a:p>
          <a:p>
            <a:pPr algn="ctr">
              <a:lnSpc>
                <a:spcPct val="95000"/>
              </a:lnSpc>
            </a:pPr>
            <a:r>
              <a:rPr sz="1500" b="1">
                <a:solidFill>
                  <a:srgbClr val="0E72AE"/>
                </a:solidFill>
                <a:latin typeface="Calibri"/>
              </a:rPr>
              <a:t>58,301 US$ Mn</a:t>
            </a:r>
          </a:p>
          <a:p>
            <a:pPr algn="ctr">
              <a:lnSpc>
                <a:spcPct val="95000"/>
              </a:lnSpc>
            </a:pPr>
            <a:r>
              <a:rPr sz="1100" b="0">
                <a:solidFill>
                  <a:srgbClr val="6C7A89"/>
                </a:solidFill>
                <a:latin typeface="Calibri"/>
              </a:rPr>
              <a:t>CAGR 8.2%</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LIKELY (2036)</a:t>
            </a:r>
          </a:p>
          <a:p>
            <a:pPr algn="ctr">
              <a:lnSpc>
                <a:spcPct val="95000"/>
              </a:lnSpc>
            </a:pPr>
            <a:r>
              <a:rPr sz="1500" b="1">
                <a:solidFill>
                  <a:srgbClr val="0E72AE"/>
                </a:solidFill>
                <a:latin typeface="Calibri"/>
              </a:rPr>
              <a:t>49,393 US$ Mn</a:t>
            </a:r>
          </a:p>
          <a:p>
            <a:pPr algn="ctr">
              <a:lnSpc>
                <a:spcPct val="95000"/>
              </a:lnSpc>
            </a:pPr>
            <a:r>
              <a:rPr sz="1100" b="0">
                <a:solidFill>
                  <a:srgbClr val="6C7A89"/>
                </a:solidFill>
                <a:latin typeface="Calibri"/>
              </a:rPr>
              <a:t>CAGR 6.6%</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CONSERVATIVE (2036)</a:t>
            </a:r>
          </a:p>
          <a:p>
            <a:pPr algn="ctr">
              <a:lnSpc>
                <a:spcPct val="95000"/>
              </a:lnSpc>
            </a:pPr>
            <a:r>
              <a:rPr sz="1500" b="1">
                <a:solidFill>
                  <a:srgbClr val="0E72AE"/>
                </a:solidFill>
                <a:latin typeface="Calibri"/>
              </a:rPr>
              <a:t>41,739 US$ Mn</a:t>
            </a:r>
          </a:p>
          <a:p>
            <a:pPr algn="ctr">
              <a:lnSpc>
                <a:spcPct val="95000"/>
              </a:lnSpc>
            </a:pPr>
            <a:r>
              <a:rPr sz="1100" b="0">
                <a:solidFill>
                  <a:srgbClr val="6C7A89"/>
                </a:solidFill>
                <a:latin typeface="Calibri"/>
              </a:rPr>
              <a:t>CAGR 4.9%</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Flexible Plastic Packaging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82521"/>
            <a:ext cx="635826" cy="722779"/>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88074"/>
            <a:ext cx="635826" cy="1217226"/>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864873"/>
            <a:ext cx="635826" cy="1440427"/>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605088"/>
            <a:ext cx="635826" cy="1700212"/>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954724"/>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849949"/>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4.9%</a:t>
            </a:r>
          </a:p>
        </p:txBody>
      </p:sp>
      <p:cxnSp>
        <p:nvCxnSpPr>
          <p:cNvPr id="22" name="Connector 21"/>
          <p:cNvCxnSpPr/>
          <p:nvPr/>
        </p:nvCxnSpPr>
        <p:spPr>
          <a:xfrm>
            <a:off x="1456468" y="2697549"/>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92774"/>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6.6%</a:t>
            </a:r>
          </a:p>
        </p:txBody>
      </p:sp>
      <p:cxnSp>
        <p:nvCxnSpPr>
          <p:cNvPr id="24" name="Connector 23"/>
          <p:cNvCxnSpPr/>
          <p:nvPr/>
        </p:nvCxnSpPr>
        <p:spPr>
          <a:xfrm>
            <a:off x="1456468" y="2440374"/>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335599"/>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CAGR: 8.2%</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Flexible Plastic Packaging Market Attractiveness Analysis By Region, 2026–2036</a:t>
            </a:r>
          </a:p>
        </p:txBody>
      </p:sp>
      <p:graphicFrame>
        <p:nvGraphicFramePr>
          <p:cNvPr id="36" name="Chart 35"/>
          <p:cNvGraphicFramePr>
            <a:graphicFrameLocks noGrp="1"/>
          </p:cNvGraphicFramePr>
          <p:nvPr/>
        </p:nvGraphicFramePr>
        <p:xfrm>
          <a:off x="6267450" y="2266950"/>
          <a:ext cx="5686425" cy="249555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Optimistic: 58,301 US$ Mn by 2036 at 8.2%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Likely (base forecast): 49,393 US$ Mn at 6.6%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Conservative: 41,739 US$ Mn at 4.9%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Scenarios flex the base forecast's year-on-year growth by ±25% across the 2026–2036 horizon.</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Europe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Europe Flexible Plastic Packaging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12 countries, highlighting where value concentrates,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Europe market down geographically. Each country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728662"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728662"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Germany</a:t>
            </a:r>
          </a:p>
        </p:txBody>
      </p:sp>
      <p:sp>
        <p:nvSpPr>
          <p:cNvPr id="23" name="Rectangle 22"/>
          <p:cNvSpPr/>
          <p:nvPr/>
        </p:nvSpPr>
        <p:spPr>
          <a:xfrm>
            <a:off x="1866900"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4,480</a:t>
            </a:r>
          </a:p>
        </p:txBody>
      </p:sp>
      <p:sp>
        <p:nvSpPr>
          <p:cNvPr id="24" name="Rectangle 23"/>
          <p:cNvSpPr/>
          <p:nvPr/>
        </p:nvSpPr>
        <p:spPr>
          <a:xfrm>
            <a:off x="1866900"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7,547</a:t>
            </a:r>
          </a:p>
        </p:txBody>
      </p:sp>
      <p:sp>
        <p:nvSpPr>
          <p:cNvPr id="25" name="Rectangle 24"/>
          <p:cNvSpPr/>
          <p:nvPr/>
        </p:nvSpPr>
        <p:spPr>
          <a:xfrm>
            <a:off x="1866900"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5.4%</a:t>
            </a:r>
          </a:p>
        </p:txBody>
      </p:sp>
      <p:sp>
        <p:nvSpPr>
          <p:cNvPr id="26" name="Oval 25"/>
          <p:cNvSpPr/>
          <p:nvPr/>
        </p:nvSpPr>
        <p:spPr>
          <a:xfrm>
            <a:off x="2069306"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2709862" y="1773916"/>
            <a:ext cx="728662"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2709862" y="1992961"/>
            <a:ext cx="728662"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47962" y="1773916"/>
            <a:ext cx="652462" cy="438089"/>
          </a:xfrm>
          <a:prstGeom prst="rect">
            <a:avLst/>
          </a:prstGeom>
          <a:noFill/>
        </p:spPr>
        <p:txBody>
          <a:bodyPr wrap="none" lIns="0" rIns="0" tIns="0" bIns="0" anchor="ctr">
            <a:spAutoFit/>
          </a:bodyPr>
          <a:lstStyle/>
          <a:p>
            <a:pPr algn="ctr"/>
            <a:r>
              <a:rPr sz="1100" b="1">
                <a:solidFill>
                  <a:srgbClr val="FFFFFF"/>
                </a:solidFill>
                <a:latin typeface="Calibri"/>
              </a:rPr>
              <a:t>U.K.</a:t>
            </a:r>
          </a:p>
        </p:txBody>
      </p:sp>
      <p:sp>
        <p:nvSpPr>
          <p:cNvPr id="30" name="Rectangle 29"/>
          <p:cNvSpPr/>
          <p:nvPr/>
        </p:nvSpPr>
        <p:spPr>
          <a:xfrm>
            <a:off x="2709862"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3,713</a:t>
            </a:r>
          </a:p>
        </p:txBody>
      </p:sp>
      <p:sp>
        <p:nvSpPr>
          <p:cNvPr id="31" name="Rectangle 30"/>
          <p:cNvSpPr/>
          <p:nvPr/>
        </p:nvSpPr>
        <p:spPr>
          <a:xfrm>
            <a:off x="2709862"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6,843</a:t>
            </a:r>
          </a:p>
        </p:txBody>
      </p:sp>
      <p:sp>
        <p:nvSpPr>
          <p:cNvPr id="32" name="Rectangle 31"/>
          <p:cNvSpPr/>
          <p:nvPr/>
        </p:nvSpPr>
        <p:spPr>
          <a:xfrm>
            <a:off x="2709862"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6.3%</a:t>
            </a:r>
          </a:p>
        </p:txBody>
      </p:sp>
      <p:sp>
        <p:nvSpPr>
          <p:cNvPr id="33" name="Oval 32"/>
          <p:cNvSpPr/>
          <p:nvPr/>
        </p:nvSpPr>
        <p:spPr>
          <a:xfrm>
            <a:off x="2912269"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552825" y="1773916"/>
            <a:ext cx="728662"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552825" y="1992961"/>
            <a:ext cx="728662"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590925"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France</a:t>
            </a:r>
          </a:p>
        </p:txBody>
      </p:sp>
      <p:sp>
        <p:nvSpPr>
          <p:cNvPr id="37" name="Rectangle 36"/>
          <p:cNvSpPr/>
          <p:nvPr/>
        </p:nvSpPr>
        <p:spPr>
          <a:xfrm>
            <a:off x="3552825"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3,322</a:t>
            </a:r>
          </a:p>
        </p:txBody>
      </p:sp>
      <p:sp>
        <p:nvSpPr>
          <p:cNvPr id="38" name="Rectangle 37"/>
          <p:cNvSpPr/>
          <p:nvPr/>
        </p:nvSpPr>
        <p:spPr>
          <a:xfrm>
            <a:off x="3552825"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5,800</a:t>
            </a:r>
          </a:p>
        </p:txBody>
      </p:sp>
      <p:sp>
        <p:nvSpPr>
          <p:cNvPr id="39" name="Rectangle 38"/>
          <p:cNvSpPr/>
          <p:nvPr/>
        </p:nvSpPr>
        <p:spPr>
          <a:xfrm>
            <a:off x="3552825"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5.7%</a:t>
            </a:r>
          </a:p>
        </p:txBody>
      </p:sp>
      <p:sp>
        <p:nvSpPr>
          <p:cNvPr id="40" name="Oval 39"/>
          <p:cNvSpPr/>
          <p:nvPr/>
        </p:nvSpPr>
        <p:spPr>
          <a:xfrm>
            <a:off x="375523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4395788" y="1773916"/>
            <a:ext cx="728662"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4395788" y="1992961"/>
            <a:ext cx="728662"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433888"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Rest of Europe</a:t>
            </a:r>
          </a:p>
        </p:txBody>
      </p:sp>
      <p:sp>
        <p:nvSpPr>
          <p:cNvPr id="44" name="Rectangle 43"/>
          <p:cNvSpPr/>
          <p:nvPr/>
        </p:nvSpPr>
        <p:spPr>
          <a:xfrm>
            <a:off x="4395788"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2,863</a:t>
            </a:r>
          </a:p>
        </p:txBody>
      </p:sp>
      <p:sp>
        <p:nvSpPr>
          <p:cNvPr id="45" name="Rectangle 44"/>
          <p:cNvSpPr/>
          <p:nvPr/>
        </p:nvSpPr>
        <p:spPr>
          <a:xfrm>
            <a:off x="4395788"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5,839</a:t>
            </a:r>
          </a:p>
        </p:txBody>
      </p:sp>
      <p:sp>
        <p:nvSpPr>
          <p:cNvPr id="46" name="Rectangle 45"/>
          <p:cNvSpPr/>
          <p:nvPr/>
        </p:nvSpPr>
        <p:spPr>
          <a:xfrm>
            <a:off x="4395788"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7.4%</a:t>
            </a:r>
          </a:p>
        </p:txBody>
      </p:sp>
      <p:sp>
        <p:nvSpPr>
          <p:cNvPr id="47" name="Oval 46"/>
          <p:cNvSpPr/>
          <p:nvPr/>
        </p:nvSpPr>
        <p:spPr>
          <a:xfrm>
            <a:off x="4598194"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5238750" y="1773916"/>
            <a:ext cx="728662"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238750" y="1992961"/>
            <a:ext cx="728662"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276850"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Italy</a:t>
            </a:r>
          </a:p>
        </p:txBody>
      </p:sp>
      <p:sp>
        <p:nvSpPr>
          <p:cNvPr id="51" name="Rectangle 50"/>
          <p:cNvSpPr/>
          <p:nvPr/>
        </p:nvSpPr>
        <p:spPr>
          <a:xfrm>
            <a:off x="5238750"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2,532</a:t>
            </a:r>
          </a:p>
        </p:txBody>
      </p:sp>
      <p:sp>
        <p:nvSpPr>
          <p:cNvPr id="52" name="Rectangle 51"/>
          <p:cNvSpPr/>
          <p:nvPr/>
        </p:nvSpPr>
        <p:spPr>
          <a:xfrm>
            <a:off x="5238750"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5,176</a:t>
            </a:r>
          </a:p>
        </p:txBody>
      </p:sp>
      <p:sp>
        <p:nvSpPr>
          <p:cNvPr id="53" name="Rectangle 52"/>
          <p:cNvSpPr/>
          <p:nvPr/>
        </p:nvSpPr>
        <p:spPr>
          <a:xfrm>
            <a:off x="5238750"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7.4%</a:t>
            </a:r>
          </a:p>
        </p:txBody>
      </p:sp>
      <p:sp>
        <p:nvSpPr>
          <p:cNvPr id="54" name="Oval 53"/>
          <p:cNvSpPr/>
          <p:nvPr/>
        </p:nvSpPr>
        <p:spPr>
          <a:xfrm>
            <a:off x="5441156"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6081712" y="1773916"/>
            <a:ext cx="728662"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081712" y="1992961"/>
            <a:ext cx="728662"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6119812"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Spain</a:t>
            </a:r>
          </a:p>
        </p:txBody>
      </p:sp>
      <p:sp>
        <p:nvSpPr>
          <p:cNvPr id="58" name="Rectangle 57"/>
          <p:cNvSpPr/>
          <p:nvPr/>
        </p:nvSpPr>
        <p:spPr>
          <a:xfrm>
            <a:off x="6081712"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2,066</a:t>
            </a:r>
          </a:p>
        </p:txBody>
      </p:sp>
      <p:sp>
        <p:nvSpPr>
          <p:cNvPr id="59" name="Rectangle 58"/>
          <p:cNvSpPr/>
          <p:nvPr/>
        </p:nvSpPr>
        <p:spPr>
          <a:xfrm>
            <a:off x="6081712"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4,511</a:t>
            </a:r>
          </a:p>
        </p:txBody>
      </p:sp>
      <p:sp>
        <p:nvSpPr>
          <p:cNvPr id="60" name="Rectangle 59"/>
          <p:cNvSpPr/>
          <p:nvPr/>
        </p:nvSpPr>
        <p:spPr>
          <a:xfrm>
            <a:off x="6081712"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8.1%</a:t>
            </a:r>
          </a:p>
        </p:txBody>
      </p:sp>
      <p:sp>
        <p:nvSpPr>
          <p:cNvPr id="61" name="Oval 60"/>
          <p:cNvSpPr/>
          <p:nvPr/>
        </p:nvSpPr>
        <p:spPr>
          <a:xfrm>
            <a:off x="6284119"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6924675" y="1773916"/>
            <a:ext cx="728662"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6924675" y="1992961"/>
            <a:ext cx="728662"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6962775"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Russia</a:t>
            </a:r>
          </a:p>
        </p:txBody>
      </p:sp>
      <p:sp>
        <p:nvSpPr>
          <p:cNvPr id="65" name="Rectangle 64"/>
          <p:cNvSpPr/>
          <p:nvPr/>
        </p:nvSpPr>
        <p:spPr>
          <a:xfrm>
            <a:off x="6924675"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1,772</a:t>
            </a:r>
          </a:p>
        </p:txBody>
      </p:sp>
      <p:sp>
        <p:nvSpPr>
          <p:cNvPr id="66" name="Rectangle 65"/>
          <p:cNvSpPr/>
          <p:nvPr/>
        </p:nvSpPr>
        <p:spPr>
          <a:xfrm>
            <a:off x="6924675"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3,212</a:t>
            </a:r>
          </a:p>
        </p:txBody>
      </p:sp>
      <p:sp>
        <p:nvSpPr>
          <p:cNvPr id="67" name="Rectangle 66"/>
          <p:cNvSpPr/>
          <p:nvPr/>
        </p:nvSpPr>
        <p:spPr>
          <a:xfrm>
            <a:off x="6924675"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6.1%</a:t>
            </a:r>
          </a:p>
        </p:txBody>
      </p:sp>
      <p:sp>
        <p:nvSpPr>
          <p:cNvPr id="68" name="Oval 67"/>
          <p:cNvSpPr/>
          <p:nvPr/>
        </p:nvSpPr>
        <p:spPr>
          <a:xfrm>
            <a:off x="7127081"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9" name="Rounded Rectangle 68"/>
          <p:cNvSpPr/>
          <p:nvPr/>
        </p:nvSpPr>
        <p:spPr>
          <a:xfrm>
            <a:off x="7767638" y="1773916"/>
            <a:ext cx="728662"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7767638" y="1992961"/>
            <a:ext cx="728662"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805738"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Nordic</a:t>
            </a:r>
          </a:p>
        </p:txBody>
      </p:sp>
      <p:sp>
        <p:nvSpPr>
          <p:cNvPr id="72" name="Rectangle 71"/>
          <p:cNvSpPr/>
          <p:nvPr/>
        </p:nvSpPr>
        <p:spPr>
          <a:xfrm>
            <a:off x="7767638"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1,629</a:t>
            </a:r>
          </a:p>
        </p:txBody>
      </p:sp>
      <p:sp>
        <p:nvSpPr>
          <p:cNvPr id="73" name="Rectangle 72"/>
          <p:cNvSpPr/>
          <p:nvPr/>
        </p:nvSpPr>
        <p:spPr>
          <a:xfrm>
            <a:off x="7767638"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3,218</a:t>
            </a:r>
          </a:p>
        </p:txBody>
      </p:sp>
      <p:sp>
        <p:nvSpPr>
          <p:cNvPr id="74" name="Rectangle 73"/>
          <p:cNvSpPr/>
          <p:nvPr/>
        </p:nvSpPr>
        <p:spPr>
          <a:xfrm>
            <a:off x="7767638"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7.0%</a:t>
            </a:r>
          </a:p>
        </p:txBody>
      </p:sp>
      <p:sp>
        <p:nvSpPr>
          <p:cNvPr id="75" name="Oval 74"/>
          <p:cNvSpPr/>
          <p:nvPr/>
        </p:nvSpPr>
        <p:spPr>
          <a:xfrm>
            <a:off x="797004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76" name="Rounded Rectangle 75"/>
          <p:cNvSpPr/>
          <p:nvPr/>
        </p:nvSpPr>
        <p:spPr>
          <a:xfrm>
            <a:off x="8610600" y="1773916"/>
            <a:ext cx="728662"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8610600" y="1992961"/>
            <a:ext cx="728662"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648700"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Poland</a:t>
            </a:r>
          </a:p>
        </p:txBody>
      </p:sp>
      <p:sp>
        <p:nvSpPr>
          <p:cNvPr id="79" name="Rectangle 78"/>
          <p:cNvSpPr/>
          <p:nvPr/>
        </p:nvSpPr>
        <p:spPr>
          <a:xfrm>
            <a:off x="8610600"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1,214</a:t>
            </a:r>
          </a:p>
        </p:txBody>
      </p:sp>
      <p:sp>
        <p:nvSpPr>
          <p:cNvPr id="80" name="Rectangle 79"/>
          <p:cNvSpPr/>
          <p:nvPr/>
        </p:nvSpPr>
        <p:spPr>
          <a:xfrm>
            <a:off x="8610600"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2,584</a:t>
            </a:r>
          </a:p>
        </p:txBody>
      </p:sp>
      <p:sp>
        <p:nvSpPr>
          <p:cNvPr id="81" name="Rectangle 80"/>
          <p:cNvSpPr/>
          <p:nvPr/>
        </p:nvSpPr>
        <p:spPr>
          <a:xfrm>
            <a:off x="8610600"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7.8%</a:t>
            </a:r>
          </a:p>
        </p:txBody>
      </p:sp>
      <p:sp>
        <p:nvSpPr>
          <p:cNvPr id="82" name="Oval 81"/>
          <p:cNvSpPr/>
          <p:nvPr/>
        </p:nvSpPr>
        <p:spPr>
          <a:xfrm>
            <a:off x="881300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83" name="Rounded Rectangle 82"/>
          <p:cNvSpPr/>
          <p:nvPr/>
        </p:nvSpPr>
        <p:spPr>
          <a:xfrm>
            <a:off x="9453562" y="1773916"/>
            <a:ext cx="728662"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9453562" y="1992961"/>
            <a:ext cx="728662"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9409509" y="1773916"/>
            <a:ext cx="816769" cy="438089"/>
          </a:xfrm>
          <a:prstGeom prst="rect">
            <a:avLst/>
          </a:prstGeom>
          <a:noFill/>
        </p:spPr>
        <p:txBody>
          <a:bodyPr wrap="square" lIns="28575" rIns="28575" tIns="9525" bIns="9525" anchor="ctr">
            <a:spAutoFit/>
          </a:bodyPr>
          <a:lstStyle/>
          <a:p>
            <a:pPr algn="ctr"/>
            <a:r>
              <a:rPr sz="1100" b="1">
                <a:solidFill>
                  <a:srgbClr val="FFFFFF"/>
                </a:solidFill>
                <a:latin typeface="Calibri"/>
              </a:rPr>
              <a:t>Netherlands</a:t>
            </a:r>
          </a:p>
        </p:txBody>
      </p:sp>
      <p:sp>
        <p:nvSpPr>
          <p:cNvPr id="86" name="Rectangle 85"/>
          <p:cNvSpPr/>
          <p:nvPr/>
        </p:nvSpPr>
        <p:spPr>
          <a:xfrm>
            <a:off x="9453562"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1,081</a:t>
            </a:r>
          </a:p>
        </p:txBody>
      </p:sp>
      <p:sp>
        <p:nvSpPr>
          <p:cNvPr id="87" name="Rectangle 86"/>
          <p:cNvSpPr/>
          <p:nvPr/>
        </p:nvSpPr>
        <p:spPr>
          <a:xfrm>
            <a:off x="9453562"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2,280</a:t>
            </a:r>
          </a:p>
        </p:txBody>
      </p:sp>
      <p:sp>
        <p:nvSpPr>
          <p:cNvPr id="88" name="Rectangle 87"/>
          <p:cNvSpPr/>
          <p:nvPr/>
        </p:nvSpPr>
        <p:spPr>
          <a:xfrm>
            <a:off x="9453562"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7.7%</a:t>
            </a:r>
          </a:p>
        </p:txBody>
      </p:sp>
      <p:sp>
        <p:nvSpPr>
          <p:cNvPr id="89" name="Oval 88"/>
          <p:cNvSpPr/>
          <p:nvPr/>
        </p:nvSpPr>
        <p:spPr>
          <a:xfrm>
            <a:off x="9655969"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10</a:t>
            </a:r>
          </a:p>
        </p:txBody>
      </p:sp>
      <p:sp>
        <p:nvSpPr>
          <p:cNvPr id="90" name="Rounded Rectangle 89"/>
          <p:cNvSpPr/>
          <p:nvPr/>
        </p:nvSpPr>
        <p:spPr>
          <a:xfrm>
            <a:off x="10296525" y="1773916"/>
            <a:ext cx="728662"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10296525" y="1992961"/>
            <a:ext cx="728662"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10334625" y="1773916"/>
            <a:ext cx="652462" cy="438089"/>
          </a:xfrm>
          <a:prstGeom prst="rect">
            <a:avLst/>
          </a:prstGeom>
          <a:noFill/>
        </p:spPr>
        <p:txBody>
          <a:bodyPr wrap="square" lIns="28575" rIns="28575" tIns="9525" bIns="9525" anchor="ctr">
            <a:spAutoFit/>
          </a:bodyPr>
          <a:lstStyle/>
          <a:p>
            <a:pPr algn="ctr"/>
            <a:r>
              <a:rPr sz="1100" b="1">
                <a:solidFill>
                  <a:srgbClr val="FFFFFF"/>
                </a:solidFill>
                <a:latin typeface="Calibri"/>
              </a:rPr>
              <a:t>Belgium</a:t>
            </a:r>
          </a:p>
        </p:txBody>
      </p:sp>
      <p:sp>
        <p:nvSpPr>
          <p:cNvPr id="93" name="Rectangle 92"/>
          <p:cNvSpPr/>
          <p:nvPr/>
        </p:nvSpPr>
        <p:spPr>
          <a:xfrm>
            <a:off x="10296525"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775.2</a:t>
            </a:r>
          </a:p>
        </p:txBody>
      </p:sp>
      <p:sp>
        <p:nvSpPr>
          <p:cNvPr id="94" name="Rectangle 93"/>
          <p:cNvSpPr/>
          <p:nvPr/>
        </p:nvSpPr>
        <p:spPr>
          <a:xfrm>
            <a:off x="10296525"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1,287</a:t>
            </a:r>
          </a:p>
        </p:txBody>
      </p:sp>
      <p:sp>
        <p:nvSpPr>
          <p:cNvPr id="95" name="Rectangle 94"/>
          <p:cNvSpPr/>
          <p:nvPr/>
        </p:nvSpPr>
        <p:spPr>
          <a:xfrm>
            <a:off x="10296525"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5.2%</a:t>
            </a:r>
          </a:p>
        </p:txBody>
      </p:sp>
      <p:sp>
        <p:nvSpPr>
          <p:cNvPr id="96" name="Oval 95"/>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11</a:t>
            </a:r>
          </a:p>
        </p:txBody>
      </p:sp>
      <p:sp>
        <p:nvSpPr>
          <p:cNvPr id="97" name="Rounded Rectangle 96"/>
          <p:cNvSpPr/>
          <p:nvPr/>
        </p:nvSpPr>
        <p:spPr>
          <a:xfrm>
            <a:off x="11139488" y="1773916"/>
            <a:ext cx="728662"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139488" y="1992961"/>
            <a:ext cx="728662"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1114485" y="1773916"/>
            <a:ext cx="778669" cy="438089"/>
          </a:xfrm>
          <a:prstGeom prst="rect">
            <a:avLst/>
          </a:prstGeom>
          <a:noFill/>
        </p:spPr>
        <p:txBody>
          <a:bodyPr wrap="square" lIns="28575" rIns="28575" tIns="9525" bIns="9525" anchor="ctr">
            <a:spAutoFit/>
          </a:bodyPr>
          <a:lstStyle/>
          <a:p>
            <a:pPr algn="ctr"/>
            <a:r>
              <a:rPr sz="1100" b="1">
                <a:solidFill>
                  <a:srgbClr val="FFFFFF"/>
                </a:solidFill>
                <a:latin typeface="Calibri"/>
              </a:rPr>
              <a:t>Switzerland</a:t>
            </a:r>
          </a:p>
        </p:txBody>
      </p:sp>
      <p:sp>
        <p:nvSpPr>
          <p:cNvPr id="100" name="Rectangle 99"/>
          <p:cNvSpPr/>
          <p:nvPr/>
        </p:nvSpPr>
        <p:spPr>
          <a:xfrm>
            <a:off x="11139488" y="22302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693.2</a:t>
            </a:r>
          </a:p>
        </p:txBody>
      </p:sp>
      <p:sp>
        <p:nvSpPr>
          <p:cNvPr id="101" name="Rectangle 100"/>
          <p:cNvSpPr/>
          <p:nvPr/>
        </p:nvSpPr>
        <p:spPr>
          <a:xfrm>
            <a:off x="11139488" y="2723109"/>
            <a:ext cx="728662"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1,096</a:t>
            </a:r>
          </a:p>
        </p:txBody>
      </p:sp>
      <p:sp>
        <p:nvSpPr>
          <p:cNvPr id="102" name="Rectangle 101"/>
          <p:cNvSpPr/>
          <p:nvPr/>
        </p:nvSpPr>
        <p:spPr>
          <a:xfrm>
            <a:off x="11139488" y="3215959"/>
            <a:ext cx="728662"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4.7%</a:t>
            </a:r>
          </a:p>
        </p:txBody>
      </p:sp>
      <p:sp>
        <p:nvSpPr>
          <p:cNvPr id="103" name="Oval 102"/>
          <p:cNvSpPr/>
          <p:nvPr/>
        </p:nvSpPr>
        <p:spPr>
          <a:xfrm>
            <a:off x="11341894"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12</a:t>
            </a:r>
          </a:p>
        </p:txBody>
      </p:sp>
      <p:sp>
        <p:nvSpPr>
          <p:cNvPr id="104" name="Rounded Rectangle 10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106" name="Rectangle 10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Germany flexible plastic packaging market is projected to register 1.1X higher value than the U.K. in 2036. Among flexible plastic packaging by country, Spain is expected to witness the highest CAGR of 8.1% over the forecast period.</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In terms of value share by country, Germany is expected to dominate the market, losing 192 BPS and accounting for 17.3% share by 2036.</a:t>
            </a:r>
          </a:p>
        </p:txBody>
      </p:sp>
      <p:sp>
        <p:nvSpPr>
          <p:cNvPr id="108" name="Rounded Rectangle 10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110" name="Rectangle 10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3810000" y="4219912"/>
            <a:ext cx="421005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B2E4A"/>
                </a:solidFill>
                <a:latin typeface="Calibri"/>
              </a:rPr>
              <a:t>●  </a:t>
            </a:r>
            <a:r>
              <a:rPr sz="1100" b="1">
                <a:solidFill>
                  <a:srgbClr val="0B2E4A"/>
                </a:solidFill>
                <a:latin typeface="Calibri"/>
              </a:rPr>
              <a:t>Germany: </a:t>
            </a:r>
            <a:r>
              <a:rPr sz="1100" b="0">
                <a:solidFill>
                  <a:srgbClr val="2E2E2E"/>
                </a:solidFill>
                <a:latin typeface="Calibri"/>
              </a:rPr>
              <a:t>17% of 2026 value · 5.4% CAGR leads the market.</a:t>
            </a:r>
          </a:p>
          <a:p>
            <a:pPr algn="l">
              <a:lnSpc>
                <a:spcPct val="105000"/>
              </a:lnSpc>
              <a:spcBef>
                <a:spcPts val="0"/>
              </a:spcBef>
              <a:spcAft>
                <a:spcPts val="300"/>
              </a:spcAft>
            </a:pPr>
            <a:r>
              <a:rPr sz="1100" b="0">
                <a:solidFill>
                  <a:srgbClr val="0E72AE"/>
                </a:solidFill>
                <a:latin typeface="Calibri"/>
              </a:rPr>
              <a:t>●  </a:t>
            </a:r>
            <a:r>
              <a:rPr sz="1100" b="1">
                <a:solidFill>
                  <a:srgbClr val="0E72AE"/>
                </a:solidFill>
                <a:latin typeface="Calibri"/>
              </a:rPr>
              <a:t>U.K.: </a:t>
            </a:r>
            <a:r>
              <a:rPr sz="1100" b="0">
                <a:solidFill>
                  <a:srgbClr val="2E2E2E"/>
                </a:solidFill>
                <a:latin typeface="Calibri"/>
              </a:rPr>
              <a:t>14% of 2026 value · 6.3% CAGR a smaller market.</a:t>
            </a:r>
          </a:p>
          <a:p>
            <a:pPr algn="l">
              <a:lnSpc>
                <a:spcPct val="105000"/>
              </a:lnSpc>
              <a:spcBef>
                <a:spcPts val="0"/>
              </a:spcBef>
              <a:spcAft>
                <a:spcPts val="300"/>
              </a:spcAft>
            </a:pPr>
            <a:r>
              <a:rPr sz="1100" b="0">
                <a:solidFill>
                  <a:srgbClr val="008189"/>
                </a:solidFill>
                <a:latin typeface="Calibri"/>
              </a:rPr>
              <a:t>●  </a:t>
            </a:r>
            <a:r>
              <a:rPr sz="1100" b="1">
                <a:solidFill>
                  <a:srgbClr val="008189"/>
                </a:solidFill>
                <a:latin typeface="Calibri"/>
              </a:rPr>
              <a:t>France: </a:t>
            </a:r>
            <a:r>
              <a:rPr sz="1100" b="0">
                <a:solidFill>
                  <a:srgbClr val="2E2E2E"/>
                </a:solidFill>
                <a:latin typeface="Calibri"/>
              </a:rPr>
              <a:t>13% of 2026 value · 5.7% CAGR a smaller market.</a:t>
            </a:r>
          </a:p>
          <a:p>
            <a:pPr algn="l">
              <a:lnSpc>
                <a:spcPct val="105000"/>
              </a:lnSpc>
              <a:spcBef>
                <a:spcPts val="0"/>
              </a:spcBef>
              <a:spcAft>
                <a:spcPts val="300"/>
              </a:spcAft>
            </a:pPr>
            <a:r>
              <a:rPr sz="1100" b="0">
                <a:solidFill>
                  <a:srgbClr val="6F3CC2"/>
                </a:solidFill>
                <a:latin typeface="Calibri"/>
              </a:rPr>
              <a:t>●  </a:t>
            </a:r>
            <a:r>
              <a:rPr sz="1100" b="1">
                <a:solidFill>
                  <a:srgbClr val="6F3CC2"/>
                </a:solidFill>
                <a:latin typeface="Calibri"/>
              </a:rPr>
              <a:t>Rest of Europe: </a:t>
            </a:r>
            <a:r>
              <a:rPr sz="1100" b="0">
                <a:solidFill>
                  <a:srgbClr val="2E2E2E"/>
                </a:solidFill>
                <a:latin typeface="Calibri"/>
              </a:rPr>
              <a:t>11% of 2026 value · 7.4% CAGR a smaller market.</a:t>
            </a:r>
          </a:p>
          <a:p>
            <a:pPr algn="l">
              <a:lnSpc>
                <a:spcPct val="105000"/>
              </a:lnSpc>
              <a:spcBef>
                <a:spcPts val="0"/>
              </a:spcBef>
              <a:spcAft>
                <a:spcPts val="300"/>
              </a:spcAft>
            </a:pPr>
            <a:r>
              <a:rPr sz="1100" b="0">
                <a:solidFill>
                  <a:srgbClr val="A86F00"/>
                </a:solidFill>
                <a:latin typeface="Calibri"/>
              </a:rPr>
              <a:t>●  </a:t>
            </a:r>
            <a:r>
              <a:rPr sz="1100" b="1">
                <a:solidFill>
                  <a:srgbClr val="A86F00"/>
                </a:solidFill>
                <a:latin typeface="Calibri"/>
              </a:rPr>
              <a:t>Italy: </a:t>
            </a:r>
            <a:r>
              <a:rPr sz="1100" b="0">
                <a:solidFill>
                  <a:srgbClr val="2E2E2E"/>
                </a:solidFill>
                <a:latin typeface="Calibri"/>
              </a:rPr>
              <a:t>10% of 2026 value · 7.4% CAGR a smaller market.</a:t>
            </a:r>
          </a:p>
          <a:p>
            <a:pPr algn="l">
              <a:lnSpc>
                <a:spcPct val="105000"/>
              </a:lnSpc>
              <a:spcBef>
                <a:spcPts val="0"/>
              </a:spcBef>
              <a:spcAft>
                <a:spcPts val="300"/>
              </a:spcAft>
            </a:pPr>
            <a:r>
              <a:rPr sz="1100" b="0">
                <a:solidFill>
                  <a:srgbClr val="A35313"/>
                </a:solidFill>
                <a:latin typeface="Calibri"/>
              </a:rPr>
              <a:t>●  </a:t>
            </a:r>
            <a:r>
              <a:rPr sz="1100" b="1">
                <a:solidFill>
                  <a:srgbClr val="A35313"/>
                </a:solidFill>
                <a:latin typeface="Calibri"/>
              </a:rPr>
              <a:t>Spain: </a:t>
            </a:r>
            <a:r>
              <a:rPr sz="1100" b="0">
                <a:solidFill>
                  <a:srgbClr val="2E2E2E"/>
                </a:solidFill>
                <a:latin typeface="Calibri"/>
              </a:rPr>
              <a:t>8% of 2026 value · 8.1% CAGR grows fastest.</a:t>
            </a:r>
          </a:p>
          <a:p>
            <a:pPr algn="l">
              <a:lnSpc>
                <a:spcPct val="105000"/>
              </a:lnSpc>
              <a:spcBef>
                <a:spcPts val="0"/>
              </a:spcBef>
              <a:spcAft>
                <a:spcPts val="300"/>
              </a:spcAft>
            </a:pPr>
            <a:r>
              <a:rPr sz="1100" b="0">
                <a:solidFill>
                  <a:srgbClr val="6C7A89"/>
                </a:solidFill>
                <a:latin typeface="Calibri"/>
              </a:rPr>
              <a:t>●  </a:t>
            </a:r>
            <a:r>
              <a:rPr sz="1100" b="1">
                <a:solidFill>
                  <a:srgbClr val="6C7A89"/>
                </a:solidFill>
                <a:latin typeface="Calibri"/>
              </a:rPr>
              <a:t>Russia: </a:t>
            </a:r>
            <a:r>
              <a:rPr sz="1100" b="0">
                <a:solidFill>
                  <a:srgbClr val="2E2E2E"/>
                </a:solidFill>
                <a:latin typeface="Calibri"/>
              </a:rPr>
              <a:t>7% of 2026 value · 6.1% CAGR a smaller market.</a:t>
            </a:r>
          </a:p>
          <a:p>
            <a:pPr algn="l">
              <a:lnSpc>
                <a:spcPct val="105000"/>
              </a:lnSpc>
              <a:spcBef>
                <a:spcPts val="0"/>
              </a:spcBef>
              <a:spcAft>
                <a:spcPts val="300"/>
              </a:spcAft>
            </a:pPr>
            <a:r>
              <a:rPr sz="1100" b="0">
                <a:solidFill>
                  <a:srgbClr val="0B2E4A"/>
                </a:solidFill>
                <a:latin typeface="Calibri"/>
              </a:rPr>
              <a:t>●  </a:t>
            </a:r>
            <a:r>
              <a:rPr sz="1100" b="1">
                <a:solidFill>
                  <a:srgbClr val="0B2E4A"/>
                </a:solidFill>
                <a:latin typeface="Calibri"/>
              </a:rPr>
              <a:t>Nordic: </a:t>
            </a:r>
            <a:r>
              <a:rPr sz="1100" b="0">
                <a:solidFill>
                  <a:srgbClr val="2E2E2E"/>
                </a:solidFill>
                <a:latin typeface="Calibri"/>
              </a:rPr>
              <a:t>6% of 2026 value · 7.0% CAGR a smaller market.</a:t>
            </a:r>
          </a:p>
          <a:p>
            <a:pPr algn="l">
              <a:lnSpc>
                <a:spcPct val="105000"/>
              </a:lnSpc>
              <a:spcBef>
                <a:spcPts val="0"/>
              </a:spcBef>
              <a:spcAft>
                <a:spcPts val="300"/>
              </a:spcAft>
            </a:pPr>
            <a:r>
              <a:rPr sz="1100" b="0">
                <a:solidFill>
                  <a:srgbClr val="0E72AE"/>
                </a:solidFill>
                <a:latin typeface="Calibri"/>
              </a:rPr>
              <a:t>●  </a:t>
            </a:r>
            <a:r>
              <a:rPr sz="1100" b="1">
                <a:solidFill>
                  <a:srgbClr val="0E72AE"/>
                </a:solidFill>
                <a:latin typeface="Calibri"/>
              </a:rPr>
              <a:t>Poland: </a:t>
            </a:r>
            <a:r>
              <a:rPr sz="1100" b="0">
                <a:solidFill>
                  <a:srgbClr val="2E2E2E"/>
                </a:solidFill>
                <a:latin typeface="Calibri"/>
              </a:rPr>
              <a:t>5% of 2026 value · 7.8% CAGR a smaller market.</a:t>
            </a:r>
          </a:p>
          <a:p>
            <a:pPr algn="l">
              <a:lnSpc>
                <a:spcPct val="105000"/>
              </a:lnSpc>
              <a:spcBef>
                <a:spcPts val="0"/>
              </a:spcBef>
              <a:spcAft>
                <a:spcPts val="300"/>
              </a:spcAft>
            </a:pPr>
            <a:r>
              <a:rPr sz="1100" b="0">
                <a:solidFill>
                  <a:srgbClr val="008189"/>
                </a:solidFill>
                <a:latin typeface="Calibri"/>
              </a:rPr>
              <a:t>●  </a:t>
            </a:r>
            <a:r>
              <a:rPr sz="1100" b="1">
                <a:solidFill>
                  <a:srgbClr val="008189"/>
                </a:solidFill>
                <a:latin typeface="Calibri"/>
              </a:rPr>
              <a:t>Netherlands: </a:t>
            </a:r>
            <a:r>
              <a:rPr sz="1100" b="0">
                <a:solidFill>
                  <a:srgbClr val="2E2E2E"/>
                </a:solidFill>
                <a:latin typeface="Calibri"/>
              </a:rPr>
              <a:t>4% of 2026 value · 7.7% CAGR a smaller market.</a:t>
            </a:r>
          </a:p>
          <a:p>
            <a:pPr algn="l">
              <a:lnSpc>
                <a:spcPct val="105000"/>
              </a:lnSpc>
              <a:spcBef>
                <a:spcPts val="0"/>
              </a:spcBef>
              <a:spcAft>
                <a:spcPts val="300"/>
              </a:spcAft>
            </a:pPr>
            <a:r>
              <a:rPr sz="1100" b="0">
                <a:solidFill>
                  <a:srgbClr val="6F3CC2"/>
                </a:solidFill>
                <a:latin typeface="Calibri"/>
              </a:rPr>
              <a:t>●  </a:t>
            </a:r>
            <a:r>
              <a:rPr sz="1100" b="1">
                <a:solidFill>
                  <a:srgbClr val="6F3CC2"/>
                </a:solidFill>
                <a:latin typeface="Calibri"/>
              </a:rPr>
              <a:t>Belgium: </a:t>
            </a:r>
            <a:r>
              <a:rPr sz="1100" b="0">
                <a:solidFill>
                  <a:srgbClr val="2E2E2E"/>
                </a:solidFill>
                <a:latin typeface="Calibri"/>
              </a:rPr>
              <a:t>3% of 2026 value · 5.2% CAGR a smaller market.</a:t>
            </a:r>
          </a:p>
          <a:p>
            <a:pPr algn="l">
              <a:lnSpc>
                <a:spcPct val="105000"/>
              </a:lnSpc>
              <a:spcBef>
                <a:spcPts val="0"/>
              </a:spcBef>
              <a:spcAft>
                <a:spcPts val="300"/>
              </a:spcAft>
            </a:pPr>
            <a:r>
              <a:rPr sz="1100" b="0">
                <a:solidFill>
                  <a:srgbClr val="A86F00"/>
                </a:solidFill>
                <a:latin typeface="Calibri"/>
              </a:rPr>
              <a:t>●  </a:t>
            </a:r>
            <a:r>
              <a:rPr sz="1100" b="1">
                <a:solidFill>
                  <a:srgbClr val="A86F00"/>
                </a:solidFill>
                <a:latin typeface="Calibri"/>
              </a:rPr>
              <a:t>Switzerland: </a:t>
            </a:r>
            <a:r>
              <a:rPr sz="1100" b="0">
                <a:solidFill>
                  <a:srgbClr val="2E2E2E"/>
                </a:solidFill>
                <a:latin typeface="Calibri"/>
              </a:rPr>
              <a:t>3% of 2026 value · 4.7% CAGR a smaller market.</a:t>
            </a:r>
          </a:p>
        </p:txBody>
      </p:sp>
      <p:sp>
        <p:nvSpPr>
          <p:cNvPr id="112" name="Rounded Rectangle 11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114" name="Rectangle 11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116" name="Rectangle 11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Europe market is projected to grow at a CAGR of 6.6% from 2026 to 2036.</a:t>
            </a:r>
          </a:p>
        </p:txBody>
      </p:sp>
      <p:sp>
        <p:nvSpPr>
          <p:cNvPr id="118" name="TextBox 11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119" name="TextBox 1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2401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7732" y="16240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811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Spain</a:t>
            </a:r>
          </a:p>
        </p:txBody>
      </p:sp>
      <p:sp>
        <p:nvSpPr>
          <p:cNvPr id="19" name="BPS Value 1"/>
          <p:cNvSpPr txBox="1"/>
          <p:nvPr/>
        </p:nvSpPr>
        <p:spPr>
          <a:xfrm>
            <a:off x="6305550" y="1581150"/>
            <a:ext cx="514350" cy="171450"/>
          </a:xfrm>
          <a:prstGeom prst="rect">
            <a:avLst/>
          </a:prstGeom>
          <a:noFill/>
        </p:spPr>
        <p:txBody>
          <a:bodyPr wrap="none" lIns="0" rIns="0" tIns="0" bIns="0" anchor="ctr">
            <a:spAutoFit/>
          </a:bodyPr>
          <a:lstStyle/>
          <a:p>
            <a:pPr algn="r"/>
            <a:r>
              <a:rPr sz="900" b="1">
                <a:solidFill>
                  <a:srgbClr val="2E7D32"/>
                </a:solidFill>
                <a:latin typeface="Calibri"/>
              </a:rPr>
              <a:t>+141</a:t>
            </a:r>
          </a:p>
        </p:txBody>
      </p:sp>
      <p:sp>
        <p:nvSpPr>
          <p:cNvPr id="20" name="FMI Legend Chip"/>
          <p:cNvSpPr/>
          <p:nvPr/>
        </p:nvSpPr>
        <p:spPr>
          <a:xfrm>
            <a:off x="4551045" y="179546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7732" y="17954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526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Italy</a:t>
            </a:r>
          </a:p>
        </p:txBody>
      </p:sp>
      <p:sp>
        <p:nvSpPr>
          <p:cNvPr id="23" name="BPS Value 2"/>
          <p:cNvSpPr txBox="1"/>
          <p:nvPr/>
        </p:nvSpPr>
        <p:spPr>
          <a:xfrm>
            <a:off x="6305550" y="1752600"/>
            <a:ext cx="514350" cy="171450"/>
          </a:xfrm>
          <a:prstGeom prst="rect">
            <a:avLst/>
          </a:prstGeom>
          <a:noFill/>
        </p:spPr>
        <p:txBody>
          <a:bodyPr wrap="none" lIns="0" rIns="0" tIns="0" bIns="0" anchor="ctr">
            <a:spAutoFit/>
          </a:bodyPr>
          <a:lstStyle/>
          <a:p>
            <a:pPr algn="r"/>
            <a:r>
              <a:rPr sz="900" b="1">
                <a:solidFill>
                  <a:srgbClr val="2E7D32"/>
                </a:solidFill>
                <a:latin typeface="Calibri"/>
              </a:rPr>
              <a:t>+79</a:t>
            </a:r>
          </a:p>
        </p:txBody>
      </p:sp>
      <p:sp>
        <p:nvSpPr>
          <p:cNvPr id="24" name="FMI Legend Chip"/>
          <p:cNvSpPr/>
          <p:nvPr/>
        </p:nvSpPr>
        <p:spPr>
          <a:xfrm>
            <a:off x="4551045" y="196691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7732" y="19669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9240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Rest of Europe</a:t>
            </a:r>
          </a:p>
        </p:txBody>
      </p:sp>
      <p:sp>
        <p:nvSpPr>
          <p:cNvPr id="27" name="BPS Value 3"/>
          <p:cNvSpPr txBox="1"/>
          <p:nvPr/>
        </p:nvSpPr>
        <p:spPr>
          <a:xfrm>
            <a:off x="6305550" y="1924050"/>
            <a:ext cx="514350" cy="171450"/>
          </a:xfrm>
          <a:prstGeom prst="rect">
            <a:avLst/>
          </a:prstGeom>
          <a:noFill/>
        </p:spPr>
        <p:txBody>
          <a:bodyPr wrap="none" lIns="0" rIns="0" tIns="0" bIns="0" anchor="ctr">
            <a:spAutoFit/>
          </a:bodyPr>
          <a:lstStyle/>
          <a:p>
            <a:pPr algn="r"/>
            <a:r>
              <a:rPr sz="900" b="1">
                <a:solidFill>
                  <a:srgbClr val="2E7D32"/>
                </a:solidFill>
                <a:latin typeface="Calibri"/>
              </a:rPr>
              <a:t>+72</a:t>
            </a:r>
          </a:p>
        </p:txBody>
      </p:sp>
      <p:sp>
        <p:nvSpPr>
          <p:cNvPr id="28" name="FMI Legend Chip"/>
          <p:cNvSpPr/>
          <p:nvPr/>
        </p:nvSpPr>
        <p:spPr>
          <a:xfrm>
            <a:off x="4551045" y="213836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7732" y="21383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0955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Poland</a:t>
            </a:r>
          </a:p>
        </p:txBody>
      </p:sp>
      <p:sp>
        <p:nvSpPr>
          <p:cNvPr id="31" name="BPS Value 4"/>
          <p:cNvSpPr txBox="1"/>
          <p:nvPr/>
        </p:nvSpPr>
        <p:spPr>
          <a:xfrm>
            <a:off x="6305550" y="2095500"/>
            <a:ext cx="514350" cy="171450"/>
          </a:xfrm>
          <a:prstGeom prst="rect">
            <a:avLst/>
          </a:prstGeom>
          <a:noFill/>
        </p:spPr>
        <p:txBody>
          <a:bodyPr wrap="none" lIns="0" rIns="0" tIns="0" bIns="0" anchor="ctr">
            <a:spAutoFit/>
          </a:bodyPr>
          <a:lstStyle/>
          <a:p>
            <a:pPr algn="r"/>
            <a:r>
              <a:rPr sz="900" b="1">
                <a:solidFill>
                  <a:srgbClr val="2E7D32"/>
                </a:solidFill>
                <a:latin typeface="Calibri"/>
              </a:rPr>
              <a:t>+66</a:t>
            </a:r>
          </a:p>
        </p:txBody>
      </p:sp>
      <p:sp>
        <p:nvSpPr>
          <p:cNvPr id="32" name="FMI Legend Chip"/>
          <p:cNvSpPr/>
          <p:nvPr/>
        </p:nvSpPr>
        <p:spPr>
          <a:xfrm>
            <a:off x="4551045" y="230981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7732" y="23098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2669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Netherlands</a:t>
            </a:r>
          </a:p>
        </p:txBody>
      </p:sp>
      <p:sp>
        <p:nvSpPr>
          <p:cNvPr id="35" name="BPS Value 5"/>
          <p:cNvSpPr txBox="1"/>
          <p:nvPr/>
        </p:nvSpPr>
        <p:spPr>
          <a:xfrm>
            <a:off x="6305550" y="2266950"/>
            <a:ext cx="514350" cy="171450"/>
          </a:xfrm>
          <a:prstGeom prst="rect">
            <a:avLst/>
          </a:prstGeom>
          <a:noFill/>
        </p:spPr>
        <p:txBody>
          <a:bodyPr wrap="none" lIns="0" rIns="0" tIns="0" bIns="0" anchor="ctr">
            <a:spAutoFit/>
          </a:bodyPr>
          <a:lstStyle/>
          <a:p>
            <a:pPr algn="r"/>
            <a:r>
              <a:rPr sz="900" b="1">
                <a:solidFill>
                  <a:srgbClr val="2E7D32"/>
                </a:solidFill>
                <a:latin typeface="Calibri"/>
              </a:rPr>
              <a:t>+40</a:t>
            </a:r>
          </a:p>
        </p:txBody>
      </p:sp>
      <p:sp>
        <p:nvSpPr>
          <p:cNvPr id="36" name="FMI Legend Chip"/>
          <p:cNvSpPr/>
          <p:nvPr/>
        </p:nvSpPr>
        <p:spPr>
          <a:xfrm>
            <a:off x="4551045" y="248126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7732" y="24812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4384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Nordic</a:t>
            </a:r>
          </a:p>
        </p:txBody>
      </p:sp>
      <p:sp>
        <p:nvSpPr>
          <p:cNvPr id="39" name="BPS Value 6"/>
          <p:cNvSpPr txBox="1"/>
          <p:nvPr/>
        </p:nvSpPr>
        <p:spPr>
          <a:xfrm>
            <a:off x="6305550" y="2438400"/>
            <a:ext cx="514350" cy="171450"/>
          </a:xfrm>
          <a:prstGeom prst="rect">
            <a:avLst/>
          </a:prstGeom>
          <a:noFill/>
        </p:spPr>
        <p:txBody>
          <a:bodyPr wrap="none" lIns="0" rIns="0" tIns="0" bIns="0" anchor="ctr">
            <a:spAutoFit/>
          </a:bodyPr>
          <a:lstStyle/>
          <a:p>
            <a:pPr algn="r"/>
            <a:r>
              <a:rPr sz="900" b="1">
                <a:solidFill>
                  <a:srgbClr val="2E7D32"/>
                </a:solidFill>
                <a:latin typeface="Calibri"/>
              </a:rPr>
              <a:t>+16</a:t>
            </a:r>
          </a:p>
        </p:txBody>
      </p:sp>
      <p:sp>
        <p:nvSpPr>
          <p:cNvPr id="40" name="FMI Legend Chip"/>
          <p:cNvSpPr/>
          <p:nvPr/>
        </p:nvSpPr>
        <p:spPr>
          <a:xfrm>
            <a:off x="4551045" y="265271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4717732" y="26527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26098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U.K.</a:t>
            </a:r>
          </a:p>
        </p:txBody>
      </p:sp>
      <p:sp>
        <p:nvSpPr>
          <p:cNvPr id="43" name="BPS Value 7"/>
          <p:cNvSpPr txBox="1"/>
          <p:nvPr/>
        </p:nvSpPr>
        <p:spPr>
          <a:xfrm>
            <a:off x="6305550" y="2609850"/>
            <a:ext cx="514350" cy="171450"/>
          </a:xfrm>
          <a:prstGeom prst="rect">
            <a:avLst/>
          </a:prstGeom>
          <a:noFill/>
        </p:spPr>
        <p:txBody>
          <a:bodyPr wrap="none" lIns="0" rIns="0" tIns="0" bIns="0" anchor="ctr">
            <a:spAutoFit/>
          </a:bodyPr>
          <a:lstStyle/>
          <a:p>
            <a:pPr algn="r"/>
            <a:r>
              <a:rPr sz="900" b="1">
                <a:solidFill>
                  <a:srgbClr val="E44D3A"/>
                </a:solidFill>
                <a:latin typeface="Calibri"/>
              </a:rPr>
              <a:t>-27</a:t>
            </a:r>
          </a:p>
        </p:txBody>
      </p:sp>
      <p:sp>
        <p:nvSpPr>
          <p:cNvPr id="44" name="FMI Legend Chip"/>
          <p:cNvSpPr/>
          <p:nvPr/>
        </p:nvSpPr>
        <p:spPr>
          <a:xfrm>
            <a:off x="4551045" y="282416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4717732" y="28241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27813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Belgium</a:t>
            </a:r>
          </a:p>
        </p:txBody>
      </p:sp>
      <p:sp>
        <p:nvSpPr>
          <p:cNvPr id="47" name="BPS Value 8"/>
          <p:cNvSpPr txBox="1"/>
          <p:nvPr/>
        </p:nvSpPr>
        <p:spPr>
          <a:xfrm>
            <a:off x="6305550" y="2781300"/>
            <a:ext cx="514350" cy="171450"/>
          </a:xfrm>
          <a:prstGeom prst="rect">
            <a:avLst/>
          </a:prstGeom>
          <a:noFill/>
        </p:spPr>
        <p:txBody>
          <a:bodyPr wrap="none" lIns="0" rIns="0" tIns="0" bIns="0" anchor="ctr">
            <a:spAutoFit/>
          </a:bodyPr>
          <a:lstStyle/>
          <a:p>
            <a:pPr algn="r"/>
            <a:r>
              <a:rPr sz="900" b="1">
                <a:solidFill>
                  <a:srgbClr val="E44D3A"/>
                </a:solidFill>
                <a:latin typeface="Calibri"/>
              </a:rPr>
              <a:t>-35</a:t>
            </a:r>
          </a:p>
        </p:txBody>
      </p:sp>
      <p:sp>
        <p:nvSpPr>
          <p:cNvPr id="48" name="FMI Legend Chip"/>
          <p:cNvSpPr/>
          <p:nvPr/>
        </p:nvSpPr>
        <p:spPr>
          <a:xfrm>
            <a:off x="4551045" y="299561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rot="10800000">
            <a:off x="4717732" y="29956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29527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Russia</a:t>
            </a:r>
          </a:p>
        </p:txBody>
      </p:sp>
      <p:sp>
        <p:nvSpPr>
          <p:cNvPr id="51" name="BPS Value 9"/>
          <p:cNvSpPr txBox="1"/>
          <p:nvPr/>
        </p:nvSpPr>
        <p:spPr>
          <a:xfrm>
            <a:off x="6305550" y="2952750"/>
            <a:ext cx="514350" cy="171450"/>
          </a:xfrm>
          <a:prstGeom prst="rect">
            <a:avLst/>
          </a:prstGeom>
          <a:noFill/>
        </p:spPr>
        <p:txBody>
          <a:bodyPr wrap="none" lIns="0" rIns="0" tIns="0" bIns="0" anchor="ctr">
            <a:spAutoFit/>
          </a:bodyPr>
          <a:lstStyle/>
          <a:p>
            <a:pPr algn="r"/>
            <a:r>
              <a:rPr sz="900" b="1">
                <a:solidFill>
                  <a:srgbClr val="E44D3A"/>
                </a:solidFill>
                <a:latin typeface="Calibri"/>
              </a:rPr>
              <a:t>-38</a:t>
            </a:r>
          </a:p>
        </p:txBody>
      </p:sp>
      <p:sp>
        <p:nvSpPr>
          <p:cNvPr id="52" name="FMI Legend Chip"/>
          <p:cNvSpPr/>
          <p:nvPr/>
        </p:nvSpPr>
        <p:spPr>
          <a:xfrm>
            <a:off x="4551045" y="3167062"/>
            <a:ext cx="85725" cy="85725"/>
          </a:xfrm>
          <a:prstGeom prst="rect">
            <a:avLst/>
          </a:prstGeom>
          <a:solidFill>
            <a:srgbClr val="5F5F5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4717732" y="31670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4855845" y="31242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Switzerland</a:t>
            </a:r>
          </a:p>
        </p:txBody>
      </p:sp>
      <p:sp>
        <p:nvSpPr>
          <p:cNvPr id="55" name="BPS Value 10"/>
          <p:cNvSpPr txBox="1"/>
          <p:nvPr/>
        </p:nvSpPr>
        <p:spPr>
          <a:xfrm>
            <a:off x="6305550" y="3124200"/>
            <a:ext cx="514350" cy="171450"/>
          </a:xfrm>
          <a:prstGeom prst="rect">
            <a:avLst/>
          </a:prstGeom>
          <a:noFill/>
        </p:spPr>
        <p:txBody>
          <a:bodyPr wrap="none" lIns="0" rIns="0" tIns="0" bIns="0" anchor="ctr">
            <a:spAutoFit/>
          </a:bodyPr>
          <a:lstStyle/>
          <a:p>
            <a:pPr algn="r"/>
            <a:r>
              <a:rPr sz="900" b="1">
                <a:solidFill>
                  <a:srgbClr val="E44D3A"/>
                </a:solidFill>
                <a:latin typeface="Calibri"/>
              </a:rPr>
              <a:t>-39</a:t>
            </a:r>
          </a:p>
        </p:txBody>
      </p:sp>
      <p:sp>
        <p:nvSpPr>
          <p:cNvPr id="56" name="FMI Legend Chip"/>
          <p:cNvSpPr/>
          <p:nvPr/>
        </p:nvSpPr>
        <p:spPr>
          <a:xfrm>
            <a:off x="4551045" y="333851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4717732" y="33385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4855845" y="32956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France</a:t>
            </a:r>
          </a:p>
        </p:txBody>
      </p:sp>
      <p:sp>
        <p:nvSpPr>
          <p:cNvPr id="59" name="BPS Value 11"/>
          <p:cNvSpPr txBox="1"/>
          <p:nvPr/>
        </p:nvSpPr>
        <p:spPr>
          <a:xfrm>
            <a:off x="6305550" y="3295650"/>
            <a:ext cx="514350" cy="171450"/>
          </a:xfrm>
          <a:prstGeom prst="rect">
            <a:avLst/>
          </a:prstGeom>
          <a:noFill/>
        </p:spPr>
        <p:txBody>
          <a:bodyPr wrap="none" lIns="0" rIns="0" tIns="0" bIns="0" anchor="ctr">
            <a:spAutoFit/>
          </a:bodyPr>
          <a:lstStyle/>
          <a:p>
            <a:pPr algn="r"/>
            <a:r>
              <a:rPr sz="900" b="1">
                <a:solidFill>
                  <a:srgbClr val="E44D3A"/>
                </a:solidFill>
                <a:latin typeface="Calibri"/>
              </a:rPr>
              <a:t>-102</a:t>
            </a:r>
          </a:p>
        </p:txBody>
      </p:sp>
      <p:sp>
        <p:nvSpPr>
          <p:cNvPr id="60" name="FMI Legend Chip"/>
          <p:cNvSpPr/>
          <p:nvPr/>
        </p:nvSpPr>
        <p:spPr>
          <a:xfrm>
            <a:off x="4551045" y="350996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Isosceles Triangle 60"/>
          <p:cNvSpPr/>
          <p:nvPr/>
        </p:nvSpPr>
        <p:spPr>
          <a:xfrm rot="10800000">
            <a:off x="4717732" y="35099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BPS Name 12"/>
          <p:cNvSpPr txBox="1"/>
          <p:nvPr/>
        </p:nvSpPr>
        <p:spPr>
          <a:xfrm>
            <a:off x="4855845" y="34671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Germany</a:t>
            </a:r>
          </a:p>
        </p:txBody>
      </p:sp>
      <p:sp>
        <p:nvSpPr>
          <p:cNvPr id="63" name="BPS Value 12"/>
          <p:cNvSpPr txBox="1"/>
          <p:nvPr/>
        </p:nvSpPr>
        <p:spPr>
          <a:xfrm>
            <a:off x="6305550" y="3467100"/>
            <a:ext cx="514350" cy="171450"/>
          </a:xfrm>
          <a:prstGeom prst="rect">
            <a:avLst/>
          </a:prstGeom>
          <a:noFill/>
        </p:spPr>
        <p:txBody>
          <a:bodyPr wrap="none" lIns="0" rIns="0" tIns="0" bIns="0" anchor="ctr">
            <a:spAutoFit/>
          </a:bodyPr>
          <a:lstStyle/>
          <a:p>
            <a:pPr algn="r"/>
            <a:r>
              <a:rPr sz="900" b="1">
                <a:solidFill>
                  <a:srgbClr val="E44D3A"/>
                </a:solidFill>
                <a:latin typeface="Calibri"/>
              </a:rPr>
              <a:t>-172</a:t>
            </a:r>
          </a:p>
        </p:txBody>
      </p:sp>
      <p:sp>
        <p:nvSpPr>
          <p:cNvPr id="64" name="Rounded Rectangle 6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66" name="Rectangle 6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Germany flexible plastic packaging market is projected to register 1.1X higher volume than the U.K. in 2036. Among flexible plastic packaging by country, Spain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volume share by country, Germany is expected to dominate the market, losing 182 BPS and accounting for 16.1% share by 2036.</a:t>
            </a:r>
          </a:p>
          <a:p>
            <a:pPr algn="l">
              <a:lnSpc>
                <a:spcPct val="110000"/>
              </a:lnSpc>
              <a:spcBef>
                <a:spcPts val="0"/>
              </a:spcBef>
              <a:spcAft>
                <a:spcPts val="500"/>
              </a:spcAft>
            </a:pPr>
            <a:r>
              <a:rPr sz="1150" b="0">
                <a:solidFill>
                  <a:srgbClr val="2E2E2E"/>
                </a:solidFill>
                <a:latin typeface="Calibri"/>
              </a:rPr>
              <a:t>Spain grows fastest at 6.9% in volume against 5.2% for Europe, helped by a strong fresh produce, meat and food-export industry that relies on barrier and modified-atmosphere packs, together with tourism-driven food service. Mature Germany, at 4.0%, loses 172 BPS as stagnant population, lightweighting and strict recyclability rules cap tonnage growth.</a:t>
            </a:r>
          </a:p>
        </p:txBody>
      </p:sp>
      <p:sp>
        <p:nvSpPr>
          <p:cNvPr id="68" name="Rounded Rectangle 6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(THOUSAND MT)</a:t>
            </a:r>
          </a:p>
          <a:p>
            <a:pPr algn="ctr">
              <a:lnSpc>
                <a:spcPct val="95000"/>
              </a:lnSpc>
            </a:pPr>
            <a:r>
              <a:rPr sz="2000" b="1">
                <a:solidFill>
                  <a:srgbClr val="0E72AE"/>
                </a:solidFill>
                <a:latin typeface="Calibri"/>
              </a:rPr>
              <a:t>7,878</a:t>
            </a:r>
          </a:p>
        </p:txBody>
      </p:sp>
      <p:sp>
        <p:nvSpPr>
          <p:cNvPr id="69" name="Rounded Rectangle 6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(THOUSAND MT)</a:t>
            </a:r>
          </a:p>
          <a:p>
            <a:pPr algn="ctr">
              <a:lnSpc>
                <a:spcPct val="95000"/>
              </a:lnSpc>
            </a:pPr>
            <a:r>
              <a:rPr sz="2000" b="1">
                <a:solidFill>
                  <a:srgbClr val="0E72AE"/>
                </a:solidFill>
                <a:latin typeface="Calibri"/>
              </a:rPr>
              <a:t>13,129</a:t>
            </a:r>
          </a:p>
        </p:txBody>
      </p:sp>
      <p:sp>
        <p:nvSpPr>
          <p:cNvPr id="70" name="Rounded Rectangle 6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5.2%</a:t>
            </a:r>
          </a:p>
        </p:txBody>
      </p:sp>
      <p:sp>
        <p:nvSpPr>
          <p:cNvPr id="71" name="TextBox 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3" name="Chart 12"/>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4" name="TextBox 13"/>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5" name="FMI Lock Anchor"/>
          <p:cNvSpPr txBox="1"/>
          <p:nvPr/>
        </p:nvSpPr>
        <p:spPr>
          <a:xfrm>
            <a:off x="2489835" y="3352800"/>
            <a:ext cx="38100" cy="38100"/>
          </a:xfrm>
          <a:prstGeom prst="rect">
            <a:avLst/>
          </a:prstGeom>
          <a:noFill/>
        </p:spPr>
        <p:txBody>
          <a:bodyPr wrap="none">
            <a:spAutoFit/>
          </a:bodyPr>
          <a:lstStyle/>
          <a:p/>
        </p:txBody>
      </p:sp>
      <p:sp>
        <p:nvSpPr>
          <p:cNvPr id="16" name="FMI Legend Chip"/>
          <p:cNvSpPr/>
          <p:nvPr/>
        </p:nvSpPr>
        <p:spPr>
          <a:xfrm>
            <a:off x="4551045" y="162401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4717732" y="16240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4855845" y="15811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Spain</a:t>
            </a:r>
          </a:p>
        </p:txBody>
      </p:sp>
      <p:sp>
        <p:nvSpPr>
          <p:cNvPr id="19" name="BPS Value 1"/>
          <p:cNvSpPr txBox="1"/>
          <p:nvPr/>
        </p:nvSpPr>
        <p:spPr>
          <a:xfrm>
            <a:off x="6305550" y="1581150"/>
            <a:ext cx="514350" cy="171450"/>
          </a:xfrm>
          <a:prstGeom prst="rect">
            <a:avLst/>
          </a:prstGeom>
          <a:noFill/>
        </p:spPr>
        <p:txBody>
          <a:bodyPr wrap="none" lIns="0" rIns="0" tIns="0" bIns="0" anchor="ctr">
            <a:spAutoFit/>
          </a:bodyPr>
          <a:lstStyle/>
          <a:p>
            <a:pPr algn="r"/>
            <a:r>
              <a:rPr sz="900" b="1">
                <a:solidFill>
                  <a:srgbClr val="2E7D32"/>
                </a:solidFill>
                <a:latin typeface="Calibri"/>
              </a:rPr>
              <a:t>+123</a:t>
            </a:r>
          </a:p>
        </p:txBody>
      </p:sp>
      <p:sp>
        <p:nvSpPr>
          <p:cNvPr id="20" name="FMI Legend Chip"/>
          <p:cNvSpPr/>
          <p:nvPr/>
        </p:nvSpPr>
        <p:spPr>
          <a:xfrm>
            <a:off x="4551045" y="17954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4717732" y="17954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4855845" y="17526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Rest of Europe</a:t>
            </a:r>
          </a:p>
        </p:txBody>
      </p:sp>
      <p:sp>
        <p:nvSpPr>
          <p:cNvPr id="23" name="BPS Value 2"/>
          <p:cNvSpPr txBox="1"/>
          <p:nvPr/>
        </p:nvSpPr>
        <p:spPr>
          <a:xfrm>
            <a:off x="6305550" y="1752600"/>
            <a:ext cx="514350" cy="171450"/>
          </a:xfrm>
          <a:prstGeom prst="rect">
            <a:avLst/>
          </a:prstGeom>
          <a:noFill/>
        </p:spPr>
        <p:txBody>
          <a:bodyPr wrap="none" lIns="0" rIns="0" tIns="0" bIns="0" anchor="ctr">
            <a:spAutoFit/>
          </a:bodyPr>
          <a:lstStyle/>
          <a:p>
            <a:pPr algn="r"/>
            <a:r>
              <a:rPr sz="900" b="1">
                <a:solidFill>
                  <a:srgbClr val="2E7D32"/>
                </a:solidFill>
                <a:latin typeface="Calibri"/>
              </a:rPr>
              <a:t>+87</a:t>
            </a:r>
          </a:p>
        </p:txBody>
      </p:sp>
      <p:sp>
        <p:nvSpPr>
          <p:cNvPr id="24" name="FMI Legend Chip"/>
          <p:cNvSpPr/>
          <p:nvPr/>
        </p:nvSpPr>
        <p:spPr>
          <a:xfrm>
            <a:off x="4551045" y="196691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4717732" y="19669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4855845" y="19240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Italy</a:t>
            </a:r>
          </a:p>
        </p:txBody>
      </p:sp>
      <p:sp>
        <p:nvSpPr>
          <p:cNvPr id="27" name="BPS Value 3"/>
          <p:cNvSpPr txBox="1"/>
          <p:nvPr/>
        </p:nvSpPr>
        <p:spPr>
          <a:xfrm>
            <a:off x="6305550" y="1924050"/>
            <a:ext cx="514350" cy="171450"/>
          </a:xfrm>
          <a:prstGeom prst="rect">
            <a:avLst/>
          </a:prstGeom>
          <a:noFill/>
        </p:spPr>
        <p:txBody>
          <a:bodyPr wrap="none" lIns="0" rIns="0" tIns="0" bIns="0" anchor="ctr">
            <a:spAutoFit/>
          </a:bodyPr>
          <a:lstStyle/>
          <a:p>
            <a:pPr algn="r"/>
            <a:r>
              <a:rPr sz="900" b="1">
                <a:solidFill>
                  <a:srgbClr val="2E7D32"/>
                </a:solidFill>
                <a:latin typeface="Calibri"/>
              </a:rPr>
              <a:t>+79</a:t>
            </a:r>
          </a:p>
        </p:txBody>
      </p:sp>
      <p:sp>
        <p:nvSpPr>
          <p:cNvPr id="28" name="FMI Legend Chip"/>
          <p:cNvSpPr/>
          <p:nvPr/>
        </p:nvSpPr>
        <p:spPr>
          <a:xfrm>
            <a:off x="4551045" y="213836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4717732" y="21383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4855845" y="20955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Poland</a:t>
            </a:r>
          </a:p>
        </p:txBody>
      </p:sp>
      <p:sp>
        <p:nvSpPr>
          <p:cNvPr id="31" name="BPS Value 4"/>
          <p:cNvSpPr txBox="1"/>
          <p:nvPr/>
        </p:nvSpPr>
        <p:spPr>
          <a:xfrm>
            <a:off x="6305550" y="2095500"/>
            <a:ext cx="514350" cy="171450"/>
          </a:xfrm>
          <a:prstGeom prst="rect">
            <a:avLst/>
          </a:prstGeom>
          <a:noFill/>
        </p:spPr>
        <p:txBody>
          <a:bodyPr wrap="none" lIns="0" rIns="0" tIns="0" bIns="0" anchor="ctr">
            <a:spAutoFit/>
          </a:bodyPr>
          <a:lstStyle/>
          <a:p>
            <a:pPr algn="r"/>
            <a:r>
              <a:rPr sz="900" b="1">
                <a:solidFill>
                  <a:srgbClr val="2E7D32"/>
                </a:solidFill>
                <a:latin typeface="Calibri"/>
              </a:rPr>
              <a:t>+59</a:t>
            </a:r>
          </a:p>
        </p:txBody>
      </p:sp>
      <p:sp>
        <p:nvSpPr>
          <p:cNvPr id="32" name="FMI Legend Chip"/>
          <p:cNvSpPr/>
          <p:nvPr/>
        </p:nvSpPr>
        <p:spPr>
          <a:xfrm>
            <a:off x="4551045" y="230981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4717732" y="230981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4855845" y="22669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Netherlands</a:t>
            </a:r>
          </a:p>
        </p:txBody>
      </p:sp>
      <p:sp>
        <p:nvSpPr>
          <p:cNvPr id="35" name="BPS Value 5"/>
          <p:cNvSpPr txBox="1"/>
          <p:nvPr/>
        </p:nvSpPr>
        <p:spPr>
          <a:xfrm>
            <a:off x="6305550" y="2266950"/>
            <a:ext cx="514350" cy="171450"/>
          </a:xfrm>
          <a:prstGeom prst="rect">
            <a:avLst/>
          </a:prstGeom>
          <a:noFill/>
        </p:spPr>
        <p:txBody>
          <a:bodyPr wrap="none" lIns="0" rIns="0" tIns="0" bIns="0" anchor="ctr">
            <a:spAutoFit/>
          </a:bodyPr>
          <a:lstStyle/>
          <a:p>
            <a:pPr algn="r"/>
            <a:r>
              <a:rPr sz="900" b="1">
                <a:solidFill>
                  <a:srgbClr val="2E7D32"/>
                </a:solidFill>
                <a:latin typeface="Calibri"/>
              </a:rPr>
              <a:t>+48</a:t>
            </a:r>
          </a:p>
        </p:txBody>
      </p:sp>
      <p:sp>
        <p:nvSpPr>
          <p:cNvPr id="36" name="FMI Legend Chip"/>
          <p:cNvSpPr/>
          <p:nvPr/>
        </p:nvSpPr>
        <p:spPr>
          <a:xfrm>
            <a:off x="4551045" y="248126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4717732" y="248126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4855845" y="24384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Nordic</a:t>
            </a:r>
          </a:p>
        </p:txBody>
      </p:sp>
      <p:sp>
        <p:nvSpPr>
          <p:cNvPr id="39" name="BPS Value 6"/>
          <p:cNvSpPr txBox="1"/>
          <p:nvPr/>
        </p:nvSpPr>
        <p:spPr>
          <a:xfrm>
            <a:off x="6305550" y="2438400"/>
            <a:ext cx="514350" cy="171450"/>
          </a:xfrm>
          <a:prstGeom prst="rect">
            <a:avLst/>
          </a:prstGeom>
          <a:noFill/>
        </p:spPr>
        <p:txBody>
          <a:bodyPr wrap="none" lIns="0" rIns="0" tIns="0" bIns="0" anchor="ctr">
            <a:spAutoFit/>
          </a:bodyPr>
          <a:lstStyle/>
          <a:p>
            <a:pPr algn="r"/>
            <a:r>
              <a:rPr sz="900" b="1">
                <a:solidFill>
                  <a:srgbClr val="2E7D32"/>
                </a:solidFill>
                <a:latin typeface="Calibri"/>
              </a:rPr>
              <a:t>+29</a:t>
            </a:r>
          </a:p>
        </p:txBody>
      </p:sp>
      <p:sp>
        <p:nvSpPr>
          <p:cNvPr id="40" name="FMI Legend Chip"/>
          <p:cNvSpPr/>
          <p:nvPr/>
        </p:nvSpPr>
        <p:spPr>
          <a:xfrm>
            <a:off x="4551045" y="265271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4717732" y="26527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4855845" y="26098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Russia</a:t>
            </a:r>
          </a:p>
        </p:txBody>
      </p:sp>
      <p:sp>
        <p:nvSpPr>
          <p:cNvPr id="43" name="BPS Value 7"/>
          <p:cNvSpPr txBox="1"/>
          <p:nvPr/>
        </p:nvSpPr>
        <p:spPr>
          <a:xfrm>
            <a:off x="6305550" y="2609850"/>
            <a:ext cx="514350" cy="171450"/>
          </a:xfrm>
          <a:prstGeom prst="rect">
            <a:avLst/>
          </a:prstGeom>
          <a:noFill/>
        </p:spPr>
        <p:txBody>
          <a:bodyPr wrap="none" lIns="0" rIns="0" tIns="0" bIns="0" anchor="ctr">
            <a:spAutoFit/>
          </a:bodyPr>
          <a:lstStyle/>
          <a:p>
            <a:pPr algn="r"/>
            <a:r>
              <a:rPr sz="900" b="1">
                <a:solidFill>
                  <a:srgbClr val="E44D3A"/>
                </a:solidFill>
                <a:latin typeface="Calibri"/>
              </a:rPr>
              <a:t>-28</a:t>
            </a:r>
          </a:p>
        </p:txBody>
      </p:sp>
      <p:sp>
        <p:nvSpPr>
          <p:cNvPr id="44" name="FMI Legend Chip"/>
          <p:cNvSpPr/>
          <p:nvPr/>
        </p:nvSpPr>
        <p:spPr>
          <a:xfrm>
            <a:off x="4551045" y="282416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4717732" y="28241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4855845" y="27813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U.K.</a:t>
            </a:r>
          </a:p>
        </p:txBody>
      </p:sp>
      <p:sp>
        <p:nvSpPr>
          <p:cNvPr id="47" name="BPS Value 8"/>
          <p:cNvSpPr txBox="1"/>
          <p:nvPr/>
        </p:nvSpPr>
        <p:spPr>
          <a:xfrm>
            <a:off x="6305550" y="2781300"/>
            <a:ext cx="514350" cy="171450"/>
          </a:xfrm>
          <a:prstGeom prst="rect">
            <a:avLst/>
          </a:prstGeom>
          <a:noFill/>
        </p:spPr>
        <p:txBody>
          <a:bodyPr wrap="none" lIns="0" rIns="0" tIns="0" bIns="0" anchor="ctr">
            <a:spAutoFit/>
          </a:bodyPr>
          <a:lstStyle/>
          <a:p>
            <a:pPr algn="r"/>
            <a:r>
              <a:rPr sz="900" b="1">
                <a:solidFill>
                  <a:srgbClr val="E44D3A"/>
                </a:solidFill>
                <a:latin typeface="Calibri"/>
              </a:rPr>
              <a:t>-35</a:t>
            </a:r>
          </a:p>
        </p:txBody>
      </p:sp>
      <p:sp>
        <p:nvSpPr>
          <p:cNvPr id="48" name="FMI Legend Chip"/>
          <p:cNvSpPr/>
          <p:nvPr/>
        </p:nvSpPr>
        <p:spPr>
          <a:xfrm>
            <a:off x="4551045" y="299561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rot="10800000">
            <a:off x="4717732" y="29956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4855845" y="29527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Belgium</a:t>
            </a:r>
          </a:p>
        </p:txBody>
      </p:sp>
      <p:sp>
        <p:nvSpPr>
          <p:cNvPr id="51" name="BPS Value 9"/>
          <p:cNvSpPr txBox="1"/>
          <p:nvPr/>
        </p:nvSpPr>
        <p:spPr>
          <a:xfrm>
            <a:off x="6305550" y="2952750"/>
            <a:ext cx="514350" cy="171450"/>
          </a:xfrm>
          <a:prstGeom prst="rect">
            <a:avLst/>
          </a:prstGeom>
          <a:noFill/>
        </p:spPr>
        <p:txBody>
          <a:bodyPr wrap="none" lIns="0" rIns="0" tIns="0" bIns="0" anchor="ctr">
            <a:spAutoFit/>
          </a:bodyPr>
          <a:lstStyle/>
          <a:p>
            <a:pPr algn="r"/>
            <a:r>
              <a:rPr sz="900" b="1">
                <a:solidFill>
                  <a:srgbClr val="E44D3A"/>
                </a:solidFill>
                <a:latin typeface="Calibri"/>
              </a:rPr>
              <a:t>-36</a:t>
            </a:r>
          </a:p>
        </p:txBody>
      </p:sp>
      <p:sp>
        <p:nvSpPr>
          <p:cNvPr id="52" name="FMI Legend Chip"/>
          <p:cNvSpPr/>
          <p:nvPr/>
        </p:nvSpPr>
        <p:spPr>
          <a:xfrm>
            <a:off x="4551045" y="3167062"/>
            <a:ext cx="85725" cy="85725"/>
          </a:xfrm>
          <a:prstGeom prst="rect">
            <a:avLst/>
          </a:prstGeom>
          <a:solidFill>
            <a:srgbClr val="5F5F5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4717732" y="31670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4855845" y="31242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Switzerland</a:t>
            </a:r>
          </a:p>
        </p:txBody>
      </p:sp>
      <p:sp>
        <p:nvSpPr>
          <p:cNvPr id="55" name="BPS Value 10"/>
          <p:cNvSpPr txBox="1"/>
          <p:nvPr/>
        </p:nvSpPr>
        <p:spPr>
          <a:xfrm>
            <a:off x="6305550" y="3124200"/>
            <a:ext cx="514350" cy="171450"/>
          </a:xfrm>
          <a:prstGeom prst="rect">
            <a:avLst/>
          </a:prstGeom>
          <a:noFill/>
        </p:spPr>
        <p:txBody>
          <a:bodyPr wrap="none" lIns="0" rIns="0" tIns="0" bIns="0" anchor="ctr">
            <a:spAutoFit/>
          </a:bodyPr>
          <a:lstStyle/>
          <a:p>
            <a:pPr algn="r"/>
            <a:r>
              <a:rPr sz="900" b="1">
                <a:solidFill>
                  <a:srgbClr val="E44D3A"/>
                </a:solidFill>
                <a:latin typeface="Calibri"/>
              </a:rPr>
              <a:t>-43</a:t>
            </a:r>
          </a:p>
        </p:txBody>
      </p:sp>
      <p:sp>
        <p:nvSpPr>
          <p:cNvPr id="56" name="FMI Legend Chip"/>
          <p:cNvSpPr/>
          <p:nvPr/>
        </p:nvSpPr>
        <p:spPr>
          <a:xfrm>
            <a:off x="4551045" y="333851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4717732" y="333851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4855845" y="329565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France</a:t>
            </a:r>
          </a:p>
        </p:txBody>
      </p:sp>
      <p:sp>
        <p:nvSpPr>
          <p:cNvPr id="59" name="BPS Value 11"/>
          <p:cNvSpPr txBox="1"/>
          <p:nvPr/>
        </p:nvSpPr>
        <p:spPr>
          <a:xfrm>
            <a:off x="6305550" y="3295650"/>
            <a:ext cx="514350" cy="171450"/>
          </a:xfrm>
          <a:prstGeom prst="rect">
            <a:avLst/>
          </a:prstGeom>
          <a:noFill/>
        </p:spPr>
        <p:txBody>
          <a:bodyPr wrap="none" lIns="0" rIns="0" tIns="0" bIns="0" anchor="ctr">
            <a:spAutoFit/>
          </a:bodyPr>
          <a:lstStyle/>
          <a:p>
            <a:pPr algn="r"/>
            <a:r>
              <a:rPr sz="900" b="1">
                <a:solidFill>
                  <a:srgbClr val="E44D3A"/>
                </a:solidFill>
                <a:latin typeface="Calibri"/>
              </a:rPr>
              <a:t>-97</a:t>
            </a:r>
          </a:p>
        </p:txBody>
      </p:sp>
      <p:sp>
        <p:nvSpPr>
          <p:cNvPr id="60" name="FMI Legend Chip"/>
          <p:cNvSpPr/>
          <p:nvPr/>
        </p:nvSpPr>
        <p:spPr>
          <a:xfrm>
            <a:off x="4551045" y="350996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Isosceles Triangle 60"/>
          <p:cNvSpPr/>
          <p:nvPr/>
        </p:nvSpPr>
        <p:spPr>
          <a:xfrm rot="10800000">
            <a:off x="4717732" y="350996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BPS Name 12"/>
          <p:cNvSpPr txBox="1"/>
          <p:nvPr/>
        </p:nvSpPr>
        <p:spPr>
          <a:xfrm>
            <a:off x="4855845" y="3467100"/>
            <a:ext cx="1449705" cy="171450"/>
          </a:xfrm>
          <a:prstGeom prst="rect">
            <a:avLst/>
          </a:prstGeom>
          <a:noFill/>
        </p:spPr>
        <p:txBody>
          <a:bodyPr wrap="none" lIns="19050" rIns="19050" tIns="0" bIns="0" anchor="ctr">
            <a:spAutoFit/>
          </a:bodyPr>
          <a:lstStyle/>
          <a:p>
            <a:pPr algn="l"/>
            <a:r>
              <a:rPr sz="900" b="0">
                <a:solidFill>
                  <a:srgbClr val="2E2E2E"/>
                </a:solidFill>
                <a:latin typeface="Calibri"/>
              </a:rPr>
              <a:t>Germany</a:t>
            </a:r>
          </a:p>
        </p:txBody>
      </p:sp>
      <p:sp>
        <p:nvSpPr>
          <p:cNvPr id="63" name="BPS Value 12"/>
          <p:cNvSpPr txBox="1"/>
          <p:nvPr/>
        </p:nvSpPr>
        <p:spPr>
          <a:xfrm>
            <a:off x="6305550" y="3467100"/>
            <a:ext cx="514350" cy="171450"/>
          </a:xfrm>
          <a:prstGeom prst="rect">
            <a:avLst/>
          </a:prstGeom>
          <a:noFill/>
        </p:spPr>
        <p:txBody>
          <a:bodyPr wrap="none" lIns="0" rIns="0" tIns="0" bIns="0" anchor="ctr">
            <a:spAutoFit/>
          </a:bodyPr>
          <a:lstStyle/>
          <a:p>
            <a:pPr algn="r"/>
            <a:r>
              <a:rPr sz="900" b="1">
                <a:solidFill>
                  <a:srgbClr val="E44D3A"/>
                </a:solidFill>
                <a:latin typeface="Calibri"/>
              </a:rPr>
              <a:t>-186</a:t>
            </a:r>
          </a:p>
        </p:txBody>
      </p:sp>
      <p:sp>
        <p:nvSpPr>
          <p:cNvPr id="64" name="Rounded Rectangle 63"/>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66" name="Rectangle 65"/>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Germany flexible plastic packaging market is projected to register 1.1X higher value than the U.K. in 2036. Among flexible plastic packaging by country, Spain is expected to witness the highest CAGR of 8.1% over the forecast period.</a:t>
            </a:r>
          </a:p>
          <a:p>
            <a:pPr algn="l">
              <a:lnSpc>
                <a:spcPct val="110000"/>
              </a:lnSpc>
              <a:spcBef>
                <a:spcPts val="0"/>
              </a:spcBef>
              <a:spcAft>
                <a:spcPts val="500"/>
              </a:spcAft>
            </a:pPr>
            <a:r>
              <a:rPr sz="1150" b="0">
                <a:solidFill>
                  <a:srgbClr val="2E2E2E"/>
                </a:solidFill>
                <a:latin typeface="Calibri"/>
              </a:rPr>
              <a:t>In terms of value share by country, Germany is expected to dominate the market, losing 192 BPS and accounting for 17.3% share by 2036.</a:t>
            </a:r>
          </a:p>
          <a:p>
            <a:pPr algn="l">
              <a:lnSpc>
                <a:spcPct val="110000"/>
              </a:lnSpc>
              <a:spcBef>
                <a:spcPts val="0"/>
              </a:spcBef>
              <a:spcAft>
                <a:spcPts val="500"/>
              </a:spcAft>
            </a:pPr>
            <a:r>
              <a:rPr sz="1150" b="0">
                <a:solidFill>
                  <a:srgbClr val="2E2E2E"/>
                </a:solidFill>
                <a:latin typeface="Calibri"/>
              </a:rPr>
              <a:t>Spain grows fastest at 8.1% against 6.6% for Europe, adding 123 BPS of share. Its large fresh produce, fruit and meat export sector, expanding food processing and growing tourism-linked retail demand need high-barrier and modified-atmosphere flexible packs. Germany, the largest market at 17.1%, loses 186 BPS because its mature and highly recycling-regulated base grows at only 5.4%.</a:t>
            </a:r>
          </a:p>
        </p:txBody>
      </p:sp>
      <p:sp>
        <p:nvSpPr>
          <p:cNvPr id="68" name="Rounded Rectangle 67"/>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26,141</a:t>
            </a:r>
          </a:p>
        </p:txBody>
      </p:sp>
      <p:sp>
        <p:nvSpPr>
          <p:cNvPr id="69" name="Rounded Rectangle 68"/>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49,393</a:t>
            </a:r>
          </a:p>
        </p:txBody>
      </p:sp>
      <p:sp>
        <p:nvSpPr>
          <p:cNvPr id="70" name="Rounded Rectangle 69"/>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6.6%</a:t>
            </a:r>
          </a:p>
        </p:txBody>
      </p:sp>
      <p:sp>
        <p:nvSpPr>
          <p:cNvPr id="71" name="TextBox 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Share Analysis, By Country Volume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Size, By Country (Thousand MT)</a:t>
            </a:r>
          </a:p>
        </p:txBody>
      </p:sp>
      <p:graphicFrame>
        <p:nvGraphicFramePr>
          <p:cNvPr id="13" name="Table 12"/>
          <p:cNvGraphicFramePr>
            <a:graphicFrameLocks noGrp="1"/>
          </p:cNvGraphicFramePr>
          <p:nvPr/>
        </p:nvGraphicFramePr>
        <p:xfrm>
          <a:off x="152400" y="1238250"/>
          <a:ext cx="11887203" cy="3019430"/>
        </p:xfrm>
        <a:graphic>
          <a:graphicData uri="http://schemas.openxmlformats.org/drawingml/2006/table">
            <a:tbl>
              <a:tblPr>
                <a:tableStyleId>{5C22544A-7EE6-4342-B048-85BDC9FD1C3A}</a:tableStyleId>
              </a:tblPr>
              <a:tblGrid>
                <a:gridCol w="1129144"/>
                <a:gridCol w="632827"/>
                <a:gridCol w="632827"/>
                <a:gridCol w="632827"/>
                <a:gridCol w="632827"/>
                <a:gridCol w="632827"/>
                <a:gridCol w="632827"/>
                <a:gridCol w="632827"/>
                <a:gridCol w="632827"/>
                <a:gridCol w="632827"/>
                <a:gridCol w="632827"/>
                <a:gridCol w="632827"/>
                <a:gridCol w="632827"/>
                <a:gridCol w="632827"/>
                <a:gridCol w="632827"/>
                <a:gridCol w="632827"/>
                <a:gridCol w="632827"/>
                <a:gridCol w="63282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Belgium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Nordic</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Switzerland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Russia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Poland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Rest of 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Share Read-out, By Country</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Germany flexible plastic packaging market is projected to register 1.1X higher volume than the U.K. in 2036. Among flexible plastic packaging by country, Spain is expected to witness the highest CAGR of 6.9% over the forecast period.</a:t>
            </a:r>
          </a:p>
          <a:p>
            <a:pPr algn="l">
              <a:lnSpc>
                <a:spcPct val="110000"/>
              </a:lnSpc>
              <a:spcBef>
                <a:spcPts val="0"/>
              </a:spcBef>
              <a:spcAft>
                <a:spcPts val="500"/>
              </a:spcAft>
            </a:pPr>
            <a:r>
              <a:rPr sz="1150" b="0">
                <a:solidFill>
                  <a:srgbClr val="2E2E2E"/>
                </a:solidFill>
                <a:latin typeface="Calibri"/>
              </a:rPr>
              <a:t>In terms of volume share by country, Germany is expected to dominate the market, losing 182 BPS and accounting for 16.1% share by 2036.</a:t>
            </a:r>
          </a:p>
          <a:p>
            <a:pPr algn="l">
              <a:lnSpc>
                <a:spcPct val="110000"/>
              </a:lnSpc>
              <a:spcBef>
                <a:spcPts val="0"/>
              </a:spcBef>
              <a:spcAft>
                <a:spcPts val="500"/>
              </a:spcAft>
            </a:pPr>
            <a:r>
              <a:rPr sz="1150" b="0">
                <a:solidFill>
                  <a:srgbClr val="2E2E2E"/>
                </a:solidFill>
                <a:latin typeface="Calibri"/>
              </a:rPr>
              <a:t>Spain gains 141 BPS of volume share at 6.9% growth because export-oriented fresh produce, meat and processed food, retail modernisation and e-commerce add tonnage faster than elsewhere, with Italy and Poland also above the 5.2% regional rate. Germany, the largest market, concedes 172 BPS at 4.0% since saturated demand, light-weighting and recycled-content rules restrain volume.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Size, By Country (US$ Mn)</a:t>
            </a:r>
          </a:p>
        </p:txBody>
      </p:sp>
      <p:graphicFrame>
        <p:nvGraphicFramePr>
          <p:cNvPr id="13" name="Table 12"/>
          <p:cNvGraphicFramePr>
            <a:graphicFrameLocks noGrp="1"/>
          </p:cNvGraphicFramePr>
          <p:nvPr/>
        </p:nvGraphicFramePr>
        <p:xfrm>
          <a:off x="152400" y="1238250"/>
          <a:ext cx="11887203" cy="3019430"/>
        </p:xfrm>
        <a:graphic>
          <a:graphicData uri="http://schemas.openxmlformats.org/drawingml/2006/table">
            <a:tbl>
              <a:tblPr>
                <a:tableStyleId>{5C22544A-7EE6-4342-B048-85BDC9FD1C3A}</a:tableStyleId>
              </a:tblPr>
              <a:tblGrid>
                <a:gridCol w="1129144"/>
                <a:gridCol w="632827"/>
                <a:gridCol w="632827"/>
                <a:gridCol w="632827"/>
                <a:gridCol w="632827"/>
                <a:gridCol w="632827"/>
                <a:gridCol w="632827"/>
                <a:gridCol w="632827"/>
                <a:gridCol w="632827"/>
                <a:gridCol w="632827"/>
                <a:gridCol w="632827"/>
                <a:gridCol w="632827"/>
                <a:gridCol w="632827"/>
                <a:gridCol w="632827"/>
                <a:gridCol w="632827"/>
                <a:gridCol w="632827"/>
                <a:gridCol w="632827"/>
                <a:gridCol w="632827"/>
              </a:tblGrid>
              <a:tr h="215265">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Belgium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Nordic</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Switzerland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Russia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Poland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Rest of 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Share Read-out, By Country</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Germany flexible plastic packaging market is projected to register 1.1X higher value than the U.K. in 2036. Among flexible plastic packaging by country, Spain is expected to witness the highest CAGR of 8.1% over the forecast period.</a:t>
            </a:r>
          </a:p>
          <a:p>
            <a:pPr algn="l">
              <a:lnSpc>
                <a:spcPct val="110000"/>
              </a:lnSpc>
              <a:spcBef>
                <a:spcPts val="0"/>
              </a:spcBef>
              <a:spcAft>
                <a:spcPts val="500"/>
              </a:spcAft>
            </a:pPr>
            <a:r>
              <a:rPr sz="1150" b="0">
                <a:solidFill>
                  <a:srgbClr val="2E2E2E"/>
                </a:solidFill>
                <a:latin typeface="Calibri"/>
              </a:rPr>
              <a:t>In terms of value share by country, Germany is expected to dominate the market, losing 192 BPS and accounting for 17.3% share by 2036.</a:t>
            </a:r>
          </a:p>
          <a:p>
            <a:pPr algn="l">
              <a:lnSpc>
                <a:spcPct val="110000"/>
              </a:lnSpc>
              <a:spcBef>
                <a:spcPts val="0"/>
              </a:spcBef>
              <a:spcAft>
                <a:spcPts val="500"/>
              </a:spcAft>
            </a:pPr>
            <a:r>
              <a:rPr sz="1150" b="0">
                <a:solidFill>
                  <a:srgbClr val="2E2E2E"/>
                </a:solidFill>
                <a:latin typeface="Calibri"/>
              </a:rPr>
              <a:t>Spain gains 123 BPS because it grows fastest at 8.1%, supported by a large food processing and export base for produce, meat and dairy and a growing convenience and tourism-driven market. Germany loses 186 BPS and France 97 BPS because these large, mature markets grow at only 5.4% and 5.7%. Italy, Poland and the Netherlands also gain share on food manufacturing strength.</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Country (Thousand MT)</a:t>
            </a:r>
          </a:p>
        </p:txBody>
      </p:sp>
      <p:graphicFrame>
        <p:nvGraphicFramePr>
          <p:cNvPr id="13" name="Chart 12"/>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MI Dense Legend"/>
          <p:cNvSpPr txBox="1"/>
          <p:nvPr/>
        </p:nvSpPr>
        <p:spPr>
          <a:xfrm>
            <a:off x="9839325" y="1362075"/>
            <a:ext cx="2057400" cy="171450"/>
          </a:xfrm>
          <a:prstGeom prst="rect">
            <a:avLst/>
          </a:prstGeom>
          <a:noFill/>
        </p:spPr>
        <p:txBody>
          <a:bodyPr wrap="none">
            <a:spAutoFit/>
          </a:bodyPr>
          <a:lstStyle/>
          <a:p>
            <a:r>
              <a:rPr sz="850" b="1">
                <a:solidFill>
                  <a:srgbClr val="6C7A89"/>
                </a:solidFill>
                <a:latin typeface="Calibri"/>
              </a:rPr>
              <a:t>By segment</a:t>
            </a:r>
          </a:p>
        </p:txBody>
      </p:sp>
      <p:sp>
        <p:nvSpPr>
          <p:cNvPr id="16" name="FMI Dense Legend"/>
          <p:cNvSpPr txBox="1"/>
          <p:nvPr/>
        </p:nvSpPr>
        <p:spPr>
          <a:xfrm>
            <a:off x="9839325" y="1533525"/>
            <a:ext cx="2057400" cy="2047875"/>
          </a:xfrm>
          <a:prstGeom prst="rect">
            <a:avLst/>
          </a:prstGeom>
          <a:noFill/>
        </p:spPr>
        <p:txBody>
          <a:bodyPr wrap="square">
            <a:spAutoFit/>
          </a:bodyPr>
          <a:lstStyle/>
          <a:p>
            <a:pPr>
              <a:spcBef>
                <a:spcPts val="220"/>
              </a:spcBef>
            </a:pPr>
            <a:r>
              <a:rPr sz="750">
                <a:solidFill>
                  <a:srgbClr val="3D85C6"/>
                </a:solidFill>
                <a:latin typeface="Calibri"/>
              </a:rPr>
              <a:t>■  </a:t>
            </a:r>
            <a:r>
              <a:rPr sz="680">
                <a:solidFill>
                  <a:srgbClr val="2E2E2E"/>
                </a:solidFill>
                <a:latin typeface="Calibri"/>
              </a:rPr>
              <a:t>   Germany</a:t>
            </a:r>
          </a:p>
          <a:p>
            <a:pPr>
              <a:spcBef>
                <a:spcPts val="220"/>
              </a:spcBef>
            </a:pPr>
            <a:r>
              <a:rPr sz="750">
                <a:solidFill>
                  <a:srgbClr val="9E7E0A"/>
                </a:solidFill>
                <a:latin typeface="Calibri"/>
              </a:rPr>
              <a:t>■  </a:t>
            </a:r>
            <a:r>
              <a:rPr sz="680">
                <a:solidFill>
                  <a:srgbClr val="2E2E2E"/>
                </a:solidFill>
                <a:latin typeface="Calibri"/>
              </a:rPr>
              <a:t>   U.K.</a:t>
            </a:r>
          </a:p>
          <a:p>
            <a:pPr>
              <a:spcBef>
                <a:spcPts val="220"/>
              </a:spcBef>
            </a:pPr>
            <a:r>
              <a:rPr sz="750">
                <a:solidFill>
                  <a:srgbClr val="40315E"/>
                </a:solidFill>
                <a:latin typeface="Calibri"/>
              </a:rPr>
              <a:t>■  </a:t>
            </a:r>
            <a:r>
              <a:rPr sz="680">
                <a:solidFill>
                  <a:srgbClr val="2E2E2E"/>
                </a:solidFill>
                <a:latin typeface="Calibri"/>
              </a:rPr>
              <a:t>   Rest of Europe</a:t>
            </a:r>
          </a:p>
          <a:p>
            <a:pPr>
              <a:spcBef>
                <a:spcPts val="220"/>
              </a:spcBef>
            </a:pPr>
            <a:r>
              <a:rPr sz="750">
                <a:solidFill>
                  <a:srgbClr val="008189"/>
                </a:solidFill>
                <a:latin typeface="Calibri"/>
              </a:rPr>
              <a:t>■  </a:t>
            </a:r>
            <a:r>
              <a:rPr sz="680">
                <a:solidFill>
                  <a:srgbClr val="2E2E2E"/>
                </a:solidFill>
                <a:latin typeface="Calibri"/>
              </a:rPr>
              <a:t>   France</a:t>
            </a:r>
          </a:p>
          <a:p>
            <a:pPr>
              <a:spcBef>
                <a:spcPts val="220"/>
              </a:spcBef>
            </a:pPr>
            <a:r>
              <a:rPr sz="750">
                <a:solidFill>
                  <a:srgbClr val="A35313"/>
                </a:solidFill>
                <a:latin typeface="Calibri"/>
              </a:rPr>
              <a:t>■  </a:t>
            </a:r>
            <a:r>
              <a:rPr sz="680">
                <a:solidFill>
                  <a:srgbClr val="2E2E2E"/>
                </a:solidFill>
                <a:latin typeface="Calibri"/>
              </a:rPr>
              <a:t>   Italy</a:t>
            </a:r>
          </a:p>
          <a:p>
            <a:pPr>
              <a:spcBef>
                <a:spcPts val="220"/>
              </a:spcBef>
            </a:pPr>
            <a:r>
              <a:rPr sz="750">
                <a:solidFill>
                  <a:srgbClr val="0E72AE"/>
                </a:solidFill>
                <a:latin typeface="Calibri"/>
              </a:rPr>
              <a:t>■  </a:t>
            </a:r>
            <a:r>
              <a:rPr sz="680">
                <a:solidFill>
                  <a:srgbClr val="2E2E2E"/>
                </a:solidFill>
                <a:latin typeface="Calibri"/>
              </a:rPr>
              <a:t>   Spain</a:t>
            </a:r>
          </a:p>
          <a:p>
            <a:pPr>
              <a:spcBef>
                <a:spcPts val="220"/>
              </a:spcBef>
            </a:pPr>
            <a:r>
              <a:rPr sz="750">
                <a:solidFill>
                  <a:srgbClr val="808080"/>
                </a:solidFill>
                <a:latin typeface="Calibri"/>
              </a:rPr>
              <a:t>■  </a:t>
            </a:r>
            <a:r>
              <a:rPr sz="680">
                <a:solidFill>
                  <a:srgbClr val="2E2E2E"/>
                </a:solidFill>
                <a:latin typeface="Calibri"/>
              </a:rPr>
              <a:t>   Russia</a:t>
            </a:r>
          </a:p>
          <a:p>
            <a:pPr>
              <a:spcBef>
                <a:spcPts val="220"/>
              </a:spcBef>
            </a:pPr>
            <a:r>
              <a:rPr sz="750">
                <a:solidFill>
                  <a:srgbClr val="0B2E4A"/>
                </a:solidFill>
                <a:latin typeface="Calibri"/>
              </a:rPr>
              <a:t>■  </a:t>
            </a:r>
            <a:r>
              <a:rPr sz="680">
                <a:solidFill>
                  <a:srgbClr val="2E2E2E"/>
                </a:solidFill>
                <a:latin typeface="Calibri"/>
              </a:rPr>
              <a:t>   Poland</a:t>
            </a:r>
          </a:p>
          <a:p>
            <a:pPr>
              <a:spcBef>
                <a:spcPts val="220"/>
              </a:spcBef>
            </a:pPr>
            <a:r>
              <a:rPr sz="750">
                <a:solidFill>
                  <a:srgbClr val="A86F00"/>
                </a:solidFill>
                <a:latin typeface="Calibri"/>
              </a:rPr>
              <a:t>■  </a:t>
            </a:r>
            <a:r>
              <a:rPr sz="680">
                <a:solidFill>
                  <a:srgbClr val="2E2E2E"/>
                </a:solidFill>
                <a:latin typeface="Calibri"/>
              </a:rPr>
              <a:t>   Nordic</a:t>
            </a:r>
          </a:p>
          <a:p>
            <a:pPr>
              <a:spcBef>
                <a:spcPts val="220"/>
              </a:spcBef>
            </a:pPr>
            <a:r>
              <a:rPr sz="750">
                <a:solidFill>
                  <a:srgbClr val="6C7A89"/>
                </a:solidFill>
                <a:latin typeface="Calibri"/>
              </a:rPr>
              <a:t>■  </a:t>
            </a:r>
            <a:r>
              <a:rPr sz="680">
                <a:solidFill>
                  <a:srgbClr val="2E2E2E"/>
                </a:solidFill>
                <a:latin typeface="Calibri"/>
              </a:rPr>
              <a:t>   Netherlands</a:t>
            </a:r>
          </a:p>
          <a:p>
            <a:pPr>
              <a:spcBef>
                <a:spcPts val="220"/>
              </a:spcBef>
            </a:pPr>
            <a:r>
              <a:rPr sz="750">
                <a:solidFill>
                  <a:srgbClr val="B2B2B2"/>
                </a:solidFill>
                <a:latin typeface="Calibri"/>
              </a:rPr>
              <a:t>■  </a:t>
            </a:r>
            <a:r>
              <a:rPr sz="680">
                <a:solidFill>
                  <a:srgbClr val="2E2E2E"/>
                </a:solidFill>
                <a:latin typeface="Calibri"/>
              </a:rPr>
              <a:t>   Belgium</a:t>
            </a:r>
          </a:p>
          <a:p>
            <a:pPr>
              <a:spcBef>
                <a:spcPts val="220"/>
              </a:spcBef>
            </a:pPr>
            <a:r>
              <a:rPr sz="750">
                <a:solidFill>
                  <a:srgbClr val="5F5F5F"/>
                </a:solidFill>
                <a:latin typeface="Calibri"/>
              </a:rPr>
              <a:t>■  </a:t>
            </a:r>
            <a:r>
              <a:rPr sz="680">
                <a:solidFill>
                  <a:srgbClr val="2E2E2E"/>
                </a:solidFill>
                <a:latin typeface="Calibri"/>
              </a:rPr>
              <a:t>   Switzerland</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Country (US$ Mn)</a:t>
            </a:r>
          </a:p>
        </p:txBody>
      </p:sp>
      <p:graphicFrame>
        <p:nvGraphicFramePr>
          <p:cNvPr id="19" name="Chart 18"/>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20" name="Rounded Rectangle 19"/>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MI Dense Legend"/>
          <p:cNvSpPr txBox="1"/>
          <p:nvPr/>
        </p:nvSpPr>
        <p:spPr>
          <a:xfrm>
            <a:off x="9839325" y="4248150"/>
            <a:ext cx="2057400" cy="171450"/>
          </a:xfrm>
          <a:prstGeom prst="rect">
            <a:avLst/>
          </a:prstGeom>
          <a:noFill/>
        </p:spPr>
        <p:txBody>
          <a:bodyPr wrap="none">
            <a:spAutoFit/>
          </a:bodyPr>
          <a:lstStyle/>
          <a:p>
            <a:r>
              <a:rPr sz="850" b="1">
                <a:solidFill>
                  <a:srgbClr val="6C7A89"/>
                </a:solidFill>
                <a:latin typeface="Calibri"/>
              </a:rPr>
              <a:t>By segment</a:t>
            </a:r>
          </a:p>
        </p:txBody>
      </p:sp>
      <p:sp>
        <p:nvSpPr>
          <p:cNvPr id="22" name="FMI Dense Legend"/>
          <p:cNvSpPr txBox="1"/>
          <p:nvPr/>
        </p:nvSpPr>
        <p:spPr>
          <a:xfrm>
            <a:off x="9839325" y="4419600"/>
            <a:ext cx="2057400" cy="2047875"/>
          </a:xfrm>
          <a:prstGeom prst="rect">
            <a:avLst/>
          </a:prstGeom>
          <a:noFill/>
        </p:spPr>
        <p:txBody>
          <a:bodyPr wrap="square">
            <a:spAutoFit/>
          </a:bodyPr>
          <a:lstStyle/>
          <a:p>
            <a:pPr>
              <a:spcBef>
                <a:spcPts val="220"/>
              </a:spcBef>
            </a:pPr>
            <a:r>
              <a:rPr sz="750">
                <a:solidFill>
                  <a:srgbClr val="3D85C6"/>
                </a:solidFill>
                <a:latin typeface="Calibri"/>
              </a:rPr>
              <a:t>■  </a:t>
            </a:r>
            <a:r>
              <a:rPr sz="680">
                <a:solidFill>
                  <a:srgbClr val="2E2E2E"/>
                </a:solidFill>
                <a:latin typeface="Calibri"/>
              </a:rPr>
              <a:t>   Germany</a:t>
            </a:r>
          </a:p>
          <a:p>
            <a:pPr>
              <a:spcBef>
                <a:spcPts val="220"/>
              </a:spcBef>
            </a:pPr>
            <a:r>
              <a:rPr sz="750">
                <a:solidFill>
                  <a:srgbClr val="9E7E0A"/>
                </a:solidFill>
                <a:latin typeface="Calibri"/>
              </a:rPr>
              <a:t>■  </a:t>
            </a:r>
            <a:r>
              <a:rPr sz="680">
                <a:solidFill>
                  <a:srgbClr val="2E2E2E"/>
                </a:solidFill>
                <a:latin typeface="Calibri"/>
              </a:rPr>
              <a:t>   U.K.</a:t>
            </a:r>
          </a:p>
          <a:p>
            <a:pPr>
              <a:spcBef>
                <a:spcPts val="220"/>
              </a:spcBef>
            </a:pPr>
            <a:r>
              <a:rPr sz="750">
                <a:solidFill>
                  <a:srgbClr val="40315E"/>
                </a:solidFill>
                <a:latin typeface="Calibri"/>
              </a:rPr>
              <a:t>■  </a:t>
            </a:r>
            <a:r>
              <a:rPr sz="680">
                <a:solidFill>
                  <a:srgbClr val="2E2E2E"/>
                </a:solidFill>
                <a:latin typeface="Calibri"/>
              </a:rPr>
              <a:t>   Rest of Europe</a:t>
            </a:r>
          </a:p>
          <a:p>
            <a:pPr>
              <a:spcBef>
                <a:spcPts val="220"/>
              </a:spcBef>
            </a:pPr>
            <a:r>
              <a:rPr sz="750">
                <a:solidFill>
                  <a:srgbClr val="008189"/>
                </a:solidFill>
                <a:latin typeface="Calibri"/>
              </a:rPr>
              <a:t>■  </a:t>
            </a:r>
            <a:r>
              <a:rPr sz="680">
                <a:solidFill>
                  <a:srgbClr val="2E2E2E"/>
                </a:solidFill>
                <a:latin typeface="Calibri"/>
              </a:rPr>
              <a:t>   France</a:t>
            </a:r>
          </a:p>
          <a:p>
            <a:pPr>
              <a:spcBef>
                <a:spcPts val="220"/>
              </a:spcBef>
            </a:pPr>
            <a:r>
              <a:rPr sz="750">
                <a:solidFill>
                  <a:srgbClr val="A35313"/>
                </a:solidFill>
                <a:latin typeface="Calibri"/>
              </a:rPr>
              <a:t>■  </a:t>
            </a:r>
            <a:r>
              <a:rPr sz="680">
                <a:solidFill>
                  <a:srgbClr val="2E2E2E"/>
                </a:solidFill>
                <a:latin typeface="Calibri"/>
              </a:rPr>
              <a:t>   Italy</a:t>
            </a:r>
          </a:p>
          <a:p>
            <a:pPr>
              <a:spcBef>
                <a:spcPts val="220"/>
              </a:spcBef>
            </a:pPr>
            <a:r>
              <a:rPr sz="750">
                <a:solidFill>
                  <a:srgbClr val="808080"/>
                </a:solidFill>
                <a:latin typeface="Calibri"/>
              </a:rPr>
              <a:t>■  </a:t>
            </a:r>
            <a:r>
              <a:rPr sz="680">
                <a:solidFill>
                  <a:srgbClr val="2E2E2E"/>
                </a:solidFill>
                <a:latin typeface="Calibri"/>
              </a:rPr>
              <a:t>   Spain</a:t>
            </a:r>
          </a:p>
          <a:p>
            <a:pPr>
              <a:spcBef>
                <a:spcPts val="220"/>
              </a:spcBef>
            </a:pPr>
            <a:r>
              <a:rPr sz="750">
                <a:solidFill>
                  <a:srgbClr val="A86F00"/>
                </a:solidFill>
                <a:latin typeface="Calibri"/>
              </a:rPr>
              <a:t>■  </a:t>
            </a:r>
            <a:r>
              <a:rPr sz="680">
                <a:solidFill>
                  <a:srgbClr val="2E2E2E"/>
                </a:solidFill>
                <a:latin typeface="Calibri"/>
              </a:rPr>
              <a:t>   Nordic</a:t>
            </a:r>
          </a:p>
          <a:p>
            <a:pPr>
              <a:spcBef>
                <a:spcPts val="220"/>
              </a:spcBef>
            </a:pPr>
            <a:r>
              <a:rPr sz="750">
                <a:solidFill>
                  <a:srgbClr val="0E72AE"/>
                </a:solidFill>
                <a:latin typeface="Calibri"/>
              </a:rPr>
              <a:t>■  </a:t>
            </a:r>
            <a:r>
              <a:rPr sz="680">
                <a:solidFill>
                  <a:srgbClr val="2E2E2E"/>
                </a:solidFill>
                <a:latin typeface="Calibri"/>
              </a:rPr>
              <a:t>   Russia</a:t>
            </a:r>
          </a:p>
          <a:p>
            <a:pPr>
              <a:spcBef>
                <a:spcPts val="220"/>
              </a:spcBef>
            </a:pPr>
            <a:r>
              <a:rPr sz="750">
                <a:solidFill>
                  <a:srgbClr val="0B2E4A"/>
                </a:solidFill>
                <a:latin typeface="Calibri"/>
              </a:rPr>
              <a:t>■  </a:t>
            </a:r>
            <a:r>
              <a:rPr sz="680">
                <a:solidFill>
                  <a:srgbClr val="2E2E2E"/>
                </a:solidFill>
                <a:latin typeface="Calibri"/>
              </a:rPr>
              <a:t>   Poland</a:t>
            </a:r>
          </a:p>
          <a:p>
            <a:pPr>
              <a:spcBef>
                <a:spcPts val="220"/>
              </a:spcBef>
            </a:pPr>
            <a:r>
              <a:rPr sz="750">
                <a:solidFill>
                  <a:srgbClr val="6C7A89"/>
                </a:solidFill>
                <a:latin typeface="Calibri"/>
              </a:rPr>
              <a:t>■  </a:t>
            </a:r>
            <a:r>
              <a:rPr sz="680">
                <a:solidFill>
                  <a:srgbClr val="2E2E2E"/>
                </a:solidFill>
                <a:latin typeface="Calibri"/>
              </a:rPr>
              <a:t>   Netherlands</a:t>
            </a:r>
          </a:p>
          <a:p>
            <a:pPr>
              <a:spcBef>
                <a:spcPts val="220"/>
              </a:spcBef>
            </a:pPr>
            <a:r>
              <a:rPr sz="750">
                <a:solidFill>
                  <a:srgbClr val="B2B2B2"/>
                </a:solidFill>
                <a:latin typeface="Calibri"/>
              </a:rPr>
              <a:t>■  </a:t>
            </a:r>
            <a:r>
              <a:rPr sz="680">
                <a:solidFill>
                  <a:srgbClr val="2E2E2E"/>
                </a:solidFill>
                <a:latin typeface="Calibri"/>
              </a:rPr>
              <a:t>   Belgium</a:t>
            </a:r>
          </a:p>
          <a:p>
            <a:pPr>
              <a:spcBef>
                <a:spcPts val="220"/>
              </a:spcBef>
            </a:pPr>
            <a:r>
              <a:rPr sz="750">
                <a:solidFill>
                  <a:srgbClr val="5F5F5F"/>
                </a:solidFill>
                <a:latin typeface="Calibri"/>
              </a:rPr>
              <a:t>■  </a:t>
            </a:r>
            <a:r>
              <a:rPr sz="680">
                <a:solidFill>
                  <a:srgbClr val="2E2E2E"/>
                </a:solidFill>
                <a:latin typeface="Calibri"/>
              </a:rPr>
              <a:t>   Switzerland</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Europe market in 2036, highlighting the leading countries within each region by value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market by country  ·  2036 (US$ Mn)  ·  tile size = market value</a:t>
            </a:r>
          </a:p>
        </p:txBody>
      </p:sp>
      <p:sp>
        <p:nvSpPr>
          <p:cNvPr id="13" name="Rectangle 12"/>
          <p:cNvSpPr/>
          <p:nvPr/>
        </p:nvSpPr>
        <p:spPr>
          <a:xfrm>
            <a:off x="238125" y="1266825"/>
            <a:ext cx="3970736" cy="2782340"/>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7,547</a:t>
            </a:r>
          </a:p>
        </p:txBody>
      </p:sp>
      <p:sp>
        <p:nvSpPr>
          <p:cNvPr id="14" name="Rectangle 13"/>
          <p:cNvSpPr/>
          <p:nvPr/>
        </p:nvSpPr>
        <p:spPr>
          <a:xfrm>
            <a:off x="238125" y="4049165"/>
            <a:ext cx="3970736" cy="252308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6,843</a:t>
            </a:r>
          </a:p>
        </p:txBody>
      </p:sp>
      <p:sp>
        <p:nvSpPr>
          <p:cNvPr id="15" name="Rectangle 14"/>
          <p:cNvSpPr/>
          <p:nvPr/>
        </p:nvSpPr>
        <p:spPr>
          <a:xfrm>
            <a:off x="4208861" y="1266825"/>
            <a:ext cx="3028518" cy="2803561"/>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5,800</a:t>
            </a:r>
          </a:p>
        </p:txBody>
      </p:sp>
      <p:sp>
        <p:nvSpPr>
          <p:cNvPr id="16" name="Rectangle 15"/>
          <p:cNvSpPr/>
          <p:nvPr/>
        </p:nvSpPr>
        <p:spPr>
          <a:xfrm>
            <a:off x="4208861" y="4070386"/>
            <a:ext cx="3028518" cy="2501864"/>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Italy</a:t>
            </a:r>
          </a:p>
          <a:p>
            <a:pPr algn="ctr"/>
            <a:r>
              <a:rPr sz="1100" b="0">
                <a:solidFill>
                  <a:srgbClr val="FFFFFF"/>
                </a:solidFill>
                <a:latin typeface="Calibri"/>
              </a:rPr>
              <a:t>5,176</a:t>
            </a:r>
          </a:p>
        </p:txBody>
      </p:sp>
      <p:sp>
        <p:nvSpPr>
          <p:cNvPr id="17" name="Rectangle 16"/>
          <p:cNvSpPr/>
          <p:nvPr/>
        </p:nvSpPr>
        <p:spPr>
          <a:xfrm>
            <a:off x="7237379" y="1266825"/>
            <a:ext cx="2752826" cy="2399159"/>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Spain</a:t>
            </a:r>
          </a:p>
          <a:p>
            <a:pPr algn="ctr"/>
            <a:r>
              <a:rPr sz="1100" b="0">
                <a:solidFill>
                  <a:srgbClr val="FFFFFF"/>
                </a:solidFill>
                <a:latin typeface="Calibri"/>
              </a:rPr>
              <a:t>4,511</a:t>
            </a:r>
          </a:p>
        </p:txBody>
      </p:sp>
      <p:sp>
        <p:nvSpPr>
          <p:cNvPr id="18" name="Rectangle 17"/>
          <p:cNvSpPr/>
          <p:nvPr/>
        </p:nvSpPr>
        <p:spPr>
          <a:xfrm>
            <a:off x="9990205" y="1266825"/>
            <a:ext cx="1963670" cy="2399159"/>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Nordic</a:t>
            </a:r>
          </a:p>
          <a:p>
            <a:pPr algn="ctr"/>
            <a:r>
              <a:rPr sz="1100" b="0">
                <a:solidFill>
                  <a:srgbClr val="FFFFFF"/>
                </a:solidFill>
                <a:latin typeface="Calibri"/>
              </a:rPr>
              <a:t>3,218</a:t>
            </a:r>
          </a:p>
        </p:txBody>
      </p:sp>
      <p:sp>
        <p:nvSpPr>
          <p:cNvPr id="19" name="Rectangle 18"/>
          <p:cNvSpPr/>
          <p:nvPr/>
        </p:nvSpPr>
        <p:spPr>
          <a:xfrm>
            <a:off x="7237379" y="3665984"/>
            <a:ext cx="1617919" cy="2906266"/>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Russia</a:t>
            </a:r>
          </a:p>
          <a:p>
            <a:pPr algn="ctr"/>
            <a:r>
              <a:rPr sz="1100" b="0">
                <a:solidFill>
                  <a:srgbClr val="FFFFFF"/>
                </a:solidFill>
                <a:latin typeface="Calibri"/>
              </a:rPr>
              <a:t>3,212</a:t>
            </a:r>
          </a:p>
        </p:txBody>
      </p:sp>
      <p:sp>
        <p:nvSpPr>
          <p:cNvPr id="20" name="Rectangle 19"/>
          <p:cNvSpPr/>
          <p:nvPr/>
        </p:nvSpPr>
        <p:spPr>
          <a:xfrm>
            <a:off x="8855298" y="3665984"/>
            <a:ext cx="2450370" cy="1543797"/>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Poland</a:t>
            </a:r>
          </a:p>
          <a:p>
            <a:pPr algn="ctr"/>
            <a:r>
              <a:rPr sz="1100" b="0">
                <a:solidFill>
                  <a:srgbClr val="FFFFFF"/>
                </a:solidFill>
                <a:latin typeface="Calibri"/>
              </a:rPr>
              <a:t>2,584</a:t>
            </a:r>
          </a:p>
        </p:txBody>
      </p:sp>
      <p:sp>
        <p:nvSpPr>
          <p:cNvPr id="21" name="Rectangle 20"/>
          <p:cNvSpPr/>
          <p:nvPr/>
        </p:nvSpPr>
        <p:spPr>
          <a:xfrm>
            <a:off x="8855298" y="5209781"/>
            <a:ext cx="2450370" cy="1362469"/>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Netherlands</a:t>
            </a:r>
          </a:p>
          <a:p>
            <a:pPr algn="ctr"/>
            <a:r>
              <a:rPr sz="1100" b="0">
                <a:solidFill>
                  <a:srgbClr val="FFFFFF"/>
                </a:solidFill>
                <a:latin typeface="Calibri"/>
              </a:rPr>
              <a:t>2,280</a:t>
            </a:r>
          </a:p>
        </p:txBody>
      </p:sp>
      <p:sp>
        <p:nvSpPr>
          <p:cNvPr id="22" name="Rectangle 21"/>
          <p:cNvSpPr/>
          <p:nvPr/>
        </p:nvSpPr>
        <p:spPr>
          <a:xfrm>
            <a:off x="11305668" y="3665984"/>
            <a:ext cx="648207" cy="2906266"/>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Belgium</a:t>
            </a:r>
          </a:p>
          <a:p>
            <a:pPr algn="ctr"/>
            <a:r>
              <a:rPr sz="1100" b="0">
                <a:solidFill>
                  <a:srgbClr val="FFFFFF"/>
                </a:solidFill>
                <a:latin typeface="Calibri"/>
              </a:rPr>
              <a:t>1,287</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Europe Market Analysis By Segments</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Product Type,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Rollstock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14,047</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26,557</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6.6%</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Premade Pouches &amp; Bags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7,380</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14,123</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6.7%</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Barrier Casings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2,876</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5,335</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6.4%</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Sachets &amp; Stick Packs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1,838</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3,379</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6.3%</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product type, premade pouches &amp; bags segment is expected to witness the highest CAGR of 6.7% over the forecast period. In terms of value share by product type, the rollstock films segment is expected to dominate the market, maintaining its share and accounting for 53.8%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Rollstock films segment is projected to register 1.9X higher value than premade pouches &amp; bags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Rollstock Films: </a:t>
            </a:r>
            <a:r>
              <a:rPr sz="1100" b="0">
                <a:solidFill>
                  <a:srgbClr val="2E2E2E"/>
                </a:solidFill>
                <a:latin typeface="Calibri"/>
              </a:rPr>
              <a:t>54% of 2026 value · 6.6%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Premade Pouches &amp; Bags: </a:t>
            </a:r>
            <a:r>
              <a:rPr sz="1100" b="0">
                <a:solidFill>
                  <a:srgbClr val="2E2E2E"/>
                </a:solidFill>
                <a:latin typeface="Calibri"/>
              </a:rPr>
              <a:t>28% of 2026 value · 6.7%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Barrier Casings: </a:t>
            </a:r>
            <a:r>
              <a:rPr sz="1100" b="0">
                <a:solidFill>
                  <a:srgbClr val="2E2E2E"/>
                </a:solidFill>
                <a:latin typeface="Calibri"/>
              </a:rPr>
              <a:t>11% of 2026 value · 6.4%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Sachets &amp; Stick Packs: </a:t>
            </a:r>
            <a:r>
              <a:rPr sz="1100" b="0">
                <a:solidFill>
                  <a:srgbClr val="2E2E2E"/>
                </a:solidFill>
                <a:latin typeface="Calibri"/>
              </a:rPr>
              <a:t>7% of 2026 value · 6.3%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Product Type segment is projected to grow at a CAGR of 6.6%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Rollstock films followed by premade pouches &amp; bags are expected to be the two most attractive product type segments in the Europe flexible plastic packaging market in terms of value over the forecast period. Rollstock films and premade pouches &amp; bags exhibit a CAGR index of 100 and 102 and a market share index of 215 and 113 respectively, against the segment average of 100. The sachets &amp; stick packs segment is expected to be less attractive as compared to other segments over the forecast period, owing to its lower CAGR and incremental opportunity. Rollstock Films and Premade Pouches &amp; Bags rank as the most attractive because they pair scale with growth. Rollstock feeds the high-speed form-fill-seal lines used across food, so its scale turns average growth into the largest absolute gain, with 53.7% of 2026 value growing at 6.6%. For Premade Pouches &amp; Bags, pouch demand rises with convenience, resealability and e-commerce, at 28.2% share and 6.7% CAGR.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Rollstock Films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Barrier Casings</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Premade Pouches &amp; Bags</a:t>
            </a:r>
          </a:p>
        </p:txBody>
      </p:sp>
      <p:graphicFrame>
        <p:nvGraphicFramePr>
          <p:cNvPr id="19" name="Chart 18"/>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Sachets &amp; Stick Packs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Volume Analysis, By Product Type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Product Type (Thousand MT)</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Volume Analysis, By Product Type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Product Type (Thousand MT)</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1.7X higher volume than premade pouches &amp; bags segment in 2036. Among flexible plastic packaging by product type, premade pouches &amp; bags segment is expected to witness the highest CAGR of 5.3% over the forecast period.</a:t>
            </a:r>
          </a:p>
          <a:p>
            <a:pPr algn="l">
              <a:lnSpc>
                <a:spcPct val="110000"/>
              </a:lnSpc>
              <a:spcBef>
                <a:spcPts val="0"/>
              </a:spcBef>
              <a:spcAft>
                <a:spcPts val="500"/>
              </a:spcAft>
            </a:pPr>
            <a:r>
              <a:rPr sz="1150" b="0">
                <a:solidFill>
                  <a:srgbClr val="2E2E2E"/>
                </a:solidFill>
                <a:latin typeface="Calibri"/>
              </a:rPr>
              <a:t>In terms of volume share by product type, the rollstock films segment is expected to dominate the market, maintaining its share and accounting for 53.6% share by 2036. The sachets &amp; stick packs segment is expected to lose 20 BPS over the forecast period to account for 7.9% share by 2036.</a:t>
            </a:r>
          </a:p>
          <a:p>
            <a:pPr algn="l">
              <a:lnSpc>
                <a:spcPct val="110000"/>
              </a:lnSpc>
              <a:spcBef>
                <a:spcPts val="0"/>
              </a:spcBef>
              <a:spcAft>
                <a:spcPts val="500"/>
              </a:spcAft>
            </a:pPr>
            <a:r>
              <a:rPr sz="1150" b="0">
                <a:solidFill>
                  <a:srgbClr val="2E2E2E"/>
                </a:solidFill>
                <a:latin typeface="Calibri"/>
              </a:rPr>
              <a:t>Premade Pouches &amp; Bags gain 25 BPS of volume share because stand-up and resealable formats suit e-commerce, convenience retail and portion-controlled food, backed by EPR schemes, recyclability regulation and demanding retailer packaging standards. Sachets &amp; Stick Packs lose 20 BPS at 5.0% growth as single-serve formats are niche and largely mature, so the 5.2% market rate runs ahead of them.</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Product Type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914775"/>
          </a:xfrm>
          <a:prstGeom prst="roundRect">
            <a:avLst>
              <a:gd name="adj" fmla="val 19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Product Type (US$ Mn)</a:t>
            </a:r>
          </a:p>
        </p:txBody>
      </p:sp>
      <p:graphicFrame>
        <p:nvGraphicFramePr>
          <p:cNvPr id="13" name="Table 12"/>
          <p:cNvGraphicFramePr>
            <a:graphicFrameLocks noGrp="1"/>
          </p:cNvGraphicFramePr>
          <p:nvPr/>
        </p:nvGraphicFramePr>
        <p:xfrm>
          <a:off x="152400" y="1238250"/>
          <a:ext cx="11887205" cy="3448050"/>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19">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519">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519">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6958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Product Type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Product Type (US$ Mn)</a:t>
            </a:r>
          </a:p>
        </p:txBody>
      </p:sp>
      <p:graphicFrame>
        <p:nvGraphicFramePr>
          <p:cNvPr id="12" name="Table 11"/>
          <p:cNvGraphicFramePr>
            <a:graphicFrameLocks noGrp="1"/>
          </p:cNvGraphicFramePr>
          <p:nvPr/>
        </p:nvGraphicFramePr>
        <p:xfrm>
          <a:off x="152400" y="1238250"/>
          <a:ext cx="11887207" cy="1514475"/>
        </p:xfrm>
        <a:graphic>
          <a:graphicData uri="http://schemas.openxmlformats.org/drawingml/2006/table">
            <a:tbl>
              <a:tblPr>
                <a:tableStyleId>{5C22544A-7EE6-4342-B048-85BDC9FD1C3A}</a:tableStyleId>
              </a:tblPr>
              <a:tblGrid>
                <a:gridCol w="1522732"/>
                <a:gridCol w="609675"/>
                <a:gridCol w="609675"/>
                <a:gridCol w="609675"/>
                <a:gridCol w="609675"/>
                <a:gridCol w="609675"/>
                <a:gridCol w="609675"/>
                <a:gridCol w="609675"/>
                <a:gridCol w="609675"/>
                <a:gridCol w="609675"/>
                <a:gridCol w="609675"/>
                <a:gridCol w="609675"/>
                <a:gridCol w="609675"/>
                <a:gridCol w="609675"/>
                <a:gridCol w="609675"/>
                <a:gridCol w="609675"/>
                <a:gridCol w="609675"/>
                <a:gridCol w="609675"/>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Flat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Retort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Sachets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Stick Packs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Product Type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Rollstock films segment is projected to register 1.9X higher value than premade pouches &amp; bags segment in 2036. Among flexible plastic packaging by product type, premade pouches &amp; bags segment is expected to witness the highest CAGR of 6.7% over the forecast period.</a:t>
            </a:r>
          </a:p>
          <a:p>
            <a:pPr algn="l">
              <a:lnSpc>
                <a:spcPct val="110000"/>
              </a:lnSpc>
              <a:spcBef>
                <a:spcPts val="0"/>
              </a:spcBef>
              <a:spcAft>
                <a:spcPts val="500"/>
              </a:spcAft>
            </a:pPr>
            <a:r>
              <a:rPr sz="1150" b="0">
                <a:solidFill>
                  <a:srgbClr val="2E2E2E"/>
                </a:solidFill>
                <a:latin typeface="Calibri"/>
              </a:rPr>
              <a:t>In terms of value share by product type, the rollstock films segment is expected to dominate the market, maintaining its share and accounting for 53.8% share by 2036. The barrier casings segment is expected to lose 20 BPS over the forecast period to account for 10.8% share by 2036.</a:t>
            </a:r>
          </a:p>
          <a:p>
            <a:pPr algn="l">
              <a:lnSpc>
                <a:spcPct val="110000"/>
              </a:lnSpc>
              <a:spcBef>
                <a:spcPts val="0"/>
              </a:spcBef>
              <a:spcAft>
                <a:spcPts val="500"/>
              </a:spcAft>
            </a:pPr>
            <a:r>
              <a:rPr sz="1150" b="0">
                <a:solidFill>
                  <a:srgbClr val="2E2E2E"/>
                </a:solidFill>
                <a:latin typeface="Calibri"/>
              </a:rPr>
              <a:t>Premade Pouches &amp; Bags gain 36 BPS as retailers and brand owners switch rigid formats to stand-up pouches for ready meals, pet food, baby food and e-commerce, which also supports the packaging reduction goals of regulation in Europe. Barrier Casings lose 20 BPS and Sachets &amp; Stick Packs lose 19 BPS as processed meat and single-serve categories mature, leaving them at 6.4% and 6.3% growth.</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Product Type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2763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2287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4667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Sachets &amp; Stick Packs</a:t>
            </a:r>
          </a:p>
        </p:txBody>
      </p:sp>
      <p:sp>
        <p:nvSpPr>
          <p:cNvPr id="19" name="BPS Value 1"/>
          <p:cNvSpPr txBox="1"/>
          <p:nvPr/>
        </p:nvSpPr>
        <p:spPr>
          <a:xfrm>
            <a:off x="6896100" y="1808584"/>
            <a:ext cx="514350" cy="123825"/>
          </a:xfrm>
          <a:prstGeom prst="rect">
            <a:avLst/>
          </a:prstGeom>
          <a:noFill/>
        </p:spPr>
        <p:txBody>
          <a:bodyPr wrap="none" lIns="0" rIns="0" tIns="0" bIns="0" anchor="ctr">
            <a:spAutoFit/>
          </a:bodyPr>
          <a:lstStyle/>
          <a:p>
            <a:pPr algn="r"/>
            <a:r>
              <a:rPr sz="900" b="1">
                <a:solidFill>
                  <a:srgbClr val="E44D3A"/>
                </a:solidFill>
                <a:latin typeface="Calibri"/>
              </a:rPr>
              <a:t>-19</a:t>
            </a:r>
          </a:p>
        </p:txBody>
      </p:sp>
      <p:sp>
        <p:nvSpPr>
          <p:cNvPr id="20" name="FMI Legend Chip"/>
          <p:cNvSpPr/>
          <p:nvPr/>
        </p:nvSpPr>
        <p:spPr>
          <a:xfrm>
            <a:off x="4928997" y="223096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22620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15000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Barrier Casings</a:t>
            </a:r>
          </a:p>
        </p:txBody>
      </p:sp>
      <p:sp>
        <p:nvSpPr>
          <p:cNvPr id="23" name="BPS Value 2"/>
          <p:cNvSpPr txBox="1"/>
          <p:nvPr/>
        </p:nvSpPr>
        <p:spPr>
          <a:xfrm>
            <a:off x="6896100" y="2211912"/>
            <a:ext cx="514350" cy="123825"/>
          </a:xfrm>
          <a:prstGeom prst="rect">
            <a:avLst/>
          </a:prstGeom>
          <a:noFill/>
        </p:spPr>
        <p:txBody>
          <a:bodyPr wrap="none" lIns="0" rIns="0" tIns="0" bIns="0" anchor="ctr">
            <a:spAutoFit/>
          </a:bodyPr>
          <a:lstStyle/>
          <a:p>
            <a:pPr algn="r"/>
            <a:r>
              <a:rPr sz="900" b="1">
                <a:solidFill>
                  <a:srgbClr val="E44D3A"/>
                </a:solidFill>
                <a:latin typeface="Calibri"/>
              </a:rPr>
              <a:t>-20</a:t>
            </a:r>
          </a:p>
        </p:txBody>
      </p:sp>
      <p:sp>
        <p:nvSpPr>
          <p:cNvPr id="24" name="FMI Legend Chip"/>
          <p:cNvSpPr/>
          <p:nvPr/>
        </p:nvSpPr>
        <p:spPr>
          <a:xfrm>
            <a:off x="4928997" y="3131586"/>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31268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0506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Premade Pouches &amp; Bags</a:t>
            </a:r>
          </a:p>
        </p:txBody>
      </p:sp>
      <p:sp>
        <p:nvSpPr>
          <p:cNvPr id="27" name="BPS Value 3"/>
          <p:cNvSpPr txBox="1"/>
          <p:nvPr/>
        </p:nvSpPr>
        <p:spPr>
          <a:xfrm>
            <a:off x="6896100" y="3112536"/>
            <a:ext cx="514350" cy="123825"/>
          </a:xfrm>
          <a:prstGeom prst="rect">
            <a:avLst/>
          </a:prstGeom>
          <a:noFill/>
        </p:spPr>
        <p:txBody>
          <a:bodyPr wrap="none" lIns="0" rIns="0" tIns="0" bIns="0" anchor="ctr">
            <a:spAutoFit/>
          </a:bodyPr>
          <a:lstStyle/>
          <a:p>
            <a:pPr algn="r"/>
            <a:r>
              <a:rPr sz="900" b="1">
                <a:solidFill>
                  <a:srgbClr val="2E7D32"/>
                </a:solidFill>
                <a:latin typeface="Calibri"/>
              </a:rPr>
              <a:t>+36</a:t>
            </a:r>
          </a:p>
        </p:txBody>
      </p:sp>
      <p:sp>
        <p:nvSpPr>
          <p:cNvPr id="28" name="FMI Legend Chip"/>
          <p:cNvSpPr/>
          <p:nvPr/>
        </p:nvSpPr>
        <p:spPr>
          <a:xfrm>
            <a:off x="4928997" y="501444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00968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493348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Rollstock Films</a:t>
            </a:r>
          </a:p>
        </p:txBody>
      </p:sp>
      <p:sp>
        <p:nvSpPr>
          <p:cNvPr id="31" name="BPS Value 4"/>
          <p:cNvSpPr txBox="1"/>
          <p:nvPr/>
        </p:nvSpPr>
        <p:spPr>
          <a:xfrm>
            <a:off x="6896100" y="4995398"/>
            <a:ext cx="514350" cy="123825"/>
          </a:xfrm>
          <a:prstGeom prst="rect">
            <a:avLst/>
          </a:prstGeom>
          <a:noFill/>
        </p:spPr>
        <p:txBody>
          <a:bodyPr wrap="none" lIns="0" rIns="0" tIns="0" bIns="0" anchor="ctr">
            <a:spAutoFit/>
          </a:bodyPr>
          <a:lstStyle/>
          <a:p>
            <a:pPr algn="r"/>
            <a:r>
              <a:rPr sz="900" b="1">
                <a:solidFill>
                  <a:srgbClr val="2E7D32"/>
                </a:solidFill>
                <a:latin typeface="Calibri"/>
              </a:rPr>
              <a:t>+3</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Product Type</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product type, premade pouches &amp; bags segment is expected to witness the highest CAGR of 6.7% over the forecast period. In terms of value share by product type, the rollstock films segment is expected to dominate the market, maintaining its share and accounting for 53.8% share by 2036.</a:t>
            </a:r>
          </a:p>
          <a:p>
            <a:pPr algn="l">
              <a:lnSpc>
                <a:spcPct val="110000"/>
              </a:lnSpc>
              <a:spcBef>
                <a:spcPts val="0"/>
              </a:spcBef>
              <a:spcAft>
                <a:spcPts val="500"/>
              </a:spcAft>
            </a:pPr>
            <a:r>
              <a:rPr sz="1150" b="0">
                <a:solidFill>
                  <a:srgbClr val="2E2E2E"/>
                </a:solidFill>
                <a:latin typeface="Calibri"/>
              </a:rPr>
              <a:t>The barrier casings segment is expected to lose 20 BPS over the forecast period to account for 10.8% share by 2036.</a:t>
            </a:r>
          </a:p>
          <a:p>
            <a:pPr algn="l">
              <a:lnSpc>
                <a:spcPct val="110000"/>
              </a:lnSpc>
              <a:spcBef>
                <a:spcPts val="0"/>
              </a:spcBef>
              <a:spcAft>
                <a:spcPts val="500"/>
              </a:spcAft>
            </a:pPr>
            <a:r>
              <a:rPr sz="1150" b="0">
                <a:solidFill>
                  <a:srgbClr val="2E2E2E"/>
                </a:solidFill>
                <a:latin typeface="Calibri"/>
              </a:rPr>
              <a:t>Premade Pouches &amp; Bags grows fastest at a 6.7% CAGR against 6.6% for the market because stand-up and zip-closure pouches deliver convenience, shelf impact and e-commerce durability. The slowest part, Sachets &amp; Stick Packs, grows at 6.3% as single-serve formats are mature and compete with larger resealable pouches. In Europe, packaging waste regulation, EPR fees and a mature retail base steer specifications.</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Volume,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Volume,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2982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68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33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0E6F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0D56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0E6EA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0D62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BC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61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DFED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0D507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0C3A5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66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19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0C3D6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1C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32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87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Product Type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Product Type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Product Type,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Product Type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Rollstock Films</a:t>
            </a:r>
          </a:p>
        </p:txBody>
      </p:sp>
      <p:sp>
        <p:nvSpPr>
          <p:cNvPr id="28" name="Rectangle 27"/>
          <p:cNvSpPr/>
          <p:nvPr/>
        </p:nvSpPr>
        <p:spPr>
          <a:xfrm>
            <a:off x="1857375" y="1409700"/>
            <a:ext cx="643890" cy="258128"/>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258128"/>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25812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258128"/>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258128"/>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25812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258128"/>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258128"/>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258128"/>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258128"/>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258128"/>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258128"/>
          </a:xfrm>
          <a:prstGeom prst="rect">
            <a:avLst/>
          </a:prstGeom>
          <a:solidFill>
            <a:srgbClr val="0D5E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258128"/>
          </a:xfrm>
          <a:prstGeom prst="rect">
            <a:avLst/>
          </a:prstGeom>
          <a:solidFill>
            <a:srgbClr val="0E67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66782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Lidding &amp; Tray-Sealing Films</a:t>
            </a:r>
          </a:p>
        </p:txBody>
      </p:sp>
      <p:sp>
        <p:nvSpPr>
          <p:cNvPr id="44" name="Rectangle 43"/>
          <p:cNvSpPr/>
          <p:nvPr/>
        </p:nvSpPr>
        <p:spPr>
          <a:xfrm>
            <a:off x="1857375" y="1667828"/>
            <a:ext cx="643890" cy="258128"/>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667828"/>
            <a:ext cx="643890" cy="25812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667828"/>
            <a:ext cx="643890" cy="258128"/>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667828"/>
            <a:ext cx="643890" cy="258128"/>
          </a:xfrm>
          <a:prstGeom prst="rect">
            <a:avLst/>
          </a:prstGeom>
          <a:solidFill>
            <a:srgbClr val="D8E8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667828"/>
            <a:ext cx="643890" cy="258128"/>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667828"/>
            <a:ext cx="643890" cy="258128"/>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667828"/>
            <a:ext cx="643890" cy="258128"/>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667828"/>
            <a:ext cx="643890" cy="258128"/>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667828"/>
            <a:ext cx="643890" cy="25812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667828"/>
            <a:ext cx="643890" cy="25812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667828"/>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667828"/>
            <a:ext cx="643890" cy="258128"/>
          </a:xfrm>
          <a:prstGeom prst="rect">
            <a:avLst/>
          </a:prstGeom>
          <a:solidFill>
            <a:srgbClr val="1F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667828"/>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667828"/>
            <a:ext cx="643890" cy="258128"/>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667828"/>
            <a:ext cx="643890" cy="258128"/>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192595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Thermoforming Films</a:t>
            </a:r>
          </a:p>
        </p:txBody>
      </p:sp>
      <p:sp>
        <p:nvSpPr>
          <p:cNvPr id="60" name="Rectangle 59"/>
          <p:cNvSpPr/>
          <p:nvPr/>
        </p:nvSpPr>
        <p:spPr>
          <a:xfrm>
            <a:off x="1857375" y="1925955"/>
            <a:ext cx="643890" cy="25812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1925955"/>
            <a:ext cx="643890" cy="258128"/>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1925955"/>
            <a:ext cx="643890" cy="25812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1925955"/>
            <a:ext cx="643890" cy="258128"/>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1925955"/>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1925955"/>
            <a:ext cx="643890" cy="258128"/>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1925955"/>
            <a:ext cx="643890" cy="258128"/>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1925955"/>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1925955"/>
            <a:ext cx="643890" cy="258128"/>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1925955"/>
            <a:ext cx="643890" cy="258128"/>
          </a:xfrm>
          <a:prstGeom prst="rect">
            <a:avLst/>
          </a:prstGeom>
          <a:solidFill>
            <a:srgbClr val="0E6A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1925955"/>
            <a:ext cx="643890" cy="258128"/>
          </a:xfrm>
          <a:prstGeom prst="rect">
            <a:avLst/>
          </a:prstGeom>
          <a:solidFill>
            <a:srgbClr val="0C4E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1925955"/>
            <a:ext cx="643890" cy="258128"/>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1925955"/>
            <a:ext cx="643890" cy="258128"/>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1925955"/>
            <a:ext cx="643890" cy="258128"/>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1925955"/>
            <a:ext cx="643890" cy="258128"/>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18408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Skin Packaging Films</a:t>
            </a:r>
          </a:p>
        </p:txBody>
      </p:sp>
      <p:sp>
        <p:nvSpPr>
          <p:cNvPr id="76" name="Rectangle 75"/>
          <p:cNvSpPr/>
          <p:nvPr/>
        </p:nvSpPr>
        <p:spPr>
          <a:xfrm>
            <a:off x="1857375" y="2184082"/>
            <a:ext cx="643890" cy="25812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184082"/>
            <a:ext cx="643890" cy="258128"/>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184082"/>
            <a:ext cx="643890" cy="258128"/>
          </a:xfrm>
          <a:prstGeom prst="rect">
            <a:avLst/>
          </a:prstGeom>
          <a:solidFill>
            <a:srgbClr val="E9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184082"/>
            <a:ext cx="643890" cy="258128"/>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184082"/>
            <a:ext cx="643890" cy="258128"/>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184082"/>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184082"/>
            <a:ext cx="643890" cy="258128"/>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184082"/>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184082"/>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184082"/>
            <a:ext cx="643890" cy="258128"/>
          </a:xfrm>
          <a:prstGeom prst="rect">
            <a:avLst/>
          </a:prstGeom>
          <a:solidFill>
            <a:srgbClr val="0E70A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184082"/>
            <a:ext cx="643890" cy="258128"/>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184082"/>
            <a:ext cx="643890" cy="258128"/>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184082"/>
            <a:ext cx="643890" cy="258128"/>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184082"/>
            <a:ext cx="643890" cy="258128"/>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184082"/>
            <a:ext cx="643890" cy="258128"/>
          </a:xfrm>
          <a:prstGeom prst="rect">
            <a:avLst/>
          </a:prstGeom>
          <a:solidFill>
            <a:srgbClr val="0D5F9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44221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HFFS / Flow-Pack Films</a:t>
            </a:r>
          </a:p>
        </p:txBody>
      </p:sp>
      <p:sp>
        <p:nvSpPr>
          <p:cNvPr id="92" name="Rectangle 91"/>
          <p:cNvSpPr/>
          <p:nvPr/>
        </p:nvSpPr>
        <p:spPr>
          <a:xfrm>
            <a:off x="1857375" y="2442210"/>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442210"/>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442210"/>
            <a:ext cx="643890" cy="258128"/>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442210"/>
            <a:ext cx="643890" cy="25812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442210"/>
            <a:ext cx="643890" cy="258128"/>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442210"/>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442210"/>
            <a:ext cx="643890" cy="25812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442210"/>
            <a:ext cx="643890" cy="25812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442210"/>
            <a:ext cx="643890" cy="258128"/>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442210"/>
            <a:ext cx="643890" cy="258128"/>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442210"/>
            <a:ext cx="643890" cy="258128"/>
          </a:xfrm>
          <a:prstGeom prst="rect">
            <a:avLst/>
          </a:prstGeom>
          <a:solidFill>
            <a:srgbClr val="0B365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442210"/>
            <a:ext cx="643890" cy="258128"/>
          </a:xfrm>
          <a:prstGeom prst="rect">
            <a:avLst/>
          </a:prstGeom>
          <a:solidFill>
            <a:srgbClr val="0B32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442210"/>
            <a:ext cx="643890" cy="258128"/>
          </a:xfrm>
          <a:prstGeom prst="rect">
            <a:avLst/>
          </a:prstGeom>
          <a:solidFill>
            <a:srgbClr val="0B335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442210"/>
            <a:ext cx="643890" cy="258128"/>
          </a:xfrm>
          <a:prstGeom prst="rect">
            <a:avLst/>
          </a:prstGeom>
          <a:solidFill>
            <a:srgbClr val="0C3C5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442210"/>
            <a:ext cx="643890" cy="258128"/>
          </a:xfrm>
          <a:prstGeom prst="rect">
            <a:avLst/>
          </a:prstGeom>
          <a:solidFill>
            <a:srgbClr val="0C4A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270033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VFFS Rollstock Films</a:t>
            </a:r>
          </a:p>
        </p:txBody>
      </p:sp>
      <p:sp>
        <p:nvSpPr>
          <p:cNvPr id="108" name="Rectangle 107"/>
          <p:cNvSpPr/>
          <p:nvPr/>
        </p:nvSpPr>
        <p:spPr>
          <a:xfrm>
            <a:off x="1857375" y="2700338"/>
            <a:ext cx="643890" cy="258128"/>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2700338"/>
            <a:ext cx="643890" cy="258128"/>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2700338"/>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2700338"/>
            <a:ext cx="643890" cy="258128"/>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2700338"/>
            <a:ext cx="643890" cy="258128"/>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2700338"/>
            <a:ext cx="643890" cy="25812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2700338"/>
            <a:ext cx="643890" cy="258128"/>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2700338"/>
            <a:ext cx="643890" cy="258128"/>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2700338"/>
            <a:ext cx="643890" cy="258128"/>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2700338"/>
            <a:ext cx="643890" cy="25812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2700338"/>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2700338"/>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2700338"/>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2700338"/>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2700338"/>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295846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&amp; Overwrap Films</a:t>
            </a:r>
          </a:p>
        </p:txBody>
      </p:sp>
      <p:sp>
        <p:nvSpPr>
          <p:cNvPr id="124" name="Rectangle 123"/>
          <p:cNvSpPr/>
          <p:nvPr/>
        </p:nvSpPr>
        <p:spPr>
          <a:xfrm>
            <a:off x="1857375" y="2958465"/>
            <a:ext cx="643890" cy="258128"/>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2958465"/>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2958465"/>
            <a:ext cx="643890" cy="258128"/>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2958465"/>
            <a:ext cx="643890" cy="25812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2958465"/>
            <a:ext cx="643890" cy="258128"/>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2958465"/>
            <a:ext cx="643890" cy="258128"/>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2958465"/>
            <a:ext cx="643890" cy="258128"/>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2958465"/>
            <a:ext cx="643890" cy="25812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2958465"/>
            <a:ext cx="643890" cy="258128"/>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2958465"/>
            <a:ext cx="643890" cy="258128"/>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2958465"/>
            <a:ext cx="643890" cy="258128"/>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2958465"/>
            <a:ext cx="643890" cy="258128"/>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2958465"/>
            <a:ext cx="643890" cy="258128"/>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2958465"/>
            <a:ext cx="643890" cy="258128"/>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2958465"/>
            <a:ext cx="643890" cy="258128"/>
          </a:xfrm>
          <a:prstGeom prst="rect">
            <a:avLst/>
          </a:prstGeom>
          <a:solidFill>
            <a:srgbClr val="0E689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216593"/>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Barrier Casings</a:t>
            </a:r>
          </a:p>
        </p:txBody>
      </p:sp>
      <p:sp>
        <p:nvSpPr>
          <p:cNvPr id="140" name="Rectangle 139"/>
          <p:cNvSpPr/>
          <p:nvPr/>
        </p:nvSpPr>
        <p:spPr>
          <a:xfrm>
            <a:off x="1857375" y="3216593"/>
            <a:ext cx="643890" cy="258128"/>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216593"/>
            <a:ext cx="643890" cy="258128"/>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216593"/>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216593"/>
            <a:ext cx="643890" cy="25812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216593"/>
            <a:ext cx="643890" cy="258128"/>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216593"/>
            <a:ext cx="643890" cy="258128"/>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216593"/>
            <a:ext cx="643890" cy="258128"/>
          </a:xfrm>
          <a:prstGeom prst="rect">
            <a:avLst/>
          </a:prstGeom>
          <a:solidFill>
            <a:srgbClr val="74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216593"/>
            <a:ext cx="643890" cy="25812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216593"/>
            <a:ext cx="643890" cy="258128"/>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216593"/>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216593"/>
            <a:ext cx="643890" cy="25812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216593"/>
            <a:ext cx="643890" cy="258128"/>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216593"/>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216593"/>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216593"/>
            <a:ext cx="643890" cy="258128"/>
          </a:xfrm>
          <a:prstGeom prst="rect">
            <a:avLst/>
          </a:prstGeom>
          <a:solidFill>
            <a:srgbClr val="27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47472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Non-Shrink Casings</a:t>
            </a:r>
          </a:p>
        </p:txBody>
      </p:sp>
      <p:sp>
        <p:nvSpPr>
          <p:cNvPr id="156" name="Rectangle 155"/>
          <p:cNvSpPr/>
          <p:nvPr/>
        </p:nvSpPr>
        <p:spPr>
          <a:xfrm>
            <a:off x="1857375" y="3474720"/>
            <a:ext cx="643890" cy="25812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474720"/>
            <a:ext cx="643890" cy="258128"/>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474720"/>
            <a:ext cx="643890" cy="25812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474720"/>
            <a:ext cx="643890" cy="258128"/>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474720"/>
            <a:ext cx="643890" cy="25812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474720"/>
            <a:ext cx="643890" cy="25812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474720"/>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474720"/>
            <a:ext cx="643890" cy="258128"/>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474720"/>
            <a:ext cx="643890" cy="258128"/>
          </a:xfrm>
          <a:prstGeom prst="rect">
            <a:avLst/>
          </a:prstGeom>
          <a:solidFill>
            <a:srgbClr val="8E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474720"/>
            <a:ext cx="643890" cy="258128"/>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474720"/>
            <a:ext cx="643890" cy="258128"/>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474720"/>
            <a:ext cx="643890" cy="258128"/>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474720"/>
            <a:ext cx="643890" cy="258128"/>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474720"/>
            <a:ext cx="643890" cy="258128"/>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474720"/>
            <a:ext cx="643890" cy="258128"/>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373284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Casings</a:t>
            </a:r>
          </a:p>
        </p:txBody>
      </p:sp>
      <p:sp>
        <p:nvSpPr>
          <p:cNvPr id="172" name="Rectangle 171"/>
          <p:cNvSpPr/>
          <p:nvPr/>
        </p:nvSpPr>
        <p:spPr>
          <a:xfrm>
            <a:off x="1857375" y="3732848"/>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3732848"/>
            <a:ext cx="643890" cy="25812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3732848"/>
            <a:ext cx="643890" cy="258128"/>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3732848"/>
            <a:ext cx="643890" cy="258128"/>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3732848"/>
            <a:ext cx="643890" cy="258128"/>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3732848"/>
            <a:ext cx="643890" cy="25812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3732848"/>
            <a:ext cx="643890" cy="25812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3732848"/>
            <a:ext cx="643890" cy="25812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3732848"/>
            <a:ext cx="643890" cy="25812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3732848"/>
            <a:ext cx="643890" cy="258128"/>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3732848"/>
            <a:ext cx="643890" cy="258128"/>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3732848"/>
            <a:ext cx="643890" cy="258128"/>
          </a:xfrm>
          <a:prstGeom prst="rect">
            <a:avLst/>
          </a:prstGeom>
          <a:solidFill>
            <a:srgbClr val="0C4A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3732848"/>
            <a:ext cx="643890" cy="258128"/>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3732848"/>
            <a:ext cx="643890" cy="258128"/>
          </a:xfrm>
          <a:prstGeom prst="rect">
            <a:avLst/>
          </a:prstGeom>
          <a:solidFill>
            <a:srgbClr val="0D578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3732848"/>
            <a:ext cx="643890" cy="258128"/>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399097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Other Specialty Casings</a:t>
            </a:r>
          </a:p>
        </p:txBody>
      </p:sp>
      <p:sp>
        <p:nvSpPr>
          <p:cNvPr id="188" name="Rectangle 187"/>
          <p:cNvSpPr/>
          <p:nvPr/>
        </p:nvSpPr>
        <p:spPr>
          <a:xfrm>
            <a:off x="1857375" y="3990975"/>
            <a:ext cx="643890" cy="258128"/>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3990975"/>
            <a:ext cx="643890" cy="258128"/>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3990975"/>
            <a:ext cx="643890" cy="258128"/>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3990975"/>
            <a:ext cx="643890" cy="258128"/>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3990975"/>
            <a:ext cx="643890" cy="258128"/>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3990975"/>
            <a:ext cx="643890" cy="25812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3990975"/>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3990975"/>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3990975"/>
            <a:ext cx="643890" cy="258128"/>
          </a:xfrm>
          <a:prstGeom prst="rect">
            <a:avLst/>
          </a:prstGeom>
          <a:solidFill>
            <a:srgbClr val="0E72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3990975"/>
            <a:ext cx="643890" cy="258128"/>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3990975"/>
            <a:ext cx="643890" cy="258128"/>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3990975"/>
            <a:ext cx="643890" cy="258128"/>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3990975"/>
            <a:ext cx="643890" cy="258128"/>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3990975"/>
            <a:ext cx="643890" cy="258128"/>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3990975"/>
            <a:ext cx="643890" cy="258128"/>
          </a:xfrm>
          <a:prstGeom prst="rect">
            <a:avLst/>
          </a:prstGeom>
          <a:solidFill>
            <a:srgbClr val="0D52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24910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Premade Pouches &amp; Bags</a:t>
            </a:r>
          </a:p>
        </p:txBody>
      </p:sp>
      <p:sp>
        <p:nvSpPr>
          <p:cNvPr id="204" name="Rectangle 203"/>
          <p:cNvSpPr/>
          <p:nvPr/>
        </p:nvSpPr>
        <p:spPr>
          <a:xfrm>
            <a:off x="1857375" y="4249102"/>
            <a:ext cx="643890" cy="258128"/>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249102"/>
            <a:ext cx="643890" cy="258128"/>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249102"/>
            <a:ext cx="643890" cy="25812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249102"/>
            <a:ext cx="643890" cy="258128"/>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249102"/>
            <a:ext cx="643890" cy="258128"/>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249102"/>
            <a:ext cx="643890" cy="25812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249102"/>
            <a:ext cx="643890" cy="258128"/>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249102"/>
            <a:ext cx="643890" cy="25812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249102"/>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249102"/>
            <a:ext cx="643890" cy="258128"/>
          </a:xfrm>
          <a:prstGeom prst="rect">
            <a:avLst/>
          </a:prstGeom>
          <a:solidFill>
            <a:srgbClr val="0E69A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249102"/>
            <a:ext cx="643890" cy="258128"/>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249102"/>
            <a:ext cx="643890" cy="258128"/>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249102"/>
            <a:ext cx="643890" cy="258128"/>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249102"/>
            <a:ext cx="643890" cy="258128"/>
          </a:xfrm>
          <a:prstGeom prst="rect">
            <a:avLst/>
          </a:prstGeom>
          <a:solidFill>
            <a:srgbClr val="0D527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249102"/>
            <a:ext cx="643890" cy="258128"/>
          </a:xfrm>
          <a:prstGeom prst="rect">
            <a:avLst/>
          </a:prstGeom>
          <a:solidFill>
            <a:srgbClr val="0D5C8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450723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Vacuum Pouches</a:t>
            </a:r>
          </a:p>
        </p:txBody>
      </p:sp>
      <p:sp>
        <p:nvSpPr>
          <p:cNvPr id="220" name="Rectangle 219"/>
          <p:cNvSpPr/>
          <p:nvPr/>
        </p:nvSpPr>
        <p:spPr>
          <a:xfrm>
            <a:off x="1857375" y="4507230"/>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4507230"/>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4507230"/>
            <a:ext cx="643890" cy="258128"/>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4507230"/>
            <a:ext cx="643890" cy="258128"/>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4507230"/>
            <a:ext cx="643890" cy="258128"/>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4507230"/>
            <a:ext cx="643890" cy="258128"/>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4507230"/>
            <a:ext cx="643890" cy="258128"/>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4507230"/>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4507230"/>
            <a:ext cx="643890" cy="258128"/>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4507230"/>
            <a:ext cx="643890" cy="258128"/>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4507230"/>
            <a:ext cx="643890" cy="258128"/>
          </a:xfrm>
          <a:prstGeom prst="rect">
            <a:avLst/>
          </a:prstGeom>
          <a:solidFill>
            <a:srgbClr val="0C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4507230"/>
            <a:ext cx="643890" cy="258128"/>
          </a:xfrm>
          <a:prstGeom prst="rect">
            <a:avLst/>
          </a:prstGeom>
          <a:solidFill>
            <a:srgbClr val="0C4B7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4507230"/>
            <a:ext cx="643890" cy="258128"/>
          </a:xfrm>
          <a:prstGeom prst="rect">
            <a:avLst/>
          </a:prstGeom>
          <a:solidFill>
            <a:srgbClr val="0C4D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4507230"/>
            <a:ext cx="643890" cy="258128"/>
          </a:xfrm>
          <a:prstGeom prst="rect">
            <a:avLst/>
          </a:prstGeom>
          <a:solidFill>
            <a:srgbClr val="0D538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4507230"/>
            <a:ext cx="643890" cy="258128"/>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476535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Shrink Bags</a:t>
            </a:r>
          </a:p>
        </p:txBody>
      </p:sp>
      <p:sp>
        <p:nvSpPr>
          <p:cNvPr id="236" name="Rectangle 235"/>
          <p:cNvSpPr/>
          <p:nvPr/>
        </p:nvSpPr>
        <p:spPr>
          <a:xfrm>
            <a:off x="1857375" y="4765358"/>
            <a:ext cx="643890" cy="258128"/>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4765358"/>
            <a:ext cx="643890" cy="258128"/>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4765358"/>
            <a:ext cx="643890" cy="258128"/>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4765358"/>
            <a:ext cx="643890" cy="258128"/>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4765358"/>
            <a:ext cx="643890" cy="258128"/>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4765358"/>
            <a:ext cx="643890" cy="258128"/>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4765358"/>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4765358"/>
            <a:ext cx="643890" cy="258128"/>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4765358"/>
            <a:ext cx="643890" cy="258128"/>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4765358"/>
            <a:ext cx="643890" cy="258128"/>
          </a:xfrm>
          <a:prstGeom prst="rect">
            <a:avLst/>
          </a:prstGeom>
          <a:solidFill>
            <a:srgbClr val="0C3F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4765358"/>
            <a:ext cx="643890" cy="258128"/>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4765358"/>
            <a:ext cx="643890" cy="25812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4765358"/>
            <a:ext cx="643890" cy="258128"/>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4765358"/>
            <a:ext cx="643890" cy="258128"/>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4765358"/>
            <a:ext cx="643890" cy="258128"/>
          </a:xfrm>
          <a:prstGeom prst="rect">
            <a:avLst/>
          </a:prstGeom>
          <a:solidFill>
            <a:srgbClr val="0C436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02348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Stand-Up Pouches</a:t>
            </a:r>
          </a:p>
        </p:txBody>
      </p:sp>
      <p:sp>
        <p:nvSpPr>
          <p:cNvPr id="252" name="Rectangle 251"/>
          <p:cNvSpPr/>
          <p:nvPr/>
        </p:nvSpPr>
        <p:spPr>
          <a:xfrm>
            <a:off x="1857375" y="5023485"/>
            <a:ext cx="643890" cy="258128"/>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023485"/>
            <a:ext cx="643890" cy="25812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023485"/>
            <a:ext cx="643890" cy="258128"/>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023485"/>
            <a:ext cx="643890" cy="258128"/>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023485"/>
            <a:ext cx="643890" cy="25812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023485"/>
            <a:ext cx="643890" cy="258128"/>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023485"/>
            <a:ext cx="643890" cy="258128"/>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023485"/>
            <a:ext cx="643890" cy="258128"/>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023485"/>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023485"/>
            <a:ext cx="643890" cy="25812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023485"/>
            <a:ext cx="643890" cy="258128"/>
          </a:xfrm>
          <a:prstGeom prst="rect">
            <a:avLst/>
          </a:prstGeom>
          <a:solidFill>
            <a:srgbClr val="0E6BA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023485"/>
            <a:ext cx="643890" cy="258128"/>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023485"/>
            <a:ext cx="643890" cy="258128"/>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023485"/>
            <a:ext cx="643890" cy="258128"/>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023485"/>
            <a:ext cx="643890" cy="258128"/>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528161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Flat Pouches</a:t>
            </a:r>
          </a:p>
        </p:txBody>
      </p:sp>
      <p:sp>
        <p:nvSpPr>
          <p:cNvPr id="268" name="Rectangle 267"/>
          <p:cNvSpPr/>
          <p:nvPr/>
        </p:nvSpPr>
        <p:spPr>
          <a:xfrm>
            <a:off x="1857375" y="5281612"/>
            <a:ext cx="643890" cy="258128"/>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5281612"/>
            <a:ext cx="643890" cy="258128"/>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5281612"/>
            <a:ext cx="643890" cy="258128"/>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5281612"/>
            <a:ext cx="643890" cy="258128"/>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5281612"/>
            <a:ext cx="643890" cy="258128"/>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5281612"/>
            <a:ext cx="643890" cy="258128"/>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5281612"/>
            <a:ext cx="643890" cy="258128"/>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5281612"/>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5281612"/>
            <a:ext cx="643890" cy="258128"/>
          </a:xfrm>
          <a:prstGeom prst="rect">
            <a:avLst/>
          </a:prstGeom>
          <a:solidFill>
            <a:srgbClr val="10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5281612"/>
            <a:ext cx="643890" cy="258128"/>
          </a:xfrm>
          <a:prstGeom prst="rect">
            <a:avLst/>
          </a:prstGeom>
          <a:solidFill>
            <a:srgbClr val="0D578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5281612"/>
            <a:ext cx="643890" cy="258128"/>
          </a:xfrm>
          <a:prstGeom prst="rect">
            <a:avLst/>
          </a:prstGeom>
          <a:solidFill>
            <a:srgbClr val="0C456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5281612"/>
            <a:ext cx="643890" cy="258128"/>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5281612"/>
            <a:ext cx="643890" cy="258128"/>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5281612"/>
            <a:ext cx="643890" cy="258128"/>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5281612"/>
            <a:ext cx="643890" cy="258128"/>
          </a:xfrm>
          <a:prstGeom prst="rect">
            <a:avLst/>
          </a:prstGeom>
          <a:solidFill>
            <a:srgbClr val="0D54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238125" y="5539740"/>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Retort Pouches</a:t>
            </a:r>
          </a:p>
        </p:txBody>
      </p:sp>
      <p:sp>
        <p:nvSpPr>
          <p:cNvPr id="284" name="Rectangle 283"/>
          <p:cNvSpPr/>
          <p:nvPr/>
        </p:nvSpPr>
        <p:spPr>
          <a:xfrm>
            <a:off x="1857375" y="5539740"/>
            <a:ext cx="643890" cy="258128"/>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2501265" y="5539740"/>
            <a:ext cx="643890" cy="258128"/>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3145155" y="5539740"/>
            <a:ext cx="643890" cy="258128"/>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3789045" y="5539740"/>
            <a:ext cx="643890" cy="258128"/>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4432935" y="5539740"/>
            <a:ext cx="643890" cy="258128"/>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5076825" y="5539740"/>
            <a:ext cx="643890" cy="258128"/>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5720715" y="5539740"/>
            <a:ext cx="643890" cy="258128"/>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6364605" y="5539740"/>
            <a:ext cx="643890" cy="258128"/>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7008495" y="5539740"/>
            <a:ext cx="643890" cy="258128"/>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7652385" y="5539740"/>
            <a:ext cx="643890" cy="258128"/>
          </a:xfrm>
          <a:prstGeom prst="rect">
            <a:avLst/>
          </a:prstGeom>
          <a:solidFill>
            <a:srgbClr val="13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8296275" y="5539740"/>
            <a:ext cx="643890" cy="258128"/>
          </a:xfrm>
          <a:prstGeom prst="rect">
            <a:avLst/>
          </a:prstGeom>
          <a:solidFill>
            <a:srgbClr val="0D629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8940165" y="5539740"/>
            <a:ext cx="643890" cy="258128"/>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9584055" y="5539740"/>
            <a:ext cx="643890" cy="258128"/>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0227945" y="5539740"/>
            <a:ext cx="643890" cy="258128"/>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0871835" y="5539740"/>
            <a:ext cx="643890" cy="258128"/>
          </a:xfrm>
          <a:prstGeom prst="rect">
            <a:avLst/>
          </a:prstGeom>
          <a:solidFill>
            <a:srgbClr val="0D669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238125" y="5797868"/>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Sachets &amp; Stick Packs</a:t>
            </a:r>
          </a:p>
        </p:txBody>
      </p:sp>
      <p:sp>
        <p:nvSpPr>
          <p:cNvPr id="300" name="Rectangle 299"/>
          <p:cNvSpPr/>
          <p:nvPr/>
        </p:nvSpPr>
        <p:spPr>
          <a:xfrm>
            <a:off x="1857375" y="5797868"/>
            <a:ext cx="643890" cy="25812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2501265" y="5797868"/>
            <a:ext cx="643890" cy="258128"/>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3145155" y="5797868"/>
            <a:ext cx="643890" cy="25812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3789045" y="5797868"/>
            <a:ext cx="643890" cy="258128"/>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4432935" y="5797868"/>
            <a:ext cx="643890" cy="25812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5076825" y="5797868"/>
            <a:ext cx="643890" cy="258128"/>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5720715" y="5797868"/>
            <a:ext cx="643890" cy="258128"/>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6364605" y="5797868"/>
            <a:ext cx="643890" cy="25812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7008495" y="5797868"/>
            <a:ext cx="643890" cy="258128"/>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7652385" y="5797868"/>
            <a:ext cx="643890" cy="25812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8296275" y="5797868"/>
            <a:ext cx="643890" cy="258128"/>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8940165" y="5797868"/>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9584055" y="5797868"/>
            <a:ext cx="643890" cy="258128"/>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0227945" y="5797868"/>
            <a:ext cx="643890" cy="258128"/>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0871835" y="5797868"/>
            <a:ext cx="643890" cy="258128"/>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238125" y="6055995"/>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Sachets</a:t>
            </a:r>
          </a:p>
        </p:txBody>
      </p:sp>
      <p:sp>
        <p:nvSpPr>
          <p:cNvPr id="316" name="Rectangle 315"/>
          <p:cNvSpPr/>
          <p:nvPr/>
        </p:nvSpPr>
        <p:spPr>
          <a:xfrm>
            <a:off x="1857375" y="6055995"/>
            <a:ext cx="643890" cy="258128"/>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2501265" y="6055995"/>
            <a:ext cx="643890" cy="25812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3145155" y="6055995"/>
            <a:ext cx="643890" cy="258128"/>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3789045" y="6055995"/>
            <a:ext cx="643890" cy="258128"/>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4432935" y="6055995"/>
            <a:ext cx="643890" cy="25812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5076825" y="6055995"/>
            <a:ext cx="643890" cy="258128"/>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5720715" y="6055995"/>
            <a:ext cx="643890" cy="25812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6364605" y="6055995"/>
            <a:ext cx="643890" cy="258128"/>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Rectangle 323"/>
          <p:cNvSpPr/>
          <p:nvPr/>
        </p:nvSpPr>
        <p:spPr>
          <a:xfrm>
            <a:off x="7008495" y="6055995"/>
            <a:ext cx="643890" cy="25812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Rectangle 324"/>
          <p:cNvSpPr/>
          <p:nvPr/>
        </p:nvSpPr>
        <p:spPr>
          <a:xfrm>
            <a:off x="7652385" y="6055995"/>
            <a:ext cx="643890" cy="25812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6" name="Rectangle 325"/>
          <p:cNvSpPr/>
          <p:nvPr/>
        </p:nvSpPr>
        <p:spPr>
          <a:xfrm>
            <a:off x="8296275" y="6055995"/>
            <a:ext cx="643890" cy="258128"/>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Rectangle 326"/>
          <p:cNvSpPr/>
          <p:nvPr/>
        </p:nvSpPr>
        <p:spPr>
          <a:xfrm>
            <a:off x="8940165" y="6055995"/>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8" name="Rectangle 327"/>
          <p:cNvSpPr/>
          <p:nvPr/>
        </p:nvSpPr>
        <p:spPr>
          <a:xfrm>
            <a:off x="9584055" y="6055995"/>
            <a:ext cx="643890" cy="258128"/>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Rectangle 328"/>
          <p:cNvSpPr/>
          <p:nvPr/>
        </p:nvSpPr>
        <p:spPr>
          <a:xfrm>
            <a:off x="10227945" y="6055995"/>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Rectangle 329"/>
          <p:cNvSpPr/>
          <p:nvPr/>
        </p:nvSpPr>
        <p:spPr>
          <a:xfrm>
            <a:off x="10871835" y="6055995"/>
            <a:ext cx="643890" cy="258128"/>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238125" y="6314122"/>
            <a:ext cx="1590675" cy="258128"/>
          </a:xfrm>
          <a:prstGeom prst="rect">
            <a:avLst/>
          </a:prstGeom>
          <a:noFill/>
        </p:spPr>
        <p:txBody>
          <a:bodyPr wrap="square" lIns="28575" rIns="28575" tIns="9525" bIns="9525" anchor="ctr">
            <a:spAutoFit/>
          </a:bodyPr>
          <a:lstStyle/>
          <a:p>
            <a:pPr algn="l"/>
            <a:r>
              <a:rPr sz="1100" b="0">
                <a:solidFill>
                  <a:srgbClr val="2E2E2E"/>
                </a:solidFill>
                <a:latin typeface="Calibri"/>
              </a:rPr>
              <a:t>– Stick Packs</a:t>
            </a:r>
          </a:p>
        </p:txBody>
      </p:sp>
      <p:sp>
        <p:nvSpPr>
          <p:cNvPr id="332" name="Rectangle 331"/>
          <p:cNvSpPr/>
          <p:nvPr/>
        </p:nvSpPr>
        <p:spPr>
          <a:xfrm>
            <a:off x="1857375" y="6314122"/>
            <a:ext cx="643890" cy="258128"/>
          </a:xfrm>
          <a:prstGeom prst="rect">
            <a:avLst/>
          </a:prstGeom>
          <a:solidFill>
            <a:srgbClr val="FCFE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Rectangle 332"/>
          <p:cNvSpPr/>
          <p:nvPr/>
        </p:nvSpPr>
        <p:spPr>
          <a:xfrm>
            <a:off x="2501265" y="6314122"/>
            <a:ext cx="643890" cy="25812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Rectangle 333"/>
          <p:cNvSpPr/>
          <p:nvPr/>
        </p:nvSpPr>
        <p:spPr>
          <a:xfrm>
            <a:off x="3145155" y="6314122"/>
            <a:ext cx="643890" cy="25812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5" name="Rectangle 334"/>
          <p:cNvSpPr/>
          <p:nvPr/>
        </p:nvSpPr>
        <p:spPr>
          <a:xfrm>
            <a:off x="3789045" y="6314122"/>
            <a:ext cx="643890" cy="258128"/>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Rectangle 335"/>
          <p:cNvSpPr/>
          <p:nvPr/>
        </p:nvSpPr>
        <p:spPr>
          <a:xfrm>
            <a:off x="4432935" y="6314122"/>
            <a:ext cx="643890" cy="258128"/>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7" name="Rectangle 336"/>
          <p:cNvSpPr/>
          <p:nvPr/>
        </p:nvSpPr>
        <p:spPr>
          <a:xfrm>
            <a:off x="5076825" y="6314122"/>
            <a:ext cx="643890" cy="258128"/>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Rectangle 337"/>
          <p:cNvSpPr/>
          <p:nvPr/>
        </p:nvSpPr>
        <p:spPr>
          <a:xfrm>
            <a:off x="5720715" y="6314122"/>
            <a:ext cx="643890" cy="258128"/>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Rectangle 338"/>
          <p:cNvSpPr/>
          <p:nvPr/>
        </p:nvSpPr>
        <p:spPr>
          <a:xfrm>
            <a:off x="6364605" y="6314122"/>
            <a:ext cx="643890" cy="258128"/>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0" name="Rectangle 339"/>
          <p:cNvSpPr/>
          <p:nvPr/>
        </p:nvSpPr>
        <p:spPr>
          <a:xfrm>
            <a:off x="7008495" y="6314122"/>
            <a:ext cx="643890" cy="25812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1" name="Rectangle 340"/>
          <p:cNvSpPr/>
          <p:nvPr/>
        </p:nvSpPr>
        <p:spPr>
          <a:xfrm>
            <a:off x="7652385" y="6314122"/>
            <a:ext cx="643890" cy="258128"/>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2" name="Rectangle 341"/>
          <p:cNvSpPr/>
          <p:nvPr/>
        </p:nvSpPr>
        <p:spPr>
          <a:xfrm>
            <a:off x="8296275" y="6314122"/>
            <a:ext cx="643890" cy="258128"/>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3" name="Rectangle 342"/>
          <p:cNvSpPr/>
          <p:nvPr/>
        </p:nvSpPr>
        <p:spPr>
          <a:xfrm>
            <a:off x="8940165" y="6314122"/>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4" name="Rectangle 343"/>
          <p:cNvSpPr/>
          <p:nvPr/>
        </p:nvSpPr>
        <p:spPr>
          <a:xfrm>
            <a:off x="9584055" y="6314122"/>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5" name="Rectangle 344"/>
          <p:cNvSpPr/>
          <p:nvPr/>
        </p:nvSpPr>
        <p:spPr>
          <a:xfrm>
            <a:off x="10227945" y="6314122"/>
            <a:ext cx="643890" cy="258128"/>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6" name="Rectangle 345"/>
          <p:cNvSpPr/>
          <p:nvPr/>
        </p:nvSpPr>
        <p:spPr>
          <a:xfrm>
            <a:off x="10871835" y="6314122"/>
            <a:ext cx="643890" cy="258128"/>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7" name="Rectangle 346"/>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8" name="Rectangle 347"/>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9" name="Rectangle 348"/>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0" name="Rectangle 349"/>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Rectangle 350"/>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2" name="Rectangle 351"/>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3" name="Rectangle 352"/>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Rectangle 353"/>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5" name="Rectangle 354"/>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6" name="Rectangle 355"/>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Rectangle 356"/>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8" name="Rectangle 357"/>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9" name="Rectangle 358"/>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Rectangle 359"/>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1" name="Rectangle 360"/>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2" name="Rectangle 361"/>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Rectangle 362"/>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4" name="Rectangle 363"/>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5" name="Rectangle 364"/>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Rectangle 365"/>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7" name="Rectangle 366"/>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8" name="Rectangle 367"/>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Rectangle 368"/>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0" name="Rectangle 369"/>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1" name="Rectangle 370"/>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2" name="Rectangle 371"/>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3" name="Rectangle 372"/>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4" name="Rectangle 373"/>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5" name="Rectangle 374"/>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6" name="Rectangle 375"/>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7" name="Rectangle 376"/>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8" name="Rectangle 377"/>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9" name="Rectangle 378"/>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0" name="Rectangle 379"/>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1" name="Rectangle 380"/>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2" name="Rectangle 381"/>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3" name="Rectangle 382"/>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4" name="Rectangle 383"/>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5" name="Rectangle 384"/>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6" name="Rectangle 385"/>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7" name="Rectangle 386"/>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8" name="TextBox 387"/>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389" name="TextBox 388"/>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90" name="TextBox 389"/>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91" name="TextBox 3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Principal Material / Barrier Technology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PE-Based</a:t>
            </a:r>
          </a:p>
        </p:txBody>
      </p:sp>
      <p:sp>
        <p:nvSpPr>
          <p:cNvPr id="23" name="Rectangle 22"/>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8,228</a:t>
            </a:r>
          </a:p>
        </p:txBody>
      </p:sp>
      <p:sp>
        <p:nvSpPr>
          <p:cNvPr id="24" name="Rectangle 23"/>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15,702</a:t>
            </a:r>
          </a:p>
        </p:txBody>
      </p:sp>
      <p:sp>
        <p:nvSpPr>
          <p:cNvPr id="25" name="Rectangle 24"/>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6.7%</a:t>
            </a:r>
          </a:p>
        </p:txBody>
      </p:sp>
      <p:sp>
        <p:nvSpPr>
          <p:cNvPr id="26" name="Oval 25"/>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PP-Based</a:t>
            </a:r>
          </a:p>
        </p:txBody>
      </p:sp>
      <p:sp>
        <p:nvSpPr>
          <p:cNvPr id="30" name="Rectangle 29"/>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5,317</a:t>
            </a:r>
          </a:p>
        </p:txBody>
      </p:sp>
      <p:sp>
        <p:nvSpPr>
          <p:cNvPr id="31" name="Rectangle 30"/>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9,890</a:t>
            </a:r>
          </a:p>
        </p:txBody>
      </p:sp>
      <p:sp>
        <p:nvSpPr>
          <p:cNvPr id="32" name="Rectangle 31"/>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6.4%</a:t>
            </a:r>
          </a:p>
        </p:txBody>
      </p:sp>
      <p:sp>
        <p:nvSpPr>
          <p:cNvPr id="33" name="Oval 32"/>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PET-Based</a:t>
            </a:r>
          </a:p>
        </p:txBody>
      </p:sp>
      <p:sp>
        <p:nvSpPr>
          <p:cNvPr id="37" name="Rectangle 36"/>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2,563</a:t>
            </a:r>
          </a:p>
        </p:txBody>
      </p:sp>
      <p:sp>
        <p:nvSpPr>
          <p:cNvPr id="38" name="Rectangle 37"/>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4,930</a:t>
            </a:r>
          </a:p>
        </p:txBody>
      </p:sp>
      <p:sp>
        <p:nvSpPr>
          <p:cNvPr id="39" name="Rectangle 38"/>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6.8%</a:t>
            </a:r>
          </a:p>
        </p:txBody>
      </p:sp>
      <p:sp>
        <p:nvSpPr>
          <p:cNvPr id="40" name="Oval 39"/>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PA-Based</a:t>
            </a:r>
          </a:p>
        </p:txBody>
      </p:sp>
      <p:sp>
        <p:nvSpPr>
          <p:cNvPr id="44" name="Rectangle 43"/>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2,154</a:t>
            </a:r>
          </a:p>
        </p:txBody>
      </p:sp>
      <p:sp>
        <p:nvSpPr>
          <p:cNvPr id="45" name="Rectangle 44"/>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4,003</a:t>
            </a:r>
          </a:p>
        </p:txBody>
      </p:sp>
      <p:sp>
        <p:nvSpPr>
          <p:cNvPr id="46" name="Rectangle 45"/>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6.4%</a:t>
            </a:r>
          </a:p>
        </p:txBody>
      </p:sp>
      <p:sp>
        <p:nvSpPr>
          <p:cNvPr id="47" name="Oval 46"/>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EVOH-Based</a:t>
            </a:r>
          </a:p>
        </p:txBody>
      </p:sp>
      <p:sp>
        <p:nvSpPr>
          <p:cNvPr id="51" name="Rectangle 50"/>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2,056</a:t>
            </a:r>
          </a:p>
        </p:txBody>
      </p:sp>
      <p:sp>
        <p:nvSpPr>
          <p:cNvPr id="52" name="Rectangle 51"/>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3,966</a:t>
            </a:r>
          </a:p>
        </p:txBody>
      </p:sp>
      <p:sp>
        <p:nvSpPr>
          <p:cNvPr id="53" name="Rectangle 52"/>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6.8%</a:t>
            </a:r>
          </a:p>
        </p:txBody>
      </p:sp>
      <p:sp>
        <p:nvSpPr>
          <p:cNvPr id="54" name="Oval 53"/>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5" name="Rounded Rectangle 54"/>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Barrier</a:t>
            </a:r>
          </a:p>
        </p:txBody>
      </p:sp>
      <p:sp>
        <p:nvSpPr>
          <p:cNvPr id="58" name="Rectangle 57"/>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1,640</a:t>
            </a:r>
          </a:p>
        </p:txBody>
      </p:sp>
      <p:sp>
        <p:nvSpPr>
          <p:cNvPr id="59" name="Rectangle 58"/>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3,073</a:t>
            </a:r>
          </a:p>
        </p:txBody>
      </p:sp>
      <p:sp>
        <p:nvSpPr>
          <p:cNvPr id="60" name="Rectangle 59"/>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6.5%</a:t>
            </a:r>
          </a:p>
        </p:txBody>
      </p:sp>
      <p:sp>
        <p:nvSpPr>
          <p:cNvPr id="61" name="Oval 60"/>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2" name="Rounded Rectangle 61"/>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4" name="Rectangle 63"/>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57200" y="4219912"/>
            <a:ext cx="297180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Among flexible plastic packaging by principal material / barrier technology, other specialty barrier technologies segment is expected to witness the highest CAGR of 7.2% over the forecast period. In terms of value share by principal material / barrier technology, the pe-based segment is expected to dominate the market, gaining 32 BPS and accounting for 31.8% share by 2036.</a:t>
            </a:r>
          </a:p>
          <a:p>
            <a:pPr algn="l">
              <a:lnSpc>
                <a:spcPct val="105000"/>
              </a:lnSpc>
              <a:spcBef>
                <a:spcPts val="0"/>
              </a:spcBef>
              <a:spcAft>
                <a:spcPts val="300"/>
              </a:spcAft>
            </a:pPr>
            <a:r>
              <a:rPr sz="1100" b="0">
                <a:solidFill>
                  <a:srgbClr val="0E72AE"/>
                </a:solidFill>
                <a:latin typeface="Calibri"/>
              </a:rPr>
              <a:t>▪  </a:t>
            </a:r>
            <a:r>
              <a:rPr sz="1100" b="0">
                <a:solidFill>
                  <a:srgbClr val="2E2E2E"/>
                </a:solidFill>
                <a:latin typeface="Calibri"/>
              </a:rPr>
              <a:t>¶ Pe-based segment is projected to register 1.6X higher value than pp-based segment in 2036.</a:t>
            </a:r>
          </a:p>
        </p:txBody>
      </p:sp>
      <p:sp>
        <p:nvSpPr>
          <p:cNvPr id="66" name="Rounded Rectangle 65"/>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8" name="Rectangle 67"/>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PE-Based: </a:t>
            </a:r>
            <a:r>
              <a:rPr sz="1100" b="0">
                <a:solidFill>
                  <a:srgbClr val="2E2E2E"/>
                </a:solidFill>
                <a:latin typeface="Calibri"/>
              </a:rPr>
              <a:t>31% of 2026 value · 6.7%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PP-Based: </a:t>
            </a:r>
            <a:r>
              <a:rPr sz="1100" b="0">
                <a:solidFill>
                  <a:srgbClr val="2E2E2E"/>
                </a:solidFill>
                <a:latin typeface="Calibri"/>
              </a:rPr>
              <a:t>20% of 2026 value · 6.4%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PET-Based: </a:t>
            </a:r>
            <a:r>
              <a:rPr sz="1100" b="0">
                <a:solidFill>
                  <a:srgbClr val="2E2E2E"/>
                </a:solidFill>
                <a:latin typeface="Calibri"/>
              </a:rPr>
              <a:t>10% of 2026 value · 6.8%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PA-Based: </a:t>
            </a:r>
            <a:r>
              <a:rPr sz="1100" b="0">
                <a:solidFill>
                  <a:srgbClr val="2E2E2E"/>
                </a:solidFill>
                <a:latin typeface="Calibri"/>
              </a:rPr>
              <a:t>8% of 2026 value · 6.4% CAGR serves a niche.</a:t>
            </a:r>
          </a:p>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EVOH-Based: </a:t>
            </a:r>
            <a:r>
              <a:rPr sz="1100" b="0">
                <a:solidFill>
                  <a:srgbClr val="2E2E2E"/>
                </a:solidFill>
                <a:latin typeface="Calibri"/>
              </a:rPr>
              <a:t>8% of 2026 value · 6.8%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Barrier: </a:t>
            </a:r>
            <a:r>
              <a:rPr sz="1100" b="0">
                <a:solidFill>
                  <a:srgbClr val="2E2E2E"/>
                </a:solidFill>
                <a:latin typeface="Calibri"/>
              </a:rPr>
              <a:t>6% of 2026 value · 6.5% CAGR serves a niche.</a:t>
            </a:r>
          </a:p>
        </p:txBody>
      </p:sp>
      <p:sp>
        <p:nvSpPr>
          <p:cNvPr id="70" name="Rounded Rectangle 69"/>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2" name="Rectangle 71"/>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Principal Material / Barrier Technology split shows how demand is distributed across principal material / barrier technology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4" name="Rectangle 73"/>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Principal Material / Barrier Technology segment is projected to grow at a CAGR of 6.6% from 2026 to 2036.</a:t>
            </a:r>
          </a:p>
        </p:txBody>
      </p:sp>
      <p:sp>
        <p:nvSpPr>
          <p:cNvPr id="76" name="TextBox 75"/>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7" name="TextBox 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Principal Material / Barrier Technology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11 sub-segments of Principal Material / Barrier Technology…</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Principal Material / Barrier Technology segment categorizes the market by principal material / barrier technology.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90881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90881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PVDC-Based</a:t>
            </a:r>
          </a:p>
        </p:txBody>
      </p:sp>
      <p:sp>
        <p:nvSpPr>
          <p:cNvPr id="22" name="Rectangle 21"/>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1,351</a:t>
            </a:r>
          </a:p>
        </p:txBody>
      </p:sp>
      <p:sp>
        <p:nvSpPr>
          <p:cNvPr id="23" name="Rectangle 22"/>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2,401</a:t>
            </a:r>
          </a:p>
        </p:txBody>
      </p:sp>
      <p:sp>
        <p:nvSpPr>
          <p:cNvPr id="24" name="Rectangle 23"/>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5.9%</a:t>
            </a:r>
          </a:p>
        </p:txBody>
      </p:sp>
      <p:sp>
        <p:nvSpPr>
          <p:cNvPr id="25" name="Oval 24"/>
          <p:cNvSpPr/>
          <p:nvPr/>
        </p:nvSpPr>
        <p:spPr>
          <a:xfrm>
            <a:off x="265938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26" name="Rounded Rectangle 25"/>
          <p:cNvSpPr/>
          <p:nvPr/>
        </p:nvSpPr>
        <p:spPr>
          <a:xfrm>
            <a:off x="389001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89001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Aluminum Foil-Based</a:t>
            </a:r>
          </a:p>
        </p:txBody>
      </p:sp>
      <p:sp>
        <p:nvSpPr>
          <p:cNvPr id="29" name="Rectangle 28"/>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823.3</a:t>
            </a:r>
          </a:p>
        </p:txBody>
      </p:sp>
      <p:sp>
        <p:nvSpPr>
          <p:cNvPr id="30" name="Rectangle 29"/>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1,474</a:t>
            </a:r>
          </a:p>
        </p:txBody>
      </p:sp>
      <p:sp>
        <p:nvSpPr>
          <p:cNvPr id="31" name="Rectangle 30"/>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6.0%</a:t>
            </a:r>
          </a:p>
        </p:txBody>
      </p:sp>
      <p:sp>
        <p:nvSpPr>
          <p:cNvPr id="32" name="Oval 31"/>
          <p:cNvSpPr/>
          <p:nvPr/>
        </p:nvSpPr>
        <p:spPr>
          <a:xfrm>
            <a:off x="468249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33" name="Rounded Rectangle 32"/>
          <p:cNvSpPr/>
          <p:nvPr/>
        </p:nvSpPr>
        <p:spPr>
          <a:xfrm>
            <a:off x="591312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12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AlOx / SiOx-Coated</a:t>
            </a:r>
          </a:p>
        </p:txBody>
      </p:sp>
      <p:sp>
        <p:nvSpPr>
          <p:cNvPr id="36" name="Rectangle 35"/>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774.7</a:t>
            </a:r>
          </a:p>
        </p:txBody>
      </p:sp>
      <p:sp>
        <p:nvSpPr>
          <p:cNvPr id="37" name="Rectangle 36"/>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1,507</a:t>
            </a:r>
          </a:p>
        </p:txBody>
      </p:sp>
      <p:sp>
        <p:nvSpPr>
          <p:cNvPr id="38" name="Rectangle 37"/>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6.9%</a:t>
            </a:r>
          </a:p>
        </p:txBody>
      </p:sp>
      <p:sp>
        <p:nvSpPr>
          <p:cNvPr id="39" name="Oval 38"/>
          <p:cNvSpPr/>
          <p:nvPr/>
        </p:nvSpPr>
        <p:spPr>
          <a:xfrm>
            <a:off x="670560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40" name="Rounded Rectangle 39"/>
          <p:cNvSpPr/>
          <p:nvPr/>
        </p:nvSpPr>
        <p:spPr>
          <a:xfrm>
            <a:off x="793623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93623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Specialty Barrier Technolog…</a:t>
            </a:r>
          </a:p>
        </p:txBody>
      </p:sp>
      <p:sp>
        <p:nvSpPr>
          <p:cNvPr id="43" name="Rectangle 42"/>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720.8</a:t>
            </a:r>
          </a:p>
        </p:txBody>
      </p:sp>
      <p:sp>
        <p:nvSpPr>
          <p:cNvPr id="44" name="Rectangle 43"/>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1,448</a:t>
            </a:r>
          </a:p>
        </p:txBody>
      </p:sp>
      <p:sp>
        <p:nvSpPr>
          <p:cNvPr id="45" name="Rectangle 44"/>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7.2%</a:t>
            </a:r>
          </a:p>
        </p:txBody>
      </p:sp>
      <p:sp>
        <p:nvSpPr>
          <p:cNvPr id="46" name="Oval 45"/>
          <p:cNvSpPr/>
          <p:nvPr/>
        </p:nvSpPr>
        <p:spPr>
          <a:xfrm>
            <a:off x="872871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10</a:t>
            </a:r>
          </a:p>
        </p:txBody>
      </p:sp>
      <p:sp>
        <p:nvSpPr>
          <p:cNvPr id="47" name="Rounded Rectangle 46"/>
          <p:cNvSpPr/>
          <p:nvPr/>
        </p:nvSpPr>
        <p:spPr>
          <a:xfrm>
            <a:off x="995934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995934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PVOH-Based</a:t>
            </a:r>
          </a:p>
        </p:txBody>
      </p:sp>
      <p:sp>
        <p:nvSpPr>
          <p:cNvPr id="50" name="Rectangle 49"/>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514.1</a:t>
            </a:r>
          </a:p>
        </p:txBody>
      </p:sp>
      <p:sp>
        <p:nvSpPr>
          <p:cNvPr id="51" name="Rectangle 50"/>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997.9</a:t>
            </a:r>
          </a:p>
        </p:txBody>
      </p:sp>
      <p:sp>
        <p:nvSpPr>
          <p:cNvPr id="52" name="Rectangle 51"/>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6.9%</a:t>
            </a:r>
          </a:p>
        </p:txBody>
      </p:sp>
      <p:sp>
        <p:nvSpPr>
          <p:cNvPr id="53" name="Oval 52"/>
          <p:cNvSpPr/>
          <p:nvPr/>
        </p:nvSpPr>
        <p:spPr>
          <a:xfrm>
            <a:off x="1075182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11</a:t>
            </a:r>
          </a:p>
        </p:txBody>
      </p:sp>
      <p:sp>
        <p:nvSpPr>
          <p:cNvPr id="54" name="Rounded Rectangle 53"/>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6" name="Rectangle 55"/>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PVDC-Based: </a:t>
            </a:r>
            <a:r>
              <a:rPr sz="1100" b="0">
                <a:solidFill>
                  <a:srgbClr val="2E2E2E"/>
                </a:solidFill>
                <a:latin typeface="Calibri"/>
              </a:rPr>
              <a:t>5% of 2026 value · 5.9% CAGR serves a niche.</a:t>
            </a:r>
          </a:p>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Aluminum Foil-Based: </a:t>
            </a:r>
            <a:r>
              <a:rPr sz="1100" b="0">
                <a:solidFill>
                  <a:srgbClr val="2E2E2E"/>
                </a:solidFill>
                <a:latin typeface="Calibri"/>
              </a:rPr>
              <a:t>3% of 2026 value · 6.0% CAGR serves a niche.</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AlOx / SiOx-Coated: </a:t>
            </a:r>
            <a:r>
              <a:rPr sz="1100" b="0">
                <a:solidFill>
                  <a:srgbClr val="2E2E2E"/>
                </a:solidFill>
                <a:latin typeface="Calibri"/>
              </a:rPr>
              <a:t>3% of 2026 value · 6.9%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Other Specialty Barrier Technologies: </a:t>
            </a:r>
            <a:r>
              <a:rPr sz="1100" b="0">
                <a:solidFill>
                  <a:srgbClr val="2E2E2E"/>
                </a:solidFill>
                <a:latin typeface="Calibri"/>
              </a:rPr>
              <a:t>3% of 2026 value · 7.2% CAGR grows fastest.</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PVOH-Based: </a:t>
            </a:r>
            <a:r>
              <a:rPr sz="1100" b="0">
                <a:solidFill>
                  <a:srgbClr val="2E2E2E"/>
                </a:solidFill>
                <a:latin typeface="Calibri"/>
              </a:rPr>
              <a:t>2% of 2026 value · 6.9% CAGR serves a niche.</a:t>
            </a:r>
          </a:p>
        </p:txBody>
      </p:sp>
      <p:sp>
        <p:nvSpPr>
          <p:cNvPr id="58" name="TextBox 5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9" name="TextBox 5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Principal Material / Barrier Technology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Principal Material / Barrier Technology mix within each country and the attractiveness of each sub-segment on growth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Principal Material / Barrier Technology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Pe-based followed by pp-based are expected to be the two most attractive principal material / barrier technology segments in the Europe flexible plastic packaging market in terms of value over the forecast period. PE-Based and PP-Based exhibit a CAGR index of 102 and 97 and a market share index of 346 and 224 respectively, against the segment average of 100. The aluminum foil-based segment is expected to be less attractive as compared to other segments over the forecast period, owing to its lower CAGR and incremental opportunity. PE-Based ranks most attractive because it is the largest pool at 31.5% share and still grows at 6.7%, above the 6.6% regional rate. European regulation, including packaging recyclability requirements and EPR fee modulation, favours polyethylene mono-material packs. Other Specialty Barrier Technologies grow fastest at 7.2% but from a 2.8% base, so they rank lower on scale.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Principal Material / Barrier Technology (1/3)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PE-Based</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PP-Based</a:t>
            </a:r>
          </a:p>
        </p:txBody>
      </p:sp>
      <p:graphicFrame>
        <p:nvGraphicFramePr>
          <p:cNvPr id="16" name="Chart 15"/>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PET-Based</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PA-Based</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Principal Material / Barrier Technology (2/3)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EVOH-Based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PVDC-Based</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PVOH-Based</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Metallized Barrier</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Principal Material / Barrier Technology (3/3)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Principal Material / Barrier Technology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AlOx / SiOx-Coated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Aluminum Foil-Based</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Other Specialty Barrier Technologies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Principal Material / Barrier Technology</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pe-based segment is anticipated to witness an increase of 1.9X in terms of value as compared to 2026. The PE-Based segment is expected to create an incremental opportunity of US$ 7,475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PP-Based segment is expected to create an incremental opportunity of US$ 4,573 Mn for the overall flexible plastic packaging market from 2026 to 2036. The PET-Based segment is expected to create an incremental opportunity of US$ 2,367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PE-Based and PP-Based add the most value because the two hold the largest bases, 31.5% and 20.3%, and grow at 6.7% and 6.4% against the 6.6% market. Low-cost PE and PP serve most food, protein and e-commerce applications, and EPR schemes, recyclability regulation and demanding retailer packaging standards keep absolute gains concentrated there rather than in faster but smaller barrier niches.</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Volume Analysis, By Principal Material / Barrier Technology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1.6X higher volume than pp-based segment in 2036. Among flexible plastic packaging by principal material / barrier technology, other specialty barrier technologies segment is expected to witness the highest CAGR of 5.9% over the forecast period.</a:t>
            </a:r>
          </a:p>
          <a:p>
            <a:pPr algn="l">
              <a:lnSpc>
                <a:spcPct val="110000"/>
              </a:lnSpc>
              <a:spcBef>
                <a:spcPts val="0"/>
              </a:spcBef>
              <a:spcAft>
                <a:spcPts val="500"/>
              </a:spcAft>
            </a:pPr>
            <a:r>
              <a:rPr sz="1150" b="0">
                <a:solidFill>
                  <a:srgbClr val="2E2E2E"/>
                </a:solidFill>
                <a:latin typeface="Calibri"/>
              </a:rPr>
              <a:t>In terms of volume share by principal material / barrier technology, the pe-based segment is expected to dominate the market, gaining 31 BPS and accounting for 31.8% share by 2036. The pp-based segment is expected to lose 32 BPS over the forecast period to account for 20.0% share by 2036.</a:t>
            </a:r>
          </a:p>
          <a:p>
            <a:pPr algn="l">
              <a:lnSpc>
                <a:spcPct val="110000"/>
              </a:lnSpc>
              <a:spcBef>
                <a:spcPts val="0"/>
              </a:spcBef>
              <a:spcAft>
                <a:spcPts val="500"/>
              </a:spcAft>
            </a:pPr>
            <a:r>
              <a:rPr sz="1150" b="0">
                <a:solidFill>
                  <a:srgbClr val="2E2E2E"/>
                </a:solidFill>
                <a:latin typeface="Calibri"/>
              </a:rPr>
              <a:t>PE-Based gains 31 BPS because the EU packaging regulation, extended producer responsibility fees and recyclability targets reward polyethylene mono-material structures that can be recycled in existing streams. PVDC-Based loses 31 BPS and PP-Based loses 32 BPS as chlorinated barriers and mixed builds are penalised. Other Specialty Barrier Technologies grow fastest at 5.9% as recyclable high-barrier coatings replace foil and PVDC.</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Principal Material / Barrier Technology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Principal Material / Barrier Technology,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Principal Material / Barrier Technology (US$ Mn)</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Principal Material / Barrier Technology</a:t>
            </a:r>
          </a:p>
        </p:txBody>
      </p:sp>
      <p:sp>
        <p:nvSpPr>
          <p:cNvPr id="17" name="Rectangle 16"/>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Pe-based segment is projected to register 1.6X higher value than pp-based segment in 2036. Among flexible plastic packaging by principal material / barrier technology, other specialty barrier technologies segment is expected to witness the highest CAGR of 7.2% over the forecast period.</a:t>
            </a:r>
          </a:p>
          <a:p>
            <a:pPr algn="l">
              <a:lnSpc>
                <a:spcPct val="110000"/>
              </a:lnSpc>
              <a:spcBef>
                <a:spcPts val="0"/>
              </a:spcBef>
              <a:spcAft>
                <a:spcPts val="500"/>
              </a:spcAft>
            </a:pPr>
            <a:r>
              <a:rPr sz="1150" b="0">
                <a:solidFill>
                  <a:srgbClr val="2E2E2E"/>
                </a:solidFill>
                <a:latin typeface="Calibri"/>
              </a:rPr>
              <a:t>In terms of value share by principal material / barrier technology, the pe-based segment is expected to dominate the market, gaining 32 BPS and accounting for 31.8% share by 2036. The pp-based segment is expected to lose 32 BPS over the forecast period to account for 20.0% share by 2036.</a:t>
            </a:r>
          </a:p>
          <a:p>
            <a:pPr algn="l">
              <a:lnSpc>
                <a:spcPct val="110000"/>
              </a:lnSpc>
              <a:spcBef>
                <a:spcPts val="0"/>
              </a:spcBef>
              <a:spcAft>
                <a:spcPts val="500"/>
              </a:spcAft>
            </a:pPr>
            <a:r>
              <a:rPr sz="1150" b="0">
                <a:solidFill>
                  <a:srgbClr val="2E2E2E"/>
                </a:solidFill>
                <a:latin typeface="Calibri"/>
              </a:rPr>
              <a:t>PE-Based gains 32 BPS of value share because PE combines low resin cost, strong sealability and straightforward mono-material recycling, which suits lightweight stand-up and lidding formats. Its 6.7% CAGR compares with a 6.6% market rate, while PP-Based loses 32 BPS at 6.4% as PE is displacing PP in mono-material pouch and lidding redesigns. In Europe, packaging waste regulation, EPR fees and a mature retail base steer specifications.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Principal Material / Barrier Technology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Principal Material / Barrier Technology in 2021, 2026 and 2036, highlighting share shifts in basis…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Principal Material / Barrier Technology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3318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5684" y="18331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903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PE-Based</a:t>
            </a:r>
          </a:p>
        </p:txBody>
      </p:sp>
      <p:sp>
        <p:nvSpPr>
          <p:cNvPr id="19" name="BPS Value 1"/>
          <p:cNvSpPr txBox="1"/>
          <p:nvPr/>
        </p:nvSpPr>
        <p:spPr>
          <a:xfrm>
            <a:off x="6896100" y="1790319"/>
            <a:ext cx="514350" cy="171450"/>
          </a:xfrm>
          <a:prstGeom prst="rect">
            <a:avLst/>
          </a:prstGeom>
          <a:noFill/>
        </p:spPr>
        <p:txBody>
          <a:bodyPr wrap="none" lIns="0" rIns="0" tIns="0" bIns="0" anchor="ctr">
            <a:spAutoFit/>
          </a:bodyPr>
          <a:lstStyle/>
          <a:p>
            <a:pPr algn="r"/>
            <a:r>
              <a:rPr sz="900" b="1">
                <a:solidFill>
                  <a:srgbClr val="2E7D32"/>
                </a:solidFill>
                <a:latin typeface="Calibri"/>
              </a:rPr>
              <a:t>+32</a:t>
            </a:r>
          </a:p>
        </p:txBody>
      </p:sp>
      <p:sp>
        <p:nvSpPr>
          <p:cNvPr id="20" name="FMI Legend Chip"/>
          <p:cNvSpPr/>
          <p:nvPr/>
        </p:nvSpPr>
        <p:spPr>
          <a:xfrm>
            <a:off x="4928997" y="200463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5684" y="20046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19617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PET-Based</a:t>
            </a:r>
          </a:p>
        </p:txBody>
      </p:sp>
      <p:sp>
        <p:nvSpPr>
          <p:cNvPr id="23" name="BPS Value 2"/>
          <p:cNvSpPr txBox="1"/>
          <p:nvPr/>
        </p:nvSpPr>
        <p:spPr>
          <a:xfrm>
            <a:off x="6896100" y="1961769"/>
            <a:ext cx="514350" cy="171450"/>
          </a:xfrm>
          <a:prstGeom prst="rect">
            <a:avLst/>
          </a:prstGeom>
          <a:noFill/>
        </p:spPr>
        <p:txBody>
          <a:bodyPr wrap="none" lIns="0" rIns="0" tIns="0" bIns="0" anchor="ctr">
            <a:spAutoFit/>
          </a:bodyPr>
          <a:lstStyle/>
          <a:p>
            <a:pPr algn="r"/>
            <a:r>
              <a:rPr sz="900" b="1">
                <a:solidFill>
                  <a:srgbClr val="2E7D32"/>
                </a:solidFill>
                <a:latin typeface="Calibri"/>
              </a:rPr>
              <a:t>+18</a:t>
            </a:r>
          </a:p>
        </p:txBody>
      </p:sp>
      <p:sp>
        <p:nvSpPr>
          <p:cNvPr id="24" name="FMI Legend Chip"/>
          <p:cNvSpPr/>
          <p:nvPr/>
        </p:nvSpPr>
        <p:spPr>
          <a:xfrm>
            <a:off x="4928997" y="2176082"/>
            <a:ext cx="85725" cy="85725"/>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5684" y="21760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133219"/>
            <a:ext cx="2178844" cy="171450"/>
          </a:xfrm>
          <a:prstGeom prst="rect">
            <a:avLst/>
          </a:prstGeom>
          <a:noFill/>
        </p:spPr>
        <p:txBody>
          <a:bodyPr wrap="none" lIns="19050" rIns="19050" tIns="0" bIns="0" anchor="ctr">
            <a:spAutoFit/>
          </a:bodyPr>
          <a:lstStyle/>
          <a:p>
            <a:pPr algn="l"/>
            <a:r>
              <a:rPr sz="900" b="0">
                <a:solidFill>
                  <a:srgbClr val="2E2E2E"/>
                </a:solidFill>
                <a:latin typeface="Calibri"/>
              </a:rPr>
              <a:t>Other Specialty Barrier Technologies</a:t>
            </a:r>
          </a:p>
        </p:txBody>
      </p:sp>
      <p:sp>
        <p:nvSpPr>
          <p:cNvPr id="27" name="BPS Value 3"/>
          <p:cNvSpPr txBox="1"/>
          <p:nvPr/>
        </p:nvSpPr>
        <p:spPr>
          <a:xfrm>
            <a:off x="6896100" y="2133219"/>
            <a:ext cx="514350" cy="171450"/>
          </a:xfrm>
          <a:prstGeom prst="rect">
            <a:avLst/>
          </a:prstGeom>
          <a:noFill/>
        </p:spPr>
        <p:txBody>
          <a:bodyPr wrap="none" lIns="0" rIns="0" tIns="0" bIns="0" anchor="ctr">
            <a:spAutoFit/>
          </a:bodyPr>
          <a:lstStyle/>
          <a:p>
            <a:pPr algn="r"/>
            <a:r>
              <a:rPr sz="900" b="1">
                <a:solidFill>
                  <a:srgbClr val="2E7D32"/>
                </a:solidFill>
                <a:latin typeface="Calibri"/>
              </a:rPr>
              <a:t>+17</a:t>
            </a:r>
          </a:p>
        </p:txBody>
      </p:sp>
      <p:sp>
        <p:nvSpPr>
          <p:cNvPr id="28" name="FMI Legend Chip"/>
          <p:cNvSpPr/>
          <p:nvPr/>
        </p:nvSpPr>
        <p:spPr>
          <a:xfrm>
            <a:off x="4928997" y="234753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5684" y="23475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3046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EVOH-Based</a:t>
            </a:r>
          </a:p>
        </p:txBody>
      </p:sp>
      <p:sp>
        <p:nvSpPr>
          <p:cNvPr id="31" name="BPS Value 4"/>
          <p:cNvSpPr txBox="1"/>
          <p:nvPr/>
        </p:nvSpPr>
        <p:spPr>
          <a:xfrm>
            <a:off x="6896100" y="2304669"/>
            <a:ext cx="514350" cy="171450"/>
          </a:xfrm>
          <a:prstGeom prst="rect">
            <a:avLst/>
          </a:prstGeom>
          <a:noFill/>
        </p:spPr>
        <p:txBody>
          <a:bodyPr wrap="none" lIns="0" rIns="0" tIns="0" bIns="0" anchor="ctr">
            <a:spAutoFit/>
          </a:bodyPr>
          <a:lstStyle/>
          <a:p>
            <a:pPr algn="r"/>
            <a:r>
              <a:rPr sz="900" b="1">
                <a:solidFill>
                  <a:srgbClr val="2E7D32"/>
                </a:solidFill>
                <a:latin typeface="Calibri"/>
              </a:rPr>
              <a:t>+16</a:t>
            </a:r>
          </a:p>
        </p:txBody>
      </p:sp>
      <p:sp>
        <p:nvSpPr>
          <p:cNvPr id="32" name="FMI Legend Chip"/>
          <p:cNvSpPr/>
          <p:nvPr/>
        </p:nvSpPr>
        <p:spPr>
          <a:xfrm>
            <a:off x="4928997" y="2518982"/>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5684" y="251898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24761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AlOx / SiOx-Coated</a:t>
            </a:r>
          </a:p>
        </p:txBody>
      </p:sp>
      <p:sp>
        <p:nvSpPr>
          <p:cNvPr id="35" name="BPS Value 5"/>
          <p:cNvSpPr txBox="1"/>
          <p:nvPr/>
        </p:nvSpPr>
        <p:spPr>
          <a:xfrm>
            <a:off x="6896100" y="2476119"/>
            <a:ext cx="514350" cy="171450"/>
          </a:xfrm>
          <a:prstGeom prst="rect">
            <a:avLst/>
          </a:prstGeom>
          <a:noFill/>
        </p:spPr>
        <p:txBody>
          <a:bodyPr wrap="none" lIns="0" rIns="0" tIns="0" bIns="0" anchor="ctr">
            <a:spAutoFit/>
          </a:bodyPr>
          <a:lstStyle/>
          <a:p>
            <a:pPr algn="r"/>
            <a:r>
              <a:rPr sz="900" b="1">
                <a:solidFill>
                  <a:srgbClr val="2E7D32"/>
                </a:solidFill>
                <a:latin typeface="Calibri"/>
              </a:rPr>
              <a:t>+9</a:t>
            </a:r>
          </a:p>
        </p:txBody>
      </p:sp>
      <p:sp>
        <p:nvSpPr>
          <p:cNvPr id="36" name="FMI Legend Chip"/>
          <p:cNvSpPr/>
          <p:nvPr/>
        </p:nvSpPr>
        <p:spPr>
          <a:xfrm>
            <a:off x="4928997" y="2690432"/>
            <a:ext cx="85725" cy="85725"/>
          </a:xfrm>
          <a:prstGeom prst="rect">
            <a:avLst/>
          </a:prstGeom>
          <a:solidFill>
            <a:srgbClr val="B2B2B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a:off x="5095684" y="2690432"/>
            <a:ext cx="85725" cy="85725"/>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26475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PVOH-Based</a:t>
            </a:r>
          </a:p>
        </p:txBody>
      </p:sp>
      <p:sp>
        <p:nvSpPr>
          <p:cNvPr id="39" name="BPS Value 6"/>
          <p:cNvSpPr txBox="1"/>
          <p:nvPr/>
        </p:nvSpPr>
        <p:spPr>
          <a:xfrm>
            <a:off x="6896100" y="2647569"/>
            <a:ext cx="514350" cy="171450"/>
          </a:xfrm>
          <a:prstGeom prst="rect">
            <a:avLst/>
          </a:prstGeom>
          <a:noFill/>
        </p:spPr>
        <p:txBody>
          <a:bodyPr wrap="none" lIns="0" rIns="0" tIns="0" bIns="0" anchor="ctr">
            <a:spAutoFit/>
          </a:bodyPr>
          <a:lstStyle/>
          <a:p>
            <a:pPr algn="r"/>
            <a:r>
              <a:rPr sz="900" b="1">
                <a:solidFill>
                  <a:srgbClr val="2E7D32"/>
                </a:solidFill>
                <a:latin typeface="Calibri"/>
              </a:rPr>
              <a:t>+5</a:t>
            </a:r>
          </a:p>
        </p:txBody>
      </p:sp>
      <p:sp>
        <p:nvSpPr>
          <p:cNvPr id="40" name="FMI Legend Chip"/>
          <p:cNvSpPr/>
          <p:nvPr/>
        </p:nvSpPr>
        <p:spPr>
          <a:xfrm>
            <a:off x="4928997" y="286188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5684" y="28618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28190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Metallized Barrier</a:t>
            </a:r>
          </a:p>
        </p:txBody>
      </p:sp>
      <p:sp>
        <p:nvSpPr>
          <p:cNvPr id="43" name="BPS Value 7"/>
          <p:cNvSpPr txBox="1"/>
          <p:nvPr/>
        </p:nvSpPr>
        <p:spPr>
          <a:xfrm>
            <a:off x="6896100" y="2819019"/>
            <a:ext cx="514350" cy="171450"/>
          </a:xfrm>
          <a:prstGeom prst="rect">
            <a:avLst/>
          </a:prstGeom>
          <a:noFill/>
        </p:spPr>
        <p:txBody>
          <a:bodyPr wrap="none" lIns="0" rIns="0" tIns="0" bIns="0" anchor="ctr">
            <a:spAutoFit/>
          </a:bodyPr>
          <a:lstStyle/>
          <a:p>
            <a:pPr algn="r"/>
            <a:r>
              <a:rPr sz="900" b="1">
                <a:solidFill>
                  <a:srgbClr val="E44D3A"/>
                </a:solidFill>
                <a:latin typeface="Calibri"/>
              </a:rPr>
              <a:t>-5</a:t>
            </a:r>
          </a:p>
        </p:txBody>
      </p:sp>
      <p:sp>
        <p:nvSpPr>
          <p:cNvPr id="44" name="FMI Legend Chip"/>
          <p:cNvSpPr/>
          <p:nvPr/>
        </p:nvSpPr>
        <p:spPr>
          <a:xfrm>
            <a:off x="4928997" y="303333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Isosceles Triangle 44"/>
          <p:cNvSpPr/>
          <p:nvPr/>
        </p:nvSpPr>
        <p:spPr>
          <a:xfrm rot="10800000">
            <a:off x="5095684" y="30333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BPS Name 8"/>
          <p:cNvSpPr txBox="1"/>
          <p:nvPr/>
        </p:nvSpPr>
        <p:spPr>
          <a:xfrm>
            <a:off x="5233797" y="29904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PA-Based</a:t>
            </a:r>
          </a:p>
        </p:txBody>
      </p:sp>
      <p:sp>
        <p:nvSpPr>
          <p:cNvPr id="47" name="BPS Value 8"/>
          <p:cNvSpPr txBox="1"/>
          <p:nvPr/>
        </p:nvSpPr>
        <p:spPr>
          <a:xfrm>
            <a:off x="6896100" y="2990469"/>
            <a:ext cx="514350" cy="171450"/>
          </a:xfrm>
          <a:prstGeom prst="rect">
            <a:avLst/>
          </a:prstGeom>
          <a:noFill/>
        </p:spPr>
        <p:txBody>
          <a:bodyPr wrap="none" lIns="0" rIns="0" tIns="0" bIns="0" anchor="ctr">
            <a:spAutoFit/>
          </a:bodyPr>
          <a:lstStyle/>
          <a:p>
            <a:pPr algn="r"/>
            <a:r>
              <a:rPr sz="900" b="1">
                <a:solidFill>
                  <a:srgbClr val="E44D3A"/>
                </a:solidFill>
                <a:latin typeface="Calibri"/>
              </a:rPr>
              <a:t>-13</a:t>
            </a:r>
          </a:p>
        </p:txBody>
      </p:sp>
      <p:sp>
        <p:nvSpPr>
          <p:cNvPr id="48" name="FMI Legend Chip"/>
          <p:cNvSpPr/>
          <p:nvPr/>
        </p:nvSpPr>
        <p:spPr>
          <a:xfrm>
            <a:off x="4928997" y="3204782"/>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Isosceles Triangle 48"/>
          <p:cNvSpPr/>
          <p:nvPr/>
        </p:nvSpPr>
        <p:spPr>
          <a:xfrm rot="10800000">
            <a:off x="5095684" y="32047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BPS Name 9"/>
          <p:cNvSpPr txBox="1"/>
          <p:nvPr/>
        </p:nvSpPr>
        <p:spPr>
          <a:xfrm>
            <a:off x="5233797" y="31619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Aluminum Foil-Based</a:t>
            </a:r>
          </a:p>
        </p:txBody>
      </p:sp>
      <p:sp>
        <p:nvSpPr>
          <p:cNvPr id="51" name="BPS Value 9"/>
          <p:cNvSpPr txBox="1"/>
          <p:nvPr/>
        </p:nvSpPr>
        <p:spPr>
          <a:xfrm>
            <a:off x="6896100" y="3161919"/>
            <a:ext cx="514350" cy="171450"/>
          </a:xfrm>
          <a:prstGeom prst="rect">
            <a:avLst/>
          </a:prstGeom>
          <a:noFill/>
        </p:spPr>
        <p:txBody>
          <a:bodyPr wrap="none" lIns="0" rIns="0" tIns="0" bIns="0" anchor="ctr">
            <a:spAutoFit/>
          </a:bodyPr>
          <a:lstStyle/>
          <a:p>
            <a:pPr algn="r"/>
            <a:r>
              <a:rPr sz="900" b="1">
                <a:solidFill>
                  <a:srgbClr val="E44D3A"/>
                </a:solidFill>
                <a:latin typeface="Calibri"/>
              </a:rPr>
              <a:t>-17</a:t>
            </a:r>
          </a:p>
        </p:txBody>
      </p:sp>
      <p:sp>
        <p:nvSpPr>
          <p:cNvPr id="52" name="FMI Legend Chip"/>
          <p:cNvSpPr/>
          <p:nvPr/>
        </p:nvSpPr>
        <p:spPr>
          <a:xfrm>
            <a:off x="4928997" y="3376232"/>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Isosceles Triangle 52"/>
          <p:cNvSpPr/>
          <p:nvPr/>
        </p:nvSpPr>
        <p:spPr>
          <a:xfrm rot="10800000">
            <a:off x="5095684" y="337623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BPS Name 10"/>
          <p:cNvSpPr txBox="1"/>
          <p:nvPr/>
        </p:nvSpPr>
        <p:spPr>
          <a:xfrm>
            <a:off x="5233797" y="333336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PVDC-Based</a:t>
            </a:r>
          </a:p>
        </p:txBody>
      </p:sp>
      <p:sp>
        <p:nvSpPr>
          <p:cNvPr id="55" name="BPS Value 10"/>
          <p:cNvSpPr txBox="1"/>
          <p:nvPr/>
        </p:nvSpPr>
        <p:spPr>
          <a:xfrm>
            <a:off x="6896100" y="3333369"/>
            <a:ext cx="514350" cy="171450"/>
          </a:xfrm>
          <a:prstGeom prst="rect">
            <a:avLst/>
          </a:prstGeom>
          <a:noFill/>
        </p:spPr>
        <p:txBody>
          <a:bodyPr wrap="none" lIns="0" rIns="0" tIns="0" bIns="0" anchor="ctr">
            <a:spAutoFit/>
          </a:bodyPr>
          <a:lstStyle/>
          <a:p>
            <a:pPr algn="r"/>
            <a:r>
              <a:rPr sz="900" b="1">
                <a:solidFill>
                  <a:srgbClr val="E44D3A"/>
                </a:solidFill>
                <a:latin typeface="Calibri"/>
              </a:rPr>
              <a:t>-31</a:t>
            </a:r>
          </a:p>
        </p:txBody>
      </p:sp>
      <p:sp>
        <p:nvSpPr>
          <p:cNvPr id="56" name="FMI Legend Chip"/>
          <p:cNvSpPr/>
          <p:nvPr/>
        </p:nvSpPr>
        <p:spPr>
          <a:xfrm>
            <a:off x="4928997" y="354768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Isosceles Triangle 56"/>
          <p:cNvSpPr/>
          <p:nvPr/>
        </p:nvSpPr>
        <p:spPr>
          <a:xfrm rot="10800000">
            <a:off x="5095684" y="3547682"/>
            <a:ext cx="85725" cy="85725"/>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BPS Name 11"/>
          <p:cNvSpPr txBox="1"/>
          <p:nvPr/>
        </p:nvSpPr>
        <p:spPr>
          <a:xfrm>
            <a:off x="5233797" y="3504819"/>
            <a:ext cx="1662303" cy="171450"/>
          </a:xfrm>
          <a:prstGeom prst="rect">
            <a:avLst/>
          </a:prstGeom>
          <a:noFill/>
        </p:spPr>
        <p:txBody>
          <a:bodyPr wrap="none" lIns="19050" rIns="19050" tIns="0" bIns="0" anchor="ctr">
            <a:spAutoFit/>
          </a:bodyPr>
          <a:lstStyle/>
          <a:p>
            <a:pPr algn="l"/>
            <a:r>
              <a:rPr sz="900" b="0">
                <a:solidFill>
                  <a:srgbClr val="2E2E2E"/>
                </a:solidFill>
                <a:latin typeface="Calibri"/>
              </a:rPr>
              <a:t>PP-Based</a:t>
            </a:r>
          </a:p>
        </p:txBody>
      </p:sp>
      <p:sp>
        <p:nvSpPr>
          <p:cNvPr id="59" name="BPS Value 11"/>
          <p:cNvSpPr txBox="1"/>
          <p:nvPr/>
        </p:nvSpPr>
        <p:spPr>
          <a:xfrm>
            <a:off x="6896100" y="3504819"/>
            <a:ext cx="514350" cy="171450"/>
          </a:xfrm>
          <a:prstGeom prst="rect">
            <a:avLst/>
          </a:prstGeom>
          <a:noFill/>
        </p:spPr>
        <p:txBody>
          <a:bodyPr wrap="none" lIns="0" rIns="0" tIns="0" bIns="0" anchor="ctr">
            <a:spAutoFit/>
          </a:bodyPr>
          <a:lstStyle/>
          <a:p>
            <a:pPr algn="r"/>
            <a:r>
              <a:rPr sz="900" b="1">
                <a:solidFill>
                  <a:srgbClr val="E44D3A"/>
                </a:solidFill>
                <a:latin typeface="Calibri"/>
              </a:rPr>
              <a:t>-32</a:t>
            </a:r>
          </a:p>
        </p:txBody>
      </p:sp>
      <p:sp>
        <p:nvSpPr>
          <p:cNvPr id="60" name="Rounded Rectangle 59"/>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Principal Material / Barrier Technology</a:t>
            </a:r>
          </a:p>
        </p:txBody>
      </p:sp>
      <p:sp>
        <p:nvSpPr>
          <p:cNvPr id="62" name="Rectangle 61"/>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principal material / barrier technology, other specialty barrier technologies segment is expected to witness the highest CAGR of 7.2% over the forecast period. In terms of value share by principal material / barrier technology, the pe-based segment is expected to dominate the market, gaining 32 BPS and accounting for 31.8% share by 2036.</a:t>
            </a:r>
          </a:p>
          <a:p>
            <a:pPr algn="l">
              <a:lnSpc>
                <a:spcPct val="110000"/>
              </a:lnSpc>
              <a:spcBef>
                <a:spcPts val="0"/>
              </a:spcBef>
              <a:spcAft>
                <a:spcPts val="500"/>
              </a:spcAft>
            </a:pPr>
            <a:r>
              <a:rPr sz="1150" b="0">
                <a:solidFill>
                  <a:srgbClr val="2E2E2E"/>
                </a:solidFill>
                <a:latin typeface="Calibri"/>
              </a:rPr>
              <a:t>The pp-based segment is expected to lose 32 BPS over the forecast period to account for 20.0% share by 2036.</a:t>
            </a:r>
          </a:p>
          <a:p>
            <a:pPr algn="l">
              <a:lnSpc>
                <a:spcPct val="110000"/>
              </a:lnSpc>
              <a:spcBef>
                <a:spcPts val="0"/>
              </a:spcBef>
              <a:spcAft>
                <a:spcPts val="500"/>
              </a:spcAft>
            </a:pPr>
            <a:r>
              <a:rPr sz="1150" b="0">
                <a:solidFill>
                  <a:srgbClr val="2E2E2E"/>
                </a:solidFill>
                <a:latin typeface="Calibri"/>
              </a:rPr>
              <a:t>Other Specialty Barrier Technologies grow fastest at 7.2% against 6.6% for Europe because brands must keep shelf life while meeting recyclability rules, so new coatings, bio-based barrier layers and advanced PE solutions replace PVDC and foil. The category starts from a small 2.8% share, which lets quick adoption lift its share by 17 BPS. PVDC-Based grows slowest at 5.9%.</a:t>
            </a:r>
          </a:p>
        </p:txBody>
      </p:sp>
      <p:sp>
        <p:nvSpPr>
          <p:cNvPr id="64" name="TextBox 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Volume,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E6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57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74AC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26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59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0E71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B7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0D5A8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0D65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3B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0C416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3%</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Principal Material / Barrier Technology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Principal Material / Barrier Technology,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2457450"/>
          </a:xfrm>
          <a:prstGeom prst="roundRect">
            <a:avLst>
              <a:gd name="adj" fmla="val 31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Principal Material / Barrier Technology (%)  ·  light = lower, dark = higher growth</a:t>
            </a:r>
          </a:p>
        </p:txBody>
      </p:sp>
      <p:sp>
        <p:nvSpPr>
          <p:cNvPr id="17" name="TextBox 16"/>
          <p:cNvSpPr txBox="1"/>
          <p:nvPr/>
        </p:nvSpPr>
        <p:spPr>
          <a:xfrm>
            <a:off x="18573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4457700"/>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460057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PE-Based</a:t>
            </a:r>
          </a:p>
        </p:txBody>
      </p:sp>
      <p:sp>
        <p:nvSpPr>
          <p:cNvPr id="33" name="Rectangle 32"/>
          <p:cNvSpPr/>
          <p:nvPr/>
        </p:nvSpPr>
        <p:spPr>
          <a:xfrm>
            <a:off x="1857375" y="4600575"/>
            <a:ext cx="643890" cy="179243"/>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4600575"/>
            <a:ext cx="643890" cy="179243"/>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4600575"/>
            <a:ext cx="643890" cy="179243"/>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4600575"/>
            <a:ext cx="643890" cy="179243"/>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4600575"/>
            <a:ext cx="643890" cy="179243"/>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4600575"/>
            <a:ext cx="643890" cy="179243"/>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4600575"/>
            <a:ext cx="643890" cy="179243"/>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4600575"/>
            <a:ext cx="643890" cy="179243"/>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4600575"/>
            <a:ext cx="643890" cy="179243"/>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4600575"/>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4600575"/>
            <a:ext cx="643890" cy="17924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4600575"/>
            <a:ext cx="643890" cy="179243"/>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4600575"/>
            <a:ext cx="643890" cy="179243"/>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4600575"/>
            <a:ext cx="643890" cy="179243"/>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4600575"/>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477981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PP-Based</a:t>
            </a:r>
          </a:p>
        </p:txBody>
      </p:sp>
      <p:sp>
        <p:nvSpPr>
          <p:cNvPr id="49" name="Rectangle 48"/>
          <p:cNvSpPr/>
          <p:nvPr/>
        </p:nvSpPr>
        <p:spPr>
          <a:xfrm>
            <a:off x="1857375" y="4779818"/>
            <a:ext cx="643890" cy="179243"/>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4779818"/>
            <a:ext cx="643890" cy="179243"/>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4779818"/>
            <a:ext cx="643890" cy="179243"/>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4779818"/>
            <a:ext cx="643890" cy="179243"/>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4779818"/>
            <a:ext cx="643890" cy="179243"/>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4779818"/>
            <a:ext cx="643890" cy="179243"/>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4779818"/>
            <a:ext cx="643890" cy="179243"/>
          </a:xfrm>
          <a:prstGeom prst="rect">
            <a:avLst/>
          </a:prstGeom>
          <a:solidFill>
            <a:srgbClr val="93BE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4779818"/>
            <a:ext cx="643890" cy="179243"/>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4779818"/>
            <a:ext cx="643890" cy="179243"/>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4779818"/>
            <a:ext cx="643890" cy="179243"/>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4779818"/>
            <a:ext cx="643890" cy="179243"/>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4779818"/>
            <a:ext cx="643890" cy="179243"/>
          </a:xfrm>
          <a:prstGeom prst="rect">
            <a:avLst/>
          </a:prstGeom>
          <a:solidFill>
            <a:srgbClr val="21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4779818"/>
            <a:ext cx="643890" cy="17924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4779818"/>
            <a:ext cx="643890" cy="179243"/>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4779818"/>
            <a:ext cx="643890" cy="179243"/>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95906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PET-Based</a:t>
            </a:r>
          </a:p>
        </p:txBody>
      </p:sp>
      <p:sp>
        <p:nvSpPr>
          <p:cNvPr id="65" name="Rectangle 64"/>
          <p:cNvSpPr/>
          <p:nvPr/>
        </p:nvSpPr>
        <p:spPr>
          <a:xfrm>
            <a:off x="1857375" y="4959061"/>
            <a:ext cx="643890" cy="179243"/>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959061"/>
            <a:ext cx="643890" cy="179243"/>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959061"/>
            <a:ext cx="643890" cy="179243"/>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959061"/>
            <a:ext cx="643890" cy="179243"/>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959061"/>
            <a:ext cx="643890" cy="179243"/>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959061"/>
            <a:ext cx="643890" cy="179243"/>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959061"/>
            <a:ext cx="643890" cy="179243"/>
          </a:xfrm>
          <a:prstGeom prst="rect">
            <a:avLst/>
          </a:prstGeom>
          <a:solidFill>
            <a:srgbClr val="6D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959061"/>
            <a:ext cx="643890" cy="179243"/>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959061"/>
            <a:ext cx="643890" cy="179243"/>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959061"/>
            <a:ext cx="643890" cy="179243"/>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959061"/>
            <a:ext cx="643890" cy="179243"/>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959061"/>
            <a:ext cx="643890" cy="179243"/>
          </a:xfrm>
          <a:prstGeom prst="rect">
            <a:avLst/>
          </a:prstGeom>
          <a:solidFill>
            <a:srgbClr val="0D63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959061"/>
            <a:ext cx="643890" cy="179243"/>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959061"/>
            <a:ext cx="643890" cy="179243"/>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959061"/>
            <a:ext cx="643890" cy="179243"/>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138305"/>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PA-Based</a:t>
            </a:r>
          </a:p>
        </p:txBody>
      </p:sp>
      <p:sp>
        <p:nvSpPr>
          <p:cNvPr id="81" name="Rectangle 80"/>
          <p:cNvSpPr/>
          <p:nvPr/>
        </p:nvSpPr>
        <p:spPr>
          <a:xfrm>
            <a:off x="1857375" y="5138305"/>
            <a:ext cx="643890" cy="179243"/>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138305"/>
            <a:ext cx="643890" cy="179243"/>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138305"/>
            <a:ext cx="643890" cy="179243"/>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138305"/>
            <a:ext cx="643890" cy="179243"/>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138305"/>
            <a:ext cx="643890" cy="179243"/>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138305"/>
            <a:ext cx="643890" cy="179243"/>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138305"/>
            <a:ext cx="643890" cy="179243"/>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138305"/>
            <a:ext cx="643890" cy="179243"/>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138305"/>
            <a:ext cx="643890" cy="179243"/>
          </a:xfrm>
          <a:prstGeom prst="rect">
            <a:avLst/>
          </a:prstGeom>
          <a:solidFill>
            <a:srgbClr val="4B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138305"/>
            <a:ext cx="643890" cy="179243"/>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138305"/>
            <a:ext cx="643890" cy="179243"/>
          </a:xfrm>
          <a:prstGeom prst="rect">
            <a:avLst/>
          </a:prstGeom>
          <a:solidFill>
            <a:srgbClr val="3086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138305"/>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138305"/>
            <a:ext cx="643890" cy="179243"/>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138305"/>
            <a:ext cx="643890" cy="179243"/>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138305"/>
            <a:ext cx="643890" cy="179243"/>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238125" y="5317548"/>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EVOH-Based</a:t>
            </a:r>
          </a:p>
        </p:txBody>
      </p:sp>
      <p:sp>
        <p:nvSpPr>
          <p:cNvPr id="97" name="Rectangle 96"/>
          <p:cNvSpPr/>
          <p:nvPr/>
        </p:nvSpPr>
        <p:spPr>
          <a:xfrm>
            <a:off x="1857375" y="5317548"/>
            <a:ext cx="643890" cy="179243"/>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2501265" y="5317548"/>
            <a:ext cx="643890" cy="179243"/>
          </a:xfrm>
          <a:prstGeom prst="rect">
            <a:avLst/>
          </a:prstGeom>
          <a:solidFill>
            <a:srgbClr val="D9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3145155" y="5317548"/>
            <a:ext cx="643890" cy="17924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3789045" y="5317548"/>
            <a:ext cx="643890" cy="179243"/>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4432935" y="5317548"/>
            <a:ext cx="643890" cy="179243"/>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5076825" y="5317548"/>
            <a:ext cx="643890" cy="179243"/>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5720715" y="5317548"/>
            <a:ext cx="643890" cy="179243"/>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6364605" y="5317548"/>
            <a:ext cx="643890" cy="179243"/>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7008495" y="5317548"/>
            <a:ext cx="643890" cy="179243"/>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7652385" y="5317548"/>
            <a:ext cx="643890" cy="179243"/>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8296275" y="5317548"/>
            <a:ext cx="643890" cy="179243"/>
          </a:xfrm>
          <a:prstGeom prst="rect">
            <a:avLst/>
          </a:prstGeom>
          <a:solidFill>
            <a:srgbClr val="0E679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8940165" y="5317548"/>
            <a:ext cx="643890" cy="179243"/>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9584055" y="5317548"/>
            <a:ext cx="643890" cy="179243"/>
          </a:xfrm>
          <a:prstGeom prst="rect">
            <a:avLst/>
          </a:prstGeom>
          <a:solidFill>
            <a:srgbClr val="0D669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0227945" y="5317548"/>
            <a:ext cx="643890" cy="179243"/>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871835" y="5317548"/>
            <a:ext cx="643890" cy="179243"/>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238125" y="5496791"/>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PVDC-Based</a:t>
            </a:r>
          </a:p>
        </p:txBody>
      </p:sp>
      <p:sp>
        <p:nvSpPr>
          <p:cNvPr id="113" name="Rectangle 112"/>
          <p:cNvSpPr/>
          <p:nvPr/>
        </p:nvSpPr>
        <p:spPr>
          <a:xfrm>
            <a:off x="1857375" y="5496791"/>
            <a:ext cx="643890" cy="179243"/>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2501265" y="5496791"/>
            <a:ext cx="643890" cy="179243"/>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3145155" y="5496791"/>
            <a:ext cx="643890" cy="179243"/>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3789045" y="5496791"/>
            <a:ext cx="643890" cy="179243"/>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4432935" y="5496791"/>
            <a:ext cx="643890" cy="179243"/>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5076825" y="5496791"/>
            <a:ext cx="643890" cy="179243"/>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5720715" y="5496791"/>
            <a:ext cx="643890" cy="17924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6364605" y="5496791"/>
            <a:ext cx="643890" cy="179243"/>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7008495" y="5496791"/>
            <a:ext cx="643890" cy="179243"/>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7652385" y="5496791"/>
            <a:ext cx="643890" cy="179243"/>
          </a:xfrm>
          <a:prstGeom prst="rect">
            <a:avLst/>
          </a:prstGeom>
          <a:solidFill>
            <a:srgbClr val="6B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8296275" y="5496791"/>
            <a:ext cx="643890" cy="179243"/>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8940165" y="5496791"/>
            <a:ext cx="643890" cy="179243"/>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9584055" y="5496791"/>
            <a:ext cx="643890" cy="179243"/>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0227945" y="5496791"/>
            <a:ext cx="643890" cy="179243"/>
          </a:xfrm>
          <a:prstGeom prst="rect">
            <a:avLst/>
          </a:prstGeom>
          <a:solidFill>
            <a:srgbClr val="60A2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0871835" y="5496791"/>
            <a:ext cx="643890" cy="179243"/>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238125" y="567603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PVOH-Based</a:t>
            </a:r>
          </a:p>
        </p:txBody>
      </p:sp>
      <p:sp>
        <p:nvSpPr>
          <p:cNvPr id="129" name="Rectangle 128"/>
          <p:cNvSpPr/>
          <p:nvPr/>
        </p:nvSpPr>
        <p:spPr>
          <a:xfrm>
            <a:off x="1857375" y="5676034"/>
            <a:ext cx="643890" cy="179243"/>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2501265" y="5676034"/>
            <a:ext cx="643890" cy="179243"/>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3145155" y="5676034"/>
            <a:ext cx="643890" cy="179243"/>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3789045" y="5676034"/>
            <a:ext cx="643890" cy="179243"/>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4432935" y="5676034"/>
            <a:ext cx="643890" cy="179243"/>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5076825" y="5676034"/>
            <a:ext cx="643890" cy="179243"/>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720715" y="5676034"/>
            <a:ext cx="643890" cy="179243"/>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6364605" y="5676034"/>
            <a:ext cx="643890" cy="179243"/>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7008495" y="5676034"/>
            <a:ext cx="643890" cy="179243"/>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7652385" y="5676034"/>
            <a:ext cx="643890" cy="179243"/>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Rectangle 138"/>
          <p:cNvSpPr/>
          <p:nvPr/>
        </p:nvSpPr>
        <p:spPr>
          <a:xfrm>
            <a:off x="8296275" y="5676034"/>
            <a:ext cx="643890" cy="179243"/>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8940165" y="5676034"/>
            <a:ext cx="643890" cy="179243"/>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9584055" y="5676034"/>
            <a:ext cx="643890" cy="179243"/>
          </a:xfrm>
          <a:prstGeom prst="rect">
            <a:avLst/>
          </a:prstGeom>
          <a:solidFill>
            <a:srgbClr val="0D5B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10227945" y="5676034"/>
            <a:ext cx="643890" cy="179243"/>
          </a:xfrm>
          <a:prstGeom prst="rect">
            <a:avLst/>
          </a:prstGeom>
          <a:solidFill>
            <a:srgbClr val="0D639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10871835" y="5676034"/>
            <a:ext cx="643890" cy="179243"/>
          </a:xfrm>
          <a:prstGeom prst="rect">
            <a:avLst/>
          </a:prstGeom>
          <a:solidFill>
            <a:srgbClr val="0E6CA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238125" y="585527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Metallized Barrier</a:t>
            </a:r>
          </a:p>
        </p:txBody>
      </p:sp>
      <p:sp>
        <p:nvSpPr>
          <p:cNvPr id="145" name="Rectangle 144"/>
          <p:cNvSpPr/>
          <p:nvPr/>
        </p:nvSpPr>
        <p:spPr>
          <a:xfrm>
            <a:off x="1857375" y="5855277"/>
            <a:ext cx="643890" cy="179243"/>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2501265" y="5855277"/>
            <a:ext cx="643890" cy="179243"/>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3145155" y="5855277"/>
            <a:ext cx="643890" cy="179243"/>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3789045" y="5855277"/>
            <a:ext cx="643890" cy="179243"/>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4432935" y="5855277"/>
            <a:ext cx="643890" cy="17924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5076825" y="5855277"/>
            <a:ext cx="643890" cy="179243"/>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5720715" y="5855277"/>
            <a:ext cx="643890" cy="179243"/>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6364605" y="5855277"/>
            <a:ext cx="643890" cy="179243"/>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7008495" y="5855277"/>
            <a:ext cx="643890" cy="179243"/>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7652385" y="5855277"/>
            <a:ext cx="643890" cy="179243"/>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Rectangle 154"/>
          <p:cNvSpPr/>
          <p:nvPr/>
        </p:nvSpPr>
        <p:spPr>
          <a:xfrm>
            <a:off x="8296275" y="5855277"/>
            <a:ext cx="643890" cy="179243"/>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Rectangle 155"/>
          <p:cNvSpPr/>
          <p:nvPr/>
        </p:nvSpPr>
        <p:spPr>
          <a:xfrm>
            <a:off x="8940165" y="5855277"/>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9584055" y="5855277"/>
            <a:ext cx="643890" cy="179243"/>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10227945" y="5855277"/>
            <a:ext cx="643890" cy="179243"/>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10871835" y="5855277"/>
            <a:ext cx="643890" cy="179243"/>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238125" y="6034520"/>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AlOx / SiOx-Coated</a:t>
            </a:r>
          </a:p>
        </p:txBody>
      </p:sp>
      <p:sp>
        <p:nvSpPr>
          <p:cNvPr id="161" name="Rectangle 160"/>
          <p:cNvSpPr/>
          <p:nvPr/>
        </p:nvSpPr>
        <p:spPr>
          <a:xfrm>
            <a:off x="1857375" y="6034520"/>
            <a:ext cx="643890" cy="179243"/>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2501265" y="6034520"/>
            <a:ext cx="643890" cy="179243"/>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3145155" y="6034520"/>
            <a:ext cx="643890" cy="179243"/>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3789045" y="6034520"/>
            <a:ext cx="643890" cy="179243"/>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4432935" y="6034520"/>
            <a:ext cx="643890" cy="179243"/>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5076825" y="6034520"/>
            <a:ext cx="643890" cy="179243"/>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5720715" y="6034520"/>
            <a:ext cx="643890" cy="179243"/>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6364605" y="6034520"/>
            <a:ext cx="643890" cy="179243"/>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7008495" y="6034520"/>
            <a:ext cx="643890" cy="179243"/>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7652385" y="6034520"/>
            <a:ext cx="643890" cy="179243"/>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Rectangle 170"/>
          <p:cNvSpPr/>
          <p:nvPr/>
        </p:nvSpPr>
        <p:spPr>
          <a:xfrm>
            <a:off x="8296275" y="6034520"/>
            <a:ext cx="643890" cy="179243"/>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8940165" y="6034520"/>
            <a:ext cx="643890" cy="179243"/>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9584055" y="6034520"/>
            <a:ext cx="643890" cy="179243"/>
          </a:xfrm>
          <a:prstGeom prst="rect">
            <a:avLst/>
          </a:prstGeom>
          <a:solidFill>
            <a:srgbClr val="0C4B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10227945" y="6034520"/>
            <a:ext cx="643890" cy="179243"/>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10871835" y="6034520"/>
            <a:ext cx="643890" cy="179243"/>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238125" y="6213764"/>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Aluminum Foil-Based</a:t>
            </a:r>
          </a:p>
        </p:txBody>
      </p:sp>
      <p:sp>
        <p:nvSpPr>
          <p:cNvPr id="177" name="Rectangle 176"/>
          <p:cNvSpPr/>
          <p:nvPr/>
        </p:nvSpPr>
        <p:spPr>
          <a:xfrm>
            <a:off x="1857375" y="6213764"/>
            <a:ext cx="643890" cy="179243"/>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2501265" y="6213764"/>
            <a:ext cx="643890" cy="179243"/>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3145155" y="6213764"/>
            <a:ext cx="643890" cy="179243"/>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3789045" y="6213764"/>
            <a:ext cx="643890" cy="179243"/>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4432935" y="6213764"/>
            <a:ext cx="643890" cy="179243"/>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5076825" y="6213764"/>
            <a:ext cx="643890" cy="179243"/>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5720715" y="6213764"/>
            <a:ext cx="643890" cy="179243"/>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6364605" y="6213764"/>
            <a:ext cx="643890" cy="179243"/>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7008495" y="6213764"/>
            <a:ext cx="643890" cy="179243"/>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7652385" y="6213764"/>
            <a:ext cx="643890" cy="179243"/>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Rectangle 186"/>
          <p:cNvSpPr/>
          <p:nvPr/>
        </p:nvSpPr>
        <p:spPr>
          <a:xfrm>
            <a:off x="8296275" y="6213764"/>
            <a:ext cx="643890" cy="179243"/>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Rectangle 187"/>
          <p:cNvSpPr/>
          <p:nvPr/>
        </p:nvSpPr>
        <p:spPr>
          <a:xfrm>
            <a:off x="8940165" y="6213764"/>
            <a:ext cx="643890" cy="179243"/>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9584055" y="6213764"/>
            <a:ext cx="643890" cy="179243"/>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10227945" y="6213764"/>
            <a:ext cx="643890" cy="179243"/>
          </a:xfrm>
          <a:prstGeom prst="rect">
            <a:avLst/>
          </a:prstGeom>
          <a:solidFill>
            <a:srgbClr val="50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10871835" y="6213764"/>
            <a:ext cx="643890" cy="179243"/>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238125" y="6393007"/>
            <a:ext cx="1590675" cy="179243"/>
          </a:xfrm>
          <a:prstGeom prst="rect">
            <a:avLst/>
          </a:prstGeom>
          <a:noFill/>
        </p:spPr>
        <p:txBody>
          <a:bodyPr wrap="square" lIns="28575" rIns="28575" tIns="9525" bIns="9525" anchor="ctr">
            <a:spAutoFit/>
          </a:bodyPr>
          <a:lstStyle/>
          <a:p>
            <a:pPr algn="l"/>
            <a:r>
              <a:rPr sz="1100" b="0">
                <a:solidFill>
                  <a:srgbClr val="2E2E2E"/>
                </a:solidFill>
                <a:latin typeface="Calibri"/>
              </a:rPr>
              <a:t>Other Specialty Barrier Technologies</a:t>
            </a:r>
          </a:p>
        </p:txBody>
      </p:sp>
      <p:sp>
        <p:nvSpPr>
          <p:cNvPr id="193" name="Rectangle 192"/>
          <p:cNvSpPr/>
          <p:nvPr/>
        </p:nvSpPr>
        <p:spPr>
          <a:xfrm>
            <a:off x="1857375" y="6393007"/>
            <a:ext cx="643890" cy="179243"/>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2501265" y="6393007"/>
            <a:ext cx="643890" cy="179243"/>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3145155" y="6393007"/>
            <a:ext cx="643890" cy="179243"/>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3789045" y="6393007"/>
            <a:ext cx="643890" cy="179243"/>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4432935" y="6393007"/>
            <a:ext cx="643890" cy="179243"/>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5076825" y="6393007"/>
            <a:ext cx="643890" cy="179243"/>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5720715" y="6393007"/>
            <a:ext cx="643890" cy="179243"/>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364605" y="6393007"/>
            <a:ext cx="643890" cy="179243"/>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7008495" y="6393007"/>
            <a:ext cx="643890" cy="179243"/>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7652385" y="6393007"/>
            <a:ext cx="643890" cy="179243"/>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8296275" y="6393007"/>
            <a:ext cx="643890" cy="179243"/>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Rectangle 203"/>
          <p:cNvSpPr/>
          <p:nvPr/>
        </p:nvSpPr>
        <p:spPr>
          <a:xfrm>
            <a:off x="8940165" y="6393007"/>
            <a:ext cx="643890" cy="179243"/>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9584055" y="6393007"/>
            <a:ext cx="643890" cy="179243"/>
          </a:xfrm>
          <a:prstGeom prst="rect">
            <a:avLst/>
          </a:prstGeom>
          <a:solidFill>
            <a:srgbClr val="0B2F4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10227945" y="6393007"/>
            <a:ext cx="643890" cy="179243"/>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10871835" y="6393007"/>
            <a:ext cx="643890" cy="179243"/>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11572875" y="4638675"/>
            <a:ext cx="104775" cy="55007"/>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11572875" y="4686062"/>
            <a:ext cx="104775" cy="55007"/>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11572875" y="4733449"/>
            <a:ext cx="104775" cy="55007"/>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11572875" y="4780836"/>
            <a:ext cx="104775" cy="55007"/>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11572875" y="4828222"/>
            <a:ext cx="104775" cy="55007"/>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11572875" y="4875609"/>
            <a:ext cx="104775" cy="55007"/>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11572875" y="4922996"/>
            <a:ext cx="104775" cy="55007"/>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11572875" y="4970383"/>
            <a:ext cx="104775" cy="55007"/>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11572875" y="5017770"/>
            <a:ext cx="104775" cy="55007"/>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1572875" y="5065157"/>
            <a:ext cx="104775" cy="55007"/>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1572875" y="5112544"/>
            <a:ext cx="104775" cy="55007"/>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5159931"/>
            <a:ext cx="104775" cy="55007"/>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5207318"/>
            <a:ext cx="104775" cy="55007"/>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5254704"/>
            <a:ext cx="104775" cy="55007"/>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5302091"/>
            <a:ext cx="104775" cy="55007"/>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5349478"/>
            <a:ext cx="104775" cy="55007"/>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5396865"/>
            <a:ext cx="104775" cy="55007"/>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5444252"/>
            <a:ext cx="104775" cy="55007"/>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5491639"/>
            <a:ext cx="104775" cy="55007"/>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5539026"/>
            <a:ext cx="104775" cy="55007"/>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5586412"/>
            <a:ext cx="104775" cy="55007"/>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5633799"/>
            <a:ext cx="104775" cy="55007"/>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5681186"/>
            <a:ext cx="104775" cy="55007"/>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5728573"/>
            <a:ext cx="104775" cy="55007"/>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5775960"/>
            <a:ext cx="104775" cy="55007"/>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5823347"/>
            <a:ext cx="104775" cy="55007"/>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5870734"/>
            <a:ext cx="104775" cy="55007"/>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5918121"/>
            <a:ext cx="104775" cy="55007"/>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5965508"/>
            <a:ext cx="104775" cy="55007"/>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6012894"/>
            <a:ext cx="104775" cy="55007"/>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6060281"/>
            <a:ext cx="104775" cy="55007"/>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6107668"/>
            <a:ext cx="104775" cy="55007"/>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6155055"/>
            <a:ext cx="104775" cy="55007"/>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6202442"/>
            <a:ext cx="104775" cy="55007"/>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6249829"/>
            <a:ext cx="104775" cy="55007"/>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6297216"/>
            <a:ext cx="104775" cy="55007"/>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6344602"/>
            <a:ext cx="104775" cy="55007"/>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6391989"/>
            <a:ext cx="104775" cy="55007"/>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6439376"/>
            <a:ext cx="104775" cy="55007"/>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6486763"/>
            <a:ext cx="104775" cy="55007"/>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4638675"/>
            <a:ext cx="104775" cy="1895475"/>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1687175" y="4572000"/>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250" name="TextBox 249"/>
          <p:cNvSpPr txBox="1"/>
          <p:nvPr/>
        </p:nvSpPr>
        <p:spPr>
          <a:xfrm>
            <a:off x="11687175" y="5519738"/>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51" name="TextBox 250"/>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52" name="TextBox 2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Material Structure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Coextruded Multilayer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7,699</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14,362</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6.4%</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Laminated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6,696</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12,529</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6.5%</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Monolayer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4,088</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7,881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6.8%</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Mono-Material Recyclable Structur…</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2,051</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4,117</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7.2%</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material structure, mono-material recyclable structures segment is expected to witness the highest CAGR of 7.2% over the forecast period. In terms of value share by material structure, the coextruded multilayer films segment is expected to dominate the market, losing 37 BPS and accounting for 29.1%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Coextruded multilayer films segment is projected to register 1.1X higher value than laminated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Coextruded Multilayer Films: </a:t>
            </a:r>
            <a:r>
              <a:rPr sz="1100" b="0">
                <a:solidFill>
                  <a:srgbClr val="2E2E2E"/>
                </a:solidFill>
                <a:latin typeface="Calibri"/>
              </a:rPr>
              <a:t>29% of 2026 value · 6.4%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Laminated Films: </a:t>
            </a:r>
            <a:r>
              <a:rPr sz="1100" b="0">
                <a:solidFill>
                  <a:srgbClr val="2E2E2E"/>
                </a:solidFill>
                <a:latin typeface="Calibri"/>
              </a:rPr>
              <a:t>26% of 2026 value · 6.5% CAGR serves a niche.</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Monolayer Films: </a:t>
            </a:r>
            <a:r>
              <a:rPr sz="1100" b="0">
                <a:solidFill>
                  <a:srgbClr val="2E2E2E"/>
                </a:solidFill>
                <a:latin typeface="Calibri"/>
              </a:rPr>
              <a:t>16% of 2026 value · 6.8%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Mono-Material Recyclable Structures: </a:t>
            </a:r>
            <a:r>
              <a:rPr sz="1100" b="0">
                <a:solidFill>
                  <a:srgbClr val="2E2E2E"/>
                </a:solidFill>
                <a:latin typeface="Calibri"/>
              </a:rPr>
              <a:t>8% of 2026 value · 7.2% CAGR grows fastest.</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Material Structure split shows how demand is distributed across material structure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Material Structure segment is projected to grow at a CAGR of 6.6%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Material Structure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Material Structure,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Material Structure segment categorizes the market by material structure.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325755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325755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Foil-Laminated Structures</a:t>
            </a:r>
          </a:p>
        </p:txBody>
      </p:sp>
      <p:sp>
        <p:nvSpPr>
          <p:cNvPr id="22" name="Rectangle 21"/>
          <p:cNvSpPr/>
          <p:nvPr/>
        </p:nvSpPr>
        <p:spPr>
          <a:xfrm>
            <a:off x="18669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2,013</a:t>
            </a:r>
          </a:p>
        </p:txBody>
      </p:sp>
      <p:sp>
        <p:nvSpPr>
          <p:cNvPr id="23" name="Rectangle 22"/>
          <p:cNvSpPr/>
          <p:nvPr/>
        </p:nvSpPr>
        <p:spPr>
          <a:xfrm>
            <a:off x="18669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3,822</a:t>
            </a:r>
          </a:p>
        </p:txBody>
      </p:sp>
      <p:sp>
        <p:nvSpPr>
          <p:cNvPr id="24" name="Rectangle 23"/>
          <p:cNvSpPr/>
          <p:nvPr/>
        </p:nvSpPr>
        <p:spPr>
          <a:xfrm>
            <a:off x="18669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6.6%</a:t>
            </a:r>
          </a:p>
        </p:txBody>
      </p:sp>
      <p:sp>
        <p:nvSpPr>
          <p:cNvPr id="25" name="Oval 24"/>
          <p:cNvSpPr/>
          <p:nvPr/>
        </p:nvSpPr>
        <p:spPr>
          <a:xfrm>
            <a:off x="333375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26" name="Rounded Rectangle 25"/>
          <p:cNvSpPr/>
          <p:nvPr/>
        </p:nvSpPr>
        <p:spPr>
          <a:xfrm>
            <a:off x="5238750" y="1773916"/>
            <a:ext cx="3257550"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5238750" y="1992961"/>
            <a:ext cx="3257550"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527685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Metallized Films</a:t>
            </a:r>
          </a:p>
        </p:txBody>
      </p:sp>
      <p:sp>
        <p:nvSpPr>
          <p:cNvPr id="29" name="Rectangle 28"/>
          <p:cNvSpPr/>
          <p:nvPr/>
        </p:nvSpPr>
        <p:spPr>
          <a:xfrm>
            <a:off x="523875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1,830</a:t>
            </a:r>
          </a:p>
        </p:txBody>
      </p:sp>
      <p:sp>
        <p:nvSpPr>
          <p:cNvPr id="30" name="Rectangle 29"/>
          <p:cNvSpPr/>
          <p:nvPr/>
        </p:nvSpPr>
        <p:spPr>
          <a:xfrm>
            <a:off x="523875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3,354</a:t>
            </a:r>
          </a:p>
        </p:txBody>
      </p:sp>
      <p:sp>
        <p:nvSpPr>
          <p:cNvPr id="31" name="Rectangle 30"/>
          <p:cNvSpPr/>
          <p:nvPr/>
        </p:nvSpPr>
        <p:spPr>
          <a:xfrm>
            <a:off x="523875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6.2%</a:t>
            </a:r>
          </a:p>
        </p:txBody>
      </p:sp>
      <p:sp>
        <p:nvSpPr>
          <p:cNvPr id="32" name="Oval 31"/>
          <p:cNvSpPr/>
          <p:nvPr/>
        </p:nvSpPr>
        <p:spPr>
          <a:xfrm>
            <a:off x="6705600"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33" name="Rounded Rectangle 32"/>
          <p:cNvSpPr/>
          <p:nvPr/>
        </p:nvSpPr>
        <p:spPr>
          <a:xfrm>
            <a:off x="8610600" y="1773916"/>
            <a:ext cx="3257550"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8610600" y="1992961"/>
            <a:ext cx="3257550"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8648700" y="1773916"/>
            <a:ext cx="3181350" cy="438089"/>
          </a:xfrm>
          <a:prstGeom prst="rect">
            <a:avLst/>
          </a:prstGeom>
          <a:noFill/>
        </p:spPr>
        <p:txBody>
          <a:bodyPr wrap="square" lIns="28575" rIns="28575" tIns="9525" bIns="9525" anchor="ctr">
            <a:spAutoFit/>
          </a:bodyPr>
          <a:lstStyle/>
          <a:p>
            <a:pPr algn="ctr"/>
            <a:r>
              <a:rPr sz="1100" b="1">
                <a:solidFill>
                  <a:srgbClr val="FFFFFF"/>
                </a:solidFill>
                <a:latin typeface="Calibri"/>
              </a:rPr>
              <a:t>Coated Films</a:t>
            </a:r>
          </a:p>
        </p:txBody>
      </p:sp>
      <p:sp>
        <p:nvSpPr>
          <p:cNvPr id="36" name="Rectangle 35"/>
          <p:cNvSpPr/>
          <p:nvPr/>
        </p:nvSpPr>
        <p:spPr>
          <a:xfrm>
            <a:off x="8610600" y="22302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1,765</a:t>
            </a:r>
          </a:p>
        </p:txBody>
      </p:sp>
      <p:sp>
        <p:nvSpPr>
          <p:cNvPr id="37" name="Rectangle 36"/>
          <p:cNvSpPr/>
          <p:nvPr/>
        </p:nvSpPr>
        <p:spPr>
          <a:xfrm>
            <a:off x="8610600" y="2723109"/>
            <a:ext cx="325755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3,328</a:t>
            </a:r>
          </a:p>
        </p:txBody>
      </p:sp>
      <p:sp>
        <p:nvSpPr>
          <p:cNvPr id="38" name="Rectangle 37"/>
          <p:cNvSpPr/>
          <p:nvPr/>
        </p:nvSpPr>
        <p:spPr>
          <a:xfrm>
            <a:off x="8610600" y="3215959"/>
            <a:ext cx="325755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6.5%</a:t>
            </a:r>
          </a:p>
        </p:txBody>
      </p:sp>
      <p:sp>
        <p:nvSpPr>
          <p:cNvPr id="39" name="Oval 38"/>
          <p:cNvSpPr/>
          <p:nvPr/>
        </p:nvSpPr>
        <p:spPr>
          <a:xfrm>
            <a:off x="10077450"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40" name="Rounded Rectangle 39"/>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2" name="Rectangle 41"/>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86F00"/>
                </a:solidFill>
                <a:latin typeface="Calibri"/>
              </a:rPr>
              <a:t>●  </a:t>
            </a:r>
            <a:r>
              <a:rPr sz="1100" b="1">
                <a:solidFill>
                  <a:srgbClr val="A86F00"/>
                </a:solidFill>
                <a:latin typeface="Calibri"/>
              </a:rPr>
              <a:t>Foil-Laminated Structures: </a:t>
            </a:r>
            <a:r>
              <a:rPr sz="1100" b="0">
                <a:solidFill>
                  <a:srgbClr val="2E2E2E"/>
                </a:solidFill>
                <a:latin typeface="Calibri"/>
              </a:rPr>
              <a:t>8% of 2026 value · 6.6% CAGR serves a niche.</a:t>
            </a:r>
          </a:p>
          <a:p>
            <a:pPr algn="l">
              <a:lnSpc>
                <a:spcPct val="110000"/>
              </a:lnSpc>
              <a:spcBef>
                <a:spcPts val="0"/>
              </a:spcBef>
              <a:spcAft>
                <a:spcPts val="500"/>
              </a:spcAft>
            </a:pPr>
            <a:r>
              <a:rPr sz="1100" b="0">
                <a:solidFill>
                  <a:srgbClr val="A35313"/>
                </a:solidFill>
                <a:latin typeface="Calibri"/>
              </a:rPr>
              <a:t>●  </a:t>
            </a:r>
            <a:r>
              <a:rPr sz="1100" b="1">
                <a:solidFill>
                  <a:srgbClr val="A35313"/>
                </a:solidFill>
                <a:latin typeface="Calibri"/>
              </a:rPr>
              <a:t>Metallized Films: </a:t>
            </a:r>
            <a:r>
              <a:rPr sz="1100" b="0">
                <a:solidFill>
                  <a:srgbClr val="2E2E2E"/>
                </a:solidFill>
                <a:latin typeface="Calibri"/>
              </a:rPr>
              <a:t>7% of 2026 value · 6.2% CAGR serves a niche.</a:t>
            </a:r>
          </a:p>
          <a:p>
            <a:pPr algn="l">
              <a:lnSpc>
                <a:spcPct val="110000"/>
              </a:lnSpc>
              <a:spcBef>
                <a:spcPts val="0"/>
              </a:spcBef>
              <a:spcAft>
                <a:spcPts val="500"/>
              </a:spcAft>
            </a:pPr>
            <a:r>
              <a:rPr sz="1100" b="0">
                <a:solidFill>
                  <a:srgbClr val="6C7A89"/>
                </a:solidFill>
                <a:latin typeface="Calibri"/>
              </a:rPr>
              <a:t>●  </a:t>
            </a:r>
            <a:r>
              <a:rPr sz="1100" b="1">
                <a:solidFill>
                  <a:srgbClr val="6C7A89"/>
                </a:solidFill>
                <a:latin typeface="Calibri"/>
              </a:rPr>
              <a:t>Coated Films: </a:t>
            </a:r>
            <a:r>
              <a:rPr sz="1100" b="0">
                <a:solidFill>
                  <a:srgbClr val="2E2E2E"/>
                </a:solidFill>
                <a:latin typeface="Calibri"/>
              </a:rPr>
              <a:t>7% of 2026 value · 6.5% CAGR serves a niche.</a:t>
            </a:r>
          </a:p>
        </p:txBody>
      </p:sp>
      <p:sp>
        <p:nvSpPr>
          <p:cNvPr id="44" name="TextBox 43"/>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5" name="TextBox 4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Material Structure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Material Structure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Material Structure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Coextruded multilayer films followed by laminated films are expected to be the two most attractive material structure segments in the Europe flexible plastic packaging market in terms of value over the forecast period. Coextruded multilayer films and laminated films exhibit a CAGR index of 98 and 98 and a market share index of 206 and 179 respectively, against the segment average of 100. The metallized films segment is expected to be less attractive as compared to other segments over the forecast period, owing to its lower CAGR and incremental opportunity. Mono-Material Recyclable Structures rank highest on growth at 7.2% as brand owners redesign packs for recycling under EPR, while Coextruded Multilayer Films rank on size with a 29.5% share at 6.4% growth. The pairing of scale and recyclable transition, supported by EPR schemes, recyclability regulation and demanding retailer packaging standards, sets the ranking.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Monolayer Films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Coextruded Multilayer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Laminated Films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Coated Films</a:t>
            </a:r>
          </a:p>
        </p:txBody>
      </p:sp>
      <p:graphicFrame>
        <p:nvGraphicFramePr>
          <p:cNvPr id="22" name="Chart 21"/>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Material Structure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Metallized Films</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Foil-Laminated Structures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Mono-Material Recyclable Structures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Europe Absolute $ Opportunity Analysis, By Material Structure</a:t>
            </a:r>
          </a:p>
        </p:txBody>
      </p:sp>
      <p:sp>
        <p:nvSpPr>
          <p:cNvPr id="21" name="Rectangle 20"/>
          <p:cNvSpPr/>
          <p:nvPr/>
        </p:nvSpPr>
        <p:spPr>
          <a:xfrm>
            <a:off x="6305550" y="419100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276725"/>
            <a:ext cx="5610225" cy="226695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By 2036, coextruded multilayer films segment is anticipated to witness an increase of 1.9X in terms of value as compared to 2026. The coextruded multilayer films segment is expected to create an incremental opportunity of US$ 6,663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The laminated films segment is expected to create an incremental opportunity of US$ 5,833 Mn for the overall flexible plastic packaging market from 2026 to 2036. The monolayer films segment is expected to create an incremental opportunity of US$ 3,793 Mn for the overall flexible plastic packaging market from 2026 to 2036.</a:t>
            </a:r>
          </a:p>
          <a:p>
            <a:pPr algn="l">
              <a:lnSpc>
                <a:spcPct val="100000"/>
              </a:lnSpc>
              <a:spcBef>
                <a:spcPts val="0"/>
              </a:spcBef>
              <a:spcAft>
                <a:spcPts val="300"/>
              </a:spcAft>
            </a:pPr>
            <a:r>
              <a:rPr sz="1100" b="0">
                <a:solidFill>
                  <a:srgbClr val="2E2E2E"/>
                </a:solidFill>
                <a:latin typeface="Calibri"/>
              </a:rPr>
              <a:t>Mono-Material Recyclable Structures lead momentum, growing at 7.2% and gaining 49 BPS, because EU packaging regulation, extended producer responsibility fees and retailer recyclability targets are forcing a redesign of laminates. Coextruded Multilayer Films and Laminated Films still add large absolute value due to their big bases of roughly 29% and 26%, even as growth of 6.4% and 6.5% trails the leader.</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Volume Analysis, By Material Structure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Material Structure (Thousand MT)</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Volume Analysis, By Material Structure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Material Structure (Thousand MT)</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1.1X higher volume than laminated films segment in 2036. Among flexible plastic packaging by material structure, mono-material recyclable structures segment is expected to witness the highest CAGR of 5.9% over the forecast period.</a:t>
            </a:r>
          </a:p>
          <a:p>
            <a:pPr algn="l">
              <a:lnSpc>
                <a:spcPct val="110000"/>
              </a:lnSpc>
              <a:spcBef>
                <a:spcPts val="0"/>
              </a:spcBef>
              <a:spcAft>
                <a:spcPts val="500"/>
              </a:spcAft>
            </a:pPr>
            <a:r>
              <a:rPr sz="1150" b="0">
                <a:solidFill>
                  <a:srgbClr val="2E2E2E"/>
                </a:solidFill>
                <a:latin typeface="Calibri"/>
              </a:rPr>
              <a:t>In terms of volume share by material structure, the coextruded multilayer films segment is expected to dominate the market, losing 37 BPS and accounting for 29.1% share by 2036.</a:t>
            </a:r>
          </a:p>
          <a:p>
            <a:pPr algn="l">
              <a:lnSpc>
                <a:spcPct val="110000"/>
              </a:lnSpc>
              <a:spcBef>
                <a:spcPts val="0"/>
              </a:spcBef>
              <a:spcAft>
                <a:spcPts val="500"/>
              </a:spcAft>
            </a:pPr>
            <a:r>
              <a:rPr sz="1150" b="0">
                <a:solidFill>
                  <a:srgbClr val="2E2E2E"/>
                </a:solidFill>
                <a:latin typeface="Calibri"/>
              </a:rPr>
              <a:t>Mono-Material Recyclable Structures gains 49 BPS of volume share because brand owners are redesigning multilayer laminates into recyclable mono-PE and mono-PP formats to meet EPR and recycled-content requirements. Its 5.9% CAGR compares with a 5.2% market rate, while Coextruded Multilayer Films loses 37 BPS at 5.1% as complex multilayer constructions are hard to recycle and are being redesigned toward simpler structures. In Europe, packaging waste regulation, EPR fees and a mature retail base steer specifications.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Material Structure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Material Structure (US$ Mn)</a:t>
            </a:r>
          </a:p>
        </p:txBody>
      </p:sp>
      <p:graphicFrame>
        <p:nvGraphicFramePr>
          <p:cNvPr id="13" name="Table 12"/>
          <p:cNvGraphicFramePr>
            <a:graphicFrameLocks noGrp="1"/>
          </p:cNvGraphicFramePr>
          <p:nvPr/>
        </p:nvGraphicFramePr>
        <p:xfrm>
          <a:off x="152400" y="1238250"/>
          <a:ext cx="11887208" cy="2590803"/>
        </p:xfrm>
        <a:graphic>
          <a:graphicData uri="http://schemas.openxmlformats.org/drawingml/2006/table">
            <a:tbl>
              <a:tblPr>
                <a:tableStyleId>{5C22544A-7EE6-4342-B048-85BDC9FD1C3A}</a:tableStyleId>
              </a:tblPr>
              <a:tblGrid>
                <a:gridCol w="1914770"/>
                <a:gridCol w="586614"/>
                <a:gridCol w="586614"/>
                <a:gridCol w="586614"/>
                <a:gridCol w="586614"/>
                <a:gridCol w="586614"/>
                <a:gridCol w="586614"/>
                <a:gridCol w="586614"/>
                <a:gridCol w="586614"/>
                <a:gridCol w="586614"/>
                <a:gridCol w="586614"/>
                <a:gridCol w="586614"/>
                <a:gridCol w="586614"/>
                <a:gridCol w="586614"/>
                <a:gridCol w="586614"/>
                <a:gridCol w="586614"/>
                <a:gridCol w="586614"/>
                <a:gridCol w="586614"/>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Material Structure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Material Structure,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Material Structure (US$ Mn)</a:t>
            </a:r>
          </a:p>
        </p:txBody>
      </p:sp>
      <p:graphicFrame>
        <p:nvGraphicFramePr>
          <p:cNvPr id="12" name="Table 11"/>
          <p:cNvGraphicFramePr>
            <a:graphicFrameLocks noGrp="1"/>
          </p:cNvGraphicFramePr>
          <p:nvPr/>
        </p:nvGraphicFramePr>
        <p:xfrm>
          <a:off x="152400" y="1238250"/>
          <a:ext cx="11887208" cy="1514475"/>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Material Structure</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Coextruded multilayer films segment is projected to register 1.1X higher value than laminated films segment in 2036. Among flexible plastic packaging by material structure, mono-material recyclable structures segment is expected to witness the highest CAGR of 7.2% over the forecast period.</a:t>
            </a:r>
          </a:p>
          <a:p>
            <a:pPr algn="l">
              <a:lnSpc>
                <a:spcPct val="110000"/>
              </a:lnSpc>
              <a:spcBef>
                <a:spcPts val="0"/>
              </a:spcBef>
              <a:spcAft>
                <a:spcPts val="500"/>
              </a:spcAft>
            </a:pPr>
            <a:r>
              <a:rPr sz="1150" b="0">
                <a:solidFill>
                  <a:srgbClr val="2E2E2E"/>
                </a:solidFill>
                <a:latin typeface="Calibri"/>
              </a:rPr>
              <a:t>In terms of value share by material structure, the coextruded multilayer films segment is expected to dominate the market, losing 37 BPS and accounting for 29.1% share by 2036.</a:t>
            </a:r>
          </a:p>
          <a:p>
            <a:pPr algn="l">
              <a:lnSpc>
                <a:spcPct val="110000"/>
              </a:lnSpc>
              <a:spcBef>
                <a:spcPts val="0"/>
              </a:spcBef>
              <a:spcAft>
                <a:spcPts val="500"/>
              </a:spcAft>
            </a:pPr>
            <a:r>
              <a:rPr sz="1150" b="0">
                <a:solidFill>
                  <a:srgbClr val="2E2E2E"/>
                </a:solidFill>
                <a:latin typeface="Calibri"/>
              </a:rPr>
              <a:t>Mono-Material Recyclable Structures gain 49 BPS and grow at 7.2% because EU packaging rules, recyclability targets and EPR fee modulation steer brands and retailers toward single-polymer packs. Monolayer Films also gain, up 32 BPS. Coextruded Multilayer Films lose 37 BPS at 6.4% growth as hard-to-recycle multilayer laminates are redesigned, though they remain the largest pool at 29.5%.</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Material Structure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Material Structure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825299"/>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182053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74433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Coated Films</a:t>
            </a:r>
          </a:p>
        </p:txBody>
      </p:sp>
      <p:sp>
        <p:nvSpPr>
          <p:cNvPr id="19" name="BPS Value 1"/>
          <p:cNvSpPr txBox="1"/>
          <p:nvPr/>
        </p:nvSpPr>
        <p:spPr>
          <a:xfrm>
            <a:off x="6896100" y="1806249"/>
            <a:ext cx="514350" cy="123825"/>
          </a:xfrm>
          <a:prstGeom prst="rect">
            <a:avLst/>
          </a:prstGeom>
          <a:noFill/>
        </p:spPr>
        <p:txBody>
          <a:bodyPr wrap="none" lIns="0" rIns="0" tIns="0" bIns="0" anchor="ctr">
            <a:spAutoFit/>
          </a:bodyPr>
          <a:lstStyle/>
          <a:p>
            <a:pPr algn="r"/>
            <a:r>
              <a:rPr sz="900" b="1">
                <a:solidFill>
                  <a:srgbClr val="E44D3A"/>
                </a:solidFill>
                <a:latin typeface="Calibri"/>
              </a:rPr>
              <a:t>-1</a:t>
            </a:r>
          </a:p>
        </p:txBody>
      </p:sp>
      <p:sp>
        <p:nvSpPr>
          <p:cNvPr id="20" name="FMI Legend Chip"/>
          <p:cNvSpPr/>
          <p:nvPr/>
        </p:nvSpPr>
        <p:spPr>
          <a:xfrm>
            <a:off x="4928997" y="2134583"/>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12982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05362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Metallized Films</a:t>
            </a:r>
          </a:p>
        </p:txBody>
      </p:sp>
      <p:sp>
        <p:nvSpPr>
          <p:cNvPr id="23" name="BPS Value 2"/>
          <p:cNvSpPr txBox="1"/>
          <p:nvPr/>
        </p:nvSpPr>
        <p:spPr>
          <a:xfrm>
            <a:off x="6896100" y="2115533"/>
            <a:ext cx="514350" cy="123825"/>
          </a:xfrm>
          <a:prstGeom prst="rect">
            <a:avLst/>
          </a:prstGeom>
          <a:noFill/>
        </p:spPr>
        <p:txBody>
          <a:bodyPr wrap="none" lIns="0" rIns="0" tIns="0" bIns="0" anchor="ctr">
            <a:spAutoFit/>
          </a:bodyPr>
          <a:lstStyle/>
          <a:p>
            <a:pPr algn="r"/>
            <a:r>
              <a:rPr sz="900" b="1">
                <a:solidFill>
                  <a:srgbClr val="E44D3A"/>
                </a:solidFill>
                <a:latin typeface="Calibri"/>
              </a:rPr>
              <a:t>-21</a:t>
            </a:r>
          </a:p>
        </p:txBody>
      </p:sp>
      <p:sp>
        <p:nvSpPr>
          <p:cNvPr id="24" name="FMI Legend Chip"/>
          <p:cNvSpPr/>
          <p:nvPr/>
        </p:nvSpPr>
        <p:spPr>
          <a:xfrm>
            <a:off x="4928997" y="2466710"/>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a:off x="5090922" y="24619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23857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Foil-Laminated Structures</a:t>
            </a:r>
          </a:p>
        </p:txBody>
      </p:sp>
      <p:sp>
        <p:nvSpPr>
          <p:cNvPr id="27" name="BPS Value 3"/>
          <p:cNvSpPr txBox="1"/>
          <p:nvPr/>
        </p:nvSpPr>
        <p:spPr>
          <a:xfrm>
            <a:off x="6896100" y="2447660"/>
            <a:ext cx="514350" cy="123825"/>
          </a:xfrm>
          <a:prstGeom prst="rect">
            <a:avLst/>
          </a:prstGeom>
          <a:noFill/>
        </p:spPr>
        <p:txBody>
          <a:bodyPr wrap="none" lIns="0" rIns="0" tIns="0" bIns="0" anchor="ctr">
            <a:spAutoFit/>
          </a:bodyPr>
          <a:lstStyle/>
          <a:p>
            <a:pPr algn="r"/>
            <a:r>
              <a:rPr sz="900" b="1">
                <a:solidFill>
                  <a:srgbClr val="2E7D32"/>
                </a:solidFill>
                <a:latin typeface="Calibri"/>
              </a:rPr>
              <a:t>+4</a:t>
            </a:r>
          </a:p>
        </p:txBody>
      </p:sp>
      <p:sp>
        <p:nvSpPr>
          <p:cNvPr id="28" name="FMI Legend Chip"/>
          <p:cNvSpPr/>
          <p:nvPr/>
        </p:nvSpPr>
        <p:spPr>
          <a:xfrm>
            <a:off x="4928997" y="283416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282940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275320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Mono-Material Recyclable Structures</a:t>
            </a:r>
          </a:p>
        </p:txBody>
      </p:sp>
      <p:sp>
        <p:nvSpPr>
          <p:cNvPr id="31" name="BPS Value 4"/>
          <p:cNvSpPr txBox="1"/>
          <p:nvPr/>
        </p:nvSpPr>
        <p:spPr>
          <a:xfrm>
            <a:off x="6896100" y="2815117"/>
            <a:ext cx="514350" cy="123825"/>
          </a:xfrm>
          <a:prstGeom prst="rect">
            <a:avLst/>
          </a:prstGeom>
          <a:noFill/>
        </p:spPr>
        <p:txBody>
          <a:bodyPr wrap="none" lIns="0" rIns="0" tIns="0" bIns="0" anchor="ctr">
            <a:spAutoFit/>
          </a:bodyPr>
          <a:lstStyle/>
          <a:p>
            <a:pPr algn="r"/>
            <a:r>
              <a:rPr sz="900" b="1">
                <a:solidFill>
                  <a:srgbClr val="2E7D32"/>
                </a:solidFill>
                <a:latin typeface="Calibri"/>
              </a:rPr>
              <a:t>+49</a:t>
            </a:r>
          </a:p>
        </p:txBody>
      </p:sp>
      <p:sp>
        <p:nvSpPr>
          <p:cNvPr id="32" name="FMI Legend Chip"/>
          <p:cNvSpPr/>
          <p:nvPr/>
        </p:nvSpPr>
        <p:spPr>
          <a:xfrm>
            <a:off x="4928997" y="338952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Isosceles Triangle 32"/>
          <p:cNvSpPr/>
          <p:nvPr/>
        </p:nvSpPr>
        <p:spPr>
          <a:xfrm>
            <a:off x="5090922" y="338476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BPS Name 5"/>
          <p:cNvSpPr txBox="1"/>
          <p:nvPr/>
        </p:nvSpPr>
        <p:spPr>
          <a:xfrm>
            <a:off x="5233797" y="330856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Monolayer Films</a:t>
            </a:r>
          </a:p>
        </p:txBody>
      </p:sp>
      <p:sp>
        <p:nvSpPr>
          <p:cNvPr id="35" name="BPS Value 5"/>
          <p:cNvSpPr txBox="1"/>
          <p:nvPr/>
        </p:nvSpPr>
        <p:spPr>
          <a:xfrm>
            <a:off x="6896100" y="3370472"/>
            <a:ext cx="514350" cy="123825"/>
          </a:xfrm>
          <a:prstGeom prst="rect">
            <a:avLst/>
          </a:prstGeom>
          <a:noFill/>
        </p:spPr>
        <p:txBody>
          <a:bodyPr wrap="none" lIns="0" rIns="0" tIns="0" bIns="0" anchor="ctr">
            <a:spAutoFit/>
          </a:bodyPr>
          <a:lstStyle/>
          <a:p>
            <a:pPr algn="r"/>
            <a:r>
              <a:rPr sz="900" b="1">
                <a:solidFill>
                  <a:srgbClr val="2E7D32"/>
                </a:solidFill>
                <a:latin typeface="Calibri"/>
              </a:rPr>
              <a:t>+32</a:t>
            </a:r>
          </a:p>
        </p:txBody>
      </p:sp>
      <p:sp>
        <p:nvSpPr>
          <p:cNvPr id="36" name="FMI Legend Chip"/>
          <p:cNvSpPr/>
          <p:nvPr/>
        </p:nvSpPr>
        <p:spPr>
          <a:xfrm>
            <a:off x="4928997" y="433423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Isosceles Triangle 36"/>
          <p:cNvSpPr/>
          <p:nvPr/>
        </p:nvSpPr>
        <p:spPr>
          <a:xfrm rot="10800000">
            <a:off x="5090922" y="432947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BPS Name 6"/>
          <p:cNvSpPr txBox="1"/>
          <p:nvPr/>
        </p:nvSpPr>
        <p:spPr>
          <a:xfrm>
            <a:off x="5233797" y="425327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Laminated Films</a:t>
            </a:r>
          </a:p>
        </p:txBody>
      </p:sp>
      <p:sp>
        <p:nvSpPr>
          <p:cNvPr id="39" name="BPS Value 6"/>
          <p:cNvSpPr txBox="1"/>
          <p:nvPr/>
        </p:nvSpPr>
        <p:spPr>
          <a:xfrm>
            <a:off x="6896100" y="4315184"/>
            <a:ext cx="514350" cy="123825"/>
          </a:xfrm>
          <a:prstGeom prst="rect">
            <a:avLst/>
          </a:prstGeom>
          <a:noFill/>
        </p:spPr>
        <p:txBody>
          <a:bodyPr wrap="none" lIns="0" rIns="0" tIns="0" bIns="0" anchor="ctr">
            <a:spAutoFit/>
          </a:bodyPr>
          <a:lstStyle/>
          <a:p>
            <a:pPr algn="r"/>
            <a:r>
              <a:rPr sz="900" b="1">
                <a:solidFill>
                  <a:srgbClr val="E44D3A"/>
                </a:solidFill>
                <a:latin typeface="Calibri"/>
              </a:rPr>
              <a:t>-25</a:t>
            </a:r>
          </a:p>
        </p:txBody>
      </p:sp>
      <p:sp>
        <p:nvSpPr>
          <p:cNvPr id="40" name="FMI Legend Chip"/>
          <p:cNvSpPr/>
          <p:nvPr/>
        </p:nvSpPr>
        <p:spPr>
          <a:xfrm>
            <a:off x="4928997" y="557890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Isosceles Triangle 40"/>
          <p:cNvSpPr/>
          <p:nvPr/>
        </p:nvSpPr>
        <p:spPr>
          <a:xfrm rot="10800000">
            <a:off x="5090922" y="557413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BPS Name 7"/>
          <p:cNvSpPr txBox="1"/>
          <p:nvPr/>
        </p:nvSpPr>
        <p:spPr>
          <a:xfrm>
            <a:off x="5233797" y="54979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Coextruded Multilayer Films</a:t>
            </a:r>
          </a:p>
        </p:txBody>
      </p:sp>
      <p:sp>
        <p:nvSpPr>
          <p:cNvPr id="43" name="BPS Value 7"/>
          <p:cNvSpPr txBox="1"/>
          <p:nvPr/>
        </p:nvSpPr>
        <p:spPr>
          <a:xfrm>
            <a:off x="6896100" y="5559850"/>
            <a:ext cx="514350" cy="123825"/>
          </a:xfrm>
          <a:prstGeom prst="rect">
            <a:avLst/>
          </a:prstGeom>
          <a:noFill/>
        </p:spPr>
        <p:txBody>
          <a:bodyPr wrap="none" lIns="0" rIns="0" tIns="0" bIns="0" anchor="ctr">
            <a:spAutoFit/>
          </a:bodyPr>
          <a:lstStyle/>
          <a:p>
            <a:pPr algn="r"/>
            <a:r>
              <a:rPr sz="900" b="1">
                <a:solidFill>
                  <a:srgbClr val="E44D3A"/>
                </a:solidFill>
                <a:latin typeface="Calibri"/>
              </a:rPr>
              <a:t>-37</a:t>
            </a:r>
          </a:p>
        </p:txBody>
      </p:sp>
      <p:sp>
        <p:nvSpPr>
          <p:cNvPr id="44" name="Rounded Rectangle 4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Material Structure</a:t>
            </a:r>
          </a:p>
        </p:txBody>
      </p:sp>
      <p:sp>
        <p:nvSpPr>
          <p:cNvPr id="46" name="Rectangle 4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material structure, mono-material recyclable structures segment is expected to witness the highest CAGR of 7.2% over the forecast period.</a:t>
            </a:r>
          </a:p>
          <a:p>
            <a:pPr algn="l">
              <a:lnSpc>
                <a:spcPct val="110000"/>
              </a:lnSpc>
              <a:spcBef>
                <a:spcPts val="0"/>
              </a:spcBef>
              <a:spcAft>
                <a:spcPts val="500"/>
              </a:spcAft>
            </a:pPr>
            <a:r>
              <a:rPr sz="1150" b="0">
                <a:solidFill>
                  <a:srgbClr val="2E2E2E"/>
                </a:solidFill>
                <a:latin typeface="Calibri"/>
              </a:rPr>
              <a:t>In terms of value share by material structure, the coextruded multilayer films segment is expected to dominate the market, losing 37 BPS and accounting for 29.1% share by 2036.</a:t>
            </a:r>
          </a:p>
          <a:p>
            <a:pPr algn="l">
              <a:lnSpc>
                <a:spcPct val="110000"/>
              </a:lnSpc>
              <a:spcBef>
                <a:spcPts val="0"/>
              </a:spcBef>
              <a:spcAft>
                <a:spcPts val="500"/>
              </a:spcAft>
            </a:pPr>
            <a:r>
              <a:rPr sz="1150" b="0">
                <a:solidFill>
                  <a:srgbClr val="2E2E2E"/>
                </a:solidFill>
                <a:latin typeface="Calibri"/>
              </a:rPr>
              <a:t>Mono-Material Recyclable Structures grow fastest at 7.2% against the 6.6% market because brand owners and retailers are redesigning multi-material laminates into recyclable all-polyolefin packs to meet recyclability commitments and EPR costs. Advances in high-barrier PE and PP films make the switch viable, helped by EPR schemes, recyclability regulation and demanding retailer packaging standards.</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Volume,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Volume,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95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5D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6F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69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A2C6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8DBA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E7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6CA8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5F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7A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64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86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0D609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0D649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4F98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AC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0C416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0D5A8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Material Structure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Material Structure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Material Structure,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Material Structure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Monolayer Films</a:t>
            </a:r>
          </a:p>
        </p:txBody>
      </p:sp>
      <p:sp>
        <p:nvSpPr>
          <p:cNvPr id="28" name="Rectangle 27"/>
          <p:cNvSpPr/>
          <p:nvPr/>
        </p:nvSpPr>
        <p:spPr>
          <a:xfrm>
            <a:off x="1857375" y="1409700"/>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B3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5B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Coextruded Multilayer Films</a:t>
            </a:r>
          </a:p>
        </p:txBody>
      </p:sp>
      <p:sp>
        <p:nvSpPr>
          <p:cNvPr id="44" name="Rectangle 43"/>
          <p:cNvSpPr/>
          <p:nvPr/>
        </p:nvSpPr>
        <p:spPr>
          <a:xfrm>
            <a:off x="1857375" y="1732359"/>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E2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DC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3–5 Layer</a:t>
            </a:r>
          </a:p>
        </p:txBody>
      </p:sp>
      <p:sp>
        <p:nvSpPr>
          <p:cNvPr id="60" name="Rectangle 59"/>
          <p:cNvSpPr/>
          <p:nvPr/>
        </p:nvSpPr>
        <p:spPr>
          <a:xfrm>
            <a:off x="1857375" y="2055019"/>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7 Layer</a:t>
            </a:r>
          </a:p>
        </p:txBody>
      </p:sp>
      <p:sp>
        <p:nvSpPr>
          <p:cNvPr id="76" name="Rectangle 75"/>
          <p:cNvSpPr/>
          <p:nvPr/>
        </p:nvSpPr>
        <p:spPr>
          <a:xfrm>
            <a:off x="1857375" y="2377678"/>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70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9 Layer and Above</a:t>
            </a:r>
          </a:p>
        </p:txBody>
      </p:sp>
      <p:sp>
        <p:nvSpPr>
          <p:cNvPr id="92" name="Rectangle 91"/>
          <p:cNvSpPr/>
          <p:nvPr/>
        </p:nvSpPr>
        <p:spPr>
          <a:xfrm>
            <a:off x="1857375" y="2700338"/>
            <a:ext cx="643890" cy="322659"/>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B9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78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52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Laminated Films</a:t>
            </a:r>
          </a:p>
        </p:txBody>
      </p:sp>
      <p:sp>
        <p:nvSpPr>
          <p:cNvPr id="108" name="Rectangle 107"/>
          <p:cNvSpPr/>
          <p:nvPr/>
        </p:nvSpPr>
        <p:spPr>
          <a:xfrm>
            <a:off x="1857375" y="3022997"/>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6FAA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Duplex</a:t>
            </a:r>
          </a:p>
        </p:txBody>
      </p:sp>
      <p:sp>
        <p:nvSpPr>
          <p:cNvPr id="124" name="Rectangle 123"/>
          <p:cNvSpPr/>
          <p:nvPr/>
        </p:nvSpPr>
        <p:spPr>
          <a:xfrm>
            <a:off x="1857375" y="3345656"/>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A3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Triplex</a:t>
            </a:r>
          </a:p>
        </p:txBody>
      </p:sp>
      <p:sp>
        <p:nvSpPr>
          <p:cNvPr id="140" name="Rectangle 139"/>
          <p:cNvSpPr/>
          <p:nvPr/>
        </p:nvSpPr>
        <p:spPr>
          <a:xfrm>
            <a:off x="1857375" y="3668316"/>
            <a:ext cx="643890" cy="322659"/>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B0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217D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Multi-Ply</a:t>
            </a:r>
          </a:p>
        </p:txBody>
      </p:sp>
      <p:sp>
        <p:nvSpPr>
          <p:cNvPr id="156" name="Rectangle 155"/>
          <p:cNvSpPr/>
          <p:nvPr/>
        </p:nvSpPr>
        <p:spPr>
          <a:xfrm>
            <a:off x="1857375" y="3990975"/>
            <a:ext cx="643890" cy="322659"/>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D6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B5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Coated Films</a:t>
            </a:r>
          </a:p>
        </p:txBody>
      </p:sp>
      <p:sp>
        <p:nvSpPr>
          <p:cNvPr id="172" name="Rectangle 171"/>
          <p:cNvSpPr/>
          <p:nvPr/>
        </p:nvSpPr>
        <p:spPr>
          <a:xfrm>
            <a:off x="1857375" y="4313634"/>
            <a:ext cx="643890" cy="322659"/>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DD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36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Metallized Films</a:t>
            </a:r>
          </a:p>
        </p:txBody>
      </p:sp>
      <p:sp>
        <p:nvSpPr>
          <p:cNvPr id="188" name="Rectangle 187"/>
          <p:cNvSpPr/>
          <p:nvPr/>
        </p:nvSpPr>
        <p:spPr>
          <a:xfrm>
            <a:off x="1857375" y="4636294"/>
            <a:ext cx="643890" cy="322659"/>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47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Foil-Laminated Structures</a:t>
            </a:r>
          </a:p>
        </p:txBody>
      </p:sp>
      <p:sp>
        <p:nvSpPr>
          <p:cNvPr id="204" name="Rectangle 203"/>
          <p:cNvSpPr/>
          <p:nvPr/>
        </p:nvSpPr>
        <p:spPr>
          <a:xfrm>
            <a:off x="1857375" y="4958953"/>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89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41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Mono-Material Recyclable Structures</a:t>
            </a:r>
          </a:p>
        </p:txBody>
      </p:sp>
      <p:sp>
        <p:nvSpPr>
          <p:cNvPr id="220" name="Rectangle 219"/>
          <p:cNvSpPr/>
          <p:nvPr/>
        </p:nvSpPr>
        <p:spPr>
          <a:xfrm>
            <a:off x="1857375" y="5281612"/>
            <a:ext cx="643890" cy="322659"/>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0D659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0D54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0C4E7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0C4F7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PE-Based</a:t>
            </a:r>
          </a:p>
        </p:txBody>
      </p:sp>
      <p:sp>
        <p:nvSpPr>
          <p:cNvPr id="236" name="Rectangle 235"/>
          <p:cNvSpPr/>
          <p:nvPr/>
        </p:nvSpPr>
        <p:spPr>
          <a:xfrm>
            <a:off x="1857375" y="5604272"/>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A5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9AC1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46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0E71A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0C4C7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0C44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0C466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0C4F7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0D598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PP-Based</a:t>
            </a:r>
          </a:p>
        </p:txBody>
      </p:sp>
      <p:sp>
        <p:nvSpPr>
          <p:cNvPr id="252" name="Rectangle 251"/>
          <p:cNvSpPr/>
          <p:nvPr/>
        </p:nvSpPr>
        <p:spPr>
          <a:xfrm>
            <a:off x="1857375" y="5926931"/>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B5D0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0F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0E70A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1A79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PET-Based</a:t>
            </a:r>
          </a:p>
        </p:txBody>
      </p:sp>
      <p:sp>
        <p:nvSpPr>
          <p:cNvPr id="268" name="Rectangle 267"/>
          <p:cNvSpPr/>
          <p:nvPr/>
        </p:nvSpPr>
        <p:spPr>
          <a:xfrm>
            <a:off x="1857375" y="6249591"/>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87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0E6FA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0D507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0C3A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0B385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segment categorizes the market by barrier level.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8,672</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15,715</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6.1%</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8,341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16,463</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7.0%</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5,542</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10,401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6.5%</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3,585</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6,815</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6.6%</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high-barrier films segment is expected to witness the highest CAGR of 7.0% over the forecast period. In terms of value share by barrier level, the high-barrier films segment is expected to dominate the market, gaining 142 BPS and accounting for 33.3%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1.0X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33% of 2026 value · 6.1%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7.0%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21% of 2026 value · 6.5%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14% of 2026 value · 6.6%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split shows how demand is distributed across barrier level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segment is projected to grow at a CAGR of 6.6%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Barrier Level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segments in the Europe flexible plastic packaging market in terms of value over the forecast period. High-Barrier films and Medium-Barrier films exhibit a CAGR index of 107 and 93 and a market share index of 128 and 133 respectively, against the segment average of 100. The ultra-high-barrier films segment is expected to be less attractive as compared to other segments over the forecast period, owing to its lower CAGR and incremental opportunity. High-Barrier Films rank most attractive because they combine a 31.9% base with the fastest growth at 7.0% and a 142 BPS gain. European retailers and processors push for longer shelf life in fresh protein, cheese and ready meals to cut food waste, and pharmaceutical packaging needs strong barriers. Medium-Barrier Films lose 136 BPS at 6.1% growth as specifications rise.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Low-Barrier Films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High-Barrier Films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Volume Analysis, By Barrier Level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1.0X higher volume than medium-barrier films segment in 2036. Among flexible plastic packaging by barrier level, high-barrier films segment is expected to witness the highest CAGR of 5.7% over the forecast period.</a:t>
            </a:r>
          </a:p>
          <a:p>
            <a:pPr algn="l">
              <a:lnSpc>
                <a:spcPct val="110000"/>
              </a:lnSpc>
              <a:spcBef>
                <a:spcPts val="0"/>
              </a:spcBef>
              <a:spcAft>
                <a:spcPts val="500"/>
              </a:spcAft>
            </a:pPr>
            <a:r>
              <a:rPr sz="1150" b="0">
                <a:solidFill>
                  <a:srgbClr val="2E2E2E"/>
                </a:solidFill>
                <a:latin typeface="Calibri"/>
              </a:rPr>
              <a:t>In terms of volume share by barrier level, the high-barrier films segment is expected to dominate the market, gaining 142 BPS and accounting for 33.3% share by 2036. The medium-barrier films segment is expected to lose 136 BPS over the forecast period to account for 31.8% share by 2036.</a:t>
            </a:r>
          </a:p>
          <a:p>
            <a:pPr algn="l">
              <a:lnSpc>
                <a:spcPct val="110000"/>
              </a:lnSpc>
              <a:spcBef>
                <a:spcPts val="0"/>
              </a:spcBef>
              <a:spcAft>
                <a:spcPts val="500"/>
              </a:spcAft>
            </a:pPr>
            <a:r>
              <a:rPr sz="1150" b="0">
                <a:solidFill>
                  <a:srgbClr val="2E2E2E"/>
                </a:solidFill>
                <a:latin typeface="Calibri"/>
              </a:rPr>
              <a:t>High-Barrier Films gain 142 BPS in volume, growing at 5.7% against 5.2% overall, because European retailers and processors prioritise longer shelf life and food-waste reduction in fresh meat, cheese and ready meals. Medium-Barrier Films lose 136 BPS at 4.8% growth as they are upgraded to high-barrier or redesigned into recyclable structures. Low-Barrier and Ultra-High-Barrier Films stay close to stable.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Barrier Level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Barrier Level (US$ Mn)</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3752850"/>
          </a:xfrm>
          <a:prstGeom prst="roundRect">
            <a:avLst>
              <a:gd name="adj" fmla="val 203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2962275"/>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Barrier Level</a:t>
            </a:r>
          </a:p>
        </p:txBody>
      </p:sp>
      <p:sp>
        <p:nvSpPr>
          <p:cNvPr id="17" name="Rectangle 16"/>
          <p:cNvSpPr/>
          <p:nvPr/>
        </p:nvSpPr>
        <p:spPr>
          <a:xfrm>
            <a:off x="276225" y="3200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3286125"/>
            <a:ext cx="11639550" cy="32670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High-barrier films segment is projected to register 1.0X higher value than medium-barrier films segment in 2036. Among flexible plastic packaging by barrier level, high-barrier films segment is expected to witness the highest CAGR of 7.0% over the forecast period.</a:t>
            </a:r>
          </a:p>
          <a:p>
            <a:pPr algn="l">
              <a:lnSpc>
                <a:spcPct val="110000"/>
              </a:lnSpc>
              <a:spcBef>
                <a:spcPts val="0"/>
              </a:spcBef>
              <a:spcAft>
                <a:spcPts val="500"/>
              </a:spcAft>
            </a:pPr>
            <a:r>
              <a:rPr sz="1150" b="0">
                <a:solidFill>
                  <a:srgbClr val="2E2E2E"/>
                </a:solidFill>
                <a:latin typeface="Calibri"/>
              </a:rPr>
              <a:t>In terms of value share by barrier level, the high-barrier films segment is expected to dominate the market, gaining 142 BPS and accounting for 33.3% share by 2036. The medium-barrier films segment is expected to lose 136 BPS over the forecast period to account for 31.8% share by 2036.</a:t>
            </a:r>
          </a:p>
          <a:p>
            <a:pPr algn="l">
              <a:lnSpc>
                <a:spcPct val="110000"/>
              </a:lnSpc>
              <a:spcBef>
                <a:spcPts val="0"/>
              </a:spcBef>
              <a:spcAft>
                <a:spcPts val="500"/>
              </a:spcAft>
            </a:pPr>
            <a:r>
              <a:rPr sz="1150" b="0">
                <a:solidFill>
                  <a:srgbClr val="2E2E2E"/>
                </a:solidFill>
                <a:latin typeface="Calibri"/>
              </a:rPr>
              <a:t>High-Barrier Films add 142 BPS of value share at 7.0% growth because fresh protein, cheese, snacks and ready meals need longer shelf life and lower food waste, and brands keep upgrading packs, supported by EPR schemes, recyclability regulation and demanding retailer packaging standards. Medium-Barrier Films lose 136 BPS at 6.1%, as those applications trade up to higher barrier and ultra-high-barrier films take the premium niches.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Barrier Level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668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819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057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7635"/>
            <a:ext cx="514350" cy="123825"/>
          </a:xfrm>
          <a:prstGeom prst="rect">
            <a:avLst/>
          </a:prstGeom>
          <a:noFill/>
        </p:spPr>
        <p:txBody>
          <a:bodyPr wrap="none" lIns="0" rIns="0" tIns="0" bIns="0" anchor="ctr">
            <a:spAutoFit/>
          </a:bodyPr>
          <a:lstStyle/>
          <a:p>
            <a:pPr algn="r"/>
            <a:r>
              <a:rPr sz="900" b="1">
                <a:solidFill>
                  <a:srgbClr val="2E7D32"/>
                </a:solidFill>
                <a:latin typeface="Calibri"/>
              </a:rPr>
              <a:t>+8</a:t>
            </a:r>
          </a:p>
        </p:txBody>
      </p:sp>
      <p:sp>
        <p:nvSpPr>
          <p:cNvPr id="20" name="FMI Legend Chip"/>
          <p:cNvSpPr/>
          <p:nvPr/>
        </p:nvSpPr>
        <p:spPr>
          <a:xfrm>
            <a:off x="4928997" y="278351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7875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0255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64464"/>
            <a:ext cx="514350" cy="123825"/>
          </a:xfrm>
          <a:prstGeom prst="rect">
            <a:avLst/>
          </a:prstGeom>
          <a:noFill/>
        </p:spPr>
        <p:txBody>
          <a:bodyPr wrap="none" lIns="0" rIns="0" tIns="0" bIns="0" anchor="ctr">
            <a:spAutoFit/>
          </a:bodyPr>
          <a:lstStyle/>
          <a:p>
            <a:pPr algn="r"/>
            <a:r>
              <a:rPr sz="900" b="1">
                <a:solidFill>
                  <a:srgbClr val="E44D3A"/>
                </a:solidFill>
                <a:latin typeface="Calibri"/>
              </a:rPr>
              <a:t>-15</a:t>
            </a:r>
          </a:p>
        </p:txBody>
      </p:sp>
      <p:sp>
        <p:nvSpPr>
          <p:cNvPr id="24" name="FMI Legend Chip"/>
          <p:cNvSpPr/>
          <p:nvPr/>
        </p:nvSpPr>
        <p:spPr>
          <a:xfrm>
            <a:off x="4928997" y="39922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8753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9113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73243"/>
            <a:ext cx="514350" cy="123825"/>
          </a:xfrm>
          <a:prstGeom prst="rect">
            <a:avLst/>
          </a:prstGeom>
          <a:noFill/>
        </p:spPr>
        <p:txBody>
          <a:bodyPr wrap="none" lIns="0" rIns="0" tIns="0" bIns="0" anchor="ctr">
            <a:spAutoFit/>
          </a:bodyPr>
          <a:lstStyle/>
          <a:p>
            <a:pPr algn="r"/>
            <a:r>
              <a:rPr sz="900" b="1">
                <a:solidFill>
                  <a:srgbClr val="E44D3A"/>
                </a:solidFill>
                <a:latin typeface="Calibri"/>
              </a:rPr>
              <a:t>-136</a:t>
            </a:r>
          </a:p>
        </p:txBody>
      </p:sp>
      <p:sp>
        <p:nvSpPr>
          <p:cNvPr id="28" name="FMI Legend Chip"/>
          <p:cNvSpPr/>
          <p:nvPr/>
        </p:nvSpPr>
        <p:spPr>
          <a:xfrm>
            <a:off x="4928997" y="548165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768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006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62605"/>
            <a:ext cx="514350" cy="123825"/>
          </a:xfrm>
          <a:prstGeom prst="rect">
            <a:avLst/>
          </a:prstGeom>
          <a:noFill/>
        </p:spPr>
        <p:txBody>
          <a:bodyPr wrap="none" lIns="0" rIns="0" tIns="0" bIns="0" anchor="ctr">
            <a:spAutoFit/>
          </a:bodyPr>
          <a:lstStyle/>
          <a:p>
            <a:pPr algn="r"/>
            <a:r>
              <a:rPr sz="900" b="1">
                <a:solidFill>
                  <a:srgbClr val="2E7D32"/>
                </a:solidFill>
                <a:latin typeface="Calibri"/>
              </a:rPr>
              <a:t>+142</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Barrier Level</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high-barrier films segment is expected to witness the highest CAGR of 7.0% over the forecast period. In terms of value share by barrier level, the high-barrier films segment is expected to dominate the market, gaining 142 BPS and accounting for 33.3% share by 2036.</a:t>
            </a:r>
          </a:p>
          <a:p>
            <a:pPr algn="l">
              <a:lnSpc>
                <a:spcPct val="110000"/>
              </a:lnSpc>
              <a:spcBef>
                <a:spcPts val="0"/>
              </a:spcBef>
              <a:spcAft>
                <a:spcPts val="500"/>
              </a:spcAft>
            </a:pPr>
            <a:r>
              <a:rPr sz="1150" b="0">
                <a:solidFill>
                  <a:srgbClr val="2E2E2E"/>
                </a:solidFill>
                <a:latin typeface="Calibri"/>
              </a:rPr>
              <a:t>The medium-barrier films segment is expected to lose 136 BPS over the forecast period to account for 31.8% share by 2036.</a:t>
            </a:r>
          </a:p>
          <a:p>
            <a:pPr algn="l">
              <a:lnSpc>
                <a:spcPct val="110000"/>
              </a:lnSpc>
              <a:spcBef>
                <a:spcPts val="0"/>
              </a:spcBef>
              <a:spcAft>
                <a:spcPts val="500"/>
              </a:spcAft>
            </a:pPr>
            <a:r>
              <a:rPr sz="1150" b="0">
                <a:solidFill>
                  <a:srgbClr val="2E2E2E"/>
                </a:solidFill>
                <a:latin typeface="Calibri"/>
              </a:rPr>
              <a:t>High-Barrier Films grow fastest at 7.0% because European food waste reduction goals, retailer shelf-life targets and demand for ready meals, fresh protein and cheese require stronger oxygen and moisture protection, while pharma and medical packaging add further need. Advances in recyclable barrier technologies let buyers move up from Medium-Barrier Films, which grow just 6.1% and lose 136 BPS.</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Volume,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D3E4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62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0C487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0C3D6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85B6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Barrier Level (%)</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3971925"/>
          </a:xfrm>
          <a:prstGeom prst="roundRect">
            <a:avLst>
              <a:gd name="adj" fmla="val 19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Barrier Level (%)  ·  light = lower, dark = higher growth</a:t>
            </a:r>
          </a:p>
        </p:txBody>
      </p:sp>
      <p:sp>
        <p:nvSpPr>
          <p:cNvPr id="17" name="TextBox 16"/>
          <p:cNvSpPr txBox="1"/>
          <p:nvPr/>
        </p:nvSpPr>
        <p:spPr>
          <a:xfrm>
            <a:off x="18573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8" name="TextBox 17"/>
          <p:cNvSpPr txBox="1"/>
          <p:nvPr/>
        </p:nvSpPr>
        <p:spPr>
          <a:xfrm>
            <a:off x="25012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9" name="TextBox 18"/>
          <p:cNvSpPr txBox="1"/>
          <p:nvPr/>
        </p:nvSpPr>
        <p:spPr>
          <a:xfrm>
            <a:off x="31451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20" name="TextBox 19"/>
          <p:cNvSpPr txBox="1"/>
          <p:nvPr/>
        </p:nvSpPr>
        <p:spPr>
          <a:xfrm>
            <a:off x="37890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21" name="TextBox 20"/>
          <p:cNvSpPr txBox="1"/>
          <p:nvPr/>
        </p:nvSpPr>
        <p:spPr>
          <a:xfrm>
            <a:off x="44329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22" name="TextBox 21"/>
          <p:cNvSpPr txBox="1"/>
          <p:nvPr/>
        </p:nvSpPr>
        <p:spPr>
          <a:xfrm>
            <a:off x="507682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23" name="TextBox 22"/>
          <p:cNvSpPr txBox="1"/>
          <p:nvPr/>
        </p:nvSpPr>
        <p:spPr>
          <a:xfrm>
            <a:off x="572071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24" name="TextBox 23"/>
          <p:cNvSpPr txBox="1"/>
          <p:nvPr/>
        </p:nvSpPr>
        <p:spPr>
          <a:xfrm>
            <a:off x="636460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5" name="TextBox 24"/>
          <p:cNvSpPr txBox="1"/>
          <p:nvPr/>
        </p:nvSpPr>
        <p:spPr>
          <a:xfrm>
            <a:off x="700849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6" name="TextBox 25"/>
          <p:cNvSpPr txBox="1"/>
          <p:nvPr/>
        </p:nvSpPr>
        <p:spPr>
          <a:xfrm>
            <a:off x="765238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7" name="TextBox 26"/>
          <p:cNvSpPr txBox="1"/>
          <p:nvPr/>
        </p:nvSpPr>
        <p:spPr>
          <a:xfrm>
            <a:off x="829627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8" name="TextBox 27"/>
          <p:cNvSpPr txBox="1"/>
          <p:nvPr/>
        </p:nvSpPr>
        <p:spPr>
          <a:xfrm>
            <a:off x="894016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9" name="TextBox 28"/>
          <p:cNvSpPr txBox="1"/>
          <p:nvPr/>
        </p:nvSpPr>
        <p:spPr>
          <a:xfrm>
            <a:off x="958405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30" name="TextBox 29"/>
          <p:cNvSpPr txBox="1"/>
          <p:nvPr/>
        </p:nvSpPr>
        <p:spPr>
          <a:xfrm>
            <a:off x="1022794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31" name="TextBox 30"/>
          <p:cNvSpPr txBox="1"/>
          <p:nvPr/>
        </p:nvSpPr>
        <p:spPr>
          <a:xfrm>
            <a:off x="10871835" y="29432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32" name="TextBox 31"/>
          <p:cNvSpPr txBox="1"/>
          <p:nvPr/>
        </p:nvSpPr>
        <p:spPr>
          <a:xfrm>
            <a:off x="238125" y="3086100"/>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33" name="Rectangle 32"/>
          <p:cNvSpPr/>
          <p:nvPr/>
        </p:nvSpPr>
        <p:spPr>
          <a:xfrm>
            <a:off x="1857375" y="3086100"/>
            <a:ext cx="643890" cy="871538"/>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2501265" y="3086100"/>
            <a:ext cx="643890" cy="87153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3145155" y="3086100"/>
            <a:ext cx="643890" cy="871538"/>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3789045" y="3086100"/>
            <a:ext cx="643890" cy="871538"/>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4432935" y="3086100"/>
            <a:ext cx="643890" cy="87153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5076825" y="3086100"/>
            <a:ext cx="643890" cy="871538"/>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5720715" y="3086100"/>
            <a:ext cx="643890" cy="871538"/>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6364605" y="3086100"/>
            <a:ext cx="643890" cy="871538"/>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008495" y="3086100"/>
            <a:ext cx="643890" cy="871538"/>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7652385" y="3086100"/>
            <a:ext cx="643890" cy="871538"/>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8296275" y="3086100"/>
            <a:ext cx="643890" cy="871538"/>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8940165" y="3086100"/>
            <a:ext cx="643890" cy="871538"/>
          </a:xfrm>
          <a:prstGeom prst="rect">
            <a:avLst/>
          </a:prstGeom>
          <a:solidFill>
            <a:srgbClr val="10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9584055" y="3086100"/>
            <a:ext cx="643890" cy="871538"/>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10227945" y="3086100"/>
            <a:ext cx="643890" cy="87153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10871835" y="3086100"/>
            <a:ext cx="643890" cy="87153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38125" y="3957638"/>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49" name="Rectangle 48"/>
          <p:cNvSpPr/>
          <p:nvPr/>
        </p:nvSpPr>
        <p:spPr>
          <a:xfrm>
            <a:off x="1857375" y="3957638"/>
            <a:ext cx="643890" cy="871538"/>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2501265" y="3957638"/>
            <a:ext cx="643890" cy="871538"/>
          </a:xfrm>
          <a:prstGeom prst="rect">
            <a:avLst/>
          </a:prstGeom>
          <a:solidFill>
            <a:srgbClr val="F7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3145155" y="3957638"/>
            <a:ext cx="643890" cy="871538"/>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3789045" y="3957638"/>
            <a:ext cx="643890" cy="871538"/>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4432935" y="3957638"/>
            <a:ext cx="643890" cy="87153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5076825" y="3957638"/>
            <a:ext cx="643890" cy="871538"/>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5720715" y="3957638"/>
            <a:ext cx="643890" cy="871538"/>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6364605" y="3957638"/>
            <a:ext cx="643890" cy="871538"/>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7008495" y="3957638"/>
            <a:ext cx="643890" cy="871538"/>
          </a:xfrm>
          <a:prstGeom prst="rect">
            <a:avLst/>
          </a:prstGeom>
          <a:solidFill>
            <a:srgbClr val="77AE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7652385" y="3957638"/>
            <a:ext cx="643890" cy="871538"/>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ectangle 58"/>
          <p:cNvSpPr/>
          <p:nvPr/>
        </p:nvSpPr>
        <p:spPr>
          <a:xfrm>
            <a:off x="8296275" y="3957638"/>
            <a:ext cx="643890" cy="87153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8940165" y="3957638"/>
            <a:ext cx="643890" cy="871538"/>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9584055" y="3957638"/>
            <a:ext cx="643890" cy="871538"/>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227945" y="3957638"/>
            <a:ext cx="643890" cy="871538"/>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10871835" y="3957638"/>
            <a:ext cx="643890" cy="871538"/>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38125" y="4829175"/>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65" name="Rectangle 64"/>
          <p:cNvSpPr/>
          <p:nvPr/>
        </p:nvSpPr>
        <p:spPr>
          <a:xfrm>
            <a:off x="1857375" y="4829175"/>
            <a:ext cx="643890" cy="871538"/>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2501265" y="4829175"/>
            <a:ext cx="643890" cy="871538"/>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3145155" y="4829175"/>
            <a:ext cx="643890" cy="871538"/>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3789045" y="4829175"/>
            <a:ext cx="643890" cy="871538"/>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4432935" y="4829175"/>
            <a:ext cx="643890" cy="871538"/>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076825" y="4829175"/>
            <a:ext cx="643890" cy="871538"/>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720715" y="4829175"/>
            <a:ext cx="643890" cy="871538"/>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6364605" y="4829175"/>
            <a:ext cx="643890" cy="871538"/>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7008495" y="4829175"/>
            <a:ext cx="643890" cy="871538"/>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7652385" y="4829175"/>
            <a:ext cx="643890" cy="871538"/>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8296275" y="4829175"/>
            <a:ext cx="643890" cy="871538"/>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8940165" y="4829175"/>
            <a:ext cx="643890" cy="871538"/>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9584055" y="4829175"/>
            <a:ext cx="643890" cy="871538"/>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0227945" y="4829175"/>
            <a:ext cx="643890" cy="871538"/>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0871835" y="4829175"/>
            <a:ext cx="643890" cy="871538"/>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238125" y="5700712"/>
            <a:ext cx="1590675" cy="871538"/>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81" name="Rectangle 80"/>
          <p:cNvSpPr/>
          <p:nvPr/>
        </p:nvSpPr>
        <p:spPr>
          <a:xfrm>
            <a:off x="1857375" y="5700712"/>
            <a:ext cx="643890" cy="871538"/>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501265" y="5700712"/>
            <a:ext cx="643890" cy="871538"/>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3145155" y="5700712"/>
            <a:ext cx="643890" cy="871538"/>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3789045" y="5700712"/>
            <a:ext cx="643890" cy="871538"/>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4432935" y="5700712"/>
            <a:ext cx="643890" cy="871538"/>
          </a:xfrm>
          <a:prstGeom prst="rect">
            <a:avLst/>
          </a:prstGeom>
          <a:solidFill>
            <a:srgbClr val="93BE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076825" y="5700712"/>
            <a:ext cx="643890" cy="871538"/>
          </a:xfrm>
          <a:prstGeom prst="rect">
            <a:avLst/>
          </a:prstGeom>
          <a:solidFill>
            <a:srgbClr val="7A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720715" y="5700712"/>
            <a:ext cx="643890" cy="871538"/>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6364605" y="5700712"/>
            <a:ext cx="643890" cy="871538"/>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7008495" y="5700712"/>
            <a:ext cx="643890" cy="871538"/>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7652385" y="5700712"/>
            <a:ext cx="643890" cy="871538"/>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8296275" y="5700712"/>
            <a:ext cx="643890" cy="871538"/>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Rectangle 91"/>
          <p:cNvSpPr/>
          <p:nvPr/>
        </p:nvSpPr>
        <p:spPr>
          <a:xfrm>
            <a:off x="8940165" y="5700712"/>
            <a:ext cx="643890" cy="871538"/>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9584055" y="5700712"/>
            <a:ext cx="643890" cy="871538"/>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0227945" y="5700712"/>
            <a:ext cx="643890" cy="871538"/>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10871835" y="5700712"/>
            <a:ext cx="643890" cy="871538"/>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11572875" y="3124200"/>
            <a:ext cx="104775" cy="9286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11572875" y="3209449"/>
            <a:ext cx="104775" cy="9286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1572875" y="3294698"/>
            <a:ext cx="104775" cy="9286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11572875" y="3379946"/>
            <a:ext cx="104775" cy="9286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11572875" y="3465195"/>
            <a:ext cx="104775" cy="9286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11572875" y="3550444"/>
            <a:ext cx="104775" cy="9286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11572875" y="3635692"/>
            <a:ext cx="104775" cy="9286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11572875" y="3720941"/>
            <a:ext cx="104775" cy="9286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11572875" y="3806190"/>
            <a:ext cx="104775" cy="9286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1572875" y="3891439"/>
            <a:ext cx="104775" cy="9286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1572875" y="3976688"/>
            <a:ext cx="104775" cy="9286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11572875" y="4061936"/>
            <a:ext cx="104775" cy="9286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11572875" y="4147185"/>
            <a:ext cx="104775" cy="9286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11572875" y="4232434"/>
            <a:ext cx="104775" cy="9286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11572875" y="4317682"/>
            <a:ext cx="104775" cy="9286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1572875" y="4402931"/>
            <a:ext cx="104775" cy="9286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11572875" y="4488180"/>
            <a:ext cx="104775" cy="9286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11572875" y="4573429"/>
            <a:ext cx="104775" cy="9286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11572875" y="4658678"/>
            <a:ext cx="104775" cy="9286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11572875" y="4743926"/>
            <a:ext cx="104775" cy="9286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11572875" y="4829175"/>
            <a:ext cx="104775" cy="9286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11572875" y="4914424"/>
            <a:ext cx="104775" cy="9286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11572875" y="4999672"/>
            <a:ext cx="104775" cy="9286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11572875" y="5084921"/>
            <a:ext cx="104775" cy="9286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11572875" y="5170170"/>
            <a:ext cx="104775" cy="9286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1572875" y="5255419"/>
            <a:ext cx="104775" cy="9286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1572875" y="5340668"/>
            <a:ext cx="104775" cy="9286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Rectangle 122"/>
          <p:cNvSpPr/>
          <p:nvPr/>
        </p:nvSpPr>
        <p:spPr>
          <a:xfrm>
            <a:off x="11572875" y="5425916"/>
            <a:ext cx="104775" cy="9286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11572875" y="5511165"/>
            <a:ext cx="104775" cy="9286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1572875" y="5596414"/>
            <a:ext cx="104775" cy="9286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11572875" y="5681662"/>
            <a:ext cx="104775" cy="9286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11572875" y="5766911"/>
            <a:ext cx="104775" cy="9286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11572875" y="5852160"/>
            <a:ext cx="104775" cy="9286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11572875" y="5937409"/>
            <a:ext cx="104775" cy="9286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11572875" y="6022658"/>
            <a:ext cx="104775" cy="9286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11572875" y="6107906"/>
            <a:ext cx="104775" cy="9286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11572875" y="6193155"/>
            <a:ext cx="104775" cy="9286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11572875" y="6278404"/>
            <a:ext cx="104775" cy="9286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11572875" y="6363652"/>
            <a:ext cx="104775" cy="9286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11572875" y="6448901"/>
            <a:ext cx="104775" cy="9286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11572875" y="3124200"/>
            <a:ext cx="104775" cy="34099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11687175" y="30575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138" name="TextBox 137"/>
          <p:cNvSpPr txBox="1"/>
          <p:nvPr/>
        </p:nvSpPr>
        <p:spPr>
          <a:xfrm>
            <a:off x="11687175" y="47625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139" name="TextBox 138"/>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140" name="TextBox 13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Application segment categorizes the market by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Packaging</a:t>
            </a:r>
          </a:p>
        </p:txBody>
      </p:sp>
      <p:sp>
        <p:nvSpPr>
          <p:cNvPr id="23" name="Rectangle 22"/>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22,016</a:t>
            </a:r>
          </a:p>
        </p:txBody>
      </p:sp>
      <p:sp>
        <p:nvSpPr>
          <p:cNvPr id="24" name="Rectangle 23"/>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41,630</a:t>
            </a:r>
          </a:p>
        </p:txBody>
      </p:sp>
      <p:sp>
        <p:nvSpPr>
          <p:cNvPr id="25" name="Rectangle 24"/>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6.6%</a:t>
            </a:r>
          </a:p>
        </p:txBody>
      </p:sp>
      <p:sp>
        <p:nvSpPr>
          <p:cNvPr id="26" name="Oval 25"/>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Non-Food Packaging</a:t>
            </a:r>
          </a:p>
        </p:txBody>
      </p:sp>
      <p:sp>
        <p:nvSpPr>
          <p:cNvPr id="30" name="Rectangle 29"/>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4,125</a:t>
            </a:r>
          </a:p>
        </p:txBody>
      </p:sp>
      <p:sp>
        <p:nvSpPr>
          <p:cNvPr id="31" name="Rectangle 30"/>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7,763</a:t>
            </a:r>
          </a:p>
        </p:txBody>
      </p:sp>
      <p:sp>
        <p:nvSpPr>
          <p:cNvPr id="32" name="Rectangle 31"/>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6.5%</a:t>
            </a:r>
          </a:p>
        </p:txBody>
      </p:sp>
      <p:sp>
        <p:nvSpPr>
          <p:cNvPr id="33" name="Oval 32"/>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6" name="Rectangle 3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application, food packaging segment is expected to witness the highest CAGR of 6.6% over the forecast period. In terms of value share by application, the food packaging segment is expected to dominate the market, maintaining its share and accounting for 84.3%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Food packaging segment is projected to register 5.4X higher value than non-food packaging segment in 2036.</a:t>
            </a:r>
          </a:p>
        </p:txBody>
      </p:sp>
      <p:sp>
        <p:nvSpPr>
          <p:cNvPr id="38" name="Rounded Rectangle 3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0" name="Rectangle 3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Food Packaging: </a:t>
            </a:r>
            <a:r>
              <a:rPr sz="1100" b="0">
                <a:solidFill>
                  <a:srgbClr val="2E2E2E"/>
                </a:solidFill>
                <a:latin typeface="Calibri"/>
              </a:rPr>
              <a:t>84% of 2026 value · 6.6%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Non-Food Packaging: </a:t>
            </a:r>
            <a:r>
              <a:rPr sz="1100" b="0">
                <a:solidFill>
                  <a:srgbClr val="2E2E2E"/>
                </a:solidFill>
                <a:latin typeface="Calibri"/>
              </a:rPr>
              <a:t>16% of 2026 value · 6.5% CAGR serves a niche.</a:t>
            </a:r>
          </a:p>
        </p:txBody>
      </p:sp>
      <p:sp>
        <p:nvSpPr>
          <p:cNvPr id="42" name="Rounded Rectangle 4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4" name="Rectangle 4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Application split shows how demand is distributed across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6" name="Rectangle 4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Application segment is projected to grow at a CAGR of 6.6% from 2026 to 2036.</a:t>
            </a:r>
          </a:p>
        </p:txBody>
      </p:sp>
      <p:sp>
        <p:nvSpPr>
          <p:cNvPr id="48" name="TextBox 4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9" name="TextBox 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762375"/>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276725"/>
          </a:xfrm>
          <a:prstGeom prst="roundRect">
            <a:avLst>
              <a:gd name="adj" fmla="val 17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Application · Bubble size represents 2036 value</a:t>
            </a:r>
          </a:p>
        </p:txBody>
      </p:sp>
      <p:graphicFrame>
        <p:nvGraphicFramePr>
          <p:cNvPr id="16" name="Chart 15"/>
          <p:cNvGraphicFramePr>
            <a:graphicFrameLocks noGrp="1"/>
          </p:cNvGraphicFramePr>
          <p:nvPr/>
        </p:nvGraphicFramePr>
        <p:xfrm>
          <a:off x="6734175" y="1266825"/>
          <a:ext cx="5210175" cy="393382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91150"/>
            <a:ext cx="11906250" cy="1228725"/>
          </a:xfrm>
          <a:prstGeom prst="roundRect">
            <a:avLst>
              <a:gd name="adj" fmla="val 62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Food packaging followed by non-food packaging are expected to be the two most attractive application segments in the Europe flexible plastic packaging market in terms of value over the forecast period. Food packaging and Non-Food packaging exhibit a CAGR index of 100 and 99 and a market share index of 168 and 32 respectively, against the segment average of 100. Food Packaging ranks as the most attractive sub-segment because it pairs scale with steady growth: food accounts for the overwhelming bulk of flexible packaging use, so even average growth adds the most value. Its 84.2% share of 2026 value and 6.6% CAGR far outweigh Non-Food Packaging, at 15.8% share. In Europe, packaging waste regulation, EPR fees and a mature retail base steer specifications.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Food Packaging</a:t>
            </a:r>
          </a:p>
        </p:txBody>
      </p:sp>
      <p:graphicFrame>
        <p:nvGraphicFramePr>
          <p:cNvPr id="13" name="Chart 12"/>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Non-Food Packaging</a:t>
            </a:r>
          </a:p>
        </p:txBody>
      </p:sp>
      <p:graphicFrame>
        <p:nvGraphicFramePr>
          <p:cNvPr id="16" name="Chart 15"/>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Volume Analysis, By Application (Thousand MT)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Application (Thousand MT)</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Volume Analysis, By Application (Thousand MT)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Application (Thousand MT)</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5.4X higher volume than non-food packaging segment in 2036. Among flexible plastic packaging by application, food packaging segment is expected to witness the highest CAGR of 5.2% over the forecast period.</a:t>
            </a:r>
          </a:p>
          <a:p>
            <a:pPr algn="l">
              <a:lnSpc>
                <a:spcPct val="110000"/>
              </a:lnSpc>
              <a:spcBef>
                <a:spcPts val="0"/>
              </a:spcBef>
              <a:spcAft>
                <a:spcPts val="500"/>
              </a:spcAft>
            </a:pPr>
            <a:r>
              <a:rPr sz="1150" b="0">
                <a:solidFill>
                  <a:srgbClr val="2E2E2E"/>
                </a:solidFill>
                <a:latin typeface="Calibri"/>
              </a:rPr>
              <a:t>In terms of volume share by application, the food packaging segment is expected to dominate the market, maintaining its share and accounting for 84.3% share by 2036.</a:t>
            </a:r>
          </a:p>
          <a:p>
            <a:pPr algn="l">
              <a:lnSpc>
                <a:spcPct val="110000"/>
              </a:lnSpc>
              <a:spcBef>
                <a:spcPts val="0"/>
              </a:spcBef>
              <a:spcAft>
                <a:spcPts val="500"/>
              </a:spcAft>
            </a:pPr>
            <a:r>
              <a:rPr sz="1150" b="0">
                <a:solidFill>
                  <a:srgbClr val="2E2E2E"/>
                </a:solidFill>
                <a:latin typeface="Calibri"/>
              </a:rPr>
              <a:t>Food Packaging gains 7 BPS of volume share because shelf-life extension, protein and ready-meal growth and food delivery all depend on flexible barrier formats, reinforced by EPR schemes, recyclability regulation and demanding retailer packaging standards. Non-Food Packaging, covering personal care, household and healthcare, still grows at 5.2% but trails the 5.2% of food, so it concedes 7 BPS in a narrow shift.</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Application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Application (US$ Mn)</a:t>
            </a:r>
          </a:p>
        </p:txBody>
      </p:sp>
      <p:graphicFrame>
        <p:nvGraphicFramePr>
          <p:cNvPr id="13" name="Table 12"/>
          <p:cNvGraphicFramePr>
            <a:graphicFrameLocks noGrp="1"/>
          </p:cNvGraphicFramePr>
          <p:nvPr/>
        </p:nvGraphicFramePr>
        <p:xfrm>
          <a:off x="152400" y="1238250"/>
          <a:ext cx="11887193" cy="2857498"/>
        </p:xfrm>
        <a:graphic>
          <a:graphicData uri="http://schemas.openxmlformats.org/drawingml/2006/table">
            <a:tbl>
              <a:tblPr>
                <a:tableStyleId>{5C22544A-7EE6-4342-B048-85BDC9FD1C3A}</a:tableStyleId>
              </a:tblPr>
              <a:tblGrid>
                <a:gridCol w="2284301"/>
                <a:gridCol w="564876"/>
                <a:gridCol w="564876"/>
                <a:gridCol w="564876"/>
                <a:gridCol w="564876"/>
                <a:gridCol w="564876"/>
                <a:gridCol w="564876"/>
                <a:gridCol w="564876"/>
                <a:gridCol w="564876"/>
                <a:gridCol w="564876"/>
                <a:gridCol w="564876"/>
                <a:gridCol w="564876"/>
                <a:gridCol w="564876"/>
                <a:gridCol w="564876"/>
                <a:gridCol w="564876"/>
                <a:gridCol w="564876"/>
                <a:gridCol w="564876"/>
                <a:gridCol w="564876"/>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40203">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40203">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40203">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41052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Application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Application (US$ Mn)</a:t>
            </a:r>
          </a:p>
        </p:txBody>
      </p:sp>
      <p:graphicFrame>
        <p:nvGraphicFramePr>
          <p:cNvPr id="12" name="Table 11"/>
          <p:cNvGraphicFramePr>
            <a:graphicFrameLocks noGrp="1"/>
          </p:cNvGraphicFramePr>
          <p:nvPr/>
        </p:nvGraphicFramePr>
        <p:xfrm>
          <a:off x="152400" y="1238250"/>
          <a:ext cx="11887203" cy="1514475"/>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Household Care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095625"/>
            <a:ext cx="11906250" cy="3533775"/>
          </a:xfrm>
          <a:prstGeom prst="roundRect">
            <a:avLst>
              <a:gd name="adj" fmla="val 215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18135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Application</a:t>
            </a:r>
          </a:p>
        </p:txBody>
      </p:sp>
      <p:sp>
        <p:nvSpPr>
          <p:cNvPr id="16" name="Rectangle 15"/>
          <p:cNvSpPr/>
          <p:nvPr/>
        </p:nvSpPr>
        <p:spPr>
          <a:xfrm>
            <a:off x="276225" y="34194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505200"/>
            <a:ext cx="11639550" cy="30480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Food packaging segment is projected to register 5.4X higher value than non-food packaging segment in 2036. Among flexible plastic packaging by application, food packaging segment is expected to witness the highest CAGR of 6.6% over the forecast period.</a:t>
            </a:r>
          </a:p>
          <a:p>
            <a:pPr algn="l">
              <a:lnSpc>
                <a:spcPct val="110000"/>
              </a:lnSpc>
              <a:spcBef>
                <a:spcPts val="0"/>
              </a:spcBef>
              <a:spcAft>
                <a:spcPts val="500"/>
              </a:spcAft>
            </a:pPr>
            <a:r>
              <a:rPr sz="1150" b="0">
                <a:solidFill>
                  <a:srgbClr val="2E2E2E"/>
                </a:solidFill>
                <a:latin typeface="Calibri"/>
              </a:rPr>
              <a:t>In terms of value share by application, the food packaging segment is expected to dominate the market, maintaining its share and accounting for 84.3% share by 2036.</a:t>
            </a:r>
          </a:p>
          <a:p>
            <a:pPr algn="l">
              <a:lnSpc>
                <a:spcPct val="110000"/>
              </a:lnSpc>
              <a:spcBef>
                <a:spcPts val="0"/>
              </a:spcBef>
              <a:spcAft>
                <a:spcPts val="500"/>
              </a:spcAft>
            </a:pPr>
            <a:r>
              <a:rPr sz="1150" b="0">
                <a:solidFill>
                  <a:srgbClr val="2E2E2E"/>
                </a:solidFill>
                <a:latin typeface="Calibri"/>
              </a:rPr>
              <a:t>Food Packaging gains 6 BPS with growth of 6.6% because convenience food, ready meals, fresh produce and online grocery keep expanding the demand for flexible barrier film that extends shelf life and reduces food waste. Non-Food Packaging, at 6.5%, grows almost as fast on personal care and household demand but lacks the same structural pull, so it gives up a sliver of share.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203057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rot="10800000">
            <a:off x="5090922" y="202581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4961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Non-Food Packaging</a:t>
            </a:r>
          </a:p>
        </p:txBody>
      </p:sp>
      <p:sp>
        <p:nvSpPr>
          <p:cNvPr id="19" name="BPS Value 1"/>
          <p:cNvSpPr txBox="1"/>
          <p:nvPr/>
        </p:nvSpPr>
        <p:spPr>
          <a:xfrm>
            <a:off x="6896100" y="2011528"/>
            <a:ext cx="514350" cy="123825"/>
          </a:xfrm>
          <a:prstGeom prst="rect">
            <a:avLst/>
          </a:prstGeom>
          <a:noFill/>
        </p:spPr>
        <p:txBody>
          <a:bodyPr wrap="none" lIns="0" rIns="0" tIns="0" bIns="0" anchor="ctr">
            <a:spAutoFit/>
          </a:bodyPr>
          <a:lstStyle/>
          <a:p>
            <a:pPr algn="r"/>
            <a:r>
              <a:rPr sz="900" b="1">
                <a:solidFill>
                  <a:srgbClr val="E44D3A"/>
                </a:solidFill>
                <a:latin typeface="Calibri"/>
              </a:rPr>
              <a:t>-6</a:t>
            </a:r>
          </a:p>
        </p:txBody>
      </p:sp>
      <p:sp>
        <p:nvSpPr>
          <p:cNvPr id="20" name="FMI Legend Chip"/>
          <p:cNvSpPr/>
          <p:nvPr/>
        </p:nvSpPr>
        <p:spPr>
          <a:xfrm>
            <a:off x="4928997" y="431676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a:off x="5090922" y="431200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423580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Packaging</a:t>
            </a:r>
          </a:p>
        </p:txBody>
      </p:sp>
      <p:sp>
        <p:nvSpPr>
          <p:cNvPr id="23" name="BPS Value 2"/>
          <p:cNvSpPr txBox="1"/>
          <p:nvPr/>
        </p:nvSpPr>
        <p:spPr>
          <a:xfrm>
            <a:off x="6896100" y="4297718"/>
            <a:ext cx="514350" cy="123825"/>
          </a:xfrm>
          <a:prstGeom prst="rect">
            <a:avLst/>
          </a:prstGeom>
          <a:noFill/>
        </p:spPr>
        <p:txBody>
          <a:bodyPr wrap="none" lIns="0" rIns="0" tIns="0" bIns="0" anchor="ctr">
            <a:spAutoFit/>
          </a:bodyPr>
          <a:lstStyle/>
          <a:p>
            <a:pPr algn="r"/>
            <a:r>
              <a:rPr sz="900" b="1">
                <a:solidFill>
                  <a:srgbClr val="2E7D32"/>
                </a:solidFill>
                <a:latin typeface="Calibri"/>
              </a:rPr>
              <a:t>+6</a:t>
            </a:r>
          </a:p>
        </p:txBody>
      </p:sp>
      <p:sp>
        <p:nvSpPr>
          <p:cNvPr id="24" name="Rounded Rectangle 23"/>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Application</a:t>
            </a:r>
          </a:p>
        </p:txBody>
      </p:sp>
      <p:sp>
        <p:nvSpPr>
          <p:cNvPr id="26" name="Rectangle 25"/>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application, food packaging segment is expected to witness the highest CAGR of 6.6% over the forecast period.</a:t>
            </a:r>
          </a:p>
          <a:p>
            <a:pPr algn="l">
              <a:lnSpc>
                <a:spcPct val="110000"/>
              </a:lnSpc>
              <a:spcBef>
                <a:spcPts val="0"/>
              </a:spcBef>
              <a:spcAft>
                <a:spcPts val="500"/>
              </a:spcAft>
            </a:pPr>
            <a:r>
              <a:rPr sz="1150" b="0">
                <a:solidFill>
                  <a:srgbClr val="2E2E2E"/>
                </a:solidFill>
                <a:latin typeface="Calibri"/>
              </a:rPr>
              <a:t>In terms of value share by application, the food packaging segment is expected to dominate the market, maintaining its share and accounting for 84.3% share by 2036.</a:t>
            </a:r>
          </a:p>
          <a:p>
            <a:pPr algn="l">
              <a:lnSpc>
                <a:spcPct val="110000"/>
              </a:lnSpc>
              <a:spcBef>
                <a:spcPts val="0"/>
              </a:spcBef>
              <a:spcAft>
                <a:spcPts val="500"/>
              </a:spcAft>
            </a:pPr>
            <a:r>
              <a:rPr sz="1150" b="0">
                <a:solidFill>
                  <a:srgbClr val="2E2E2E"/>
                </a:solidFill>
                <a:latin typeface="Calibri"/>
              </a:rPr>
              <a:t>Food Packaging grows fastest at a 6.6% CAGR against 6.6% for the market because processed, frozen and delivered food keeps expanding faster than other uses. The slowest part, Non-Food Packaging, grows at 6.5% as industrial and household uses grow more slowly than food. In Europe, packaging waste regulation, EPR fees and a mature retail base steer specifications.</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Volume,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Volume,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DBEA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0E6BA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0E6CA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2B84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65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90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D1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81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6D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A1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D4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AFCD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F2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4F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29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BC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83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A5C8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CADC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C446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E6AA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E4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DF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CA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5E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BAD3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72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4A96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C456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D619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1B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6EA9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65A4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69A6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CC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B8D2E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D3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C3D9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5A9E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3288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82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E4F1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E3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7FB2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Food Packaging</a:t>
            </a:r>
          </a:p>
        </p:txBody>
      </p:sp>
      <p:sp>
        <p:nvSpPr>
          <p:cNvPr id="28" name="Rectangle 27"/>
          <p:cNvSpPr/>
          <p:nvPr/>
        </p:nvSpPr>
        <p:spPr>
          <a:xfrm>
            <a:off x="1857375" y="1409700"/>
            <a:ext cx="643890" cy="322659"/>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322659"/>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322659"/>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322659"/>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322659"/>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322659"/>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322659"/>
          </a:xfrm>
          <a:prstGeom prst="rect">
            <a:avLst/>
          </a:prstGeom>
          <a:solidFill>
            <a:srgbClr val="3D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322659"/>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322659"/>
          </a:xfrm>
          <a:prstGeom prst="rect">
            <a:avLst/>
          </a:prstGeom>
          <a:solidFill>
            <a:srgbClr val="1E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322659"/>
          </a:xfrm>
          <a:prstGeom prst="rect">
            <a:avLst/>
          </a:prstGeom>
          <a:solidFill>
            <a:srgbClr val="19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322659"/>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73235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Meat and Processed Meat</a:t>
            </a:r>
          </a:p>
        </p:txBody>
      </p:sp>
      <p:sp>
        <p:nvSpPr>
          <p:cNvPr id="44" name="Rectangle 43"/>
          <p:cNvSpPr/>
          <p:nvPr/>
        </p:nvSpPr>
        <p:spPr>
          <a:xfrm>
            <a:off x="1857375" y="1732359"/>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732359"/>
            <a:ext cx="643890" cy="322659"/>
          </a:xfrm>
          <a:prstGeom prst="rect">
            <a:avLst/>
          </a:prstGeom>
          <a:solidFill>
            <a:srgbClr val="E9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732359"/>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732359"/>
            <a:ext cx="643890" cy="322659"/>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732359"/>
            <a:ext cx="643890" cy="322659"/>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732359"/>
            <a:ext cx="643890" cy="322659"/>
          </a:xfrm>
          <a:prstGeom prst="rect">
            <a:avLst/>
          </a:prstGeom>
          <a:solidFill>
            <a:srgbClr val="99C1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732359"/>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732359"/>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732359"/>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732359"/>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732359"/>
            <a:ext cx="643890" cy="322659"/>
          </a:xfrm>
          <a:prstGeom prst="rect">
            <a:avLst/>
          </a:prstGeom>
          <a:solidFill>
            <a:srgbClr val="0D5F9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732359"/>
            <a:ext cx="643890" cy="322659"/>
          </a:xfrm>
          <a:prstGeom prst="rect">
            <a:avLst/>
          </a:prstGeom>
          <a:solidFill>
            <a:srgbClr val="0D558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732359"/>
            <a:ext cx="643890" cy="322659"/>
          </a:xfrm>
          <a:prstGeom prst="rect">
            <a:avLst/>
          </a:prstGeom>
          <a:solidFill>
            <a:srgbClr val="0D548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732359"/>
            <a:ext cx="643890" cy="322659"/>
          </a:xfrm>
          <a:prstGeom prst="rect">
            <a:avLst/>
          </a:prstGeom>
          <a:solidFill>
            <a:srgbClr val="0D5D8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732359"/>
            <a:ext cx="643890" cy="322659"/>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055019"/>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Poultry</a:t>
            </a:r>
          </a:p>
        </p:txBody>
      </p:sp>
      <p:sp>
        <p:nvSpPr>
          <p:cNvPr id="60" name="Rectangle 59"/>
          <p:cNvSpPr/>
          <p:nvPr/>
        </p:nvSpPr>
        <p:spPr>
          <a:xfrm>
            <a:off x="1857375" y="2055019"/>
            <a:ext cx="643890" cy="322659"/>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055019"/>
            <a:ext cx="643890" cy="322659"/>
          </a:xfrm>
          <a:prstGeom prst="rect">
            <a:avLst/>
          </a:prstGeom>
          <a:solidFill>
            <a:srgbClr val="FC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055019"/>
            <a:ext cx="643890" cy="322659"/>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055019"/>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055019"/>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055019"/>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055019"/>
            <a:ext cx="643890" cy="322659"/>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055019"/>
            <a:ext cx="643890" cy="322659"/>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055019"/>
            <a:ext cx="643890" cy="322659"/>
          </a:xfrm>
          <a:prstGeom prst="rect">
            <a:avLst/>
          </a:prstGeom>
          <a:solidFill>
            <a:srgbClr val="67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055019"/>
            <a:ext cx="643890" cy="322659"/>
          </a:xfrm>
          <a:prstGeom prst="rect">
            <a:avLst/>
          </a:prstGeom>
          <a:solidFill>
            <a:srgbClr val="48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055019"/>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055019"/>
            <a:ext cx="643890" cy="322659"/>
          </a:xfrm>
          <a:prstGeom prst="rect">
            <a:avLst/>
          </a:prstGeom>
          <a:solidFill>
            <a:srgbClr val="2E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055019"/>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055019"/>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055019"/>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37767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Fish and Seafood</a:t>
            </a:r>
          </a:p>
        </p:txBody>
      </p:sp>
      <p:sp>
        <p:nvSpPr>
          <p:cNvPr id="76" name="Rectangle 75"/>
          <p:cNvSpPr/>
          <p:nvPr/>
        </p:nvSpPr>
        <p:spPr>
          <a:xfrm>
            <a:off x="1857375" y="2377678"/>
            <a:ext cx="643890" cy="322659"/>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377678"/>
            <a:ext cx="643890" cy="322659"/>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377678"/>
            <a:ext cx="643890" cy="322659"/>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377678"/>
            <a:ext cx="643890" cy="322659"/>
          </a:xfrm>
          <a:prstGeom prst="rect">
            <a:avLst/>
          </a:prstGeom>
          <a:solidFill>
            <a:srgbClr val="E2EF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377678"/>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377678"/>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377678"/>
            <a:ext cx="643890" cy="322659"/>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377678"/>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377678"/>
            <a:ext cx="643890" cy="322659"/>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377678"/>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377678"/>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377678"/>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377678"/>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377678"/>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377678"/>
            <a:ext cx="643890" cy="322659"/>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2700338"/>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Dairy and Cheese</a:t>
            </a:r>
          </a:p>
        </p:txBody>
      </p:sp>
      <p:sp>
        <p:nvSpPr>
          <p:cNvPr id="92" name="Rectangle 91"/>
          <p:cNvSpPr/>
          <p:nvPr/>
        </p:nvSpPr>
        <p:spPr>
          <a:xfrm>
            <a:off x="1857375" y="2700338"/>
            <a:ext cx="643890" cy="322659"/>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2700338"/>
            <a:ext cx="643890" cy="322659"/>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2700338"/>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2700338"/>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2700338"/>
            <a:ext cx="643890" cy="322659"/>
          </a:xfrm>
          <a:prstGeom prst="rect">
            <a:avLst/>
          </a:prstGeom>
          <a:solidFill>
            <a:srgbClr val="C0D7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2700338"/>
            <a:ext cx="643890" cy="322659"/>
          </a:xfrm>
          <a:prstGeom prst="rect">
            <a:avLst/>
          </a:prstGeom>
          <a:solidFill>
            <a:srgbClr val="AA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2700338"/>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2700338"/>
            <a:ext cx="643890" cy="322659"/>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2700338"/>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2700338"/>
            <a:ext cx="643890" cy="322659"/>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2700338"/>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2700338"/>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2700338"/>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2700338"/>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2700338"/>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022997"/>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Ready Meals and Prepared Foods</a:t>
            </a:r>
          </a:p>
        </p:txBody>
      </p:sp>
      <p:sp>
        <p:nvSpPr>
          <p:cNvPr id="108" name="Rectangle 107"/>
          <p:cNvSpPr/>
          <p:nvPr/>
        </p:nvSpPr>
        <p:spPr>
          <a:xfrm>
            <a:off x="1857375" y="3022997"/>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022997"/>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022997"/>
            <a:ext cx="643890" cy="322659"/>
          </a:xfrm>
          <a:prstGeom prst="rect">
            <a:avLst/>
          </a:prstGeom>
          <a:solidFill>
            <a:srgbClr val="DAE9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022997"/>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022997"/>
            <a:ext cx="643890" cy="322659"/>
          </a:xfrm>
          <a:prstGeom prst="rect">
            <a:avLst/>
          </a:prstGeom>
          <a:solidFill>
            <a:srgbClr val="A7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022997"/>
            <a:ext cx="643890" cy="322659"/>
          </a:xfrm>
          <a:prstGeom prst="rect">
            <a:avLst/>
          </a:prstGeom>
          <a:solidFill>
            <a:srgbClr val="90BC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022997"/>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022997"/>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022997"/>
            <a:ext cx="643890" cy="322659"/>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022997"/>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022997"/>
            <a:ext cx="643890" cy="322659"/>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022997"/>
            <a:ext cx="643890" cy="322659"/>
          </a:xfrm>
          <a:prstGeom prst="rect">
            <a:avLst/>
          </a:prstGeom>
          <a:solidFill>
            <a:srgbClr val="0D639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022997"/>
            <a:ext cx="643890" cy="322659"/>
          </a:xfrm>
          <a:prstGeom prst="rect">
            <a:avLst/>
          </a:prstGeom>
          <a:solidFill>
            <a:srgbClr val="0D649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022997"/>
            <a:ext cx="643890" cy="322659"/>
          </a:xfrm>
          <a:prstGeom prst="rect">
            <a:avLst/>
          </a:prstGeom>
          <a:solidFill>
            <a:srgbClr val="0E6DA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022997"/>
            <a:ext cx="643890" cy="322659"/>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34565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Bakery, Confectionery and Snacks</a:t>
            </a:r>
          </a:p>
        </p:txBody>
      </p:sp>
      <p:sp>
        <p:nvSpPr>
          <p:cNvPr id="124" name="Rectangle 123"/>
          <p:cNvSpPr/>
          <p:nvPr/>
        </p:nvSpPr>
        <p:spPr>
          <a:xfrm>
            <a:off x="1857375" y="3345656"/>
            <a:ext cx="643890" cy="322659"/>
          </a:xfrm>
          <a:prstGeom prst="rect">
            <a:avLst/>
          </a:prstGeom>
          <a:solidFill>
            <a:srgbClr val="F9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345656"/>
            <a:ext cx="643890" cy="322659"/>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345656"/>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345656"/>
            <a:ext cx="643890" cy="322659"/>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345656"/>
            <a:ext cx="643890" cy="322659"/>
          </a:xfrm>
          <a:prstGeom prst="rect">
            <a:avLst/>
          </a:prstGeom>
          <a:solidFill>
            <a:srgbClr val="C5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345656"/>
            <a:ext cx="643890" cy="322659"/>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345656"/>
            <a:ext cx="643890" cy="322659"/>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345656"/>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345656"/>
            <a:ext cx="643890" cy="322659"/>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345656"/>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345656"/>
            <a:ext cx="643890" cy="322659"/>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345656"/>
            <a:ext cx="643890" cy="322659"/>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345656"/>
            <a:ext cx="643890" cy="322659"/>
          </a:xfrm>
          <a:prstGeom prst="rect">
            <a:avLst/>
          </a:prstGeom>
          <a:solidFill>
            <a:srgbClr val="1878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345656"/>
            <a:ext cx="643890" cy="322659"/>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345656"/>
            <a:ext cx="643890" cy="322659"/>
          </a:xfrm>
          <a:prstGeom prst="rect">
            <a:avLst/>
          </a:prstGeom>
          <a:solidFill>
            <a:srgbClr val="26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3668316"/>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Dry Foods and Powders</a:t>
            </a:r>
          </a:p>
        </p:txBody>
      </p:sp>
      <p:sp>
        <p:nvSpPr>
          <p:cNvPr id="140" name="Rectangle 139"/>
          <p:cNvSpPr/>
          <p:nvPr/>
        </p:nvSpPr>
        <p:spPr>
          <a:xfrm>
            <a:off x="1857375" y="3668316"/>
            <a:ext cx="643890" cy="322659"/>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3668316"/>
            <a:ext cx="643890" cy="322659"/>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3668316"/>
            <a:ext cx="643890" cy="322659"/>
          </a:xfrm>
          <a:prstGeom prst="rect">
            <a:avLst/>
          </a:prstGeom>
          <a:solidFill>
            <a:srgbClr val="EA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3668316"/>
            <a:ext cx="643890" cy="322659"/>
          </a:xfrm>
          <a:prstGeom prst="rect">
            <a:avLst/>
          </a:prstGeom>
          <a:solidFill>
            <a:srgbClr val="E5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3668316"/>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3668316"/>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3668316"/>
            <a:ext cx="643890" cy="322659"/>
          </a:xfrm>
          <a:prstGeom prst="rect">
            <a:avLst/>
          </a:prstGeom>
          <a:solidFill>
            <a:srgbClr val="9F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3668316"/>
            <a:ext cx="643890" cy="322659"/>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3668316"/>
            <a:ext cx="643890" cy="322659"/>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3668316"/>
            <a:ext cx="643890" cy="322659"/>
          </a:xfrm>
          <a:prstGeom prst="rect">
            <a:avLst/>
          </a:prstGeom>
          <a:solidFill>
            <a:srgbClr val="539A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3668316"/>
            <a:ext cx="643890" cy="322659"/>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3668316"/>
            <a:ext cx="643890" cy="322659"/>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3668316"/>
            <a:ext cx="643890" cy="322659"/>
          </a:xfrm>
          <a:prstGeom prst="rect">
            <a:avLst/>
          </a:prstGeom>
          <a:solidFill>
            <a:srgbClr val="3C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3668316"/>
            <a:ext cx="643890" cy="322659"/>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3668316"/>
            <a:ext cx="643890" cy="322659"/>
          </a:xfrm>
          <a:prstGeom prst="rect">
            <a:avLst/>
          </a:prstGeom>
          <a:solidFill>
            <a:srgbClr val="4995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3990975"/>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Pet Food</a:t>
            </a:r>
          </a:p>
        </p:txBody>
      </p:sp>
      <p:sp>
        <p:nvSpPr>
          <p:cNvPr id="156" name="Rectangle 155"/>
          <p:cNvSpPr/>
          <p:nvPr/>
        </p:nvSpPr>
        <p:spPr>
          <a:xfrm>
            <a:off x="1857375" y="3990975"/>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3990975"/>
            <a:ext cx="643890" cy="322659"/>
          </a:xfrm>
          <a:prstGeom prst="rect">
            <a:avLst/>
          </a:prstGeom>
          <a:solidFill>
            <a:srgbClr val="E1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3990975"/>
            <a:ext cx="643890" cy="322659"/>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3990975"/>
            <a:ext cx="643890" cy="322659"/>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3990975"/>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3990975"/>
            <a:ext cx="643890" cy="322659"/>
          </a:xfrm>
          <a:prstGeom prst="rect">
            <a:avLst/>
          </a:prstGeom>
          <a:solidFill>
            <a:srgbClr val="7EB2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3990975"/>
            <a:ext cx="643890" cy="322659"/>
          </a:xfrm>
          <a:prstGeom prst="rect">
            <a:avLst/>
          </a:prstGeom>
          <a:solidFill>
            <a:srgbClr val="55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3990975"/>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3990975"/>
            <a:ext cx="643890" cy="322659"/>
          </a:xfrm>
          <a:prstGeom prst="rect">
            <a:avLst/>
          </a:prstGeom>
          <a:solidFill>
            <a:srgbClr val="1475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3990975"/>
            <a:ext cx="643890" cy="322659"/>
          </a:xfrm>
          <a:prstGeom prst="rect">
            <a:avLst/>
          </a:prstGeom>
          <a:solidFill>
            <a:srgbClr val="0D538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3990975"/>
            <a:ext cx="643890" cy="322659"/>
          </a:xfrm>
          <a:prstGeom prst="rect">
            <a:avLst/>
          </a:prstGeom>
          <a:solidFill>
            <a:srgbClr val="0B375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3990975"/>
            <a:ext cx="643890" cy="322659"/>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3990975"/>
            <a:ext cx="643890" cy="322659"/>
          </a:xfrm>
          <a:prstGeom prst="rect">
            <a:avLst/>
          </a:prstGeom>
          <a:solidFill>
            <a:srgbClr val="0B2F4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3990975"/>
            <a:ext cx="643890" cy="322659"/>
          </a:xfrm>
          <a:prstGeom prst="rect">
            <a:avLst/>
          </a:prstGeom>
          <a:solidFill>
            <a:srgbClr val="0B395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3990975"/>
            <a:ext cx="643890" cy="322659"/>
          </a:xfrm>
          <a:prstGeom prst="rect">
            <a:avLst/>
          </a:prstGeom>
          <a:solidFill>
            <a:srgbClr val="0C476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431363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Other Food Products (Fresh Produce, Plant-Based Foods, Condiments and Dressings, Foodservice Products)</a:t>
            </a:r>
          </a:p>
        </p:txBody>
      </p:sp>
      <p:sp>
        <p:nvSpPr>
          <p:cNvPr id="172" name="Rectangle 171"/>
          <p:cNvSpPr/>
          <p:nvPr/>
        </p:nvSpPr>
        <p:spPr>
          <a:xfrm>
            <a:off x="1857375" y="4313634"/>
            <a:ext cx="643890" cy="322659"/>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4313634"/>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4313634"/>
            <a:ext cx="643890" cy="322659"/>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4313634"/>
            <a:ext cx="643890" cy="322659"/>
          </a:xfrm>
          <a:prstGeom prst="rect">
            <a:avLst/>
          </a:prstGeom>
          <a:solidFill>
            <a:srgbClr val="DEED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4313634"/>
            <a:ext cx="643890" cy="322659"/>
          </a:xfrm>
          <a:prstGeom prst="rect">
            <a:avLst/>
          </a:prstGeom>
          <a:solidFill>
            <a:srgbClr val="B4D0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4313634"/>
            <a:ext cx="643890" cy="322659"/>
          </a:xfrm>
          <a:prstGeom prst="rect">
            <a:avLst/>
          </a:prstGeom>
          <a:solidFill>
            <a:srgbClr val="99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4313634"/>
            <a:ext cx="643890" cy="322659"/>
          </a:xfrm>
          <a:prstGeom prst="rect">
            <a:avLst/>
          </a:prstGeom>
          <a:solidFill>
            <a:srgbClr val="76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4313634"/>
            <a:ext cx="643890" cy="322659"/>
          </a:xfrm>
          <a:prstGeom prst="rect">
            <a:avLst/>
          </a:prstGeom>
          <a:solidFill>
            <a:srgbClr val="51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4313634"/>
            <a:ext cx="643890" cy="322659"/>
          </a:xfrm>
          <a:prstGeom prst="rect">
            <a:avLst/>
          </a:prstGeom>
          <a:solidFill>
            <a:srgbClr val="37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4313634"/>
            <a:ext cx="643890" cy="322659"/>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4313634"/>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4313634"/>
            <a:ext cx="643890" cy="322659"/>
          </a:xfrm>
          <a:prstGeom prst="rect">
            <a:avLst/>
          </a:prstGeom>
          <a:solidFill>
            <a:srgbClr val="2781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4313634"/>
            <a:ext cx="643890" cy="322659"/>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4313634"/>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4313634"/>
            <a:ext cx="643890" cy="322659"/>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4636294"/>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Non-Food Packaging</a:t>
            </a:r>
          </a:p>
        </p:txBody>
      </p:sp>
      <p:sp>
        <p:nvSpPr>
          <p:cNvPr id="188" name="Rectangle 187"/>
          <p:cNvSpPr/>
          <p:nvPr/>
        </p:nvSpPr>
        <p:spPr>
          <a:xfrm>
            <a:off x="1857375" y="4636294"/>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4636294"/>
            <a:ext cx="643890" cy="322659"/>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4636294"/>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4636294"/>
            <a:ext cx="643890" cy="322659"/>
          </a:xfrm>
          <a:prstGeom prst="rect">
            <a:avLst/>
          </a:prstGeom>
          <a:solidFill>
            <a:srgbClr val="DD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4636294"/>
            <a:ext cx="643890" cy="322659"/>
          </a:xfrm>
          <a:prstGeom prst="rect">
            <a:avLst/>
          </a:prstGeom>
          <a:solidFill>
            <a:srgbClr val="B7D2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4636294"/>
            <a:ext cx="643890" cy="322659"/>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4636294"/>
            <a:ext cx="643890" cy="322659"/>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4636294"/>
            <a:ext cx="643890" cy="322659"/>
          </a:xfrm>
          <a:prstGeom prst="rect">
            <a:avLst/>
          </a:prstGeom>
          <a:solidFill>
            <a:srgbClr val="68A6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4636294"/>
            <a:ext cx="643890" cy="322659"/>
          </a:xfrm>
          <a:prstGeom prst="rect">
            <a:avLst/>
          </a:prstGeom>
          <a:solidFill>
            <a:srgbClr val="45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4636294"/>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4636294"/>
            <a:ext cx="643890" cy="322659"/>
          </a:xfrm>
          <a:prstGeom prst="rect">
            <a:avLst/>
          </a:prstGeom>
          <a:solidFill>
            <a:srgbClr val="24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4636294"/>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4636294"/>
            <a:ext cx="643890" cy="322659"/>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4636294"/>
            <a:ext cx="643890" cy="322659"/>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4636294"/>
            <a:ext cx="643890" cy="322659"/>
          </a:xfrm>
          <a:prstGeom prst="rect">
            <a:avLst/>
          </a:prstGeom>
          <a:solidFill>
            <a:srgbClr val="2A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4958953"/>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Pharmaceutical and Healthcare</a:t>
            </a:r>
          </a:p>
        </p:txBody>
      </p:sp>
      <p:sp>
        <p:nvSpPr>
          <p:cNvPr id="204" name="Rectangle 203"/>
          <p:cNvSpPr/>
          <p:nvPr/>
        </p:nvSpPr>
        <p:spPr>
          <a:xfrm>
            <a:off x="1857375" y="4958953"/>
            <a:ext cx="643890" cy="322659"/>
          </a:xfrm>
          <a:prstGeom prst="rect">
            <a:avLst/>
          </a:prstGeom>
          <a:solidFill>
            <a:srgbClr val="D9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4958953"/>
            <a:ext cx="643890" cy="322659"/>
          </a:xfrm>
          <a:prstGeom prst="rect">
            <a:avLst/>
          </a:prstGeom>
          <a:solidFill>
            <a:srgbClr val="D5E5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4958953"/>
            <a:ext cx="643890" cy="322659"/>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4958953"/>
            <a:ext cx="643890" cy="322659"/>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4958953"/>
            <a:ext cx="643890" cy="322659"/>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4958953"/>
            <a:ext cx="643890" cy="322659"/>
          </a:xfrm>
          <a:prstGeom prst="rect">
            <a:avLst/>
          </a:prstGeom>
          <a:solidFill>
            <a:srgbClr val="73AC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4958953"/>
            <a:ext cx="643890" cy="322659"/>
          </a:xfrm>
          <a:prstGeom prst="rect">
            <a:avLst/>
          </a:prstGeom>
          <a:solidFill>
            <a:srgbClr val="4E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4958953"/>
            <a:ext cx="643890" cy="322659"/>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4958953"/>
            <a:ext cx="643890" cy="322659"/>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4958953"/>
            <a:ext cx="643890" cy="322659"/>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4958953"/>
            <a:ext cx="643890" cy="322659"/>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4958953"/>
            <a:ext cx="643890" cy="322659"/>
          </a:xfrm>
          <a:prstGeom prst="rect">
            <a:avLst/>
          </a:prstGeom>
          <a:solidFill>
            <a:srgbClr val="0C406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4958953"/>
            <a:ext cx="643890" cy="322659"/>
          </a:xfrm>
          <a:prstGeom prst="rect">
            <a:avLst/>
          </a:prstGeom>
          <a:solidFill>
            <a:srgbClr val="0C42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4958953"/>
            <a:ext cx="643890" cy="322659"/>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4958953"/>
            <a:ext cx="643890" cy="322659"/>
          </a:xfrm>
          <a:prstGeom prst="rect">
            <a:avLst/>
          </a:prstGeom>
          <a:solidFill>
            <a:srgbClr val="0D588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TextBox 218"/>
          <p:cNvSpPr txBox="1"/>
          <p:nvPr/>
        </p:nvSpPr>
        <p:spPr>
          <a:xfrm>
            <a:off x="238125" y="528161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Personal Care and Cosmetics</a:t>
            </a:r>
          </a:p>
        </p:txBody>
      </p:sp>
      <p:sp>
        <p:nvSpPr>
          <p:cNvPr id="220" name="Rectangle 219"/>
          <p:cNvSpPr/>
          <p:nvPr/>
        </p:nvSpPr>
        <p:spPr>
          <a:xfrm>
            <a:off x="1857375" y="5281612"/>
            <a:ext cx="643890" cy="322659"/>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2501265" y="5281612"/>
            <a:ext cx="643890" cy="322659"/>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3145155" y="5281612"/>
            <a:ext cx="643890" cy="322659"/>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3789045" y="5281612"/>
            <a:ext cx="643890" cy="322659"/>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4432935" y="5281612"/>
            <a:ext cx="643890" cy="322659"/>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5076825" y="5281612"/>
            <a:ext cx="643890" cy="322659"/>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5720715" y="5281612"/>
            <a:ext cx="643890" cy="322659"/>
          </a:xfrm>
          <a:prstGeom prst="rect">
            <a:avLst/>
          </a:prstGeom>
          <a:solidFill>
            <a:srgbClr val="97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6364605" y="5281612"/>
            <a:ext cx="643890" cy="322659"/>
          </a:xfrm>
          <a:prstGeom prst="rect">
            <a:avLst/>
          </a:prstGeom>
          <a:solidFill>
            <a:srgbClr val="7C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7008495" y="5281612"/>
            <a:ext cx="643890" cy="322659"/>
          </a:xfrm>
          <a:prstGeom prst="rect">
            <a:avLst/>
          </a:prstGeom>
          <a:solidFill>
            <a:srgbClr val="5C9F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7652385" y="5281612"/>
            <a:ext cx="643890" cy="322659"/>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8296275" y="5281612"/>
            <a:ext cx="643890" cy="322659"/>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8940165" y="5281612"/>
            <a:ext cx="643890" cy="322659"/>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9584055" y="5281612"/>
            <a:ext cx="643890" cy="322659"/>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0227945" y="5281612"/>
            <a:ext cx="643890" cy="322659"/>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0871835" y="5281612"/>
            <a:ext cx="643890" cy="322659"/>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238125" y="5604272"/>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Household Care</a:t>
            </a:r>
          </a:p>
        </p:txBody>
      </p:sp>
      <p:sp>
        <p:nvSpPr>
          <p:cNvPr id="236" name="Rectangle 235"/>
          <p:cNvSpPr/>
          <p:nvPr/>
        </p:nvSpPr>
        <p:spPr>
          <a:xfrm>
            <a:off x="1857375" y="5604272"/>
            <a:ext cx="643890" cy="322659"/>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2501265" y="5604272"/>
            <a:ext cx="643890" cy="322659"/>
          </a:xfrm>
          <a:prstGeom prst="rect">
            <a:avLst/>
          </a:prstGeom>
          <a:solidFill>
            <a:srgbClr val="F7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3145155" y="5604272"/>
            <a:ext cx="643890" cy="322659"/>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3789045" y="5604272"/>
            <a:ext cx="643890" cy="322659"/>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4432935" y="5604272"/>
            <a:ext cx="643890" cy="322659"/>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5076825" y="5604272"/>
            <a:ext cx="643890" cy="322659"/>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5720715" y="5604272"/>
            <a:ext cx="643890" cy="322659"/>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6364605" y="5604272"/>
            <a:ext cx="643890" cy="322659"/>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7008495" y="5604272"/>
            <a:ext cx="643890" cy="322659"/>
          </a:xfrm>
          <a:prstGeom prst="rect">
            <a:avLst/>
          </a:prstGeom>
          <a:solidFill>
            <a:srgbClr val="7B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7652385" y="5604272"/>
            <a:ext cx="643890" cy="322659"/>
          </a:xfrm>
          <a:prstGeom prst="rect">
            <a:avLst/>
          </a:prstGeom>
          <a:solidFill>
            <a:srgbClr val="66A5C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8296275" y="5604272"/>
            <a:ext cx="643890" cy="322659"/>
          </a:xfrm>
          <a:prstGeom prst="rect">
            <a:avLst/>
          </a:prstGeom>
          <a:solidFill>
            <a:srgbClr val="559C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8940165" y="5604272"/>
            <a:ext cx="643890" cy="322659"/>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9584055" y="5604272"/>
            <a:ext cx="643890" cy="322659"/>
          </a:xfrm>
          <a:prstGeom prst="rect">
            <a:avLst/>
          </a:prstGeom>
          <a:solidFill>
            <a:srgbClr val="4C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0227945" y="5604272"/>
            <a:ext cx="643890" cy="322659"/>
          </a:xfrm>
          <a:prstGeom prst="rect">
            <a:avLst/>
          </a:prstGeom>
          <a:solidFill>
            <a:srgbClr val="5199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0871835" y="5604272"/>
            <a:ext cx="643890" cy="322659"/>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TextBox 250"/>
          <p:cNvSpPr txBox="1"/>
          <p:nvPr/>
        </p:nvSpPr>
        <p:spPr>
          <a:xfrm>
            <a:off x="238125" y="592693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Chemicals and Agrochemicals</a:t>
            </a:r>
          </a:p>
        </p:txBody>
      </p:sp>
      <p:sp>
        <p:nvSpPr>
          <p:cNvPr id="252" name="Rectangle 251"/>
          <p:cNvSpPr/>
          <p:nvPr/>
        </p:nvSpPr>
        <p:spPr>
          <a:xfrm>
            <a:off x="1857375" y="5926931"/>
            <a:ext cx="643890" cy="322659"/>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2501265" y="5926931"/>
            <a:ext cx="643890" cy="322659"/>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3145155" y="5926931"/>
            <a:ext cx="643890" cy="322659"/>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3789045" y="5926931"/>
            <a:ext cx="643890" cy="322659"/>
          </a:xfrm>
          <a:prstGeom prst="rect">
            <a:avLst/>
          </a:prstGeom>
          <a:solidFill>
            <a:srgbClr val="E4F1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4432935" y="5926931"/>
            <a:ext cx="643890" cy="322659"/>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5076825" y="5926931"/>
            <a:ext cx="643890" cy="322659"/>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5720715" y="5926931"/>
            <a:ext cx="643890" cy="322659"/>
          </a:xfrm>
          <a:prstGeom prst="rect">
            <a:avLst/>
          </a:prstGeom>
          <a:solidFill>
            <a:srgbClr val="92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6364605" y="5926931"/>
            <a:ext cx="643890" cy="322659"/>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Rectangle 259"/>
          <p:cNvSpPr/>
          <p:nvPr/>
        </p:nvSpPr>
        <p:spPr>
          <a:xfrm>
            <a:off x="7008495" y="5926931"/>
            <a:ext cx="643890" cy="322659"/>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Rectangle 260"/>
          <p:cNvSpPr/>
          <p:nvPr/>
        </p:nvSpPr>
        <p:spPr>
          <a:xfrm>
            <a:off x="7652385" y="5926931"/>
            <a:ext cx="643890" cy="322659"/>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2" name="Rectangle 261"/>
          <p:cNvSpPr/>
          <p:nvPr/>
        </p:nvSpPr>
        <p:spPr>
          <a:xfrm>
            <a:off x="8296275" y="5926931"/>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8940165" y="5926931"/>
            <a:ext cx="643890" cy="322659"/>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9584055" y="5926931"/>
            <a:ext cx="643890" cy="322659"/>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227945" y="5926931"/>
            <a:ext cx="643890" cy="322659"/>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Rectangle 265"/>
          <p:cNvSpPr/>
          <p:nvPr/>
        </p:nvSpPr>
        <p:spPr>
          <a:xfrm>
            <a:off x="10871835" y="5926931"/>
            <a:ext cx="643890" cy="322659"/>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238125" y="6249591"/>
            <a:ext cx="1590675" cy="322659"/>
          </a:xfrm>
          <a:prstGeom prst="rect">
            <a:avLst/>
          </a:prstGeom>
          <a:noFill/>
        </p:spPr>
        <p:txBody>
          <a:bodyPr wrap="square" lIns="28575" rIns="28575" tIns="9525" bIns="9525" anchor="ctr">
            <a:spAutoFit/>
          </a:bodyPr>
          <a:lstStyle/>
          <a:p>
            <a:pPr algn="l"/>
            <a:r>
              <a:rPr sz="1100" b="0">
                <a:solidFill>
                  <a:srgbClr val="2E2E2E"/>
                </a:solidFill>
                <a:latin typeface="Calibri"/>
              </a:rPr>
              <a:t>– Electronics and Technical Products</a:t>
            </a:r>
          </a:p>
        </p:txBody>
      </p:sp>
      <p:sp>
        <p:nvSpPr>
          <p:cNvPr id="268" name="Rectangle 267"/>
          <p:cNvSpPr/>
          <p:nvPr/>
        </p:nvSpPr>
        <p:spPr>
          <a:xfrm>
            <a:off x="1857375" y="6249591"/>
            <a:ext cx="643890" cy="322659"/>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Rectangle 268"/>
          <p:cNvSpPr/>
          <p:nvPr/>
        </p:nvSpPr>
        <p:spPr>
          <a:xfrm>
            <a:off x="2501265" y="6249591"/>
            <a:ext cx="643890" cy="322659"/>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Rectangle 269"/>
          <p:cNvSpPr/>
          <p:nvPr/>
        </p:nvSpPr>
        <p:spPr>
          <a:xfrm>
            <a:off x="3145155" y="6249591"/>
            <a:ext cx="643890" cy="322659"/>
          </a:xfrm>
          <a:prstGeom prst="rect">
            <a:avLst/>
          </a:prstGeom>
          <a:solidFill>
            <a:srgbClr val="E6F2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Rectangle 270"/>
          <p:cNvSpPr/>
          <p:nvPr/>
        </p:nvSpPr>
        <p:spPr>
          <a:xfrm>
            <a:off x="3789045" y="6249591"/>
            <a:ext cx="643890" cy="322659"/>
          </a:xfrm>
          <a:prstGeom prst="rect">
            <a:avLst/>
          </a:prstGeom>
          <a:solidFill>
            <a:srgbClr val="E2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Rectangle 271"/>
          <p:cNvSpPr/>
          <p:nvPr/>
        </p:nvSpPr>
        <p:spPr>
          <a:xfrm>
            <a:off x="4432935" y="6249591"/>
            <a:ext cx="643890" cy="322659"/>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Rectangle 272"/>
          <p:cNvSpPr/>
          <p:nvPr/>
        </p:nvSpPr>
        <p:spPr>
          <a:xfrm>
            <a:off x="5076825" y="6249591"/>
            <a:ext cx="643890" cy="322659"/>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5720715" y="6249591"/>
            <a:ext cx="643890" cy="322659"/>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6364605" y="6249591"/>
            <a:ext cx="643890" cy="322659"/>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7008495" y="6249591"/>
            <a:ext cx="643890" cy="322659"/>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Rectangle 276"/>
          <p:cNvSpPr/>
          <p:nvPr/>
        </p:nvSpPr>
        <p:spPr>
          <a:xfrm>
            <a:off x="7652385" y="6249591"/>
            <a:ext cx="643890" cy="322659"/>
          </a:xfrm>
          <a:prstGeom prst="rect">
            <a:avLst/>
          </a:prstGeom>
          <a:solidFill>
            <a:srgbClr val="4E98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8" name="Rectangle 277"/>
          <p:cNvSpPr/>
          <p:nvPr/>
        </p:nvSpPr>
        <p:spPr>
          <a:xfrm>
            <a:off x="8296275" y="6249591"/>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Rectangle 278"/>
          <p:cNvSpPr/>
          <p:nvPr/>
        </p:nvSpPr>
        <p:spPr>
          <a:xfrm>
            <a:off x="8940165" y="6249591"/>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9584055" y="6249591"/>
            <a:ext cx="643890" cy="322659"/>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227945" y="6249591"/>
            <a:ext cx="643890" cy="322659"/>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Rectangle 281"/>
          <p:cNvSpPr/>
          <p:nvPr/>
        </p:nvSpPr>
        <p:spPr>
          <a:xfrm>
            <a:off x="10871835" y="6249591"/>
            <a:ext cx="643890" cy="322659"/>
          </a:xfrm>
          <a:prstGeom prst="rect">
            <a:avLst/>
          </a:prstGeom>
          <a:solidFill>
            <a:srgbClr val="4693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Rectangle 282"/>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4" name="Rectangle 283"/>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Rectangle 288"/>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Rectangle 289"/>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Rectangle 290"/>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Rectangle 291"/>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Rectangle 292"/>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Rectangle 293"/>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Rectangle 298"/>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Rectangle 299"/>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Rectangle 300"/>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Rectangle 301"/>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Rectangle 302"/>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4" name="Rectangle 303"/>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Rectangle 310"/>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2" name="Rectangle 311"/>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Rectangle 312"/>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Rectangle 313"/>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Rectangle 314"/>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Rectangle 315"/>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Rectangle 316"/>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8" name="Rectangle 317"/>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Rectangle 318"/>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0" name="Rectangle 319"/>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Rectangle 320"/>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2" name="Rectangle 321"/>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Rectangle 322"/>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325" name="TextBox 324"/>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326" name="TextBox 325"/>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327" name="TextBox 3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Barrier Level Vs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Barrier Level Vs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4 sub-segments of Barrier Level Vs Application,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Barrier Level Vs Application segment categorizes the market by barrier level vs application. Each sub-category is evaluated on market size, growth outlook and adoption trends across the forecast period.</a:t>
            </a:r>
          </a:p>
        </p:txBody>
      </p:sp>
      <p:sp>
        <p:nvSpPr>
          <p:cNvPr id="12" name="Rectangle 11"/>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4" name="Rectangle 13"/>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6" name="Rectangle 15"/>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8" name="Rectangle 17"/>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20" name="Rounded Rectangle 19"/>
          <p:cNvSpPr/>
          <p:nvPr/>
        </p:nvSpPr>
        <p:spPr>
          <a:xfrm>
            <a:off x="1866900"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866900"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Medium-Barrier Films</a:t>
            </a:r>
          </a:p>
        </p:txBody>
      </p:sp>
      <p:sp>
        <p:nvSpPr>
          <p:cNvPr id="23" name="Rectangle 22"/>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8,672</a:t>
            </a:r>
          </a:p>
        </p:txBody>
      </p:sp>
      <p:sp>
        <p:nvSpPr>
          <p:cNvPr id="24" name="Rectangle 23"/>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15,715</a:t>
            </a:r>
          </a:p>
        </p:txBody>
      </p:sp>
      <p:sp>
        <p:nvSpPr>
          <p:cNvPr id="25" name="Rectangle 24"/>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6.1%</a:t>
            </a:r>
          </a:p>
        </p:txBody>
      </p:sp>
      <p:sp>
        <p:nvSpPr>
          <p:cNvPr id="26" name="Oval 25"/>
          <p:cNvSpPr/>
          <p:nvPr/>
        </p:nvSpPr>
        <p:spPr>
          <a:xfrm>
            <a:off x="2912269"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7" name="Rounded Rectangle 26"/>
          <p:cNvSpPr/>
          <p:nvPr/>
        </p:nvSpPr>
        <p:spPr>
          <a:xfrm>
            <a:off x="4395788"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Rectangle 27"/>
          <p:cNvSpPr/>
          <p:nvPr/>
        </p:nvSpPr>
        <p:spPr>
          <a:xfrm>
            <a:off x="4395788"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High-Barrier Films</a:t>
            </a:r>
          </a:p>
        </p:txBody>
      </p:sp>
      <p:sp>
        <p:nvSpPr>
          <p:cNvPr id="30" name="Rectangle 29"/>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8,341</a:t>
            </a:r>
          </a:p>
        </p:txBody>
      </p:sp>
      <p:sp>
        <p:nvSpPr>
          <p:cNvPr id="31" name="Rectangle 30"/>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16,463</a:t>
            </a:r>
          </a:p>
        </p:txBody>
      </p:sp>
      <p:sp>
        <p:nvSpPr>
          <p:cNvPr id="32" name="Rectangle 31"/>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7.0%</a:t>
            </a:r>
          </a:p>
        </p:txBody>
      </p:sp>
      <p:sp>
        <p:nvSpPr>
          <p:cNvPr id="33" name="Oval 32"/>
          <p:cNvSpPr/>
          <p:nvPr/>
        </p:nvSpPr>
        <p:spPr>
          <a:xfrm>
            <a:off x="5441156"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4" name="Rounded Rectangle 33"/>
          <p:cNvSpPr/>
          <p:nvPr/>
        </p:nvSpPr>
        <p:spPr>
          <a:xfrm>
            <a:off x="6924675" y="1773916"/>
            <a:ext cx="2414588"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924675" y="1992961"/>
            <a:ext cx="2414588"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Low-Barrier Films</a:t>
            </a:r>
          </a:p>
        </p:txBody>
      </p:sp>
      <p:sp>
        <p:nvSpPr>
          <p:cNvPr id="37" name="Rectangle 36"/>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5,542</a:t>
            </a:r>
          </a:p>
        </p:txBody>
      </p:sp>
      <p:sp>
        <p:nvSpPr>
          <p:cNvPr id="38" name="Rectangle 37"/>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10,401</a:t>
            </a:r>
          </a:p>
        </p:txBody>
      </p:sp>
      <p:sp>
        <p:nvSpPr>
          <p:cNvPr id="39" name="Rectangle 38"/>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6.5%</a:t>
            </a:r>
          </a:p>
        </p:txBody>
      </p:sp>
      <p:sp>
        <p:nvSpPr>
          <p:cNvPr id="40" name="Oval 39"/>
          <p:cNvSpPr/>
          <p:nvPr/>
        </p:nvSpPr>
        <p:spPr>
          <a:xfrm>
            <a:off x="797004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1" name="Rounded Rectangle 40"/>
          <p:cNvSpPr/>
          <p:nvPr/>
        </p:nvSpPr>
        <p:spPr>
          <a:xfrm>
            <a:off x="9453562" y="1773916"/>
            <a:ext cx="2414588"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9453562" y="1992961"/>
            <a:ext cx="2414588"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Ultra-High-Barrier Films</a:t>
            </a:r>
          </a:p>
        </p:txBody>
      </p:sp>
      <p:sp>
        <p:nvSpPr>
          <p:cNvPr id="44" name="Rectangle 43"/>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3,585</a:t>
            </a:r>
          </a:p>
        </p:txBody>
      </p:sp>
      <p:sp>
        <p:nvSpPr>
          <p:cNvPr id="45" name="Rectangle 44"/>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6,815</a:t>
            </a:r>
          </a:p>
        </p:txBody>
      </p:sp>
      <p:sp>
        <p:nvSpPr>
          <p:cNvPr id="46" name="Rectangle 45"/>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6.6%</a:t>
            </a:r>
          </a:p>
        </p:txBody>
      </p:sp>
      <p:sp>
        <p:nvSpPr>
          <p:cNvPr id="47" name="Oval 46"/>
          <p:cNvSpPr/>
          <p:nvPr/>
        </p:nvSpPr>
        <p:spPr>
          <a:xfrm>
            <a:off x="10498931"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8" name="Rounded Rectangle 4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0" name="Rectangle 4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Among flexible plastic packaging by barrier level vs application, high-barrier films segment is expected to witness the highest CAGR of 7.0% over the forecast period. In terms of value share by barrier level vs application, the high-barrier films segment is expected to dominate the market, gaining 142 BPS and accounting for 33.3% share by 2036.</a:t>
            </a:r>
          </a:p>
          <a:p>
            <a:pPr algn="l">
              <a:lnSpc>
                <a:spcPct val="110000"/>
              </a:lnSpc>
              <a:spcBef>
                <a:spcPts val="0"/>
              </a:spcBef>
              <a:spcAft>
                <a:spcPts val="500"/>
              </a:spcAft>
            </a:pPr>
            <a:r>
              <a:rPr sz="1100" b="0">
                <a:solidFill>
                  <a:srgbClr val="0E72AE"/>
                </a:solidFill>
                <a:latin typeface="Calibri"/>
              </a:rPr>
              <a:t>▪  </a:t>
            </a:r>
            <a:r>
              <a:rPr sz="1100" b="0">
                <a:solidFill>
                  <a:srgbClr val="2E2E2E"/>
                </a:solidFill>
                <a:latin typeface="Calibri"/>
              </a:rPr>
              <a:t>¶ High-barrier films segment is projected to register 1.0X higher value than medium-barrier films segment in 2036.</a:t>
            </a:r>
          </a:p>
        </p:txBody>
      </p:sp>
      <p:sp>
        <p:nvSpPr>
          <p:cNvPr id="52" name="Rounded Rectangle 5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54" name="Rectangle 5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t>
            </a:r>
            <a:r>
              <a:rPr sz="1100" b="1">
                <a:solidFill>
                  <a:srgbClr val="0B2E4A"/>
                </a:solidFill>
                <a:latin typeface="Calibri"/>
              </a:rPr>
              <a:t>Medium-Barrier Films: </a:t>
            </a:r>
            <a:r>
              <a:rPr sz="1100" b="0">
                <a:solidFill>
                  <a:srgbClr val="2E2E2E"/>
                </a:solidFill>
                <a:latin typeface="Calibri"/>
              </a:rPr>
              <a:t>33% of 2026 value · 6.1% CAGR leads the segment.</a:t>
            </a:r>
          </a:p>
          <a:p>
            <a:pPr algn="l">
              <a:lnSpc>
                <a:spcPct val="110000"/>
              </a:lnSpc>
              <a:spcBef>
                <a:spcPts val="0"/>
              </a:spcBef>
              <a:spcAft>
                <a:spcPts val="500"/>
              </a:spcAft>
            </a:pPr>
            <a:r>
              <a:rPr sz="1100" b="0">
                <a:solidFill>
                  <a:srgbClr val="0E72AE"/>
                </a:solidFill>
                <a:latin typeface="Calibri"/>
              </a:rPr>
              <a:t>●  </a:t>
            </a:r>
            <a:r>
              <a:rPr sz="1100" b="1">
                <a:solidFill>
                  <a:srgbClr val="0E72AE"/>
                </a:solidFill>
                <a:latin typeface="Calibri"/>
              </a:rPr>
              <a:t>High-Barrier Films: </a:t>
            </a:r>
            <a:r>
              <a:rPr sz="1100" b="0">
                <a:solidFill>
                  <a:srgbClr val="2E2E2E"/>
                </a:solidFill>
                <a:latin typeface="Calibri"/>
              </a:rPr>
              <a:t>32% of 2026 value · 7.0% CAGR grows fastest.</a:t>
            </a:r>
          </a:p>
          <a:p>
            <a:pPr algn="l">
              <a:lnSpc>
                <a:spcPct val="110000"/>
              </a:lnSpc>
              <a:spcBef>
                <a:spcPts val="0"/>
              </a:spcBef>
              <a:spcAft>
                <a:spcPts val="500"/>
              </a:spcAft>
            </a:pPr>
            <a:r>
              <a:rPr sz="1100" b="0">
                <a:solidFill>
                  <a:srgbClr val="008189"/>
                </a:solidFill>
                <a:latin typeface="Calibri"/>
              </a:rPr>
              <a:t>●  </a:t>
            </a:r>
            <a:r>
              <a:rPr sz="1100" b="1">
                <a:solidFill>
                  <a:srgbClr val="008189"/>
                </a:solidFill>
                <a:latin typeface="Calibri"/>
              </a:rPr>
              <a:t>Low-Barrier Films: </a:t>
            </a:r>
            <a:r>
              <a:rPr sz="1100" b="0">
                <a:solidFill>
                  <a:srgbClr val="2E2E2E"/>
                </a:solidFill>
                <a:latin typeface="Calibri"/>
              </a:rPr>
              <a:t>21% of 2026 value · 6.5% CAGR serves a niche.</a:t>
            </a:r>
          </a:p>
          <a:p>
            <a:pPr algn="l">
              <a:lnSpc>
                <a:spcPct val="110000"/>
              </a:lnSpc>
              <a:spcBef>
                <a:spcPts val="0"/>
              </a:spcBef>
              <a:spcAft>
                <a:spcPts val="500"/>
              </a:spcAft>
            </a:pPr>
            <a:r>
              <a:rPr sz="1100" b="0">
                <a:solidFill>
                  <a:srgbClr val="6F3CC2"/>
                </a:solidFill>
                <a:latin typeface="Calibri"/>
              </a:rPr>
              <a:t>●  </a:t>
            </a:r>
            <a:r>
              <a:rPr sz="1100" b="1">
                <a:solidFill>
                  <a:srgbClr val="6F3CC2"/>
                </a:solidFill>
                <a:latin typeface="Calibri"/>
              </a:rPr>
              <a:t>Ultra-High-Barrier Films: </a:t>
            </a:r>
            <a:r>
              <a:rPr sz="1100" b="0">
                <a:solidFill>
                  <a:srgbClr val="2E2E2E"/>
                </a:solidFill>
                <a:latin typeface="Calibri"/>
              </a:rPr>
              <a:t>14% of 2026 value · 6.6% CAGR serves a niche.</a:t>
            </a:r>
          </a:p>
        </p:txBody>
      </p:sp>
      <p:sp>
        <p:nvSpPr>
          <p:cNvPr id="56" name="Rounded Rectangle 5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58" name="Rectangle 5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Barrier Level Vs Application split shows how demand is distributed across barrier level vs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0" name="Rectangle 5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Barrier Level Vs Application segment is projected to grow at a CAGR of 6.6% from 2026 to 2036.</a:t>
            </a:r>
          </a:p>
        </p:txBody>
      </p:sp>
      <p:sp>
        <p:nvSpPr>
          <p:cNvPr id="62" name="TextBox 6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Structure &amp; Attractiveness, By Barrier Level Vs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Barrier Level Vs Application mix within each country and the attractiveness of each sub-segment on growth and size</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6343650"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mix within each country (share of 2036 value) · row label = country size (US$ Mn), largest first</a:t>
            </a:r>
          </a:p>
        </p:txBody>
      </p:sp>
      <p:graphicFrame>
        <p:nvGraphicFramePr>
          <p:cNvPr id="13" name="Chart 12"/>
          <p:cNvGraphicFramePr>
            <a:graphicFrameLocks noGrp="1"/>
          </p:cNvGraphicFramePr>
          <p:nvPr/>
        </p:nvGraphicFramePr>
        <p:xfrm>
          <a:off x="238125" y="1438275"/>
          <a:ext cx="6153150" cy="3676650"/>
        </p:xfrm>
        <a:graphic>
          <a:graphicData uri="http://schemas.openxmlformats.org/drawingml/2006/chart">
            <c:chart xmlns:c="http://schemas.openxmlformats.org/drawingml/2006/chart" r:id="rId3"/>
          </a:graphicData>
        </a:graphic>
      </p:graphicFrame>
      <p:sp>
        <p:nvSpPr>
          <p:cNvPr id="14" name="Rounded Rectangle 13"/>
          <p:cNvSpPr/>
          <p:nvPr/>
        </p:nvSpPr>
        <p:spPr>
          <a:xfrm>
            <a:off x="6638925" y="981075"/>
            <a:ext cx="5400675" cy="4191000"/>
          </a:xfrm>
          <a:prstGeom prst="roundRect">
            <a:avLst>
              <a:gd name="adj" fmla="val 18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Barrier Level Vs Application · Bubble size represents 2036 value</a:t>
            </a:r>
          </a:p>
        </p:txBody>
      </p:sp>
      <p:graphicFrame>
        <p:nvGraphicFramePr>
          <p:cNvPr id="16" name="Chart 15"/>
          <p:cNvGraphicFramePr>
            <a:graphicFrameLocks noGrp="1"/>
          </p:cNvGraphicFramePr>
          <p:nvPr/>
        </p:nvGraphicFramePr>
        <p:xfrm>
          <a:off x="6734175" y="1438275"/>
          <a:ext cx="5210175" cy="3676650"/>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5305425"/>
            <a:ext cx="11906250" cy="1323975"/>
          </a:xfrm>
          <a:prstGeom prst="roundRect">
            <a:avLst>
              <a:gd name="adj" fmla="val 5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High-barrier films followed by medium-barrier films are expected to be the two most attractive barrier level vs application segments in the Europe flexible plastic packaging market in terms of value over the forecast period. High-Barrier films and Medium-Barrier films exhibit a CAGR index of 107 and 93 and a market share index of 128 and 133 respectively, against the segment average of 100. The ultra-high-barrier films segment is expected to be less attractive as compared to other segments over the forecast period, owing to its lower CAGR and incremental opportunity. High-Barrier Films rank most attractive because they combine a 31.9% share with the fastest growth at 7.0%, ahead of the 6.6% regional rate. European retailers and food processors prize shelf-life extension and food-waste reduction, and pharmaceutical packs also need strong barriers. Medium-Barrier Films are slightly larger at 33.2% but grow at only 6.1%, so they rank behind on growth. Bubbles right of the CAGR-Index line grow faster than the segment average.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Absolute $ Opportunity Analysis,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Barrier Level Vs Application and the absolute $ opportunity each sub-segment adds, 2026–2036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Low-Barrier Films</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Medium-Barrier Films</a:t>
            </a:r>
          </a:p>
        </p:txBody>
      </p:sp>
      <p:graphicFrame>
        <p:nvGraphicFramePr>
          <p:cNvPr id="16" name="Chart 15"/>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High-Barrier Films</a:t>
            </a:r>
          </a:p>
        </p:txBody>
      </p:sp>
      <p:graphicFrame>
        <p:nvGraphicFramePr>
          <p:cNvPr id="19" name="Chart 18"/>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20" name="Rounded Rectangle 19"/>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Incremental $ Opportunity (US$ Mn), 2026-2036, By Ultra-High-Barrier Films</a:t>
            </a:r>
          </a:p>
        </p:txBody>
      </p:sp>
      <p:graphicFrame>
        <p:nvGraphicFramePr>
          <p:cNvPr id="22" name="Chart 21"/>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Volume Analysis, By Barrier Level Vs Application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8,254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9,597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11,870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Volume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1.0X higher volume than medium-barrier films segment in 2036. Among flexible plastic packaging by barrier level vs application, high-barrier films segment is expected to witness the highest CAGR of 5.7% over the forecast period.</a:t>
            </a:r>
          </a:p>
          <a:p>
            <a:pPr algn="l">
              <a:lnSpc>
                <a:spcPct val="110000"/>
              </a:lnSpc>
              <a:spcBef>
                <a:spcPts val="0"/>
              </a:spcBef>
              <a:spcAft>
                <a:spcPts val="500"/>
              </a:spcAft>
            </a:pPr>
            <a:r>
              <a:rPr sz="1100" b="0">
                <a:solidFill>
                  <a:srgbClr val="2E2E2E"/>
                </a:solidFill>
                <a:latin typeface="Calibri"/>
              </a:rPr>
              <a:t>In terms of volume share by barrier level vs application, the high-barrier films segment is expected to dominate the market, gaining 142 BPS and accounting for 33.3% share by 2036. The medium-barrier films segment is expected to lose 136 BPS over the forecast period to account for 31.8% share by 2036.</a:t>
            </a:r>
          </a:p>
          <a:p>
            <a:pPr algn="l">
              <a:lnSpc>
                <a:spcPct val="110000"/>
              </a:lnSpc>
              <a:spcBef>
                <a:spcPts val="0"/>
              </a:spcBef>
              <a:spcAft>
                <a:spcPts val="500"/>
              </a:spcAft>
            </a:pPr>
            <a:r>
              <a:rPr sz="1100" b="0">
                <a:solidFill>
                  <a:srgbClr val="2E2E2E"/>
                </a:solidFill>
                <a:latin typeface="Calibri"/>
              </a:rPr>
              <a:t>High-Barrier Films gain 142 BPS because food applications such as fresh protein, cheese and ready meals need longer shelf life to meet European food waste goals, and pharma and medical uses demand strong protection. Medium-Barrier Films lose 136 BPS and grow just 4.8% as buyers upgrade specifications. High-Barrier Films outpace the market at 5.7% volume growth.</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Analysis, By Barrier Level Vs Application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Barrier Level Vs Application, 2021–2036, highlighting the sub-segments driving growth</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By Barrier Level Vs Application (US$ Mn)</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21,559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22,555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24,784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26,141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27,637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31,129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33,165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37,838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40,462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43,268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46,245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49,393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2028825"/>
          </a:xfrm>
          <a:prstGeom prst="roundRect">
            <a:avLst>
              <a:gd name="adj" fmla="val 37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686300"/>
            <a:ext cx="11639550" cy="209550"/>
          </a:xfrm>
          <a:prstGeom prst="rect">
            <a:avLst/>
          </a:prstGeom>
          <a:noFill/>
        </p:spPr>
        <p:txBody>
          <a:bodyPr wrap="square" lIns="0" rIns="19050" tIns="9525" bIns="9525">
            <a:spAutoFit/>
          </a:bodyPr>
          <a:lstStyle/>
          <a:p>
            <a:pPr algn="l"/>
            <a:r>
              <a:rPr sz="1300" b="1">
                <a:solidFill>
                  <a:srgbClr val="0B2E4A"/>
                </a:solidFill>
                <a:latin typeface="Calibri"/>
              </a:rPr>
              <a:t>Europe Value Analysis, By Barrier Level Vs Application</a:t>
            </a:r>
          </a:p>
        </p:txBody>
      </p:sp>
      <p:sp>
        <p:nvSpPr>
          <p:cNvPr id="17" name="Rectangle 16"/>
          <p:cNvSpPr/>
          <p:nvPr/>
        </p:nvSpPr>
        <p:spPr>
          <a:xfrm>
            <a:off x="276225" y="49244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010150"/>
            <a:ext cx="11639550" cy="15430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High-barrier films segment is projected to register 1.0X higher value than medium-barrier films segment in 2036. Among flexible plastic packaging by barrier level vs application, high-barrier films segment is expected to witness the highest CAGR of 7.0% over the forecast period.</a:t>
            </a:r>
          </a:p>
          <a:p>
            <a:pPr algn="l">
              <a:lnSpc>
                <a:spcPct val="110000"/>
              </a:lnSpc>
              <a:spcBef>
                <a:spcPts val="0"/>
              </a:spcBef>
              <a:spcAft>
                <a:spcPts val="500"/>
              </a:spcAft>
            </a:pPr>
            <a:r>
              <a:rPr sz="1100" b="0">
                <a:solidFill>
                  <a:srgbClr val="2E2E2E"/>
                </a:solidFill>
                <a:latin typeface="Calibri"/>
              </a:rPr>
              <a:t>In terms of value share by barrier level vs application, the high-barrier films segment is expected to dominate the market, gaining 142 BPS and accounting for 33.3% share by 2036. The medium-barrier films segment is expected to lose 136 BPS over the forecast period to account for 31.8% share by 2036.</a:t>
            </a:r>
          </a:p>
          <a:p>
            <a:pPr algn="l">
              <a:lnSpc>
                <a:spcPct val="110000"/>
              </a:lnSpc>
              <a:spcBef>
                <a:spcPts val="0"/>
              </a:spcBef>
              <a:spcAft>
                <a:spcPts val="500"/>
              </a:spcAft>
            </a:pPr>
            <a:r>
              <a:rPr sz="1100" b="0">
                <a:solidFill>
                  <a:srgbClr val="2E2E2E"/>
                </a:solidFill>
                <a:latin typeface="Calibri"/>
              </a:rPr>
              <a:t>High-Barrier Films gains 142 BPS of value share because protein, ready meals and e-commerce-delivered food need longer shelf life and lower spoilage, which pulls demand up from medium-barrier grades. Its 7.0% CAGR compares with a 6.6% market rate, while Medium-Barrier Films loses 136 BPS at 6.1% as demand polarises between cost-led low-barrier grades and performance-led high-barrier grades. In Europe, packaging waste regulation, EPR fees and a mature retail base steer specifications.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Market Value &amp; Share Shift, By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Barrier Level Vs Application in 2021, 2026 and 2036, highlighting share shifts in basis points</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Composition, By Barrier Level Vs Application ·  2021 / 2026 / 2036 (US$ Mn)  ·  right axis = BPS share shift</a:t>
            </a:r>
          </a:p>
        </p:txBody>
      </p:sp>
      <p:graphicFrame>
        <p:nvGraphicFramePr>
          <p:cNvPr id="13" name="Chart 12"/>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4" name="TextBox 13"/>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5" name="FMI Lock Anchor"/>
          <p:cNvSpPr txBox="1"/>
          <p:nvPr/>
        </p:nvSpPr>
        <p:spPr>
          <a:xfrm>
            <a:off x="2678811" y="4014597"/>
            <a:ext cx="38100" cy="38100"/>
          </a:xfrm>
          <a:prstGeom prst="rect">
            <a:avLst/>
          </a:prstGeom>
          <a:noFill/>
        </p:spPr>
        <p:txBody>
          <a:bodyPr wrap="none">
            <a:spAutoFit/>
          </a:bodyPr>
          <a:lstStyle/>
          <a:p/>
        </p:txBody>
      </p:sp>
      <p:sp>
        <p:nvSpPr>
          <p:cNvPr id="16" name="FMI Legend Chip"/>
          <p:cNvSpPr/>
          <p:nvPr/>
        </p:nvSpPr>
        <p:spPr>
          <a:xfrm>
            <a:off x="4928997" y="198668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Isosceles Triangle 16"/>
          <p:cNvSpPr/>
          <p:nvPr/>
        </p:nvSpPr>
        <p:spPr>
          <a:xfrm>
            <a:off x="5090922" y="19819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BPS Name 1"/>
          <p:cNvSpPr txBox="1"/>
          <p:nvPr/>
        </p:nvSpPr>
        <p:spPr>
          <a:xfrm>
            <a:off x="5233797" y="190572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Ultra-High-Barrier Films</a:t>
            </a:r>
          </a:p>
        </p:txBody>
      </p:sp>
      <p:sp>
        <p:nvSpPr>
          <p:cNvPr id="19" name="BPS Value 1"/>
          <p:cNvSpPr txBox="1"/>
          <p:nvPr/>
        </p:nvSpPr>
        <p:spPr>
          <a:xfrm>
            <a:off x="6896100" y="1967635"/>
            <a:ext cx="514350" cy="123825"/>
          </a:xfrm>
          <a:prstGeom prst="rect">
            <a:avLst/>
          </a:prstGeom>
          <a:noFill/>
        </p:spPr>
        <p:txBody>
          <a:bodyPr wrap="none" lIns="0" rIns="0" tIns="0" bIns="0" anchor="ctr">
            <a:spAutoFit/>
          </a:bodyPr>
          <a:lstStyle/>
          <a:p>
            <a:pPr algn="r"/>
            <a:r>
              <a:rPr sz="900" b="1">
                <a:solidFill>
                  <a:srgbClr val="2E7D32"/>
                </a:solidFill>
                <a:latin typeface="Calibri"/>
              </a:rPr>
              <a:t>+8</a:t>
            </a:r>
          </a:p>
        </p:txBody>
      </p:sp>
      <p:sp>
        <p:nvSpPr>
          <p:cNvPr id="20" name="FMI Legend Chip"/>
          <p:cNvSpPr/>
          <p:nvPr/>
        </p:nvSpPr>
        <p:spPr>
          <a:xfrm>
            <a:off x="4928997" y="278351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Isosceles Triangle 20"/>
          <p:cNvSpPr/>
          <p:nvPr/>
        </p:nvSpPr>
        <p:spPr>
          <a:xfrm rot="10800000">
            <a:off x="5090922" y="277875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BPS Name 2"/>
          <p:cNvSpPr txBox="1"/>
          <p:nvPr/>
        </p:nvSpPr>
        <p:spPr>
          <a:xfrm>
            <a:off x="5233797" y="270255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Low-Barrier Films</a:t>
            </a:r>
          </a:p>
        </p:txBody>
      </p:sp>
      <p:sp>
        <p:nvSpPr>
          <p:cNvPr id="23" name="BPS Value 2"/>
          <p:cNvSpPr txBox="1"/>
          <p:nvPr/>
        </p:nvSpPr>
        <p:spPr>
          <a:xfrm>
            <a:off x="6896100" y="2764464"/>
            <a:ext cx="514350" cy="123825"/>
          </a:xfrm>
          <a:prstGeom prst="rect">
            <a:avLst/>
          </a:prstGeom>
          <a:noFill/>
        </p:spPr>
        <p:txBody>
          <a:bodyPr wrap="none" lIns="0" rIns="0" tIns="0" bIns="0" anchor="ctr">
            <a:spAutoFit/>
          </a:bodyPr>
          <a:lstStyle/>
          <a:p>
            <a:pPr algn="r"/>
            <a:r>
              <a:rPr sz="900" b="1">
                <a:solidFill>
                  <a:srgbClr val="E44D3A"/>
                </a:solidFill>
                <a:latin typeface="Calibri"/>
              </a:rPr>
              <a:t>-15</a:t>
            </a:r>
          </a:p>
        </p:txBody>
      </p:sp>
      <p:sp>
        <p:nvSpPr>
          <p:cNvPr id="24" name="FMI Legend Chip"/>
          <p:cNvSpPr/>
          <p:nvPr/>
        </p:nvSpPr>
        <p:spPr>
          <a:xfrm>
            <a:off x="4928997" y="39922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Isosceles Triangle 24"/>
          <p:cNvSpPr/>
          <p:nvPr/>
        </p:nvSpPr>
        <p:spPr>
          <a:xfrm rot="10800000">
            <a:off x="5090922" y="398753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BPS Name 3"/>
          <p:cNvSpPr txBox="1"/>
          <p:nvPr/>
        </p:nvSpPr>
        <p:spPr>
          <a:xfrm>
            <a:off x="5233797" y="39113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Medium-Barrier Films</a:t>
            </a:r>
          </a:p>
        </p:txBody>
      </p:sp>
      <p:sp>
        <p:nvSpPr>
          <p:cNvPr id="27" name="BPS Value 3"/>
          <p:cNvSpPr txBox="1"/>
          <p:nvPr/>
        </p:nvSpPr>
        <p:spPr>
          <a:xfrm>
            <a:off x="6896100" y="3973243"/>
            <a:ext cx="514350" cy="123825"/>
          </a:xfrm>
          <a:prstGeom prst="rect">
            <a:avLst/>
          </a:prstGeom>
          <a:noFill/>
        </p:spPr>
        <p:txBody>
          <a:bodyPr wrap="none" lIns="0" rIns="0" tIns="0" bIns="0" anchor="ctr">
            <a:spAutoFit/>
          </a:bodyPr>
          <a:lstStyle/>
          <a:p>
            <a:pPr algn="r"/>
            <a:r>
              <a:rPr sz="900" b="1">
                <a:solidFill>
                  <a:srgbClr val="E44D3A"/>
                </a:solidFill>
                <a:latin typeface="Calibri"/>
              </a:rPr>
              <a:t>-136</a:t>
            </a:r>
          </a:p>
        </p:txBody>
      </p:sp>
      <p:sp>
        <p:nvSpPr>
          <p:cNvPr id="28" name="FMI Legend Chip"/>
          <p:cNvSpPr/>
          <p:nvPr/>
        </p:nvSpPr>
        <p:spPr>
          <a:xfrm>
            <a:off x="4928997" y="548165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Isosceles Triangle 28"/>
          <p:cNvSpPr/>
          <p:nvPr/>
        </p:nvSpPr>
        <p:spPr>
          <a:xfrm>
            <a:off x="5090922" y="547689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BPS Name 4"/>
          <p:cNvSpPr txBox="1"/>
          <p:nvPr/>
        </p:nvSpPr>
        <p:spPr>
          <a:xfrm>
            <a:off x="5233797" y="540069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High-Barrier Films</a:t>
            </a:r>
          </a:p>
        </p:txBody>
      </p:sp>
      <p:sp>
        <p:nvSpPr>
          <p:cNvPr id="31" name="BPS Value 4"/>
          <p:cNvSpPr txBox="1"/>
          <p:nvPr/>
        </p:nvSpPr>
        <p:spPr>
          <a:xfrm>
            <a:off x="6896100" y="5462605"/>
            <a:ext cx="514350" cy="123825"/>
          </a:xfrm>
          <a:prstGeom prst="rect">
            <a:avLst/>
          </a:prstGeom>
          <a:noFill/>
        </p:spPr>
        <p:txBody>
          <a:bodyPr wrap="none" lIns="0" rIns="0" tIns="0" bIns="0" anchor="ctr">
            <a:spAutoFit/>
          </a:bodyPr>
          <a:lstStyle/>
          <a:p>
            <a:pPr algn="r"/>
            <a:r>
              <a:rPr sz="900" b="1">
                <a:solidFill>
                  <a:srgbClr val="2E7D32"/>
                </a:solidFill>
                <a:latin typeface="Calibri"/>
              </a:rPr>
              <a:t>+142</a:t>
            </a:r>
          </a:p>
        </p:txBody>
      </p:sp>
      <p:sp>
        <p:nvSpPr>
          <p:cNvPr id="32" name="Rounded Rectangle 31"/>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Europe Read-out, By Barrier Level Vs Application</a:t>
            </a:r>
          </a:p>
        </p:txBody>
      </p:sp>
      <p:sp>
        <p:nvSpPr>
          <p:cNvPr id="34" name="Rectangle 33"/>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Among flexible plastic packaging by barrier level vs application, high-barrier films segment is expected to witness the highest CAGR of 7.0% over the forecast period. In terms of value share by barrier level vs application, the high-barrier films segment is expected to dominate the market, gaining 142 BPS and accounting for 33.3% share by 2036.</a:t>
            </a:r>
          </a:p>
          <a:p>
            <a:pPr algn="l">
              <a:lnSpc>
                <a:spcPct val="110000"/>
              </a:lnSpc>
              <a:spcBef>
                <a:spcPts val="0"/>
              </a:spcBef>
              <a:spcAft>
                <a:spcPts val="500"/>
              </a:spcAft>
            </a:pPr>
            <a:r>
              <a:rPr sz="1150" b="0">
                <a:solidFill>
                  <a:srgbClr val="2E2E2E"/>
                </a:solidFill>
                <a:latin typeface="Calibri"/>
              </a:rPr>
              <a:t>The medium-barrier films segment is expected to lose 136 BPS over the forecast period to account for 31.8% share by 2036.</a:t>
            </a:r>
          </a:p>
          <a:p>
            <a:pPr algn="l">
              <a:lnSpc>
                <a:spcPct val="110000"/>
              </a:lnSpc>
              <a:spcBef>
                <a:spcPts val="0"/>
              </a:spcBef>
              <a:spcAft>
                <a:spcPts val="500"/>
              </a:spcAft>
            </a:pPr>
            <a:r>
              <a:rPr sz="1150" b="0">
                <a:solidFill>
                  <a:srgbClr val="2E2E2E"/>
                </a:solidFill>
                <a:latin typeface="Calibri"/>
              </a:rPr>
              <a:t>High-Barrier Films grow fastest at 7.0% against 6.6% for Europe because retailers and processors want longer shelf life to cut food waste, and chilled protein, cheese and ready meals depend on oxygen protection. Barrier PE and EVOH coextrusions also let packers meet recyclability rules while keeping performance. Medium-Barrier Films grow slowest at 6.1% as customers upgrade or redesign.</a:t>
            </a:r>
          </a:p>
        </p:txBody>
      </p:sp>
      <p:sp>
        <p:nvSpPr>
          <p:cNvPr id="36" name="TextBox 3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Volume,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Volume,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volume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Volume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A4C7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35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62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83B4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FB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A3C6E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80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529AC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3489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41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60A1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81B3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F4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E8F5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4D97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6CA8D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F3FA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F0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E6F3F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D2E2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C1D7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A0C4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B3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F8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F5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E7F3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DEEC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D2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A7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9DC3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EF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C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E0EE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D8E8F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CEE0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BED5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ACCB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9EC4D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9B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AECD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CBDD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BE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F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0C4A7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0D558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C8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AA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8AB8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5C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30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0E72A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0C46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0B304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0C3F6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0D568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14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CC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BFD6E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A0C5E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7BB0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207D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D5B8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B395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C3B5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0D517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12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B0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ABCB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A6C8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84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2E85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30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5DA0C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B6D1E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B2CFE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CC2D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88B7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2C84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2D85B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78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91BC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8DBA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85B5D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82B4D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70AA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4894C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3E8F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3F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4492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57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75AD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92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5%</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Barrier Level Vs Application (%)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Growth,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YoY Analysis of Europe Market Value, By Barrier Level Vs Application (%)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Year-on-year value growth by Barrier Level Vs Application, 2022–2036, highlighting acceleration and slowdown</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 Value YoY Heatmap, By Barrier Level Vs Application (%)  ·  light = lower, dark = higher growth</a:t>
            </a:r>
          </a:p>
        </p:txBody>
      </p:sp>
      <p:sp>
        <p:nvSpPr>
          <p:cNvPr id="12" name="TextBox 11"/>
          <p:cNvSpPr txBox="1"/>
          <p:nvPr/>
        </p:nvSpPr>
        <p:spPr>
          <a:xfrm>
            <a:off x="18573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2022</a:t>
            </a:r>
          </a:p>
        </p:txBody>
      </p:sp>
      <p:sp>
        <p:nvSpPr>
          <p:cNvPr id="13" name="TextBox 12"/>
          <p:cNvSpPr txBox="1"/>
          <p:nvPr/>
        </p:nvSpPr>
        <p:spPr>
          <a:xfrm>
            <a:off x="25012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2023</a:t>
            </a:r>
          </a:p>
        </p:txBody>
      </p:sp>
      <p:sp>
        <p:nvSpPr>
          <p:cNvPr id="14" name="TextBox 13"/>
          <p:cNvSpPr txBox="1"/>
          <p:nvPr/>
        </p:nvSpPr>
        <p:spPr>
          <a:xfrm>
            <a:off x="31451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2024</a:t>
            </a:r>
          </a:p>
        </p:txBody>
      </p:sp>
      <p:sp>
        <p:nvSpPr>
          <p:cNvPr id="15" name="TextBox 14"/>
          <p:cNvSpPr txBox="1"/>
          <p:nvPr/>
        </p:nvSpPr>
        <p:spPr>
          <a:xfrm>
            <a:off x="37890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2025</a:t>
            </a:r>
          </a:p>
        </p:txBody>
      </p:sp>
      <p:sp>
        <p:nvSpPr>
          <p:cNvPr id="16" name="TextBox 15"/>
          <p:cNvSpPr txBox="1"/>
          <p:nvPr/>
        </p:nvSpPr>
        <p:spPr>
          <a:xfrm>
            <a:off x="44329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2026</a:t>
            </a:r>
          </a:p>
        </p:txBody>
      </p:sp>
      <p:sp>
        <p:nvSpPr>
          <p:cNvPr id="17" name="TextBox 16"/>
          <p:cNvSpPr txBox="1"/>
          <p:nvPr/>
        </p:nvSpPr>
        <p:spPr>
          <a:xfrm>
            <a:off x="507682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2027</a:t>
            </a:r>
          </a:p>
        </p:txBody>
      </p:sp>
      <p:sp>
        <p:nvSpPr>
          <p:cNvPr id="18" name="TextBox 17"/>
          <p:cNvSpPr txBox="1"/>
          <p:nvPr/>
        </p:nvSpPr>
        <p:spPr>
          <a:xfrm>
            <a:off x="572071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2028</a:t>
            </a:r>
          </a:p>
        </p:txBody>
      </p:sp>
      <p:sp>
        <p:nvSpPr>
          <p:cNvPr id="19" name="TextBox 18"/>
          <p:cNvSpPr txBox="1"/>
          <p:nvPr/>
        </p:nvSpPr>
        <p:spPr>
          <a:xfrm>
            <a:off x="636460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2029</a:t>
            </a:r>
          </a:p>
        </p:txBody>
      </p:sp>
      <p:sp>
        <p:nvSpPr>
          <p:cNvPr id="20" name="TextBox 19"/>
          <p:cNvSpPr txBox="1"/>
          <p:nvPr/>
        </p:nvSpPr>
        <p:spPr>
          <a:xfrm>
            <a:off x="700849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2030</a:t>
            </a:r>
          </a:p>
        </p:txBody>
      </p:sp>
      <p:sp>
        <p:nvSpPr>
          <p:cNvPr id="21" name="TextBox 20"/>
          <p:cNvSpPr txBox="1"/>
          <p:nvPr/>
        </p:nvSpPr>
        <p:spPr>
          <a:xfrm>
            <a:off x="765238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2031</a:t>
            </a:r>
          </a:p>
        </p:txBody>
      </p:sp>
      <p:sp>
        <p:nvSpPr>
          <p:cNvPr id="22" name="TextBox 21"/>
          <p:cNvSpPr txBox="1"/>
          <p:nvPr/>
        </p:nvSpPr>
        <p:spPr>
          <a:xfrm>
            <a:off x="829627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2032</a:t>
            </a:r>
          </a:p>
        </p:txBody>
      </p:sp>
      <p:sp>
        <p:nvSpPr>
          <p:cNvPr id="23" name="TextBox 22"/>
          <p:cNvSpPr txBox="1"/>
          <p:nvPr/>
        </p:nvSpPr>
        <p:spPr>
          <a:xfrm>
            <a:off x="894016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2033</a:t>
            </a:r>
          </a:p>
        </p:txBody>
      </p:sp>
      <p:sp>
        <p:nvSpPr>
          <p:cNvPr id="24" name="TextBox 23"/>
          <p:cNvSpPr txBox="1"/>
          <p:nvPr/>
        </p:nvSpPr>
        <p:spPr>
          <a:xfrm>
            <a:off x="958405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2034</a:t>
            </a:r>
          </a:p>
        </p:txBody>
      </p:sp>
      <p:sp>
        <p:nvSpPr>
          <p:cNvPr id="25" name="TextBox 24"/>
          <p:cNvSpPr txBox="1"/>
          <p:nvPr/>
        </p:nvSpPr>
        <p:spPr>
          <a:xfrm>
            <a:off x="1022794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2035</a:t>
            </a:r>
          </a:p>
        </p:txBody>
      </p:sp>
      <p:sp>
        <p:nvSpPr>
          <p:cNvPr id="26" name="TextBox 25"/>
          <p:cNvSpPr txBox="1"/>
          <p:nvPr/>
        </p:nvSpPr>
        <p:spPr>
          <a:xfrm>
            <a:off x="10871835" y="1266825"/>
            <a:ext cx="643890" cy="142875"/>
          </a:xfrm>
          <a:prstGeom prst="rect">
            <a:avLst/>
          </a:prstGeom>
          <a:noFill/>
        </p:spPr>
        <p:txBody>
          <a:bodyPr wrap="none" lIns="0" rIns="0" tIns="0" bIns="0" anchor="ctr">
            <a:spAutoFit/>
          </a:bodyPr>
          <a:lstStyle/>
          <a:p>
            <a:pPr algn="ctr"/>
            <a:r>
              <a:rPr sz="1100" b="1">
                <a:solidFill>
                  <a:srgbClr val="6C7A89"/>
                </a:solidFill>
                <a:latin typeface="Calibri"/>
              </a:rPr>
              <a:t>2036</a:t>
            </a:r>
          </a:p>
        </p:txBody>
      </p:sp>
      <p:sp>
        <p:nvSpPr>
          <p:cNvPr id="27" name="TextBox 26"/>
          <p:cNvSpPr txBox="1"/>
          <p:nvPr/>
        </p:nvSpPr>
        <p:spPr>
          <a:xfrm>
            <a:off x="238125" y="14097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Low-Barrier Films</a:t>
            </a:r>
          </a:p>
        </p:txBody>
      </p:sp>
      <p:sp>
        <p:nvSpPr>
          <p:cNvPr id="28" name="Rectangle 27"/>
          <p:cNvSpPr/>
          <p:nvPr/>
        </p:nvSpPr>
        <p:spPr>
          <a:xfrm>
            <a:off x="1857375" y="1409700"/>
            <a:ext cx="643890" cy="430212"/>
          </a:xfrm>
          <a:prstGeom prst="rect">
            <a:avLst/>
          </a:prstGeom>
          <a:solidFill>
            <a:srgbClr val="FDFE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Rectangle 28"/>
          <p:cNvSpPr/>
          <p:nvPr/>
        </p:nvSpPr>
        <p:spPr>
          <a:xfrm>
            <a:off x="2501265" y="1409700"/>
            <a:ext cx="643890" cy="430212"/>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145155" y="1409700"/>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789045" y="1409700"/>
            <a:ext cx="643890" cy="43021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4432935" y="1409700"/>
            <a:ext cx="643890" cy="430212"/>
          </a:xfrm>
          <a:prstGeom prst="rect">
            <a:avLst/>
          </a:prstGeom>
          <a:solidFill>
            <a:srgbClr val="C4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5076825" y="1409700"/>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720715" y="1409700"/>
            <a:ext cx="643890" cy="430212"/>
          </a:xfrm>
          <a:prstGeom prst="rect">
            <a:avLst/>
          </a:prstGeom>
          <a:solidFill>
            <a:srgbClr val="8C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Rectangle 34"/>
          <p:cNvSpPr/>
          <p:nvPr/>
        </p:nvSpPr>
        <p:spPr>
          <a:xfrm>
            <a:off x="6364605" y="1409700"/>
            <a:ext cx="643890" cy="430212"/>
          </a:xfrm>
          <a:prstGeom prst="rect">
            <a:avLst/>
          </a:prstGeom>
          <a:solidFill>
            <a:srgbClr val="64A4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7008495" y="1409700"/>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Rectangle 36"/>
          <p:cNvSpPr/>
          <p:nvPr/>
        </p:nvSpPr>
        <p:spPr>
          <a:xfrm>
            <a:off x="7652385" y="1409700"/>
            <a:ext cx="643890" cy="430212"/>
          </a:xfrm>
          <a:prstGeom prst="rect">
            <a:avLst/>
          </a:prstGeom>
          <a:solidFill>
            <a:srgbClr val="2580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ectangle 37"/>
          <p:cNvSpPr/>
          <p:nvPr/>
        </p:nvSpPr>
        <p:spPr>
          <a:xfrm>
            <a:off x="8296275" y="1409700"/>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ectangle 38"/>
          <p:cNvSpPr/>
          <p:nvPr/>
        </p:nvSpPr>
        <p:spPr>
          <a:xfrm>
            <a:off x="8940165" y="1409700"/>
            <a:ext cx="643890" cy="430212"/>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9584055" y="1409700"/>
            <a:ext cx="643890" cy="430212"/>
          </a:xfrm>
          <a:prstGeom prst="rect">
            <a:avLst/>
          </a:prstGeom>
          <a:solidFill>
            <a:srgbClr val="12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10227945" y="1409700"/>
            <a:ext cx="643890" cy="430212"/>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10871835" y="1409700"/>
            <a:ext cx="643890" cy="430212"/>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18399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a:t>
            </a:r>
          </a:p>
        </p:txBody>
      </p:sp>
      <p:sp>
        <p:nvSpPr>
          <p:cNvPr id="44" name="Rectangle 43"/>
          <p:cNvSpPr/>
          <p:nvPr/>
        </p:nvSpPr>
        <p:spPr>
          <a:xfrm>
            <a:off x="1857375" y="1839912"/>
            <a:ext cx="643890" cy="430212"/>
          </a:xfrm>
          <a:prstGeom prst="rect">
            <a:avLst/>
          </a:prstGeom>
          <a:solidFill>
            <a:srgbClr val="FFFFF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Rectangle 44"/>
          <p:cNvSpPr/>
          <p:nvPr/>
        </p:nvSpPr>
        <p:spPr>
          <a:xfrm>
            <a:off x="2501265" y="1839912"/>
            <a:ext cx="643890" cy="43021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3145155" y="1839912"/>
            <a:ext cx="643890" cy="430212"/>
          </a:xfrm>
          <a:prstGeom prst="rect">
            <a:avLst/>
          </a:prstGeom>
          <a:solidFill>
            <a:srgbClr val="F2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ectangle 46"/>
          <p:cNvSpPr/>
          <p:nvPr/>
        </p:nvSpPr>
        <p:spPr>
          <a:xfrm>
            <a:off x="3789045" y="1839912"/>
            <a:ext cx="643890" cy="430212"/>
          </a:xfrm>
          <a:prstGeom prst="rect">
            <a:avLst/>
          </a:prstGeom>
          <a:solidFill>
            <a:srgbClr val="EBF6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4432935" y="1839912"/>
            <a:ext cx="643890" cy="430212"/>
          </a:xfrm>
          <a:prstGeom prst="rect">
            <a:avLst/>
          </a:prstGeom>
          <a:solidFill>
            <a:srgbClr val="C6DA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76825" y="1839912"/>
            <a:ext cx="643890" cy="430212"/>
          </a:xfrm>
          <a:prstGeom prst="rect">
            <a:avLst/>
          </a:prstGeom>
          <a:solidFill>
            <a:srgbClr val="A9CAE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ectangle 49"/>
          <p:cNvSpPr/>
          <p:nvPr/>
        </p:nvSpPr>
        <p:spPr>
          <a:xfrm>
            <a:off x="5720715" y="1839912"/>
            <a:ext cx="643890" cy="430212"/>
          </a:xfrm>
          <a:prstGeom prst="rect">
            <a:avLst/>
          </a:prstGeom>
          <a:solidFill>
            <a:srgbClr val="8BB9D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Rectangle 50"/>
          <p:cNvSpPr/>
          <p:nvPr/>
        </p:nvSpPr>
        <p:spPr>
          <a:xfrm>
            <a:off x="6364605" y="1839912"/>
            <a:ext cx="643890" cy="430212"/>
          </a:xfrm>
          <a:prstGeom prst="rect">
            <a:avLst/>
          </a:prstGeom>
          <a:solidFill>
            <a:srgbClr val="63A3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Rectangle 51"/>
          <p:cNvSpPr/>
          <p:nvPr/>
        </p:nvSpPr>
        <p:spPr>
          <a:xfrm>
            <a:off x="7008495" y="1839912"/>
            <a:ext cx="643890" cy="430212"/>
          </a:xfrm>
          <a:prstGeom prst="rect">
            <a:avLst/>
          </a:prstGeom>
          <a:solidFill>
            <a:srgbClr val="39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Rectangle 52"/>
          <p:cNvSpPr/>
          <p:nvPr/>
        </p:nvSpPr>
        <p:spPr>
          <a:xfrm>
            <a:off x="7652385" y="1839912"/>
            <a:ext cx="643890" cy="430212"/>
          </a:xfrm>
          <a:prstGeom prst="rect">
            <a:avLst/>
          </a:prstGeom>
          <a:solidFill>
            <a:srgbClr val="24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Rectangle 53"/>
          <p:cNvSpPr/>
          <p:nvPr/>
        </p:nvSpPr>
        <p:spPr>
          <a:xfrm>
            <a:off x="8296275" y="1839912"/>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940165" y="1839912"/>
            <a:ext cx="643890" cy="430212"/>
          </a:xfrm>
          <a:prstGeom prst="rect">
            <a:avLst/>
          </a:prstGeom>
          <a:solidFill>
            <a:srgbClr val="10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9584055" y="1839912"/>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10227945" y="1839912"/>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10871835" y="1839912"/>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238125" y="22701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a:t>
            </a:r>
          </a:p>
        </p:txBody>
      </p:sp>
      <p:sp>
        <p:nvSpPr>
          <p:cNvPr id="60" name="Rectangle 59"/>
          <p:cNvSpPr/>
          <p:nvPr/>
        </p:nvSpPr>
        <p:spPr>
          <a:xfrm>
            <a:off x="1857375" y="2270125"/>
            <a:ext cx="643890" cy="43021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501265" y="2270125"/>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3145155" y="2270125"/>
            <a:ext cx="643890" cy="430212"/>
          </a:xfrm>
          <a:prstGeom prst="rect">
            <a:avLst/>
          </a:prstGeom>
          <a:solidFill>
            <a:srgbClr val="E9F5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3789045" y="2270125"/>
            <a:ext cx="643890" cy="430212"/>
          </a:xfrm>
          <a:prstGeom prst="rect">
            <a:avLst/>
          </a:prstGeom>
          <a:solidFill>
            <a:srgbClr val="E3F0F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4432935" y="2270125"/>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5076825" y="2270125"/>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5720715" y="2270125"/>
            <a:ext cx="643890" cy="430212"/>
          </a:xfrm>
          <a:prstGeom prst="rect">
            <a:avLst/>
          </a:prstGeom>
          <a:solidFill>
            <a:srgbClr val="8EBBD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6364605" y="2270125"/>
            <a:ext cx="643890" cy="430212"/>
          </a:xfrm>
          <a:prstGeom prst="rect">
            <a:avLst/>
          </a:prstGeom>
          <a:solidFill>
            <a:srgbClr val="6A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7008495" y="2270125"/>
            <a:ext cx="643890" cy="430212"/>
          </a:xfrm>
          <a:prstGeom prst="rect">
            <a:avLst/>
          </a:prstGeom>
          <a:solidFill>
            <a:srgbClr val="4090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7652385" y="2270125"/>
            <a:ext cx="643890" cy="430212"/>
          </a:xfrm>
          <a:prstGeom prst="rect">
            <a:avLst/>
          </a:prstGeom>
          <a:solidFill>
            <a:srgbClr val="2B83B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8296275" y="2270125"/>
            <a:ext cx="643890" cy="430212"/>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8940165" y="2270125"/>
            <a:ext cx="643890" cy="430212"/>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584055" y="2270125"/>
            <a:ext cx="643890" cy="430212"/>
          </a:xfrm>
          <a:prstGeom prst="rect">
            <a:avLst/>
          </a:prstGeom>
          <a:solidFill>
            <a:srgbClr val="17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10227945" y="2270125"/>
            <a:ext cx="643890" cy="430212"/>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10871835" y="2270125"/>
            <a:ext cx="643890" cy="430212"/>
          </a:xfrm>
          <a:prstGeom prst="rect">
            <a:avLst/>
          </a:prstGeom>
          <a:solidFill>
            <a:srgbClr val="237FB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38125" y="270033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Medium-Barrier Films</a:t>
            </a:r>
          </a:p>
        </p:txBody>
      </p:sp>
      <p:sp>
        <p:nvSpPr>
          <p:cNvPr id="76" name="Rectangle 75"/>
          <p:cNvSpPr/>
          <p:nvPr/>
        </p:nvSpPr>
        <p:spPr>
          <a:xfrm>
            <a:off x="1857375" y="2700338"/>
            <a:ext cx="643890" cy="430212"/>
          </a:xfrm>
          <a:prstGeom prst="rect">
            <a:avLst/>
          </a:prstGeom>
          <a:solidFill>
            <a:srgbClr val="F9FC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501265" y="2700338"/>
            <a:ext cx="643890" cy="430212"/>
          </a:xfrm>
          <a:prstGeom prst="rect">
            <a:avLst/>
          </a:prstGeom>
          <a:solidFill>
            <a:srgbClr val="F6FB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145155" y="2700338"/>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3789045" y="2700338"/>
            <a:ext cx="643890" cy="430212"/>
          </a:xfrm>
          <a:prstGeom prst="rect">
            <a:avLst/>
          </a:prstGeom>
          <a:solidFill>
            <a:srgbClr val="EDF7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4432935" y="2700338"/>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5076825" y="2700338"/>
            <a:ext cx="643890" cy="430212"/>
          </a:xfrm>
          <a:prstGeom prst="rect">
            <a:avLst/>
          </a:prstGeom>
          <a:solidFill>
            <a:srgbClr val="C1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5720715" y="2700338"/>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6364605" y="2700338"/>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7008495" y="2700338"/>
            <a:ext cx="643890" cy="430212"/>
          </a:xfrm>
          <a:prstGeom prst="rect">
            <a:avLst/>
          </a:prstGeom>
          <a:solidFill>
            <a:srgbClr val="77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7652385" y="2700338"/>
            <a:ext cx="643890" cy="430212"/>
          </a:xfrm>
          <a:prstGeom prst="rect">
            <a:avLst/>
          </a:prstGeom>
          <a:solidFill>
            <a:srgbClr val="569C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8296275" y="2700338"/>
            <a:ext cx="643890" cy="430212"/>
          </a:xfrm>
          <a:prstGeom prst="rect">
            <a:avLst/>
          </a:prstGeom>
          <a:solidFill>
            <a:srgbClr val="3C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8940165" y="2700338"/>
            <a:ext cx="643890" cy="430212"/>
          </a:xfrm>
          <a:prstGeom prst="rect">
            <a:avLst/>
          </a:prstGeom>
          <a:solidFill>
            <a:srgbClr val="34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9584055" y="2700338"/>
            <a:ext cx="643890" cy="430212"/>
          </a:xfrm>
          <a:prstGeom prst="rect">
            <a:avLst/>
          </a:prstGeom>
          <a:solidFill>
            <a:srgbClr val="33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10227945" y="2700338"/>
            <a:ext cx="643890" cy="430212"/>
          </a:xfrm>
          <a:prstGeom prst="rect">
            <a:avLst/>
          </a:prstGeom>
          <a:solidFill>
            <a:srgbClr val="378A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0871835" y="2700338"/>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38125" y="313055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92" name="Rectangle 91"/>
          <p:cNvSpPr/>
          <p:nvPr/>
        </p:nvSpPr>
        <p:spPr>
          <a:xfrm>
            <a:off x="1857375" y="3130550"/>
            <a:ext cx="643890" cy="430212"/>
          </a:xfrm>
          <a:prstGeom prst="rect">
            <a:avLst/>
          </a:prstGeom>
          <a:solidFill>
            <a:srgbClr val="FAFDF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Rectangle 92"/>
          <p:cNvSpPr/>
          <p:nvPr/>
        </p:nvSpPr>
        <p:spPr>
          <a:xfrm>
            <a:off x="2501265" y="3130550"/>
            <a:ext cx="643890" cy="430212"/>
          </a:xfrm>
          <a:prstGeom prst="rect">
            <a:avLst/>
          </a:prstGeom>
          <a:solidFill>
            <a:srgbClr val="F7FC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3145155" y="3130550"/>
            <a:ext cx="643890" cy="430212"/>
          </a:xfrm>
          <a:prstGeom prst="rect">
            <a:avLst/>
          </a:prstGeom>
          <a:solidFill>
            <a:srgbClr val="F1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Rectangle 94"/>
          <p:cNvSpPr/>
          <p:nvPr/>
        </p:nvSpPr>
        <p:spPr>
          <a:xfrm>
            <a:off x="3789045" y="3130550"/>
            <a:ext cx="643890" cy="430212"/>
          </a:xfrm>
          <a:prstGeom prst="rect">
            <a:avLst/>
          </a:prstGeom>
          <a:solidFill>
            <a:srgbClr val="EEF8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Rectangle 95"/>
          <p:cNvSpPr/>
          <p:nvPr/>
        </p:nvSpPr>
        <p:spPr>
          <a:xfrm>
            <a:off x="4432935" y="3130550"/>
            <a:ext cx="643890" cy="430212"/>
          </a:xfrm>
          <a:prstGeom prst="rect">
            <a:avLst/>
          </a:prstGeom>
          <a:solidFill>
            <a:srgbClr val="D1E2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Rectangle 96"/>
          <p:cNvSpPr/>
          <p:nvPr/>
        </p:nvSpPr>
        <p:spPr>
          <a:xfrm>
            <a:off x="5076825" y="3130550"/>
            <a:ext cx="643890" cy="43021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5720715" y="3130550"/>
            <a:ext cx="643890" cy="430212"/>
          </a:xfrm>
          <a:prstGeom prst="rect">
            <a:avLst/>
          </a:prstGeom>
          <a:solidFill>
            <a:srgbClr val="AE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Rectangle 98"/>
          <p:cNvSpPr/>
          <p:nvPr/>
        </p:nvSpPr>
        <p:spPr>
          <a:xfrm>
            <a:off x="6364605" y="3130550"/>
            <a:ext cx="643890" cy="430212"/>
          </a:xfrm>
          <a:prstGeom prst="rect">
            <a:avLst/>
          </a:prstGeom>
          <a:solidFill>
            <a:srgbClr val="98C0D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Rectangle 99"/>
          <p:cNvSpPr/>
          <p:nvPr/>
        </p:nvSpPr>
        <p:spPr>
          <a:xfrm>
            <a:off x="7008495" y="3130550"/>
            <a:ext cx="643890" cy="430212"/>
          </a:xfrm>
          <a:prstGeom prst="rect">
            <a:avLst/>
          </a:prstGeom>
          <a:solidFill>
            <a:srgbClr val="76AED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Rectangle 100"/>
          <p:cNvSpPr/>
          <p:nvPr/>
        </p:nvSpPr>
        <p:spPr>
          <a:xfrm>
            <a:off x="7652385" y="3130550"/>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296275" y="3130550"/>
            <a:ext cx="643890" cy="430212"/>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8940165" y="3130550"/>
            <a:ext cx="643890" cy="430212"/>
          </a:xfrm>
          <a:prstGeom prst="rect">
            <a:avLst/>
          </a:prstGeom>
          <a:solidFill>
            <a:srgbClr val="3288B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Rectangle 103"/>
          <p:cNvSpPr/>
          <p:nvPr/>
        </p:nvSpPr>
        <p:spPr>
          <a:xfrm>
            <a:off x="9584055" y="3130550"/>
            <a:ext cx="643890" cy="430212"/>
          </a:xfrm>
          <a:prstGeom prst="rect">
            <a:avLst/>
          </a:prstGeom>
          <a:solidFill>
            <a:srgbClr val="3187B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ectangle 104"/>
          <p:cNvSpPr/>
          <p:nvPr/>
        </p:nvSpPr>
        <p:spPr>
          <a:xfrm>
            <a:off x="10227945" y="3130550"/>
            <a:ext cx="643890" cy="430212"/>
          </a:xfrm>
          <a:prstGeom prst="rect">
            <a:avLst/>
          </a:prstGeom>
          <a:solidFill>
            <a:srgbClr val="3589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10871835" y="3130550"/>
            <a:ext cx="643890" cy="430212"/>
          </a:xfrm>
          <a:prstGeom prst="rect">
            <a:avLst/>
          </a:prstGeom>
          <a:solidFill>
            <a:srgbClr val="3A8C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238125" y="356076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08" name="Rectangle 107"/>
          <p:cNvSpPr/>
          <p:nvPr/>
        </p:nvSpPr>
        <p:spPr>
          <a:xfrm>
            <a:off x="1857375" y="3560762"/>
            <a:ext cx="643890" cy="430212"/>
          </a:xfrm>
          <a:prstGeom prst="rect">
            <a:avLst/>
          </a:prstGeom>
          <a:solidFill>
            <a:srgbClr val="F2F9F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Rectangle 108"/>
          <p:cNvSpPr/>
          <p:nvPr/>
        </p:nvSpPr>
        <p:spPr>
          <a:xfrm>
            <a:off x="2501265" y="3560762"/>
            <a:ext cx="643890" cy="430212"/>
          </a:xfrm>
          <a:prstGeom prst="rect">
            <a:avLst/>
          </a:prstGeom>
          <a:solidFill>
            <a:srgbClr val="F0F9F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Rectangle 109"/>
          <p:cNvSpPr/>
          <p:nvPr/>
        </p:nvSpPr>
        <p:spPr>
          <a:xfrm>
            <a:off x="3145155" y="3560762"/>
            <a:ext cx="643890" cy="430212"/>
          </a:xfrm>
          <a:prstGeom prst="rect">
            <a:avLst/>
          </a:prstGeom>
          <a:solidFill>
            <a:srgbClr val="EBF7F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3789045" y="3560762"/>
            <a:ext cx="643890" cy="430212"/>
          </a:xfrm>
          <a:prstGeom prst="rect">
            <a:avLst/>
          </a:prstGeom>
          <a:solidFill>
            <a:srgbClr val="E8F4F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4432935" y="3560762"/>
            <a:ext cx="643890" cy="430212"/>
          </a:xfrm>
          <a:prstGeom prst="rect">
            <a:avLst/>
          </a:prstGeom>
          <a:solidFill>
            <a:srgbClr val="CCDEE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Rectangle 112"/>
          <p:cNvSpPr/>
          <p:nvPr/>
        </p:nvSpPr>
        <p:spPr>
          <a:xfrm>
            <a:off x="5076825" y="3560762"/>
            <a:ext cx="643890" cy="430212"/>
          </a:xfrm>
          <a:prstGeom prst="rect">
            <a:avLst/>
          </a:prstGeom>
          <a:solidFill>
            <a:srgbClr val="BBD4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Rectangle 113"/>
          <p:cNvSpPr/>
          <p:nvPr/>
        </p:nvSpPr>
        <p:spPr>
          <a:xfrm>
            <a:off x="5720715" y="3560762"/>
            <a:ext cx="643890" cy="430212"/>
          </a:xfrm>
          <a:prstGeom prst="rect">
            <a:avLst/>
          </a:prstGeom>
          <a:solidFill>
            <a:srgbClr val="A8C9E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Rectangle 114"/>
          <p:cNvSpPr/>
          <p:nvPr/>
        </p:nvSpPr>
        <p:spPr>
          <a:xfrm>
            <a:off x="6364605" y="3560762"/>
            <a:ext cx="643890" cy="430212"/>
          </a:xfrm>
          <a:prstGeom prst="rect">
            <a:avLst/>
          </a:prstGeom>
          <a:solidFill>
            <a:srgbClr val="94BE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Rectangle 115"/>
          <p:cNvSpPr/>
          <p:nvPr/>
        </p:nvSpPr>
        <p:spPr>
          <a:xfrm>
            <a:off x="7008495" y="3560762"/>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Rectangle 116"/>
          <p:cNvSpPr/>
          <p:nvPr/>
        </p:nvSpPr>
        <p:spPr>
          <a:xfrm>
            <a:off x="7652385" y="3560762"/>
            <a:ext cx="643890" cy="430212"/>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Rectangle 117"/>
          <p:cNvSpPr/>
          <p:nvPr/>
        </p:nvSpPr>
        <p:spPr>
          <a:xfrm>
            <a:off x="8296275" y="3560762"/>
            <a:ext cx="643890" cy="430212"/>
          </a:xfrm>
          <a:prstGeom prst="rect">
            <a:avLst/>
          </a:prstGeom>
          <a:solidFill>
            <a:srgbClr val="4B96C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8940165" y="3560762"/>
            <a:ext cx="643890" cy="430212"/>
          </a:xfrm>
          <a:prstGeom prst="rect">
            <a:avLst/>
          </a:prstGeom>
          <a:solidFill>
            <a:srgbClr val="4090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Rectangle 119"/>
          <p:cNvSpPr/>
          <p:nvPr/>
        </p:nvSpPr>
        <p:spPr>
          <a:xfrm>
            <a:off x="9584055" y="3560762"/>
            <a:ext cx="643890" cy="430212"/>
          </a:xfrm>
          <a:prstGeom prst="rect">
            <a:avLst/>
          </a:prstGeom>
          <a:solidFill>
            <a:srgbClr val="3D8EC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Rectangle 120"/>
          <p:cNvSpPr/>
          <p:nvPr/>
        </p:nvSpPr>
        <p:spPr>
          <a:xfrm>
            <a:off x="10227945" y="3560762"/>
            <a:ext cx="643890" cy="430212"/>
          </a:xfrm>
          <a:prstGeom prst="rect">
            <a:avLst/>
          </a:prstGeom>
          <a:solidFill>
            <a:srgbClr val="4291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Rectangle 121"/>
          <p:cNvSpPr/>
          <p:nvPr/>
        </p:nvSpPr>
        <p:spPr>
          <a:xfrm>
            <a:off x="10871835" y="3560762"/>
            <a:ext cx="643890" cy="430212"/>
          </a:xfrm>
          <a:prstGeom prst="rect">
            <a:avLst/>
          </a:prstGeom>
          <a:solidFill>
            <a:srgbClr val="4794C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238125" y="399097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High-Barrier Films</a:t>
            </a:r>
          </a:p>
        </p:txBody>
      </p:sp>
      <p:sp>
        <p:nvSpPr>
          <p:cNvPr id="124" name="Rectangle 123"/>
          <p:cNvSpPr/>
          <p:nvPr/>
        </p:nvSpPr>
        <p:spPr>
          <a:xfrm>
            <a:off x="1857375" y="3990975"/>
            <a:ext cx="643890" cy="430212"/>
          </a:xfrm>
          <a:prstGeom prst="rect">
            <a:avLst/>
          </a:prstGeom>
          <a:solidFill>
            <a:srgbClr val="DDEBF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2501265" y="3990975"/>
            <a:ext cx="643890" cy="430212"/>
          </a:xfrm>
          <a:prstGeom prst="rect">
            <a:avLst/>
          </a:prstGeom>
          <a:solidFill>
            <a:srgbClr val="D8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Rectangle 125"/>
          <p:cNvSpPr/>
          <p:nvPr/>
        </p:nvSpPr>
        <p:spPr>
          <a:xfrm>
            <a:off x="3145155" y="3990975"/>
            <a:ext cx="643890" cy="430212"/>
          </a:xfrm>
          <a:prstGeom prst="rect">
            <a:avLst/>
          </a:prstGeom>
          <a:solidFill>
            <a:srgbClr val="CFE0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Rectangle 126"/>
          <p:cNvSpPr/>
          <p:nvPr/>
        </p:nvSpPr>
        <p:spPr>
          <a:xfrm>
            <a:off x="3789045" y="3990975"/>
            <a:ext cx="643890" cy="430212"/>
          </a:xfrm>
          <a:prstGeom prst="rect">
            <a:avLst/>
          </a:prstGeom>
          <a:solidFill>
            <a:srgbClr val="C5D9E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Rectangle 127"/>
          <p:cNvSpPr/>
          <p:nvPr/>
        </p:nvSpPr>
        <p:spPr>
          <a:xfrm>
            <a:off x="4432935" y="3990975"/>
            <a:ext cx="643890" cy="430212"/>
          </a:xfrm>
          <a:prstGeom prst="rect">
            <a:avLst/>
          </a:prstGeom>
          <a:solidFill>
            <a:srgbClr val="89B8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Rectangle 128"/>
          <p:cNvSpPr/>
          <p:nvPr/>
        </p:nvSpPr>
        <p:spPr>
          <a:xfrm>
            <a:off x="5076825" y="3990975"/>
            <a:ext cx="643890" cy="430212"/>
          </a:xfrm>
          <a:prstGeom prst="rect">
            <a:avLst/>
          </a:prstGeom>
          <a:solidFill>
            <a:srgbClr val="61A2C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Rectangle 129"/>
          <p:cNvSpPr/>
          <p:nvPr/>
        </p:nvSpPr>
        <p:spPr>
          <a:xfrm>
            <a:off x="5720715" y="3990975"/>
            <a:ext cx="643890" cy="430212"/>
          </a:xfrm>
          <a:prstGeom prst="rect">
            <a:avLst/>
          </a:prstGeom>
          <a:solidFill>
            <a:srgbClr val="388BC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Rectangle 130"/>
          <p:cNvSpPr/>
          <p:nvPr/>
        </p:nvSpPr>
        <p:spPr>
          <a:xfrm>
            <a:off x="6364605" y="3990975"/>
            <a:ext cx="643890" cy="430212"/>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Rectangle 131"/>
          <p:cNvSpPr/>
          <p:nvPr/>
        </p:nvSpPr>
        <p:spPr>
          <a:xfrm>
            <a:off x="7008495" y="3990975"/>
            <a:ext cx="643890" cy="430212"/>
          </a:xfrm>
          <a:prstGeom prst="rect">
            <a:avLst/>
          </a:prstGeom>
          <a:solidFill>
            <a:srgbClr val="0D5E9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7652385" y="3990975"/>
            <a:ext cx="643890" cy="430212"/>
          </a:xfrm>
          <a:prstGeom prst="rect">
            <a:avLst/>
          </a:prstGeom>
          <a:solidFill>
            <a:srgbClr val="0C426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Rectangle 133"/>
          <p:cNvSpPr/>
          <p:nvPr/>
        </p:nvSpPr>
        <p:spPr>
          <a:xfrm>
            <a:off x="8296275" y="3990975"/>
            <a:ext cx="643890" cy="430212"/>
          </a:xfrm>
          <a:prstGeom prst="rect">
            <a:avLst/>
          </a:prstGeom>
          <a:solidFill>
            <a:srgbClr val="0B33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8940165" y="3990975"/>
            <a:ext cx="643890" cy="430212"/>
          </a:xfrm>
          <a:prstGeom prst="rect">
            <a:avLst/>
          </a:prstGeom>
          <a:solidFill>
            <a:srgbClr val="0B31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9584055" y="3990975"/>
            <a:ext cx="643890" cy="430212"/>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Rectangle 136"/>
          <p:cNvSpPr/>
          <p:nvPr/>
        </p:nvSpPr>
        <p:spPr>
          <a:xfrm>
            <a:off x="10227945" y="3990975"/>
            <a:ext cx="643890" cy="430212"/>
          </a:xfrm>
          <a:prstGeom prst="rect">
            <a:avLst/>
          </a:prstGeom>
          <a:solidFill>
            <a:srgbClr val="0C3E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871835" y="3990975"/>
            <a:ext cx="643890" cy="430212"/>
          </a:xfrm>
          <a:prstGeom prst="rect">
            <a:avLst/>
          </a:prstGeom>
          <a:solidFill>
            <a:srgbClr val="0C4C7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238125" y="4421188"/>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40" name="Rectangle 139"/>
          <p:cNvSpPr/>
          <p:nvPr/>
        </p:nvSpPr>
        <p:spPr>
          <a:xfrm>
            <a:off x="1857375" y="4421188"/>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Rectangle 140"/>
          <p:cNvSpPr/>
          <p:nvPr/>
        </p:nvSpPr>
        <p:spPr>
          <a:xfrm>
            <a:off x="2501265" y="4421188"/>
            <a:ext cx="643890" cy="430212"/>
          </a:xfrm>
          <a:prstGeom prst="rect">
            <a:avLst/>
          </a:prstGeom>
          <a:solidFill>
            <a:srgbClr val="D7E7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Rectangle 141"/>
          <p:cNvSpPr/>
          <p:nvPr/>
        </p:nvSpPr>
        <p:spPr>
          <a:xfrm>
            <a:off x="3145155" y="4421188"/>
            <a:ext cx="643890" cy="430212"/>
          </a:xfrm>
          <a:prstGeom prst="rect">
            <a:avLst/>
          </a:prstGeom>
          <a:solidFill>
            <a:srgbClr val="CE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Rectangle 142"/>
          <p:cNvSpPr/>
          <p:nvPr/>
        </p:nvSpPr>
        <p:spPr>
          <a:xfrm>
            <a:off x="3789045" y="4421188"/>
            <a:ext cx="643890" cy="43021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Rectangle 143"/>
          <p:cNvSpPr/>
          <p:nvPr/>
        </p:nvSpPr>
        <p:spPr>
          <a:xfrm>
            <a:off x="4432935" y="4421188"/>
            <a:ext cx="643890" cy="430212"/>
          </a:xfrm>
          <a:prstGeom prst="rect">
            <a:avLst/>
          </a:prstGeom>
          <a:solidFill>
            <a:srgbClr val="86B6D8"/>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Rectangle 144"/>
          <p:cNvSpPr/>
          <p:nvPr/>
        </p:nvSpPr>
        <p:spPr>
          <a:xfrm>
            <a:off x="5076825" y="4421188"/>
            <a:ext cx="643890" cy="430212"/>
          </a:xfrm>
          <a:prstGeom prst="rect">
            <a:avLst/>
          </a:prstGeom>
          <a:solidFill>
            <a:srgbClr val="5EA0C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Rectangle 145"/>
          <p:cNvSpPr/>
          <p:nvPr/>
        </p:nvSpPr>
        <p:spPr>
          <a:xfrm>
            <a:off x="5720715" y="4421188"/>
            <a:ext cx="643890" cy="430212"/>
          </a:xfrm>
          <a:prstGeom prst="rect">
            <a:avLst/>
          </a:prstGeom>
          <a:solidFill>
            <a:srgbClr val="368AC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Rectangle 146"/>
          <p:cNvSpPr/>
          <p:nvPr/>
        </p:nvSpPr>
        <p:spPr>
          <a:xfrm>
            <a:off x="6364605" y="4421188"/>
            <a:ext cx="643890" cy="430212"/>
          </a:xfrm>
          <a:prstGeom prst="rect">
            <a:avLst/>
          </a:prstGeom>
          <a:solidFill>
            <a:srgbClr val="1A79B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Rectangle 147"/>
          <p:cNvSpPr/>
          <p:nvPr/>
        </p:nvSpPr>
        <p:spPr>
          <a:xfrm>
            <a:off x="7008495" y="4421188"/>
            <a:ext cx="643890" cy="430212"/>
          </a:xfrm>
          <a:prstGeom prst="rect">
            <a:avLst/>
          </a:prstGeom>
          <a:solidFill>
            <a:srgbClr val="0D5C8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Rectangle 148"/>
          <p:cNvSpPr/>
          <p:nvPr/>
        </p:nvSpPr>
        <p:spPr>
          <a:xfrm>
            <a:off x="7652385" y="4421188"/>
            <a:ext cx="643890" cy="430212"/>
          </a:xfrm>
          <a:prstGeom prst="rect">
            <a:avLst/>
          </a:prstGeom>
          <a:solidFill>
            <a:srgbClr val="0C416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Rectangle 149"/>
          <p:cNvSpPr/>
          <p:nvPr/>
        </p:nvSpPr>
        <p:spPr>
          <a:xfrm>
            <a:off x="8296275" y="4421188"/>
            <a:ext cx="643890" cy="430212"/>
          </a:xfrm>
          <a:prstGeom prst="rect">
            <a:avLst/>
          </a:prstGeom>
          <a:solidFill>
            <a:srgbClr val="0B345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Rectangle 150"/>
          <p:cNvSpPr/>
          <p:nvPr/>
        </p:nvSpPr>
        <p:spPr>
          <a:xfrm>
            <a:off x="8940165" y="4421188"/>
            <a:ext cx="643890" cy="430212"/>
          </a:xfrm>
          <a:prstGeom prst="rect">
            <a:avLst/>
          </a:prstGeom>
          <a:solidFill>
            <a:srgbClr val="0B314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9584055" y="4421188"/>
            <a:ext cx="643890" cy="430212"/>
          </a:xfrm>
          <a:prstGeom prst="rect">
            <a:avLst/>
          </a:prstGeom>
          <a:solidFill>
            <a:srgbClr val="0B345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Rectangle 152"/>
          <p:cNvSpPr/>
          <p:nvPr/>
        </p:nvSpPr>
        <p:spPr>
          <a:xfrm>
            <a:off x="10227945" y="4421188"/>
            <a:ext cx="643890" cy="430212"/>
          </a:xfrm>
          <a:prstGeom prst="rect">
            <a:avLst/>
          </a:prstGeom>
          <a:solidFill>
            <a:srgbClr val="0C3F6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Rectangle 153"/>
          <p:cNvSpPr/>
          <p:nvPr/>
        </p:nvSpPr>
        <p:spPr>
          <a:xfrm>
            <a:off x="10871835" y="4421188"/>
            <a:ext cx="643890" cy="430212"/>
          </a:xfrm>
          <a:prstGeom prst="rect">
            <a:avLst/>
          </a:prstGeom>
          <a:solidFill>
            <a:srgbClr val="0C4C7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238125" y="4851400"/>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156" name="Rectangle 155"/>
          <p:cNvSpPr/>
          <p:nvPr/>
        </p:nvSpPr>
        <p:spPr>
          <a:xfrm>
            <a:off x="1857375" y="4851400"/>
            <a:ext cx="643890" cy="430212"/>
          </a:xfrm>
          <a:prstGeom prst="rect">
            <a:avLst/>
          </a:prstGeom>
          <a:solidFill>
            <a:srgbClr val="E1EFF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Rectangle 156"/>
          <p:cNvSpPr/>
          <p:nvPr/>
        </p:nvSpPr>
        <p:spPr>
          <a:xfrm>
            <a:off x="2501265" y="4851400"/>
            <a:ext cx="643890" cy="430212"/>
          </a:xfrm>
          <a:prstGeom prst="rect">
            <a:avLst/>
          </a:prstGeom>
          <a:solidFill>
            <a:srgbClr val="DCEBF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3145155" y="4851400"/>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Rectangle 158"/>
          <p:cNvSpPr/>
          <p:nvPr/>
        </p:nvSpPr>
        <p:spPr>
          <a:xfrm>
            <a:off x="3789045" y="4851400"/>
            <a:ext cx="643890" cy="430212"/>
          </a:xfrm>
          <a:prstGeom prst="rect">
            <a:avLst/>
          </a:prstGeom>
          <a:solidFill>
            <a:srgbClr val="CDDF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Rectangle 159"/>
          <p:cNvSpPr/>
          <p:nvPr/>
        </p:nvSpPr>
        <p:spPr>
          <a:xfrm>
            <a:off x="4432935" y="4851400"/>
            <a:ext cx="643890" cy="430212"/>
          </a:xfrm>
          <a:prstGeom prst="rect">
            <a:avLst/>
          </a:prstGeom>
          <a:solidFill>
            <a:srgbClr val="95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076825" y="4851400"/>
            <a:ext cx="643890" cy="430212"/>
          </a:xfrm>
          <a:prstGeom prst="rect">
            <a:avLst/>
          </a:prstGeom>
          <a:solidFill>
            <a:srgbClr val="71ABD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Rectangle 161"/>
          <p:cNvSpPr/>
          <p:nvPr/>
        </p:nvSpPr>
        <p:spPr>
          <a:xfrm>
            <a:off x="5720715" y="4851400"/>
            <a:ext cx="643890" cy="430212"/>
          </a:xfrm>
          <a:prstGeom prst="rect">
            <a:avLst/>
          </a:prstGeom>
          <a:solidFill>
            <a:srgbClr val="4392C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Rectangle 162"/>
          <p:cNvSpPr/>
          <p:nvPr/>
        </p:nvSpPr>
        <p:spPr>
          <a:xfrm>
            <a:off x="6364605" y="4851400"/>
            <a:ext cx="643890" cy="430212"/>
          </a:xfrm>
          <a:prstGeom prst="rect">
            <a:avLst/>
          </a:prstGeom>
          <a:solidFill>
            <a:srgbClr val="2580B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7008495" y="4851400"/>
            <a:ext cx="643890" cy="430212"/>
          </a:xfrm>
          <a:prstGeom prst="rect">
            <a:avLst/>
          </a:prstGeom>
          <a:solidFill>
            <a:srgbClr val="0E69A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7652385" y="4851400"/>
            <a:ext cx="643890" cy="430212"/>
          </a:xfrm>
          <a:prstGeom prst="rect">
            <a:avLst/>
          </a:prstGeom>
          <a:solidFill>
            <a:srgbClr val="0C476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Rectangle 165"/>
          <p:cNvSpPr/>
          <p:nvPr/>
        </p:nvSpPr>
        <p:spPr>
          <a:xfrm>
            <a:off x="8296275" y="4851400"/>
            <a:ext cx="643890" cy="430212"/>
          </a:xfrm>
          <a:prstGeom prst="rect">
            <a:avLst/>
          </a:prstGeom>
          <a:solidFill>
            <a:srgbClr val="0B325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Rectangle 166"/>
          <p:cNvSpPr/>
          <p:nvPr/>
        </p:nvSpPr>
        <p:spPr>
          <a:xfrm>
            <a:off x="8940165" y="4851400"/>
            <a:ext cx="643890" cy="430212"/>
          </a:xfrm>
          <a:prstGeom prst="rect">
            <a:avLst/>
          </a:prstGeom>
          <a:solidFill>
            <a:srgbClr val="0B2E4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Rectangle 167"/>
          <p:cNvSpPr/>
          <p:nvPr/>
        </p:nvSpPr>
        <p:spPr>
          <a:xfrm>
            <a:off x="9584055" y="4851400"/>
            <a:ext cx="643890" cy="430212"/>
          </a:xfrm>
          <a:prstGeom prst="rect">
            <a:avLst/>
          </a:prstGeom>
          <a:solidFill>
            <a:srgbClr val="0B304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Rectangle 168"/>
          <p:cNvSpPr/>
          <p:nvPr/>
        </p:nvSpPr>
        <p:spPr>
          <a:xfrm>
            <a:off x="10227945" y="4851400"/>
            <a:ext cx="643890" cy="430212"/>
          </a:xfrm>
          <a:prstGeom prst="rect">
            <a:avLst/>
          </a:prstGeom>
          <a:solidFill>
            <a:srgbClr val="0C3B5E"/>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Rectangle 169"/>
          <p:cNvSpPr/>
          <p:nvPr/>
        </p:nvSpPr>
        <p:spPr>
          <a:xfrm>
            <a:off x="10871835" y="4851400"/>
            <a:ext cx="643890" cy="430212"/>
          </a:xfrm>
          <a:prstGeom prst="rect">
            <a:avLst/>
          </a:prstGeom>
          <a:solidFill>
            <a:srgbClr val="0C4A7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238125" y="5281612"/>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Ultra-High-Barrier Films</a:t>
            </a:r>
          </a:p>
        </p:txBody>
      </p:sp>
      <p:sp>
        <p:nvSpPr>
          <p:cNvPr id="172" name="Rectangle 171"/>
          <p:cNvSpPr/>
          <p:nvPr/>
        </p:nvSpPr>
        <p:spPr>
          <a:xfrm>
            <a:off x="1857375" y="5281612"/>
            <a:ext cx="643890" cy="430212"/>
          </a:xfrm>
          <a:prstGeom prst="rect">
            <a:avLst/>
          </a:prstGeom>
          <a:solidFill>
            <a:srgbClr val="D4E4F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Rectangle 172"/>
          <p:cNvSpPr/>
          <p:nvPr/>
        </p:nvSpPr>
        <p:spPr>
          <a:xfrm>
            <a:off x="2501265" y="5281612"/>
            <a:ext cx="643890" cy="430212"/>
          </a:xfrm>
          <a:prstGeom prst="rect">
            <a:avLst/>
          </a:prstGeom>
          <a:solidFill>
            <a:srgbClr val="D0E1F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Rectangle 173"/>
          <p:cNvSpPr/>
          <p:nvPr/>
        </p:nvSpPr>
        <p:spPr>
          <a:xfrm>
            <a:off x="3145155" y="5281612"/>
            <a:ext cx="643890" cy="430212"/>
          </a:xfrm>
          <a:prstGeom prst="rect">
            <a:avLst/>
          </a:prstGeom>
          <a:solidFill>
            <a:srgbClr val="C9DC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3789045" y="5281612"/>
            <a:ext cx="643890" cy="430212"/>
          </a:xfrm>
          <a:prstGeom prst="rect">
            <a:avLst/>
          </a:prstGeom>
          <a:solidFill>
            <a:srgbClr val="C3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Rectangle 175"/>
          <p:cNvSpPr/>
          <p:nvPr/>
        </p:nvSpPr>
        <p:spPr>
          <a:xfrm>
            <a:off x="4432935" y="5281612"/>
            <a:ext cx="643890" cy="430212"/>
          </a:xfrm>
          <a:prstGeom prst="rect">
            <a:avLst/>
          </a:prstGeom>
          <a:solidFill>
            <a:srgbClr val="93BDD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7" name="Rectangle 176"/>
          <p:cNvSpPr/>
          <p:nvPr/>
        </p:nvSpPr>
        <p:spPr>
          <a:xfrm>
            <a:off x="5076825" y="5281612"/>
            <a:ext cx="643890" cy="430212"/>
          </a:xfrm>
          <a:prstGeom prst="rect">
            <a:avLst/>
          </a:prstGeom>
          <a:solidFill>
            <a:srgbClr val="79AFD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Rectangle 177"/>
          <p:cNvSpPr/>
          <p:nvPr/>
        </p:nvSpPr>
        <p:spPr>
          <a:xfrm>
            <a:off x="5720715" y="5281612"/>
            <a:ext cx="643890" cy="430212"/>
          </a:xfrm>
          <a:prstGeom prst="rect">
            <a:avLst/>
          </a:prstGeom>
          <a:solidFill>
            <a:srgbClr val="589D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9" name="Rectangle 178"/>
          <p:cNvSpPr/>
          <p:nvPr/>
        </p:nvSpPr>
        <p:spPr>
          <a:xfrm>
            <a:off x="6364605" y="5281612"/>
            <a:ext cx="643890" cy="430212"/>
          </a:xfrm>
          <a:prstGeom prst="rect">
            <a:avLst/>
          </a:prstGeom>
          <a:solidFill>
            <a:srgbClr val="3B8D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Rectangle 179"/>
          <p:cNvSpPr/>
          <p:nvPr/>
        </p:nvSpPr>
        <p:spPr>
          <a:xfrm>
            <a:off x="7008495" y="5281612"/>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1" name="Rectangle 180"/>
          <p:cNvSpPr/>
          <p:nvPr/>
        </p:nvSpPr>
        <p:spPr>
          <a:xfrm>
            <a:off x="7652385" y="5281612"/>
            <a:ext cx="643890" cy="430212"/>
          </a:xfrm>
          <a:prstGeom prst="rect">
            <a:avLst/>
          </a:prstGeom>
          <a:solidFill>
            <a:srgbClr val="1F7CB6"/>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Rectangle 181"/>
          <p:cNvSpPr/>
          <p:nvPr/>
        </p:nvSpPr>
        <p:spPr>
          <a:xfrm>
            <a:off x="8296275" y="5281612"/>
            <a:ext cx="643890" cy="430212"/>
          </a:xfrm>
          <a:prstGeom prst="rect">
            <a:avLst/>
          </a:prstGeom>
          <a:solidFill>
            <a:srgbClr val="17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Rectangle 182"/>
          <p:cNvSpPr/>
          <p:nvPr/>
        </p:nvSpPr>
        <p:spPr>
          <a:xfrm>
            <a:off x="8940165" y="5281612"/>
            <a:ext cx="643890" cy="430212"/>
          </a:xfrm>
          <a:prstGeom prst="rect">
            <a:avLst/>
          </a:prstGeom>
          <a:solidFill>
            <a:srgbClr val="1174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Rectangle 183"/>
          <p:cNvSpPr/>
          <p:nvPr/>
        </p:nvSpPr>
        <p:spPr>
          <a:xfrm>
            <a:off x="9584055" y="5281612"/>
            <a:ext cx="643890" cy="430212"/>
          </a:xfrm>
          <a:prstGeom prst="rect">
            <a:avLst/>
          </a:prstGeom>
          <a:solidFill>
            <a:srgbClr val="1375B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Rectangle 184"/>
          <p:cNvSpPr/>
          <p:nvPr/>
        </p:nvSpPr>
        <p:spPr>
          <a:xfrm>
            <a:off x="10227945" y="5281612"/>
            <a:ext cx="643890" cy="430212"/>
          </a:xfrm>
          <a:prstGeom prst="rect">
            <a:avLst/>
          </a:prstGeom>
          <a:solidFill>
            <a:srgbClr val="1878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10871835" y="5281612"/>
            <a:ext cx="643890" cy="430212"/>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238125" y="5711825"/>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Food Packaging   </a:t>
            </a:r>
          </a:p>
        </p:txBody>
      </p:sp>
      <p:sp>
        <p:nvSpPr>
          <p:cNvPr id="188" name="Rectangle 187"/>
          <p:cNvSpPr/>
          <p:nvPr/>
        </p:nvSpPr>
        <p:spPr>
          <a:xfrm>
            <a:off x="1857375" y="5711825"/>
            <a:ext cx="643890" cy="430212"/>
          </a:xfrm>
          <a:prstGeom prst="rect">
            <a:avLst/>
          </a:prstGeom>
          <a:solidFill>
            <a:srgbClr val="D7E6F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2501265" y="5711825"/>
            <a:ext cx="643890" cy="430212"/>
          </a:xfrm>
          <a:prstGeom prst="rect">
            <a:avLst/>
          </a:prstGeom>
          <a:solidFill>
            <a:srgbClr val="D3E3F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Rectangle 189"/>
          <p:cNvSpPr/>
          <p:nvPr/>
        </p:nvSpPr>
        <p:spPr>
          <a:xfrm>
            <a:off x="3145155" y="5711825"/>
            <a:ext cx="643890" cy="430212"/>
          </a:xfrm>
          <a:prstGeom prst="rect">
            <a:avLst/>
          </a:prstGeom>
          <a:solidFill>
            <a:srgbClr val="CDDEE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1" name="Rectangle 190"/>
          <p:cNvSpPr/>
          <p:nvPr/>
        </p:nvSpPr>
        <p:spPr>
          <a:xfrm>
            <a:off x="3789045" y="5711825"/>
            <a:ext cx="643890" cy="430212"/>
          </a:xfrm>
          <a:prstGeom prst="rect">
            <a:avLst/>
          </a:prstGeom>
          <a:solidFill>
            <a:srgbClr val="C7DBE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Rectangle 191"/>
          <p:cNvSpPr/>
          <p:nvPr/>
        </p:nvSpPr>
        <p:spPr>
          <a:xfrm>
            <a:off x="4432935" y="5711825"/>
            <a:ext cx="643890" cy="430212"/>
          </a:xfrm>
          <a:prstGeom prst="rect">
            <a:avLst/>
          </a:prstGeom>
          <a:solidFill>
            <a:srgbClr val="96BFDC"/>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5076825" y="5711825"/>
            <a:ext cx="643890" cy="430212"/>
          </a:xfrm>
          <a:prstGeom prst="rect">
            <a:avLst/>
          </a:prstGeom>
          <a:solidFill>
            <a:srgbClr val="7CB0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5720715" y="5711825"/>
            <a:ext cx="643890" cy="430212"/>
          </a:xfrm>
          <a:prstGeom prst="rect">
            <a:avLst/>
          </a:prstGeom>
          <a:solidFill>
            <a:srgbClr val="599EC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Rectangle 194"/>
          <p:cNvSpPr/>
          <p:nvPr/>
        </p:nvSpPr>
        <p:spPr>
          <a:xfrm>
            <a:off x="6364605" y="5711825"/>
            <a:ext cx="643890" cy="430212"/>
          </a:xfrm>
          <a:prstGeom prst="rect">
            <a:avLst/>
          </a:prstGeom>
          <a:solidFill>
            <a:srgbClr val="3A8DC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Rectangle 195"/>
          <p:cNvSpPr/>
          <p:nvPr/>
        </p:nvSpPr>
        <p:spPr>
          <a:xfrm>
            <a:off x="7008495" y="5711825"/>
            <a:ext cx="643890" cy="430212"/>
          </a:xfrm>
          <a:prstGeom prst="rect">
            <a:avLst/>
          </a:prstGeom>
          <a:solidFill>
            <a:srgbClr val="2881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7" name="Rectangle 196"/>
          <p:cNvSpPr/>
          <p:nvPr/>
        </p:nvSpPr>
        <p:spPr>
          <a:xfrm>
            <a:off x="7652385" y="5711825"/>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Rectangle 197"/>
          <p:cNvSpPr/>
          <p:nvPr/>
        </p:nvSpPr>
        <p:spPr>
          <a:xfrm>
            <a:off x="8296275" y="5711825"/>
            <a:ext cx="643890" cy="430212"/>
          </a:xfrm>
          <a:prstGeom prst="rect">
            <a:avLst/>
          </a:prstGeom>
          <a:solidFill>
            <a:srgbClr val="1576B1"/>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Rectangle 198"/>
          <p:cNvSpPr/>
          <p:nvPr/>
        </p:nvSpPr>
        <p:spPr>
          <a:xfrm>
            <a:off x="8940165" y="5711825"/>
            <a:ext cx="643890" cy="430212"/>
          </a:xfrm>
          <a:prstGeom prst="rect">
            <a:avLst/>
          </a:prstGeom>
          <a:solidFill>
            <a:srgbClr val="0F73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9584055" y="5711825"/>
            <a:ext cx="643890" cy="430212"/>
          </a:xfrm>
          <a:prstGeom prst="rect">
            <a:avLst/>
          </a:prstGeom>
          <a:solidFill>
            <a:srgbClr val="1174AF"/>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Rectangle 200"/>
          <p:cNvSpPr/>
          <p:nvPr/>
        </p:nvSpPr>
        <p:spPr>
          <a:xfrm>
            <a:off x="10227945" y="5711825"/>
            <a:ext cx="643890" cy="430212"/>
          </a:xfrm>
          <a:prstGeom prst="rect">
            <a:avLst/>
          </a:prstGeom>
          <a:solidFill>
            <a:srgbClr val="1677B2"/>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Rectangle 201"/>
          <p:cNvSpPr/>
          <p:nvPr/>
        </p:nvSpPr>
        <p:spPr>
          <a:xfrm>
            <a:off x="10871835" y="5711825"/>
            <a:ext cx="643890" cy="430212"/>
          </a:xfrm>
          <a:prstGeom prst="rect">
            <a:avLst/>
          </a:prstGeom>
          <a:solidFill>
            <a:srgbClr val="1C7AB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238125" y="6142037"/>
            <a:ext cx="1590675" cy="430212"/>
          </a:xfrm>
          <a:prstGeom prst="rect">
            <a:avLst/>
          </a:prstGeom>
          <a:noFill/>
        </p:spPr>
        <p:txBody>
          <a:bodyPr wrap="square" lIns="28575" rIns="28575" tIns="9525" bIns="9525" anchor="ctr">
            <a:spAutoFit/>
          </a:bodyPr>
          <a:lstStyle/>
          <a:p>
            <a:pPr algn="l"/>
            <a:r>
              <a:rPr sz="1100" b="0">
                <a:solidFill>
                  <a:srgbClr val="2E2E2E"/>
                </a:solidFill>
                <a:latin typeface="Calibri"/>
              </a:rPr>
              <a:t>– Non-Food Packaging   </a:t>
            </a:r>
          </a:p>
        </p:txBody>
      </p:sp>
      <p:sp>
        <p:nvSpPr>
          <p:cNvPr id="204" name="Rectangle 203"/>
          <p:cNvSpPr/>
          <p:nvPr/>
        </p:nvSpPr>
        <p:spPr>
          <a:xfrm>
            <a:off x="1857375" y="6142037"/>
            <a:ext cx="643890" cy="430212"/>
          </a:xfrm>
          <a:prstGeom prst="rect">
            <a:avLst/>
          </a:prstGeom>
          <a:solidFill>
            <a:srgbClr val="C2D8EB"/>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Rectangle 204"/>
          <p:cNvSpPr/>
          <p:nvPr/>
        </p:nvSpPr>
        <p:spPr>
          <a:xfrm>
            <a:off x="2501265" y="6142037"/>
            <a:ext cx="643890" cy="430212"/>
          </a:xfrm>
          <a:prstGeom prst="rect">
            <a:avLst/>
          </a:prstGeom>
          <a:solidFill>
            <a:srgbClr val="BDD5E9"/>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Rectangle 205"/>
          <p:cNvSpPr/>
          <p:nvPr/>
        </p:nvSpPr>
        <p:spPr>
          <a:xfrm>
            <a:off x="3145155" y="6142037"/>
            <a:ext cx="643890" cy="430212"/>
          </a:xfrm>
          <a:prstGeom prst="rect">
            <a:avLst/>
          </a:prstGeom>
          <a:solidFill>
            <a:srgbClr val="B1CEE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Rectangle 206"/>
          <p:cNvSpPr/>
          <p:nvPr/>
        </p:nvSpPr>
        <p:spPr>
          <a:xfrm>
            <a:off x="3789045" y="6142037"/>
            <a:ext cx="643890" cy="430212"/>
          </a:xfrm>
          <a:prstGeom prst="rect">
            <a:avLst/>
          </a:prstGeom>
          <a:solidFill>
            <a:srgbClr val="ADCCE4"/>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Rectangle 207"/>
          <p:cNvSpPr/>
          <p:nvPr/>
        </p:nvSpPr>
        <p:spPr>
          <a:xfrm>
            <a:off x="4432935" y="6142037"/>
            <a:ext cx="643890" cy="430212"/>
          </a:xfrm>
          <a:prstGeom prst="rect">
            <a:avLst/>
          </a:prstGeom>
          <a:solidFill>
            <a:srgbClr val="7DB1D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Rectangle 208"/>
          <p:cNvSpPr/>
          <p:nvPr/>
        </p:nvSpPr>
        <p:spPr>
          <a:xfrm>
            <a:off x="5076825" y="6142037"/>
            <a:ext cx="643890" cy="430212"/>
          </a:xfrm>
          <a:prstGeom prst="rect">
            <a:avLst/>
          </a:prstGeom>
          <a:solidFill>
            <a:srgbClr val="6BA7D0"/>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Rectangle 209"/>
          <p:cNvSpPr/>
          <p:nvPr/>
        </p:nvSpPr>
        <p:spPr>
          <a:xfrm>
            <a:off x="5720715" y="6142037"/>
            <a:ext cx="643890" cy="430212"/>
          </a:xfrm>
          <a:prstGeom prst="rect">
            <a:avLst/>
          </a:prstGeom>
          <a:solidFill>
            <a:srgbClr val="549BC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Rectangle 210"/>
          <p:cNvSpPr/>
          <p:nvPr/>
        </p:nvSpPr>
        <p:spPr>
          <a:xfrm>
            <a:off x="6364605" y="6142037"/>
            <a:ext cx="643890" cy="430212"/>
          </a:xfrm>
          <a:prstGeom prst="rect">
            <a:avLst/>
          </a:prstGeom>
          <a:solidFill>
            <a:srgbClr val="3D8EC3"/>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Rectangle 211"/>
          <p:cNvSpPr/>
          <p:nvPr/>
        </p:nvSpPr>
        <p:spPr>
          <a:xfrm>
            <a:off x="7008495" y="6142037"/>
            <a:ext cx="643890" cy="430212"/>
          </a:xfrm>
          <a:prstGeom prst="rect">
            <a:avLst/>
          </a:prstGeom>
          <a:solidFill>
            <a:srgbClr val="2F86BD"/>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Rectangle 212"/>
          <p:cNvSpPr/>
          <p:nvPr/>
        </p:nvSpPr>
        <p:spPr>
          <a:xfrm>
            <a:off x="7652385" y="6142037"/>
            <a:ext cx="643890" cy="430212"/>
          </a:xfrm>
          <a:prstGeom prst="rect">
            <a:avLst/>
          </a:prstGeom>
          <a:solidFill>
            <a:srgbClr val="29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8296275" y="6142037"/>
            <a:ext cx="643890" cy="43021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Rectangle 214"/>
          <p:cNvSpPr/>
          <p:nvPr/>
        </p:nvSpPr>
        <p:spPr>
          <a:xfrm>
            <a:off x="8940165" y="6142037"/>
            <a:ext cx="643890" cy="430212"/>
          </a:xfrm>
          <a:prstGeom prst="rect">
            <a:avLst/>
          </a:prstGeom>
          <a:solidFill>
            <a:srgbClr val="1D7B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Rectangle 215"/>
          <p:cNvSpPr/>
          <p:nvPr/>
        </p:nvSpPr>
        <p:spPr>
          <a:xfrm>
            <a:off x="9584055" y="6142037"/>
            <a:ext cx="643890" cy="430212"/>
          </a:xfrm>
          <a:prstGeom prst="rect">
            <a:avLst/>
          </a:prstGeom>
          <a:solidFill>
            <a:srgbClr val="1E7CB5"/>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Rectangle 216"/>
          <p:cNvSpPr/>
          <p:nvPr/>
        </p:nvSpPr>
        <p:spPr>
          <a:xfrm>
            <a:off x="10227945" y="6142037"/>
            <a:ext cx="643890" cy="430212"/>
          </a:xfrm>
          <a:prstGeom prst="rect">
            <a:avLst/>
          </a:prstGeom>
          <a:solidFill>
            <a:srgbClr val="227EB7"/>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Rectangle 217"/>
          <p:cNvSpPr/>
          <p:nvPr/>
        </p:nvSpPr>
        <p:spPr>
          <a:xfrm>
            <a:off x="10871835" y="6142037"/>
            <a:ext cx="643890" cy="430212"/>
          </a:xfrm>
          <a:prstGeom prst="rect">
            <a:avLst/>
          </a:prstGeom>
          <a:solidFill>
            <a:srgbClr val="2882BA"/>
          </a:solid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9" name="Rectangle 218"/>
          <p:cNvSpPr/>
          <p:nvPr/>
        </p:nvSpPr>
        <p:spPr>
          <a:xfrm>
            <a:off x="11572875" y="1447800"/>
            <a:ext cx="104775" cy="13477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Rectangle 219"/>
          <p:cNvSpPr/>
          <p:nvPr/>
        </p:nvSpPr>
        <p:spPr>
          <a:xfrm>
            <a:off x="11572875" y="1574959"/>
            <a:ext cx="104775" cy="134779"/>
          </a:xfrm>
          <a:prstGeom prst="rect">
            <a:avLst/>
          </a:prstGeom>
          <a:solidFill>
            <a:srgbClr val="0C3A5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1" name="Rectangle 220"/>
          <p:cNvSpPr/>
          <p:nvPr/>
        </p:nvSpPr>
        <p:spPr>
          <a:xfrm>
            <a:off x="11572875" y="1702118"/>
            <a:ext cx="104775" cy="134779"/>
          </a:xfrm>
          <a:prstGeom prst="rect">
            <a:avLst/>
          </a:prstGeom>
          <a:solidFill>
            <a:srgbClr val="0C46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11572875" y="1829276"/>
            <a:ext cx="104775" cy="134779"/>
          </a:xfrm>
          <a:prstGeom prst="rect">
            <a:avLst/>
          </a:prstGeom>
          <a:solidFill>
            <a:srgbClr val="0D5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11572875" y="1956435"/>
            <a:ext cx="104775" cy="134779"/>
          </a:xfrm>
          <a:prstGeom prst="rect">
            <a:avLst/>
          </a:prstGeom>
          <a:solidFill>
            <a:srgbClr val="0D5F9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Rectangle 223"/>
          <p:cNvSpPr/>
          <p:nvPr/>
        </p:nvSpPr>
        <p:spPr>
          <a:xfrm>
            <a:off x="11572875" y="2083594"/>
            <a:ext cx="104775" cy="134779"/>
          </a:xfrm>
          <a:prstGeom prst="rect">
            <a:avLst/>
          </a:prstGeom>
          <a:solidFill>
            <a:srgbClr val="0E6B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Rectangle 224"/>
          <p:cNvSpPr/>
          <p:nvPr/>
        </p:nvSpPr>
        <p:spPr>
          <a:xfrm>
            <a:off x="11572875" y="2210752"/>
            <a:ext cx="104775" cy="134779"/>
          </a:xfrm>
          <a:prstGeom prst="rect">
            <a:avLst/>
          </a:prstGeom>
          <a:solidFill>
            <a:srgbClr val="1174A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Rectangle 225"/>
          <p:cNvSpPr/>
          <p:nvPr/>
        </p:nvSpPr>
        <p:spPr>
          <a:xfrm>
            <a:off x="11572875" y="2337911"/>
            <a:ext cx="104775" cy="134779"/>
          </a:xfrm>
          <a:prstGeom prst="rect">
            <a:avLst/>
          </a:prstGeom>
          <a:solidFill>
            <a:srgbClr val="1978B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Rectangle 226"/>
          <p:cNvSpPr/>
          <p:nvPr/>
        </p:nvSpPr>
        <p:spPr>
          <a:xfrm>
            <a:off x="11572875" y="2465070"/>
            <a:ext cx="104775" cy="134779"/>
          </a:xfrm>
          <a:prstGeom prst="rect">
            <a:avLst/>
          </a:prstGeom>
          <a:solidFill>
            <a:srgbClr val="207DB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Rectangle 227"/>
          <p:cNvSpPr/>
          <p:nvPr/>
        </p:nvSpPr>
        <p:spPr>
          <a:xfrm>
            <a:off x="11572875" y="2592229"/>
            <a:ext cx="104775" cy="134779"/>
          </a:xfrm>
          <a:prstGeom prst="rect">
            <a:avLst/>
          </a:prstGeom>
          <a:solidFill>
            <a:srgbClr val="2781B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Rectangle 228"/>
          <p:cNvSpPr/>
          <p:nvPr/>
        </p:nvSpPr>
        <p:spPr>
          <a:xfrm>
            <a:off x="11572875" y="2719388"/>
            <a:ext cx="104775" cy="134779"/>
          </a:xfrm>
          <a:prstGeom prst="rect">
            <a:avLst/>
          </a:prstGeom>
          <a:solidFill>
            <a:srgbClr val="2F86B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0" name="Rectangle 229"/>
          <p:cNvSpPr/>
          <p:nvPr/>
        </p:nvSpPr>
        <p:spPr>
          <a:xfrm>
            <a:off x="11572875" y="2846546"/>
            <a:ext cx="104775" cy="134779"/>
          </a:xfrm>
          <a:prstGeom prst="rect">
            <a:avLst/>
          </a:prstGeom>
          <a:solidFill>
            <a:srgbClr val="368AC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1572875" y="2973705"/>
            <a:ext cx="104775" cy="134779"/>
          </a:xfrm>
          <a:prstGeom prst="rect">
            <a:avLst/>
          </a:prstGeom>
          <a:solidFill>
            <a:srgbClr val="3E8FC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572875" y="3100864"/>
            <a:ext cx="104775" cy="134779"/>
          </a:xfrm>
          <a:prstGeom prst="rect">
            <a:avLst/>
          </a:prstGeom>
          <a:solidFill>
            <a:srgbClr val="4995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11572875" y="3228022"/>
            <a:ext cx="104775" cy="134779"/>
          </a:xfrm>
          <a:prstGeom prst="rect">
            <a:avLst/>
          </a:prstGeom>
          <a:solidFill>
            <a:srgbClr val="549BC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11572875" y="3355181"/>
            <a:ext cx="104775" cy="134779"/>
          </a:xfrm>
          <a:prstGeom prst="rect">
            <a:avLst/>
          </a:prstGeom>
          <a:solidFill>
            <a:srgbClr val="60A1C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Rectangle 234"/>
          <p:cNvSpPr/>
          <p:nvPr/>
        </p:nvSpPr>
        <p:spPr>
          <a:xfrm>
            <a:off x="11572875" y="3482340"/>
            <a:ext cx="104775" cy="134779"/>
          </a:xfrm>
          <a:prstGeom prst="rect">
            <a:avLst/>
          </a:prstGeom>
          <a:solidFill>
            <a:srgbClr val="6BA7D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Rectangle 235"/>
          <p:cNvSpPr/>
          <p:nvPr/>
        </p:nvSpPr>
        <p:spPr>
          <a:xfrm>
            <a:off x="11572875" y="3609499"/>
            <a:ext cx="104775" cy="134779"/>
          </a:xfrm>
          <a:prstGeom prst="rect">
            <a:avLst/>
          </a:prstGeom>
          <a:solidFill>
            <a:srgbClr val="76AED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Rectangle 236"/>
          <p:cNvSpPr/>
          <p:nvPr/>
        </p:nvSpPr>
        <p:spPr>
          <a:xfrm>
            <a:off x="11572875" y="3736657"/>
            <a:ext cx="104775" cy="134779"/>
          </a:xfrm>
          <a:prstGeom prst="rect">
            <a:avLst/>
          </a:prstGeom>
          <a:solidFill>
            <a:srgbClr val="81B4D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Rectangle 237"/>
          <p:cNvSpPr/>
          <p:nvPr/>
        </p:nvSpPr>
        <p:spPr>
          <a:xfrm>
            <a:off x="11572875" y="3863816"/>
            <a:ext cx="104775" cy="134779"/>
          </a:xfrm>
          <a:prstGeom prst="rect">
            <a:avLst/>
          </a:prstGeom>
          <a:solidFill>
            <a:srgbClr val="8DBAD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Rectangle 238"/>
          <p:cNvSpPr/>
          <p:nvPr/>
        </p:nvSpPr>
        <p:spPr>
          <a:xfrm>
            <a:off x="11572875" y="3990975"/>
            <a:ext cx="104775" cy="134779"/>
          </a:xfrm>
          <a:prstGeom prst="rect">
            <a:avLst/>
          </a:prstGeom>
          <a:solidFill>
            <a:srgbClr val="95BE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Rectangle 239"/>
          <p:cNvSpPr/>
          <p:nvPr/>
        </p:nvSpPr>
        <p:spPr>
          <a:xfrm>
            <a:off x="11572875" y="4118134"/>
            <a:ext cx="104775" cy="134779"/>
          </a:xfrm>
          <a:prstGeom prst="rect">
            <a:avLst/>
          </a:prstGeom>
          <a:solidFill>
            <a:srgbClr val="9CC3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572875" y="4245292"/>
            <a:ext cx="104775" cy="134779"/>
          </a:xfrm>
          <a:prstGeom prst="rect">
            <a:avLst/>
          </a:prstGeom>
          <a:solidFill>
            <a:srgbClr val="A4C7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11572875" y="4372451"/>
            <a:ext cx="104775" cy="134779"/>
          </a:xfrm>
          <a:prstGeom prst="rect">
            <a:avLst/>
          </a:prstGeom>
          <a:solidFill>
            <a:srgbClr val="ACCBE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11572875" y="4499610"/>
            <a:ext cx="104775" cy="134779"/>
          </a:xfrm>
          <a:prstGeom prst="rect">
            <a:avLst/>
          </a:prstGeom>
          <a:solidFill>
            <a:srgbClr val="B3CFE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11572875" y="4626769"/>
            <a:ext cx="104775" cy="134779"/>
          </a:xfrm>
          <a:prstGeom prst="rect">
            <a:avLst/>
          </a:prstGeom>
          <a:solidFill>
            <a:srgbClr val="BAD4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Rectangle 244"/>
          <p:cNvSpPr/>
          <p:nvPr/>
        </p:nvSpPr>
        <p:spPr>
          <a:xfrm>
            <a:off x="11572875" y="4753928"/>
            <a:ext cx="104775" cy="134779"/>
          </a:xfrm>
          <a:prstGeom prst="rect">
            <a:avLst/>
          </a:prstGeom>
          <a:solidFill>
            <a:srgbClr val="C2D8E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6" name="Rectangle 245"/>
          <p:cNvSpPr/>
          <p:nvPr/>
        </p:nvSpPr>
        <p:spPr>
          <a:xfrm>
            <a:off x="11572875" y="4881086"/>
            <a:ext cx="104775" cy="134779"/>
          </a:xfrm>
          <a:prstGeom prst="rect">
            <a:avLst/>
          </a:prstGeom>
          <a:solidFill>
            <a:srgbClr val="CADCE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Rectangle 246"/>
          <p:cNvSpPr/>
          <p:nvPr/>
        </p:nvSpPr>
        <p:spPr>
          <a:xfrm>
            <a:off x="11572875" y="5008245"/>
            <a:ext cx="104775" cy="134779"/>
          </a:xfrm>
          <a:prstGeom prst="rect">
            <a:avLst/>
          </a:prstGeom>
          <a:solidFill>
            <a:srgbClr val="CEE0E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8" name="Rectangle 247"/>
          <p:cNvSpPr/>
          <p:nvPr/>
        </p:nvSpPr>
        <p:spPr>
          <a:xfrm>
            <a:off x="11572875" y="5135404"/>
            <a:ext cx="104775" cy="134779"/>
          </a:xfrm>
          <a:prstGeom prst="rect">
            <a:avLst/>
          </a:prstGeom>
          <a:solidFill>
            <a:srgbClr val="D3E3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Rectangle 248"/>
          <p:cNvSpPr/>
          <p:nvPr/>
        </p:nvSpPr>
        <p:spPr>
          <a:xfrm>
            <a:off x="11572875" y="5262562"/>
            <a:ext cx="104775" cy="134779"/>
          </a:xfrm>
          <a:prstGeom prst="rect">
            <a:avLst/>
          </a:prstGeom>
          <a:solidFill>
            <a:srgbClr val="D7E7F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0" name="Rectangle 249"/>
          <p:cNvSpPr/>
          <p:nvPr/>
        </p:nvSpPr>
        <p:spPr>
          <a:xfrm>
            <a:off x="11572875" y="5389721"/>
            <a:ext cx="104775" cy="134779"/>
          </a:xfrm>
          <a:prstGeom prst="rect">
            <a:avLst/>
          </a:prstGeom>
          <a:solidFill>
            <a:srgbClr val="DBEAF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11572875" y="5516880"/>
            <a:ext cx="104775" cy="134779"/>
          </a:xfrm>
          <a:prstGeom prst="rect">
            <a:avLst/>
          </a:prstGeom>
          <a:solidFill>
            <a:srgbClr val="E0EE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11572875" y="5644039"/>
            <a:ext cx="104775" cy="134779"/>
          </a:xfrm>
          <a:prstGeom prst="rect">
            <a:avLst/>
          </a:prstGeom>
          <a:solidFill>
            <a:srgbClr val="E4F1F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11572875" y="5771198"/>
            <a:ext cx="104775" cy="134779"/>
          </a:xfrm>
          <a:prstGeom prst="rect">
            <a:avLst/>
          </a:prstGeom>
          <a:solidFill>
            <a:srgbClr val="E8F5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1572875" y="5898356"/>
            <a:ext cx="104775" cy="134779"/>
          </a:xfrm>
          <a:prstGeom prst="rect">
            <a:avLst/>
          </a:prstGeom>
          <a:solidFill>
            <a:srgbClr val="EC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Rectangle 254"/>
          <p:cNvSpPr/>
          <p:nvPr/>
        </p:nvSpPr>
        <p:spPr>
          <a:xfrm>
            <a:off x="11572875" y="6025515"/>
            <a:ext cx="104775" cy="134779"/>
          </a:xfrm>
          <a:prstGeom prst="rect">
            <a:avLst/>
          </a:prstGeom>
          <a:solidFill>
            <a:srgbClr val="F0F9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Rectangle 255"/>
          <p:cNvSpPr/>
          <p:nvPr/>
        </p:nvSpPr>
        <p:spPr>
          <a:xfrm>
            <a:off x="11572875" y="6152674"/>
            <a:ext cx="104775" cy="134779"/>
          </a:xfrm>
          <a:prstGeom prst="rect">
            <a:avLst/>
          </a:prstGeom>
          <a:solidFill>
            <a:srgbClr val="F4FAF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Rectangle 256"/>
          <p:cNvSpPr/>
          <p:nvPr/>
        </p:nvSpPr>
        <p:spPr>
          <a:xfrm>
            <a:off x="11572875" y="6279832"/>
            <a:ext cx="104775" cy="134779"/>
          </a:xfrm>
          <a:prstGeom prst="rect">
            <a:avLst/>
          </a:prstGeom>
          <a:solidFill>
            <a:srgbClr val="F8FC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Rectangle 257"/>
          <p:cNvSpPr/>
          <p:nvPr/>
        </p:nvSpPr>
        <p:spPr>
          <a:xfrm>
            <a:off x="11572875" y="6406991"/>
            <a:ext cx="104775" cy="134779"/>
          </a:xfrm>
          <a:prstGeom prst="rect">
            <a:avLst/>
          </a:prstGeom>
          <a:solidFill>
            <a:srgbClr val="FBFDF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Rectangle 258"/>
          <p:cNvSpPr/>
          <p:nvPr/>
        </p:nvSpPr>
        <p:spPr>
          <a:xfrm>
            <a:off x="11572875" y="1447800"/>
            <a:ext cx="104775" cy="5086350"/>
          </a:xfrm>
          <a:prstGeom prst="rect">
            <a:avLst/>
          </a:prstGeom>
          <a:noFill/>
          <a:ln w="6350">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0" name="TextBox 259"/>
          <p:cNvSpPr txBox="1"/>
          <p:nvPr/>
        </p:nvSpPr>
        <p:spPr>
          <a:xfrm>
            <a:off x="11687175" y="1381125"/>
            <a:ext cx="276225" cy="133350"/>
          </a:xfrm>
          <a:prstGeom prst="rect">
            <a:avLst/>
          </a:prstGeom>
          <a:noFill/>
        </p:spPr>
        <p:txBody>
          <a:bodyPr wrap="none" lIns="0" rIns="0" tIns="0" bIns="0" anchor="ctr">
            <a:spAutoFit/>
          </a:bodyPr>
          <a:lstStyle/>
          <a:p>
            <a:pPr algn="l"/>
            <a:r>
              <a:rPr sz="1100" b="0">
                <a:solidFill>
                  <a:srgbClr val="6C7A89"/>
                </a:solidFill>
                <a:latin typeface="Calibri"/>
              </a:rPr>
              <a:t>7%</a:t>
            </a:r>
          </a:p>
        </p:txBody>
      </p:sp>
      <p:sp>
        <p:nvSpPr>
          <p:cNvPr id="261" name="TextBox 260"/>
          <p:cNvSpPr txBox="1"/>
          <p:nvPr/>
        </p:nvSpPr>
        <p:spPr>
          <a:xfrm>
            <a:off x="11687175" y="3924300"/>
            <a:ext cx="276225" cy="133350"/>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262" name="TextBox 261"/>
          <p:cNvSpPr txBox="1"/>
          <p:nvPr/>
        </p:nvSpPr>
        <p:spPr>
          <a:xfrm>
            <a:off x="11687175" y="6467475"/>
            <a:ext cx="276225" cy="133350"/>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263" name="TextBox 2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37045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267525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380105"/>
            <a:ext cx="7124700" cy="253619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Principal Material / Barrier Technology</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Material Structure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Barrier Level Vs Application</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Germany</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Germany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1,204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1,852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3.4%</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-121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Germany's flexible plastic packaging market expands at 4.0% CAGR through 2036, trailing the Europe benchmark of 5.2% by 121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Germany holds 15.8% of the Europe flexible plastic packaging market in 2026; by 2036 that share moves to 14.1%.</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604.9 Thousand MT between 2026 and 2036 the Germany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Germany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4,288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7,547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3.8%</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5.4%</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-122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Germany's flexible plastic packaging market expands at 5.4% CAGR through 2036, trailing the Europe benchmark of 6.6% by 122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Germany holds 17.1% of the Europe flexible plastic packaging market in 2026; by 2036 that share moves to 15.3%.</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Germany is expected to account for US$ 7,547 Mn by 2036 at a CAGR of 5.4% over the forecast period. Germany is expected to create an incremental opportunity of US$ 3,259 Mn for the overall flexible plastic packaging market from 2025 to 2036. Germany grows at only 5.4% in value and 4.0% in volume because the market is mature and saturated, and light-weighting and strict packaging rules restrain tonnage. Value still outpaces volume as the average price rises from US$3,592 to US$4,075 per MT, reflecting mono-material redesign, recycled-content obligations and higher compliance and energy costs.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Germany's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4,480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2,341 US$ Mn (52% share), ahead of 'Premade Pouches &amp; Bags' (1,255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1,425 US$ Mn (32% share), ahead of 'PP-Based' (909.7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1,329 US$ Mn (30% share), ahead of 'Laminated Films' (1,164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1,492 US$ Mn (33% share), ahead of 'High-Barrier Films' (1,419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3,804 US$ Mn (85% share), ahead of 'Non-Food Packaging' (675.5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1,492 US$ Mn (33% share), ahead of 'High-Barrier Films' (1,419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1621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5050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3190875"/>
            <a:ext cx="8458200" cy="24574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Principal Material / Barrier Technology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Material Structure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Barrier Level Vs Application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Germany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Germany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Principal Material / Barrier Technology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Germany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Germany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Material Structure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Germany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Germany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Germany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Germany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Germany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Barrier Level Vs 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Germany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Germany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4,918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Germany</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Germany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Germany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Germany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U.K.</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U.K.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1,014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1,732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-22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U.K.'s flexible plastic packaging market expands at 5.0% CAGR through 2036, trailing the Europe benchmark of 5.2% by 22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U.K. holds 13.5% of the Europe flexible plastic packaging market in 2026; by 2036 that share moves to 13.2%.</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671.0 Thousand MT between 2026 and 2036 the U.K.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U.K.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3,519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6,843</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4.8%</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-26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U.K.'s flexible plastic packaging market expands at 6.3% CAGR through 2036, trailing the Europe benchmark of 6.6% by 26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U.K. holds 14.2% of the Europe flexible plastic packaging market in 2026; by 2036 that share moves to 13.9%.</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U.K. is expected to account for US$ 6,843 Mn by 2036 at a CAGR of 6.3% over the forecast period. The U.K. is expected to create an incremental opportunity of US$ 3,324 Mn for the overall flexible plastic packaging market from 2025 to 2036. The U.K. grows at 6.3% in value and 5.0% in volume, driven by strong online grocery, ready meals and food-to-go, which favour flexible formats, and by retailer-led recyclability commitments. Average price rises from US$3,500 to US$3,952 per MT, reflecting resin costs and extended producer responsibility fees, which lifts value faster than volume.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U.K.'s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3,713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1,940 US$ Mn (52% share), ahead of 'Premade Pouches &amp; Bags' (1,037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1,175 US$ Mn (32% share), ahead of 'PP-Based' (756.6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1,097 US$ Mn (30% share), ahead of 'Laminated Films' (957.8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1,242 US$ Mn (33% share), ahead of 'High-Barrier Films' (1,178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3,147 US$ Mn (85% share), ahead of 'Non-Food Packaging' (566.3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1,242 US$ Mn (33% share), ahead of 'High-Barrier Films' (1,178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U.K.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U.K.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U.K.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U.K.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volume and value growth by Principal Material / Barrier Technology,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volume and value growth by Principal Material / Barrier Technology,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U.K.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U.K.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U.K.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U.K.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U.K.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U.K.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U.K.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5,678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U.K.</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U.K.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U.K.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U.K.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France</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France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934.3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1,484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-90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France's flexible plastic packaging market expands at 4.3% CAGR through 2036, trailing the Europe benchmark of 5.2% by 90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France holds 12.3% of the Europe flexible plastic packaging market in 2026; by 2036 that share moves to 11.3%.</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513.0 Thousand MT between 2026 and 2036 the France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France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3,172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5,800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4.1%</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5.7%</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-84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France's flexible plastic packaging market expands at 5.7% CAGR through 2036, trailing the Europe benchmark of 6.6% by 84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France holds 12.7% of the Europe flexible plastic packaging market in 2026; by 2036 that share moves to 11.7%.</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France is expected to account for US$ 5,800 Mn by 2036 at a CAGR of 5.7% over the forecast period. France is expected to create an incremental opportunity of US$ 2,627 Mn for the overall flexible plastic packaging market from 2025 to 2036. France grows 5.7% in value and 4.3% in volume because it is a mature, highly regulated market where demand is steady rather than expanding. Recycled-content and EPR rules push converters toward mono-material and higher-spec structures, which lifts average price from US$3,423 to US$3,909 per MT and keeps value ahead of tonnage.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France's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3,322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1,820 US$ Mn (55% share), ahead of 'Premade Pouches &amp; Bags' (927.0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1,057 US$ Mn (32% share), ahead of 'PP-Based' (678.8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980.2 US$ Mn (30% share), ahead of 'Laminated Films' (859.6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1,104 US$ Mn (33% share), ahead of 'High-Barrier Films' (1,053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2,810 US$ Mn (85% share), ahead of 'Non-Food Packaging' (512.5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1,104 US$ Mn (33% share), ahead of 'High-Barrier Films' (1,053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France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France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France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France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France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France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France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France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France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France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France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5,800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France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France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France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France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Italy</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Italy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751.1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1,425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5.3%</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6.0%</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+79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Italy's flexible plastic packaging market expands at 6.0% CAGR through 2036, outpacing the Europe benchmark of 5.2% by 79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Italy holds 10.1% of the Europe flexible plastic packaging market in 2026; by 2036 that share moves to 10.9%.</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631.7 Thousand MT between 2026 and 2036 the Italy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Italy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2,379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5,176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5.7%</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7.4%</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+84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Italy's flexible plastic packaging market expands at 7.4% CAGR through 2036, outpacing the Europe benchmark of 6.6% by 84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Italy holds 9.7% of the Europe flexible plastic packaging market in 2026; by 2036 that share moves to 10.5%.</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Italy is expected to account for US$ 5,176 Mn by 2036 at a CAGR of 7.4% over the forecast period. Italy is expected to create an incremental opportunity of US$ 2,796 Mn for the overall flexible plastic packaging market from 2025 to 2036. Italy's value grows at 7.4% and volume at 6.0%, ahead of the 6.6% European average, supported by its large food-processing and export sector in pasta, cheese, cured meats, coffee and bakery goods. These categories depend on high-barrier pouches and films for shelf life. The gap between value and volume reflects premium mix, with average price rising from US$ 3,194 to US$ 3,633 per MT.</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Italy's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2,532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1,386 US$ Mn (55% share), ahead of 'Premade Pouches &amp; Bags' (704.2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797.5 US$ Mn (31% share), ahead of 'PP-Based' (516.7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750.6 US$ Mn (30% share), ahead of 'Laminated Films' (645.6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834.8 US$ Mn (33% share), ahead of 'High-Barrier Films' (791.0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2,139 US$ Mn (84% share), ahead of 'Non-Food Packaging' (393.6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834.8 US$ Mn (33% share), ahead of 'High-Barrier Films' (791.0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Italy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Italy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Italy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Italy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Italy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Italy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Italy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Italy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Italy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Italy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838.1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Italy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1,909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3,327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3,857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5,176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Italy</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Italy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Italy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Italy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Spain</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Spain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633.6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1,305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+162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Spain's flexible plastic packaging market expands at 6.9% CAGR through 2036, outpacing the Europe benchmark of 5.2% by 162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Spain holds 8.5% of the Europe flexible plastic packaging market in 2026; by 2036 that share moves to 9.9%.</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632.8 Thousand MT between 2026 and 2036 the Spain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Spain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1,933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4,511</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6.0%</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8.1%</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+155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Spain's flexible plastic packaging market expands at 8.1% CAGR through 2036, outpacing the Europe benchmark of 6.6% by 155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Spain holds 7.9% of the Europe flexible plastic packaging market in 2026; by 2036 that share moves to 9.1%.</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Spain is expected to account for US$ 4,511 Mn by 2036 at a CAGR of 8.1% over the forecast period. Spain is expected to create an incremental opportunity of US$ 2,578 Mn for the overall flexible plastic packaging market from 2025 to 2036. Spain grows at 8.1% in value and 6.9% in volume, among the fastest in Europe, as export-oriented fresh produce, meat and processed food, retail modernisation and e-commerce lift demand for barrier and shelf-life packaging. The value-volume gap reflects price and mix, with the average price rising from US$3,075 to US$3,458 per MT as high-barrier and recyclable structures spread.</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Spain's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2,066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1,130 US$ Mn (55% share), ahead of 'Premade Pouches &amp; Bags' (572.1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650.8 US$ Mn (31% share), ahead of 'PP-Based' (427.3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607.1 US$ Mn (29% share), ahead of 'Laminated Films' (530.1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680.4 US$ Mn (33% share), ahead of 'High-Barrier Films' (649.2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1,740 US$ Mn (84% share), ahead of 'Non-Food Packaging' (325.8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680.4 US$ Mn (33% share), ahead of 'High-Barrier Films' (649.2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Spain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Spain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Spain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Spain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1295400"/>
        </p:xfrm>
        <a:graphic>
          <a:graphicData uri="http://schemas.openxmlformats.org/drawingml/2006/table">
            <a:tbl>
              <a:tblPr>
                <a:tableStyleId>{5C22544A-7EE6-4342-B048-85BDC9FD1C3A}</a:tableStyleId>
              </a:tblPr>
              <a:tblGrid>
                <a:gridCol w="2563612"/>
                <a:gridCol w="595722"/>
                <a:gridCol w="595722"/>
                <a:gridCol w="595722"/>
                <a:gridCol w="595722"/>
                <a:gridCol w="595722"/>
                <a:gridCol w="595722"/>
                <a:gridCol w="595722"/>
                <a:gridCol w="595722"/>
                <a:gridCol w="595722"/>
                <a:gridCol w="595722"/>
                <a:gridCol w="673273"/>
                <a:gridCol w="673273"/>
                <a:gridCol w="673273"/>
                <a:gridCol w="673273"/>
                <a:gridCol w="673273"/>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Spain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Spain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492104"/>
                <a:gridCol w="600291"/>
                <a:gridCol w="600291"/>
                <a:gridCol w="600291"/>
                <a:gridCol w="600291"/>
                <a:gridCol w="600291"/>
                <a:gridCol w="600291"/>
                <a:gridCol w="600291"/>
                <a:gridCol w="600291"/>
                <a:gridCol w="600291"/>
                <a:gridCol w="600291"/>
                <a:gridCol w="678437"/>
                <a:gridCol w="678437"/>
                <a:gridCol w="678437"/>
                <a:gridCol w="678437"/>
                <a:gridCol w="678437"/>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Spain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Spain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Spain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Spain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812.1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998.2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Spain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1,819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3,545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Spain</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Spain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Spain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Spain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Belgium</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Belgium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211.6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318.5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3.8%</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-141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Belgium's flexible plastic packaging market expands at 3.8% CAGR through 2036, trailing the Europe benchmark of 5.2% by 141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Belgium holds 2.8% of the Europe flexible plastic packaging market in 2026; by 2036 that share moves to 2.4%.</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99.8 Thousand MT between 2026 and 2036 the Belgium market grows to 1.5×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Belgium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743.5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1,287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3.6%</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5.2%</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-137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Belgium's flexible plastic packaging market expands at 5.2% CAGR through 2036, trailing the Europe benchmark of 6.6% by 137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Belgium holds 3.0% of the Europe flexible plastic packaging market in 2026; by 2036 that share moves to 2.6%.</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Belgium is expected to account for US$ 1,287 Mn by 2036 at a CAGR of 5.2% over the forecast period. Belgium is expected to create an incremental opportunity of US$ 543.3 Mn for the overall flexible plastic packaging market from 2025 to 2036. Belgium grows at 5.2% in value and 3.8% in volume, among the slowest in Europe, because it is a small, saturated market with limited scope for new packaged food demand. Growth relies on its food processing, chocolate and pharma sectors and a gradual shift to recyclable structures. Average price rising from US$3,545 to US$4,040 per MT explains the value lead over volume.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Belgium's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775.2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423.0 US$ Mn (55% share), ahead of 'Premade Pouches &amp; Bags' (214.5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243.7 US$ Mn (31% share), ahead of 'PP-Based' (157.7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228.6 US$ Mn (29% share), ahead of 'Laminated Films' (197.6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257.0 US$ Mn (33% share), ahead of 'High-Barrier Films' (241.9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652.0 US$ Mn (84% share), ahead of 'Non-Food Packaging' (123.2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257.0 US$ Mn (33% share), ahead of 'High-Barrier Films' (241.9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Belgium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Belgium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Belgium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Belgium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Belgium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Belgium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Belgium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Belgium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Belgium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Belgium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263.0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273.6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Belgium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985.0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Belgium</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Belgium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Belgium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Belgium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Netherlands</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Netherlands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293.8</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568.8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6.3%</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+102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Netherlands's flexible plastic packaging market expands at 6.3% CAGR through 2036, outpacing the Europe benchmark of 5.2% by 102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Netherlands holds 3.9% of the Europe flexible plastic packaging market in 2026; by 2036 that share moves to 4.3%.</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258.9 Thousand MT between 2026 and 2036 the Netherlands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Netherlands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1,016</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2,280</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5.6%</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7.7%</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+118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Netherlands's flexible plastic packaging market expands at 7.7% CAGR through 2036, outpacing the Europe benchmark of 6.6% by 118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Netherlands holds 4.1% of the Europe flexible plastic packaging market in 2026; by 2036 that share moves to 4.6%.</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the Netherlands is expected to account for US$ 2,280 Mn by 2036 at a CAGR of 7.7% over the forecast period. The Netherlands is expected to create an incremental opportunity of US$ 1,264 Mn for the overall flexible plastic packaging market from 2025 to 2036. The Netherlands grows 7.7% in value and 6.3% in volume because its role as a fresh produce, dairy and food-export logistics hub, plus strong online grocery, sustains demand for barrier and modified-atmosphere flexible packs. Value outpaces volume as average price climbs from US$3,489 to US$4,009 per MT with the shift to higher-specification, recyclable structures.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Netherlands's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1,081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590.7 US$ Mn (55% share), ahead of 'Premade Pouches &amp; Bags' (312.9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341.6 US$ Mn (32% share), ahead of 'PP-Based' (220.1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318.3 US$ Mn (29% share), ahead of 'Laminated Films' (276.9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358.2 US$ Mn (33% share), ahead of 'High-Barrier Films' (353.5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907.8 US$ Mn (84% share), ahead of 'Non-Food Packaging' (173.7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358.2 US$ Mn (33% share), ahead of 'High-Barrier Films' (353.5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Netherlands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Netherlands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Principal Material / Barrier Technology: growth contribution, share variance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Principal Material / Barrier Technology: growth contribution, share variance and…</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Netherlands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Netherlands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5" cy="1295400"/>
        </p:xfrm>
        <a:graphic>
          <a:graphicData uri="http://schemas.openxmlformats.org/drawingml/2006/table">
            <a:tbl>
              <a:tblPr>
                <a:tableStyleId>{5C22544A-7EE6-4342-B048-85BDC9FD1C3A}</a:tableStyleId>
              </a:tblPr>
              <a:tblGrid>
                <a:gridCol w="2614787"/>
                <a:gridCol w="607614"/>
                <a:gridCol w="607614"/>
                <a:gridCol w="607614"/>
                <a:gridCol w="607614"/>
                <a:gridCol w="607614"/>
                <a:gridCol w="607614"/>
                <a:gridCol w="607614"/>
                <a:gridCol w="607614"/>
                <a:gridCol w="607614"/>
                <a:gridCol w="607614"/>
                <a:gridCol w="607614"/>
                <a:gridCol w="686713"/>
                <a:gridCol w="686713"/>
                <a:gridCol w="607614"/>
                <a:gridCol w="607614"/>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Netherlands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Netherlands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Netherlands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Netherlands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Netherlands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segmental analysis by Barrier Level Vs Application: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Netherlands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240.4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293.8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504.8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536.4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Netherlands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862.4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1,235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Netherlands</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Netherlands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Netherlands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Netherlands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Nordic</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Nordic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416.3</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749.2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4.7%</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+30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Nordic's flexible plastic packaging market expands at 5.5% CAGR through 2036, outpacing the Europe benchmark of 5.2% by 30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Nordic holds 5.5% of the Europe flexible plastic packaging market in 2026; by 2036 that share moves to 5.7%.</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312.1 Thousand MT between 2026 and 2036 the Nordic market grows to 1.7×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Nordic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1,537</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3,218</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5.1%</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7.0%</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+48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Nordic's flexible plastic packaging market expands at 7.0% CAGR through 2036, outpacing the Europe benchmark of 6.6% by 48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Nordic holds 6.2% of the Europe flexible plastic packaging market in 2026; by 2036 that share moves to 6.5%.</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Nordic is expected to account for US$ 3,218 Mn by 2036 at a CAGR of 7.0% over the forecast period. Nordic is expected to create an incremental opportunity of US$ 1,681 Mn for the overall flexible plastic packaging market from 2025 to 2036. The Nordic market grows at 7.0% in value and 5.5% in volume, above the 6.6% European rate in value, on strong sustainability policy that rewards recyclable mono-material and high-barrier packs, and on high spending on fresh fish, dairy and convenience food. Average price is the highest of the group, rising from US$ 3,726 to US$ 4,295 per MT, reflecting high costs and a premium mix.</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Nordic's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1,629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885.8 US$ Mn (54% share), ahead of 'Premade Pouches &amp; Bags' (471.9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504.2 US$ Mn (31% share), ahead of 'PP-Based' (333.1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480.7 US$ Mn (30% share), ahead of 'Laminated Films' (411.5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541.8 US$ Mn (33% share), ahead of 'High-Barrier Films' (531.4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1,365 US$ Mn (84% share), ahead of 'Non-Food Packaging' (263.4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541.8 US$ Mn (33% share), ahead of 'High-Barrier Films' (531.4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Nordic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Nordic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Nordic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Nordic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Nordic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Nordic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Nordic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Nordic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Nordic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Nordic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379.4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397.2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416.3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459.8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484.5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511.3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674.7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711.5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Nordic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1,459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1,537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2,607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Nordic</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Nordic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Nordic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Nordic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Switzerland</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Switzerland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172.9</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244.2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2.5%</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3.2%</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-200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Switzerland's flexible plastic packaging market expands at 3.2% CAGR through 2036, trailing the Europe benchmark of 5.2% by 200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Switzerland holds 2.3% of the Europe flexible plastic packaging market in 2026; by 2036 that share moves to 1.9%.</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66.7 Thousand MT between 2026 and 2036 the Switzerland market grows to 1.4×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Switzerland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669.2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1,096</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2.9%</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4.7%</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-188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Switzerland's flexible plastic packaging market expands at 4.7% CAGR through 2036, trailing the Europe benchmark of 6.6% by 188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Switzerland holds 2.7% of the Europe flexible plastic packaging market in 2026; by 2036 that share moves to 2.2%.</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Switzerland is expected to account for US$ 1,096 Mn by 2036 at a CAGR of 4.7% over the forecast period. Switzerland is expected to create an incremental opportunity of US$ 427.0 Mn for the overall flexible plastic packaging market from 2025 to 2036. Switzerland grows slowest at 4.7% in value and 3.2% in volume because it is a small, saturated market where demand is shaped by premium food, pharma and chocolate packaging rather than new volume. The wide value-volume gap comes from price and mix, with the average price rising from US$3,905 to US$4,488 per MT on high-spec barrier films and stringent quality standards.</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Switzerland's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693.2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375.5 US$ Mn (54% share), ahead of 'Premade Pouches &amp; Bags' (200.9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216.4 US$ Mn (31% share), ahead of 'PP-Based' (141.1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202.1 US$ Mn (29% share), ahead of 'Laminated Films' (176.3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228.4 US$ Mn (33% share), ahead of 'High-Barrier Films' (226.6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579.7 US$ Mn (84% share), ahead of 'Non-Food Packaging' (113.6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228.4 US$ Mn (33% share), ahead of 'High-Barrier Films' (226.6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Switzerland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Switzerland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Principal Material / Barrier Technology: growth contribution, share variance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Principal Material / Barrier Technology: growth contribution, share variance and…</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Switzerland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Switzerland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Switzerland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Switzerland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Switzerland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Switzerland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Switzerland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segmental analysis by Barrier Level Vs Application: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Switzerland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156.5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172.9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207.3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Switzerland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649.5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719.9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818.8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858.0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900.3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945.3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993.1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Switzerland</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Switzerland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Switzerland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Switzerland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Russia</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Russia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611.4</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1,012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3.8%</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4.7%</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-50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Russia's flexible plastic packaging market expands at 4.7% CAGR through 2036, trailing the Europe benchmark of 5.2% by 50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Russia holds 8.1% of the Europe flexible plastic packaging market in 2026; by 2036 that share moves to 7.7%.</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375.2 Thousand MT between 2026 and 2036 the Russia market grows to 1.6×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Russia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1,685</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3,212</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4.3%</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6.1%</a:t>
            </a:r>
          </a:p>
        </p:txBody>
      </p:sp>
      <p:sp>
        <p:nvSpPr>
          <p:cNvPr id="15" name="Rounded Rectangle 14"/>
          <p:cNvSpPr/>
          <p:nvPr/>
        </p:nvSpPr>
        <p:spPr>
          <a:xfrm>
            <a:off x="142875" y="16573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(US$ Mn), 2021–2036</a:t>
            </a:r>
          </a:p>
        </p:txBody>
      </p:sp>
      <p:graphicFrame>
        <p:nvGraphicFramePr>
          <p:cNvPr id="17" name="Chart 16"/>
          <p:cNvGraphicFramePr>
            <a:graphicFrameLocks noGrp="1"/>
          </p:cNvGraphicFramePr>
          <p:nvPr/>
        </p:nvGraphicFramePr>
        <p:xfrm>
          <a:off x="238125" y="1943100"/>
          <a:ext cx="4505325" cy="1162050"/>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162050"/>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-44 BPS</a:t>
            </a:r>
          </a:p>
          <a:p>
            <a:pPr algn="ctr"/>
            <a:r>
              <a:rPr sz="1100" b="0">
                <a:solidFill>
                  <a:srgbClr val="6C7A89"/>
                </a:solidFill>
                <a:latin typeface="Calibri"/>
              </a:rPr>
              <a:t>vs Europe benchmark</a:t>
            </a:r>
          </a:p>
          <a:p>
            <a:pPr algn="ctr"/>
            <a:r>
              <a:rPr sz="1100" b="1">
                <a:solidFill>
                  <a:srgbClr val="E44D3A"/>
                </a:solidFill>
                <a:latin typeface="Calibri"/>
              </a:rPr>
              <a:t>▼ below benchmark</a:t>
            </a:r>
          </a:p>
        </p:txBody>
      </p:sp>
      <p:sp>
        <p:nvSpPr>
          <p:cNvPr id="22" name="TextBox 21"/>
          <p:cNvSpPr txBox="1"/>
          <p:nvPr/>
        </p:nvSpPr>
        <p:spPr>
          <a:xfrm>
            <a:off x="8042910" y="2705100"/>
            <a:ext cx="3901440" cy="361950"/>
          </a:xfrm>
          <a:prstGeom prst="rect">
            <a:avLst/>
          </a:prstGeom>
          <a:noFill/>
        </p:spPr>
        <p:txBody>
          <a:bodyPr wrap="square" lIns="28575" rIns="28575" tIns="9525" bIns="9525" anchor="t">
            <a:spAutoFit/>
          </a:bodyPr>
          <a:lstStyle/>
          <a:p>
            <a:pPr algn="l"/>
            <a:r>
              <a:rPr sz="1100" b="0">
                <a:solidFill>
                  <a:srgbClr val="2E2E2E"/>
                </a:solidFill>
                <a:latin typeface="Calibri"/>
              </a:rPr>
              <a:t>Russia's flexible plastic packaging market expands at 6.1% CAGR through 2036, trailing the Europe benchmark of 6.6% by 44 BPS.</a:t>
            </a:r>
          </a:p>
        </p:txBody>
      </p:sp>
      <p:sp>
        <p:nvSpPr>
          <p:cNvPr id="23" name="Rounded Rectangle 22"/>
          <p:cNvSpPr/>
          <p:nvPr/>
        </p:nvSpPr>
        <p:spPr>
          <a:xfrm>
            <a:off x="142875" y="32956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3528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581400"/>
          <a:ext cx="4505325" cy="1162050"/>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2956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3528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Market Share, 2026</a:t>
            </a:r>
          </a:p>
        </p:txBody>
      </p:sp>
      <p:graphicFrame>
        <p:nvGraphicFramePr>
          <p:cNvPr id="28" name="Chart 27"/>
          <p:cNvGraphicFramePr>
            <a:graphicFrameLocks noGrp="1"/>
          </p:cNvGraphicFramePr>
          <p:nvPr/>
        </p:nvGraphicFramePr>
        <p:xfrm>
          <a:off x="5086350" y="3581400"/>
          <a:ext cx="6858000" cy="1162050"/>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Russia holds 6.8% of the Europe flexible plastic packaging market in 2026; by 2036 that share moves to 6.5%.</a:t>
            </a:r>
          </a:p>
        </p:txBody>
      </p:sp>
      <p:sp>
        <p:nvSpPr>
          <p:cNvPr id="30" name="Rounded Rectangle 29"/>
          <p:cNvSpPr/>
          <p:nvPr/>
        </p:nvSpPr>
        <p:spPr>
          <a:xfrm>
            <a:off x="6172200"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Russia is expected to account for US$ 3,212 Mn by 2036 at a CAGR of 6.1% over the forecast period. Russia is expected to create an incremental opportunity of US$ 1,527 Mn for the overall flexible plastic packaging market from 2025 to 2036. Russia grows at 6.1% in value and 4.7% in volume, supported by domestic food processing, import substitution and local converting capacity that has to replace imported film and equipment. Retail modernisation continues to lift packaged food demand. Average price rises from US$2,782 to US$3,173 per MT, among the lowest in Europe, but rising input costs push value ahead of volume.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Russia's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1,772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959.9 US$ Mn (54% share), ahead of 'Premade Pouches &amp; Bags' (510.3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552.4 US$ Mn (31% share), ahead of 'PP-Based' (355.2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520.4 US$ Mn (29% share), ahead of 'Laminated Films' (447.7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585.6 US$ Mn (33% share), ahead of 'High-Barrier Films' (570.4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1,480 US$ Mn (84% share), ahead of 'Non-Food Packaging' (292.3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585.6 US$ Mn (33% share), ahead of 'High-Barrier Films' (570.4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Russia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Russia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Russia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Russia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1.9%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Russia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Russia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Russia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Russia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Russia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Russia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526.2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566.1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637.0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665.0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695.6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728.7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764.3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883.1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925.5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968.6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Russia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1,546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1,974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2,360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2,672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3,023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3,212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Russia</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Russia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Russia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Russia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Poland</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Poland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401.0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792.5</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5.4%</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6.5%</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+123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Poland's flexible plastic packaging market expands at 6.5% CAGR through 2036, outpacing the Europe benchmark of 5.2% by 123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Poland holds 5.4% of the Europe flexible plastic packaging market in 2026; by 2036 that share moves to 6.0%.</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369.1 Thousand MT between 2026 and 2036 the Poland market grows to 1.9×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Poland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1,140</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2,584</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5.8%</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7.8%</a:t>
            </a:r>
          </a:p>
        </p:txBody>
      </p:sp>
      <p:sp>
        <p:nvSpPr>
          <p:cNvPr id="15" name="Rounded Rectangle 14"/>
          <p:cNvSpPr/>
          <p:nvPr/>
        </p:nvSpPr>
        <p:spPr>
          <a:xfrm>
            <a:off x="142875" y="1657350"/>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(US$ Mn), 2021–2036</a:t>
            </a:r>
          </a:p>
        </p:txBody>
      </p:sp>
      <p:graphicFrame>
        <p:nvGraphicFramePr>
          <p:cNvPr id="17" name="Chart 16"/>
          <p:cNvGraphicFramePr>
            <a:graphicFrameLocks noGrp="1"/>
          </p:cNvGraphicFramePr>
          <p:nvPr/>
        </p:nvGraphicFramePr>
        <p:xfrm>
          <a:off x="238125" y="1943100"/>
          <a:ext cx="4505325" cy="12477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2477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+127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447675"/>
          </a:xfrm>
          <a:prstGeom prst="rect">
            <a:avLst/>
          </a:prstGeom>
          <a:noFill/>
        </p:spPr>
        <p:txBody>
          <a:bodyPr wrap="square" lIns="28575" rIns="28575" tIns="9525" bIns="9525" anchor="t">
            <a:spAutoFit/>
          </a:bodyPr>
          <a:lstStyle/>
          <a:p>
            <a:pPr algn="l"/>
            <a:r>
              <a:rPr sz="1100" b="0">
                <a:solidFill>
                  <a:srgbClr val="2E2E2E"/>
                </a:solidFill>
                <a:latin typeface="Calibri"/>
              </a:rPr>
              <a:t>Poland's flexible plastic packaging market expands at 7.8% CAGR through 2036, outpacing the Europe benchmark of 6.6% by 127 BPS.</a:t>
            </a:r>
          </a:p>
        </p:txBody>
      </p:sp>
      <p:sp>
        <p:nvSpPr>
          <p:cNvPr id="23" name="Rounded Rectangle 22"/>
          <p:cNvSpPr/>
          <p:nvPr/>
        </p:nvSpPr>
        <p:spPr>
          <a:xfrm>
            <a:off x="142875" y="3381375"/>
            <a:ext cx="4695825"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4385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667125"/>
          <a:ext cx="4505325" cy="12477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381375"/>
            <a:ext cx="7048500" cy="1590675"/>
          </a:xfrm>
          <a:prstGeom prst="roundRect">
            <a:avLst>
              <a:gd name="adj" fmla="val 47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4385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Market Share, 2026</a:t>
            </a:r>
          </a:p>
        </p:txBody>
      </p:sp>
      <p:graphicFrame>
        <p:nvGraphicFramePr>
          <p:cNvPr id="28" name="Chart 27"/>
          <p:cNvGraphicFramePr>
            <a:graphicFrameLocks noGrp="1"/>
          </p:cNvGraphicFramePr>
          <p:nvPr/>
        </p:nvGraphicFramePr>
        <p:xfrm>
          <a:off x="5086350" y="3667125"/>
          <a:ext cx="6858000" cy="12477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Poland holds 4.6% of the Europe flexible plastic packaging market in 2026; by 2036 that share moves to 5.2%.</a:t>
            </a:r>
          </a:p>
        </p:txBody>
      </p:sp>
      <p:sp>
        <p:nvSpPr>
          <p:cNvPr id="30" name="Rounded Rectangle 29"/>
          <p:cNvSpPr/>
          <p:nvPr/>
        </p:nvSpPr>
        <p:spPr>
          <a:xfrm>
            <a:off x="6172200" y="5105400"/>
            <a:ext cx="5876925" cy="1514475"/>
          </a:xfrm>
          <a:prstGeom prst="roundRect">
            <a:avLst>
              <a:gd name="adj" fmla="val 50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Poland is expected to account for US$ 2,584 Mn by 2036 at a CAGR of 7.8% over the forecast period. Poland is expected to create an incremental opportunity of US$ 1,444 Mn for the overall flexible plastic packaging market from 2025 to 2036. Poland grows 7.8% in value and 6.5% in volume, the fastest in this group, as food processing, contract packing and retail modernisation expand on a lower base. Rising incomes lift packaged-food consumption, and rising demand for barrier and pouch formats pushes average price from US$2,868 to US$3,260 per MT, so value runs ahead of volume.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Poland's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1,214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656.0 US$ Mn (54% share), ahead of 'Premade Pouches &amp; Bags' (349.0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376.2 US$ Mn (31% share), ahead of 'PP-Based' (246.0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352.6 US$ Mn (29% share), ahead of 'Laminated Films' (306.5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401.8 US$ Mn (33% share), ahead of 'High-Barrier Films' (394.6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1,012 US$ Mn (83% share), ahead of 'Non-Food Packaging' (202.7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401.8 US$ Mn (33% share), ahead of 'High-Barrier Films' (394.6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Poland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Poland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Principal Material / Barrier Technology: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Principal Material / Barrier Technology: growth contribution, share variance and absolute $…</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Poland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Poland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volume and value growth by Principal Material / Barrier Technology, highlighting acceleration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volume and value growth by Principal Material / Barrier Technology, highlighting acceleration and…</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Poland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Poland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9" cy="3667121"/>
        </p:xfrm>
        <a:graphic>
          <a:graphicData uri="http://schemas.openxmlformats.org/drawingml/2006/table">
            <a:tbl>
              <a:tblPr>
                <a:tableStyleId>{5C22544A-7EE6-4342-B048-85BDC9FD1C3A}</a:tableStyleId>
              </a:tblPr>
              <a:tblGrid>
                <a:gridCol w="2492104"/>
                <a:gridCol w="600291"/>
                <a:gridCol w="600291"/>
                <a:gridCol w="600291"/>
                <a:gridCol w="600291"/>
                <a:gridCol w="600291"/>
                <a:gridCol w="600291"/>
                <a:gridCol w="600291"/>
                <a:gridCol w="600291"/>
                <a:gridCol w="600291"/>
                <a:gridCol w="600291"/>
                <a:gridCol w="678437"/>
                <a:gridCol w="678437"/>
                <a:gridCol w="678437"/>
                <a:gridCol w="678437"/>
                <a:gridCol w="678437"/>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10.3%</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Poland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Poland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Poland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segmental analysis by Barrier Level Vs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Poland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325.2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342.7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361.1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380.5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423.4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447.9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505.1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538.5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575.0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614.4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656.2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700.1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792.5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6.5%</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Poland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961.3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1,017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1,077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1,140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1,214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1,297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1,493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1,610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1,885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2,042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2,211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2,584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Poland</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Poland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Poland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Poland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8.0%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TextBox 2"/>
          <p:cNvSpPr txBox="1"/>
          <p:nvPr/>
        </p:nvSpPr>
        <p:spPr>
          <a:xfrm>
            <a:off x="762000" y="2857500"/>
            <a:ext cx="10668000" cy="1238250"/>
          </a:xfrm>
          <a:prstGeom prst="rect">
            <a:avLst/>
          </a:prstGeom>
          <a:noFill/>
        </p:spPr>
        <p:txBody>
          <a:bodyPr wrap="square" lIns="28575" rIns="28575" tIns="9525" bIns="9525">
            <a:spAutoFit/>
          </a:bodyPr>
          <a:lstStyle/>
          <a:p>
            <a:pPr algn="l"/>
            <a:r>
              <a:rPr sz="3400" b="1">
                <a:solidFill>
                  <a:srgbClr val="FFFFFF"/>
                </a:solidFill>
                <a:latin typeface="Calibri"/>
              </a:rPr>
              <a:t>Rest of Europe</a:t>
            </a:r>
          </a:p>
          <a:p>
            <a:pPr algn="l"/>
            <a:r>
              <a:rPr sz="1600" b="0">
                <a:solidFill>
                  <a:srgbClr val="C9DCEE"/>
                </a:solidFill>
                <a:latin typeface="Calibri"/>
              </a:rPr>
              <a:t>Flexible Plastic Packaging Market Country</a:t>
            </a:r>
          </a:p>
        </p:txBody>
      </p:sp>
      <p:sp>
        <p:nvSpPr>
          <p:cNvPr id="4" name="TextBox 3"/>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4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Volume Overview (Thousand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Europe market in volume: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(THOUSAND MT)</a:t>
            </a:r>
          </a:p>
          <a:p>
            <a:pPr algn="ctr">
              <a:lnSpc>
                <a:spcPct val="95000"/>
              </a:lnSpc>
            </a:pPr>
            <a:r>
              <a:rPr sz="1500" b="1">
                <a:solidFill>
                  <a:srgbClr val="0E72AE"/>
                </a:solidFill>
                <a:latin typeface="Calibri"/>
              </a:rPr>
              <a:t>887.1</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(THOUSAND MT)</a:t>
            </a:r>
          </a:p>
          <a:p>
            <a:pPr algn="ctr">
              <a:lnSpc>
                <a:spcPct val="95000"/>
              </a:lnSpc>
            </a:pPr>
            <a:r>
              <a:rPr sz="1500" b="1">
                <a:solidFill>
                  <a:srgbClr val="0E72AE"/>
                </a:solidFill>
                <a:latin typeface="Calibri"/>
              </a:rPr>
              <a:t>1,647</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4.6%</a:t>
            </a:r>
          </a:p>
        </p:txBody>
      </p:sp>
      <p:sp>
        <p:nvSpPr>
          <p:cNvPr id="14" name="Rounded Rectangle 13"/>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5.9%</a:t>
            </a:r>
          </a:p>
        </p:txBody>
      </p:sp>
      <p:sp>
        <p:nvSpPr>
          <p:cNvPr id="15" name="Rounded Rectangle 14"/>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(Thousand MT), 2021–2036</a:t>
            </a:r>
          </a:p>
        </p:txBody>
      </p:sp>
      <p:graphicFrame>
        <p:nvGraphicFramePr>
          <p:cNvPr id="17" name="Chart 16"/>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1" name="TextBox 20"/>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+63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Rest of Europe's flexible plastic packaging market expands at 5.9% CAGR through 2036, outpacing the Europe benchmark of 5.2% by 63 BPS.</a:t>
            </a:r>
          </a:p>
        </p:txBody>
      </p:sp>
      <p:sp>
        <p:nvSpPr>
          <p:cNvPr id="23" name="Rounded Rectangle 22"/>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(Thousand MT)</a:t>
            </a:r>
          </a:p>
        </p:txBody>
      </p:sp>
      <p:graphicFrame>
        <p:nvGraphicFramePr>
          <p:cNvPr id="25" name="Chart 24"/>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Market Share, 2026</a:t>
            </a:r>
          </a:p>
        </p:txBody>
      </p:sp>
      <p:graphicFrame>
        <p:nvGraphicFramePr>
          <p:cNvPr id="28" name="Chart 27"/>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Europe holds 11.8% of the Europe flexible plastic packaging market in 2026; by 2036 that share moves to 12.5%.</a:t>
            </a:r>
          </a:p>
        </p:txBody>
      </p:sp>
      <p:sp>
        <p:nvSpPr>
          <p:cNvPr id="30" name="Rounded Rectangle 29"/>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forecast build-up adds 715.5 Thousand MT between 2026 and 2036 the Rest of Europe market grows to 1.8× its 2026 size over the decade.</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Rest of Europe market in value: size, growth, YoY momentum and gap to the Europe benchmark</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2,702</a:t>
            </a:r>
          </a:p>
          <a:p>
            <a:pPr algn="ctr">
              <a:lnSpc>
                <a:spcPct val="95000"/>
              </a:lnSpc>
            </a:pPr>
            <a:r>
              <a:rPr sz="1100" b="0">
                <a:solidFill>
                  <a:srgbClr val="6C7A89"/>
                </a:solidFill>
                <a:latin typeface="Calibri"/>
              </a:rPr>
              <a:t>estimate year</a:t>
            </a:r>
          </a:p>
        </p:txBody>
      </p:sp>
      <p:sp>
        <p:nvSpPr>
          <p:cNvPr id="12" name="Rounded Rectangle 11"/>
          <p:cNvSpPr/>
          <p:nvPr/>
        </p:nvSpPr>
        <p:spPr>
          <a:xfrm>
            <a:off x="31527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5,839</a:t>
            </a:r>
          </a:p>
          <a:p>
            <a:pPr algn="ctr">
              <a:lnSpc>
                <a:spcPct val="95000"/>
              </a:lnSpc>
            </a:pPr>
            <a:r>
              <a:rPr sz="1100" b="0">
                <a:solidFill>
                  <a:srgbClr val="6C7A89"/>
                </a:solidFill>
                <a:latin typeface="Calibri"/>
              </a:rPr>
              <a:t>forecast horizon</a:t>
            </a:r>
          </a:p>
        </p:txBody>
      </p:sp>
      <p:sp>
        <p:nvSpPr>
          <p:cNvPr id="13" name="Rounded Rectangle 12"/>
          <p:cNvSpPr/>
          <p:nvPr/>
        </p:nvSpPr>
        <p:spPr>
          <a:xfrm>
            <a:off x="61626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5.0%</a:t>
            </a:r>
          </a:p>
        </p:txBody>
      </p:sp>
      <p:sp>
        <p:nvSpPr>
          <p:cNvPr id="14" name="Rounded Rectangle 13"/>
          <p:cNvSpPr/>
          <p:nvPr/>
        </p:nvSpPr>
        <p:spPr>
          <a:xfrm>
            <a:off x="9172575" y="981075"/>
            <a:ext cx="2857500" cy="5429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7.4%</a:t>
            </a:r>
          </a:p>
        </p:txBody>
      </p:sp>
      <p:sp>
        <p:nvSpPr>
          <p:cNvPr id="15" name="Rounded Rectangle 14"/>
          <p:cNvSpPr/>
          <p:nvPr/>
        </p:nvSpPr>
        <p:spPr>
          <a:xfrm>
            <a:off x="142875" y="16573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17145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(US$ Mn), 2021–2036</a:t>
            </a:r>
          </a:p>
        </p:txBody>
      </p:sp>
      <p:graphicFrame>
        <p:nvGraphicFramePr>
          <p:cNvPr id="17" name="Chart 16"/>
          <p:cNvGraphicFramePr>
            <a:graphicFrameLocks noGrp="1"/>
          </p:cNvGraphicFramePr>
          <p:nvPr/>
        </p:nvGraphicFramePr>
        <p:xfrm>
          <a:off x="238125" y="1943100"/>
          <a:ext cx="4505325" cy="1162050"/>
        </p:xfrm>
        <a:graphic>
          <a:graphicData uri="http://schemas.openxmlformats.org/drawingml/2006/chart">
            <c:chart xmlns:c="http://schemas.openxmlformats.org/drawingml/2006/chart" r:id="rId3"/>
          </a:graphicData>
        </a:graphic>
      </p:graphicFrame>
      <p:sp>
        <p:nvSpPr>
          <p:cNvPr id="18" name="Rounded Rectangle 17"/>
          <p:cNvSpPr/>
          <p:nvPr/>
        </p:nvSpPr>
        <p:spPr>
          <a:xfrm>
            <a:off x="4991100" y="16573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5086350" y="17145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20" name="Chart 19"/>
          <p:cNvGraphicFramePr>
            <a:graphicFrameLocks noGrp="1"/>
          </p:cNvGraphicFramePr>
          <p:nvPr/>
        </p:nvGraphicFramePr>
        <p:xfrm>
          <a:off x="5086350" y="1943100"/>
          <a:ext cx="2880360" cy="1162050"/>
        </p:xfrm>
        <a:graphic>
          <a:graphicData uri="http://schemas.openxmlformats.org/drawingml/2006/chart">
            <c:chart xmlns:c="http://schemas.openxmlformats.org/drawingml/2006/chart" r:id="rId4"/>
          </a:graphicData>
        </a:graphic>
      </p:graphicFrame>
      <p:sp>
        <p:nvSpPr>
          <p:cNvPr id="21" name="TextBox 20"/>
          <p:cNvSpPr txBox="1"/>
          <p:nvPr/>
        </p:nvSpPr>
        <p:spPr>
          <a:xfrm>
            <a:off x="8042910" y="1962150"/>
            <a:ext cx="3901440" cy="704850"/>
          </a:xfrm>
          <a:prstGeom prst="rect">
            <a:avLst/>
          </a:prstGeom>
          <a:noFill/>
        </p:spPr>
        <p:txBody>
          <a:bodyPr wrap="square" lIns="28575" rIns="28575" tIns="9525" bIns="9525">
            <a:spAutoFit/>
          </a:bodyPr>
          <a:lstStyle/>
          <a:p>
            <a:pPr algn="ctr"/>
            <a:r>
              <a:rPr sz="2200" b="1">
                <a:solidFill>
                  <a:srgbClr val="008189"/>
                </a:solidFill>
                <a:latin typeface="Calibri"/>
              </a:rPr>
              <a:t>+82 BPS</a:t>
            </a:r>
          </a:p>
          <a:p>
            <a:pPr algn="ctr"/>
            <a:r>
              <a:rPr sz="1100" b="0">
                <a:solidFill>
                  <a:srgbClr val="6C7A89"/>
                </a:solidFill>
                <a:latin typeface="Calibri"/>
              </a:rPr>
              <a:t>vs Europe benchmark</a:t>
            </a:r>
          </a:p>
          <a:p>
            <a:pPr algn="ctr"/>
            <a:r>
              <a:rPr sz="1100" b="1">
                <a:solidFill>
                  <a:srgbClr val="2E7D32"/>
                </a:solidFill>
                <a:latin typeface="Calibri"/>
              </a:rPr>
              <a:t>▲ above benchmark</a:t>
            </a:r>
          </a:p>
        </p:txBody>
      </p:sp>
      <p:sp>
        <p:nvSpPr>
          <p:cNvPr id="22" name="TextBox 21"/>
          <p:cNvSpPr txBox="1"/>
          <p:nvPr/>
        </p:nvSpPr>
        <p:spPr>
          <a:xfrm>
            <a:off x="8042910" y="2705100"/>
            <a:ext cx="3901440" cy="361950"/>
          </a:xfrm>
          <a:prstGeom prst="rect">
            <a:avLst/>
          </a:prstGeom>
          <a:noFill/>
        </p:spPr>
        <p:txBody>
          <a:bodyPr wrap="square" lIns="28575" rIns="28575" tIns="9525" bIns="9525" anchor="t">
            <a:spAutoFit/>
          </a:bodyPr>
          <a:lstStyle/>
          <a:p>
            <a:pPr algn="l"/>
            <a:r>
              <a:rPr sz="1100" b="0">
                <a:solidFill>
                  <a:srgbClr val="2E2E2E"/>
                </a:solidFill>
                <a:latin typeface="Calibri"/>
              </a:rPr>
              <a:t>Rest of Europe's flexible plastic packaging market expands at 7.4% CAGR through 2036, outpacing the Europe benchmark of 6.6% by 82 BPS.</a:t>
            </a:r>
          </a:p>
        </p:txBody>
      </p:sp>
      <p:sp>
        <p:nvSpPr>
          <p:cNvPr id="23" name="Rounded Rectangle 22"/>
          <p:cNvSpPr/>
          <p:nvPr/>
        </p:nvSpPr>
        <p:spPr>
          <a:xfrm>
            <a:off x="142875" y="3295650"/>
            <a:ext cx="4695825"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335280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5" name="Chart 24"/>
          <p:cNvGraphicFramePr>
            <a:graphicFrameLocks noGrp="1"/>
          </p:cNvGraphicFramePr>
          <p:nvPr/>
        </p:nvGraphicFramePr>
        <p:xfrm>
          <a:off x="238125" y="3581400"/>
          <a:ext cx="4505325" cy="1162050"/>
        </p:xfrm>
        <a:graphic>
          <a:graphicData uri="http://schemas.openxmlformats.org/drawingml/2006/chart">
            <c:chart xmlns:c="http://schemas.openxmlformats.org/drawingml/2006/chart" r:id="rId5"/>
          </a:graphicData>
        </a:graphic>
      </p:graphicFrame>
      <p:sp>
        <p:nvSpPr>
          <p:cNvPr id="26" name="Rounded Rectangle 25"/>
          <p:cNvSpPr/>
          <p:nvPr/>
        </p:nvSpPr>
        <p:spPr>
          <a:xfrm>
            <a:off x="4991100" y="3295650"/>
            <a:ext cx="7048500" cy="1504950"/>
          </a:xfrm>
          <a:prstGeom prst="roundRect">
            <a:avLst>
              <a:gd name="adj" fmla="val 506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5086350" y="335280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Market Share, 2026</a:t>
            </a:r>
          </a:p>
        </p:txBody>
      </p:sp>
      <p:graphicFrame>
        <p:nvGraphicFramePr>
          <p:cNvPr id="28" name="Chart 27"/>
          <p:cNvGraphicFramePr>
            <a:graphicFrameLocks noGrp="1"/>
          </p:cNvGraphicFramePr>
          <p:nvPr/>
        </p:nvGraphicFramePr>
        <p:xfrm>
          <a:off x="5086350" y="3581400"/>
          <a:ext cx="6858000" cy="1162050"/>
        </p:xfrm>
        <a:graphic>
          <a:graphicData uri="http://schemas.openxmlformats.org/drawingml/2006/chart">
            <c:chart xmlns:c="http://schemas.openxmlformats.org/drawingml/2006/chart" r:id="rId6"/>
          </a:graphicData>
        </a:graphic>
      </p:graphicFrame>
      <p:sp>
        <p:nvSpPr>
          <p:cNvPr id="29" name="Rounded Rectangle 28"/>
          <p:cNvSpPr/>
          <p:nvPr/>
        </p:nvSpPr>
        <p:spPr>
          <a:xfrm>
            <a:off x="142875"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Rest of Europe holds 11.0% of the Europe flexible plastic packaging market in 2026; by 2036 that share moves to 11.8%.</a:t>
            </a:r>
          </a:p>
        </p:txBody>
      </p:sp>
      <p:sp>
        <p:nvSpPr>
          <p:cNvPr id="30" name="Rounded Rectangle 29"/>
          <p:cNvSpPr/>
          <p:nvPr/>
        </p:nvSpPr>
        <p:spPr>
          <a:xfrm>
            <a:off x="6172200" y="4933950"/>
            <a:ext cx="5876925"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market in Rest of Europe is expected to account for US$ 5,839 Mn by 2036 at a CAGR of 7.4% over the forecast period. Rest of Europe is expected to create an incremental opportunity of US$ 3,137 Mn for the overall flexible plastic packaging market from 2025 to 2036. Rest of Europe grows at 7.4% in value and 5.9% in volume, faster than the 6.6% regional average, because smaller Central, Eastern and Southern markets are still modernising retail, expanding food processing and adopting packaged convenience food. Foreign investment in local converting capacity also adds supply. The value-volume gap reflects a mix shift, lifting average price from US$ 3,074 to US$ 3,546 per MT.</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Key Segments Overview, By Value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Rest of Europe's key segments by value, highlighting the leading sub-segment of every segmentation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3" name="Chart 12"/>
          <p:cNvGraphicFramePr>
            <a:graphicFrameLocks noGrp="1"/>
          </p:cNvGraphicFramePr>
          <p:nvPr/>
        </p:nvGraphicFramePr>
        <p:xfrm>
          <a:off x="238125" y="1266825"/>
          <a:ext cx="2667000" cy="1352550"/>
        </p:xfrm>
        <a:graphic>
          <a:graphicData uri="http://schemas.openxmlformats.org/drawingml/2006/chart">
            <c:chart xmlns:c="http://schemas.openxmlformats.org/drawingml/2006/chart" r:id="rId3"/>
          </a:graphicData>
        </a:graphic>
      </p:graphicFrame>
      <p:sp>
        <p:nvSpPr>
          <p:cNvPr id="14" name="Rounded Rectangle 13"/>
          <p:cNvSpPr/>
          <p:nvPr/>
        </p:nvSpPr>
        <p:spPr>
          <a:xfrm>
            <a:off x="31527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3248025" y="1038225"/>
            <a:ext cx="26670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Principal Material / Barrier Technology  (US$ Mn)</a:t>
            </a:r>
          </a:p>
        </p:txBody>
      </p:sp>
      <p:graphicFrame>
        <p:nvGraphicFramePr>
          <p:cNvPr id="16" name="Chart 15"/>
          <p:cNvGraphicFramePr>
            <a:graphicFrameLocks noGrp="1"/>
          </p:cNvGraphicFramePr>
          <p:nvPr/>
        </p:nvGraphicFramePr>
        <p:xfrm>
          <a:off x="3248025" y="1438275"/>
          <a:ext cx="2667000" cy="1181100"/>
        </p:xfrm>
        <a:graphic>
          <a:graphicData uri="http://schemas.openxmlformats.org/drawingml/2006/chart">
            <c:chart xmlns:c="http://schemas.openxmlformats.org/drawingml/2006/chart" r:id="rId4"/>
          </a:graphicData>
        </a:graphic>
      </p:graphicFrame>
      <p:sp>
        <p:nvSpPr>
          <p:cNvPr id="17" name="Rounded Rectangle 16"/>
          <p:cNvSpPr/>
          <p:nvPr/>
        </p:nvSpPr>
        <p:spPr>
          <a:xfrm>
            <a:off x="61626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Material Structure  (US$ Mn)</a:t>
            </a:r>
          </a:p>
        </p:txBody>
      </p:sp>
      <p:graphicFrame>
        <p:nvGraphicFramePr>
          <p:cNvPr id="19" name="Chart 18"/>
          <p:cNvGraphicFramePr>
            <a:graphicFrameLocks noGrp="1"/>
          </p:cNvGraphicFramePr>
          <p:nvPr/>
        </p:nvGraphicFramePr>
        <p:xfrm>
          <a:off x="6257925" y="1266825"/>
          <a:ext cx="2667000" cy="1352550"/>
        </p:xfrm>
        <a:graphic>
          <a:graphicData uri="http://schemas.openxmlformats.org/drawingml/2006/chart">
            <c:chart xmlns:c="http://schemas.openxmlformats.org/drawingml/2006/chart" r:id="rId5"/>
          </a:graphicData>
        </a:graphic>
      </p:graphicFrame>
      <p:sp>
        <p:nvSpPr>
          <p:cNvPr id="20" name="Rounded Rectangle 19"/>
          <p:cNvSpPr/>
          <p:nvPr/>
        </p:nvSpPr>
        <p:spPr>
          <a:xfrm>
            <a:off x="9172575" y="981075"/>
            <a:ext cx="28575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(US$ Mn)</a:t>
            </a:r>
          </a:p>
        </p:txBody>
      </p:sp>
      <p:graphicFrame>
        <p:nvGraphicFramePr>
          <p:cNvPr id="22" name="Chart 21"/>
          <p:cNvGraphicFramePr>
            <a:graphicFrameLocks noGrp="1"/>
          </p:cNvGraphicFramePr>
          <p:nvPr/>
        </p:nvGraphicFramePr>
        <p:xfrm>
          <a:off x="9267825" y="1266825"/>
          <a:ext cx="2667000" cy="1352550"/>
        </p:xfrm>
        <a:graphic>
          <a:graphicData uri="http://schemas.openxmlformats.org/drawingml/2006/chart">
            <c:chart xmlns:c="http://schemas.openxmlformats.org/drawingml/2006/chart" r:id="rId6"/>
          </a:graphicData>
        </a:graphic>
      </p:graphicFrame>
      <p:sp>
        <p:nvSpPr>
          <p:cNvPr id="23" name="Rounded Rectangle 22"/>
          <p:cNvSpPr/>
          <p:nvPr/>
        </p:nvSpPr>
        <p:spPr>
          <a:xfrm>
            <a:off x="1428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38125" y="2867025"/>
            <a:ext cx="27432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25" name="Chart 24"/>
          <p:cNvGraphicFramePr>
            <a:graphicFrameLocks noGrp="1"/>
          </p:cNvGraphicFramePr>
          <p:nvPr/>
        </p:nvGraphicFramePr>
        <p:xfrm>
          <a:off x="238125" y="3095625"/>
          <a:ext cx="2743200" cy="1352550"/>
        </p:xfrm>
        <a:graphic>
          <a:graphicData uri="http://schemas.openxmlformats.org/drawingml/2006/chart">
            <c:chart xmlns:c="http://schemas.openxmlformats.org/drawingml/2006/chart" r:id="rId7"/>
          </a:graphicData>
        </a:graphic>
      </p:graphicFrame>
      <p:sp>
        <p:nvSpPr>
          <p:cNvPr id="26" name="Rounded Rectangle 25"/>
          <p:cNvSpPr/>
          <p:nvPr/>
        </p:nvSpPr>
        <p:spPr>
          <a:xfrm>
            <a:off x="3228975" y="2809875"/>
            <a:ext cx="2933700" cy="1695450"/>
          </a:xfrm>
          <a:prstGeom prst="roundRect">
            <a:avLst>
              <a:gd name="adj" fmla="val 449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3324225" y="2867025"/>
            <a:ext cx="274320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Barrier Level Vs Application  (US$ Mn)</a:t>
            </a:r>
          </a:p>
        </p:txBody>
      </p:sp>
      <p:graphicFrame>
        <p:nvGraphicFramePr>
          <p:cNvPr id="28" name="Chart 27"/>
          <p:cNvGraphicFramePr>
            <a:graphicFrameLocks noGrp="1"/>
          </p:cNvGraphicFramePr>
          <p:nvPr/>
        </p:nvGraphicFramePr>
        <p:xfrm>
          <a:off x="3324225" y="3267075"/>
          <a:ext cx="2743200" cy="1181100"/>
        </p:xfrm>
        <a:graphic>
          <a:graphicData uri="http://schemas.openxmlformats.org/drawingml/2006/chart">
            <c:chart xmlns:c="http://schemas.openxmlformats.org/drawingml/2006/chart" r:id="rId8"/>
          </a:graphicData>
        </a:graphic>
      </p:graphicFrame>
      <p:sp>
        <p:nvSpPr>
          <p:cNvPr id="29" name="Rounded Rectangle 28"/>
          <p:cNvSpPr/>
          <p:nvPr/>
        </p:nvSpPr>
        <p:spPr>
          <a:xfrm>
            <a:off x="142875" y="46386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472440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  ·  2026 Total: 2,863 US$ Mn</a:t>
            </a:r>
          </a:p>
        </p:txBody>
      </p:sp>
      <p:sp>
        <p:nvSpPr>
          <p:cNvPr id="31" name="Rectangle 30"/>
          <p:cNvSpPr/>
          <p:nvPr/>
        </p:nvSpPr>
        <p:spPr>
          <a:xfrm>
            <a:off x="276225" y="49625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76225" y="5048250"/>
            <a:ext cx="11639550" cy="149542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Product Type, 'Rollstock Films' leads at 1,539 US$ Mn (54% share), ahead of 'Premade Pouches &amp; Bags' (824.9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Principal Material / Barrier Technology, 'PE-Based' leads at 888.3 US$ Mn (31% share), ahead of 'PP-Based' (574.8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Material Structure, 'Coextruded Multilayer Films' leads at 832.5 US$ Mn (29% share), ahead of 'Laminated Films' (722.9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'Medium-Barrier Films' leads at 945.0 US$ Mn (33% share), ahead of 'High-Barrier Films' (932.1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Application, 'Food Packaging' leads at 2,380 US$ Mn (83% share), ahead of 'Non-Food Packaging' (482.6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By Barrier Level Vs Application, 'Medium-Barrier Films' leads at 945.0 US$ Mn (33% share), ahead of 'High-Barrier Films' (932.1 US$ Mn).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Use the Country slicer in the top band to switch country the selection stays synced across every page of the report.</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Product Type: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Product Type</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723248"/>
                <a:gridCol w="1033657"/>
                <a:gridCol w="1033657"/>
                <a:gridCol w="1033657"/>
                <a:gridCol w="1033657"/>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53.7%</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Tables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Europe market by Product Type,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By Product Type (Thousand MT)</a:t>
            </a:r>
          </a:p>
        </p:txBody>
      </p:sp>
      <p:graphicFrame>
        <p:nvGraphicFramePr>
          <p:cNvPr id="13" name="Table 12"/>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Tables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Europe market by Product Type, 2021–2036</a:t>
            </a:r>
          </a:p>
        </p:txBody>
      </p:sp>
      <p:sp>
        <p:nvSpPr>
          <p:cNvPr id="10" name="Rounded Rectangle 9"/>
          <p:cNvSpPr/>
          <p:nvPr/>
        </p:nvSpPr>
        <p:spPr>
          <a:xfrm>
            <a:off x="142875" y="981075"/>
            <a:ext cx="11906250" cy="5210175"/>
          </a:xfrm>
          <a:prstGeom prst="roundRect">
            <a:avLst>
              <a:gd name="adj" fmla="val 14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Product Type (US$ Mn)</a:t>
            </a:r>
          </a:p>
        </p:txBody>
      </p:sp>
      <p:graphicFrame>
        <p:nvGraphicFramePr>
          <p:cNvPr id="12" name="Table 11"/>
          <p:cNvGraphicFramePr>
            <a:graphicFrameLocks noGrp="1"/>
          </p:cNvGraphicFramePr>
          <p:nvPr/>
        </p:nvGraphicFramePr>
        <p:xfrm>
          <a:off x="152400" y="1238250"/>
          <a:ext cx="11887205" cy="4743453"/>
        </p:xfrm>
        <a:graphic>
          <a:graphicData uri="http://schemas.openxmlformats.org/drawingml/2006/table">
            <a:tbl>
              <a:tblPr>
                <a:tableStyleId>{5C22544A-7EE6-4342-B048-85BDC9FD1C3A}</a:tableStyleId>
              </a:tblPr>
              <a:tblGrid>
                <a:gridCol w="2046024"/>
                <a:gridCol w="578893"/>
                <a:gridCol w="578893"/>
                <a:gridCol w="578893"/>
                <a:gridCol w="578893"/>
                <a:gridCol w="578893"/>
                <a:gridCol w="578893"/>
                <a:gridCol w="578893"/>
                <a:gridCol w="578893"/>
                <a:gridCol w="578893"/>
                <a:gridCol w="578893"/>
                <a:gridCol w="578893"/>
                <a:gridCol w="578893"/>
                <a:gridCol w="578893"/>
                <a:gridCol w="578893"/>
                <a:gridCol w="578893"/>
                <a:gridCol w="578893"/>
                <a:gridCol w="578893"/>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628">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628">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62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991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Product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volume and value growth by Product Type,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Product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volume and value growth by Product Type, highlighting acceleration and slowdown</a:t>
            </a:r>
          </a:p>
        </p:txBody>
      </p:sp>
      <p:sp>
        <p:nvSpPr>
          <p:cNvPr id="10" name="Rounded Rectangle 9"/>
          <p:cNvSpPr/>
          <p:nvPr/>
        </p:nvSpPr>
        <p:spPr>
          <a:xfrm>
            <a:off x="142875" y="981075"/>
            <a:ext cx="11906250" cy="4991100"/>
          </a:xfrm>
          <a:prstGeom prst="roundRect">
            <a:avLst>
              <a:gd name="adj" fmla="val 15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Product Type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2" cy="4524385"/>
        </p:xfrm>
        <a:graphic>
          <a:graphicData uri="http://schemas.openxmlformats.org/drawingml/2006/table">
            <a:tbl>
              <a:tblPr>
                <a:tableStyleId>{5C22544A-7EE6-4342-B048-85BDC9FD1C3A}</a:tableStyleId>
              </a:tblPr>
              <a:tblGrid>
                <a:gridCol w="2228852"/>
                <a:gridCol w="643890"/>
                <a:gridCol w="643890"/>
                <a:gridCol w="643890"/>
                <a:gridCol w="643890"/>
                <a:gridCol w="643890"/>
                <a:gridCol w="643890"/>
                <a:gridCol w="643890"/>
                <a:gridCol w="643890"/>
                <a:gridCol w="643890"/>
                <a:gridCol w="643890"/>
                <a:gridCol w="643890"/>
                <a:gridCol w="643890"/>
                <a:gridCol w="643890"/>
                <a:gridCol w="643890"/>
                <a:gridCol w="643890"/>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56">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Lidding &amp; Tray-Sealing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Thermoforming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Vacuum Skin Packaging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HFFS / Flow-Pack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VFFS Rollstock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Shrink &amp; Overwrap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Non-Shrink Casings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Casings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Other Specialty Casings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Vacuum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Shrink Bags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Stand-Up Pouches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Flat Pouches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Retort Pouches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r>
              <a:tr h="215456">
                <a:tc>
                  <a:txBody>
                    <a:bodyPr wrap="none"/>
                    <a:lstStyle/>
                    <a:p>
                      <a:pPr algn="l"/>
                      <a:r>
                        <a:rPr sz="1100" b="1">
                          <a:solidFill>
                            <a:srgbClr val="2E2E2E"/>
                          </a:solidFill>
                          <a:latin typeface="Calibri"/>
                        </a:rPr>
                        <a:t>– Sachets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r>
              <a:tr h="215456">
                <a:tc>
                  <a:txBody>
                    <a:bodyPr wrap="none"/>
                    <a:lstStyle/>
                    <a:p>
                      <a:pPr algn="l"/>
                      <a:r>
                        <a:rPr sz="1100" b="1">
                          <a:solidFill>
                            <a:srgbClr val="2E2E2E"/>
                          </a:solidFill>
                          <a:latin typeface="Calibri"/>
                        </a:rPr>
                        <a:t>– Stick Packs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772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Segmental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Principal Material / Barrier Technology: growth contribution, share variance and…</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Principal Material / Barrier Technology (US$ Mn)</a:t>
            </a:r>
          </a:p>
        </p:txBody>
      </p:sp>
      <p:graphicFrame>
        <p:nvGraphicFramePr>
          <p:cNvPr id="13" name="Chart 12"/>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Principal Material / Barrier Technology</a:t>
            </a:r>
          </a:p>
        </p:txBody>
      </p:sp>
      <p:graphicFrame>
        <p:nvGraphicFramePr>
          <p:cNvPr id="16" name="Table 15"/>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Segmental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Principal Material / Barrier Technology: growth contribution, share variance and…</a:t>
            </a:r>
          </a:p>
        </p:txBody>
      </p:sp>
      <p:sp>
        <p:nvSpPr>
          <p:cNvPr id="10" name="Rounded Rectangle 9"/>
          <p:cNvSpPr/>
          <p:nvPr/>
        </p:nvSpPr>
        <p:spPr>
          <a:xfrm>
            <a:off x="142875"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Principal Material / Barrier Technology (US$ Mn), between 2026–2036</a:t>
            </a:r>
          </a:p>
        </p:txBody>
      </p:sp>
      <p:graphicFrame>
        <p:nvGraphicFramePr>
          <p:cNvPr id="12" name="Chart 11"/>
          <p:cNvGraphicFramePr>
            <a:graphicFrameLocks noGrp="1"/>
          </p:cNvGraphicFramePr>
          <p:nvPr/>
        </p:nvGraphicFramePr>
        <p:xfrm>
          <a:off x="238125" y="1438275"/>
          <a:ext cx="5686425" cy="25431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Principal Material / Barrier Technology</a:t>
            </a:r>
          </a:p>
        </p:txBody>
      </p:sp>
      <p:graphicFrame>
        <p:nvGraphicFramePr>
          <p:cNvPr id="15" name="Table 14"/>
          <p:cNvGraphicFramePr>
            <a:graphicFrameLocks noGrp="1"/>
          </p:cNvGraphicFramePr>
          <p:nvPr/>
        </p:nvGraphicFramePr>
        <p:xfrm>
          <a:off x="6181725" y="1238250"/>
          <a:ext cx="5857875" cy="2590803"/>
        </p:xfrm>
        <a:graphic>
          <a:graphicData uri="http://schemas.openxmlformats.org/drawingml/2006/table">
            <a:tbl>
              <a:tblPr>
                <a:tableStyleId>{5C22544A-7EE6-4342-B048-85BDC9FD1C3A}</a:tableStyleId>
              </a:tblPr>
              <a:tblGrid>
                <a:gridCol w="2584723"/>
                <a:gridCol w="822859"/>
                <a:gridCol w="822859"/>
                <a:gridCol w="1039183"/>
                <a:gridCol w="588251"/>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8385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Tables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Europe market by Principal Material / Barrier Technology,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By Principal Material / Barrier Technology (Thousand MT)</a:t>
            </a:r>
          </a:p>
        </p:txBody>
      </p:sp>
      <p:graphicFrame>
        <p:nvGraphicFramePr>
          <p:cNvPr id="13" name="Table 12"/>
          <p:cNvGraphicFramePr>
            <a:graphicFrameLocks noGrp="1"/>
          </p:cNvGraphicFramePr>
          <p:nvPr/>
        </p:nvGraphicFramePr>
        <p:xfrm>
          <a:off x="152400" y="1238250"/>
          <a:ext cx="11887205" cy="2800353"/>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Principal Material / Barrier Technology (US$ Mn)</a:t>
            </a:r>
          </a:p>
        </p:txBody>
      </p:sp>
      <p:graphicFrame>
        <p:nvGraphicFramePr>
          <p:cNvPr id="17" name="Table 16"/>
          <p:cNvGraphicFramePr>
            <a:graphicFrameLocks noGrp="1"/>
          </p:cNvGraphicFramePr>
          <p:nvPr/>
        </p:nvGraphicFramePr>
        <p:xfrm>
          <a:off x="152400" y="4638675"/>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1626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Tables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Europe market by Principal Material / Barrier Technology, 2021–2036</a:t>
            </a:r>
          </a:p>
        </p:txBody>
      </p:sp>
      <p:sp>
        <p:nvSpPr>
          <p:cNvPr id="10" name="Rounded Rectangle 9"/>
          <p:cNvSpPr/>
          <p:nvPr/>
        </p:nvSpPr>
        <p:spPr>
          <a:xfrm>
            <a:off x="142875" y="9810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Principal Material / Barrier Technology (US$ Mn)</a:t>
            </a:r>
          </a:p>
        </p:txBody>
      </p:sp>
      <p:graphicFrame>
        <p:nvGraphicFramePr>
          <p:cNvPr id="12" name="Table 11"/>
          <p:cNvGraphicFramePr>
            <a:graphicFrameLocks noGrp="1"/>
          </p:cNvGraphicFramePr>
          <p:nvPr/>
        </p:nvGraphicFramePr>
        <p:xfrm>
          <a:off x="152400" y="1238250"/>
          <a:ext cx="11887205" cy="1514475"/>
        </p:xfrm>
        <a:graphic>
          <a:graphicData uri="http://schemas.openxmlformats.org/drawingml/2006/table">
            <a:tbl>
              <a:tblPr>
                <a:tableStyleId>{5C22544A-7EE6-4342-B048-85BDC9FD1C3A}</a:tableStyleId>
              </a:tblPr>
              <a:tblGrid>
                <a:gridCol w="2441410"/>
                <a:gridCol w="555635"/>
                <a:gridCol w="555635"/>
                <a:gridCol w="555635"/>
                <a:gridCol w="555635"/>
                <a:gridCol w="555635"/>
                <a:gridCol w="555635"/>
                <a:gridCol w="555635"/>
                <a:gridCol w="555635"/>
                <a:gridCol w="555635"/>
                <a:gridCol w="555635"/>
                <a:gridCol w="555635"/>
                <a:gridCol w="555635"/>
                <a:gridCol w="555635"/>
                <a:gridCol w="555635"/>
                <a:gridCol w="555635"/>
                <a:gridCol w="555635"/>
                <a:gridCol w="55563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762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Principal Material / Barrier Technology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volume and value growth by Principal Material / Barrier Technology, highlighting acceleration…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3057525"/>
          </a:xfrm>
          <a:prstGeom prst="roundRect">
            <a:avLst>
              <a:gd name="adj" fmla="val 24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5" cy="2590803"/>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958">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r>
              <a:tr h="215958">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958">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385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171950"/>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2291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429125"/>
          <a:ext cx="11887205" cy="1514475"/>
        </p:xfrm>
        <a:graphic>
          <a:graphicData uri="http://schemas.openxmlformats.org/drawingml/2006/table">
            <a:tbl>
              <a:tblPr>
                <a:tableStyleId>{5C22544A-7EE6-4342-B048-85BDC9FD1C3A}</a:tableStyleId>
              </a:tblPr>
              <a:tblGrid>
                <a:gridCol w="2650055"/>
                <a:gridCol w="615810"/>
                <a:gridCol w="615810"/>
                <a:gridCol w="615810"/>
                <a:gridCol w="615810"/>
                <a:gridCol w="615810"/>
                <a:gridCol w="615810"/>
                <a:gridCol w="615810"/>
                <a:gridCol w="615810"/>
                <a:gridCol w="615810"/>
                <a:gridCol w="615810"/>
                <a:gridCol w="615810"/>
                <a:gridCol w="615810"/>
                <a:gridCol w="615810"/>
                <a:gridCol w="615810"/>
                <a:gridCol w="615810"/>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PE-Based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PP-Based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PET-Based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PA-Based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EVOH-Based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PVDC-Based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5953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Principal Material / Barrier Technology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volume and value growth by Principal Material / Barrier Technology, highlighting acceleration…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Principal Material / Barrier Technology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632303"/>
                <a:gridCol w="611685"/>
                <a:gridCol w="611685"/>
                <a:gridCol w="611685"/>
                <a:gridCol w="611685"/>
                <a:gridCol w="611685"/>
                <a:gridCol w="611685"/>
                <a:gridCol w="611685"/>
                <a:gridCol w="611685"/>
                <a:gridCol w="611685"/>
                <a:gridCol w="611685"/>
                <a:gridCol w="611685"/>
                <a:gridCol w="611685"/>
                <a:gridCol w="691313"/>
                <a:gridCol w="611685"/>
                <a:gridCol w="611685"/>
              </a:tblGrid>
              <a:tr h="215265">
                <a:tc>
                  <a:txBody>
                    <a:bodyPr wrap="none"/>
                    <a:lstStyle/>
                    <a:p>
                      <a:pPr algn="l"/>
                      <a:r>
                        <a:rPr sz="1100" b="1">
                          <a:solidFill>
                            <a:srgbClr val="0B2E4A"/>
                          </a:solidFill>
                          <a:latin typeface="Calibri"/>
                        </a:rPr>
                        <a:t>Principal Material / Barrier Technology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PVOH-Based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Metallized Barrier</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AlOx / SiOx-Coated</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Aluminum Foil-Based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Other Specialty Barrier Technologies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10.0%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Segmental Analysis Material Structure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Material Structure: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Material Structure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Material Structure</a:t>
            </a:r>
          </a:p>
        </p:txBody>
      </p:sp>
      <p:graphicFrame>
        <p:nvGraphicFramePr>
          <p:cNvPr id="16" name="Table 15"/>
          <p:cNvGraphicFramePr>
            <a:graphicFrameLocks noGrp="1"/>
          </p:cNvGraphicFramePr>
          <p:nvPr/>
        </p:nvGraphicFramePr>
        <p:xfrm>
          <a:off x="6181725" y="1238250"/>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Material Structure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Material Structure</a:t>
            </a:r>
          </a:p>
        </p:txBody>
      </p:sp>
      <p:graphicFrame>
        <p:nvGraphicFramePr>
          <p:cNvPr id="23" name="Table 22"/>
          <p:cNvGraphicFramePr>
            <a:graphicFrameLocks noGrp="1"/>
          </p:cNvGraphicFramePr>
          <p:nvPr/>
        </p:nvGraphicFramePr>
        <p:xfrm>
          <a:off x="6181725" y="4124325"/>
          <a:ext cx="5857875" cy="2285998"/>
        </p:xfrm>
        <a:graphic>
          <a:graphicData uri="http://schemas.openxmlformats.org/drawingml/2006/table">
            <a:tbl>
              <a:tblPr>
                <a:tableStyleId>{5C22544A-7EE6-4342-B048-85BDC9FD1C3A}</a:tableStyleId>
              </a:tblPr>
              <a:tblGrid>
                <a:gridCol w="2532946"/>
                <a:gridCol w="835876"/>
                <a:gridCol w="835876"/>
                <a:gridCol w="1055621"/>
                <a:gridCol w="597556"/>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95819">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Laminated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95819">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95819">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Tables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Europe market by Material Structure,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By Material Structure (Thousand MT)</a:t>
            </a:r>
          </a:p>
        </p:txBody>
      </p:sp>
      <p:graphicFrame>
        <p:nvGraphicFramePr>
          <p:cNvPr id="13" name="Table 12"/>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Tables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Europe market by Material Structure, 2021–2036</a:t>
            </a:r>
          </a:p>
        </p:txBody>
      </p:sp>
      <p:sp>
        <p:nvSpPr>
          <p:cNvPr id="10" name="Rounded Rectangle 9"/>
          <p:cNvSpPr/>
          <p:nvPr/>
        </p:nvSpPr>
        <p:spPr>
          <a:xfrm>
            <a:off x="142875" y="981075"/>
            <a:ext cx="11906250" cy="4343400"/>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Material Structure (US$ Mn)</a:t>
            </a:r>
          </a:p>
        </p:txBody>
      </p:sp>
      <p:graphicFrame>
        <p:nvGraphicFramePr>
          <p:cNvPr id="12" name="Table 11"/>
          <p:cNvGraphicFramePr>
            <a:graphicFrameLocks noGrp="1"/>
          </p:cNvGraphicFramePr>
          <p:nvPr/>
        </p:nvGraphicFramePr>
        <p:xfrm>
          <a:off x="152400" y="1238250"/>
          <a:ext cx="11887208" cy="3876674"/>
        </p:xfrm>
        <a:graphic>
          <a:graphicData uri="http://schemas.openxmlformats.org/drawingml/2006/table">
            <a:tbl>
              <a:tblPr>
                <a:tableStyleId>{5C22544A-7EE6-4342-B048-85BDC9FD1C3A}</a:tableStyleId>
              </a:tblPr>
              <a:tblGrid>
                <a:gridCol w="2372444"/>
                <a:gridCol w="559692"/>
                <a:gridCol w="559692"/>
                <a:gridCol w="559692"/>
                <a:gridCol w="559692"/>
                <a:gridCol w="559692"/>
                <a:gridCol w="559692"/>
                <a:gridCol w="559692"/>
                <a:gridCol w="559692"/>
                <a:gridCol w="559692"/>
                <a:gridCol w="559692"/>
                <a:gridCol w="559692"/>
                <a:gridCol w="559692"/>
                <a:gridCol w="559692"/>
                <a:gridCol w="559692"/>
                <a:gridCol w="559692"/>
                <a:gridCol w="559692"/>
                <a:gridCol w="559692"/>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377">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15377">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a:t>
                      </a:r>
                      <a:endParaRPr sz="1100"/>
                    </a:p>
                  </a:txBody>
                  <a:tcPr marL="47625" marR="38100" marT="19050" marB="19050" anchor="ctr">
                    <a:solidFill>
                      <a:srgbClr val="F5F8FA"/>
                    </a:solidFill>
                  </a:tcPr>
                </a:tc>
              </a:tr>
              <a:tr h="21537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124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Material Structure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volume and value growth by Material Structure,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Material Structure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volume and value growth by Material Structure, highlighting acceleration and slowdown</a:t>
            </a:r>
          </a:p>
        </p:txBody>
      </p:sp>
      <p:sp>
        <p:nvSpPr>
          <p:cNvPr id="10" name="Rounded Rectangle 9"/>
          <p:cNvSpPr/>
          <p:nvPr/>
        </p:nvSpPr>
        <p:spPr>
          <a:xfrm>
            <a:off x="142875" y="981075"/>
            <a:ext cx="11906250" cy="413385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Material Structure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197" cy="3667121"/>
        </p:xfrm>
        <a:graphic>
          <a:graphicData uri="http://schemas.openxmlformats.org/drawingml/2006/table">
            <a:tbl>
              <a:tblPr>
                <a:tableStyleId>{5C22544A-7EE6-4342-B048-85BDC9FD1C3A}</a:tableStyleId>
              </a:tblPr>
              <a:tblGrid>
                <a:gridCol w="2576802"/>
                <a:gridCol w="620693"/>
                <a:gridCol w="620693"/>
                <a:gridCol w="620693"/>
                <a:gridCol w="620693"/>
                <a:gridCol w="620693"/>
                <a:gridCol w="620693"/>
                <a:gridCol w="620693"/>
                <a:gridCol w="620693"/>
                <a:gridCol w="620693"/>
                <a:gridCol w="620693"/>
                <a:gridCol w="620693"/>
                <a:gridCol w="620693"/>
                <a:gridCol w="620693"/>
                <a:gridCol w="620693"/>
                <a:gridCol w="620693"/>
              </a:tblGrid>
              <a:tr h="215265">
                <a:tc>
                  <a:txBody>
                    <a:bodyPr wrap="none"/>
                    <a:lstStyle/>
                    <a:p>
                      <a:pPr algn="l"/>
                      <a:r>
                        <a:rPr sz="1100" b="1">
                          <a:solidFill>
                            <a:srgbClr val="0B2E4A"/>
                          </a:solidFill>
                          <a:latin typeface="Calibri"/>
                        </a:rPr>
                        <a:t>Material Structure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741">
                <a:tc>
                  <a:txBody>
                    <a:bodyPr wrap="none"/>
                    <a:lstStyle/>
                    <a:p>
                      <a:pPr algn="l"/>
                      <a:r>
                        <a:rPr sz="1100" b="1">
                          <a:solidFill>
                            <a:srgbClr val="2E2E2E"/>
                          </a:solidFill>
                          <a:latin typeface="Calibri"/>
                        </a:rPr>
                        <a:t>Monolayer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Coextruded Multilayer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3–5 Layer</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7 Layer</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9 Layer and Above</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Laminated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Duplex</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Triplex</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Multi-Ply</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Coated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Metallized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Foil-Laminated Structures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Mono-Material Recyclable Structures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PE-Based</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r>
              <a:tr h="215741">
                <a:tc>
                  <a:txBody>
                    <a:bodyPr wrap="none"/>
                    <a:lstStyle/>
                    <a:p>
                      <a:pPr algn="l"/>
                      <a:r>
                        <a:rPr sz="1100" b="1">
                          <a:solidFill>
                            <a:srgbClr val="2E2E2E"/>
                          </a:solidFill>
                          <a:latin typeface="Calibri"/>
                        </a:rPr>
                        <a:t>– PP-Based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FFFFF"/>
                    </a:solidFill>
                  </a:tcPr>
                </a:tc>
              </a:tr>
              <a:tr h="215741">
                <a:tc>
                  <a:txBody>
                    <a:bodyPr wrap="none"/>
                    <a:lstStyle/>
                    <a:p>
                      <a:pPr algn="l"/>
                      <a:r>
                        <a:rPr sz="1100" b="1">
                          <a:solidFill>
                            <a:srgbClr val="2E2E2E"/>
                          </a:solidFill>
                          <a:latin typeface="Calibri"/>
                        </a:rPr>
                        <a:t>– PET-Based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914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Segmental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Barrier Level: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a:t>
            </a:r>
          </a:p>
        </p:txBody>
      </p:sp>
      <p:graphicFrame>
        <p:nvGraphicFramePr>
          <p:cNvPr id="16" name="Table 15"/>
          <p:cNvGraphicFramePr>
            <a:graphicFrameLocks noGrp="1"/>
          </p:cNvGraphicFramePr>
          <p:nvPr/>
        </p:nvGraphicFramePr>
        <p:xfrm>
          <a:off x="6181725" y="1238250"/>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a:t>
            </a:r>
          </a:p>
        </p:txBody>
      </p:sp>
      <p:graphicFrame>
        <p:nvGraphicFramePr>
          <p:cNvPr id="23" name="Table 22"/>
          <p:cNvGraphicFramePr>
            <a:graphicFrameLocks noGrp="1"/>
          </p:cNvGraphicFramePr>
          <p:nvPr/>
        </p:nvGraphicFramePr>
        <p:xfrm>
          <a:off x="6181725" y="4124325"/>
          <a:ext cx="5857876" cy="2286001"/>
        </p:xfrm>
        <a:graphic>
          <a:graphicData uri="http://schemas.openxmlformats.org/drawingml/2006/table">
            <a:tbl>
              <a:tblPr>
                <a:tableStyleId>{5C22544A-7EE6-4342-B048-85BDC9FD1C3A}</a:tableStyleId>
              </a:tblPr>
              <a:tblGrid>
                <a:gridCol w="1643040"/>
                <a:gridCol w="1053709"/>
                <a:gridCol w="1053709"/>
                <a:gridCol w="1053709"/>
                <a:gridCol w="1053709"/>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Tables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Europe market by Barrier Level,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By Barrier Level (Thousand MT)</a:t>
            </a:r>
          </a:p>
        </p:txBody>
      </p:sp>
      <p:graphicFrame>
        <p:nvGraphicFramePr>
          <p:cNvPr id="13" name="Table 12"/>
          <p:cNvGraphicFramePr>
            <a:graphicFrameLocks noGrp="1"/>
          </p:cNvGraphicFramePr>
          <p:nvPr/>
        </p:nvGraphicFramePr>
        <p:xfrm>
          <a:off x="152400" y="1238250"/>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Barrier Level (US$ Mn)</a:t>
            </a:r>
          </a:p>
        </p:txBody>
      </p:sp>
      <p:graphicFrame>
        <p:nvGraphicFramePr>
          <p:cNvPr id="17" name="Table 16"/>
          <p:cNvGraphicFramePr>
            <a:graphicFrameLocks noGrp="1"/>
          </p:cNvGraphicFramePr>
          <p:nvPr/>
        </p:nvGraphicFramePr>
        <p:xfrm>
          <a:off x="152400" y="3133725"/>
          <a:ext cx="11887205" cy="1295400"/>
        </p:xfrm>
        <a:graphic>
          <a:graphicData uri="http://schemas.openxmlformats.org/drawingml/2006/table">
            <a:tbl>
              <a:tblPr>
                <a:tableStyleId>{5C22544A-7EE6-4342-B048-85BDC9FD1C3A}</a:tableStyleId>
              </a:tblPr>
              <a:tblGrid>
                <a:gridCol w="1657557"/>
                <a:gridCol w="601744"/>
                <a:gridCol w="601744"/>
                <a:gridCol w="601744"/>
                <a:gridCol w="601744"/>
                <a:gridCol w="601744"/>
                <a:gridCol w="601744"/>
                <a:gridCol w="601744"/>
                <a:gridCol w="601744"/>
                <a:gridCol w="601744"/>
                <a:gridCol w="601744"/>
                <a:gridCol w="601744"/>
                <a:gridCol w="601744"/>
                <a:gridCol w="601744"/>
                <a:gridCol w="601744"/>
                <a:gridCol w="601744"/>
                <a:gridCol w="601744"/>
                <a:gridCol w="601744"/>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8" name="TextBox 17"/>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Barrier Level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volume and value growth by Barrier Level,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2324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2657475"/>
            <a:ext cx="11906250" cy="1543050"/>
          </a:xfrm>
          <a:prstGeom prst="roundRect">
            <a:avLst>
              <a:gd name="adj" fmla="val 493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27146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Barrier Level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2914650"/>
          <a:ext cx="11887203" cy="1076325"/>
        </p:xfrm>
        <a:graphic>
          <a:graphicData uri="http://schemas.openxmlformats.org/drawingml/2006/table">
            <a:tbl>
              <a:tblPr>
                <a:tableStyleId>{5C22544A-7EE6-4342-B048-85BDC9FD1C3A}</a:tableStyleId>
              </a:tblPr>
              <a:tblGrid>
                <a:gridCol w="1812063"/>
                <a:gridCol w="671676"/>
                <a:gridCol w="671676"/>
                <a:gridCol w="671676"/>
                <a:gridCol w="671676"/>
                <a:gridCol w="671676"/>
                <a:gridCol w="671676"/>
                <a:gridCol w="671676"/>
                <a:gridCol w="671676"/>
                <a:gridCol w="671676"/>
                <a:gridCol w="671676"/>
                <a:gridCol w="671676"/>
                <a:gridCol w="671676"/>
                <a:gridCol w="671676"/>
                <a:gridCol w="671676"/>
                <a:gridCol w="671676"/>
              </a:tblGrid>
              <a:tr h="215265">
                <a:tc>
                  <a:txBody>
                    <a:bodyPr wrap="none"/>
                    <a:lstStyle/>
                    <a:p>
                      <a:pPr algn="l"/>
                      <a:r>
                        <a:rPr sz="1100" b="1">
                          <a:solidFill>
                            <a:srgbClr val="0B2E4A"/>
                          </a:solidFill>
                          <a:latin typeface="Calibri"/>
                        </a:rPr>
                        <a:t>Barrier Level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26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26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26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4000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Application: growth contribution, share variance and absolute $ opportunity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6" name="Table 15"/>
          <p:cNvGraphicFramePr>
            <a:graphicFrameLocks noGrp="1"/>
          </p:cNvGraphicFramePr>
          <p:nvPr/>
        </p:nvGraphicFramePr>
        <p:xfrm>
          <a:off x="6181725" y="1238250"/>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20" name="Chart 19"/>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Application</a:t>
            </a:r>
          </a:p>
        </p:txBody>
      </p:sp>
      <p:graphicFrame>
        <p:nvGraphicFramePr>
          <p:cNvPr id="23" name="Table 22"/>
          <p:cNvGraphicFramePr>
            <a:graphicFrameLocks noGrp="1"/>
          </p:cNvGraphicFramePr>
          <p:nvPr/>
        </p:nvGraphicFramePr>
        <p:xfrm>
          <a:off x="6181725" y="4124325"/>
          <a:ext cx="5857874" cy="2285999"/>
        </p:xfrm>
        <a:graphic>
          <a:graphicData uri="http://schemas.openxmlformats.org/drawingml/2006/table">
            <a:tbl>
              <a:tblPr>
                <a:tableStyleId>{5C22544A-7EE6-4342-B048-85BDC9FD1C3A}</a:tableStyleId>
              </a:tblPr>
              <a:tblGrid>
                <a:gridCol w="1489282"/>
                <a:gridCol w="1092148"/>
                <a:gridCol w="1092148"/>
                <a:gridCol w="1092148"/>
                <a:gridCol w="1092148"/>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1035367">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83.2%</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1035367">
                <a:tc>
                  <a:txBody>
                    <a:bodyPr wrap="none"/>
                    <a:lstStyle/>
                    <a:p>
                      <a:pPr algn="l"/>
                      <a:r>
                        <a:rPr sz="1100" b="1">
                          <a:solidFill>
                            <a:srgbClr val="2E2E2E"/>
                          </a:solidFill>
                          <a:latin typeface="Calibri"/>
                        </a:rPr>
                        <a:t>Non-Food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Tables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Europe market by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By Application (Thousand MT)</a:t>
            </a:r>
          </a:p>
        </p:txBody>
      </p:sp>
      <p:graphicFrame>
        <p:nvGraphicFramePr>
          <p:cNvPr id="13" name="Table 12"/>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86.3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Tables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Europe market by Application, 2021–2036</a:t>
            </a:r>
          </a:p>
        </p:txBody>
      </p:sp>
      <p:sp>
        <p:nvSpPr>
          <p:cNvPr id="10" name="Rounded Rectangle 9"/>
          <p:cNvSpPr/>
          <p:nvPr/>
        </p:nvSpPr>
        <p:spPr>
          <a:xfrm>
            <a:off x="142875" y="981075"/>
            <a:ext cx="11906250" cy="4610100"/>
          </a:xfrm>
          <a:prstGeom prst="roundRect">
            <a:avLst>
              <a:gd name="adj" fmla="val 16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Application (US$ Mn)</a:t>
            </a:r>
          </a:p>
        </p:txBody>
      </p:sp>
      <p:graphicFrame>
        <p:nvGraphicFramePr>
          <p:cNvPr id="12" name="Table 11"/>
          <p:cNvGraphicFramePr>
            <a:graphicFrameLocks noGrp="1"/>
          </p:cNvGraphicFramePr>
          <p:nvPr/>
        </p:nvGraphicFramePr>
        <p:xfrm>
          <a:off x="152400" y="1238250"/>
          <a:ext cx="11887203" cy="4143370"/>
        </p:xfrm>
        <a:graphic>
          <a:graphicData uri="http://schemas.openxmlformats.org/drawingml/2006/table">
            <a:tbl>
              <a:tblPr>
                <a:tableStyleId>{5C22544A-7EE6-4342-B048-85BDC9FD1C3A}</a:tableStyleId>
              </a:tblPr>
              <a:tblGrid>
                <a:gridCol w="2318549"/>
                <a:gridCol w="562862"/>
                <a:gridCol w="562862"/>
                <a:gridCol w="562862"/>
                <a:gridCol w="562862"/>
                <a:gridCol w="562862"/>
                <a:gridCol w="562862"/>
                <a:gridCol w="562862"/>
                <a:gridCol w="562862"/>
                <a:gridCol w="562862"/>
                <a:gridCol w="562862"/>
                <a:gridCol w="562862"/>
                <a:gridCol w="562862"/>
                <a:gridCol w="562862"/>
                <a:gridCol w="562862"/>
                <a:gridCol w="562862"/>
                <a:gridCol w="562862"/>
                <a:gridCol w="562862"/>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31065">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413.2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346.2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670.6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723.6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843.5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232.6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7.9%</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88.8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110.7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a:t>
                      </a:r>
                      <a:endParaRPr sz="1100"/>
                    </a:p>
                  </a:txBody>
                  <a:tcPr marL="47625" marR="38100" marT="19050" marB="19050" anchor="ctr">
                    <a:solidFill>
                      <a:srgbClr val="FFFFFF"/>
                    </a:solidFill>
                  </a:tcPr>
                </a:tc>
              </a:tr>
              <a:tr h="231065">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a:t>
                      </a:r>
                      <a:endParaRPr sz="1100"/>
                    </a:p>
                  </a:txBody>
                  <a:tcPr marL="47625" marR="38100" marT="19050" marB="19050" anchor="ctr">
                    <a:solidFill>
                      <a:srgbClr val="F5F8FA"/>
                    </a:solidFill>
                  </a:tcPr>
                </a:tc>
              </a:tr>
              <a:tr h="23106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53911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volume and value growth by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TextBox 1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volume and value growth by Application, highlighting acceleration and slowdown</a:t>
            </a:r>
          </a:p>
        </p:txBody>
      </p:sp>
      <p:sp>
        <p:nvSpPr>
          <p:cNvPr id="10" name="Rounded Rectangle 9"/>
          <p:cNvSpPr/>
          <p:nvPr/>
        </p:nvSpPr>
        <p:spPr>
          <a:xfrm>
            <a:off x="142875" y="981075"/>
            <a:ext cx="11906250" cy="4267200"/>
          </a:xfrm>
          <a:prstGeom prst="roundRect">
            <a:avLst>
              <a:gd name="adj" fmla="val 17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4" cy="3800481"/>
        </p:xfrm>
        <a:graphic>
          <a:graphicData uri="http://schemas.openxmlformats.org/drawingml/2006/table">
            <a:tbl>
              <a:tblPr>
                <a:tableStyleId>{5C22544A-7EE6-4342-B048-85BDC9FD1C3A}</a:tableStyleId>
              </a:tblPr>
              <a:tblGrid>
                <a:gridCol w="2519494"/>
                <a:gridCol w="624514"/>
                <a:gridCol w="624514"/>
                <a:gridCol w="624514"/>
                <a:gridCol w="624514"/>
                <a:gridCol w="624514"/>
                <a:gridCol w="624514"/>
                <a:gridCol w="624514"/>
                <a:gridCol w="624514"/>
                <a:gridCol w="624514"/>
                <a:gridCol w="624514"/>
                <a:gridCol w="624514"/>
                <a:gridCol w="624514"/>
                <a:gridCol w="624514"/>
                <a:gridCol w="624514"/>
                <a:gridCol w="624514"/>
              </a:tblGrid>
              <a:tr h="215265">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24076">
                <a:tc>
                  <a:txBody>
                    <a:bodyPr wrap="none"/>
                    <a:lstStyle/>
                    <a:p>
                      <a:pPr algn="l"/>
                      <a:r>
                        <a:rPr sz="1100" b="1">
                          <a:solidFill>
                            <a:srgbClr val="2E2E2E"/>
                          </a:solidFill>
                          <a:latin typeface="Calibri"/>
                        </a:rPr>
                        <a:t>Food Packaging</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Meat and Processed Meat</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Poultry</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Fish and Seafood</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Dairy and Cheese</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Ready Meals and Prepared Foods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Bakery, Confectionery and Snacks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Dry Foods and Powders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Pet Food</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Other Food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Pharmaceutical and Healthcare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Personal Care and Cosmetics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Household Care</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r>
              <a:tr h="224076">
                <a:tc>
                  <a:txBody>
                    <a:bodyPr wrap="none"/>
                    <a:lstStyle/>
                    <a:p>
                      <a:pPr algn="l"/>
                      <a:r>
                        <a:rPr sz="1100" b="1">
                          <a:solidFill>
                            <a:srgbClr val="2E2E2E"/>
                          </a:solidFill>
                          <a:latin typeface="Calibri"/>
                        </a:rPr>
                        <a:t>– Chemicals and Agrochemicals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24076">
                <a:tc>
                  <a:txBody>
                    <a:bodyPr wrap="none"/>
                    <a:lstStyle/>
                    <a:p>
                      <a:pPr algn="l"/>
                      <a:r>
                        <a:rPr sz="1100" b="1">
                          <a:solidFill>
                            <a:srgbClr val="2E2E2E"/>
                          </a:solidFill>
                          <a:latin typeface="Calibri"/>
                        </a:rPr>
                        <a:t>– Electronics and Technical Products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482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Segmental Analysis Barrier Level Vs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segmental analysis by Barrier Level Vs Application: growth contribution, share variance and absolute $…</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Barrier Level Vs Application (US$ Mn)</a:t>
            </a:r>
          </a:p>
        </p:txBody>
      </p:sp>
      <p:graphicFrame>
        <p:nvGraphicFramePr>
          <p:cNvPr id="13" name="Chart 12"/>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4" name="Rounded Rectangle 13"/>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Barrier Level Vs Application</a:t>
            </a:r>
          </a:p>
        </p:txBody>
      </p:sp>
      <p:graphicFrame>
        <p:nvGraphicFramePr>
          <p:cNvPr id="16" name="Table 15"/>
          <p:cNvGraphicFramePr>
            <a:graphicFrameLocks noGrp="1"/>
          </p:cNvGraphicFramePr>
          <p:nvPr/>
        </p:nvGraphicFramePr>
        <p:xfrm>
          <a:off x="6181725" y="1238250"/>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bl>
          </a:graphicData>
        </a:graphic>
      </p:graphicFrame>
      <p:sp>
        <p:nvSpPr>
          <p:cNvPr id="17" name="TextBox 16"/>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Rounded Rectangle 17"/>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Barrier Level Vs Application (US$ Mn), between 2026–2036</a:t>
            </a:r>
          </a:p>
        </p:txBody>
      </p:sp>
      <p:graphicFrame>
        <p:nvGraphicFramePr>
          <p:cNvPr id="20" name="Chart 19"/>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21" name="Rounded Rectangle 20"/>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Barrier Level Vs Application</a:t>
            </a:r>
          </a:p>
        </p:txBody>
      </p:sp>
      <p:graphicFrame>
        <p:nvGraphicFramePr>
          <p:cNvPr id="23" name="Table 22"/>
          <p:cNvGraphicFramePr>
            <a:graphicFrameLocks noGrp="1"/>
          </p:cNvGraphicFramePr>
          <p:nvPr/>
        </p:nvGraphicFramePr>
        <p:xfrm>
          <a:off x="6181725" y="4124325"/>
          <a:ext cx="5857874" cy="2286001"/>
        </p:xfrm>
        <a:graphic>
          <a:graphicData uri="http://schemas.openxmlformats.org/drawingml/2006/table">
            <a:tbl>
              <a:tblPr>
                <a:tableStyleId>{5C22544A-7EE6-4342-B048-85BDC9FD1C3A}</a:tableStyleId>
              </a:tblPr>
              <a:tblGrid>
                <a:gridCol w="1816258"/>
                <a:gridCol w="1010404"/>
                <a:gridCol w="1010404"/>
                <a:gridCol w="1010404"/>
                <a:gridCol w="1010404"/>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51768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51768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33.8%</a:t>
                      </a:r>
                      <a:endParaRPr sz="1100"/>
                    </a:p>
                  </a:txBody>
                  <a:tcPr marL="47625" marR="38100" marT="19050" marB="19050" anchor="ctr">
                    <a:solidFill>
                      <a:srgbClr val="FFFFFF"/>
                    </a:solidFill>
                  </a:tcPr>
                </a:tc>
                <a:tc>
                  <a:txBody>
                    <a:bodyPr wrap="none"/>
                    <a:lstStyle/>
                    <a:p>
                      <a:pPr algn="l"/>
                      <a:r>
                        <a:rPr sz="1100" b="1">
                          <a:solidFill>
                            <a:srgbClr val="008189"/>
                          </a:solidFill>
                          <a:latin typeface="Calibri"/>
                        </a:rPr>
                        <a:t>+123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51768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13.2%</a:t>
                      </a:r>
                      <a:endParaRPr sz="1100"/>
                    </a:p>
                  </a:txBody>
                  <a:tcPr marL="47625" marR="38100" marT="19050" marB="19050" anchor="ctr">
                    <a:solidFill>
                      <a:srgbClr val="F5F8FA"/>
                    </a:solidFill>
                  </a:tcPr>
                </a:tc>
                <a:tc>
                  <a:txBody>
                    <a:bodyPr wrap="none"/>
                    <a:lstStyle/>
                    <a:p>
                      <a:pPr algn="l"/>
                      <a:r>
                        <a:rPr sz="1100" b="1">
                          <a:solidFill>
                            <a:srgbClr val="008189"/>
                          </a:solidFill>
                          <a:latin typeface="Calibri"/>
                        </a:rPr>
                        <a:t>+34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bl>
          </a:graphicData>
        </a:graphic>
      </p:graphicFrame>
      <p:sp>
        <p:nvSpPr>
          <p:cNvPr id="24" name="TextBox 23"/>
          <p:cNvSpPr txBox="1"/>
          <p:nvPr/>
        </p:nvSpPr>
        <p:spPr>
          <a:xfrm>
            <a:off x="6248400" y="64198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5" name="TextBox 2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Tables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Europe market by Barrier Level Vs Application,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3486150"/>
          </a:xfrm>
          <a:prstGeom prst="roundRect">
            <a:avLst>
              <a:gd name="adj" fmla="val 21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By Barrier Level Vs Application (Thousand MT)</a:t>
            </a:r>
          </a:p>
        </p:txBody>
      </p:sp>
      <p:graphicFrame>
        <p:nvGraphicFramePr>
          <p:cNvPr id="13" name="Table 12"/>
          <p:cNvGraphicFramePr>
            <a:graphicFrameLocks noGrp="1"/>
          </p:cNvGraphicFramePr>
          <p:nvPr/>
        </p:nvGraphicFramePr>
        <p:xfrm>
          <a:off x="152400" y="1238250"/>
          <a:ext cx="11887200" cy="3019430"/>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70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237.1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80.8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303.2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410.1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105.9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174.7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a:t>
                      </a:r>
                      <a:endParaRPr sz="1100"/>
                    </a:p>
                  </a:txBody>
                  <a:tcPr marL="47625" marR="38100" marT="19050" marB="19050" anchor="ctr">
                    <a:solidFill>
                      <a:srgbClr val="FFFFFF"/>
                    </a:solidFill>
                  </a:tcPr>
                </a:tc>
              </a:tr>
              <a:tr h="21570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a:t>
                      </a:r>
                      <a:endParaRPr sz="1100"/>
                    </a:p>
                  </a:txBody>
                  <a:tcPr marL="47625" marR="38100" marT="19050" marB="19050" anchor="ctr">
                    <a:solidFill>
                      <a:srgbClr val="F5F8FA"/>
                    </a:solidFill>
                  </a:tcPr>
                </a:tc>
              </a:tr>
              <a:tr h="215705">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740.8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774.1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809.2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887.1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931.3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979.6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1,033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1,091</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1,155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1,225</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1,383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1,556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1,647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5.9%</a:t>
                      </a:r>
                      <a:endParaRPr sz="1100"/>
                    </a:p>
                  </a:txBody>
                  <a:tcPr marL="47625" marR="38100" marT="19050" marB="19050" anchor="ctr">
                    <a:solidFill>
                      <a:srgbClr val="E0E8EF"/>
                    </a:solidFill>
                  </a:tcPr>
                </a:tc>
              </a:tr>
            </a:tbl>
          </a:graphicData>
        </a:graphic>
      </p:graphicFrame>
      <p:sp>
        <p:nvSpPr>
          <p:cNvPr id="14" name="TextBox 13"/>
          <p:cNvSpPr txBox="1"/>
          <p:nvPr/>
        </p:nvSpPr>
        <p:spPr>
          <a:xfrm>
            <a:off x="219075" y="42672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600575"/>
            <a:ext cx="11906250" cy="1981200"/>
          </a:xfrm>
          <a:prstGeom prst="roundRect">
            <a:avLst>
              <a:gd name="adj" fmla="val 3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6577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Barrier Level Vs Application (US$ Mn)</a:t>
            </a:r>
          </a:p>
        </p:txBody>
      </p:sp>
      <p:graphicFrame>
        <p:nvGraphicFramePr>
          <p:cNvPr id="17" name="Table 16"/>
          <p:cNvGraphicFramePr>
            <a:graphicFrameLocks noGrp="1"/>
          </p:cNvGraphicFramePr>
          <p:nvPr/>
        </p:nvGraphicFramePr>
        <p:xfrm>
          <a:off x="152400" y="4857750"/>
          <a:ext cx="11887200" cy="1514475"/>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6535">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557.6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618.2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810.5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405.4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510.1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581.9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624.8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834.0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894.5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138.4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161.0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202.5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7.3%</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745.6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836.8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1,391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r>
              <a:tr h="216535">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591.8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661.2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840.3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894.1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1,015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FFFFF"/>
                    </a:solidFill>
                  </a:tcPr>
                </a:tc>
              </a:tr>
              <a:tr h="216535">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155.3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176.1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244.3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81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Flexible Plastic Packaging Market Tables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Rest of Europe market by Barrier Level Vs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By Barrier Level Vs Application (US$ Mn)</a:t>
            </a:r>
          </a:p>
        </p:txBody>
      </p:sp>
      <p:graphicFrame>
        <p:nvGraphicFramePr>
          <p:cNvPr id="12" name="Table 11"/>
          <p:cNvGraphicFramePr>
            <a:graphicFrameLocks noGrp="1"/>
          </p:cNvGraphicFramePr>
          <p:nvPr/>
        </p:nvGraphicFramePr>
        <p:xfrm>
          <a:off x="152400" y="1238250"/>
          <a:ext cx="11887200" cy="1724024"/>
        </p:xfrm>
        <a:graphic>
          <a:graphicData uri="http://schemas.openxmlformats.org/drawingml/2006/table">
            <a:tbl>
              <a:tblPr>
                <a:tableStyleId>{5C22544A-7EE6-4342-B048-85BDC9FD1C3A}</a:tableStyleId>
              </a:tblPr>
              <a:tblGrid>
                <a:gridCol w="1870970"/>
                <a:gridCol w="589190"/>
                <a:gridCol w="589190"/>
                <a:gridCol w="589190"/>
                <a:gridCol w="589190"/>
                <a:gridCol w="589190"/>
                <a:gridCol w="589190"/>
                <a:gridCol w="589190"/>
                <a:gridCol w="589190"/>
                <a:gridCol w="589190"/>
                <a:gridCol w="589190"/>
                <a:gridCol w="589190"/>
                <a:gridCol w="589190"/>
                <a:gridCol w="589190"/>
                <a:gridCol w="589190"/>
                <a:gridCol w="589190"/>
                <a:gridCol w="589190"/>
                <a:gridCol w="589190"/>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F-CAGR</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702.3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741.3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827.4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875.4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995.5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1,450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1,830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583.4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616.0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728.5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828.9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888.4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955.8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1,305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1,410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125.3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139.2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146.9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156.1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166.6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178.7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207.9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224.9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335.7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367.7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383.9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427.3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493.0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588.2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644.2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408.9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584.3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638.2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7.7%</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56.3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57.8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59.4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69.2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84.1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91.6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131.5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7.6%</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2,222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2,328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2,443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2,567</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2,702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2,863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3,043</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3,244</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3,468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3,720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4,002</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4,316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4,658</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5,026</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5,420</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5,839</a:t>
                      </a:r>
                      <a:endParaRPr sz="1100"/>
                    </a:p>
                  </a:txBody>
                  <a:tcPr marL="47625" marR="38100" marT="19050" marB="19050" anchor="ctr">
                    <a:solidFill>
                      <a:srgbClr val="E0E8EF"/>
                    </a:solidFill>
                  </a:tcPr>
                </a:tc>
                <a:tc>
                  <a:txBody>
                    <a:bodyPr wrap="none"/>
                    <a:lstStyle/>
                    <a:p>
                      <a:pPr algn="l"/>
                      <a:r>
                        <a:rPr sz="1100" b="1">
                          <a:solidFill>
                            <a:srgbClr val="2E2E2E"/>
                          </a:solidFill>
                          <a:latin typeface="Calibri"/>
                        </a:rPr>
                        <a:t>7.4%</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Barrier Level Vs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volume and value growth by Barrier Level Vs Application, highlighting acceleration and slowdown</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Rest of Europe</a:t>
            </a:r>
          </a:p>
        </p:txBody>
      </p:sp>
      <p:sp>
        <p:nvSpPr>
          <p:cNvPr id="11" name="Rounded Rectangle 10"/>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Volume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3" name="Table 12"/>
          <p:cNvGraphicFramePr>
            <a:graphicFrameLocks noGrp="1"/>
          </p:cNvGraphicFramePr>
          <p:nvPr/>
        </p:nvGraphicFramePr>
        <p:xfrm>
          <a:off x="152400" y="1238250"/>
          <a:ext cx="11887206" cy="2800353"/>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4.0%</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r>
              <a:tr h="215424">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81500"/>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443865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7" name="Table 16"/>
          <p:cNvGraphicFramePr>
            <a:graphicFrameLocks noGrp="1"/>
          </p:cNvGraphicFramePr>
          <p:nvPr/>
        </p:nvGraphicFramePr>
        <p:xfrm>
          <a:off x="152400" y="4638675"/>
          <a:ext cx="11887206" cy="1724024"/>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5537">
                <a:tc>
                  <a:txBody>
                    <a:bodyPr wrap="none"/>
                    <a:lstStyle/>
                    <a:p>
                      <a:pPr algn="l"/>
                      <a:r>
                        <a:rPr sz="1100" b="1">
                          <a:solidFill>
                            <a:srgbClr val="2E2E2E"/>
                          </a:solidFill>
                          <a:latin typeface="Calibri"/>
                        </a:rPr>
                        <a:t>Low-Barrier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Food Packaging</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Non-Food Packaging</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Medium-Barrier Films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6.1%</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7.5%</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FFFFF"/>
                    </a:solidFill>
                  </a:tcPr>
                </a:tc>
              </a:tr>
              <a:tr h="21553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6.6%</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7.1%</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7.3%</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7.2%</a:t>
                      </a:r>
                      <a:endParaRPr sz="1100"/>
                    </a:p>
                  </a:txBody>
                  <a:tcPr marL="47625" marR="38100" marT="19050" marB="19050" anchor="ctr">
                    <a:solidFill>
                      <a:srgbClr val="F5F8FA"/>
                    </a:solidFill>
                  </a:tcPr>
                </a:tc>
              </a:tr>
              <a:tr h="215537">
                <a:tc>
                  <a:txBody>
                    <a:bodyPr wrap="none"/>
                    <a:lstStyle/>
                    <a:p>
                      <a:pPr algn="l"/>
                      <a:r>
                        <a:rPr sz="1100" b="1">
                          <a:solidFill>
                            <a:srgbClr val="2E2E2E"/>
                          </a:solidFill>
                          <a:latin typeface="Calibri"/>
                        </a:rPr>
                        <a:t>High-Barrier Films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7.8%</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722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Rest of Europe YoY Analysis Barrier Level Vs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Rest of Europe year-on-year volume and value growth by Barrier Level Vs Application, highlighting acceleration and slowdown</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Rest of Europe Value YoY, By Barrier Level Vs Application (%)  ·  </a:t>
            </a:r>
            <a:r>
              <a:rPr sz="1200" b="1">
                <a:solidFill>
                  <a:srgbClr val="2E7D32"/>
                </a:solidFill>
                <a:latin typeface="Calibri"/>
              </a:rPr>
              <a:t>▲ outpacing market  </a:t>
            </a:r>
            <a:r>
              <a:rPr sz="1200" b="1">
                <a:solidFill>
                  <a:srgbClr val="A86F00"/>
                </a:solidFill>
                <a:latin typeface="Calibri"/>
              </a:rPr>
              <a:t>▶ below market pace  </a:t>
            </a:r>
            <a:r>
              <a:rPr sz="1200" b="1">
                <a:solidFill>
                  <a:srgbClr val="E44D3A"/>
                </a:solidFill>
                <a:latin typeface="Calibri"/>
              </a:rPr>
              <a:t>▼ decline</a:t>
            </a:r>
          </a:p>
        </p:txBody>
      </p:sp>
      <p:graphicFrame>
        <p:nvGraphicFramePr>
          <p:cNvPr id="12" name="Table 11"/>
          <p:cNvGraphicFramePr>
            <a:graphicFrameLocks noGrp="1"/>
          </p:cNvGraphicFramePr>
          <p:nvPr/>
        </p:nvGraphicFramePr>
        <p:xfrm>
          <a:off x="152400" y="1238250"/>
          <a:ext cx="11887206" cy="1295400"/>
        </p:xfrm>
        <a:graphic>
          <a:graphicData uri="http://schemas.openxmlformats.org/drawingml/2006/table">
            <a:tbl>
              <a:tblPr>
                <a:tableStyleId>{5C22544A-7EE6-4342-B048-85BDC9FD1C3A}</a:tableStyleId>
              </a:tblPr>
              <a:tblGrid>
                <a:gridCol w="2041401"/>
                <a:gridCol w="656387"/>
                <a:gridCol w="656387"/>
                <a:gridCol w="656387"/>
                <a:gridCol w="656387"/>
                <a:gridCol w="656387"/>
                <a:gridCol w="656387"/>
                <a:gridCol w="656387"/>
                <a:gridCol w="656387"/>
                <a:gridCol w="656387"/>
                <a:gridCol w="656387"/>
                <a:gridCol w="656387"/>
                <a:gridCol w="656387"/>
                <a:gridCol w="656387"/>
                <a:gridCol w="656387"/>
                <a:gridCol w="656387"/>
              </a:tblGrid>
              <a:tr h="215265">
                <a:tc>
                  <a:txBody>
                    <a:bodyPr wrap="none"/>
                    <a:lstStyle/>
                    <a:p>
                      <a:pPr algn="l"/>
                      <a:r>
                        <a:rPr sz="1100" b="1">
                          <a:solidFill>
                            <a:srgbClr val="0B2E4A"/>
                          </a:solidFill>
                          <a:latin typeface="Calibri"/>
                        </a:rPr>
                        <a:t>Barrier Level Vs Application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5.9%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6.8%</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8.1%</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5.5%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6.3%</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6.7%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7.7%</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8.2%</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7.7%</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Ultra-High-Barrier Films</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 Food Packaging   </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3.7%</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4.4%</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5.2%</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5.9%</a:t>
                      </a:r>
                      <a:endParaRPr sz="1100"/>
                    </a:p>
                  </a:txBody>
                  <a:tcPr marL="47625" marR="38100" marT="19050" marB="19050" anchor="ctr">
                    <a:solidFill>
                      <a:srgbClr val="F5F8FA"/>
                    </a:solidFill>
                  </a:tcPr>
                </a:tc>
                <a:tc>
                  <a:txBody>
                    <a:bodyPr wrap="none"/>
                    <a:lstStyle/>
                    <a:p>
                      <a:pPr algn="l"/>
                      <a:r>
                        <a:rPr sz="1100" b="1">
                          <a:solidFill>
                            <a:srgbClr val="A86F00"/>
                          </a:solidFill>
                          <a:latin typeface="Calibri"/>
                        </a:rPr>
                        <a:t>▶ 6.9%</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8.0%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9.2%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 Non-Food Packaging   </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2.8%</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2.6%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3.6%</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4.3%</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5.1%</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5.7%</a:t>
                      </a:r>
                      <a:endParaRPr sz="1100"/>
                    </a:p>
                  </a:txBody>
                  <a:tcPr marL="47625" marR="38100" marT="19050" marB="19050" anchor="ctr">
                    <a:solidFill>
                      <a:srgbClr val="FFFFFF"/>
                    </a:solidFill>
                  </a:tcPr>
                </a:tc>
                <a:tc>
                  <a:txBody>
                    <a:bodyPr wrap="none"/>
                    <a:lstStyle/>
                    <a:p>
                      <a:pPr algn="l"/>
                      <a:r>
                        <a:rPr sz="1100" b="1">
                          <a:solidFill>
                            <a:srgbClr val="A86F00"/>
                          </a:solidFill>
                          <a:latin typeface="Calibri"/>
                        </a:rPr>
                        <a:t>▶ 6.7%</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7.9%</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9.0%</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9.5%</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9.6%</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9.4%</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51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Europe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Product Pricing &amp;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111919" y="3471051"/>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2450.7</a:t>
            </a:r>
          </a:p>
        </p:txBody>
      </p:sp>
      <p:sp>
        <p:nvSpPr>
          <p:cNvPr id="14" name="TextBox 13"/>
          <p:cNvSpPr txBox="1"/>
          <p:nvPr/>
        </p:nvSpPr>
        <p:spPr>
          <a:xfrm>
            <a:off x="111919" y="2561000"/>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4077.4</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5704.2</a:t>
            </a:r>
          </a:p>
        </p:txBody>
      </p:sp>
      <p:cxnSp>
        <p:nvCxnSpPr>
          <p:cNvPr id="16" name="Connector 15"/>
          <p:cNvCxnSpPr/>
          <p:nvPr/>
        </p:nvCxnSpPr>
        <p:spPr>
          <a:xfrm>
            <a:off x="1533525" y="2797480"/>
            <a:ext cx="0" cy="291237"/>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1314450" y="2797480"/>
            <a:ext cx="438150" cy="291236"/>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645080"/>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3773.9</a:t>
            </a:r>
          </a:p>
        </p:txBody>
      </p:sp>
      <p:sp>
        <p:nvSpPr>
          <p:cNvPr id="19" name="TextBox 18"/>
          <p:cNvSpPr txBox="1"/>
          <p:nvPr/>
        </p:nvSpPr>
        <p:spPr>
          <a:xfrm>
            <a:off x="6572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Rollstock Films</a:t>
            </a:r>
          </a:p>
        </p:txBody>
      </p:sp>
      <p:cxnSp>
        <p:nvCxnSpPr>
          <p:cNvPr id="20" name="Connector 19"/>
          <p:cNvCxnSpPr/>
          <p:nvPr/>
        </p:nvCxnSpPr>
        <p:spPr>
          <a:xfrm>
            <a:off x="3286125" y="1927636"/>
            <a:ext cx="0" cy="360483"/>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3067050" y="1927636"/>
            <a:ext cx="438150" cy="360483"/>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409825" y="1775236"/>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5328.8</a:t>
            </a:r>
          </a:p>
        </p:txBody>
      </p:sp>
      <p:sp>
        <p:nvSpPr>
          <p:cNvPr id="23" name="TextBox 22"/>
          <p:cNvSpPr txBox="1"/>
          <p:nvPr/>
        </p:nvSpPr>
        <p:spPr>
          <a:xfrm>
            <a:off x="24098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Barrier Casings</a:t>
            </a:r>
          </a:p>
        </p:txBody>
      </p:sp>
      <p:cxnSp>
        <p:nvCxnSpPr>
          <p:cNvPr id="24" name="Connector 23"/>
          <p:cNvCxnSpPr/>
          <p:nvPr/>
        </p:nvCxnSpPr>
        <p:spPr>
          <a:xfrm>
            <a:off x="5038725" y="2960263"/>
            <a:ext cx="0" cy="278403"/>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4819650" y="2960263"/>
            <a:ext cx="438150" cy="278403"/>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4162425" y="2807863"/>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3482.9</a:t>
            </a:r>
          </a:p>
        </p:txBody>
      </p:sp>
      <p:sp>
        <p:nvSpPr>
          <p:cNvPr id="27" name="TextBox 26"/>
          <p:cNvSpPr txBox="1"/>
          <p:nvPr/>
        </p:nvSpPr>
        <p:spPr>
          <a:xfrm>
            <a:off x="41624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Premade Pouches &amp; Bags</a:t>
            </a:r>
          </a:p>
        </p:txBody>
      </p:sp>
      <p:cxnSp>
        <p:nvCxnSpPr>
          <p:cNvPr id="28" name="Connector 27"/>
          <p:cNvCxnSpPr/>
          <p:nvPr/>
        </p:nvCxnSpPr>
        <p:spPr>
          <a:xfrm>
            <a:off x="6791325" y="3083980"/>
            <a:ext cx="0" cy="243734"/>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6572250" y="3083980"/>
            <a:ext cx="438150" cy="24373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5915025" y="2931580"/>
            <a:ext cx="1752600" cy="133350"/>
          </a:xfrm>
          <a:prstGeom prst="rect">
            <a:avLst/>
          </a:prstGeom>
          <a:noFill/>
        </p:spPr>
        <p:txBody>
          <a:bodyPr wrap="square" lIns="28575" rIns="28575" tIns="9525" bIns="9525">
            <a:spAutoFit/>
          </a:bodyPr>
          <a:lstStyle/>
          <a:p>
            <a:pPr algn="ctr"/>
            <a:r>
              <a:rPr sz="1100" b="1">
                <a:solidFill>
                  <a:srgbClr val="0B2E4A"/>
                </a:solidFill>
                <a:latin typeface="Calibri"/>
              </a:rPr>
              <a:t>3261.8</a:t>
            </a:r>
          </a:p>
        </p:txBody>
      </p:sp>
      <p:sp>
        <p:nvSpPr>
          <p:cNvPr id="31" name="TextBox 30"/>
          <p:cNvSpPr txBox="1"/>
          <p:nvPr/>
        </p:nvSpPr>
        <p:spPr>
          <a:xfrm>
            <a:off x="5915025" y="3566301"/>
            <a:ext cx="1752600" cy="285750"/>
          </a:xfrm>
          <a:prstGeom prst="rect">
            <a:avLst/>
          </a:prstGeom>
          <a:noFill/>
        </p:spPr>
        <p:txBody>
          <a:bodyPr wrap="square" lIns="28575" rIns="28575" tIns="9525" bIns="9525">
            <a:spAutoFit/>
          </a:bodyPr>
          <a:lstStyle/>
          <a:p>
            <a:pPr algn="ctr"/>
            <a:r>
              <a:rPr sz="1100" b="0">
                <a:solidFill>
                  <a:srgbClr val="2E2E2E"/>
                </a:solidFill>
                <a:latin typeface="Calibri"/>
              </a:rPr>
              <a:t>Sachets &amp; Stick Packs</a:t>
            </a:r>
          </a:p>
        </p:txBody>
      </p:sp>
      <p:sp>
        <p:nvSpPr>
          <p:cNvPr id="32" name="Rounded Rectangle 31"/>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a:t>
            </a:r>
          </a:p>
        </p:txBody>
      </p:sp>
      <p:cxnSp>
        <p:nvCxnSpPr>
          <p:cNvPr id="34" name="Connector 33"/>
          <p:cNvCxnSpPr/>
          <p:nvPr/>
        </p:nvCxnSpPr>
        <p:spPr>
          <a:xfrm>
            <a:off x="619125" y="452035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619125" y="488482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619125" y="561376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619125" y="597823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619125" y="4520358"/>
            <a:ext cx="0" cy="1457879"/>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590550" y="452035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590550" y="488482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590550" y="561376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590550" y="597823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45" name="FMI Scale tick"/>
          <p:cNvSpPr txBox="1"/>
          <p:nvPr/>
        </p:nvSpPr>
        <p:spPr>
          <a:xfrm>
            <a:off x="219075" y="4453683"/>
            <a:ext cx="361950" cy="133350"/>
          </a:xfrm>
          <a:prstGeom prst="rect">
            <a:avLst/>
          </a:prstGeom>
          <a:noFill/>
        </p:spPr>
        <p:txBody>
          <a:bodyPr wrap="none" lIns="0" rIns="0" tIns="0" bIns="0" anchor="ctr">
            <a:spAutoFit/>
          </a:bodyPr>
          <a:lstStyle/>
          <a:p>
            <a:pPr algn="r"/>
            <a:r>
              <a:rPr sz="1100" b="0">
                <a:solidFill>
                  <a:srgbClr val="6C7A89"/>
                </a:solidFill>
                <a:latin typeface="Calibri"/>
              </a:rPr>
              <a:t>+18%</a:t>
            </a:r>
          </a:p>
        </p:txBody>
      </p:sp>
      <p:sp>
        <p:nvSpPr>
          <p:cNvPr id="46" name="FMI Scale tick"/>
          <p:cNvSpPr txBox="1"/>
          <p:nvPr/>
        </p:nvSpPr>
        <p:spPr>
          <a:xfrm>
            <a:off x="219075" y="4818153"/>
            <a:ext cx="361950" cy="133350"/>
          </a:xfrm>
          <a:prstGeom prst="rect">
            <a:avLst/>
          </a:prstGeom>
          <a:noFill/>
        </p:spPr>
        <p:txBody>
          <a:bodyPr wrap="none" lIns="0" rIns="0" tIns="0" bIns="0" anchor="ctr">
            <a:spAutoFit/>
          </a:bodyPr>
          <a:lstStyle/>
          <a:p>
            <a:pPr algn="r"/>
            <a:r>
              <a:rPr sz="1100" b="0">
                <a:solidFill>
                  <a:srgbClr val="6C7A89"/>
                </a:solidFill>
                <a:latin typeface="Calibri"/>
              </a:rPr>
              <a:t>+9%</a:t>
            </a:r>
          </a:p>
        </p:txBody>
      </p:sp>
      <p:sp>
        <p:nvSpPr>
          <p:cNvPr id="47"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tick"/>
          <p:cNvSpPr txBox="1"/>
          <p:nvPr/>
        </p:nvSpPr>
        <p:spPr>
          <a:xfrm>
            <a:off x="219075" y="5547093"/>
            <a:ext cx="361950" cy="133350"/>
          </a:xfrm>
          <a:prstGeom prst="rect">
            <a:avLst/>
          </a:prstGeom>
          <a:noFill/>
        </p:spPr>
        <p:txBody>
          <a:bodyPr wrap="none" lIns="0" rIns="0" tIns="0" bIns="0" anchor="ctr">
            <a:spAutoFit/>
          </a:bodyPr>
          <a:lstStyle/>
          <a:p>
            <a:pPr algn="r"/>
            <a:r>
              <a:rPr sz="1100" b="0">
                <a:solidFill>
                  <a:srgbClr val="6C7A89"/>
                </a:solidFill>
                <a:latin typeface="Calibri"/>
              </a:rPr>
              <a:t>-9%</a:t>
            </a:r>
          </a:p>
        </p:txBody>
      </p:sp>
      <p:sp>
        <p:nvSpPr>
          <p:cNvPr id="49" name="FMI Scale tick"/>
          <p:cNvSpPr txBox="1"/>
          <p:nvPr/>
        </p:nvSpPr>
        <p:spPr>
          <a:xfrm>
            <a:off x="219075" y="5911562"/>
            <a:ext cx="361950" cy="133350"/>
          </a:xfrm>
          <a:prstGeom prst="rect">
            <a:avLst/>
          </a:prstGeom>
          <a:noFill/>
        </p:spPr>
        <p:txBody>
          <a:bodyPr wrap="none" lIns="0" rIns="0" tIns="0" bIns="0" anchor="ctr">
            <a:spAutoFit/>
          </a:bodyPr>
          <a:lstStyle/>
          <a:p>
            <a:pPr algn="r"/>
            <a:r>
              <a:rPr sz="1100" b="0">
                <a:solidFill>
                  <a:srgbClr val="6C7A89"/>
                </a:solidFill>
                <a:latin typeface="Calibri"/>
              </a:rPr>
              <a:t>-18%</a:t>
            </a:r>
          </a:p>
        </p:txBody>
      </p:sp>
      <p:cxnSp>
        <p:nvCxnSpPr>
          <p:cNvPr id="50" name="Connector 49"/>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718979" y="4692368"/>
            <a:ext cx="387668" cy="55693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619125" y="4549493"/>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+13.4%</a:t>
            </a:r>
          </a:p>
        </p:txBody>
      </p:sp>
      <p:sp>
        <p:nvSpPr>
          <p:cNvPr id="53" name="Rectangle 52"/>
          <p:cNvSpPr/>
          <p:nvPr/>
        </p:nvSpPr>
        <p:spPr>
          <a:xfrm>
            <a:off x="1306354" y="4715061"/>
            <a:ext cx="387668" cy="53423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1206500" y="4572186"/>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+12.9%</a:t>
            </a:r>
          </a:p>
        </p:txBody>
      </p:sp>
      <p:sp>
        <p:nvSpPr>
          <p:cNvPr id="55" name="Rectangle 54"/>
          <p:cNvSpPr/>
          <p:nvPr/>
        </p:nvSpPr>
        <p:spPr>
          <a:xfrm>
            <a:off x="1893729" y="4660989"/>
            <a:ext cx="387668" cy="58830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MI Data Label"/>
          <p:cNvSpPr txBox="1"/>
          <p:nvPr/>
        </p:nvSpPr>
        <p:spPr>
          <a:xfrm>
            <a:off x="1793875" y="4518114"/>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+14.2%</a:t>
            </a:r>
          </a:p>
        </p:txBody>
      </p:sp>
      <p:sp>
        <p:nvSpPr>
          <p:cNvPr id="57" name="Rectangle 56"/>
          <p:cNvSpPr/>
          <p:nvPr/>
        </p:nvSpPr>
        <p:spPr>
          <a:xfrm>
            <a:off x="2481104" y="4680067"/>
            <a:ext cx="387668" cy="56923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MI Data Label"/>
          <p:cNvSpPr txBox="1"/>
          <p:nvPr/>
        </p:nvSpPr>
        <p:spPr>
          <a:xfrm>
            <a:off x="2381250" y="4537192"/>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+13.7%</a:t>
            </a:r>
          </a:p>
        </p:txBody>
      </p:sp>
      <p:sp>
        <p:nvSpPr>
          <p:cNvPr id="59" name="Rectangle 58"/>
          <p:cNvSpPr/>
          <p:nvPr/>
        </p:nvSpPr>
        <p:spPr>
          <a:xfrm>
            <a:off x="3068479" y="4733985"/>
            <a:ext cx="387668" cy="51531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MI Data Label"/>
          <p:cNvSpPr txBox="1"/>
          <p:nvPr/>
        </p:nvSpPr>
        <p:spPr>
          <a:xfrm>
            <a:off x="2968625" y="4591110"/>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+12.4%</a:t>
            </a:r>
          </a:p>
        </p:txBody>
      </p:sp>
      <p:sp>
        <p:nvSpPr>
          <p:cNvPr id="61" name="Rectangle 60"/>
          <p:cNvSpPr/>
          <p:nvPr/>
        </p:nvSpPr>
        <p:spPr>
          <a:xfrm>
            <a:off x="3655854" y="4670445"/>
            <a:ext cx="387668" cy="57885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MI Data Label"/>
          <p:cNvSpPr txBox="1"/>
          <p:nvPr/>
        </p:nvSpPr>
        <p:spPr>
          <a:xfrm>
            <a:off x="3556000" y="4527570"/>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+14.0%</a:t>
            </a:r>
          </a:p>
        </p:txBody>
      </p:sp>
      <p:sp>
        <p:nvSpPr>
          <p:cNvPr id="63" name="Rectangle 62"/>
          <p:cNvSpPr/>
          <p:nvPr/>
        </p:nvSpPr>
        <p:spPr>
          <a:xfrm>
            <a:off x="4243229" y="4632720"/>
            <a:ext cx="387668" cy="61657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MI Data Label"/>
          <p:cNvSpPr txBox="1"/>
          <p:nvPr/>
        </p:nvSpPr>
        <p:spPr>
          <a:xfrm>
            <a:off x="4143375" y="4489845"/>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+14.9%</a:t>
            </a:r>
          </a:p>
        </p:txBody>
      </p:sp>
      <p:sp>
        <p:nvSpPr>
          <p:cNvPr id="65" name="Rectangle 64"/>
          <p:cNvSpPr/>
          <p:nvPr/>
        </p:nvSpPr>
        <p:spPr>
          <a:xfrm>
            <a:off x="4830604" y="4616034"/>
            <a:ext cx="387668" cy="63326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FMI Data Label"/>
          <p:cNvSpPr txBox="1"/>
          <p:nvPr/>
        </p:nvSpPr>
        <p:spPr>
          <a:xfrm>
            <a:off x="4730750" y="4473159"/>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+15.3%</a:t>
            </a:r>
          </a:p>
        </p:txBody>
      </p:sp>
      <p:sp>
        <p:nvSpPr>
          <p:cNvPr id="67" name="Rectangle 66"/>
          <p:cNvSpPr/>
          <p:nvPr/>
        </p:nvSpPr>
        <p:spPr>
          <a:xfrm>
            <a:off x="5417979" y="4630258"/>
            <a:ext cx="387668" cy="619040"/>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MI Data Label"/>
          <p:cNvSpPr txBox="1"/>
          <p:nvPr/>
        </p:nvSpPr>
        <p:spPr>
          <a:xfrm>
            <a:off x="5318125" y="4487383"/>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+14.9%</a:t>
            </a:r>
          </a:p>
        </p:txBody>
      </p:sp>
      <p:sp>
        <p:nvSpPr>
          <p:cNvPr id="69" name="Rectangle 68"/>
          <p:cNvSpPr/>
          <p:nvPr/>
        </p:nvSpPr>
        <p:spPr>
          <a:xfrm>
            <a:off x="6005354" y="4666754"/>
            <a:ext cx="387668" cy="5825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MI Data Label"/>
          <p:cNvSpPr txBox="1"/>
          <p:nvPr/>
        </p:nvSpPr>
        <p:spPr>
          <a:xfrm>
            <a:off x="5905500" y="4523879"/>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+14.1%</a:t>
            </a:r>
          </a:p>
        </p:txBody>
      </p:sp>
      <p:sp>
        <p:nvSpPr>
          <p:cNvPr id="71" name="Rectangle 70"/>
          <p:cNvSpPr/>
          <p:nvPr/>
        </p:nvSpPr>
        <p:spPr>
          <a:xfrm>
            <a:off x="6592729" y="4682741"/>
            <a:ext cx="387668" cy="56655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MI Data Label"/>
          <p:cNvSpPr txBox="1"/>
          <p:nvPr/>
        </p:nvSpPr>
        <p:spPr>
          <a:xfrm>
            <a:off x="6492875" y="4539866"/>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+13.7%</a:t>
            </a:r>
          </a:p>
        </p:txBody>
      </p:sp>
      <p:sp>
        <p:nvSpPr>
          <p:cNvPr id="73" name="Rectangle 72"/>
          <p:cNvSpPr/>
          <p:nvPr/>
        </p:nvSpPr>
        <p:spPr>
          <a:xfrm>
            <a:off x="7180104" y="4614107"/>
            <a:ext cx="387668"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MI Data Label"/>
          <p:cNvSpPr txBox="1"/>
          <p:nvPr/>
        </p:nvSpPr>
        <p:spPr>
          <a:xfrm>
            <a:off x="7080250" y="4471232"/>
            <a:ext cx="587375" cy="133350"/>
          </a:xfrm>
          <a:prstGeom prst="rect">
            <a:avLst/>
          </a:prstGeom>
          <a:noFill/>
        </p:spPr>
        <p:txBody>
          <a:bodyPr wrap="square" lIns="28575" rIns="28575" tIns="9525" bIns="9525">
            <a:spAutoFit/>
          </a:bodyPr>
          <a:lstStyle/>
          <a:p>
            <a:pPr algn="ctr"/>
            <a:r>
              <a:rPr sz="1100" b="1">
                <a:solidFill>
                  <a:srgbClr val="2E2E2E"/>
                </a:solidFill>
                <a:latin typeface="Calibri"/>
              </a:rPr>
              <a:t>+15.3%</a:t>
            </a:r>
          </a:p>
        </p:txBody>
      </p:sp>
      <p:sp>
        <p:nvSpPr>
          <p:cNvPr id="75" name="TextBox 74"/>
          <p:cNvSpPr txBox="1"/>
          <p:nvPr/>
        </p:nvSpPr>
        <p:spPr>
          <a:xfrm>
            <a:off x="603250" y="6135380"/>
            <a:ext cx="619125" cy="247650"/>
          </a:xfrm>
          <a:prstGeom prst="rect">
            <a:avLst/>
          </a:prstGeom>
          <a:noFill/>
        </p:spPr>
        <p:txBody>
          <a:bodyPr wrap="square" lIns="28575" rIns="28575" tIns="9525" bIns="9525">
            <a:spAutoFit/>
          </a:bodyPr>
          <a:lstStyle/>
          <a:p>
            <a:pPr algn="ctr"/>
            <a:r>
              <a:rPr sz="1100" b="0">
                <a:solidFill>
                  <a:srgbClr val="2E2E2E"/>
                </a:solidFill>
                <a:latin typeface="Calibri"/>
              </a:rPr>
              <a:t>Germany</a:t>
            </a:r>
          </a:p>
        </p:txBody>
      </p:sp>
      <p:sp>
        <p:nvSpPr>
          <p:cNvPr id="76" name="TextBox 75"/>
          <p:cNvSpPr txBox="1"/>
          <p:nvPr/>
        </p:nvSpPr>
        <p:spPr>
          <a:xfrm>
            <a:off x="1206500" y="6135380"/>
            <a:ext cx="587375" cy="247650"/>
          </a:xfrm>
          <a:prstGeom prst="rect">
            <a:avLst/>
          </a:prstGeom>
          <a:noFill/>
        </p:spPr>
        <p:txBody>
          <a:bodyPr wrap="none" lIns="0" rIns="0" tIns="0" bIns="0">
            <a:spAutoFit/>
          </a:bodyPr>
          <a:lstStyle/>
          <a:p>
            <a:pPr algn="ctr"/>
            <a:r>
              <a:rPr sz="1100" b="0">
                <a:solidFill>
                  <a:srgbClr val="2E2E2E"/>
                </a:solidFill>
                <a:latin typeface="Calibri"/>
              </a:rPr>
              <a:t>U.K.</a:t>
            </a:r>
          </a:p>
        </p:txBody>
      </p:sp>
      <p:sp>
        <p:nvSpPr>
          <p:cNvPr id="77" name="TextBox 76"/>
          <p:cNvSpPr txBox="1"/>
          <p:nvPr/>
        </p:nvSpPr>
        <p:spPr>
          <a:xfrm>
            <a:off x="179387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France</a:t>
            </a:r>
          </a:p>
        </p:txBody>
      </p:sp>
      <p:sp>
        <p:nvSpPr>
          <p:cNvPr id="78" name="TextBox 77"/>
          <p:cNvSpPr txBox="1"/>
          <p:nvPr/>
        </p:nvSpPr>
        <p:spPr>
          <a:xfrm>
            <a:off x="23812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Italy</a:t>
            </a:r>
          </a:p>
        </p:txBody>
      </p:sp>
      <p:sp>
        <p:nvSpPr>
          <p:cNvPr id="79" name="TextBox 78"/>
          <p:cNvSpPr txBox="1"/>
          <p:nvPr/>
        </p:nvSpPr>
        <p:spPr>
          <a:xfrm>
            <a:off x="296862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Spain</a:t>
            </a:r>
          </a:p>
        </p:txBody>
      </p:sp>
      <p:sp>
        <p:nvSpPr>
          <p:cNvPr id="80" name="TextBox 79"/>
          <p:cNvSpPr txBox="1"/>
          <p:nvPr/>
        </p:nvSpPr>
        <p:spPr>
          <a:xfrm>
            <a:off x="355600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Belgium</a:t>
            </a:r>
          </a:p>
        </p:txBody>
      </p:sp>
      <p:sp>
        <p:nvSpPr>
          <p:cNvPr id="81" name="TextBox 80"/>
          <p:cNvSpPr txBox="1"/>
          <p:nvPr/>
        </p:nvSpPr>
        <p:spPr>
          <a:xfrm>
            <a:off x="4038203" y="6135380"/>
            <a:ext cx="797719" cy="247650"/>
          </a:xfrm>
          <a:prstGeom prst="rect">
            <a:avLst/>
          </a:prstGeom>
          <a:noFill/>
        </p:spPr>
        <p:txBody>
          <a:bodyPr wrap="square" lIns="28575" rIns="28575" tIns="9525" bIns="9525">
            <a:spAutoFit/>
          </a:bodyPr>
          <a:lstStyle/>
          <a:p>
            <a:pPr algn="ctr"/>
            <a:r>
              <a:rPr sz="1100" b="0">
                <a:solidFill>
                  <a:srgbClr val="2E2E2E"/>
                </a:solidFill>
                <a:latin typeface="Calibri"/>
              </a:rPr>
              <a:t>Netherlands</a:t>
            </a:r>
          </a:p>
        </p:txBody>
      </p:sp>
      <p:sp>
        <p:nvSpPr>
          <p:cNvPr id="82" name="TextBox 81"/>
          <p:cNvSpPr txBox="1"/>
          <p:nvPr/>
        </p:nvSpPr>
        <p:spPr>
          <a:xfrm>
            <a:off x="47307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Nordic</a:t>
            </a:r>
          </a:p>
        </p:txBody>
      </p:sp>
      <p:sp>
        <p:nvSpPr>
          <p:cNvPr id="83" name="TextBox 82"/>
          <p:cNvSpPr txBox="1"/>
          <p:nvPr/>
        </p:nvSpPr>
        <p:spPr>
          <a:xfrm>
            <a:off x="5230813" y="6135380"/>
            <a:ext cx="762000" cy="247650"/>
          </a:xfrm>
          <a:prstGeom prst="rect">
            <a:avLst/>
          </a:prstGeom>
          <a:noFill/>
        </p:spPr>
        <p:txBody>
          <a:bodyPr wrap="square" lIns="28575" rIns="28575" tIns="9525" bIns="9525">
            <a:spAutoFit/>
          </a:bodyPr>
          <a:lstStyle/>
          <a:p>
            <a:pPr algn="ctr"/>
            <a:r>
              <a:rPr sz="1100" b="0">
                <a:solidFill>
                  <a:srgbClr val="2E2E2E"/>
                </a:solidFill>
                <a:latin typeface="Calibri"/>
              </a:rPr>
              <a:t>Switzerland</a:t>
            </a:r>
          </a:p>
        </p:txBody>
      </p:sp>
      <p:sp>
        <p:nvSpPr>
          <p:cNvPr id="84" name="TextBox 83"/>
          <p:cNvSpPr txBox="1"/>
          <p:nvPr/>
        </p:nvSpPr>
        <p:spPr>
          <a:xfrm>
            <a:off x="590550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Russia</a:t>
            </a:r>
          </a:p>
        </p:txBody>
      </p:sp>
      <p:sp>
        <p:nvSpPr>
          <p:cNvPr id="85" name="TextBox 84"/>
          <p:cNvSpPr txBox="1"/>
          <p:nvPr/>
        </p:nvSpPr>
        <p:spPr>
          <a:xfrm>
            <a:off x="6492875"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Poland</a:t>
            </a:r>
          </a:p>
        </p:txBody>
      </p:sp>
      <p:sp>
        <p:nvSpPr>
          <p:cNvPr id="86" name="TextBox 85"/>
          <p:cNvSpPr txBox="1"/>
          <p:nvPr/>
        </p:nvSpPr>
        <p:spPr>
          <a:xfrm>
            <a:off x="7080250" y="6135380"/>
            <a:ext cx="587375" cy="247650"/>
          </a:xfrm>
          <a:prstGeom prst="rect">
            <a:avLst/>
          </a:prstGeom>
          <a:noFill/>
        </p:spPr>
        <p:txBody>
          <a:bodyPr wrap="square" lIns="28575" rIns="28575" tIns="9525" bIns="9525">
            <a:spAutoFit/>
          </a:bodyPr>
          <a:lstStyle/>
          <a:p>
            <a:pPr algn="ctr"/>
            <a:r>
              <a:rPr sz="1100" b="0">
                <a:solidFill>
                  <a:srgbClr val="2E2E2E"/>
                </a:solidFill>
                <a:latin typeface="Calibri"/>
              </a:rPr>
              <a:t>Rest of Europe</a:t>
            </a:r>
          </a:p>
        </p:txBody>
      </p:sp>
      <p:sp>
        <p:nvSpPr>
          <p:cNvPr id="87" name="Rounded Rectangle 86"/>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89" name="Rectangle 8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chart shows Europe average pricing of key product type types in USD, harmonised across regions. Each candlestick spans the minimum-to-maximum observed price within the base year, giving a clear read of price range and market dispersion.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Wider bodies mark a larger gap between opening and closing price levels 'Premade Pouches &amp; Bags' shows the most movement (+16.7%) and 'Barrier Casings' the least (+13.8%) variability stakeholders should monitor when planning procurement or pricing.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The lower chart indexes country-level price movement to the base year, applied consistently across the horizon to strip out year-on-year inflationary volatility and reveal structural price shifts.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Country price indices diverge by up to 15.3% between 2026 and 2036: higher-priced countries start higher and grow steadily, while lower-priced countries start lower and converge, reflecting catch-up growth.</a:t>
            </a:r>
          </a:p>
        </p:txBody>
      </p:sp>
      <p:sp>
        <p:nvSpPr>
          <p:cNvPr id="91" name="TextBox 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Barrier Casings command the highest 2026 price point at US$ 4,783/MT, a 65.9% premium over Sachets &amp; Stick Packs.</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Index vs Europe Average (= 100)</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307848">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307848">
                <a:tc>
                  <a:txBody>
                    <a:bodyPr wrap="square"/>
                    <a:lstStyle/>
                    <a:p>
                      <a:pPr algn="l"/>
                      <a:r>
                        <a:rPr sz="850" b="1">
                          <a:solidFill>
                            <a:srgbClr val="1F1F1F"/>
                          </a:solidFill>
                          <a:latin typeface="Calibri"/>
                        </a:rPr>
                        <a:t>Barrier Casings</a:t>
                      </a:r>
                    </a:p>
                  </a:txBody>
                  <a:tcPr marL="36576" marR="36576" marT="9144" marB="9144" anchor="ctr">
                    <a:solidFill>
                      <a:srgbClr val="FFFFFF"/>
                    </a:solidFill>
                  </a:tcPr>
                </a:tc>
                <a:tc>
                  <a:txBody>
                    <a:bodyPr wrap="square"/>
                    <a:lstStyle/>
                    <a:p>
                      <a:pPr algn="ctr"/>
                      <a:r>
                        <a:rPr sz="850" b="0">
                          <a:solidFill>
                            <a:srgbClr val="1F1F1F"/>
                          </a:solidFill>
                          <a:latin typeface="Calibri"/>
                        </a:rPr>
                        <a:t>4,684</a:t>
                      </a:r>
                    </a:p>
                  </a:txBody>
                  <a:tcPr marL="36576" marR="36576" marT="9144" marB="9144" anchor="ctr">
                    <a:solidFill>
                      <a:srgbClr val="FFFFFF"/>
                    </a:solidFill>
                  </a:tcPr>
                </a:tc>
                <a:tc>
                  <a:txBody>
                    <a:bodyPr wrap="square"/>
                    <a:lstStyle/>
                    <a:p>
                      <a:pPr algn="ctr"/>
                      <a:r>
                        <a:rPr sz="850" b="0">
                          <a:solidFill>
                            <a:srgbClr val="1F1F1F"/>
                          </a:solidFill>
                          <a:latin typeface="Calibri"/>
                        </a:rPr>
                        <a:t>4,783</a:t>
                      </a:r>
                    </a:p>
                  </a:txBody>
                  <a:tcPr marL="36576" marR="36576" marT="9144" marB="9144" anchor="ctr">
                    <a:solidFill>
                      <a:srgbClr val="FFFFFF"/>
                    </a:solidFill>
                  </a:tcPr>
                </a:tc>
                <a:tc>
                  <a:txBody>
                    <a:bodyPr wrap="square"/>
                    <a:lstStyle/>
                    <a:p>
                      <a:pPr algn="ctr"/>
                      <a:r>
                        <a:rPr sz="850" b="0">
                          <a:solidFill>
                            <a:srgbClr val="1F1F1F"/>
                          </a:solidFill>
                          <a:latin typeface="Calibri"/>
                        </a:rPr>
                        <a:t>5,329</a:t>
                      </a:r>
                    </a:p>
                  </a:txBody>
                  <a:tcPr marL="36576" marR="36576" marT="9144" marB="9144" anchor="ctr">
                    <a:solidFill>
                      <a:srgbClr val="FFFFFF"/>
                    </a:solidFill>
                  </a:tcPr>
                </a:tc>
                <a:tc>
                  <a:txBody>
                    <a:bodyPr wrap="square"/>
                    <a:lstStyle/>
                    <a:p>
                      <a:pPr algn="ctr"/>
                      <a:r>
                        <a:rPr sz="850" b="0">
                          <a:solidFill>
                            <a:srgbClr val="1F1F1F"/>
                          </a:solidFill>
                          <a:latin typeface="Calibri"/>
                        </a:rPr>
                        <a:t>1.09%</a:t>
                      </a:r>
                    </a:p>
                  </a:txBody>
                  <a:tcPr marL="36576" marR="36576" marT="9144" marB="9144" anchor="ctr">
                    <a:solidFill>
                      <a:srgbClr val="FFFFFF"/>
                    </a:solidFill>
                  </a:tcPr>
                </a:tc>
                <a:tc>
                  <a:txBody>
                    <a:bodyPr wrap="square"/>
                    <a:lstStyle/>
                    <a:p>
                      <a:pPr algn="ctr"/>
                      <a:r>
                        <a:rPr sz="850" b="0">
                          <a:solidFill>
                            <a:srgbClr val="1F1F1F"/>
                          </a:solidFill>
                          <a:latin typeface="Calibri"/>
                        </a:rPr>
                        <a:t>144.1</a:t>
                      </a:r>
                    </a:p>
                  </a:txBody>
                  <a:tcPr marL="36576" marR="36576" marT="9144" marB="9144" anchor="ctr">
                    <a:solidFill>
                      <a:srgbClr val="F4B183"/>
                    </a:solidFill>
                  </a:tcPr>
                </a:tc>
              </a:tr>
              <a:tr h="307848">
                <a:tc>
                  <a:txBody>
                    <a:bodyPr wrap="square"/>
                    <a:lstStyle/>
                    <a:p>
                      <a:pPr algn="l"/>
                      <a:r>
                        <a:rPr sz="850" b="1">
                          <a:solidFill>
                            <a:srgbClr val="1F1F1F"/>
                          </a:solidFill>
                          <a:latin typeface="Calibri"/>
                        </a:rPr>
                        <a:t>Rollstock Films</a:t>
                      </a:r>
                    </a:p>
                  </a:txBody>
                  <a:tcPr marL="36576" marR="36576" marT="9144" marB="9144" anchor="ctr">
                    <a:solidFill>
                      <a:srgbClr val="F3F6F9"/>
                    </a:solidFill>
                  </a:tcPr>
                </a:tc>
                <a:tc>
                  <a:txBody>
                    <a:bodyPr wrap="square"/>
                    <a:lstStyle/>
                    <a:p>
                      <a:pPr algn="ctr"/>
                      <a:r>
                        <a:rPr sz="850" b="0">
                          <a:solidFill>
                            <a:srgbClr val="1F1F1F"/>
                          </a:solidFill>
                          <a:latin typeface="Calibri"/>
                        </a:rPr>
                        <a:t>3,253</a:t>
                      </a:r>
                    </a:p>
                  </a:txBody>
                  <a:tcPr marL="36576" marR="36576" marT="9144" marB="9144" anchor="ctr">
                    <a:solidFill>
                      <a:srgbClr val="F3F6F9"/>
                    </a:solidFill>
                  </a:tcPr>
                </a:tc>
                <a:tc>
                  <a:txBody>
                    <a:bodyPr wrap="square"/>
                    <a:lstStyle/>
                    <a:p>
                      <a:pPr algn="ctr"/>
                      <a:r>
                        <a:rPr sz="850" b="0">
                          <a:solidFill>
                            <a:srgbClr val="1F1F1F"/>
                          </a:solidFill>
                          <a:latin typeface="Calibri"/>
                        </a:rPr>
                        <a:t>3,324</a:t>
                      </a:r>
                    </a:p>
                  </a:txBody>
                  <a:tcPr marL="36576" marR="36576" marT="9144" marB="9144" anchor="ctr">
                    <a:solidFill>
                      <a:srgbClr val="F3F6F9"/>
                    </a:solidFill>
                  </a:tcPr>
                </a:tc>
                <a:tc>
                  <a:txBody>
                    <a:bodyPr wrap="square"/>
                    <a:lstStyle/>
                    <a:p>
                      <a:pPr algn="ctr"/>
                      <a:r>
                        <a:rPr sz="850" b="0">
                          <a:solidFill>
                            <a:srgbClr val="1F1F1F"/>
                          </a:solidFill>
                          <a:latin typeface="Calibri"/>
                        </a:rPr>
                        <a:t>3,774</a:t>
                      </a:r>
                    </a:p>
                  </a:txBody>
                  <a:tcPr marL="36576" marR="36576" marT="9144" marB="9144" anchor="ctr">
                    <a:solidFill>
                      <a:srgbClr val="F3F6F9"/>
                    </a:solidFill>
                  </a:tcPr>
                </a:tc>
                <a:tc>
                  <a:txBody>
                    <a:bodyPr wrap="square"/>
                    <a:lstStyle/>
                    <a:p>
                      <a:pPr algn="ctr"/>
                      <a:r>
                        <a:rPr sz="850" b="0">
                          <a:solidFill>
                            <a:srgbClr val="1F1F1F"/>
                          </a:solidFill>
                          <a:latin typeface="Calibri"/>
                        </a:rPr>
                        <a:t>1.28%</a:t>
                      </a:r>
                    </a:p>
                  </a:txBody>
                  <a:tcPr marL="36576" marR="36576" marT="9144" marB="9144" anchor="ctr">
                    <a:solidFill>
                      <a:srgbClr val="F3F6F9"/>
                    </a:solidFill>
                  </a:tcPr>
                </a:tc>
                <a:tc>
                  <a:txBody>
                    <a:bodyPr wrap="square"/>
                    <a:lstStyle/>
                    <a:p>
                      <a:pPr algn="ctr"/>
                      <a:r>
                        <a:rPr sz="850" b="0">
                          <a:solidFill>
                            <a:srgbClr val="1F1F1F"/>
                          </a:solidFill>
                          <a:latin typeface="Calibri"/>
                        </a:rPr>
                        <a:t>100.2</a:t>
                      </a:r>
                    </a:p>
                  </a:txBody>
                  <a:tcPr marL="36576" marR="36576" marT="9144" marB="9144" anchor="ctr">
                    <a:solidFill>
                      <a:srgbClr val="F7F7F7"/>
                    </a:solidFill>
                  </a:tcPr>
                </a:tc>
              </a:tr>
              <a:tr h="307848">
                <a:tc>
                  <a:txBody>
                    <a:bodyPr wrap="square"/>
                    <a:lstStyle/>
                    <a:p>
                      <a:pPr algn="l"/>
                      <a:r>
                        <a:rPr sz="850" b="1">
                          <a:solidFill>
                            <a:srgbClr val="1F1F1F"/>
                          </a:solidFill>
                          <a:latin typeface="Calibri"/>
                        </a:rPr>
                        <a:t>Premade Pouches &amp; Bags</a:t>
                      </a:r>
                    </a:p>
                  </a:txBody>
                  <a:tcPr marL="36576" marR="36576" marT="9144" marB="9144" anchor="ctr">
                    <a:solidFill>
                      <a:srgbClr val="FFFFFF"/>
                    </a:solidFill>
                  </a:tcPr>
                </a:tc>
                <a:tc>
                  <a:txBody>
                    <a:bodyPr wrap="square"/>
                    <a:lstStyle/>
                    <a:p>
                      <a:pPr algn="ctr"/>
                      <a:r>
                        <a:rPr sz="850" b="0">
                          <a:solidFill>
                            <a:srgbClr val="1F1F1F"/>
                          </a:solidFill>
                          <a:latin typeface="Calibri"/>
                        </a:rPr>
                        <a:t>2,985</a:t>
                      </a:r>
                    </a:p>
                  </a:txBody>
                  <a:tcPr marL="36576" marR="36576" marT="9144" marB="9144" anchor="ctr">
                    <a:solidFill>
                      <a:srgbClr val="FFFFFF"/>
                    </a:solidFill>
                  </a:tcPr>
                </a:tc>
                <a:tc>
                  <a:txBody>
                    <a:bodyPr wrap="square"/>
                    <a:lstStyle/>
                    <a:p>
                      <a:pPr algn="ctr"/>
                      <a:r>
                        <a:rPr sz="850" b="0">
                          <a:solidFill>
                            <a:srgbClr val="1F1F1F"/>
                          </a:solidFill>
                          <a:latin typeface="Calibri"/>
                        </a:rPr>
                        <a:t>3,058</a:t>
                      </a:r>
                    </a:p>
                  </a:txBody>
                  <a:tcPr marL="36576" marR="36576" marT="9144" marB="9144" anchor="ctr">
                    <a:solidFill>
                      <a:srgbClr val="FFFFFF"/>
                    </a:solidFill>
                  </a:tcPr>
                </a:tc>
                <a:tc>
                  <a:txBody>
                    <a:bodyPr wrap="square"/>
                    <a:lstStyle/>
                    <a:p>
                      <a:pPr algn="ctr"/>
                      <a:r>
                        <a:rPr sz="850" b="0">
                          <a:solidFill>
                            <a:srgbClr val="1F1F1F"/>
                          </a:solidFill>
                          <a:latin typeface="Calibri"/>
                        </a:rPr>
                        <a:t>3,483</a:t>
                      </a:r>
                    </a:p>
                  </a:txBody>
                  <a:tcPr marL="36576" marR="36576" marT="9144" marB="9144" anchor="ctr">
                    <a:solidFill>
                      <a:srgbClr val="FFFFFF"/>
                    </a:solidFill>
                  </a:tcPr>
                </a:tc>
                <a:tc>
                  <a:txBody>
                    <a:bodyPr wrap="square"/>
                    <a:lstStyle/>
                    <a:p>
                      <a:pPr algn="ctr"/>
                      <a:r>
                        <a:rPr sz="850" b="0">
                          <a:solidFill>
                            <a:srgbClr val="1F1F1F"/>
                          </a:solidFill>
                          <a:latin typeface="Calibri"/>
                        </a:rPr>
                        <a:t>1.31%</a:t>
                      </a:r>
                    </a:p>
                  </a:txBody>
                  <a:tcPr marL="36576" marR="36576" marT="9144" marB="9144" anchor="ctr">
                    <a:solidFill>
                      <a:srgbClr val="FFFFFF"/>
                    </a:solidFill>
                  </a:tcPr>
                </a:tc>
                <a:tc>
                  <a:txBody>
                    <a:bodyPr wrap="square"/>
                    <a:lstStyle/>
                    <a:p>
                      <a:pPr algn="ctr"/>
                      <a:r>
                        <a:rPr sz="850" b="0">
                          <a:solidFill>
                            <a:srgbClr val="1F1F1F"/>
                          </a:solidFill>
                          <a:latin typeface="Calibri"/>
                        </a:rPr>
                        <a:t>92.2</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Sachets &amp; Stick Packs</a:t>
                      </a:r>
                    </a:p>
                  </a:txBody>
                  <a:tcPr marL="36576" marR="36576" marT="9144" marB="9144" anchor="ctr">
                    <a:solidFill>
                      <a:srgbClr val="F3F6F9"/>
                    </a:solidFill>
                  </a:tcPr>
                </a:tc>
                <a:tc>
                  <a:txBody>
                    <a:bodyPr wrap="square"/>
                    <a:lstStyle/>
                    <a:p>
                      <a:pPr algn="ctr"/>
                      <a:r>
                        <a:rPr sz="850" b="0">
                          <a:solidFill>
                            <a:srgbClr val="1F1F1F"/>
                          </a:solidFill>
                          <a:latin typeface="Calibri"/>
                        </a:rPr>
                        <a:t>2,826</a:t>
                      </a:r>
                    </a:p>
                  </a:txBody>
                  <a:tcPr marL="36576" marR="36576" marT="9144" marB="9144" anchor="ctr">
                    <a:solidFill>
                      <a:srgbClr val="F3F6F9"/>
                    </a:solidFill>
                  </a:tcPr>
                </a:tc>
                <a:tc>
                  <a:txBody>
                    <a:bodyPr wrap="square"/>
                    <a:lstStyle/>
                    <a:p>
                      <a:pPr algn="ctr"/>
                      <a:r>
                        <a:rPr sz="850" b="0">
                          <a:solidFill>
                            <a:srgbClr val="1F1F1F"/>
                          </a:solidFill>
                          <a:latin typeface="Calibri"/>
                        </a:rPr>
                        <a:t>2,883</a:t>
                      </a:r>
                    </a:p>
                  </a:txBody>
                  <a:tcPr marL="36576" marR="36576" marT="9144" marB="9144" anchor="ctr">
                    <a:solidFill>
                      <a:srgbClr val="F3F6F9"/>
                    </a:solidFill>
                  </a:tcPr>
                </a:tc>
                <a:tc>
                  <a:txBody>
                    <a:bodyPr wrap="square"/>
                    <a:lstStyle/>
                    <a:p>
                      <a:pPr algn="ctr"/>
                      <a:r>
                        <a:rPr sz="850" b="0">
                          <a:solidFill>
                            <a:srgbClr val="1F1F1F"/>
                          </a:solidFill>
                          <a:latin typeface="Calibri"/>
                        </a:rPr>
                        <a:t>3,262</a:t>
                      </a:r>
                    </a:p>
                  </a:txBody>
                  <a:tcPr marL="36576" marR="36576" marT="9144" marB="9144" anchor="ctr">
                    <a:solidFill>
                      <a:srgbClr val="F3F6F9"/>
                    </a:solidFill>
                  </a:tcPr>
                </a:tc>
                <a:tc>
                  <a:txBody>
                    <a:bodyPr wrap="square"/>
                    <a:lstStyle/>
                    <a:p>
                      <a:pPr algn="ctr"/>
                      <a:r>
                        <a:rPr sz="850" b="0">
                          <a:solidFill>
                            <a:srgbClr val="1F1F1F"/>
                          </a:solidFill>
                          <a:latin typeface="Calibri"/>
                        </a:rPr>
                        <a:t>1.24%</a:t>
                      </a:r>
                    </a:p>
                  </a:txBody>
                  <a:tcPr marL="36576" marR="36576" marT="9144" marB="9144" anchor="ctr">
                    <a:solidFill>
                      <a:srgbClr val="F3F6F9"/>
                    </a:solidFill>
                  </a:tcPr>
                </a:tc>
                <a:tc>
                  <a:txBody>
                    <a:bodyPr wrap="square"/>
                    <a:lstStyle/>
                    <a:p>
                      <a:pPr algn="ctr"/>
                      <a:r>
                        <a:rPr sz="850" b="0">
                          <a:solidFill>
                            <a:srgbClr val="1F1F1F"/>
                          </a:solidFill>
                          <a:latin typeface="Calibri"/>
                        </a:rPr>
                        <a:t>86.9</a:t>
                      </a:r>
                    </a:p>
                  </a:txBody>
                  <a:tcPr marL="36576" marR="36576" marT="9144" marB="9144" anchor="ctr">
                    <a:solidFill>
                      <a:srgbClr val="9DC0E0"/>
                    </a:solidFill>
                  </a:tcPr>
                </a:tc>
              </a:tr>
              <a:tr h="307848">
                <a:tc>
                  <a:txBody>
                    <a:bodyPr wrap="square"/>
                    <a:lstStyle/>
                    <a:p>
                      <a:pPr algn="l"/>
                      <a:r>
                        <a:rPr sz="850" b="1">
                          <a:solidFill>
                            <a:srgbClr val="1F1F1F"/>
                          </a:solidFill>
                          <a:latin typeface="Calibri"/>
                        </a:rPr>
                        <a:t>Europe Average</a:t>
                      </a:r>
                    </a:p>
                  </a:txBody>
                  <a:tcPr marL="36576" marR="36576" marT="9144" marB="9144" anchor="ctr">
                    <a:solidFill>
                      <a:srgbClr val="F3F6F9"/>
                    </a:solidFill>
                  </a:tcPr>
                </a:tc>
                <a:tc>
                  <a:txBody>
                    <a:bodyPr wrap="square"/>
                    <a:lstStyle/>
                    <a:p>
                      <a:pPr algn="ctr"/>
                      <a:r>
                        <a:rPr sz="850" b="0">
                          <a:solidFill>
                            <a:srgbClr val="1F1F1F"/>
                          </a:solidFill>
                          <a:latin typeface="Calibri"/>
                        </a:rPr>
                        <a:t>3,245</a:t>
                      </a:r>
                    </a:p>
                  </a:txBody>
                  <a:tcPr marL="36576" marR="36576" marT="9144" marB="9144" anchor="ctr">
                    <a:solidFill>
                      <a:srgbClr val="F3F6F9"/>
                    </a:solidFill>
                  </a:tcPr>
                </a:tc>
                <a:tc>
                  <a:txBody>
                    <a:bodyPr wrap="square"/>
                    <a:lstStyle/>
                    <a:p>
                      <a:pPr algn="ctr"/>
                      <a:r>
                        <a:rPr sz="850" b="0">
                          <a:solidFill>
                            <a:srgbClr val="1F1F1F"/>
                          </a:solidFill>
                          <a:latin typeface="Calibri"/>
                        </a:rPr>
                        <a:t>3,318</a:t>
                      </a:r>
                    </a:p>
                  </a:txBody>
                  <a:tcPr marL="36576" marR="36576" marT="9144" marB="9144" anchor="ctr">
                    <a:solidFill>
                      <a:srgbClr val="F3F6F9"/>
                    </a:solidFill>
                  </a:tcPr>
                </a:tc>
                <a:tc>
                  <a:txBody>
                    <a:bodyPr wrap="square"/>
                    <a:lstStyle/>
                    <a:p>
                      <a:pPr algn="ctr"/>
                      <a:r>
                        <a:rPr sz="850" b="0">
                          <a:solidFill>
                            <a:srgbClr val="1F1F1F"/>
                          </a:solidFill>
                          <a:latin typeface="Calibri"/>
                        </a:rPr>
                        <a:t>3,762</a:t>
                      </a:r>
                    </a:p>
                  </a:txBody>
                  <a:tcPr marL="36576" marR="36576" marT="9144" marB="9144" anchor="ctr">
                    <a:solidFill>
                      <a:srgbClr val="F3F6F9"/>
                    </a:solidFill>
                  </a:tcPr>
                </a:tc>
                <a:tc>
                  <a:txBody>
                    <a:bodyPr wrap="square"/>
                    <a:lstStyle/>
                    <a:p>
                      <a:pPr algn="ctr"/>
                      <a:r>
                        <a:rPr sz="850" b="0">
                          <a:solidFill>
                            <a:srgbClr val="1F1F1F"/>
                          </a:solidFill>
                          <a:latin typeface="Calibri"/>
                        </a:rPr>
                        <a:t>1.26%</a:t>
                      </a:r>
                    </a:p>
                  </a:txBody>
                  <a:tcPr marL="36576" marR="36576" marT="9144" marB="9144" anchor="ctr">
                    <a:solidFill>
                      <a:srgbClr val="F3F6F9"/>
                    </a:solidFill>
                  </a:tcPr>
                </a:tc>
                <a:tc>
                  <a:txBody>
                    <a:bodyPr wrap="square"/>
                    <a:lstStyle/>
                    <a:p>
                      <a:pPr algn="ctr"/>
                      <a:r>
                        <a:rPr sz="850" b="0">
                          <a:solidFill>
                            <a:srgbClr val="1F1F1F"/>
                          </a:solidFill>
                          <a:latin typeface="Calibri"/>
                        </a:rPr>
                        <a:t>100.0</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Barrier Casings sit at the top of the 2026 price ladder at an index of 144.1, while Sachets &amp; Stick Packs trade at 86.9, which keeps the full product type spread within 65.9%.</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Premade Pouches &amp; Bags post the fastest price growth at a 1.31% CAGR between 2026 and 2036, compared with 1.09% for Barrier Casings.</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The Europe average price rises from US$ 3,318/MT in 2026 to US$ 3,762/MT in 2036, and the gap between the highest and lowest priced product type moves from 65.8% in 2021 to 63.4% in 2036.</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Pricing Assessment: Country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average price and price range across product types, 2026 (US$/MT)</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Switzerland is the most premium Europe market at US$ 3,905/MT in 2026, +17.7% above the regional average, while Russia is the lowest priced.</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Country (US$/MT),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the lowest to highest product type price in each country, read on the price index axis (Europe average = 100). Teal = above Europe average, blue = below.</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0"/>
        </p:xfrm>
        <a:graphic>
          <a:graphicData uri="http://schemas.openxmlformats.org/drawingml/2006/table">
            <a:tbl>
              <a:tblPr firstRow="1" bandRow="1">
                <a:tableStyleId>{5C22544A-7EE6-4342-B048-85BDC9FD1C3A}</a:tableStyleId>
              </a:tblPr>
              <a:tblGrid>
                <a:gridCol w="1417320"/>
                <a:gridCol w="786384"/>
                <a:gridCol w="658368"/>
                <a:gridCol w="914400"/>
              </a:tblGrid>
              <a:tr h="280970">
                <a:tc>
                  <a:txBody>
                    <a:bodyPr wrap="square"/>
                    <a:lstStyle/>
                    <a:p>
                      <a:pPr algn="l"/>
                      <a:r>
                        <a:rPr sz="900" b="1">
                          <a:solidFill>
                            <a:srgbClr val="FFFFFF"/>
                          </a:solidFill>
                          <a:latin typeface="Calibri"/>
                        </a:rPr>
                        <a:t>Country</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280970">
                <a:tc>
                  <a:txBody>
                    <a:bodyPr wrap="square"/>
                    <a:lstStyle/>
                    <a:p>
                      <a:pPr algn="l"/>
                      <a:r>
                        <a:rPr sz="900" b="1">
                          <a:solidFill>
                            <a:srgbClr val="1F1F1F"/>
                          </a:solidFill>
                          <a:latin typeface="Calibri"/>
                        </a:rPr>
                        <a:t>Switzerland</a:t>
                      </a:r>
                    </a:p>
                  </a:txBody>
                  <a:tcPr marL="36576" marR="36576" marT="9144" marB="9144" anchor="ctr">
                    <a:solidFill>
                      <a:srgbClr val="FFFFFF"/>
                    </a:solidFill>
                  </a:tcPr>
                </a:tc>
                <a:tc>
                  <a:txBody>
                    <a:bodyPr wrap="square"/>
                    <a:lstStyle/>
                    <a:p>
                      <a:pPr algn="ctr"/>
                      <a:r>
                        <a:rPr sz="900" b="0">
                          <a:solidFill>
                            <a:srgbClr val="1F1F1F"/>
                          </a:solidFill>
                          <a:latin typeface="Calibri"/>
                        </a:rPr>
                        <a:t>3,905</a:t>
                      </a:r>
                    </a:p>
                  </a:txBody>
                  <a:tcPr marL="36576" marR="36576" marT="9144" marB="9144" anchor="ctr">
                    <a:solidFill>
                      <a:srgbClr val="FFFFFF"/>
                    </a:solidFill>
                  </a:tcPr>
                </a:tc>
                <a:tc>
                  <a:txBody>
                    <a:bodyPr wrap="square"/>
                    <a:lstStyle/>
                    <a:p>
                      <a:pPr algn="ctr"/>
                      <a:r>
                        <a:rPr sz="900" b="0">
                          <a:solidFill>
                            <a:srgbClr val="1F1F1F"/>
                          </a:solidFill>
                          <a:latin typeface="Calibri"/>
                        </a:rPr>
                        <a:t>117.7</a:t>
                      </a:r>
                    </a:p>
                  </a:txBody>
                  <a:tcPr marL="36576" marR="36576" marT="9144" marB="9144" anchor="ctr">
                    <a:solidFill>
                      <a:srgbClr val="F4B183"/>
                    </a:solidFill>
                  </a:tcPr>
                </a:tc>
                <a:tc>
                  <a:txBody>
                    <a:bodyPr wrap="square"/>
                    <a:lstStyle/>
                    <a:p>
                      <a:pPr algn="ctr"/>
                      <a:r>
                        <a:rPr sz="900" b="0">
                          <a:solidFill>
                            <a:srgbClr val="1F1F1F"/>
                          </a:solidFill>
                          <a:latin typeface="Calibri"/>
                        </a:rPr>
                        <a:t>1.40%</a:t>
                      </a:r>
                    </a:p>
                  </a:txBody>
                  <a:tcPr marL="36576" marR="36576" marT="9144" marB="9144" anchor="ctr">
                    <a:solidFill>
                      <a:srgbClr val="FFFFFF"/>
                    </a:solidFill>
                  </a:tcPr>
                </a:tc>
              </a:tr>
              <a:tr h="280970">
                <a:tc>
                  <a:txBody>
                    <a:bodyPr wrap="square"/>
                    <a:lstStyle/>
                    <a:p>
                      <a:pPr algn="l"/>
                      <a:r>
                        <a:rPr sz="900" b="1">
                          <a:solidFill>
                            <a:srgbClr val="1F1F1F"/>
                          </a:solidFill>
                          <a:latin typeface="Calibri"/>
                        </a:rPr>
                        <a:t>Nordic</a:t>
                      </a:r>
                    </a:p>
                  </a:txBody>
                  <a:tcPr marL="36576" marR="36576" marT="9144" marB="9144" anchor="ctr">
                    <a:solidFill>
                      <a:srgbClr val="F3F6F9"/>
                    </a:solidFill>
                  </a:tcPr>
                </a:tc>
                <a:tc>
                  <a:txBody>
                    <a:bodyPr wrap="square"/>
                    <a:lstStyle/>
                    <a:p>
                      <a:pPr algn="ctr"/>
                      <a:r>
                        <a:rPr sz="900" b="0">
                          <a:solidFill>
                            <a:srgbClr val="1F1F1F"/>
                          </a:solidFill>
                          <a:latin typeface="Calibri"/>
                        </a:rPr>
                        <a:t>3,726</a:t>
                      </a:r>
                    </a:p>
                  </a:txBody>
                  <a:tcPr marL="36576" marR="36576" marT="9144" marB="9144" anchor="ctr">
                    <a:solidFill>
                      <a:srgbClr val="F3F6F9"/>
                    </a:solidFill>
                  </a:tcPr>
                </a:tc>
                <a:tc>
                  <a:txBody>
                    <a:bodyPr wrap="square"/>
                    <a:lstStyle/>
                    <a:p>
                      <a:pPr algn="ctr"/>
                      <a:r>
                        <a:rPr sz="900" b="0">
                          <a:solidFill>
                            <a:srgbClr val="1F1F1F"/>
                          </a:solidFill>
                          <a:latin typeface="Calibri"/>
                        </a:rPr>
                        <a:t>112.3</a:t>
                      </a:r>
                    </a:p>
                  </a:txBody>
                  <a:tcPr marL="36576" marR="36576" marT="9144" marB="9144" anchor="ctr">
                    <a:solidFill>
                      <a:srgbClr val="F4B183"/>
                    </a:solidFill>
                  </a:tcPr>
                </a:tc>
                <a:tc>
                  <a:txBody>
                    <a:bodyPr wrap="square"/>
                    <a:lstStyle/>
                    <a:p>
                      <a:pPr algn="ctr"/>
                      <a:r>
                        <a:rPr sz="900" b="0">
                          <a:solidFill>
                            <a:srgbClr val="1F1F1F"/>
                          </a:solidFill>
                          <a:latin typeface="Calibri"/>
                        </a:rPr>
                        <a:t>1.43%</a:t>
                      </a:r>
                    </a:p>
                  </a:txBody>
                  <a:tcPr marL="36576" marR="36576" marT="9144" marB="9144" anchor="ctr">
                    <a:solidFill>
                      <a:srgbClr val="F3F6F9"/>
                    </a:solidFill>
                  </a:tcPr>
                </a:tc>
              </a:tr>
              <a:tr h="280970">
                <a:tc>
                  <a:txBody>
                    <a:bodyPr wrap="square"/>
                    <a:lstStyle/>
                    <a:p>
                      <a:pPr algn="l"/>
                      <a:r>
                        <a:rPr sz="900" b="1">
                          <a:solidFill>
                            <a:srgbClr val="1F1F1F"/>
                          </a:solidFill>
                          <a:latin typeface="Calibri"/>
                        </a:rPr>
                        <a:t>Germany</a:t>
                      </a:r>
                    </a:p>
                  </a:txBody>
                  <a:tcPr marL="36576" marR="36576" marT="9144" marB="9144" anchor="ctr">
                    <a:solidFill>
                      <a:srgbClr val="FFFFFF"/>
                    </a:solidFill>
                  </a:tcPr>
                </a:tc>
                <a:tc>
                  <a:txBody>
                    <a:bodyPr wrap="square"/>
                    <a:lstStyle/>
                    <a:p>
                      <a:pPr algn="ctr"/>
                      <a:r>
                        <a:rPr sz="900" b="0">
                          <a:solidFill>
                            <a:srgbClr val="1F1F1F"/>
                          </a:solidFill>
                          <a:latin typeface="Calibri"/>
                        </a:rPr>
                        <a:t>3,592</a:t>
                      </a:r>
                    </a:p>
                  </a:txBody>
                  <a:tcPr marL="36576" marR="36576" marT="9144" marB="9144" anchor="ctr">
                    <a:solidFill>
                      <a:srgbClr val="FFFFFF"/>
                    </a:solidFill>
                  </a:tcPr>
                </a:tc>
                <a:tc>
                  <a:txBody>
                    <a:bodyPr wrap="square"/>
                    <a:lstStyle/>
                    <a:p>
                      <a:pPr algn="ctr"/>
                      <a:r>
                        <a:rPr sz="900" b="0">
                          <a:solidFill>
                            <a:srgbClr val="1F1F1F"/>
                          </a:solidFill>
                          <a:latin typeface="Calibri"/>
                        </a:rPr>
                        <a:t>108.2</a:t>
                      </a:r>
                    </a:p>
                  </a:txBody>
                  <a:tcPr marL="36576" marR="36576" marT="9144" marB="9144" anchor="ctr">
                    <a:solidFill>
                      <a:srgbClr val="F4B183"/>
                    </a:solidFill>
                  </a:tcPr>
                </a:tc>
                <a:tc>
                  <a:txBody>
                    <a:bodyPr wrap="square"/>
                    <a:lstStyle/>
                    <a:p>
                      <a:pPr algn="ctr"/>
                      <a:r>
                        <a:rPr sz="900" b="0">
                          <a:solidFill>
                            <a:srgbClr val="1F1F1F"/>
                          </a:solidFill>
                          <a:latin typeface="Calibri"/>
                        </a:rPr>
                        <a:t>1.27%</a:t>
                      </a:r>
                    </a:p>
                  </a:txBody>
                  <a:tcPr marL="36576" marR="36576" marT="9144" marB="9144" anchor="ctr">
                    <a:solidFill>
                      <a:srgbClr val="FFFFFF"/>
                    </a:solidFill>
                  </a:tcPr>
                </a:tc>
              </a:tr>
              <a:tr h="280970">
                <a:tc>
                  <a:txBody>
                    <a:bodyPr wrap="square"/>
                    <a:lstStyle/>
                    <a:p>
                      <a:pPr algn="l"/>
                      <a:r>
                        <a:rPr sz="900" b="1">
                          <a:solidFill>
                            <a:srgbClr val="1F1F1F"/>
                          </a:solidFill>
                          <a:latin typeface="Calibri"/>
                        </a:rPr>
                        <a:t>Belgium</a:t>
                      </a:r>
                    </a:p>
                  </a:txBody>
                  <a:tcPr marL="36576" marR="36576" marT="9144" marB="9144" anchor="ctr">
                    <a:solidFill>
                      <a:srgbClr val="F3F6F9"/>
                    </a:solidFill>
                  </a:tcPr>
                </a:tc>
                <a:tc>
                  <a:txBody>
                    <a:bodyPr wrap="square"/>
                    <a:lstStyle/>
                    <a:p>
                      <a:pPr algn="ctr"/>
                      <a:r>
                        <a:rPr sz="900" b="0">
                          <a:solidFill>
                            <a:srgbClr val="1F1F1F"/>
                          </a:solidFill>
                          <a:latin typeface="Calibri"/>
                        </a:rPr>
                        <a:t>3,545</a:t>
                      </a:r>
                    </a:p>
                  </a:txBody>
                  <a:tcPr marL="36576" marR="36576" marT="9144" marB="9144" anchor="ctr">
                    <a:solidFill>
                      <a:srgbClr val="F3F6F9"/>
                    </a:solidFill>
                  </a:tcPr>
                </a:tc>
                <a:tc>
                  <a:txBody>
                    <a:bodyPr wrap="square"/>
                    <a:lstStyle/>
                    <a:p>
                      <a:pPr algn="ctr"/>
                      <a:r>
                        <a:rPr sz="900" b="0">
                          <a:solidFill>
                            <a:srgbClr val="1F1F1F"/>
                          </a:solidFill>
                          <a:latin typeface="Calibri"/>
                        </a:rPr>
                        <a:t>106.8</a:t>
                      </a:r>
                    </a:p>
                  </a:txBody>
                  <a:tcPr marL="36576" marR="36576" marT="9144" marB="9144" anchor="ctr">
                    <a:solidFill>
                      <a:srgbClr val="F4B183"/>
                    </a:solidFill>
                  </a:tcPr>
                </a:tc>
                <a:tc>
                  <a:txBody>
                    <a:bodyPr wrap="square"/>
                    <a:lstStyle/>
                    <a:p>
                      <a:pPr algn="ctr"/>
                      <a:r>
                        <a:rPr sz="900" b="0">
                          <a:solidFill>
                            <a:srgbClr val="1F1F1F"/>
                          </a:solidFill>
                          <a:latin typeface="Calibri"/>
                        </a:rPr>
                        <a:t>1.32%</a:t>
                      </a:r>
                    </a:p>
                  </a:txBody>
                  <a:tcPr marL="36576" marR="36576" marT="9144" marB="9144" anchor="ctr">
                    <a:solidFill>
                      <a:srgbClr val="F3F6F9"/>
                    </a:solidFill>
                  </a:tcPr>
                </a:tc>
              </a:tr>
              <a:tr h="280970">
                <a:tc>
                  <a:txBody>
                    <a:bodyPr wrap="square"/>
                    <a:lstStyle/>
                    <a:p>
                      <a:pPr algn="l"/>
                      <a:r>
                        <a:rPr sz="900" b="1">
                          <a:solidFill>
                            <a:srgbClr val="1F1F1F"/>
                          </a:solidFill>
                          <a:latin typeface="Calibri"/>
                        </a:rPr>
                        <a:t>U.K.</a:t>
                      </a:r>
                    </a:p>
                  </a:txBody>
                  <a:tcPr marL="36576" marR="36576" marT="9144" marB="9144" anchor="ctr">
                    <a:solidFill>
                      <a:srgbClr val="FFFFFF"/>
                    </a:solidFill>
                  </a:tcPr>
                </a:tc>
                <a:tc>
                  <a:txBody>
                    <a:bodyPr wrap="square"/>
                    <a:lstStyle/>
                    <a:p>
                      <a:pPr algn="ctr"/>
                      <a:r>
                        <a:rPr sz="900" b="0">
                          <a:solidFill>
                            <a:srgbClr val="1F1F1F"/>
                          </a:solidFill>
                          <a:latin typeface="Calibri"/>
                        </a:rPr>
                        <a:t>3,500</a:t>
                      </a:r>
                    </a:p>
                  </a:txBody>
                  <a:tcPr marL="36576" marR="36576" marT="9144" marB="9144" anchor="ctr">
                    <a:solidFill>
                      <a:srgbClr val="FFFFFF"/>
                    </a:solidFill>
                  </a:tcPr>
                </a:tc>
                <a:tc>
                  <a:txBody>
                    <a:bodyPr wrap="square"/>
                    <a:lstStyle/>
                    <a:p>
                      <a:pPr algn="ctr"/>
                      <a:r>
                        <a:rPr sz="900" b="0">
                          <a:solidFill>
                            <a:srgbClr val="1F1F1F"/>
                          </a:solidFill>
                          <a:latin typeface="Calibri"/>
                        </a:rPr>
                        <a:t>105.5</a:t>
                      </a:r>
                    </a:p>
                  </a:txBody>
                  <a:tcPr marL="36576" marR="36576" marT="9144" marB="9144" anchor="ctr">
                    <a:solidFill>
                      <a:srgbClr val="F4B183"/>
                    </a:solidFill>
                  </a:tcPr>
                </a:tc>
                <a:tc>
                  <a:txBody>
                    <a:bodyPr wrap="square"/>
                    <a:lstStyle/>
                    <a:p>
                      <a:pPr algn="ctr"/>
                      <a:r>
                        <a:rPr sz="900" b="0">
                          <a:solidFill>
                            <a:srgbClr val="1F1F1F"/>
                          </a:solidFill>
                          <a:latin typeface="Calibri"/>
                        </a:rPr>
                        <a:t>1.22%</a:t>
                      </a:r>
                    </a:p>
                  </a:txBody>
                  <a:tcPr marL="36576" marR="36576" marT="9144" marB="9144" anchor="ctr">
                    <a:solidFill>
                      <a:srgbClr val="FFFFFF"/>
                    </a:solidFill>
                  </a:tcPr>
                </a:tc>
              </a:tr>
              <a:tr h="280970">
                <a:tc>
                  <a:txBody>
                    <a:bodyPr wrap="square"/>
                    <a:lstStyle/>
                    <a:p>
                      <a:pPr algn="l"/>
                      <a:r>
                        <a:rPr sz="900" b="1">
                          <a:solidFill>
                            <a:srgbClr val="1F1F1F"/>
                          </a:solidFill>
                          <a:latin typeface="Calibri"/>
                        </a:rPr>
                        <a:t>France</a:t>
                      </a:r>
                    </a:p>
                  </a:txBody>
                  <a:tcPr marL="36576" marR="36576" marT="9144" marB="9144" anchor="ctr">
                    <a:solidFill>
                      <a:srgbClr val="F3F6F9"/>
                    </a:solidFill>
                  </a:tcPr>
                </a:tc>
                <a:tc>
                  <a:txBody>
                    <a:bodyPr wrap="square"/>
                    <a:lstStyle/>
                    <a:p>
                      <a:pPr algn="ctr"/>
                      <a:r>
                        <a:rPr sz="900" b="0">
                          <a:solidFill>
                            <a:srgbClr val="1F1F1F"/>
                          </a:solidFill>
                          <a:latin typeface="Calibri"/>
                        </a:rPr>
                        <a:t>3,423</a:t>
                      </a:r>
                    </a:p>
                  </a:txBody>
                  <a:tcPr marL="36576" marR="36576" marT="9144" marB="9144" anchor="ctr">
                    <a:solidFill>
                      <a:srgbClr val="F3F6F9"/>
                    </a:solidFill>
                  </a:tcPr>
                </a:tc>
                <a:tc>
                  <a:txBody>
                    <a:bodyPr wrap="square"/>
                    <a:lstStyle/>
                    <a:p>
                      <a:pPr algn="ctr"/>
                      <a:r>
                        <a:rPr sz="900" b="0">
                          <a:solidFill>
                            <a:srgbClr val="1F1F1F"/>
                          </a:solidFill>
                          <a:latin typeface="Calibri"/>
                        </a:rPr>
                        <a:t>103.2</a:t>
                      </a:r>
                    </a:p>
                  </a:txBody>
                  <a:tcPr marL="36576" marR="36576" marT="9144" marB="9144" anchor="ctr">
                    <a:solidFill>
                      <a:srgbClr val="F4B183"/>
                    </a:solidFill>
                  </a:tcPr>
                </a:tc>
                <a:tc>
                  <a:txBody>
                    <a:bodyPr wrap="square"/>
                    <a:lstStyle/>
                    <a:p>
                      <a:pPr algn="ctr"/>
                      <a:r>
                        <a:rPr sz="900" b="0">
                          <a:solidFill>
                            <a:srgbClr val="1F1F1F"/>
                          </a:solidFill>
                          <a:latin typeface="Calibri"/>
                        </a:rPr>
                        <a:t>1.34%</a:t>
                      </a:r>
                    </a:p>
                  </a:txBody>
                  <a:tcPr marL="36576" marR="36576" marT="9144" marB="9144" anchor="ctr">
                    <a:solidFill>
                      <a:srgbClr val="F3F6F9"/>
                    </a:solidFill>
                  </a:tcPr>
                </a:tc>
              </a:tr>
              <a:tr h="280970">
                <a:tc>
                  <a:txBody>
                    <a:bodyPr wrap="square"/>
                    <a:lstStyle/>
                    <a:p>
                      <a:pPr algn="l"/>
                      <a:r>
                        <a:rPr sz="900" b="1">
                          <a:solidFill>
                            <a:srgbClr val="1F1F1F"/>
                          </a:solidFill>
                          <a:latin typeface="Calibri"/>
                        </a:rPr>
                        <a:t>Italy</a:t>
                      </a:r>
                    </a:p>
                  </a:txBody>
                  <a:tcPr marL="36576" marR="36576" marT="9144" marB="9144" anchor="ctr">
                    <a:solidFill>
                      <a:srgbClr val="FFFFFF"/>
                    </a:solidFill>
                  </a:tcPr>
                </a:tc>
                <a:tc>
                  <a:txBody>
                    <a:bodyPr wrap="square"/>
                    <a:lstStyle/>
                    <a:p>
                      <a:pPr algn="ctr"/>
                      <a:r>
                        <a:rPr sz="900" b="0">
                          <a:solidFill>
                            <a:srgbClr val="1F1F1F"/>
                          </a:solidFill>
                          <a:latin typeface="Calibri"/>
                        </a:rPr>
                        <a:t>3,194</a:t>
                      </a:r>
                    </a:p>
                  </a:txBody>
                  <a:tcPr marL="36576" marR="36576" marT="9144" marB="9144" anchor="ctr">
                    <a:solidFill>
                      <a:srgbClr val="FFFFFF"/>
                    </a:solidFill>
                  </a:tcPr>
                </a:tc>
                <a:tc>
                  <a:txBody>
                    <a:bodyPr wrap="square"/>
                    <a:lstStyle/>
                    <a:p>
                      <a:pPr algn="ctr"/>
                      <a:r>
                        <a:rPr sz="900" b="0">
                          <a:solidFill>
                            <a:srgbClr val="1F1F1F"/>
                          </a:solidFill>
                          <a:latin typeface="Calibri"/>
                        </a:rPr>
                        <a:t>96.3</a:t>
                      </a:r>
                    </a:p>
                  </a:txBody>
                  <a:tcPr marL="36576" marR="36576" marT="9144" marB="9144" anchor="ctr">
                    <a:solidFill>
                      <a:srgbClr val="9DC0E0"/>
                    </a:solidFill>
                  </a:tcPr>
                </a:tc>
                <a:tc>
                  <a:txBody>
                    <a:bodyPr wrap="square"/>
                    <a:lstStyle/>
                    <a:p>
                      <a:pPr algn="ctr"/>
                      <a:r>
                        <a:rPr sz="900" b="0">
                          <a:solidFill>
                            <a:srgbClr val="1F1F1F"/>
                          </a:solidFill>
                          <a:latin typeface="Calibri"/>
                        </a:rPr>
                        <a:t>1.30%</a:t>
                      </a:r>
                    </a:p>
                  </a:txBody>
                  <a:tcPr marL="36576" marR="36576" marT="9144" marB="9144" anchor="ctr">
                    <a:solidFill>
                      <a:srgbClr val="FFFFFF"/>
                    </a:solidFill>
                  </a:tcPr>
                </a:tc>
              </a:tr>
              <a:tr h="280970">
                <a:tc>
                  <a:txBody>
                    <a:bodyPr wrap="square"/>
                    <a:lstStyle/>
                    <a:p>
                      <a:pPr algn="l"/>
                      <a:r>
                        <a:rPr sz="900" b="1">
                          <a:solidFill>
                            <a:srgbClr val="1F1F1F"/>
                          </a:solidFill>
                          <a:latin typeface="Calibri"/>
                        </a:rPr>
                        <a:t>Spain</a:t>
                      </a:r>
                    </a:p>
                  </a:txBody>
                  <a:tcPr marL="36576" marR="36576" marT="9144" marB="9144" anchor="ctr">
                    <a:solidFill>
                      <a:srgbClr val="F3F6F9"/>
                    </a:solidFill>
                  </a:tcPr>
                </a:tc>
                <a:tc>
                  <a:txBody>
                    <a:bodyPr wrap="square"/>
                    <a:lstStyle/>
                    <a:p>
                      <a:pPr algn="ctr"/>
                      <a:r>
                        <a:rPr sz="900" b="0">
                          <a:solidFill>
                            <a:srgbClr val="1F1F1F"/>
                          </a:solidFill>
                          <a:latin typeface="Calibri"/>
                        </a:rPr>
                        <a:t>3,075</a:t>
                      </a:r>
                    </a:p>
                  </a:txBody>
                  <a:tcPr marL="36576" marR="36576" marT="9144" marB="9144" anchor="ctr">
                    <a:solidFill>
                      <a:srgbClr val="F3F6F9"/>
                    </a:solidFill>
                  </a:tcPr>
                </a:tc>
                <a:tc>
                  <a:txBody>
                    <a:bodyPr wrap="square"/>
                    <a:lstStyle/>
                    <a:p>
                      <a:pPr algn="ctr"/>
                      <a:r>
                        <a:rPr sz="900" b="0">
                          <a:solidFill>
                            <a:srgbClr val="1F1F1F"/>
                          </a:solidFill>
                          <a:latin typeface="Calibri"/>
                        </a:rPr>
                        <a:t>92.7</a:t>
                      </a:r>
                    </a:p>
                  </a:txBody>
                  <a:tcPr marL="36576" marR="36576" marT="9144" marB="9144" anchor="ctr">
                    <a:solidFill>
                      <a:srgbClr val="9DC0E0"/>
                    </a:solidFill>
                  </a:tcPr>
                </a:tc>
                <a:tc>
                  <a:txBody>
                    <a:bodyPr wrap="square"/>
                    <a:lstStyle/>
                    <a:p>
                      <a:pPr algn="ctr"/>
                      <a:r>
                        <a:rPr sz="900" b="0">
                          <a:solidFill>
                            <a:srgbClr val="1F1F1F"/>
                          </a:solidFill>
                          <a:latin typeface="Calibri"/>
                        </a:rPr>
                        <a:t>1.18%</a:t>
                      </a:r>
                    </a:p>
                  </a:txBody>
                  <a:tcPr marL="36576" marR="36576" marT="9144" marB="9144" anchor="ctr">
                    <a:solidFill>
                      <a:srgbClr val="F3F6F9"/>
                    </a:solidFill>
                  </a:tcPr>
                </a:tc>
              </a:tr>
              <a:tr h="280970">
                <a:tc>
                  <a:txBody>
                    <a:bodyPr wrap="square"/>
                    <a:lstStyle/>
                    <a:p>
                      <a:pPr algn="l"/>
                      <a:r>
                        <a:rPr sz="900" b="1">
                          <a:solidFill>
                            <a:srgbClr val="1F1F1F"/>
                          </a:solidFill>
                          <a:latin typeface="Calibri"/>
                        </a:rPr>
                        <a:t>Poland</a:t>
                      </a:r>
                    </a:p>
                  </a:txBody>
                  <a:tcPr marL="36576" marR="36576" marT="9144" marB="9144" anchor="ctr">
                    <a:solidFill>
                      <a:srgbClr val="FFFFFF"/>
                    </a:solidFill>
                  </a:tcPr>
                </a:tc>
                <a:tc>
                  <a:txBody>
                    <a:bodyPr wrap="square"/>
                    <a:lstStyle/>
                    <a:p>
                      <a:pPr algn="ctr"/>
                      <a:r>
                        <a:rPr sz="900" b="0">
                          <a:solidFill>
                            <a:srgbClr val="1F1F1F"/>
                          </a:solidFill>
                          <a:latin typeface="Calibri"/>
                        </a:rPr>
                        <a:t>2,868</a:t>
                      </a:r>
                    </a:p>
                  </a:txBody>
                  <a:tcPr marL="36576" marR="36576" marT="9144" marB="9144" anchor="ctr">
                    <a:solidFill>
                      <a:srgbClr val="FFFFFF"/>
                    </a:solidFill>
                  </a:tcPr>
                </a:tc>
                <a:tc>
                  <a:txBody>
                    <a:bodyPr wrap="square"/>
                    <a:lstStyle/>
                    <a:p>
                      <a:pPr algn="ctr"/>
                      <a:r>
                        <a:rPr sz="900" b="0">
                          <a:solidFill>
                            <a:srgbClr val="1F1F1F"/>
                          </a:solidFill>
                          <a:latin typeface="Calibri"/>
                        </a:rPr>
                        <a:t>86.4</a:t>
                      </a:r>
                    </a:p>
                  </a:txBody>
                  <a:tcPr marL="36576" marR="36576" marT="9144" marB="9144" anchor="ctr">
                    <a:solidFill>
                      <a:srgbClr val="9DC0E0"/>
                    </a:solidFill>
                  </a:tcPr>
                </a:tc>
                <a:tc>
                  <a:txBody>
                    <a:bodyPr wrap="square"/>
                    <a:lstStyle/>
                    <a:p>
                      <a:pPr algn="ctr"/>
                      <a:r>
                        <a:rPr sz="900" b="0">
                          <a:solidFill>
                            <a:srgbClr val="1F1F1F"/>
                          </a:solidFill>
                          <a:latin typeface="Calibri"/>
                        </a:rPr>
                        <a:t>1.29%</a:t>
                      </a:r>
                    </a:p>
                  </a:txBody>
                  <a:tcPr marL="36576" marR="36576" marT="9144" marB="9144" anchor="ctr">
                    <a:solidFill>
                      <a:srgbClr val="FFFFFF"/>
                    </a:solidFill>
                  </a:tcPr>
                </a:tc>
              </a:tr>
              <a:tr h="280970">
                <a:tc>
                  <a:txBody>
                    <a:bodyPr wrap="square"/>
                    <a:lstStyle/>
                    <a:p>
                      <a:pPr algn="l"/>
                      <a:r>
                        <a:rPr sz="900" b="1">
                          <a:solidFill>
                            <a:srgbClr val="1F1F1F"/>
                          </a:solidFill>
                          <a:latin typeface="Calibri"/>
                        </a:rPr>
                        <a:t>Russia</a:t>
                      </a:r>
                    </a:p>
                  </a:txBody>
                  <a:tcPr marL="36576" marR="36576" marT="9144" marB="9144" anchor="ctr">
                    <a:solidFill>
                      <a:srgbClr val="F3F6F9"/>
                    </a:solidFill>
                  </a:tcPr>
                </a:tc>
                <a:tc>
                  <a:txBody>
                    <a:bodyPr wrap="square"/>
                    <a:lstStyle/>
                    <a:p>
                      <a:pPr algn="ctr"/>
                      <a:r>
                        <a:rPr sz="900" b="0">
                          <a:solidFill>
                            <a:srgbClr val="1F1F1F"/>
                          </a:solidFill>
                          <a:latin typeface="Calibri"/>
                        </a:rPr>
                        <a:t>2,782</a:t>
                      </a:r>
                    </a:p>
                  </a:txBody>
                  <a:tcPr marL="36576" marR="36576" marT="9144" marB="9144" anchor="ctr">
                    <a:solidFill>
                      <a:srgbClr val="F3F6F9"/>
                    </a:solidFill>
                  </a:tcPr>
                </a:tc>
                <a:tc>
                  <a:txBody>
                    <a:bodyPr wrap="square"/>
                    <a:lstStyle/>
                    <a:p>
                      <a:pPr algn="ctr"/>
                      <a:r>
                        <a:rPr sz="900" b="0">
                          <a:solidFill>
                            <a:srgbClr val="1F1F1F"/>
                          </a:solidFill>
                          <a:latin typeface="Calibri"/>
                        </a:rPr>
                        <a:t>83.8</a:t>
                      </a:r>
                    </a:p>
                  </a:txBody>
                  <a:tcPr marL="36576" marR="36576" marT="9144" marB="9144" anchor="ctr">
                    <a:solidFill>
                      <a:srgbClr val="9DC0E0"/>
                    </a:solidFill>
                  </a:tcPr>
                </a:tc>
                <a:tc>
                  <a:txBody>
                    <a:bodyPr wrap="square"/>
                    <a:lstStyle/>
                    <a:p>
                      <a:pPr algn="ctr"/>
                      <a:r>
                        <a:rPr sz="900" b="0">
                          <a:solidFill>
                            <a:srgbClr val="1F1F1F"/>
                          </a:solidFill>
                          <a:latin typeface="Calibri"/>
                        </a:rPr>
                        <a:t>1.32%</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Country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Average prices across the ranked countries differ by 40.4% in 2026, from US$ 2,782/MT in Russia to US$ 3,905/MT in Switzerland.</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Nordic records the fastest average price growth at a 1.43% CAGR between 2026 and 2036, against 1.26% for Europe as a whole.</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Spain shows the widest gap between its cheapest and most expensive product type at 67.6%, so product mix shifts move its average price the most.</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country;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country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1,939</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2,766</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3,593</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4,420</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5,247</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6,074</a:t>
            </a:r>
          </a:p>
        </p:txBody>
      </p:sp>
      <p:sp>
        <p:nvSpPr>
          <p:cNvPr id="25" name="TextBox 24"/>
          <p:cNvSpPr txBox="1"/>
          <p:nvPr/>
        </p:nvSpPr>
        <p:spPr>
          <a:xfrm>
            <a:off x="238125" y="2022427"/>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Germany</a:t>
            </a:r>
          </a:p>
        </p:txBody>
      </p:sp>
      <p:sp>
        <p:nvSpPr>
          <p:cNvPr id="26" name="Rectangle 25"/>
          <p:cNvSpPr/>
          <p:nvPr/>
        </p:nvSpPr>
        <p:spPr>
          <a:xfrm>
            <a:off x="3116516" y="2014043"/>
            <a:ext cx="3160883"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4123759" y="2046239"/>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384382"/>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U.K.</a:t>
            </a:r>
          </a:p>
        </p:txBody>
      </p:sp>
      <p:sp>
        <p:nvSpPr>
          <p:cNvPr id="29" name="Rectangle 28"/>
          <p:cNvSpPr/>
          <p:nvPr/>
        </p:nvSpPr>
        <p:spPr>
          <a:xfrm>
            <a:off x="3010934" y="2375998"/>
            <a:ext cx="3087689"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984821" y="2408194"/>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2746337"/>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France</a:t>
            </a:r>
          </a:p>
        </p:txBody>
      </p:sp>
      <p:sp>
        <p:nvSpPr>
          <p:cNvPr id="32" name="Rectangle 31"/>
          <p:cNvSpPr/>
          <p:nvPr/>
        </p:nvSpPr>
        <p:spPr>
          <a:xfrm>
            <a:off x="2887847" y="2737953"/>
            <a:ext cx="3003251"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3836806" y="2770149"/>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3108292"/>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Italy</a:t>
            </a:r>
          </a:p>
        </p:txBody>
      </p:sp>
      <p:sp>
        <p:nvSpPr>
          <p:cNvPr id="35" name="Rectangle 34"/>
          <p:cNvSpPr/>
          <p:nvPr/>
        </p:nvSpPr>
        <p:spPr>
          <a:xfrm>
            <a:off x="2591541" y="3099908"/>
            <a:ext cx="2804083"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3466221" y="3132104"/>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3470247"/>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Spain</a:t>
            </a:r>
          </a:p>
        </p:txBody>
      </p:sp>
      <p:sp>
        <p:nvSpPr>
          <p:cNvPr id="38" name="Rectangle 37"/>
          <p:cNvSpPr/>
          <p:nvPr/>
        </p:nvSpPr>
        <p:spPr>
          <a:xfrm>
            <a:off x="2428279" y="3461864"/>
            <a:ext cx="2702895"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275050" y="3494059"/>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3832202"/>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Belgium</a:t>
            </a:r>
          </a:p>
        </p:txBody>
      </p:sp>
      <p:sp>
        <p:nvSpPr>
          <p:cNvPr id="41" name="Rectangle 40"/>
          <p:cNvSpPr/>
          <p:nvPr/>
        </p:nvSpPr>
        <p:spPr>
          <a:xfrm>
            <a:off x="3046231" y="3823819"/>
            <a:ext cx="3077496"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4019556" y="3856015"/>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38125" y="4194157"/>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Netherlands</a:t>
            </a:r>
          </a:p>
        </p:txBody>
      </p:sp>
      <p:sp>
        <p:nvSpPr>
          <p:cNvPr id="44" name="Rectangle 43"/>
          <p:cNvSpPr/>
          <p:nvPr/>
        </p:nvSpPr>
        <p:spPr>
          <a:xfrm>
            <a:off x="2968317" y="4185774"/>
            <a:ext cx="3060962"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3933374" y="4217970"/>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38125" y="4556112"/>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Nordic</a:t>
            </a:r>
          </a:p>
        </p:txBody>
      </p:sp>
      <p:sp>
        <p:nvSpPr>
          <p:cNvPr id="47" name="Rectangle 46"/>
          <p:cNvSpPr/>
          <p:nvPr/>
        </p:nvSpPr>
        <p:spPr>
          <a:xfrm>
            <a:off x="3285473" y="4547729"/>
            <a:ext cx="3265235"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4315511" y="4579925"/>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38125" y="4918067"/>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Switzerland</a:t>
            </a:r>
          </a:p>
        </p:txBody>
      </p:sp>
      <p:sp>
        <p:nvSpPr>
          <p:cNvPr id="50" name="Rectangle 49"/>
          <p:cNvSpPr/>
          <p:nvPr/>
        </p:nvSpPr>
        <p:spPr>
          <a:xfrm>
            <a:off x="3512011" y="4909684"/>
            <a:ext cx="3415045"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4597510" y="4941880"/>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38125" y="5280022"/>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Russia</a:t>
            </a:r>
          </a:p>
        </p:txBody>
      </p:sp>
      <p:sp>
        <p:nvSpPr>
          <p:cNvPr id="53" name="Rectangle 52"/>
          <p:cNvSpPr/>
          <p:nvPr/>
        </p:nvSpPr>
        <p:spPr>
          <a:xfrm>
            <a:off x="2045494" y="5271639"/>
            <a:ext cx="2427668"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2802898" y="5303835"/>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238125" y="5641978"/>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Poland</a:t>
            </a:r>
          </a:p>
        </p:txBody>
      </p:sp>
      <p:sp>
        <p:nvSpPr>
          <p:cNvPr id="56" name="Rectangle 55"/>
          <p:cNvSpPr/>
          <p:nvPr/>
        </p:nvSpPr>
        <p:spPr>
          <a:xfrm>
            <a:off x="2164263" y="5633594"/>
            <a:ext cx="2511728"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Oval 56"/>
          <p:cNvSpPr/>
          <p:nvPr/>
        </p:nvSpPr>
        <p:spPr>
          <a:xfrm>
            <a:off x="2946443" y="5665790"/>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238125" y="6003933"/>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Rest of Europe</a:t>
            </a:r>
          </a:p>
        </p:txBody>
      </p:sp>
      <p:sp>
        <p:nvSpPr>
          <p:cNvPr id="59" name="Rectangle 58"/>
          <p:cNvSpPr/>
          <p:nvPr/>
        </p:nvSpPr>
        <p:spPr>
          <a:xfrm>
            <a:off x="2430592" y="5995549"/>
            <a:ext cx="2688133" cy="188217"/>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3274389" y="6027745"/>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Oval 60"/>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63" name="Rectangle 62"/>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65" name="Rounded Rectangle 64"/>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67" name="Rectangle 6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048625" y="1727149"/>
            <a:ext cx="3867150" cy="3438770"/>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2E2E2E"/>
                </a:solidFill>
                <a:latin typeface="Calibri"/>
              </a:rPr>
              <a:t>Barrier casings segment is expected to command the highest average price of US$ 5,329 per MT in 2036. Average selling price of flexible plastic packaging is estimated at US$ 3,291 per MT in 2025 and is projected to increase to US$ 3,762 per MT by 2036. Switzerland is the highest-priced country, while Russia is the most price-competitive market.</a:t>
            </a:r>
          </a:p>
          <a:p>
            <a:pPr algn="l">
              <a:lnSpc>
                <a:spcPct val="100000"/>
              </a:lnSpc>
              <a:spcBef>
                <a:spcPts val="0"/>
              </a:spcBef>
              <a:spcAft>
                <a:spcPts val="300"/>
              </a:spcAft>
            </a:pPr>
            <a:r>
              <a:rPr sz="1100" b="0">
                <a:solidFill>
                  <a:srgbClr val="2E2E2E"/>
                </a:solidFill>
                <a:latin typeface="Calibri"/>
              </a:rPr>
              <a:t>The orange dot is each region's average selling price; the blue band is its full low-to-high price range, all derived as Value ÷ Volume. Narrow bands point to commoditised, price-led competition; wider bands flag premiumisation headroom to trade buyers up the mix.</a:t>
            </a:r>
          </a:p>
          <a:p>
            <a:pPr algn="l">
              <a:lnSpc>
                <a:spcPct val="100000"/>
              </a:lnSpc>
              <a:spcBef>
                <a:spcPts val="0"/>
              </a:spcBef>
              <a:spcAft>
                <a:spcPts val="300"/>
              </a:spcAft>
            </a:pPr>
            <a:r>
              <a:rPr sz="1100" b="0">
                <a:solidFill>
                  <a:srgbClr val="2E2E2E"/>
                </a:solidFill>
                <a:latin typeface="Calibri"/>
              </a:rPr>
              <a:t>Europe prices flexible packaging at a premium, with the average rising from US$3,318 to US$3,762 per MT, because regulation and retailer standards push the mix towards high-barrier, mono-material and recycled-content films. High energy, labour and compliance costs add to the price, and value growth of 6.6% outpaces 5.2% volume growth.</a:t>
            </a:r>
          </a:p>
        </p:txBody>
      </p:sp>
      <p:sp>
        <p:nvSpPr>
          <p:cNvPr id="69" name="Rounded Rectangle 68"/>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70" name="TextBox 6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2" name="Rounded Rectangle 11"/>
          <p:cNvSpPr/>
          <p:nvPr/>
        </p:nvSpPr>
        <p:spPr>
          <a:xfrm>
            <a:off x="142875" y="1354081"/>
            <a:ext cx="702945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38125" y="1411231"/>
            <a:ext cx="6838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4" name="Freeform 13"/>
          <p:cNvSpPr/>
          <p:nvPr/>
        </p:nvSpPr>
        <p:spPr>
          <a:xfrm>
            <a:off x="3295650"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943225"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581275"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219325"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1866900"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flipV="1">
            <a:off x="3657600"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657600"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3657600"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657600"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657600"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3657600"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548814"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1863547"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1863547"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flipH="1" flipV="1">
            <a:off x="2548814"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95550"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624262"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400412"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790397"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969802"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4566730"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624262"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958991"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37533"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2458128"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3125309"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686175"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1" name="TextBox 40"/>
          <p:cNvSpPr txBox="1"/>
          <p:nvPr/>
        </p:nvSpPr>
        <p:spPr>
          <a:xfrm>
            <a:off x="3686175"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2" name="TextBox 41"/>
          <p:cNvSpPr txBox="1"/>
          <p:nvPr/>
        </p:nvSpPr>
        <p:spPr>
          <a:xfrm>
            <a:off x="3686175"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3" name="TextBox 42"/>
          <p:cNvSpPr txBox="1"/>
          <p:nvPr/>
        </p:nvSpPr>
        <p:spPr>
          <a:xfrm>
            <a:off x="3686175"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4" name="TextBox 43"/>
          <p:cNvSpPr txBox="1"/>
          <p:nvPr/>
        </p:nvSpPr>
        <p:spPr>
          <a:xfrm>
            <a:off x="3686175"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5" name="TextBox 44"/>
          <p:cNvSpPr txBox="1"/>
          <p:nvPr/>
        </p:nvSpPr>
        <p:spPr>
          <a:xfrm>
            <a:off x="3000375"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Input Cost  13.0%</a:t>
            </a:r>
          </a:p>
        </p:txBody>
      </p:sp>
      <p:sp>
        <p:nvSpPr>
          <p:cNvPr id="46" name="TextBox 45"/>
          <p:cNvSpPr txBox="1"/>
          <p:nvPr/>
        </p:nvSpPr>
        <p:spPr>
          <a:xfrm>
            <a:off x="4232331"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Labor &amp; Production Costs  10.1%</a:t>
            </a:r>
          </a:p>
        </p:txBody>
      </p:sp>
      <p:sp>
        <p:nvSpPr>
          <p:cNvPr id="47" name="TextBox 46"/>
          <p:cNvSpPr txBox="1"/>
          <p:nvPr/>
        </p:nvSpPr>
        <p:spPr>
          <a:xfrm>
            <a:off x="4993722"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Technology &amp; Innovation  9.4%</a:t>
            </a:r>
          </a:p>
        </p:txBody>
      </p:sp>
      <p:sp>
        <p:nvSpPr>
          <p:cNvPr id="48" name="TextBox 47"/>
          <p:cNvSpPr txBox="1"/>
          <p:nvPr/>
        </p:nvSpPr>
        <p:spPr>
          <a:xfrm>
            <a:off x="4993722"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Supply Chain &amp; Logistics  10.9%</a:t>
            </a:r>
          </a:p>
        </p:txBody>
      </p:sp>
      <p:sp>
        <p:nvSpPr>
          <p:cNvPr id="49" name="TextBox 48"/>
          <p:cNvSpPr txBox="1"/>
          <p:nvPr/>
        </p:nvSpPr>
        <p:spPr>
          <a:xfrm>
            <a:off x="4232331"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Demand &amp; Market Conditions  12.3%</a:t>
            </a:r>
          </a:p>
        </p:txBody>
      </p:sp>
      <p:sp>
        <p:nvSpPr>
          <p:cNvPr id="50" name="TextBox 49"/>
          <p:cNvSpPr txBox="1"/>
          <p:nvPr/>
        </p:nvSpPr>
        <p:spPr>
          <a:xfrm>
            <a:off x="3000375"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Competitive Landscape  11.6%</a:t>
            </a:r>
          </a:p>
        </p:txBody>
      </p:sp>
      <p:sp>
        <p:nvSpPr>
          <p:cNvPr id="51" name="TextBox 50"/>
          <p:cNvSpPr txBox="1"/>
          <p:nvPr/>
        </p:nvSpPr>
        <p:spPr>
          <a:xfrm>
            <a:off x="1768419"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Regulatory &amp; Compliance Costs  8.7%</a:t>
            </a:r>
          </a:p>
        </p:txBody>
      </p:sp>
      <p:sp>
        <p:nvSpPr>
          <p:cNvPr id="52" name="TextBox 51"/>
          <p:cNvSpPr txBox="1"/>
          <p:nvPr/>
        </p:nvSpPr>
        <p:spPr>
          <a:xfrm>
            <a:off x="1007028"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Currency &amp; Trade Dynamics  8.0%</a:t>
            </a:r>
          </a:p>
        </p:txBody>
      </p:sp>
      <p:sp>
        <p:nvSpPr>
          <p:cNvPr id="53" name="TextBox 52"/>
          <p:cNvSpPr txBox="1"/>
          <p:nvPr/>
        </p:nvSpPr>
        <p:spPr>
          <a:xfrm>
            <a:off x="1007028"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Brand &amp; Value Perception  9.4%</a:t>
            </a:r>
          </a:p>
        </p:txBody>
      </p:sp>
      <p:sp>
        <p:nvSpPr>
          <p:cNvPr id="54" name="TextBox 53"/>
          <p:cNvSpPr txBox="1"/>
          <p:nvPr/>
        </p:nvSpPr>
        <p:spPr>
          <a:xfrm>
            <a:off x="1768419"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Aftermarket &amp; Service Costs  6.5%</a:t>
            </a:r>
          </a:p>
        </p:txBody>
      </p:sp>
      <p:sp>
        <p:nvSpPr>
          <p:cNvPr id="55" name="Rounded Rectangle 54"/>
          <p:cNvSpPr/>
          <p:nvPr/>
        </p:nvSpPr>
        <p:spPr>
          <a:xfrm>
            <a:off x="7248525" y="1354081"/>
            <a:ext cx="480060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7381875" y="1439806"/>
            <a:ext cx="453390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7" name="Rectangle 56"/>
          <p:cNvSpPr/>
          <p:nvPr/>
        </p:nvSpPr>
        <p:spPr>
          <a:xfrm>
            <a:off x="7381875" y="1677931"/>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7381875" y="1763656"/>
            <a:ext cx="453390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Flexible Plastic Packaging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Flexible Plastic Packaging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9" name="Rounded Rectangle 58"/>
          <p:cNvSpPr/>
          <p:nvPr/>
        </p:nvSpPr>
        <p:spPr>
          <a:xfrm>
            <a:off x="7248525" y="4943046"/>
            <a:ext cx="480060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7381875" y="5028771"/>
            <a:ext cx="453390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1" name="Rectangle 60"/>
          <p:cNvSpPr/>
          <p:nvPr/>
        </p:nvSpPr>
        <p:spPr>
          <a:xfrm>
            <a:off x="7381875" y="5266896"/>
            <a:ext cx="45339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381875" y="5352621"/>
            <a:ext cx="453390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Input Cost 9.0 / 10  ·  dominant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&amp; Market Conditions 8.5 / 10  ·  major cost pressure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Landscape 8.0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Supply Chain &amp; Logistics 7.5 / 10  ·  key pricing lever</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Labor &amp; Production Costs 7.0 / 10  ·  supporting factor</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114675"/>
          </a:xfrm>
          <a:prstGeom prst="roundRect">
            <a:avLst>
              <a:gd name="adj" fmla="val 24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809875"/>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15265">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59461">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7.5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59461">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59461">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210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581525"/>
            <a:ext cx="11906250" cy="1962150"/>
          </a:xfrm>
          <a:prstGeom prst="roundRect">
            <a:avLst>
              <a:gd name="adj" fmla="val 388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66725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4905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991100"/>
            <a:ext cx="11639550" cy="14763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Input Cost and Demand &amp; Market Conditions carry the heaviest weight on selling prices (9.0 and 8.5 / 10).</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8 of 10 factors exert upward pressure on price; the rest pull prices down chiefly Technology &amp; Innovation and the Competitive Landscape.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Cost-side factors set the price floor; demand, brand and competitive forces determine how much of that cost can be passed through.</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Aftermarket &amp; Service Costs exerts the least pressure a second-order effect to monitor rather than actively manage.</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Regional Price Assessment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50734"/>
          </a:xfrm>
          <a:prstGeom prst="roundRect">
            <a:avLst>
              <a:gd name="adj" fmla="val 27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49" cy="2284010"/>
        </p:xfrm>
        <a:graphic>
          <a:graphicData uri="http://schemas.openxmlformats.org/drawingml/2006/table">
            <a:tbl>
              <a:tblPr>
                <a:tableStyleId>{5C22544A-7EE6-4342-B048-85BDC9FD1C3A}</a:tableStyleId>
              </a:tblPr>
              <a:tblGrid>
                <a:gridCol w="952477"/>
                <a:gridCol w="1233493"/>
                <a:gridCol w="1233493"/>
                <a:gridCol w="1233493"/>
                <a:gridCol w="1233493"/>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Total Margin (%)</a:t>
                      </a:r>
                      <a:endParaRPr sz="1100"/>
                    </a:p>
                  </a:txBody>
                  <a:tcPr marL="47625" marR="38100" marT="19050" marB="19050" anchor="ctr">
                    <a:solidFill>
                      <a:srgbClr val="E0E8EF"/>
                    </a:solidFill>
                  </a:tcPr>
                </a:tc>
              </a:tr>
              <a:tr h="295535">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1,867.73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2,586.08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r h="295535">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1,876.11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2,576.16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5F8FA"/>
                    </a:solidFill>
                  </a:tcPr>
                </a:tc>
              </a:tr>
              <a:tr h="295535">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1,889.58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2,574.21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FFFFF"/>
                    </a:solidFill>
                  </a:tcPr>
                </a:tc>
              </a:tr>
              <a:tr h="295535">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1,814.27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2,453.10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5F8FA"/>
                    </a:solidFill>
                  </a:tcPr>
                </a:tc>
              </a:tr>
              <a:tr h="295535">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1,796.03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2,411.11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FFFFF"/>
                    </a:solidFill>
                  </a:tcPr>
                </a:tc>
              </a:tr>
              <a:tr h="295535">
                <a:tc>
                  <a:txBody>
                    <a:bodyPr wrap="none"/>
                    <a:lstStyle/>
                    <a:p>
                      <a:pPr algn="l"/>
                      <a:r>
                        <a:rPr sz="1100" b="1">
                          <a:solidFill>
                            <a:srgbClr val="2E2E2E"/>
                          </a:solidFill>
                          <a:latin typeface="Calibri"/>
                        </a:rPr>
                        <a:t>Belgium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2,127.02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2,836.02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5F8FA"/>
                    </a:solidFill>
                  </a:tcPr>
                </a:tc>
              </a:tr>
              <a:tr h="295535">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1,814.52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2,512.42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a:t>
                      </a:r>
                      <a:endParaRPr sz="1100"/>
                    </a:p>
                  </a:txBody>
                  <a:tcPr marL="47625" marR="38100" marT="19050" marB="19050" anchor="ctr">
                    <a:solidFill>
                      <a:srgbClr val="FFFFFF"/>
                    </a:solidFill>
                  </a:tcPr>
                </a:tc>
              </a:tr>
            </a:tbl>
          </a:graphicData>
        </a:graphic>
      </p:graphicFrame>
      <p:sp>
        <p:nvSpPr>
          <p:cNvPr id="14" name="TextBox 13"/>
          <p:cNvSpPr txBox="1"/>
          <p:nvPr/>
        </p:nvSpPr>
        <p:spPr>
          <a:xfrm>
            <a:off x="219075" y="3868283"/>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50734"/>
          </a:xfrm>
          <a:prstGeom prst="roundRect">
            <a:avLst>
              <a:gd name="adj" fmla="val 27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298" cy="2284010"/>
        </p:xfrm>
        <a:graphic>
          <a:graphicData uri="http://schemas.openxmlformats.org/drawingml/2006/table">
            <a:tbl>
              <a:tblPr>
                <a:tableStyleId>{5C22544A-7EE6-4342-B048-85BDC9FD1C3A}</a:tableStyleId>
              </a:tblPr>
              <a:tblGrid>
                <a:gridCol w="1485558"/>
                <a:gridCol w="1085935"/>
                <a:gridCol w="1085935"/>
                <a:gridCol w="1085935"/>
                <a:gridCol w="1085935"/>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95535">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3,591.78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3,699.78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3,836.70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4,074.77</a:t>
                      </a:r>
                      <a:endParaRPr sz="1100"/>
                    </a:p>
                  </a:txBody>
                  <a:tcPr marL="47625" marR="38100" marT="19050" marB="19050" anchor="ctr">
                    <a:solidFill>
                      <a:srgbClr val="FFFFFF"/>
                    </a:solidFill>
                  </a:tcPr>
                </a:tc>
              </a:tr>
              <a:tr h="295535">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3,500.21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3,602.99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3,732.86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3,951.70</a:t>
                      </a:r>
                      <a:endParaRPr sz="1100"/>
                    </a:p>
                  </a:txBody>
                  <a:tcPr marL="47625" marR="38100" marT="19050" marB="19050" anchor="ctr">
                    <a:solidFill>
                      <a:srgbClr val="F5F8FA"/>
                    </a:solidFill>
                  </a:tcPr>
                </a:tc>
              </a:tr>
              <a:tr h="295535">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3,423.16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3,527.23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3,666.81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3,909.40</a:t>
                      </a:r>
                      <a:endParaRPr sz="1100"/>
                    </a:p>
                  </a:txBody>
                  <a:tcPr marL="47625" marR="38100" marT="19050" marB="19050" anchor="ctr">
                    <a:solidFill>
                      <a:srgbClr val="FFFFFF"/>
                    </a:solidFill>
                  </a:tcPr>
                </a:tc>
              </a:tr>
              <a:tr h="295535">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3,194.14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3,291.29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3,418.11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3,633.14</a:t>
                      </a:r>
                      <a:endParaRPr sz="1100"/>
                    </a:p>
                  </a:txBody>
                  <a:tcPr marL="47625" marR="38100" marT="19050" marB="19050" anchor="ctr">
                    <a:solidFill>
                      <a:srgbClr val="F5F8FA"/>
                    </a:solidFill>
                  </a:tcPr>
                </a:tc>
              </a:tr>
              <a:tr h="295535">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3,075.40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3,161.65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3,271.13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3,458.04</a:t>
                      </a:r>
                      <a:endParaRPr sz="1100"/>
                    </a:p>
                  </a:txBody>
                  <a:tcPr marL="47625" marR="38100" marT="19050" marB="19050" anchor="ctr">
                    <a:solidFill>
                      <a:srgbClr val="FFFFFF"/>
                    </a:solidFill>
                  </a:tcPr>
                </a:tc>
              </a:tr>
              <a:tr h="295535">
                <a:tc>
                  <a:txBody>
                    <a:bodyPr wrap="none"/>
                    <a:lstStyle/>
                    <a:p>
                      <a:pPr algn="l"/>
                      <a:r>
                        <a:rPr sz="1100" b="1">
                          <a:solidFill>
                            <a:srgbClr val="2E2E2E"/>
                          </a:solidFill>
                          <a:latin typeface="Calibri"/>
                        </a:rPr>
                        <a:t>Belgium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3,545.03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3,654.31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3,796.00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4,040.49</a:t>
                      </a:r>
                      <a:endParaRPr sz="1100"/>
                    </a:p>
                  </a:txBody>
                  <a:tcPr marL="47625" marR="38100" marT="19050" marB="19050" anchor="ctr">
                    <a:solidFill>
                      <a:srgbClr val="F5F8FA"/>
                    </a:solidFill>
                  </a:tcPr>
                </a:tc>
              </a:tr>
              <a:tr h="295535">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3,489.47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3,604.22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3,753.37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4,008.95</a:t>
                      </a:r>
                      <a:endParaRPr sz="1100"/>
                    </a:p>
                  </a:txBody>
                  <a:tcPr marL="47625" marR="38100" marT="19050" marB="19050" anchor="ctr">
                    <a:solidFill>
                      <a:srgbClr val="FFFFFF"/>
                    </a:solidFill>
                  </a:tcPr>
                </a:tc>
              </a:tr>
            </a:tbl>
          </a:graphicData>
        </a:graphic>
      </p:graphicFrame>
      <p:sp>
        <p:nvSpPr>
          <p:cNvPr id="18" name="TextBox 17"/>
          <p:cNvSpPr txBox="1"/>
          <p:nvPr/>
        </p:nvSpPr>
        <p:spPr>
          <a:xfrm>
            <a:off x="6276975" y="3868283"/>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Regional Price Assessment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981075"/>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2" name="Table 11"/>
          <p:cNvGraphicFramePr>
            <a:graphicFrameLocks noGrp="1"/>
          </p:cNvGraphicFramePr>
          <p:nvPr/>
        </p:nvGraphicFramePr>
        <p:xfrm>
          <a:off x="152400" y="1238250"/>
          <a:ext cx="11887202" cy="1295400"/>
        </p:xfrm>
        <a:graphic>
          <a:graphicData uri="http://schemas.openxmlformats.org/drawingml/2006/table">
            <a:tbl>
              <a:tblPr>
                <a:tableStyleId>{5C22544A-7EE6-4342-B048-85BDC9FD1C3A}</a:tableStyleId>
              </a:tblPr>
              <a:tblGrid>
                <a:gridCol w="2182354"/>
                <a:gridCol w="2426212"/>
                <a:gridCol w="2426212"/>
                <a:gridCol w="2426212"/>
                <a:gridCol w="2426212"/>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Total Margin (%)</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Nordic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1,997.02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2,742.17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46%</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Switzerland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2,155.46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2,936.42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Russia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1,579.96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2,136.29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Poland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2,248.56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42%</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Rest of 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1,844.54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2,459.39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a:t>
                      </a:r>
                      <a:endParaRPr sz="1100"/>
                    </a:p>
                  </a:txBody>
                  <a:tcPr marL="47625" marR="38100" marT="19050" marB="19050" anchor="ctr">
                    <a:solidFill>
                      <a:srgbClr val="FFFFFF"/>
                    </a:solidFill>
                  </a:tcPr>
                </a:tc>
              </a:tr>
            </a:tbl>
          </a:graphicData>
        </a:graphic>
      </p:graphicFrame>
      <p:sp>
        <p:nvSpPr>
          <p:cNvPr id="13" name="TextBox 12"/>
          <p:cNvSpPr txBox="1"/>
          <p:nvPr/>
        </p:nvSpPr>
        <p:spPr>
          <a:xfrm>
            <a:off x="219075" y="2543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2876550"/>
            <a:ext cx="11906250" cy="1762125"/>
          </a:xfrm>
          <a:prstGeom prst="roundRect">
            <a:avLst>
              <a:gd name="adj" fmla="val 4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29337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6" name="Table 15"/>
          <p:cNvGraphicFramePr>
            <a:graphicFrameLocks noGrp="1"/>
          </p:cNvGraphicFramePr>
          <p:nvPr/>
        </p:nvGraphicFramePr>
        <p:xfrm>
          <a:off x="152400" y="3133725"/>
          <a:ext cx="11887202" cy="1295400"/>
        </p:xfrm>
        <a:graphic>
          <a:graphicData uri="http://schemas.openxmlformats.org/drawingml/2006/table">
            <a:tbl>
              <a:tblPr>
                <a:tableStyleId>{5C22544A-7EE6-4342-B048-85BDC9FD1C3A}</a:tableStyleId>
              </a:tblPr>
              <a:tblGrid>
                <a:gridCol w="3386546"/>
                <a:gridCol w="2125164"/>
                <a:gridCol w="2125164"/>
                <a:gridCol w="2125164"/>
                <a:gridCol w="2125164"/>
              </a:tblGrid>
              <a:tr h="215265">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216027">
                <a:tc>
                  <a:txBody>
                    <a:bodyPr wrap="none"/>
                    <a:lstStyle/>
                    <a:p>
                      <a:pPr algn="l"/>
                      <a:r>
                        <a:rPr sz="1100" b="1">
                          <a:solidFill>
                            <a:srgbClr val="2E2E2E"/>
                          </a:solidFill>
                          <a:latin typeface="Calibri"/>
                        </a:rPr>
                        <a:t>Nordic</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3,725.77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3,853.80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4,018.45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4,295.44</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Switzerland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3,904.81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4,032.75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4,199.14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4,488.45</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Russia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2,781.62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2,869.44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2,982.27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3,172.87</a:t>
                      </a:r>
                      <a:endParaRPr sz="1100"/>
                    </a:p>
                  </a:txBody>
                  <a:tcPr marL="47625" marR="38100" marT="19050" marB="19050" anchor="ctr">
                    <a:solidFill>
                      <a:srgbClr val="FFFFFF"/>
                    </a:solidFill>
                  </a:tcPr>
                </a:tc>
              </a:tr>
              <a:tr h="216027">
                <a:tc>
                  <a:txBody>
                    <a:bodyPr wrap="none"/>
                    <a:lstStyle/>
                    <a:p>
                      <a:pPr algn="l"/>
                      <a:r>
                        <a:rPr sz="1100" b="1">
                          <a:solidFill>
                            <a:srgbClr val="2E2E2E"/>
                          </a:solidFill>
                          <a:latin typeface="Calibri"/>
                        </a:rPr>
                        <a:t>Poland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2,868.07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2,956.64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3,068.00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3,260.40</a:t>
                      </a:r>
                      <a:endParaRPr sz="1100"/>
                    </a:p>
                  </a:txBody>
                  <a:tcPr marL="47625" marR="38100" marT="19050" marB="19050" anchor="ctr">
                    <a:solidFill>
                      <a:srgbClr val="F5F8FA"/>
                    </a:solidFill>
                  </a:tcPr>
                </a:tc>
              </a:tr>
              <a:tr h="216027">
                <a:tc>
                  <a:txBody>
                    <a:bodyPr wrap="none"/>
                    <a:lstStyle/>
                    <a:p>
                      <a:pPr algn="l"/>
                      <a:r>
                        <a:rPr sz="1100" b="1">
                          <a:solidFill>
                            <a:srgbClr val="2E2E2E"/>
                          </a:solidFill>
                          <a:latin typeface="Calibri"/>
                        </a:rPr>
                        <a:t>Rest of 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3,074.24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3,179.83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3,315.68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3,545.72</a:t>
                      </a:r>
                      <a:endParaRPr sz="1100"/>
                    </a:p>
                  </a:txBody>
                  <a:tcPr marL="47625" marR="38100" marT="19050" marB="19050" anchor="ctr">
                    <a:solidFill>
                      <a:srgbClr val="FFFFFF"/>
                    </a:solidFill>
                  </a:tcPr>
                </a:tc>
              </a:tr>
            </a:tbl>
          </a:graphicData>
        </a:graphic>
      </p:graphicFrame>
      <p:sp>
        <p:nvSpPr>
          <p:cNvPr id="17" name="TextBox 16"/>
          <p:cNvSpPr txBox="1"/>
          <p:nvPr/>
        </p:nvSpPr>
        <p:spPr>
          <a:xfrm>
            <a:off x="219075" y="44386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Europe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country and sub-segment against the weighted average price of each country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product type type and region (US$/MT).</a:t>
            </a:r>
          </a:p>
        </p:txBody>
      </p:sp>
      <p:sp>
        <p:nvSpPr>
          <p:cNvPr id="11" name="Rounded Rectangle 10"/>
          <p:cNvSpPr/>
          <p:nvPr/>
        </p:nvSpPr>
        <p:spPr>
          <a:xfrm>
            <a:off x="142875" y="1314450"/>
            <a:ext cx="11906250" cy="3409950"/>
          </a:xfrm>
          <a:prstGeom prst="roundRect">
            <a:avLst>
              <a:gd name="adj" fmla="val 223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Product Type (US$/MT)</a:t>
            </a:r>
          </a:p>
        </p:txBody>
      </p:sp>
      <p:graphicFrame>
        <p:nvGraphicFramePr>
          <p:cNvPr id="13" name="Table 12"/>
          <p:cNvGraphicFramePr>
            <a:graphicFrameLocks noGrp="1"/>
          </p:cNvGraphicFramePr>
          <p:nvPr/>
        </p:nvGraphicFramePr>
        <p:xfrm>
          <a:off x="152400" y="1571625"/>
          <a:ext cx="11887201" cy="2943225"/>
        </p:xfrm>
        <a:graphic>
          <a:graphicData uri="http://schemas.openxmlformats.org/drawingml/2006/table">
            <a:tbl>
              <a:tblPr>
                <a:tableStyleId>{5C22544A-7EE6-4342-B048-85BDC9FD1C3A}</a:tableStyleId>
              </a:tblPr>
              <a:tblGrid>
                <a:gridCol w="1284701"/>
                <a:gridCol w="2120500"/>
                <a:gridCol w="2120500"/>
                <a:gridCol w="2120500"/>
                <a:gridCol w="2120500"/>
                <a:gridCol w="212050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Rollstock Films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Barrier Casings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Premade Pouches &amp; Bags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Sachets &amp; Stick Packs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Weighted Avg</a:t>
                      </a:r>
                      <a:endParaRPr sz="1100"/>
                    </a:p>
                  </a:txBody>
                  <a:tcPr marL="47625" marR="38100" marT="19050" marB="19050" anchor="ctr">
                    <a:solidFill>
                      <a:srgbClr val="E0E8EF"/>
                    </a:solidFill>
                  </a:tcPr>
                </a:tc>
              </a:tr>
              <a:tr h="227330">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3,577.84–3,650.12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5,140.14–5,243.98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3,291.52–3,358.02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3,069.17–3,131.18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3,591.78</a:t>
                      </a:r>
                      <a:endParaRPr sz="1100"/>
                    </a:p>
                  </a:txBody>
                  <a:tcPr marL="47625" marR="38100" marT="19050" marB="19050" anchor="ctr">
                    <a:solidFill>
                      <a:srgbClr val="FFFFFF"/>
                    </a:solidFill>
                  </a:tcPr>
                </a:tc>
              </a:tr>
              <a:tr h="227330">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3,489.39–3,559.88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5,023.01–5,124.49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3,202.16–3,266.85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3,000.00–3,060.60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3,500.21</a:t>
                      </a:r>
                      <a:endParaRPr sz="1100"/>
                    </a:p>
                  </a:txBody>
                  <a:tcPr marL="47625" marR="38100" marT="19050" marB="19050" anchor="ctr">
                    <a:solidFill>
                      <a:srgbClr val="F5F8FA"/>
                    </a:solidFill>
                  </a:tcPr>
                </a:tc>
              </a:tr>
              <a:tr h="227330">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3,397.55–3,466.19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4,887.04–4,985.77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3,122.70–3,185.79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2,919.35–2,978.33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3,423.16</a:t>
                      </a:r>
                      <a:endParaRPr sz="1100"/>
                    </a:p>
                  </a:txBody>
                  <a:tcPr marL="47625" marR="38100" marT="19050" marB="19050" anchor="ctr">
                    <a:solidFill>
                      <a:srgbClr val="FFFFFF"/>
                    </a:solidFill>
                  </a:tcPr>
                </a:tc>
              </a:tr>
              <a:tr h="227330">
                <a:tc>
                  <a:txBody>
                    <a:bodyPr wrap="none"/>
                    <a:lstStyle/>
                    <a:p>
                      <a:pPr algn="l"/>
                      <a:r>
                        <a:rPr sz="1100" b="1">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3,160.00–3,223.84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4,562.41–4,654.58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2,907.80–2,966.55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2,725.22–2,780.27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3,194.14</a:t>
                      </a:r>
                      <a:endParaRPr sz="1100"/>
                    </a:p>
                  </a:txBody>
                  <a:tcPr marL="47625" marR="38100" marT="19050" marB="19050" anchor="ctr">
                    <a:solidFill>
                      <a:srgbClr val="F5F8FA"/>
                    </a:solidFill>
                  </a:tcPr>
                </a:tc>
              </a:tr>
              <a:tr h="227330">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3,042.26–3,103.72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4,389.15–4,477.82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2,804.77–2,861.43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2,618.25–2,671.14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3,075.40</a:t>
                      </a:r>
                      <a:endParaRPr sz="1100"/>
                    </a:p>
                  </a:txBody>
                  <a:tcPr marL="47625" marR="38100" marT="19050" marB="19050" anchor="ctr">
                    <a:solidFill>
                      <a:srgbClr val="FFFFFF"/>
                    </a:solidFill>
                  </a:tcPr>
                </a:tc>
              </a:tr>
              <a:tr h="227330">
                <a:tc>
                  <a:txBody>
                    <a:bodyPr wrap="none"/>
                    <a:lstStyle/>
                    <a:p>
                      <a:pPr algn="l"/>
                      <a:r>
                        <a:rPr sz="1100" b="1">
                          <a:solidFill>
                            <a:srgbClr val="2E2E2E"/>
                          </a:solidFill>
                          <a:latin typeface="Calibri"/>
                        </a:rPr>
                        <a:t>Belgium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3,510.51–3,581.42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5,039.46–5,141.27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3,232.50–3,297.80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3,023.12–3,084.20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3,545.03</a:t>
                      </a:r>
                      <a:endParaRPr sz="1100"/>
                    </a:p>
                  </a:txBody>
                  <a:tcPr marL="47625" marR="38100" marT="19050" marB="19050" anchor="ctr">
                    <a:solidFill>
                      <a:srgbClr val="F5F8FA"/>
                    </a:solidFill>
                  </a:tcPr>
                </a:tc>
              </a:tr>
              <a:tr h="227330">
                <a:tc>
                  <a:txBody>
                    <a:bodyPr wrap="none"/>
                    <a:lstStyle/>
                    <a:p>
                      <a:pPr algn="l"/>
                      <a:r>
                        <a:rPr sz="1100" b="1">
                          <a:solidFill>
                            <a:srgbClr val="2E2E2E"/>
                          </a:solidFill>
                          <a:latin typeface="Calibri"/>
                        </a:rPr>
                        <a:t>Netherlands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3,453.17–3,522.93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4,977.58–5,078.13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3,176.91–3,241.09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2,972.07–3,032.12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3,489.47</a:t>
                      </a:r>
                      <a:endParaRPr sz="1100"/>
                    </a:p>
                  </a:txBody>
                  <a:tcPr marL="47625" marR="38100" marT="19050" marB="19050" anchor="ctr">
                    <a:solidFill>
                      <a:srgbClr val="FFFFFF"/>
                    </a:solidFill>
                  </a:tcPr>
                </a:tc>
              </a:tr>
              <a:tr h="227330">
                <a:tc>
                  <a:txBody>
                    <a:bodyPr wrap="none"/>
                    <a:lstStyle/>
                    <a:p>
                      <a:pPr algn="l"/>
                      <a:r>
                        <a:rPr sz="1100" b="1">
                          <a:solidFill>
                            <a:srgbClr val="2E2E2E"/>
                          </a:solidFill>
                          <a:latin typeface="Calibri"/>
                        </a:rPr>
                        <a:t>Nordic</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3,687.64–3,762.14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5,319.21–5,426.67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3,394.49–3,463.06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3,179.87–3,244.11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3,725.77</a:t>
                      </a:r>
                      <a:endParaRPr sz="1100"/>
                    </a:p>
                  </a:txBody>
                  <a:tcPr marL="47625" marR="38100" marT="19050" marB="19050" anchor="ctr">
                    <a:solidFill>
                      <a:srgbClr val="F5F8FA"/>
                    </a:solidFill>
                  </a:tcPr>
                </a:tc>
              </a:tr>
              <a:tr h="227330">
                <a:tc>
                  <a:txBody>
                    <a:bodyPr wrap="none"/>
                    <a:lstStyle/>
                    <a:p>
                      <a:pPr algn="l"/>
                      <a:r>
                        <a:rPr sz="1100" b="1">
                          <a:solidFill>
                            <a:srgbClr val="2E2E2E"/>
                          </a:solidFill>
                          <a:latin typeface="Calibri"/>
                        </a:rPr>
                        <a:t>Switzerland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3,866.13–3,944.23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5,565.79–5,678.23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3,560.05–3,631.97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3,328.30–3,395.53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3,904.81</a:t>
                      </a:r>
                      <a:endParaRPr sz="1100"/>
                    </a:p>
                  </a:txBody>
                  <a:tcPr marL="47625" marR="38100" marT="19050" marB="19050" anchor="ctr">
                    <a:solidFill>
                      <a:srgbClr val="FFFFFF"/>
                    </a:solidFill>
                  </a:tcPr>
                </a:tc>
              </a:tr>
              <a:tr h="227330">
                <a:tc>
                  <a:txBody>
                    <a:bodyPr wrap="none"/>
                    <a:lstStyle/>
                    <a:p>
                      <a:pPr algn="l"/>
                      <a:r>
                        <a:rPr sz="1100" b="1">
                          <a:solidFill>
                            <a:srgbClr val="2E2E2E"/>
                          </a:solidFill>
                          <a:latin typeface="Calibri"/>
                        </a:rPr>
                        <a:t>Russia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2,759.20–2,814.95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3,958.03–4,037.99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2,532.35–2,583.51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2,367.45–2,415.28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2,781.62</a:t>
                      </a:r>
                      <a:endParaRPr sz="1100"/>
                    </a:p>
                  </a:txBody>
                  <a:tcPr marL="47625" marR="38100" marT="19050" marB="19050" anchor="ctr">
                    <a:solidFill>
                      <a:srgbClr val="F5F8FA"/>
                    </a:solidFill>
                  </a:tcPr>
                </a:tc>
              </a:tr>
              <a:tr h="227330">
                <a:tc>
                  <a:txBody>
                    <a:bodyPr wrap="none"/>
                    <a:lstStyle/>
                    <a:p>
                      <a:pPr algn="l"/>
                      <a:r>
                        <a:rPr sz="1100" b="1">
                          <a:solidFill>
                            <a:srgbClr val="2E2E2E"/>
                          </a:solidFill>
                          <a:latin typeface="Calibri"/>
                        </a:rPr>
                        <a:t>Poland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2,841.15–2,898.55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4,090.92–4,173.57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2,615.89–2,668.74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2,445.27–2,494.67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2,868.07</a:t>
                      </a:r>
                      <a:endParaRPr sz="1100"/>
                    </a:p>
                  </a:txBody>
                  <a:tcPr marL="47625" marR="38100" marT="19050" marB="19050" anchor="ctr">
                    <a:solidFill>
                      <a:srgbClr val="FFFFFF"/>
                    </a:solidFill>
                  </a:tcPr>
                </a:tc>
              </a:tr>
              <a:tr h="227330">
                <a:tc>
                  <a:txBody>
                    <a:bodyPr wrap="none"/>
                    <a:lstStyle/>
                    <a:p>
                      <a:pPr algn="l"/>
                      <a:r>
                        <a:rPr sz="1100" b="1">
                          <a:solidFill>
                            <a:srgbClr val="2E2E2E"/>
                          </a:solidFill>
                          <a:latin typeface="Calibri"/>
                        </a:rPr>
                        <a:t>Rest of 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3,049.28–3,110.88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4,380.99–4,469.50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2,802.66–2,859.28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2,619.76–2,672.69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3,074.24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4524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876800"/>
            <a:ext cx="11906250" cy="1666875"/>
          </a:xfrm>
          <a:prstGeom prst="roundRect">
            <a:avLst>
              <a:gd name="adj" fmla="val 4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962525"/>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52006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5286375"/>
            <a:ext cx="11639550" cy="1181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On a weighted-average basis 'Switzerland' is the highest-priced region (~3,904.81 US$/MT) and 'Russia' the most competitive (~2,781.62 US$/MT).</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Price ranges are benchmarked per product type type at 2026, derived as Value ÷ Volume with a ±1% observed trading band.</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Cross-region price dispersion of ~1.40× reflects differences in mix, logistics and channel structure.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Benchmarks support price-corridor setting and margin-defence decisions across geographies.</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product type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Product Type (US$/MT)</a:t>
            </a:r>
          </a:p>
        </p:txBody>
      </p:sp>
      <p:graphicFrame>
        <p:nvGraphicFramePr>
          <p:cNvPr id="13" name="Table 12"/>
          <p:cNvGraphicFramePr>
            <a:graphicFrameLocks noGrp="1"/>
          </p:cNvGraphicFramePr>
          <p:nvPr/>
        </p:nvGraphicFramePr>
        <p:xfrm>
          <a:off x="152400" y="1574749"/>
          <a:ext cx="11887200" cy="1504673"/>
        </p:xfrm>
        <a:graphic>
          <a:graphicData uri="http://schemas.openxmlformats.org/drawingml/2006/table">
            <a:tbl>
              <a:tblPr>
                <a:tableStyleId>{5C22544A-7EE6-4342-B048-85BDC9FD1C3A}</a:tableStyleId>
              </a:tblPr>
              <a:tblGrid>
                <a:gridCol w="3622896"/>
                <a:gridCol w="1377384"/>
                <a:gridCol w="1377384"/>
                <a:gridCol w="1377384"/>
                <a:gridCol w="1377384"/>
                <a:gridCol w="1377384"/>
                <a:gridCol w="1377384"/>
              </a:tblGrid>
              <a:tr h="215265">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2036F</a:t>
                      </a:r>
                      <a:endParaRPr sz="1100"/>
                    </a:p>
                  </a:txBody>
                  <a:tcPr marL="47625" marR="38100" marT="19050" marB="19050" anchor="ctr">
                    <a:solidFill>
                      <a:srgbClr val="E0E8EF"/>
                    </a:solidFill>
                  </a:tcPr>
                </a:tc>
              </a:tr>
              <a:tr h="322352">
                <a:tc>
                  <a:txBody>
                    <a:bodyPr wrap="none"/>
                    <a:lstStyle/>
                    <a:p>
                      <a:pPr algn="l"/>
                      <a:r>
                        <a:rPr sz="1100" b="1">
                          <a:solidFill>
                            <a:srgbClr val="2E2E2E"/>
                          </a:solidFill>
                          <a:latin typeface="Calibri"/>
                        </a:rPr>
                        <a:t>Rollstock Films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3,108.17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3,161.67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3,226.42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3,303.43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3,392.67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3,495.65</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Barrier Casings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4,479.87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4,566.48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4,667.25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4,784.35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4,920.60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5,078.83</a:t>
                      </a:r>
                      <a:endParaRPr sz="1100"/>
                    </a:p>
                  </a:txBody>
                  <a:tcPr marL="47625" marR="38100" marT="19050" marB="19050" anchor="ctr">
                    <a:solidFill>
                      <a:srgbClr val="F5F8FA"/>
                    </a:solidFill>
                  </a:tcPr>
                </a:tc>
              </a:tr>
              <a:tr h="322352">
                <a:tc>
                  <a:txBody>
                    <a:bodyPr wrap="none"/>
                    <a:lstStyle/>
                    <a:p>
                      <a:pPr algn="l"/>
                      <a:r>
                        <a:rPr sz="1100" b="1">
                          <a:solidFill>
                            <a:srgbClr val="2E2E2E"/>
                          </a:solidFill>
                          <a:latin typeface="Calibri"/>
                        </a:rPr>
                        <a:t>Premade Pouches &amp; Bags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2,854.58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2,909.21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2,975.55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3,053.51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3,143.67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3,248.16</a:t>
                      </a:r>
                      <a:endParaRPr sz="1100"/>
                    </a:p>
                  </a:txBody>
                  <a:tcPr marL="47625" marR="38100" marT="19050" marB="19050" anchor="ctr">
                    <a:solidFill>
                      <a:srgbClr val="FFFFFF"/>
                    </a:solidFill>
                  </a:tcPr>
                </a:tc>
              </a:tr>
              <a:tr h="322352">
                <a:tc>
                  <a:txBody>
                    <a:bodyPr wrap="none"/>
                    <a:lstStyle/>
                    <a:p>
                      <a:pPr algn="l"/>
                      <a:r>
                        <a:rPr sz="1100" b="1">
                          <a:solidFill>
                            <a:srgbClr val="2E2E2E"/>
                          </a:solidFill>
                          <a:latin typeface="Calibri"/>
                        </a:rPr>
                        <a:t>Sachets &amp; Stick Packs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2,680.36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2,726.00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2,781.36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2,847.48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2,924.65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3,014.94</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691165"/>
        </p:xfrm>
        <a:graphic>
          <a:graphicData uri="http://schemas.openxmlformats.org/drawingml/2006/table">
            <a:tbl>
              <a:tblPr>
                <a:tableStyleId>{5C22544A-7EE6-4342-B048-85BDC9FD1C3A}</a:tableStyleId>
              </a:tblPr>
              <a:tblGrid>
                <a:gridCol w="2867491"/>
                <a:gridCol w="1509479"/>
                <a:gridCol w="1509479"/>
              </a:tblGrid>
              <a:tr h="215265">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759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759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759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5636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Average product type price is projected to rise from ~3,280.75 to ~3,709.40 US$/MT by 2036 a +1.2% CAGR.</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'Premade Pouches &amp; Bags' shows the strongest forecast price appreciation (+13.8%) over the horizon.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Upward pressure is led by input cost and demand &amp; market conditions; efficiency and competitive intensity work the other way.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Net outlook: modest, structural price appreciation mix and geography will determine realised pricing.</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1.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52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5–10%</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20–40%</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5–25%</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10–35%</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10–20%</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The Flexible Plastic Packaging Market value chain runs from raw-material suppliers through manufacturers, distributors and retailers to end users.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'Manufacturers / Processors' captures the largest value addition (20–40%), reflecting processing and scale advantages.</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Forward and backward integration is common some suppliers process, and some large end users produce their own input.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Percentages show each stage's indicative share of value added along the chain.</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267075"/>
          </a:xfrm>
          <a:prstGeom prst="roundRect">
            <a:avLst>
              <a:gd name="adj" fmla="val 23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Operating Margin by Region &amp; Node</a:t>
            </a:r>
          </a:p>
        </p:txBody>
      </p:sp>
      <p:graphicFrame>
        <p:nvGraphicFramePr>
          <p:cNvPr id="12" name="Table 11"/>
          <p:cNvGraphicFramePr>
            <a:graphicFrameLocks noGrp="1"/>
          </p:cNvGraphicFramePr>
          <p:nvPr/>
        </p:nvGraphicFramePr>
        <p:xfrm>
          <a:off x="152400" y="1238250"/>
          <a:ext cx="11887202" cy="2800353"/>
        </p:xfrm>
        <a:graphic>
          <a:graphicData uri="http://schemas.openxmlformats.org/drawingml/2006/table">
            <a:tbl>
              <a:tblPr>
                <a:tableStyleId>{5C22544A-7EE6-4342-B048-85BDC9FD1C3A}</a:tableStyleId>
              </a:tblPr>
              <a:tblGrid>
                <a:gridCol w="1208402"/>
                <a:gridCol w="2669700"/>
                <a:gridCol w="2669700"/>
                <a:gridCol w="2669700"/>
                <a:gridCol w="2669700"/>
              </a:tblGrid>
              <a:tr h="215265">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1542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+830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+1,738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+692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12.3%</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+878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+950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19.9%</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+1,722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8.5%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+521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+676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1542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11.9%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+911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18.7%</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+1,524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15424">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+274 BPS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15424">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10.0%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+537 BPS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0481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381500"/>
            <a:ext cx="11906250" cy="2247900"/>
          </a:xfrm>
          <a:prstGeom prst="roundRect">
            <a:avLst>
              <a:gd name="adj" fmla="val 338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46722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4705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91075"/>
            <a:ext cx="11639550" cy="17621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Flexible Plastic Packaging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2838450"/>
          </a:xfrm>
          <a:prstGeom prst="roundRect">
            <a:avLst>
              <a:gd name="adj" fmla="val 268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Flexible Plastic Packaging Market Buyers / End-User Assessment</a:t>
            </a:r>
          </a:p>
        </p:txBody>
      </p:sp>
      <p:graphicFrame>
        <p:nvGraphicFramePr>
          <p:cNvPr id="12" name="Table 11"/>
          <p:cNvGraphicFramePr>
            <a:graphicFrameLocks noGrp="1"/>
          </p:cNvGraphicFramePr>
          <p:nvPr/>
        </p:nvGraphicFramePr>
        <p:xfrm>
          <a:off x="152400" y="1238250"/>
          <a:ext cx="11887200" cy="2371725"/>
        </p:xfrm>
        <a:graphic>
          <a:graphicData uri="http://schemas.openxmlformats.org/drawingml/2006/table">
            <a:tbl>
              <a:tblPr>
                <a:tableStyleId>{5C22544A-7EE6-4342-B048-85BDC9FD1C3A}</a:tableStyleId>
              </a:tblPr>
              <a:tblGrid>
                <a:gridCol w="938673"/>
                <a:gridCol w="1486675"/>
                <a:gridCol w="1065550"/>
                <a:gridCol w="1130339"/>
                <a:gridCol w="1605454"/>
                <a:gridCol w="1397591"/>
                <a:gridCol w="1405647"/>
                <a:gridCol w="1351699"/>
                <a:gridCol w="1505572"/>
              </a:tblGrid>
              <a:tr h="215265">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Avg Price (US$/MT)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15646">
                <a:tc>
                  <a:txBody>
                    <a:bodyPr wrap="none"/>
                    <a:lstStyle/>
                    <a:p>
                      <a:pPr algn="l"/>
                      <a:r>
                        <a:rPr sz="1100" b="1">
                          <a:solidFill>
                            <a:srgbClr val="2E2E2E"/>
                          </a:solidFill>
                          <a:latin typeface="Calibri"/>
                        </a:rPr>
                        <a:t>Company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2,390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2,728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6,520,131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2,151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2,831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6,090,395</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3</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1,912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2,934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5,611,264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1,673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3,038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5,082,738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5</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Colombia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1,434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3,141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4,504,817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Rest of 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1,195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3,244</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3,877,502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7</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956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3,348</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3,200,791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717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3,451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2,474,686</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15646">
                <a:tc>
                  <a:txBody>
                    <a:bodyPr wrap="none"/>
                    <a:lstStyle/>
                    <a:p>
                      <a:pPr algn="l"/>
                      <a:r>
                        <a:rPr sz="1100" b="1">
                          <a:solidFill>
                            <a:srgbClr val="2E2E2E"/>
                          </a:solidFill>
                          <a:latin typeface="Calibri"/>
                        </a:rPr>
                        <a:t>Company 9</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478 Thousand MT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3,554</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1,699,186</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15646">
                <a:tc>
                  <a:txBody>
                    <a:bodyPr wrap="none"/>
                    <a:lstStyle/>
                    <a:p>
                      <a:pPr algn="l"/>
                      <a:r>
                        <a:rPr sz="1100" b="1">
                          <a:solidFill>
                            <a:srgbClr val="2E2E2E"/>
                          </a:solidFill>
                          <a:latin typeface="Calibri"/>
                        </a:rPr>
                        <a:t>Company 10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239 Thousand MT</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3,658</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874,290</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619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952875"/>
            <a:ext cx="11906250" cy="2676525"/>
          </a:xfrm>
          <a:prstGeom prst="roundRect">
            <a:avLst>
              <a:gd name="adj" fmla="val 284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0386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276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362450"/>
            <a:ext cx="11639550" cy="21907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Flexible Plastic Packaging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52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Dynamics by Country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country of the Europe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180975" y="876300"/>
            <a:ext cx="8572500" cy="228600"/>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Country  ·  ranked by 2036 value</a:t>
            </a:r>
          </a:p>
        </p:txBody>
      </p:sp>
      <p:sp>
        <p:nvSpPr>
          <p:cNvPr id="12" name="Rectangle 11"/>
          <p:cNvSpPr/>
          <p:nvPr/>
        </p:nvSpPr>
        <p:spPr>
          <a:xfrm>
            <a:off x="142875" y="1123950"/>
            <a:ext cx="11906250" cy="266700"/>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00025" y="1123950"/>
            <a:ext cx="1428750" cy="266700"/>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4" name="TextBox 13"/>
          <p:cNvSpPr txBox="1"/>
          <p:nvPr/>
        </p:nvSpPr>
        <p:spPr>
          <a:xfrm>
            <a:off x="1724025" y="1123950"/>
            <a:ext cx="3714750" cy="266700"/>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5" name="TextBox 14"/>
          <p:cNvSpPr txBox="1"/>
          <p:nvPr/>
        </p:nvSpPr>
        <p:spPr>
          <a:xfrm>
            <a:off x="5534025" y="1123950"/>
            <a:ext cx="2762250" cy="266700"/>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6" name="TextBox 15"/>
          <p:cNvSpPr txBox="1"/>
          <p:nvPr/>
        </p:nvSpPr>
        <p:spPr>
          <a:xfrm>
            <a:off x="8391525" y="1123950"/>
            <a:ext cx="3619500" cy="266700"/>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7" name="Rectangle 16"/>
          <p:cNvSpPr/>
          <p:nvPr/>
        </p:nvSpPr>
        <p:spPr>
          <a:xfrm>
            <a:off x="142875" y="1390650"/>
            <a:ext cx="11906250" cy="5334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00025" y="13906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Germany</a:t>
            </a:r>
          </a:p>
        </p:txBody>
      </p:sp>
      <p:sp>
        <p:nvSpPr>
          <p:cNvPr id="19" name="TextBox 18"/>
          <p:cNvSpPr txBox="1"/>
          <p:nvPr/>
        </p:nvSpPr>
        <p:spPr>
          <a:xfrm>
            <a:off x="1724025" y="14192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(15.3% share), Installed demand (5.4% CAGR), Rollstock Films demand, Accelerating vs history.</a:t>
            </a:r>
          </a:p>
        </p:txBody>
      </p:sp>
      <p:sp>
        <p:nvSpPr>
          <p:cNvPr id="20" name="TextBox 19"/>
          <p:cNvSpPr txBox="1"/>
          <p:nvPr/>
        </p:nvSpPr>
        <p:spPr>
          <a:xfrm>
            <a:off x="5534025" y="14192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122 BPS, Rising realisation (1.3%).</a:t>
            </a:r>
          </a:p>
        </p:txBody>
      </p:sp>
      <p:sp>
        <p:nvSpPr>
          <p:cNvPr id="21" name="TextBox 20"/>
          <p:cNvSpPr txBox="1"/>
          <p:nvPr/>
        </p:nvSpPr>
        <p:spPr>
          <a:xfrm>
            <a:off x="8391525" y="14192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(5.5%), 3,067 US$ Mn headroom.</a:t>
            </a:r>
          </a:p>
        </p:txBody>
      </p:sp>
      <p:sp>
        <p:nvSpPr>
          <p:cNvPr id="22" name="Rectangle 21"/>
          <p:cNvSpPr/>
          <p:nvPr/>
        </p:nvSpPr>
        <p:spPr>
          <a:xfrm>
            <a:off x="142875" y="1924050"/>
            <a:ext cx="11906250" cy="533400"/>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00025" y="19240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U.K.</a:t>
            </a:r>
          </a:p>
        </p:txBody>
      </p:sp>
      <p:sp>
        <p:nvSpPr>
          <p:cNvPr id="24" name="TextBox 23"/>
          <p:cNvSpPr txBox="1"/>
          <p:nvPr/>
        </p:nvSpPr>
        <p:spPr>
          <a:xfrm>
            <a:off x="1724025" y="19526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(13.9% share), Installed demand (6.3% CAGR), Rollstock Films demand, Accelerating vs history.</a:t>
            </a:r>
          </a:p>
        </p:txBody>
      </p:sp>
      <p:sp>
        <p:nvSpPr>
          <p:cNvPr id="25" name="TextBox 24"/>
          <p:cNvSpPr txBox="1"/>
          <p:nvPr/>
        </p:nvSpPr>
        <p:spPr>
          <a:xfrm>
            <a:off x="5534025" y="19526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26 BPS, Rising realisation (1.2%).</a:t>
            </a:r>
          </a:p>
        </p:txBody>
      </p:sp>
      <p:sp>
        <p:nvSpPr>
          <p:cNvPr id="26" name="TextBox 25"/>
          <p:cNvSpPr txBox="1"/>
          <p:nvPr/>
        </p:nvSpPr>
        <p:spPr>
          <a:xfrm>
            <a:off x="8391525" y="19526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(6.4%), 3,131 US$ Mn headroom.</a:t>
            </a:r>
          </a:p>
        </p:txBody>
      </p:sp>
      <p:sp>
        <p:nvSpPr>
          <p:cNvPr id="27" name="Rectangle 26"/>
          <p:cNvSpPr/>
          <p:nvPr/>
        </p:nvSpPr>
        <p:spPr>
          <a:xfrm>
            <a:off x="142875" y="2457450"/>
            <a:ext cx="11906250" cy="5334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00025" y="24574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Rest of Europe</a:t>
            </a:r>
          </a:p>
        </p:txBody>
      </p:sp>
      <p:sp>
        <p:nvSpPr>
          <p:cNvPr id="29" name="TextBox 28"/>
          <p:cNvSpPr txBox="1"/>
          <p:nvPr/>
        </p:nvSpPr>
        <p:spPr>
          <a:xfrm>
            <a:off x="1724025" y="24860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base (11.8% share), Above-market pace (7.4%), Rollstock Films demand, Accelerating vs history.</a:t>
            </a:r>
          </a:p>
        </p:txBody>
      </p:sp>
      <p:sp>
        <p:nvSpPr>
          <p:cNvPr id="30" name="TextBox 29"/>
          <p:cNvSpPr txBox="1"/>
          <p:nvPr/>
        </p:nvSpPr>
        <p:spPr>
          <a:xfrm>
            <a:off x="5534025" y="24860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(1.4%).</a:t>
            </a:r>
          </a:p>
        </p:txBody>
      </p:sp>
      <p:sp>
        <p:nvSpPr>
          <p:cNvPr id="31" name="TextBox 30"/>
          <p:cNvSpPr txBox="1"/>
          <p:nvPr/>
        </p:nvSpPr>
        <p:spPr>
          <a:xfrm>
            <a:off x="8391525" y="24860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Rollstock Films (7.5%), 2,976 US$ Mn headroom.</a:t>
            </a:r>
          </a:p>
        </p:txBody>
      </p:sp>
      <p:sp>
        <p:nvSpPr>
          <p:cNvPr id="32" name="Rectangle 31"/>
          <p:cNvSpPr/>
          <p:nvPr/>
        </p:nvSpPr>
        <p:spPr>
          <a:xfrm>
            <a:off x="142875" y="2990850"/>
            <a:ext cx="11906250" cy="533400"/>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200025" y="29908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France</a:t>
            </a:r>
          </a:p>
        </p:txBody>
      </p:sp>
      <p:sp>
        <p:nvSpPr>
          <p:cNvPr id="34" name="TextBox 33"/>
          <p:cNvSpPr txBox="1"/>
          <p:nvPr/>
        </p:nvSpPr>
        <p:spPr>
          <a:xfrm>
            <a:off x="1724025" y="30194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Installed demand (5.7% CAGR), Rollstock Films demand, Accelerating vs history.</a:t>
            </a:r>
          </a:p>
        </p:txBody>
      </p:sp>
      <p:sp>
        <p:nvSpPr>
          <p:cNvPr id="35" name="TextBox 34"/>
          <p:cNvSpPr txBox="1"/>
          <p:nvPr/>
        </p:nvSpPr>
        <p:spPr>
          <a:xfrm>
            <a:off x="5534025" y="30194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84 BPS, Rising realisation (1.3%).</a:t>
            </a:r>
          </a:p>
        </p:txBody>
      </p:sp>
      <p:sp>
        <p:nvSpPr>
          <p:cNvPr id="36" name="TextBox 35"/>
          <p:cNvSpPr txBox="1"/>
          <p:nvPr/>
        </p:nvSpPr>
        <p:spPr>
          <a:xfrm>
            <a:off x="8391525" y="30194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(5.8%), 2,478 US$ Mn headroom.</a:t>
            </a:r>
          </a:p>
        </p:txBody>
      </p:sp>
      <p:sp>
        <p:nvSpPr>
          <p:cNvPr id="37" name="Rectangle 36"/>
          <p:cNvSpPr/>
          <p:nvPr/>
        </p:nvSpPr>
        <p:spPr>
          <a:xfrm>
            <a:off x="142875" y="3524250"/>
            <a:ext cx="11906250" cy="5334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00025" y="35242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Italy</a:t>
            </a:r>
          </a:p>
        </p:txBody>
      </p:sp>
      <p:sp>
        <p:nvSpPr>
          <p:cNvPr id="39" name="TextBox 38"/>
          <p:cNvSpPr txBox="1"/>
          <p:nvPr/>
        </p:nvSpPr>
        <p:spPr>
          <a:xfrm>
            <a:off x="1724025" y="35528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Above-market pace (7.4%), Rollstock Films demand, Accelerating vs history.</a:t>
            </a:r>
          </a:p>
        </p:txBody>
      </p:sp>
      <p:sp>
        <p:nvSpPr>
          <p:cNvPr id="40" name="TextBox 39"/>
          <p:cNvSpPr txBox="1"/>
          <p:nvPr/>
        </p:nvSpPr>
        <p:spPr>
          <a:xfrm>
            <a:off x="5534025" y="35528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(1.3%).</a:t>
            </a:r>
          </a:p>
        </p:txBody>
      </p:sp>
      <p:sp>
        <p:nvSpPr>
          <p:cNvPr id="41" name="TextBox 40"/>
          <p:cNvSpPr txBox="1"/>
          <p:nvPr/>
        </p:nvSpPr>
        <p:spPr>
          <a:xfrm>
            <a:off x="8391525" y="35528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(7.6%), 2,643 US$ Mn headroom.</a:t>
            </a:r>
          </a:p>
        </p:txBody>
      </p:sp>
      <p:sp>
        <p:nvSpPr>
          <p:cNvPr id="42" name="Rectangle 41"/>
          <p:cNvSpPr/>
          <p:nvPr/>
        </p:nvSpPr>
        <p:spPr>
          <a:xfrm>
            <a:off x="142875" y="4057650"/>
            <a:ext cx="11906250" cy="533400"/>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00025" y="40576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Spain</a:t>
            </a:r>
          </a:p>
        </p:txBody>
      </p:sp>
      <p:sp>
        <p:nvSpPr>
          <p:cNvPr id="44" name="TextBox 43"/>
          <p:cNvSpPr txBox="1"/>
          <p:nvPr/>
        </p:nvSpPr>
        <p:spPr>
          <a:xfrm>
            <a:off x="1724025" y="40862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Above-market pace (8.1%), Rollstock Films demand, Accelerating vs history.</a:t>
            </a:r>
          </a:p>
        </p:txBody>
      </p:sp>
      <p:sp>
        <p:nvSpPr>
          <p:cNvPr id="45" name="TextBox 44"/>
          <p:cNvSpPr txBox="1"/>
          <p:nvPr/>
        </p:nvSpPr>
        <p:spPr>
          <a:xfrm>
            <a:off x="5534025" y="40862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(1.2%).</a:t>
            </a:r>
          </a:p>
        </p:txBody>
      </p:sp>
      <p:sp>
        <p:nvSpPr>
          <p:cNvPr id="46" name="TextBox 45"/>
          <p:cNvSpPr txBox="1"/>
          <p:nvPr/>
        </p:nvSpPr>
        <p:spPr>
          <a:xfrm>
            <a:off x="8391525" y="40862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(8.5%), 2,445 US$ Mn headroom.</a:t>
            </a:r>
          </a:p>
        </p:txBody>
      </p:sp>
      <p:sp>
        <p:nvSpPr>
          <p:cNvPr id="47" name="Rectangle 46"/>
          <p:cNvSpPr/>
          <p:nvPr/>
        </p:nvSpPr>
        <p:spPr>
          <a:xfrm>
            <a:off x="142875" y="4591050"/>
            <a:ext cx="11906250" cy="5334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00025" y="45910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Nordic</a:t>
            </a:r>
          </a:p>
        </p:txBody>
      </p:sp>
      <p:sp>
        <p:nvSpPr>
          <p:cNvPr id="49" name="TextBox 48"/>
          <p:cNvSpPr txBox="1"/>
          <p:nvPr/>
        </p:nvSpPr>
        <p:spPr>
          <a:xfrm>
            <a:off x="1724025" y="46196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Above-market pace (7.0%), Rollstock Films demand, Accelerating vs history.</a:t>
            </a:r>
          </a:p>
        </p:txBody>
      </p:sp>
      <p:sp>
        <p:nvSpPr>
          <p:cNvPr id="50" name="TextBox 49"/>
          <p:cNvSpPr txBox="1"/>
          <p:nvPr/>
        </p:nvSpPr>
        <p:spPr>
          <a:xfrm>
            <a:off x="5534025" y="46196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Rising realisation (1.4%).</a:t>
            </a:r>
          </a:p>
        </p:txBody>
      </p:sp>
      <p:sp>
        <p:nvSpPr>
          <p:cNvPr id="51" name="TextBox 50"/>
          <p:cNvSpPr txBox="1"/>
          <p:nvPr/>
        </p:nvSpPr>
        <p:spPr>
          <a:xfrm>
            <a:off x="8391525" y="46196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(7.2%), 1,590 US$ Mn headroom.</a:t>
            </a:r>
          </a:p>
        </p:txBody>
      </p:sp>
      <p:sp>
        <p:nvSpPr>
          <p:cNvPr id="52" name="Rectangle 51"/>
          <p:cNvSpPr/>
          <p:nvPr/>
        </p:nvSpPr>
        <p:spPr>
          <a:xfrm>
            <a:off x="142875" y="5124450"/>
            <a:ext cx="11906250" cy="533400"/>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00025" y="51244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Russia</a:t>
            </a:r>
          </a:p>
        </p:txBody>
      </p:sp>
      <p:sp>
        <p:nvSpPr>
          <p:cNvPr id="54" name="TextBox 53"/>
          <p:cNvSpPr txBox="1"/>
          <p:nvPr/>
        </p:nvSpPr>
        <p:spPr>
          <a:xfrm>
            <a:off x="1724025" y="51530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Installed demand (6.1% CAGR), Rollstock Films demand, Accelerating vs history.</a:t>
            </a:r>
          </a:p>
        </p:txBody>
      </p:sp>
      <p:sp>
        <p:nvSpPr>
          <p:cNvPr id="55" name="TextBox 54"/>
          <p:cNvSpPr txBox="1"/>
          <p:nvPr/>
        </p:nvSpPr>
        <p:spPr>
          <a:xfrm>
            <a:off x="5534025" y="51530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Trails market pace by 44 BPS, Rising realisation (1.3%).</a:t>
            </a:r>
          </a:p>
        </p:txBody>
      </p:sp>
      <p:sp>
        <p:nvSpPr>
          <p:cNvPr id="56" name="TextBox 55"/>
          <p:cNvSpPr txBox="1"/>
          <p:nvPr/>
        </p:nvSpPr>
        <p:spPr>
          <a:xfrm>
            <a:off x="8391525" y="51530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Rollstock Films (6.2%), 1,440 US$ Mn headroom.</a:t>
            </a:r>
          </a:p>
        </p:txBody>
      </p:sp>
      <p:sp>
        <p:nvSpPr>
          <p:cNvPr id="57" name="Rectangle 56"/>
          <p:cNvSpPr/>
          <p:nvPr/>
        </p:nvSpPr>
        <p:spPr>
          <a:xfrm>
            <a:off x="142875" y="5657850"/>
            <a:ext cx="11906250" cy="5334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200025" y="56578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Poland</a:t>
            </a:r>
          </a:p>
        </p:txBody>
      </p:sp>
      <p:sp>
        <p:nvSpPr>
          <p:cNvPr id="59" name="TextBox 58"/>
          <p:cNvSpPr txBox="1"/>
          <p:nvPr/>
        </p:nvSpPr>
        <p:spPr>
          <a:xfrm>
            <a:off x="1724025" y="56864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Above-market pace (7.8%), Rollstock Films demand, Accelerating vs history.</a:t>
            </a:r>
          </a:p>
        </p:txBody>
      </p:sp>
      <p:sp>
        <p:nvSpPr>
          <p:cNvPr id="60" name="TextBox 59"/>
          <p:cNvSpPr txBox="1"/>
          <p:nvPr/>
        </p:nvSpPr>
        <p:spPr>
          <a:xfrm>
            <a:off x="5534025" y="56864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Sub-scale base, Rising realisation (1.3%).</a:t>
            </a:r>
          </a:p>
        </p:txBody>
      </p:sp>
      <p:sp>
        <p:nvSpPr>
          <p:cNvPr id="61" name="TextBox 60"/>
          <p:cNvSpPr txBox="1"/>
          <p:nvPr/>
        </p:nvSpPr>
        <p:spPr>
          <a:xfrm>
            <a:off x="8391525" y="56864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Premade Pouches &amp; Bags (7.9%), 1,370 US$ Mn headroom.</a:t>
            </a:r>
          </a:p>
        </p:txBody>
      </p:sp>
      <p:cxnSp>
        <p:nvCxnSpPr>
          <p:cNvPr id="62" name="Connector 61"/>
          <p:cNvCxnSpPr/>
          <p:nvPr/>
        </p:nvCxnSpPr>
        <p:spPr>
          <a:xfrm>
            <a:off x="142875" y="6191250"/>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200025" y="6210300"/>
            <a:ext cx="3810000" cy="190500"/>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64" name="TextBox 6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Dynamics by Country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country of the Europe market</a:t>
            </a:r>
          </a:p>
        </p:txBody>
      </p:sp>
      <p:sp>
        <p:nvSpPr>
          <p:cNvPr id="10" name="TextBox 9"/>
          <p:cNvSpPr txBox="1"/>
          <p:nvPr/>
        </p:nvSpPr>
        <p:spPr>
          <a:xfrm>
            <a:off x="180975" y="876300"/>
            <a:ext cx="8572500" cy="228600"/>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Country  ·  ranked by 2036 value</a:t>
            </a:r>
          </a:p>
        </p:txBody>
      </p:sp>
      <p:sp>
        <p:nvSpPr>
          <p:cNvPr id="11" name="Rectangle 10"/>
          <p:cNvSpPr/>
          <p:nvPr/>
        </p:nvSpPr>
        <p:spPr>
          <a:xfrm>
            <a:off x="142875" y="1123950"/>
            <a:ext cx="11906250" cy="266700"/>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00025" y="1123950"/>
            <a:ext cx="1428750" cy="266700"/>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3" name="TextBox 12"/>
          <p:cNvSpPr txBox="1"/>
          <p:nvPr/>
        </p:nvSpPr>
        <p:spPr>
          <a:xfrm>
            <a:off x="1724025" y="1123950"/>
            <a:ext cx="3714750" cy="266700"/>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4" name="TextBox 13"/>
          <p:cNvSpPr txBox="1"/>
          <p:nvPr/>
        </p:nvSpPr>
        <p:spPr>
          <a:xfrm>
            <a:off x="5534025" y="1123950"/>
            <a:ext cx="2762250" cy="266700"/>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5" name="TextBox 14"/>
          <p:cNvSpPr txBox="1"/>
          <p:nvPr/>
        </p:nvSpPr>
        <p:spPr>
          <a:xfrm>
            <a:off x="8391525" y="1123950"/>
            <a:ext cx="3619500" cy="266700"/>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6" name="Rectangle 15"/>
          <p:cNvSpPr/>
          <p:nvPr/>
        </p:nvSpPr>
        <p:spPr>
          <a:xfrm>
            <a:off x="142875" y="1390650"/>
            <a:ext cx="11906250" cy="5334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00025" y="1390650"/>
            <a:ext cx="1428750" cy="533400"/>
          </a:xfrm>
          <a:prstGeom prst="rect">
            <a:avLst/>
          </a:prstGeom>
          <a:noFill/>
        </p:spPr>
        <p:txBody>
          <a:bodyPr wrap="square" lIns="28575" rIns="28575" tIns="9525" bIns="9525" anchor="ctr">
            <a:spAutoFit/>
          </a:bodyPr>
          <a:lstStyle/>
          <a:p>
            <a:pPr algn="l"/>
            <a:r>
              <a:rPr sz="1100" b="1">
                <a:solidFill>
                  <a:srgbClr val="2E2E2E"/>
                </a:solidFill>
                <a:latin typeface="Calibri"/>
              </a:rPr>
              <a:t>Netherlands</a:t>
            </a:r>
          </a:p>
        </p:txBody>
      </p:sp>
      <p:sp>
        <p:nvSpPr>
          <p:cNvPr id="18" name="TextBox 17"/>
          <p:cNvSpPr txBox="1"/>
          <p:nvPr/>
        </p:nvSpPr>
        <p:spPr>
          <a:xfrm>
            <a:off x="1724025" y="1419225"/>
            <a:ext cx="36766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Above-market pace (7.7%), Rollstock Films demand, Accelerating vs history.</a:t>
            </a:r>
          </a:p>
        </p:txBody>
      </p:sp>
      <p:sp>
        <p:nvSpPr>
          <p:cNvPr id="19" name="TextBox 18"/>
          <p:cNvSpPr txBox="1"/>
          <p:nvPr/>
        </p:nvSpPr>
        <p:spPr>
          <a:xfrm>
            <a:off x="5534025" y="1419225"/>
            <a:ext cx="272415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Sub-scale base, Rising realisation (1.4%).</a:t>
            </a:r>
          </a:p>
        </p:txBody>
      </p:sp>
      <p:sp>
        <p:nvSpPr>
          <p:cNvPr id="20" name="TextBox 19"/>
          <p:cNvSpPr txBox="1"/>
          <p:nvPr/>
        </p:nvSpPr>
        <p:spPr>
          <a:xfrm>
            <a:off x="8391525" y="1419225"/>
            <a:ext cx="3581400" cy="476250"/>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Scale Barrier Casings (7.8%), Mix shift to Rollstock Films, 1,199 US$ Mn headroom.</a:t>
            </a:r>
          </a:p>
        </p:txBody>
      </p:sp>
      <p:cxnSp>
        <p:nvCxnSpPr>
          <p:cNvPr id="21" name="Connector 20"/>
          <p:cNvCxnSpPr/>
          <p:nvPr/>
        </p:nvCxnSpPr>
        <p:spPr>
          <a:xfrm>
            <a:off x="142875" y="1924050"/>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200025" y="1943100"/>
            <a:ext cx="3810000" cy="190500"/>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23" name="Rounded Rectangle 22"/>
          <p:cNvSpPr/>
          <p:nvPr/>
        </p:nvSpPr>
        <p:spPr>
          <a:xfrm>
            <a:off x="142875" y="2209800"/>
            <a:ext cx="11906250" cy="1038225"/>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76225" y="2247900"/>
            <a:ext cx="3810000" cy="228600"/>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25" name="Connector 24"/>
          <p:cNvCxnSpPr/>
          <p:nvPr/>
        </p:nvCxnSpPr>
        <p:spPr>
          <a:xfrm>
            <a:off x="276225" y="2495550"/>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276225" y="2552700"/>
            <a:ext cx="11525250" cy="61912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Germany, U.K., Rest of Europe anchor scale with a combined 41.0% of Europe value in 2036, while 'Spain' offers the steepest upside at 8.1% CAGR against a market pace of 6.6%. 6 of 12 countries grow at or above that pace, so entry logic has to differ by country scale defence in the leaders, mix and premiumisation in the mid-tier, and availability-led expansion in the fastest movers.</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Europe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Oval 10"/>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2438400" y="2394542"/>
            <a:ext cx="2324100" cy="2829323"/>
          </a:xfrm>
          <a:custGeom>
            <a:avLst/>
            <a:gdLst/>
            <a:ahLst/>
            <a:cxnLst/>
            <a:rect l="l" t="t" r="r" b="b"/>
            <a:pathLst>
              <a:path w="244" h="310">
                <a:moveTo>
                  <a:pt x="244" y="0"/>
                </a:moveTo>
                <a:lnTo>
                  <a:pt x="167" y="4"/>
                </a:lnTo>
                <a:lnTo>
                  <a:pt x="81" y="34"/>
                </a:lnTo>
                <a:lnTo>
                  <a:pt x="170" y="147"/>
                </a:lnTo>
                <a:lnTo>
                  <a:pt x="0" y="220"/>
                </a:lnTo>
                <a:lnTo>
                  <a:pt x="119" y="264"/>
                </a:lnTo>
                <a:lnTo>
                  <a:pt x="230" y="192"/>
                </a:lnTo>
                <a:lnTo>
                  <a:pt x="244" y="310"/>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Production Scale-up  13.5%</a:t>
            </a:r>
          </a:p>
        </p:txBody>
      </p:sp>
      <p:sp>
        <p:nvSpPr>
          <p:cNvPr id="32" name="Oval 31"/>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Input Cost Pressure  14.6%</a:t>
            </a:r>
          </a:p>
        </p:txBody>
      </p:sp>
      <p:sp>
        <p:nvSpPr>
          <p:cNvPr id="34" name="Oval 33"/>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Capacity Add  17.2%</a:t>
            </a:r>
          </a:p>
        </p:txBody>
      </p:sp>
      <p:sp>
        <p:nvSpPr>
          <p:cNvPr id="36" name="Oval 35"/>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Supply Concentration  6.3%</a:t>
            </a:r>
          </a:p>
        </p:txBody>
      </p:sp>
      <p:sp>
        <p:nvSpPr>
          <p:cNvPr id="38" name="Oval 37"/>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Geographic Spread  20.6%</a:t>
            </a:r>
          </a:p>
        </p:txBody>
      </p:sp>
      <p:sp>
        <p:nvSpPr>
          <p:cNvPr id="40" name="Oval 39"/>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Portfolio Breadth  13.2%</a:t>
            </a:r>
          </a:p>
        </p:txBody>
      </p:sp>
      <p:sp>
        <p:nvSpPr>
          <p:cNvPr id="42" name="Oval 41"/>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Route Depth  2.6%</a:t>
            </a:r>
          </a:p>
        </p:txBody>
      </p:sp>
      <p:sp>
        <p:nvSpPr>
          <p:cNvPr id="44" name="Oval 43"/>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Value Realisation  12.0%</a:t>
            </a:r>
          </a:p>
        </p:txBody>
      </p:sp>
      <p:sp>
        <p:nvSpPr>
          <p:cNvPr id="46" name="Rectangle 45"/>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8"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9"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50"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1"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2"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3"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4"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5"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6"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7"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8" name="Connector 57"/>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60" name="Connector 59"/>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Supply-side conditions are led by Geographic Spread (10.0/10), Capacity Add (8.3/10), Input Cost Pressure (7.1/10) on a 0-10 scale scored from the europe dataset itself.</a:t>
            </a:r>
          </a:p>
        </p:txBody>
      </p:sp>
      <p:sp>
        <p:nvSpPr>
          <p:cNvPr id="62" name="TextBox 61"/>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Volume expands at 5.2% CAGR (2026–2036) while average realisation moves 1.3% a year the balance of those two sets the cost-pass-through picture.</a:t>
            </a:r>
          </a:p>
        </p:txBody>
      </p:sp>
      <p:sp>
        <p:nvSpPr>
          <p:cNvPr id="63" name="TextBox 62"/>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Supply is dispersed: 'Germany' holds 15.3% of 2036 value across 12 countries.</a:t>
            </a:r>
          </a:p>
        </p:txBody>
      </p:sp>
      <p:sp>
        <p:nvSpPr>
          <p:cNvPr id="64" name="TextBox 63"/>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4 product type lines and 2 application routes, giving producers focused reformulation and channel latitude.</a:t>
            </a:r>
          </a:p>
        </p:txBody>
      </p:sp>
      <p:sp>
        <p:nvSpPr>
          <p:cNvPr id="65" name="TextBox 64"/>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Capacity added between 2026 and 2036 is worth 23,252 US$ Mn, a 1.9× expansion on the 2026 base.</a:t>
            </a:r>
          </a:p>
        </p:txBody>
      </p:sp>
      <p:sp>
        <p:nvSpPr>
          <p:cNvPr id="66" name="TextBox 65"/>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Europe market</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Oval 10"/>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1" name="Connector 20"/>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9" name="Freeform 28"/>
          <p:cNvSpPr/>
          <p:nvPr/>
        </p:nvSpPr>
        <p:spPr>
          <a:xfrm>
            <a:off x="7429500" y="2394542"/>
            <a:ext cx="1514475" cy="3167017"/>
          </a:xfrm>
          <a:custGeom>
            <a:avLst/>
            <a:gdLst/>
            <a:ahLst/>
            <a:cxnLst/>
            <a:rect l="l" t="t" r="r" b="b"/>
            <a:pathLst>
              <a:path w="159" h="347">
                <a:moveTo>
                  <a:pt x="0" y="0"/>
                </a:moveTo>
                <a:lnTo>
                  <a:pt x="78" y="1"/>
                </a:lnTo>
                <a:lnTo>
                  <a:pt x="24" y="145"/>
                </a:lnTo>
                <a:lnTo>
                  <a:pt x="124" y="136"/>
                </a:lnTo>
                <a:lnTo>
                  <a:pt x="159" y="200"/>
                </a:lnTo>
                <a:lnTo>
                  <a:pt x="115" y="256"/>
                </a:lnTo>
                <a:lnTo>
                  <a:pt x="88" y="347"/>
                </a:lnTo>
                <a:lnTo>
                  <a:pt x="0" y="216"/>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Demand Growth  15.4%</a:t>
            </a:r>
          </a:p>
        </p:txBody>
      </p:sp>
      <p:sp>
        <p:nvSpPr>
          <p:cNvPr id="32" name="Oval 31"/>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Premiumisation  16.9%</a:t>
            </a:r>
          </a:p>
        </p:txBody>
      </p:sp>
      <p:sp>
        <p:nvSpPr>
          <p:cNvPr id="34" name="Oval 33"/>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App. Breadth  2.9%</a:t>
            </a:r>
          </a:p>
        </p:txBody>
      </p:sp>
      <p:sp>
        <p:nvSpPr>
          <p:cNvPr id="36" name="Oval 35"/>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Emerging Pull  11.9%</a:t>
            </a:r>
          </a:p>
        </p:txBody>
      </p:sp>
      <p:sp>
        <p:nvSpPr>
          <p:cNvPr id="38" name="Oval 37"/>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Volume Momentum  15.2%</a:t>
            </a:r>
          </a:p>
        </p:txBody>
      </p:sp>
      <p:sp>
        <p:nvSpPr>
          <p:cNvPr id="40" name="Oval 39"/>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Category Maturity  13.8%</a:t>
            </a:r>
          </a:p>
        </p:txBody>
      </p:sp>
      <p:sp>
        <p:nvSpPr>
          <p:cNvPr id="42" name="Oval 41"/>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Adoption Depth  19.0%</a:t>
            </a:r>
          </a:p>
        </p:txBody>
      </p:sp>
      <p:sp>
        <p:nvSpPr>
          <p:cNvPr id="44" name="Oval 43"/>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Consumer Reach  4.8%</a:t>
            </a:r>
          </a:p>
        </p:txBody>
      </p:sp>
      <p:sp>
        <p:nvSpPr>
          <p:cNvPr id="46" name="Rectangle 45"/>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8"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9"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50"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1"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2"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3"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4"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5"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6"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7"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8" name="Connector 57"/>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60" name="Connector 59"/>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Demand-side conditions are led by Adoption Depth (8.1/10), Premiumisation (7.2/10), Demand Growth (6.6/10) on a 0-10 scale scored from the europe dataset itself.</a:t>
            </a:r>
          </a:p>
        </p:txBody>
      </p:sp>
      <p:sp>
        <p:nvSpPr>
          <p:cNvPr id="62" name="TextBox 61"/>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Value grows at 6.6% against volume at 5.2% a premiumising market through 2036.</a:t>
            </a:r>
          </a:p>
        </p:txBody>
      </p:sp>
      <p:sp>
        <p:nvSpPr>
          <p:cNvPr id="63" name="TextBox 62"/>
          <p:cNvSpPr txBox="1"/>
          <p:nvPr/>
        </p:nvSpPr>
        <p:spPr>
          <a:xfrm>
            <a:off x="180975" y="215724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'Rollstock Films' carries 53.8% of product type demand while 'Premade Pouches &amp; Bags' compounds fastest at 6.7%.</a:t>
            </a:r>
          </a:p>
        </p:txBody>
      </p:sp>
      <p:sp>
        <p:nvSpPr>
          <p:cNvPr id="64" name="TextBox 63"/>
          <p:cNvSpPr txBox="1"/>
          <p:nvPr/>
        </p:nvSpPr>
        <p:spPr>
          <a:xfrm>
            <a:off x="180975" y="2613586"/>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Pull is strongest in 'Spain' (8.1% CAGR, +155 BPS versus the market), with 6 of 12 countries at or above pace.</a:t>
            </a:r>
          </a:p>
        </p:txBody>
      </p:sp>
      <p:sp>
        <p:nvSpPr>
          <p:cNvPr id="65" name="TextBox 64"/>
          <p:cNvSpPr txBox="1"/>
          <p:nvPr/>
        </p:nvSpPr>
        <p:spPr>
          <a:xfrm>
            <a:off x="180975" y="2887392"/>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Reach runs through 2 application routes, led by 'Food Packaging' at 84.3% and with 'Food Packaging' growing fastest at 6.6%.</a:t>
            </a:r>
          </a:p>
        </p:txBody>
      </p:sp>
      <p:sp>
        <p:nvSpPr>
          <p:cNvPr id="66" name="TextBox 65"/>
          <p:cNvSpPr txBox="1"/>
          <p:nvPr/>
        </p:nvSpPr>
        <p:spPr>
          <a:xfrm>
            <a:off x="180975" y="334373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7" name="TextBox 6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Europe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3" name="Rectangle 12"/>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Sachets &amp; Stick Packs Lags the Category and Dilutes Blended Growth</a:t>
            </a:r>
          </a:p>
        </p:txBody>
      </p:sp>
      <p:sp>
        <p:nvSpPr>
          <p:cNvPr id="15" name="TextBox 14"/>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'Sachets &amp; Stick Packs' grows at only 6.3% CAGR against the market's 6.6%, a -29 BPS gap, and 'Barrier Casings' surrenders 20 BPS of product type share between 2026 and 2036. Because these lines still carry meaningful volume, the drag is absorbed by the whole category: blended growth sits below what the leading lines achieve on their own. Rationalising or repositioning the lagging end of a 4-line portfolio is therefore a precondition for realising the headline forecast.</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Country Performance Caps the Blended Rate</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'Switzerland' grows at just 4.7% CAGR -188 BPS against the market and 6 of 12 countries sit below the market pace altogether. Demand is therefore not uniformly available: suppliers carrying a broad geographic footprint fund presence in slow countries out of returns earned in the fast ones. With 'Germany' at 15.3% of value, a shortfall in a single leading country is difficult to offset elsewhere in the forecast window.</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9" name="TextBox 48"/>
          <p:cNvSpPr txBox="1"/>
          <p:nvPr/>
        </p:nvSpPr>
        <p:spPr>
          <a:xfrm>
            <a:off x="161925" y="520561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is concentrated: 'Germany' accounts for 15.3% of 2036 value and the leading product type line for 53.8% of its segment. Average realisation moves 1.3% a year, so cost movements cannot be passed on evenly across 12 countries. The practical constraint is the same in either case commercial terms set for the market as a whole underserve part of it, and margin is lost in the mismatch rather than in the headline growth rate.</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Europe market and the likelihood of their impact across 2021–2036</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ounded Rectangle 10"/>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3" name="Rectangle 12"/>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U.K. Carries the Largest Absolute Opportunity</a:t>
            </a:r>
          </a:p>
        </p:txBody>
      </p:sp>
      <p:sp>
        <p:nvSpPr>
          <p:cNvPr id="15" name="TextBox 14"/>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'U.K.' adds 3,131 US$ Mn between 2026 and 2036 the single largest absolute increment of any geography in the dataset. Capturing it is a question of scale execution rather than market creation: demand already exists and grows at 6.6% at the market level. Prioritising supply, channel coverage and service levels there converts the largest share of the 23,252 US$ Mn the whole market adds over the forecast period.</a:t>
            </a:r>
          </a:p>
        </p:txBody>
      </p:sp>
      <p:sp>
        <p:nvSpPr>
          <p:cNvPr id="16" name="TextBox 15"/>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7" name="TextBox 16"/>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8" name="Rectangle 17"/>
          <p:cNvSpPr/>
          <p:nvPr/>
        </p:nvSpPr>
        <p:spPr>
          <a:xfrm>
            <a:off x="9810750" y="193820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0" name="TextBox 19"/>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1" name="Rectangle 20"/>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23" name="TextBox 22"/>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4" name="Rectangle 23"/>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6" name="TextBox 25"/>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7" name="Rectangle 26"/>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9" name="Connector 28"/>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Poland Offers Under-penetrated, Above-pace Headroom</a:t>
            </a:r>
          </a:p>
        </p:txBody>
      </p:sp>
      <p:sp>
        <p:nvSpPr>
          <p:cNvPr id="32" name="TextBox 31"/>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'Poland' compounds at 7.8% CAGR from a below-median base one of 2 geographies in the dataset combining above-median growth with below-median size. That profile is where share is cheapest to buy: competitive intensity is lower than in the 15.3%-share leaders, while growth runs +127 BPS ahead of the market. Early distribution and reference accounts established here compound through 2036.</a:t>
            </a:r>
          </a:p>
        </p:txBody>
      </p:sp>
      <p:sp>
        <p:nvSpPr>
          <p:cNvPr id="33" name="TextBox 32"/>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4" name="TextBox 33"/>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5" name="Rectangle 34"/>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7" name="TextBox 36"/>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8" name="Rectangle 37"/>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0" name="TextBox 39"/>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1" name="Rectangle 40"/>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43" name="TextBox 42"/>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4" name="Rectangle 43"/>
          <p:cNvSpPr/>
          <p:nvPr/>
        </p:nvSpPr>
        <p:spPr>
          <a:xfrm>
            <a:off x="10896600" y="421078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cxnSp>
        <p:nvCxnSpPr>
          <p:cNvPr id="46" name="Connector 45"/>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Food Packaging Opens the Fastest Route to Market</a:t>
            </a:r>
          </a:p>
        </p:txBody>
      </p:sp>
      <p:sp>
        <p:nvSpPr>
          <p:cNvPr id="49" name="TextBox 48"/>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'Food Packaging' grows at 6.6% CAGR, the fastest of 2 application routes, and adds 19,614 US$ Mn over the forecast period while 'Food Packaging' still carries 84.3% of demand today. Pairing the incumbent route for volume with the fastest route for growth and leading with 'Premade Pouches &amp; Bags' at 6.7% is the highest-yield combination the dataset supports.</a:t>
            </a:r>
          </a:p>
        </p:txBody>
      </p:sp>
      <p:sp>
        <p:nvSpPr>
          <p:cNvPr id="50" name="TextBox 49"/>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1" name="TextBox 50"/>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2" name="Rectangle 51"/>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54" name="TextBox 53"/>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5" name="Rectangle 54"/>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57" name="TextBox 56"/>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8" name="Rectangle 57"/>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0" name="TextBox 59"/>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1" name="Rectangle 60"/>
          <p:cNvSpPr/>
          <p:nvPr/>
        </p:nvSpPr>
        <p:spPr>
          <a:xfrm>
            <a:off x="10896600" y="5963140"/>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3" name="TextBox 6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Europe Flexible Plastic Packaging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Europe market, by year</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Rectangle 10"/>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3" name="TextBox 12"/>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4" name="Rectangle 13"/>
          <p:cNvSpPr/>
          <p:nvPr/>
        </p:nvSpPr>
        <p:spPr>
          <a:xfrm>
            <a:off x="142875" y="1317574"/>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142875" y="1317574"/>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6" name="Connector 15"/>
          <p:cNvCxnSpPr/>
          <p:nvPr/>
        </p:nvCxnSpPr>
        <p:spPr>
          <a:xfrm>
            <a:off x="1571625" y="1317574"/>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714500" y="164157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Strongest historical expansion on record: Europe value rose +4.9% year on year to 24,784 US$ Mn, the steepest single-year move of the 2021–2025 period. Demand for 'Rollstock Films' 53.8% of product type value by 2036 set the pace, and the 2 application routes tracked here all carried volume through the year.</a:t>
            </a:r>
          </a:p>
        </p:txBody>
      </p:sp>
      <p:sp>
        <p:nvSpPr>
          <p:cNvPr id="18" name="Rectangle 17"/>
          <p:cNvSpPr/>
          <p:nvPr/>
        </p:nvSpPr>
        <p:spPr>
          <a:xfrm>
            <a:off x="142875" y="2367162"/>
            <a:ext cx="11906250" cy="1049588"/>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42875" y="2367162"/>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20" name="Connector 19"/>
          <p:cNvCxnSpPr/>
          <p:nvPr/>
        </p:nvCxnSpPr>
        <p:spPr>
          <a:xfrm>
            <a:off x="1571625" y="2367162"/>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714500" y="2691164"/>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Base year for the forecast: the europe market is estimated at 26,141 US$ Mn, having compounded at 4.7% across 2021–2025. 'Germany' holds 15.3% of value across 12 countries, and the forecast is built from 6 segment breakdowns covering 4 product type lines.</a:t>
            </a:r>
          </a:p>
        </p:txBody>
      </p:sp>
      <p:sp>
        <p:nvSpPr>
          <p:cNvPr id="22" name="Rectangle 21"/>
          <p:cNvSpPr/>
          <p:nvPr/>
        </p:nvSpPr>
        <p:spPr>
          <a:xfrm>
            <a:off x="142875" y="3416749"/>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42875" y="3416749"/>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2033</a:t>
            </a:r>
          </a:p>
        </p:txBody>
      </p:sp>
      <p:cxnSp>
        <p:nvCxnSpPr>
          <p:cNvPr id="24" name="Connector 23"/>
          <p:cNvCxnSpPr/>
          <p:nvPr/>
        </p:nvCxnSpPr>
        <p:spPr>
          <a:xfrm>
            <a:off x="1571625" y="3416749"/>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1714500" y="3740753"/>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The market passes 39,211 US$ Mn one and a half times the 2026 base reaching 40,462 US$ Mn. Growth by this point is led by 'Premade Pouches &amp; Bags' at 6.7% CAGR and by 'Spain' among countries at 8.1%, with 6 of 12 countries running at or above the market rate.</a:t>
            </a:r>
          </a:p>
        </p:txBody>
      </p:sp>
      <p:sp>
        <p:nvSpPr>
          <p:cNvPr id="26" name="Rectangle 25"/>
          <p:cNvSpPr/>
          <p:nvPr/>
        </p:nvSpPr>
        <p:spPr>
          <a:xfrm>
            <a:off x="142875" y="4466337"/>
            <a:ext cx="11906250" cy="1049588"/>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42875" y="4466337"/>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8" name="Connector 27"/>
          <p:cNvCxnSpPr/>
          <p:nvPr/>
        </p:nvCxnSpPr>
        <p:spPr>
          <a:xfrm>
            <a:off x="1571625" y="4466337"/>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1714500" y="4790339"/>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Mid-horizon checkpoint: value reaches 35,400 US$ Mn, 1.35× the 2026 base. Average realisation stands at 3497.97 US$/MT, and mix has moved +36 BPS toward 'Premade Pouches &amp; Bags' while 'Barrier Casings' gives up 20 BPS.</a:t>
            </a:r>
          </a:p>
        </p:txBody>
      </p:sp>
      <p:sp>
        <p:nvSpPr>
          <p:cNvPr id="30" name="Rectangle 29"/>
          <p:cNvSpPr/>
          <p:nvPr/>
        </p:nvSpPr>
        <p:spPr>
          <a:xfrm>
            <a:off x="142875" y="5515924"/>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142875" y="5515924"/>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32" name="Connector 31"/>
          <p:cNvCxnSpPr/>
          <p:nvPr/>
        </p:nvCxnSpPr>
        <p:spPr>
          <a:xfrm>
            <a:off x="1571625" y="5515924"/>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714500" y="583992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Forecast outcome: the europe market reaches 49,393 US$ Mn, a 1.9× expansion on 2026 and 23,252 US$ Mn of incremental value at 6.6% CAGR. Volume compounds at 5.2% over the same window, leaving realisation 1.3% a year the gap between the two is the premiumisation the forecast assumes.</a:t>
            </a:r>
          </a:p>
        </p:txBody>
      </p:sp>
      <p:sp>
        <p:nvSpPr>
          <p:cNvPr id="34" name="TextBox 3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8982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Europe Flexible Plastic Packaging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Rounded Rectangle 9"/>
          <p:cNvSpPr/>
          <p:nvPr/>
        </p:nvSpPr>
        <p:spPr>
          <a:xfrm>
            <a:off x="10620375" y="228600"/>
            <a:ext cx="1428750" cy="419100"/>
          </a:xfrm>
          <a:prstGeom prst="roundRect">
            <a:avLst>
              <a:gd name="adj" fmla="val 22000"/>
            </a:avLst>
          </a:prstGeom>
          <a:solidFill>
            <a:srgbClr val="D9E6F2"/>
          </a:solidFill>
          <a:ln w="635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0B2E4A"/>
                </a:solidFill>
                <a:latin typeface="Calibri"/>
              </a:rPr>
              <a:t>Europe</a:t>
            </a:r>
          </a:p>
        </p:txBody>
      </p:sp>
      <p:sp>
        <p:nvSpPr>
          <p:cNvPr id="11" name="TextBox 10"/>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Supplier power, buyer power, competitive intensity, substitution and entry barriers scored from the europe dataset 4 product type lines, 2 application routes and 12 countries at 6.6% CAGR.</a:t>
            </a:r>
          </a:p>
        </p:txBody>
      </p:sp>
      <p:sp>
        <p:nvSpPr>
          <p:cNvPr id="12" name="Oval 11"/>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4" name="TextBox 13"/>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5" name="TextBox 14"/>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'Germany' supplies 15.3% of 2036 value across 12 countries, concentrating upstream leverage.</a:t>
            </a:r>
          </a:p>
        </p:txBody>
      </p:sp>
      <p:sp>
        <p:nvSpPr>
          <p:cNvPr id="16" name="TextBox 15"/>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Average realisation moves 1.3% a year (2026–2036), indicating input costs are being passed through.</a:t>
            </a:r>
          </a:p>
        </p:txBody>
      </p:sp>
      <p:sp>
        <p:nvSpPr>
          <p:cNvPr id="17" name="TextBox 16"/>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4 product type lines, which caps supplier leverage in commodity grades.</a:t>
            </a:r>
          </a:p>
        </p:txBody>
      </p:sp>
      <p:sp>
        <p:nvSpPr>
          <p:cNvPr id="18" name="Oval 17"/>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4" name="TextBox 23"/>
          <p:cNvSpPr txBox="1"/>
          <p:nvPr/>
        </p:nvSpPr>
        <p:spPr>
          <a:xfrm>
            <a:off x="262890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Demand routes through 2 application channels led by 'Food Packaging' at 84.3%, giving large buyers scale.</a:t>
            </a:r>
          </a:p>
        </p:txBody>
      </p:sp>
      <p:sp>
        <p:nvSpPr>
          <p:cNvPr id="25" name="TextBox 24"/>
          <p:cNvSpPr txBox="1"/>
          <p:nvPr/>
        </p:nvSpPr>
        <p:spPr>
          <a:xfrm>
            <a:off x="262890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Price sensitivity tracks realisation moving 1.3% a year against volume growth of 5.2%.</a:t>
            </a:r>
          </a:p>
        </p:txBody>
      </p:sp>
      <p:sp>
        <p:nvSpPr>
          <p:cNvPr id="26" name="TextBox 25"/>
          <p:cNvSpPr txBox="1"/>
          <p:nvPr/>
        </p:nvSpPr>
        <p:spPr>
          <a:xfrm>
            <a:off x="26289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4 comparable product type lines compete for the same demand.</a:t>
            </a:r>
          </a:p>
        </p:txBody>
      </p:sp>
      <p:sp>
        <p:nvSpPr>
          <p:cNvPr id="27" name="Oval 26"/>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5" name="TextBox 34"/>
          <p:cNvSpPr txBox="1"/>
          <p:nvPr/>
        </p:nvSpPr>
        <p:spPr>
          <a:xfrm>
            <a:off x="5010150" y="2796123"/>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moderate. 4 product type lines compete inside the segment; the leader holds 53.8%.</a:t>
            </a:r>
          </a:p>
        </p:txBody>
      </p:sp>
      <p:sp>
        <p:nvSpPr>
          <p:cNvPr id="36" name="TextBox 35"/>
          <p:cNvSpPr txBox="1"/>
          <p:nvPr/>
        </p:nvSpPr>
        <p:spPr>
          <a:xfrm>
            <a:off x="5010150" y="3480637"/>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Growth is unevenly distributed 'Premade Pouches &amp; Bags' at 6.7% against 'Sachets &amp; Stick Packs' at 6.3%.</a:t>
            </a:r>
          </a:p>
        </p:txBody>
      </p:sp>
      <p:sp>
        <p:nvSpPr>
          <p:cNvPr id="37" name="TextBox 36"/>
          <p:cNvSpPr txBox="1"/>
          <p:nvPr/>
        </p:nvSpPr>
        <p:spPr>
          <a:xfrm>
            <a:off x="501015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6 of 12 countries grow at or above the 6.6% market pace, keeping share contested.</a:t>
            </a:r>
          </a:p>
        </p:txBody>
      </p:sp>
      <p:sp>
        <p:nvSpPr>
          <p:cNvPr id="38" name="Oval 37"/>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ounded Rectangle 40"/>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3" name="TextBox 42"/>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low. 'Barrier Casings' loses 20 BPS of share to 'Premade Pouches &amp; Bags' (+36 BPS) by 2036 substitution is visible inside the mix.</a:t>
            </a:r>
          </a:p>
        </p:txBody>
      </p:sp>
      <p:sp>
        <p:nvSpPr>
          <p:cNvPr id="44" name="TextBox 43"/>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The slowest line grows at 6.3%, -29 BPS against the market.</a:t>
            </a:r>
          </a:p>
        </p:txBody>
      </p:sp>
      <p:sp>
        <p:nvSpPr>
          <p:cNvPr id="45" name="TextBox 44"/>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Realisation moving 1.3% a year widens the price gap substitutes must close.</a:t>
            </a:r>
          </a:p>
        </p:txBody>
      </p:sp>
      <p:sp>
        <p:nvSpPr>
          <p:cNvPr id="46" name="Oval 45"/>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4" name="TextBox 53"/>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Assessed high. The market grows at 6.6% CAGR and adds 23,252 US$ Mn by 2036, attracting entry.</a:t>
            </a:r>
          </a:p>
        </p:txBody>
      </p:sp>
      <p:sp>
        <p:nvSpPr>
          <p:cNvPr id="55" name="TextBox 54"/>
          <p:cNvSpPr txBox="1"/>
          <p:nvPr/>
        </p:nvSpPr>
        <p:spPr>
          <a:xfrm>
            <a:off x="9772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Demand spreads over 12 countries with no single one above 15.3%, so regional entry is feasible.</a:t>
            </a:r>
          </a:p>
        </p:txBody>
      </p:sp>
      <p:sp>
        <p:nvSpPr>
          <p:cNvPr id="56" name="TextBox 55"/>
          <p:cNvSpPr txBox="1"/>
          <p:nvPr/>
        </p:nvSpPr>
        <p:spPr>
          <a:xfrm>
            <a:off x="9772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Incumbent scale in 'Germany' and 'Rollstock Films' (53.8% of segment) remains the principal barrier.</a:t>
            </a:r>
          </a:p>
        </p:txBody>
      </p:sp>
      <p:sp>
        <p:nvSpPr>
          <p:cNvPr id="57" name="TextBox 5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1">
                          <a:solidFill>
                            <a:srgbClr val="000000"/>
                          </a:solidFill>
                          <a:latin typeface="Calibri"/>
                        </a:rPr>
                        <a:t>1.1.1.1.</a:t>
                      </a:r>
                      <a:r>
                        <a:rPr sz="700" b="0" i="1">
                          <a:solidFill>
                            <a:srgbClr val="000000"/>
                          </a:solidFill>
                          <a:latin typeface="Times New Roman"/>
                        </a:rPr>
                        <a:t>    </a:t>
                      </a:r>
                      <a:r>
                        <a:rPr sz="1100" b="0" i="1">
                          <a:solidFill>
                            <a:srgbClr val="000000"/>
                          </a:solidFill>
                          <a:latin typeface="Calibri"/>
                        </a:rPr>
                        <a:t>Key Supply Trends</a:t>
                      </a:r>
                      <a:endParaRPr sz="1100"/>
                    </a:p>
                  </a:txBody>
                  <a:tcPr marL="10287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0" i="1">
                          <a:solidFill>
                            <a:srgbClr val="000000"/>
                          </a:solidFill>
                          <a:latin typeface="Calibri"/>
                        </a:rPr>
                        <a:t>2.2.1.1.</a:t>
                      </a:r>
                      <a:r>
                        <a:rPr sz="700" b="0" i="1">
                          <a:solidFill>
                            <a:srgbClr val="000000"/>
                          </a:solidFill>
                          <a:latin typeface="Times New Roman"/>
                        </a:rPr>
                        <a:t>    </a:t>
                      </a:r>
                      <a:r>
                        <a:rPr sz="1100" b="0" i="1">
                          <a:solidFill>
                            <a:srgbClr val="000000"/>
                          </a:solidFill>
                          <a:latin typeface="Calibri"/>
                        </a:rPr>
                        <a:t>Global Market Size (Value &amp; Volume) 2021–2036</a:t>
                      </a:r>
                      <a:endParaRPr sz="1100"/>
                    </a:p>
                  </a:txBody>
                  <a:tcPr marL="1028700"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2.5.</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2.6.</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Flat Polybags</a:t>
                      </a:r>
                      <a:endParaRPr sz="1100"/>
                    </a:p>
                  </a:txBody>
                  <a:tcPr marL="771525" marR="9525" marT="9525" marB="0" anchor="ctr"/>
                </a:tc>
              </a:tr>
              <a:tr h="175260">
                <a:tc>
                  <a:txBody>
                    <a:bodyPr wrap="square"/>
                    <a:lstStyle/>
                    <a:p>
                      <a:pPr algn="l"/>
                      <a:r>
                        <a:rPr sz="1100" b="0" i="1">
                          <a:solidFill>
                            <a:srgbClr val="000000"/>
                          </a:solidFill>
                          <a:latin typeface="Calibri"/>
                        </a:rPr>
                        <a:t>3.5.1.1.</a:t>
                      </a:r>
                      <a:r>
                        <a:rPr sz="700" b="0" i="1">
                          <a:solidFill>
                            <a:srgbClr val="000000"/>
                          </a:solidFill>
                          <a:latin typeface="Times New Roman"/>
                        </a:rPr>
                        <a:t>    </a:t>
                      </a:r>
                      <a:r>
                        <a:rPr sz="1100" b="0" i="1">
                          <a:solidFill>
                            <a:srgbClr val="000000"/>
                          </a:solidFill>
                          <a:latin typeface="Calibri"/>
                        </a:rPr>
                        <a:t>Standard Flat Bags</a:t>
                      </a:r>
                      <a:endParaRPr sz="1100"/>
                    </a:p>
                  </a:txBody>
                  <a:tcPr marL="1028700" marR="9525" marT="9525" marB="0" anchor="ctr"/>
                </a:tc>
              </a:tr>
              <a:tr h="175260">
                <a:tc>
                  <a:txBody>
                    <a:bodyPr wrap="square"/>
                    <a:lstStyle/>
                    <a:p>
                      <a:pPr algn="l"/>
                      <a:r>
                        <a:rPr sz="1100" b="0" i="1">
                          <a:solidFill>
                            <a:srgbClr val="000000"/>
                          </a:solidFill>
                          <a:latin typeface="Calibri"/>
                        </a:rPr>
                        <a:t>3.5.1.2.</a:t>
                      </a:r>
                      <a:r>
                        <a:rPr sz="700" b="0" i="1">
                          <a:solidFill>
                            <a:srgbClr val="000000"/>
                          </a:solidFill>
                          <a:latin typeface="Times New Roman"/>
                        </a:rPr>
                        <a:t>    </a:t>
                      </a:r>
                      <a:r>
                        <a:rPr sz="1100" b="0" i="1">
                          <a:solidFill>
                            <a:srgbClr val="000000"/>
                          </a:solidFill>
                          <a:latin typeface="Calibri"/>
                        </a:rPr>
                        <a:t>Lay Flat Tubing</a:t>
                      </a:r>
                      <a:endParaRPr sz="1100"/>
                    </a:p>
                  </a:txBody>
                  <a:tcPr marL="1028700" marR="9525" marT="9525" marB="0" anchor="ctr"/>
                </a:tc>
              </a:tr>
              <a:tr h="175260">
                <a:tc>
                  <a:txBody>
                    <a:bodyPr wrap="square"/>
                    <a:lstStyle/>
                    <a:p>
                      <a:pPr algn="l"/>
                      <a:r>
                        <a:rPr sz="1100" b="0" i="1">
                          <a:solidFill>
                            <a:srgbClr val="000000"/>
                          </a:solidFill>
                          <a:latin typeface="Calibri"/>
                        </a:rPr>
                        <a:t>3.5.1.3.</a:t>
                      </a:r>
                      <a:r>
                        <a:rPr sz="700" b="0" i="1">
                          <a:solidFill>
                            <a:srgbClr val="000000"/>
                          </a:solidFill>
                          <a:latin typeface="Times New Roman"/>
                        </a:rPr>
                        <a:t>    </a:t>
                      </a:r>
                      <a:r>
                        <a:rPr sz="1100" b="0" i="1">
                          <a:solidFill>
                            <a:srgbClr val="000000"/>
                          </a:solidFill>
                          <a:latin typeface="Calibri"/>
                        </a:rPr>
                        <a:t>Flat Poly Sleeves</a:t>
                      </a:r>
                      <a:endParaRPr sz="1100"/>
                    </a:p>
                  </a:txBody>
                  <a:tcPr marL="1028700"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Gusseted Polybags</a:t>
                      </a:r>
                      <a:endParaRPr sz="1100"/>
                    </a:p>
                  </a:txBody>
                  <a:tcPr marL="771525" marR="9525" marT="9525" marB="0" anchor="ctr"/>
                </a:tc>
              </a:tr>
              <a:tr h="175260">
                <a:tc>
                  <a:txBody>
                    <a:bodyPr wrap="square"/>
                    <a:lstStyle/>
                    <a:p>
                      <a:pPr algn="l"/>
                      <a:r>
                        <a:rPr sz="1100" b="0" i="1">
                          <a:solidFill>
                            <a:srgbClr val="000000"/>
                          </a:solidFill>
                          <a:latin typeface="Calibri"/>
                        </a:rPr>
                        <a:t>3.5.2.1.</a:t>
                      </a:r>
                      <a:r>
                        <a:rPr sz="700" b="0" i="1">
                          <a:solidFill>
                            <a:srgbClr val="000000"/>
                          </a:solidFill>
                          <a:latin typeface="Times New Roman"/>
                        </a:rPr>
                        <a:t>    </a:t>
                      </a:r>
                      <a:r>
                        <a:rPr sz="1100" b="0" i="1">
                          <a:solidFill>
                            <a:srgbClr val="000000"/>
                          </a:solidFill>
                          <a:latin typeface="Calibri"/>
                        </a:rPr>
                        <a:t>Side Gusset Bags</a:t>
                      </a:r>
                      <a:endParaRPr sz="1100"/>
                    </a:p>
                  </a:txBody>
                  <a:tcPr marL="1028700" marR="9525" marT="9525" marB="0" anchor="ctr"/>
                </a:tc>
              </a:tr>
              <a:tr h="175260">
                <a:tc>
                  <a:txBody>
                    <a:bodyPr wrap="square"/>
                    <a:lstStyle/>
                    <a:p>
                      <a:pPr algn="l"/>
                      <a:r>
                        <a:rPr sz="1100" b="0" i="1">
                          <a:solidFill>
                            <a:srgbClr val="000000"/>
                          </a:solidFill>
                          <a:latin typeface="Calibri"/>
                        </a:rPr>
                        <a:t>3.5.2.2.</a:t>
                      </a:r>
                      <a:r>
                        <a:rPr sz="700" b="0" i="1">
                          <a:solidFill>
                            <a:srgbClr val="000000"/>
                          </a:solidFill>
                          <a:latin typeface="Times New Roman"/>
                        </a:rPr>
                        <a:t>    </a:t>
                      </a:r>
                      <a:r>
                        <a:rPr sz="1100" b="0" i="1">
                          <a:solidFill>
                            <a:srgbClr val="000000"/>
                          </a:solidFill>
                          <a:latin typeface="Calibri"/>
                        </a:rPr>
                        <a:t>Bottom Gusset Bags</a:t>
                      </a:r>
                      <a:endParaRPr sz="1100"/>
                    </a:p>
                  </a:txBody>
                  <a:tcPr marL="1028700" marR="9525" marT="9525" marB="0" anchor="ctr"/>
                </a:tc>
              </a:tr>
              <a:tr h="175260">
                <a:tc>
                  <a:txBody>
                    <a:bodyPr wrap="square"/>
                    <a:lstStyle/>
                    <a:p>
                      <a:pPr algn="l"/>
                      <a:r>
                        <a:rPr sz="1100" b="0" i="1">
                          <a:solidFill>
                            <a:srgbClr val="000000"/>
                          </a:solidFill>
                          <a:latin typeface="Calibri"/>
                        </a:rPr>
                        <a:t>3.5.2.3.</a:t>
                      </a:r>
                      <a:r>
                        <a:rPr sz="700" b="0" i="1">
                          <a:solidFill>
                            <a:srgbClr val="000000"/>
                          </a:solidFill>
                          <a:latin typeface="Times New Roman"/>
                        </a:rPr>
                        <a:t>    </a:t>
                      </a:r>
                      <a:r>
                        <a:rPr sz="1100" b="0" i="1">
                          <a:solidFill>
                            <a:srgbClr val="000000"/>
                          </a:solidFill>
                          <a:latin typeface="Calibri"/>
                        </a:rPr>
                        <a:t>Quad Seal Bags</a:t>
                      </a:r>
                      <a:endParaRPr sz="1100"/>
                    </a:p>
                  </a:txBody>
                  <a:tcPr marL="1028700" marR="9525" marT="9525" marB="0" anchor="ctr"/>
                </a:tc>
              </a:tr>
              <a:tr h="175260">
                <a:tc>
                  <a:txBody>
                    <a:bodyPr wrap="square"/>
                    <a:lstStyle/>
                    <a:p>
                      <a:pPr algn="l"/>
                      <a:r>
                        <a:rPr sz="1100" b="0" i="0">
                          <a:solidFill>
                            <a:srgbClr val="000000"/>
                          </a:solidFill>
                          <a:latin typeface="Calibri"/>
                        </a:rPr>
                        <a:t>3.5.3.</a:t>
                      </a:r>
                      <a:r>
                        <a:rPr sz="700" b="0" i="0">
                          <a:solidFill>
                            <a:srgbClr val="000000"/>
                          </a:solidFill>
                          <a:latin typeface="Times New Roman"/>
                        </a:rPr>
                        <a:t>   </a:t>
                      </a:r>
                      <a:r>
                        <a:rPr sz="1100" b="0" i="0">
                          <a:solidFill>
                            <a:srgbClr val="000000"/>
                          </a:solidFill>
                          <a:latin typeface="Calibri"/>
                        </a:rPr>
                        <a:t>Resealable Polybags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3.5.3.1.</a:t>
                      </a:r>
                      <a:r>
                        <a:rPr sz="700" b="0" i="1">
                          <a:solidFill>
                            <a:srgbClr val="000000"/>
                          </a:solidFill>
                          <a:latin typeface="Times New Roman"/>
                        </a:rPr>
                        <a:t>    </a:t>
                      </a:r>
                      <a:r>
                        <a:rPr sz="1100" b="0" i="1">
                          <a:solidFill>
                            <a:srgbClr val="000000"/>
                          </a:solidFill>
                          <a:latin typeface="Calibri"/>
                        </a:rPr>
                        <a:t>Zip Lock Bags</a:t>
                      </a:r>
                      <a:endParaRPr sz="1100"/>
                    </a:p>
                  </a:txBody>
                  <a:tcPr marL="1028700" marR="9525" marT="9525" marB="0" anchor="ctr"/>
                </a:tc>
              </a:tr>
              <a:tr h="175260">
                <a:tc>
                  <a:txBody>
                    <a:bodyPr wrap="square"/>
                    <a:lstStyle/>
                    <a:p>
                      <a:pPr algn="l"/>
                      <a:r>
                        <a:rPr sz="1100" b="0" i="1">
                          <a:solidFill>
                            <a:srgbClr val="000000"/>
                          </a:solidFill>
                          <a:latin typeface="Calibri"/>
                        </a:rPr>
                        <a:t>3.5.3.2.</a:t>
                      </a:r>
                      <a:r>
                        <a:rPr sz="700" b="0" i="1">
                          <a:solidFill>
                            <a:srgbClr val="000000"/>
                          </a:solidFill>
                          <a:latin typeface="Times New Roman"/>
                        </a:rPr>
                        <a:t>    </a:t>
                      </a:r>
                      <a:r>
                        <a:rPr sz="1100" b="0" i="1">
                          <a:solidFill>
                            <a:srgbClr val="000000"/>
                          </a:solidFill>
                          <a:latin typeface="Calibri"/>
                        </a:rPr>
                        <a:t>Slider Zip Bags</a:t>
                      </a:r>
                      <a:endParaRPr sz="1100"/>
                    </a:p>
                  </a:txBody>
                  <a:tcPr marL="1028700" marR="9525" marT="9525" marB="0" anchor="ctr"/>
                </a:tc>
              </a:tr>
              <a:tr h="175260">
                <a:tc>
                  <a:txBody>
                    <a:bodyPr wrap="square"/>
                    <a:lstStyle/>
                    <a:p>
                      <a:pPr algn="l"/>
                      <a:r>
                        <a:rPr sz="1100" b="0" i="1">
                          <a:solidFill>
                            <a:srgbClr val="000000"/>
                          </a:solidFill>
                          <a:latin typeface="Calibri"/>
                        </a:rPr>
                        <a:t>3.5.3.3.</a:t>
                      </a:r>
                      <a:r>
                        <a:rPr sz="700" b="0" i="1">
                          <a:solidFill>
                            <a:srgbClr val="000000"/>
                          </a:solidFill>
                          <a:latin typeface="Times New Roman"/>
                        </a:rPr>
                        <a:t>    </a:t>
                      </a:r>
                      <a:r>
                        <a:rPr sz="1100" b="0" i="1">
                          <a:solidFill>
                            <a:srgbClr val="000000"/>
                          </a:solidFill>
                          <a:latin typeface="Calibri"/>
                        </a:rPr>
                        <a:t>Press-to-Close Bags</a:t>
                      </a:r>
                      <a:endParaRPr sz="1100"/>
                    </a:p>
                  </a:txBody>
                  <a:tcPr marL="1028700" marR="9525" marT="9525" marB="0" anchor="ctr"/>
                </a:tc>
              </a:tr>
              <a:tr h="175260">
                <a:tc>
                  <a:txBody>
                    <a:bodyPr wrap="square"/>
                    <a:lstStyle/>
                    <a:p>
                      <a:pPr algn="l"/>
                      <a:r>
                        <a:rPr sz="1100" b="0" i="1">
                          <a:solidFill>
                            <a:srgbClr val="000000"/>
                          </a:solidFill>
                          <a:latin typeface="Calibri"/>
                        </a:rPr>
                        <a:t>3.5.3.4.</a:t>
                      </a:r>
                      <a:r>
                        <a:rPr sz="700" b="0" i="1">
                          <a:solidFill>
                            <a:srgbClr val="000000"/>
                          </a:solidFill>
                          <a:latin typeface="Times New Roman"/>
                        </a:rPr>
                        <a:t>    </a:t>
                      </a:r>
                      <a:r>
                        <a:rPr sz="1100" b="0" i="1">
                          <a:solidFill>
                            <a:srgbClr val="000000"/>
                          </a:solidFill>
                          <a:latin typeface="Calibri"/>
                        </a:rPr>
                        <a:t>Double Zip Bags</a:t>
                      </a:r>
                      <a:endParaRPr sz="1100"/>
                    </a:p>
                  </a:txBody>
                  <a:tcPr marL="1028700" marR="9525" marT="9525" marB="0" anchor="ctr"/>
                </a:tc>
              </a:tr>
              <a:tr h="175260">
                <a:tc>
                  <a:txBody>
                    <a:bodyPr wrap="square"/>
                    <a:lstStyle/>
                    <a:p>
                      <a:pPr algn="l"/>
                      <a:r>
                        <a:rPr sz="1100" b="0" i="0">
                          <a:solidFill>
                            <a:srgbClr val="000000"/>
                          </a:solidFill>
                          <a:latin typeface="Calibri"/>
                        </a:rPr>
                        <a:t>3.5.4.</a:t>
                      </a:r>
                      <a:r>
                        <a:rPr sz="700" b="0" i="0">
                          <a:solidFill>
                            <a:srgbClr val="000000"/>
                          </a:solidFill>
                          <a:latin typeface="Times New Roman"/>
                        </a:rPr>
                        <a:t>   </a:t>
                      </a:r>
                      <a:r>
                        <a:rPr sz="1100" b="0" i="0">
                          <a:solidFill>
                            <a:srgbClr val="000000"/>
                          </a:solidFill>
                          <a:latin typeface="Calibri"/>
                        </a:rPr>
                        <a:t>Industrial Polybags</a:t>
                      </a:r>
                      <a:endParaRPr sz="1100"/>
                    </a:p>
                  </a:txBody>
                  <a:tcPr marL="771525" marR="9525" marT="9525" marB="0" anchor="ctr"/>
                </a:tc>
              </a:tr>
              <a:tr h="175260">
                <a:tc>
                  <a:txBody>
                    <a:bodyPr wrap="square"/>
                    <a:lstStyle/>
                    <a:p>
                      <a:pPr algn="l"/>
                      <a:r>
                        <a:rPr sz="1100" b="0" i="1">
                          <a:solidFill>
                            <a:srgbClr val="000000"/>
                          </a:solidFill>
                          <a:latin typeface="Calibri"/>
                        </a:rPr>
                        <a:t>3.5.4.1.</a:t>
                      </a:r>
                      <a:r>
                        <a:rPr sz="700" b="0" i="1">
                          <a:solidFill>
                            <a:srgbClr val="000000"/>
                          </a:solidFill>
                          <a:latin typeface="Times New Roman"/>
                        </a:rPr>
                        <a:t>    </a:t>
                      </a:r>
                      <a:r>
                        <a:rPr sz="1100" b="0" i="1">
                          <a:solidFill>
                            <a:srgbClr val="000000"/>
                          </a:solidFill>
                          <a:latin typeface="Calibri"/>
                        </a:rPr>
                        <a:t>Heavy-Duty Bags</a:t>
                      </a:r>
                      <a:endParaRPr sz="1100"/>
                    </a:p>
                  </a:txBody>
                  <a:tcPr marL="1028700" marR="9525" marT="9525" marB="0" anchor="ctr"/>
                </a:tc>
              </a:tr>
              <a:tr h="175260">
                <a:tc>
                  <a:txBody>
                    <a:bodyPr wrap="square"/>
                    <a:lstStyle/>
                    <a:p>
                      <a:pPr algn="l"/>
                      <a:r>
                        <a:rPr sz="1100" b="0" i="1">
                          <a:solidFill>
                            <a:srgbClr val="000000"/>
                          </a:solidFill>
                          <a:latin typeface="Calibri"/>
                        </a:rPr>
                        <a:t>3.5.4.2.</a:t>
                      </a:r>
                      <a:r>
                        <a:rPr sz="700" b="0" i="1">
                          <a:solidFill>
                            <a:srgbClr val="000000"/>
                          </a:solidFill>
                          <a:latin typeface="Times New Roman"/>
                        </a:rPr>
                        <a:t>    </a:t>
                      </a:r>
                      <a:r>
                        <a:rPr sz="1100" b="0" i="1">
                          <a:solidFill>
                            <a:srgbClr val="000000"/>
                          </a:solidFill>
                          <a:latin typeface="Calibri"/>
                        </a:rPr>
                        <a:t>FIBC Liners</a:t>
                      </a:r>
                      <a:endParaRPr sz="1100"/>
                    </a:p>
                  </a:txBody>
                  <a:tcPr marL="1028700" marR="9525" marT="9525" marB="0" anchor="ctr"/>
                </a:tc>
              </a:tr>
              <a:tr h="175260">
                <a:tc>
                  <a:txBody>
                    <a:bodyPr wrap="square"/>
                    <a:lstStyle/>
                    <a:p>
                      <a:pPr algn="l"/>
                      <a:r>
                        <a:rPr sz="1100" b="0" i="1">
                          <a:solidFill>
                            <a:srgbClr val="000000"/>
                          </a:solidFill>
                          <a:latin typeface="Calibri"/>
                        </a:rPr>
                        <a:t>3.5.4.3.</a:t>
                      </a:r>
                      <a:r>
                        <a:rPr sz="700" b="0" i="1">
                          <a:solidFill>
                            <a:srgbClr val="000000"/>
                          </a:solidFill>
                          <a:latin typeface="Times New Roman"/>
                        </a:rPr>
                        <a:t>    </a:t>
                      </a:r>
                      <a:r>
                        <a:rPr sz="1100" b="0" i="1">
                          <a:solidFill>
                            <a:srgbClr val="000000"/>
                          </a:solidFill>
                          <a:latin typeface="Calibri"/>
                        </a:rPr>
                        <a:t>Machinery Parts Bags</a:t>
                      </a:r>
                      <a:endParaRPr sz="1100"/>
                    </a:p>
                  </a:txBody>
                  <a:tcPr marL="1028700" marR="9525" marT="9525" marB="0" anchor="ctr"/>
                </a:tc>
              </a:tr>
              <a:tr h="175260">
                <a:tc>
                  <a:txBody>
                    <a:bodyPr wrap="square"/>
                    <a:lstStyle/>
                    <a:p>
                      <a:pPr algn="l"/>
                      <a:r>
                        <a:rPr sz="1100" b="0" i="1">
                          <a:solidFill>
                            <a:srgbClr val="000000"/>
                          </a:solidFill>
                          <a:latin typeface="Calibri"/>
                        </a:rPr>
                        <a:t>3.5.4.4.</a:t>
                      </a:r>
                      <a:r>
                        <a:rPr sz="700" b="0" i="1">
                          <a:solidFill>
                            <a:srgbClr val="000000"/>
                          </a:solidFill>
                          <a:latin typeface="Times New Roman"/>
                        </a:rPr>
                        <a:t>    </a:t>
                      </a:r>
                      <a:r>
                        <a:rPr sz="1100" b="0" i="1">
                          <a:solidFill>
                            <a:srgbClr val="000000"/>
                          </a:solidFill>
                          <a:latin typeface="Calibri"/>
                        </a:rPr>
                        <a:t>Chemical Packaging Bags</a:t>
                      </a:r>
                      <a:endParaRPr sz="1100"/>
                    </a:p>
                  </a:txBody>
                  <a:tcPr marL="1028700" marR="9525" marT="9525" marB="0" anchor="ctr"/>
                </a:tc>
              </a:tr>
              <a:tr h="175260">
                <a:tc>
                  <a:txBody>
                    <a:bodyPr wrap="square"/>
                    <a:lstStyle/>
                    <a:p>
                      <a:pPr algn="l"/>
                      <a:r>
                        <a:rPr sz="1100" b="0" i="0">
                          <a:solidFill>
                            <a:srgbClr val="000000"/>
                          </a:solidFill>
                          <a:latin typeface="Calibri"/>
                        </a:rPr>
                        <a:t>3.5.5.</a:t>
                      </a:r>
                      <a:r>
                        <a:rPr sz="700" b="0" i="0">
                          <a:solidFill>
                            <a:srgbClr val="000000"/>
                          </a:solidFill>
                          <a:latin typeface="Times New Roman"/>
                        </a:rPr>
                        <a:t>   </a:t>
                      </a:r>
                      <a:r>
                        <a:rPr sz="1100" b="0" i="0">
                          <a:solidFill>
                            <a:srgbClr val="000000"/>
                          </a:solidFill>
                          <a:latin typeface="Calibri"/>
                        </a:rPr>
                        <a:t>Protective Polybags</a:t>
                      </a:r>
                      <a:endParaRPr sz="1100"/>
                    </a:p>
                  </a:txBody>
                  <a:tcPr marL="771525" marR="9525" marT="9525" marB="0" anchor="ctr"/>
                </a:tc>
              </a:tr>
              <a:tr h="175260">
                <a:tc>
                  <a:txBody>
                    <a:bodyPr wrap="square"/>
                    <a:lstStyle/>
                    <a:p>
                      <a:pPr algn="l"/>
                      <a:r>
                        <a:rPr sz="1100" b="0" i="1">
                          <a:solidFill>
                            <a:srgbClr val="000000"/>
                          </a:solidFill>
                          <a:latin typeface="Calibri"/>
                        </a:rPr>
                        <a:t>3.5.5.1.</a:t>
                      </a:r>
                      <a:r>
                        <a:rPr sz="700" b="0" i="1">
                          <a:solidFill>
                            <a:srgbClr val="000000"/>
                          </a:solidFill>
                          <a:latin typeface="Times New Roman"/>
                        </a:rPr>
                        <a:t>    </a:t>
                      </a:r>
                      <a:r>
                        <a:rPr sz="1100" b="0" i="1">
                          <a:solidFill>
                            <a:srgbClr val="000000"/>
                          </a:solidFill>
                          <a:latin typeface="Calibri"/>
                        </a:rPr>
                        <a:t>Bubble Poly Mailers</a:t>
                      </a:r>
                      <a:endParaRPr sz="1100"/>
                    </a:p>
                  </a:txBody>
                  <a:tcPr marL="1028700" marR="9525" marT="9525" marB="0" anchor="ctr"/>
                </a:tc>
              </a:tr>
              <a:tr h="175260">
                <a:tc>
                  <a:txBody>
                    <a:bodyPr wrap="square"/>
                    <a:lstStyle/>
                    <a:p>
                      <a:pPr algn="l"/>
                      <a:r>
                        <a:rPr sz="1100" b="0" i="1">
                          <a:solidFill>
                            <a:srgbClr val="000000"/>
                          </a:solidFill>
                          <a:latin typeface="Calibri"/>
                        </a:rPr>
                        <a:t>3.5.5.2.</a:t>
                      </a:r>
                      <a:r>
                        <a:rPr sz="700" b="0" i="1">
                          <a:solidFill>
                            <a:srgbClr val="000000"/>
                          </a:solidFill>
                          <a:latin typeface="Times New Roman"/>
                        </a:rPr>
                        <a:t>    </a:t>
                      </a:r>
                      <a:r>
                        <a:rPr sz="1100" b="0" i="1">
                          <a:solidFill>
                            <a:srgbClr val="000000"/>
                          </a:solidFill>
                          <a:latin typeface="Calibri"/>
                        </a:rPr>
                        <a:t>Anti-Static (ESD) Bags</a:t>
                      </a:r>
                      <a:endParaRPr sz="1100"/>
                    </a:p>
                  </a:txBody>
                  <a:tcPr marL="1028700" marR="9525" marT="9525" marB="0" anchor="ctr"/>
                </a:tc>
              </a:tr>
              <a:tr h="175260">
                <a:tc>
                  <a:txBody>
                    <a:bodyPr wrap="square"/>
                    <a:lstStyle/>
                    <a:p>
                      <a:pPr algn="l"/>
                      <a:r>
                        <a:rPr sz="1100" b="0" i="1">
                          <a:solidFill>
                            <a:srgbClr val="000000"/>
                          </a:solidFill>
                          <a:latin typeface="Calibri"/>
                        </a:rPr>
                        <a:t>3.5.5.3.</a:t>
                      </a:r>
                      <a:r>
                        <a:rPr sz="700" b="0" i="1">
                          <a:solidFill>
                            <a:srgbClr val="000000"/>
                          </a:solidFill>
                          <a:latin typeface="Times New Roman"/>
                        </a:rPr>
                        <a:t>    </a:t>
                      </a:r>
                      <a:r>
                        <a:rPr sz="1100" b="0" i="1">
                          <a:solidFill>
                            <a:srgbClr val="000000"/>
                          </a:solidFill>
                          <a:latin typeface="Calibri"/>
                        </a:rPr>
                        <a:t>Vacuum Bags</a:t>
                      </a:r>
                      <a:endParaRPr sz="1100"/>
                    </a:p>
                  </a:txBody>
                  <a:tcPr marL="1028700" marR="9525" marT="9525" marB="0" anchor="ctr"/>
                </a:tc>
              </a:tr>
              <a:tr h="175260">
                <a:tc>
                  <a:txBody>
                    <a:bodyPr wrap="square"/>
                    <a:lstStyle/>
                    <a:p>
                      <a:pPr algn="l"/>
                      <a:r>
                        <a:rPr sz="1100" b="0" i="1">
                          <a:solidFill>
                            <a:srgbClr val="000000"/>
                          </a:solidFill>
                          <a:latin typeface="Calibri"/>
                        </a:rPr>
                        <a:t>3.5.5.4.</a:t>
                      </a:r>
                      <a:r>
                        <a:rPr sz="700" b="0" i="1">
                          <a:solidFill>
                            <a:srgbClr val="000000"/>
                          </a:solidFill>
                          <a:latin typeface="Times New Roman"/>
                        </a:rPr>
                        <a:t>    </a:t>
                      </a:r>
                      <a:r>
                        <a:rPr sz="1100" b="0" i="1">
                          <a:solidFill>
                            <a:srgbClr val="000000"/>
                          </a:solidFill>
                          <a:latin typeface="Calibri"/>
                        </a:rPr>
                        <a:t>Cushion Packaging Bags</a:t>
                      </a:r>
                      <a:endParaRPr sz="1100"/>
                    </a:p>
                  </a:txBody>
                  <a:tcPr marL="1028700" marR="9525" marT="9525" marB="0" anchor="ctr"/>
                </a:tc>
              </a:tr>
              <a:tr h="175260">
                <a:tc>
                  <a:txBody>
                    <a:bodyPr wrap="square"/>
                    <a:lstStyle/>
                    <a:p>
                      <a:pPr algn="l"/>
                      <a:r>
                        <a:rPr sz="1100" b="0" i="0">
                          <a:solidFill>
                            <a:srgbClr val="000000"/>
                          </a:solidFill>
                          <a:latin typeface="Calibri"/>
                        </a:rPr>
                        <a:t>3.5.6.</a:t>
                      </a:r>
                      <a:r>
                        <a:rPr sz="700" b="0" i="0">
                          <a:solidFill>
                            <a:srgbClr val="000000"/>
                          </a:solidFill>
                          <a:latin typeface="Times New Roman"/>
                        </a:rPr>
                        <a:t>   </a:t>
                      </a:r>
                      <a:r>
                        <a:rPr sz="1100" b="0" i="0">
                          <a:solidFill>
                            <a:srgbClr val="000000"/>
                          </a:solidFill>
                          <a:latin typeface="Calibri"/>
                        </a:rPr>
                        <a:t>Retail &amp; Merchandise Bags</a:t>
                      </a:r>
                      <a:endParaRPr sz="1100"/>
                    </a:p>
                  </a:txBody>
                  <a:tcPr marL="771525" marR="9525" marT="9525" marB="0" anchor="ctr"/>
                </a:tc>
              </a:tr>
              <a:tr h="175260">
                <a:tc>
                  <a:txBody>
                    <a:bodyPr wrap="square"/>
                    <a:lstStyle/>
                    <a:p>
                      <a:pPr algn="l"/>
                      <a:r>
                        <a:rPr sz="1100" b="0" i="1">
                          <a:solidFill>
                            <a:srgbClr val="000000"/>
                          </a:solidFill>
                          <a:latin typeface="Calibri"/>
                        </a:rPr>
                        <a:t>3.5.6.1.</a:t>
                      </a:r>
                      <a:r>
                        <a:rPr sz="700" b="0" i="1">
                          <a:solidFill>
                            <a:srgbClr val="000000"/>
                          </a:solidFill>
                          <a:latin typeface="Times New Roman"/>
                        </a:rPr>
                        <a:t>    </a:t>
                      </a:r>
                      <a:r>
                        <a:rPr sz="1100" b="0" i="1">
                          <a:solidFill>
                            <a:srgbClr val="000000"/>
                          </a:solidFill>
                          <a:latin typeface="Calibri"/>
                        </a:rPr>
                        <a:t>T-Shirt Bags</a:t>
                      </a:r>
                      <a:endParaRPr sz="1100"/>
                    </a:p>
                  </a:txBody>
                  <a:tcPr marL="1028700" marR="9525" marT="9525" marB="0" anchor="ctr"/>
                </a:tc>
              </a:tr>
              <a:tr h="175260">
                <a:tc>
                  <a:txBody>
                    <a:bodyPr wrap="square"/>
                    <a:lstStyle/>
                    <a:p>
                      <a:pPr algn="l"/>
                      <a:r>
                        <a:rPr sz="1100" b="0" i="1">
                          <a:solidFill>
                            <a:srgbClr val="000000"/>
                          </a:solidFill>
                          <a:latin typeface="Calibri"/>
                        </a:rPr>
                        <a:t>3.5.6.2.</a:t>
                      </a:r>
                      <a:r>
                        <a:rPr sz="700" b="0" i="1">
                          <a:solidFill>
                            <a:srgbClr val="000000"/>
                          </a:solidFill>
                          <a:latin typeface="Times New Roman"/>
                        </a:rPr>
                        <a:t>    </a:t>
                      </a:r>
                      <a:r>
                        <a:rPr sz="1100" b="0" i="1">
                          <a:solidFill>
                            <a:srgbClr val="000000"/>
                          </a:solidFill>
                          <a:latin typeface="Calibri"/>
                        </a:rPr>
                        <a:t>Merchandise Bags</a:t>
                      </a:r>
                      <a:endParaRPr sz="1100"/>
                    </a:p>
                  </a:txBody>
                  <a:tcPr marL="1028700" marR="9525" marT="9525" marB="0" anchor="ctr"/>
                </a:tc>
              </a:tr>
              <a:tr h="175260">
                <a:tc>
                  <a:txBody>
                    <a:bodyPr wrap="square"/>
                    <a:lstStyle/>
                    <a:p>
                      <a:pPr algn="l"/>
                      <a:r>
                        <a:rPr sz="1100" b="0" i="1">
                          <a:solidFill>
                            <a:srgbClr val="000000"/>
                          </a:solidFill>
                          <a:latin typeface="Calibri"/>
                        </a:rPr>
                        <a:t>3.5.6.3.</a:t>
                      </a:r>
                      <a:r>
                        <a:rPr sz="700" b="0" i="1">
                          <a:solidFill>
                            <a:srgbClr val="000000"/>
                          </a:solidFill>
                          <a:latin typeface="Times New Roman"/>
                        </a:rPr>
                        <a:t>    </a:t>
                      </a:r>
                      <a:r>
                        <a:rPr sz="1100" b="0" i="1">
                          <a:solidFill>
                            <a:srgbClr val="000000"/>
                          </a:solidFill>
                          <a:latin typeface="Calibri"/>
                        </a:rPr>
                        <a:t>Die-Cut Handle Bags</a:t>
                      </a:r>
                      <a:endParaRPr sz="1100"/>
                    </a:p>
                  </a:txBody>
                  <a:tcPr marL="1028700" marR="9525" marT="9525" marB="0" anchor="ctr"/>
                </a:tc>
              </a:tr>
              <a:tr h="175260">
                <a:tc>
                  <a:txBody>
                    <a:bodyPr wrap="square"/>
                    <a:lstStyle/>
                    <a:p>
                      <a:pPr algn="l"/>
                      <a:r>
                        <a:rPr sz="1100" b="0" i="1">
                          <a:solidFill>
                            <a:srgbClr val="000000"/>
                          </a:solidFill>
                          <a:latin typeface="Calibri"/>
                        </a:rPr>
                        <a:t>3.5.6.4.</a:t>
                      </a:r>
                      <a:r>
                        <a:rPr sz="700" b="0" i="1">
                          <a:solidFill>
                            <a:srgbClr val="000000"/>
                          </a:solidFill>
                          <a:latin typeface="Times New Roman"/>
                        </a:rPr>
                        <a:t>    </a:t>
                      </a:r>
                      <a:r>
                        <a:rPr sz="1100" b="0" i="1">
                          <a:solidFill>
                            <a:srgbClr val="000000"/>
                          </a:solidFill>
                          <a:latin typeface="Calibri"/>
                        </a:rPr>
                        <a:t>Patch Handle Bags</a:t>
                      </a:r>
                      <a:endParaRPr sz="1100"/>
                    </a:p>
                  </a:txBody>
                  <a:tcPr marL="1028700" marR="9525" marT="9525" marB="0" anchor="ctr"/>
                </a:tc>
              </a:tr>
              <a:tr h="175260">
                <a:tc>
                  <a:txBody>
                    <a:bodyPr wrap="square"/>
                    <a:lstStyle/>
                    <a:p>
                      <a:pPr algn="l"/>
                      <a:r>
                        <a:rPr sz="1100" b="0" i="1">
                          <a:solidFill>
                            <a:srgbClr val="000000"/>
                          </a:solidFill>
                          <a:latin typeface="Calibri"/>
                        </a:rPr>
                        <a:t>3.5.6.5.</a:t>
                      </a:r>
                      <a:r>
                        <a:rPr sz="700" b="0" i="1">
                          <a:solidFill>
                            <a:srgbClr val="000000"/>
                          </a:solidFill>
                          <a:latin typeface="Times New Roman"/>
                        </a:rPr>
                        <a:t>    </a:t>
                      </a:r>
                      <a:r>
                        <a:rPr sz="1100" b="0" i="1">
                          <a:solidFill>
                            <a:srgbClr val="000000"/>
                          </a:solidFill>
                          <a:latin typeface="Calibri"/>
                        </a:rPr>
                        <a:t>D-Cut Bags</a:t>
                      </a:r>
                      <a:endParaRPr sz="1100"/>
                    </a:p>
                  </a:txBody>
                  <a:tcPr marL="1028700" marR="9525" marT="9525" marB="0" anchor="ctr"/>
                </a:tc>
              </a:tr>
              <a:tr h="175260">
                <a:tc>
                  <a:txBody>
                    <a:bodyPr wrap="square"/>
                    <a:lstStyle/>
                    <a:p>
                      <a:pPr algn="l"/>
                      <a:r>
                        <a:rPr sz="1100" b="0" i="0">
                          <a:solidFill>
                            <a:srgbClr val="000000"/>
                          </a:solidFill>
                          <a:latin typeface="Calibri"/>
                        </a:rPr>
                        <a:t>3.5.7.</a:t>
                      </a:r>
                      <a:r>
                        <a:rPr sz="700" b="0" i="0">
                          <a:solidFill>
                            <a:srgbClr val="000000"/>
                          </a:solidFill>
                          <a:latin typeface="Times New Roman"/>
                        </a:rPr>
                        <a:t>   </a:t>
                      </a:r>
                      <a:r>
                        <a:rPr sz="1100" b="0" i="0">
                          <a:solidFill>
                            <a:srgbClr val="000000"/>
                          </a:solidFill>
                          <a:latin typeface="Calibri"/>
                        </a:rPr>
                        <a:t>E-commerce Polybags</a:t>
                      </a:r>
                      <a:endParaRPr sz="1100"/>
                    </a:p>
                  </a:txBody>
                  <a:tcPr marL="771525" marR="9525" marT="9525" marB="0" anchor="ctr"/>
                </a:tc>
              </a:tr>
              <a:tr h="175260">
                <a:tc>
                  <a:txBody>
                    <a:bodyPr wrap="square"/>
                    <a:lstStyle/>
                    <a:p>
                      <a:pPr algn="l"/>
                      <a:r>
                        <a:rPr sz="1100" b="0" i="1">
                          <a:solidFill>
                            <a:srgbClr val="000000"/>
                          </a:solidFill>
                          <a:latin typeface="Calibri"/>
                        </a:rPr>
                        <a:t>3.5.7.1.</a:t>
                      </a:r>
                      <a:r>
                        <a:rPr sz="700" b="0" i="1">
                          <a:solidFill>
                            <a:srgbClr val="000000"/>
                          </a:solidFill>
                          <a:latin typeface="Times New Roman"/>
                        </a:rPr>
                        <a:t>    </a:t>
                      </a:r>
                      <a:r>
                        <a:rPr sz="1100" b="0" i="1">
                          <a:solidFill>
                            <a:srgbClr val="000000"/>
                          </a:solidFill>
                          <a:latin typeface="Calibri"/>
                        </a:rPr>
                        <a:t>Courier Mailers</a:t>
                      </a:r>
                      <a:endParaRPr sz="1100"/>
                    </a:p>
                  </a:txBody>
                  <a:tcPr marL="1028700" marR="9525" marT="9525" marB="0" anchor="ctr"/>
                </a:tc>
              </a:tr>
              <a:tr h="175260">
                <a:tc>
                  <a:txBody>
                    <a:bodyPr wrap="square"/>
                    <a:lstStyle/>
                    <a:p>
                      <a:pPr algn="l"/>
                      <a:r>
                        <a:rPr sz="1100" b="0" i="1">
                          <a:solidFill>
                            <a:srgbClr val="000000"/>
                          </a:solidFill>
                          <a:latin typeface="Calibri"/>
                        </a:rPr>
                        <a:t>3.5.7.2.</a:t>
                      </a:r>
                      <a:r>
                        <a:rPr sz="700" b="0" i="1">
                          <a:solidFill>
                            <a:srgbClr val="000000"/>
                          </a:solidFill>
                          <a:latin typeface="Times New Roman"/>
                        </a:rPr>
                        <a:t>    </a:t>
                      </a:r>
                      <a:r>
                        <a:rPr sz="1100" b="0" i="1">
                          <a:solidFill>
                            <a:srgbClr val="000000"/>
                          </a:solidFill>
                          <a:latin typeface="Calibri"/>
                        </a:rPr>
                        <a:t>Tamper-Evident Mailers</a:t>
                      </a:r>
                      <a:endParaRPr sz="1100"/>
                    </a:p>
                  </a:txBody>
                  <a:tcPr marL="1028700" marR="9525" marT="9525" marB="0" anchor="ctr"/>
                </a:tc>
              </a:tr>
              <a:tr h="175260">
                <a:tc>
                  <a:txBody>
                    <a:bodyPr wrap="square"/>
                    <a:lstStyle/>
                    <a:p>
                      <a:pPr algn="l"/>
                      <a:r>
                        <a:rPr sz="1100" b="0" i="1">
                          <a:solidFill>
                            <a:srgbClr val="000000"/>
                          </a:solidFill>
                          <a:latin typeface="Calibri"/>
                        </a:rPr>
                        <a:t>3.5.7.3.</a:t>
                      </a:r>
                      <a:r>
                        <a:rPr sz="700" b="0" i="1">
                          <a:solidFill>
                            <a:srgbClr val="000000"/>
                          </a:solidFill>
                          <a:latin typeface="Times New Roman"/>
                        </a:rPr>
                        <a:t>    </a:t>
                      </a:r>
                      <a:r>
                        <a:rPr sz="1100" b="0" i="1">
                          <a:solidFill>
                            <a:srgbClr val="000000"/>
                          </a:solidFill>
                          <a:latin typeface="Calibri"/>
                        </a:rPr>
                        <a:t>Return Mailers</a:t>
                      </a:r>
                      <a:endParaRPr sz="1100"/>
                    </a:p>
                  </a:txBody>
                  <a:tcPr marL="1028700" marR="9525" marT="9525" marB="0" anchor="ctr"/>
                </a:tc>
              </a:tr>
              <a:tr h="175260">
                <a:tc>
                  <a:txBody>
                    <a:bodyPr wrap="square"/>
                    <a:lstStyle/>
                    <a:p>
                      <a:pPr algn="l"/>
                      <a:r>
                        <a:rPr sz="1100" b="0" i="1">
                          <a:solidFill>
                            <a:srgbClr val="000000"/>
                          </a:solidFill>
                          <a:latin typeface="Calibri"/>
                        </a:rPr>
                        <a:t>3.5.7.4.</a:t>
                      </a:r>
                      <a:r>
                        <a:rPr sz="700" b="0" i="1">
                          <a:solidFill>
                            <a:srgbClr val="000000"/>
                          </a:solidFill>
                          <a:latin typeface="Times New Roman"/>
                        </a:rPr>
                        <a:t>    </a:t>
                      </a:r>
                      <a:r>
                        <a:rPr sz="1100" b="0" i="1">
                          <a:solidFill>
                            <a:srgbClr val="000000"/>
                          </a:solidFill>
                          <a:latin typeface="Calibri"/>
                        </a:rPr>
                        <a:t>Security Mailers</a:t>
                      </a:r>
                      <a:endParaRPr sz="1100"/>
                    </a:p>
                  </a:txBody>
                  <a:tcPr marL="1028700" marR="9525" marT="9525" marB="0" anchor="ctr"/>
                </a:tc>
              </a:tr>
              <a:tr h="175260">
                <a:tc>
                  <a:txBody>
                    <a:bodyPr wrap="square"/>
                    <a:lstStyle/>
                    <a:p>
                      <a:pPr algn="l"/>
                      <a:r>
                        <a:rPr sz="1100" b="0" i="0">
                          <a:solidFill>
                            <a:srgbClr val="000000"/>
                          </a:solidFill>
                          <a:latin typeface="Calibri"/>
                        </a:rPr>
                        <a:t>3.5.8.</a:t>
                      </a:r>
                      <a:r>
                        <a:rPr sz="700" b="0" i="0">
                          <a:solidFill>
                            <a:srgbClr val="000000"/>
                          </a:solidFill>
                          <a:latin typeface="Times New Roman"/>
                        </a:rPr>
                        <a:t>   </a:t>
                      </a:r>
                      <a:r>
                        <a:rPr sz="1100" b="0" i="0">
                          <a:solidFill>
                            <a:srgbClr val="000000"/>
                          </a:solidFill>
                          <a:latin typeface="Calibri"/>
                        </a:rPr>
                        <a:t>Specialty Polybags</a:t>
                      </a:r>
                      <a:endParaRPr sz="1100"/>
                    </a:p>
                  </a:txBody>
                  <a:tcPr marL="771525" marR="9525" marT="9525" marB="0" anchor="ctr"/>
                </a:tc>
              </a:tr>
              <a:tr h="175260">
                <a:tc>
                  <a:txBody>
                    <a:bodyPr wrap="square"/>
                    <a:lstStyle/>
                    <a:p>
                      <a:pPr algn="l"/>
                      <a:r>
                        <a:rPr sz="1100" b="0" i="1">
                          <a:solidFill>
                            <a:srgbClr val="000000"/>
                          </a:solidFill>
                          <a:latin typeface="Calibri"/>
                        </a:rPr>
                        <a:t>3.5.8.1.</a:t>
                      </a:r>
                      <a:r>
                        <a:rPr sz="700" b="0" i="1">
                          <a:solidFill>
                            <a:srgbClr val="000000"/>
                          </a:solidFill>
                          <a:latin typeface="Times New Roman"/>
                        </a:rPr>
                        <a:t>    </a:t>
                      </a:r>
                      <a:r>
                        <a:rPr sz="1100" b="0" i="1">
                          <a:solidFill>
                            <a:srgbClr val="000000"/>
                          </a:solidFill>
                          <a:latin typeface="Calibri"/>
                        </a:rPr>
                        <a:t>Wicketed Bags</a:t>
                      </a:r>
                      <a:endParaRPr sz="1100"/>
                    </a:p>
                  </a:txBody>
                  <a:tcPr marL="1028700" marR="9525" marT="9525" marB="0" anchor="ctr"/>
                </a:tc>
              </a:tr>
              <a:tr h="175260">
                <a:tc>
                  <a:txBody>
                    <a:bodyPr wrap="square"/>
                    <a:lstStyle/>
                    <a:p>
                      <a:pPr algn="l"/>
                      <a:r>
                        <a:rPr sz="1100" b="0" i="1">
                          <a:solidFill>
                            <a:srgbClr val="000000"/>
                          </a:solidFill>
                          <a:latin typeface="Calibri"/>
                        </a:rPr>
                        <a:t>3.5.8.2.</a:t>
                      </a:r>
                      <a:r>
                        <a:rPr sz="700" b="0" i="1">
                          <a:solidFill>
                            <a:srgbClr val="000000"/>
                          </a:solidFill>
                          <a:latin typeface="Times New Roman"/>
                        </a:rPr>
                        <a:t>    </a:t>
                      </a:r>
                      <a:r>
                        <a:rPr sz="1100" b="0" i="1">
                          <a:solidFill>
                            <a:srgbClr val="000000"/>
                          </a:solidFill>
                          <a:latin typeface="Calibri"/>
                        </a:rPr>
                        <a:t>Header Bags</a:t>
                      </a:r>
                      <a:endParaRPr sz="1100"/>
                    </a:p>
                  </a:txBody>
                  <a:tcPr marL="1028700" marR="9525" marT="9525" marB="0" anchor="ctr"/>
                </a:tc>
              </a:tr>
              <a:tr h="175260">
                <a:tc>
                  <a:txBody>
                    <a:bodyPr wrap="square"/>
                    <a:lstStyle/>
                    <a:p>
                      <a:pPr algn="l"/>
                      <a:r>
                        <a:rPr sz="1100" b="0" i="1">
                          <a:solidFill>
                            <a:srgbClr val="000000"/>
                          </a:solidFill>
                          <a:latin typeface="Calibri"/>
                        </a:rPr>
                        <a:t>3.5.8.3.</a:t>
                      </a:r>
                      <a:r>
                        <a:rPr sz="700" b="0" i="1">
                          <a:solidFill>
                            <a:srgbClr val="000000"/>
                          </a:solidFill>
                          <a:latin typeface="Times New Roman"/>
                        </a:rPr>
                        <a:t>    </a:t>
                      </a:r>
                      <a:r>
                        <a:rPr sz="1100" b="0" i="1">
                          <a:solidFill>
                            <a:srgbClr val="000000"/>
                          </a:solidFill>
                          <a:latin typeface="Calibri"/>
                        </a:rPr>
                        <a:t>Perforated Bags</a:t>
                      </a:r>
                      <a:endParaRPr sz="1100"/>
                    </a:p>
                  </a:txBody>
                  <a:tcPr marL="1028700" marR="9525" marT="9525" marB="0" anchor="ctr"/>
                </a:tc>
              </a:tr>
              <a:tr h="175260">
                <a:tc>
                  <a:txBody>
                    <a:bodyPr wrap="square"/>
                    <a:lstStyle/>
                    <a:p>
                      <a:pPr algn="l"/>
                      <a:r>
                        <a:rPr sz="1100" b="0" i="1">
                          <a:solidFill>
                            <a:srgbClr val="000000"/>
                          </a:solidFill>
                          <a:latin typeface="Calibri"/>
                        </a:rPr>
                        <a:t>3.5.8.4.</a:t>
                      </a:r>
                      <a:r>
                        <a:rPr sz="700" b="0" i="1">
                          <a:solidFill>
                            <a:srgbClr val="000000"/>
                          </a:solidFill>
                          <a:latin typeface="Times New Roman"/>
                        </a:rPr>
                        <a:t>    </a:t>
                      </a:r>
                      <a:r>
                        <a:rPr sz="1100" b="0" i="1">
                          <a:solidFill>
                            <a:srgbClr val="000000"/>
                          </a:solidFill>
                          <a:latin typeface="Calibri"/>
                        </a:rPr>
                        <a:t>Drawstring Bags</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3.5.8.5.</a:t>
                      </a:r>
                      <a:r>
                        <a:rPr sz="700" b="0" i="1">
                          <a:solidFill>
                            <a:srgbClr val="000000"/>
                          </a:solidFill>
                          <a:latin typeface="Times New Roman"/>
                        </a:rPr>
                        <a:t>    </a:t>
                      </a:r>
                      <a:r>
                        <a:rPr sz="1100" b="0" i="1">
                          <a:solidFill>
                            <a:srgbClr val="000000"/>
                          </a:solidFill>
                          <a:latin typeface="Calibri"/>
                        </a:rPr>
                        <a:t>Custom Printed Bags</a:t>
                      </a:r>
                      <a:endParaRPr sz="1100"/>
                    </a:p>
                  </a:txBody>
                  <a:tcPr marL="1028700"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Material</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Polyethylene (PE)</a:t>
                      </a:r>
                      <a:endParaRPr sz="1100"/>
                    </a:p>
                  </a:txBody>
                  <a:tcPr marL="771525" marR="9525" marT="9525" marB="0" anchor="ctr"/>
                </a:tc>
              </a:tr>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Low-Density Polyethylene (LDPE)</a:t>
                      </a:r>
                      <a:endParaRPr sz="1100"/>
                    </a:p>
                  </a:txBody>
                  <a:tcPr marL="771525" marR="9525" marT="9525" marB="0" anchor="ctr"/>
                </a:tc>
              </a:tr>
              <a:tr h="175260">
                <a:tc>
                  <a:txBody>
                    <a:bodyPr wrap="square"/>
                    <a:lstStyle/>
                    <a:p>
                      <a:pPr algn="l"/>
                      <a:r>
                        <a:rPr sz="1100" b="0" i="0">
                          <a:solidFill>
                            <a:srgbClr val="000000"/>
                          </a:solidFill>
                          <a:latin typeface="Calibri"/>
                        </a:rPr>
                        <a:t>4.5.3.</a:t>
                      </a:r>
                      <a:r>
                        <a:rPr sz="700" b="0" i="0">
                          <a:solidFill>
                            <a:srgbClr val="000000"/>
                          </a:solidFill>
                          <a:latin typeface="Times New Roman"/>
                        </a:rPr>
                        <a:t>   </a:t>
                      </a:r>
                      <a:r>
                        <a:rPr sz="1100" b="0" i="0">
                          <a:solidFill>
                            <a:srgbClr val="000000"/>
                          </a:solidFill>
                          <a:latin typeface="Calibri"/>
                        </a:rPr>
                        <a:t>Linear Low-Density Polyethylene (LLDPE)</a:t>
                      </a:r>
                      <a:endParaRPr sz="1100"/>
                    </a:p>
                  </a:txBody>
                  <a:tcPr marL="771525" marR="9525" marT="9525" marB="0" anchor="ctr"/>
                </a:tc>
              </a:tr>
              <a:tr h="175260">
                <a:tc>
                  <a:txBody>
                    <a:bodyPr wrap="square"/>
                    <a:lstStyle/>
                    <a:p>
                      <a:pPr algn="l"/>
                      <a:r>
                        <a:rPr sz="1100" b="0" i="0">
                          <a:solidFill>
                            <a:srgbClr val="000000"/>
                          </a:solidFill>
                          <a:latin typeface="Calibri"/>
                        </a:rPr>
                        <a:t>4.5.4.</a:t>
                      </a:r>
                      <a:r>
                        <a:rPr sz="700" b="0" i="0">
                          <a:solidFill>
                            <a:srgbClr val="000000"/>
                          </a:solidFill>
                          <a:latin typeface="Times New Roman"/>
                        </a:rPr>
                        <a:t>   </a:t>
                      </a:r>
                      <a:r>
                        <a:rPr sz="1100" b="0" i="0">
                          <a:solidFill>
                            <a:srgbClr val="000000"/>
                          </a:solidFill>
                          <a:latin typeface="Calibri"/>
                        </a:rPr>
                        <a:t>High-Density Polyethylene (HDPE)</a:t>
                      </a:r>
                      <a:endParaRPr sz="1100"/>
                    </a:p>
                  </a:txBody>
                  <a:tcPr marL="771525" marR="9525" marT="9525" marB="0" anchor="ctr"/>
                </a:tc>
              </a:tr>
              <a:tr h="175260">
                <a:tc>
                  <a:txBody>
                    <a:bodyPr wrap="square"/>
                    <a:lstStyle/>
                    <a:p>
                      <a:pPr algn="l"/>
                      <a:r>
                        <a:rPr sz="1100" b="0" i="0">
                          <a:solidFill>
                            <a:srgbClr val="000000"/>
                          </a:solidFill>
                          <a:latin typeface="Calibri"/>
                        </a:rPr>
                        <a:t>4.5.5.</a:t>
                      </a:r>
                      <a:r>
                        <a:rPr sz="700" b="0" i="0">
                          <a:solidFill>
                            <a:srgbClr val="000000"/>
                          </a:solidFill>
                          <a:latin typeface="Times New Roman"/>
                        </a:rPr>
                        <a:t>   </a:t>
                      </a:r>
                      <a:r>
                        <a:rPr sz="1100" b="0" i="0">
                          <a:solidFill>
                            <a:srgbClr val="000000"/>
                          </a:solidFill>
                          <a:latin typeface="Calibri"/>
                        </a:rPr>
                        <a:t>Medium-Density Polyethylene (MDPE)</a:t>
                      </a:r>
                      <a:endParaRPr sz="1100"/>
                    </a:p>
                  </a:txBody>
                  <a:tcPr marL="771525" marR="9525" marT="9525" marB="0" anchor="ctr"/>
                </a:tc>
              </a:tr>
              <a:tr h="175260">
                <a:tc>
                  <a:txBody>
                    <a:bodyPr wrap="square"/>
                    <a:lstStyle/>
                    <a:p>
                      <a:pPr algn="l"/>
                      <a:r>
                        <a:rPr sz="1100" b="0" i="0">
                          <a:solidFill>
                            <a:srgbClr val="000000"/>
                          </a:solidFill>
                          <a:latin typeface="Calibri"/>
                        </a:rPr>
                        <a:t>4.5.6.</a:t>
                      </a:r>
                      <a:r>
                        <a:rPr sz="700" b="0" i="0">
                          <a:solidFill>
                            <a:srgbClr val="000000"/>
                          </a:solidFill>
                          <a:latin typeface="Times New Roman"/>
                        </a:rPr>
                        <a:t>   </a:t>
                      </a:r>
                      <a:r>
                        <a:rPr sz="1100" b="0" i="0">
                          <a:solidFill>
                            <a:srgbClr val="000000"/>
                          </a:solidFill>
                          <a:latin typeface="Calibri"/>
                        </a:rPr>
                        <a:t>Polypropylene (PP)</a:t>
                      </a:r>
                      <a:endParaRPr sz="1100"/>
                    </a:p>
                  </a:txBody>
                  <a:tcPr marL="771525" marR="9525" marT="9525" marB="0" anchor="ctr"/>
                </a:tc>
              </a:tr>
              <a:tr h="175260">
                <a:tc>
                  <a:txBody>
                    <a:bodyPr wrap="square"/>
                    <a:lstStyle/>
                    <a:p>
                      <a:pPr algn="l"/>
                      <a:r>
                        <a:rPr sz="1100" b="0" i="1">
                          <a:solidFill>
                            <a:srgbClr val="000000"/>
                          </a:solidFill>
                          <a:latin typeface="Calibri"/>
                        </a:rPr>
                        <a:t>4.5.6.1.</a:t>
                      </a:r>
                      <a:r>
                        <a:rPr sz="700" b="0" i="1">
                          <a:solidFill>
                            <a:srgbClr val="000000"/>
                          </a:solidFill>
                          <a:latin typeface="Times New Roman"/>
                        </a:rPr>
                        <a:t>    </a:t>
                      </a:r>
                      <a:r>
                        <a:rPr sz="1100" b="0" i="1">
                          <a:solidFill>
                            <a:srgbClr val="000000"/>
                          </a:solidFill>
                          <a:latin typeface="Calibri"/>
                        </a:rPr>
                        <a:t>Cast Polypropylene (CPP)</a:t>
                      </a:r>
                      <a:endParaRPr sz="1100"/>
                    </a:p>
                  </a:txBody>
                  <a:tcPr marL="1028700" marR="9525" marT="9525" marB="0" anchor="ctr"/>
                </a:tc>
              </a:tr>
              <a:tr h="175260">
                <a:tc>
                  <a:txBody>
                    <a:bodyPr wrap="square"/>
                    <a:lstStyle/>
                    <a:p>
                      <a:pPr algn="l"/>
                      <a:r>
                        <a:rPr sz="1100" b="0" i="1">
                          <a:solidFill>
                            <a:srgbClr val="000000"/>
                          </a:solidFill>
                          <a:latin typeface="Calibri"/>
                        </a:rPr>
                        <a:t>4.5.6.2.</a:t>
                      </a:r>
                      <a:r>
                        <a:rPr sz="700" b="0" i="1">
                          <a:solidFill>
                            <a:srgbClr val="000000"/>
                          </a:solidFill>
                          <a:latin typeface="Times New Roman"/>
                        </a:rPr>
                        <a:t>    </a:t>
                      </a:r>
                      <a:r>
                        <a:rPr sz="1100" b="0" i="1">
                          <a:solidFill>
                            <a:srgbClr val="000000"/>
                          </a:solidFill>
                          <a:latin typeface="Calibri"/>
                        </a:rPr>
                        <a:t>Biaxially Oriented Polypropylene (BOPP)</a:t>
                      </a:r>
                      <a:endParaRPr sz="1100"/>
                    </a:p>
                  </a:txBody>
                  <a:tcPr marL="1028700" marR="9525" marT="9525" marB="0" anchor="ctr"/>
                </a:tc>
              </a:tr>
              <a:tr h="175260">
                <a:tc>
                  <a:txBody>
                    <a:bodyPr wrap="square"/>
                    <a:lstStyle/>
                    <a:p>
                      <a:pPr algn="l"/>
                      <a:r>
                        <a:rPr sz="1100" b="0" i="1">
                          <a:solidFill>
                            <a:srgbClr val="000000"/>
                          </a:solidFill>
                          <a:latin typeface="Calibri"/>
                        </a:rPr>
                        <a:t>4.5.6.3.</a:t>
                      </a:r>
                      <a:r>
                        <a:rPr sz="700" b="0" i="1">
                          <a:solidFill>
                            <a:srgbClr val="000000"/>
                          </a:solidFill>
                          <a:latin typeface="Times New Roman"/>
                        </a:rPr>
                        <a:t>    </a:t>
                      </a:r>
                      <a:r>
                        <a:rPr sz="1100" b="0" i="1">
                          <a:solidFill>
                            <a:srgbClr val="000000"/>
                          </a:solidFill>
                          <a:latin typeface="Calibri"/>
                        </a:rPr>
                        <a:t>Oriented Polypropylene (OPP)</a:t>
                      </a:r>
                      <a:endParaRPr sz="1100"/>
                    </a:p>
                  </a:txBody>
                  <a:tcPr marL="1028700" marR="9525" marT="9525" marB="0" anchor="ctr"/>
                </a:tc>
              </a:tr>
              <a:tr h="175260">
                <a:tc>
                  <a:txBody>
                    <a:bodyPr wrap="square"/>
                    <a:lstStyle/>
                    <a:p>
                      <a:pPr algn="l"/>
                      <a:r>
                        <a:rPr sz="1100" b="0" i="0">
                          <a:solidFill>
                            <a:srgbClr val="000000"/>
                          </a:solidFill>
                          <a:latin typeface="Calibri"/>
                        </a:rPr>
                        <a:t>4.5.7.</a:t>
                      </a:r>
                      <a:r>
                        <a:rPr sz="700" b="0" i="0">
                          <a:solidFill>
                            <a:srgbClr val="000000"/>
                          </a:solidFill>
                          <a:latin typeface="Times New Roman"/>
                        </a:rPr>
                        <a:t>   </a:t>
                      </a:r>
                      <a:r>
                        <a:rPr sz="1100" b="0" i="0">
                          <a:solidFill>
                            <a:srgbClr val="000000"/>
                          </a:solidFill>
                          <a:latin typeface="Calibri"/>
                        </a:rPr>
                        <a:t>Recycled Plastics</a:t>
                      </a:r>
                      <a:endParaRPr sz="1100"/>
                    </a:p>
                  </a:txBody>
                  <a:tcPr marL="771525" marR="9525" marT="9525" marB="0" anchor="ctr"/>
                </a:tc>
              </a:tr>
              <a:tr h="175260">
                <a:tc>
                  <a:txBody>
                    <a:bodyPr wrap="square"/>
                    <a:lstStyle/>
                    <a:p>
                      <a:pPr algn="l"/>
                      <a:r>
                        <a:rPr sz="1100" b="0" i="1">
                          <a:solidFill>
                            <a:srgbClr val="000000"/>
                          </a:solidFill>
                          <a:latin typeface="Calibri"/>
                        </a:rPr>
                        <a:t>4.5.7.1.</a:t>
                      </a:r>
                      <a:r>
                        <a:rPr sz="700" b="0" i="1">
                          <a:solidFill>
                            <a:srgbClr val="000000"/>
                          </a:solidFill>
                          <a:latin typeface="Times New Roman"/>
                        </a:rPr>
                        <a:t>    </a:t>
                      </a:r>
                      <a:r>
                        <a:rPr sz="1100" b="0" i="1">
                          <a:solidFill>
                            <a:srgbClr val="000000"/>
                          </a:solidFill>
                          <a:latin typeface="Calibri"/>
                        </a:rPr>
                        <a:t>Post-Consumer Recycled (PCR)</a:t>
                      </a:r>
                      <a:endParaRPr sz="1100"/>
                    </a:p>
                  </a:txBody>
                  <a:tcPr marL="1028700" marR="9525" marT="9525" marB="0" anchor="ctr"/>
                </a:tc>
              </a:tr>
              <a:tr h="175260">
                <a:tc>
                  <a:txBody>
                    <a:bodyPr wrap="square"/>
                    <a:lstStyle/>
                    <a:p>
                      <a:pPr algn="l"/>
                      <a:r>
                        <a:rPr sz="1100" b="0" i="1">
                          <a:solidFill>
                            <a:srgbClr val="000000"/>
                          </a:solidFill>
                          <a:latin typeface="Calibri"/>
                        </a:rPr>
                        <a:t>4.5.7.2.</a:t>
                      </a:r>
                      <a:r>
                        <a:rPr sz="700" b="0" i="1">
                          <a:solidFill>
                            <a:srgbClr val="000000"/>
                          </a:solidFill>
                          <a:latin typeface="Times New Roman"/>
                        </a:rPr>
                        <a:t>    </a:t>
                      </a:r>
                      <a:r>
                        <a:rPr sz="1100" b="0" i="1">
                          <a:solidFill>
                            <a:srgbClr val="000000"/>
                          </a:solidFill>
                          <a:latin typeface="Calibri"/>
                        </a:rPr>
                        <a:t>Post-Industrial Recycled (PIR)</a:t>
                      </a:r>
                      <a:endParaRPr sz="1100"/>
                    </a:p>
                  </a:txBody>
                  <a:tcPr marL="1028700" marR="9525" marT="9525" marB="0" anchor="ctr"/>
                </a:tc>
              </a:tr>
              <a:tr h="175260">
                <a:tc>
                  <a:txBody>
                    <a:bodyPr wrap="square"/>
                    <a:lstStyle/>
                    <a:p>
                      <a:pPr algn="l"/>
                      <a:r>
                        <a:rPr sz="1100" b="0" i="1">
                          <a:solidFill>
                            <a:srgbClr val="000000"/>
                          </a:solidFill>
                          <a:latin typeface="Calibri"/>
                        </a:rPr>
                        <a:t>4.5.7.3.</a:t>
                      </a:r>
                      <a:r>
                        <a:rPr sz="700" b="0" i="1">
                          <a:solidFill>
                            <a:srgbClr val="000000"/>
                          </a:solidFill>
                          <a:latin typeface="Times New Roman"/>
                        </a:rPr>
                        <a:t>    </a:t>
                      </a:r>
                      <a:r>
                        <a:rPr sz="1100" b="0" i="1">
                          <a:solidFill>
                            <a:srgbClr val="000000"/>
                          </a:solidFill>
                          <a:latin typeface="Calibri"/>
                        </a:rPr>
                        <a:t>Mixed Recycled Resin</a:t>
                      </a:r>
                      <a:endParaRPr sz="1100"/>
                    </a:p>
                  </a:txBody>
                  <a:tcPr marL="1028700" marR="9525" marT="9525" marB="0" anchor="ctr"/>
                </a:tc>
              </a:tr>
              <a:tr h="175260">
                <a:tc>
                  <a:txBody>
                    <a:bodyPr wrap="square"/>
                    <a:lstStyle/>
                    <a:p>
                      <a:pPr algn="l"/>
                      <a:r>
                        <a:rPr sz="1100" b="0" i="0">
                          <a:solidFill>
                            <a:srgbClr val="000000"/>
                          </a:solidFill>
                          <a:latin typeface="Calibri"/>
                        </a:rPr>
                        <a:t>4.5.8.</a:t>
                      </a:r>
                      <a:r>
                        <a:rPr sz="700" b="0" i="0">
                          <a:solidFill>
                            <a:srgbClr val="000000"/>
                          </a:solidFill>
                          <a:latin typeface="Times New Roman"/>
                        </a:rPr>
                        <a:t>   </a:t>
                      </a:r>
                      <a:r>
                        <a:rPr sz="1100" b="0" i="0">
                          <a:solidFill>
                            <a:srgbClr val="000000"/>
                          </a:solidFill>
                          <a:latin typeface="Calibri"/>
                        </a:rPr>
                        <a:t>Bio-Based Materials</a:t>
                      </a:r>
                      <a:endParaRPr sz="1100"/>
                    </a:p>
                  </a:txBody>
                  <a:tcPr marL="771525" marR="9525" marT="9525" marB="0" anchor="ctr"/>
                </a:tc>
              </a:tr>
              <a:tr h="175260">
                <a:tc>
                  <a:txBody>
                    <a:bodyPr wrap="square"/>
                    <a:lstStyle/>
                    <a:p>
                      <a:pPr algn="l"/>
                      <a:r>
                        <a:rPr sz="1100" b="0" i="1">
                          <a:solidFill>
                            <a:srgbClr val="000000"/>
                          </a:solidFill>
                          <a:latin typeface="Calibri"/>
                        </a:rPr>
                        <a:t>4.5.8.1.</a:t>
                      </a:r>
                      <a:r>
                        <a:rPr sz="700" b="0" i="1">
                          <a:solidFill>
                            <a:srgbClr val="000000"/>
                          </a:solidFill>
                          <a:latin typeface="Times New Roman"/>
                        </a:rPr>
                        <a:t>    </a:t>
                      </a:r>
                      <a:r>
                        <a:rPr sz="1100" b="0" i="1">
                          <a:solidFill>
                            <a:srgbClr val="000000"/>
                          </a:solidFill>
                          <a:latin typeface="Calibri"/>
                        </a:rPr>
                        <a:t>PLA</a:t>
                      </a:r>
                      <a:endParaRPr sz="1100"/>
                    </a:p>
                  </a:txBody>
                  <a:tcPr marL="1028700" marR="9525" marT="9525" marB="0" anchor="ctr"/>
                </a:tc>
              </a:tr>
              <a:tr h="175260">
                <a:tc>
                  <a:txBody>
                    <a:bodyPr wrap="square"/>
                    <a:lstStyle/>
                    <a:p>
                      <a:pPr algn="l"/>
                      <a:r>
                        <a:rPr sz="1100" b="0" i="1">
                          <a:solidFill>
                            <a:srgbClr val="000000"/>
                          </a:solidFill>
                          <a:latin typeface="Calibri"/>
                        </a:rPr>
                        <a:t>4.5.8.2.</a:t>
                      </a:r>
                      <a:r>
                        <a:rPr sz="700" b="0" i="1">
                          <a:solidFill>
                            <a:srgbClr val="000000"/>
                          </a:solidFill>
                          <a:latin typeface="Times New Roman"/>
                        </a:rPr>
                        <a:t>    </a:t>
                      </a:r>
                      <a:r>
                        <a:rPr sz="1100" b="0" i="1">
                          <a:solidFill>
                            <a:srgbClr val="000000"/>
                          </a:solidFill>
                          <a:latin typeface="Calibri"/>
                        </a:rPr>
                        <a:t>PHA</a:t>
                      </a:r>
                      <a:endParaRPr sz="1100"/>
                    </a:p>
                  </a:txBody>
                  <a:tcPr marL="1028700" marR="9525" marT="9525" marB="0" anchor="ctr"/>
                </a:tc>
              </a:tr>
              <a:tr h="175260">
                <a:tc>
                  <a:txBody>
                    <a:bodyPr wrap="square"/>
                    <a:lstStyle/>
                    <a:p>
                      <a:pPr algn="l"/>
                      <a:r>
                        <a:rPr sz="1100" b="0" i="1">
                          <a:solidFill>
                            <a:srgbClr val="000000"/>
                          </a:solidFill>
                          <a:latin typeface="Calibri"/>
                        </a:rPr>
                        <a:t>4.5.8.3.</a:t>
                      </a:r>
                      <a:r>
                        <a:rPr sz="700" b="0" i="1">
                          <a:solidFill>
                            <a:srgbClr val="000000"/>
                          </a:solidFill>
                          <a:latin typeface="Times New Roman"/>
                        </a:rPr>
                        <a:t>    </a:t>
                      </a:r>
                      <a:r>
                        <a:rPr sz="1100" b="0" i="1">
                          <a:solidFill>
                            <a:srgbClr val="000000"/>
                          </a:solidFill>
                          <a:latin typeface="Calibri"/>
                        </a:rPr>
                        <a:t>Starch Blend</a:t>
                      </a:r>
                      <a:endParaRPr sz="1100"/>
                    </a:p>
                  </a:txBody>
                  <a:tcPr marL="1028700" marR="9525" marT="9525" marB="0" anchor="ctr"/>
                </a:tc>
              </a:tr>
              <a:tr h="175260">
                <a:tc>
                  <a:txBody>
                    <a:bodyPr wrap="square"/>
                    <a:lstStyle/>
                    <a:p>
                      <a:pPr algn="l"/>
                      <a:r>
                        <a:rPr sz="1100" b="0" i="1">
                          <a:solidFill>
                            <a:srgbClr val="000000"/>
                          </a:solidFill>
                          <a:latin typeface="Calibri"/>
                        </a:rPr>
                        <a:t>4.5.8.4.</a:t>
                      </a:r>
                      <a:r>
                        <a:rPr sz="700" b="0" i="1">
                          <a:solidFill>
                            <a:srgbClr val="000000"/>
                          </a:solidFill>
                          <a:latin typeface="Times New Roman"/>
                        </a:rPr>
                        <a:t>    </a:t>
                      </a:r>
                      <a:r>
                        <a:rPr sz="1100" b="0" i="1">
                          <a:solidFill>
                            <a:srgbClr val="000000"/>
                          </a:solidFill>
                          <a:latin typeface="Calibri"/>
                        </a:rPr>
                        <a:t>PBAT Blend</a:t>
                      </a:r>
                      <a:endParaRPr sz="1100"/>
                    </a:p>
                  </a:txBody>
                  <a:tcPr marL="1028700" marR="9525" marT="9525" marB="0" anchor="ctr"/>
                </a:tc>
              </a:tr>
              <a:tr h="175260">
                <a:tc>
                  <a:txBody>
                    <a:bodyPr wrap="square"/>
                    <a:lstStyle/>
                    <a:p>
                      <a:pPr algn="l"/>
                      <a:r>
                        <a:rPr sz="1100" b="0" i="1">
                          <a:solidFill>
                            <a:srgbClr val="000000"/>
                          </a:solidFill>
                          <a:latin typeface="Calibri"/>
                        </a:rPr>
                        <a:t>4.5.8.5.</a:t>
                      </a:r>
                      <a:r>
                        <a:rPr sz="700" b="0" i="1">
                          <a:solidFill>
                            <a:srgbClr val="000000"/>
                          </a:solidFill>
                          <a:latin typeface="Times New Roman"/>
                        </a:rPr>
                        <a:t>    </a:t>
                      </a:r>
                      <a:r>
                        <a:rPr sz="1100" b="0" i="1">
                          <a:solidFill>
                            <a:srgbClr val="000000"/>
                          </a:solidFill>
                          <a:latin typeface="Calibri"/>
                        </a:rPr>
                        <a:t>Cellulose-Based Films</a:t>
                      </a:r>
                      <a:endParaRPr sz="1100"/>
                    </a:p>
                  </a:txBody>
                  <a:tcPr marL="1028700" marR="9525" marT="9525" marB="0" anchor="ctr"/>
                </a:tc>
              </a:tr>
              <a:tr h="175260">
                <a:tc>
                  <a:txBody>
                    <a:bodyPr wrap="square"/>
                    <a:lstStyle/>
                    <a:p>
                      <a:pPr algn="l"/>
                      <a:r>
                        <a:rPr sz="1100" b="0" i="0">
                          <a:solidFill>
                            <a:srgbClr val="000000"/>
                          </a:solidFill>
                          <a:latin typeface="Calibri"/>
                        </a:rPr>
                        <a:t>4.5.9.</a:t>
                      </a:r>
                      <a:r>
                        <a:rPr sz="700" b="0" i="0">
                          <a:solidFill>
                            <a:srgbClr val="000000"/>
                          </a:solidFill>
                          <a:latin typeface="Times New Roman"/>
                        </a:rPr>
                        <a:t>   </a:t>
                      </a:r>
                      <a:r>
                        <a:rPr sz="1100" b="0" i="0">
                          <a:solidFill>
                            <a:srgbClr val="000000"/>
                          </a:solidFill>
                          <a:latin typeface="Calibri"/>
                        </a:rPr>
                        <a:t>Specialty Materials</a:t>
                      </a:r>
                      <a:endParaRPr sz="1100"/>
                    </a:p>
                  </a:txBody>
                  <a:tcPr marL="771525" marR="9525" marT="9525" marB="0" anchor="ctr"/>
                </a:tc>
              </a:tr>
              <a:tr h="175260">
                <a:tc>
                  <a:txBody>
                    <a:bodyPr wrap="square"/>
                    <a:lstStyle/>
                    <a:p>
                      <a:pPr algn="l"/>
                      <a:r>
                        <a:rPr sz="1100" b="0" i="1">
                          <a:solidFill>
                            <a:srgbClr val="000000"/>
                          </a:solidFill>
                          <a:latin typeface="Calibri"/>
                        </a:rPr>
                        <a:t>4.5.9.1.</a:t>
                      </a:r>
                      <a:r>
                        <a:rPr sz="700" b="0" i="1">
                          <a:solidFill>
                            <a:srgbClr val="000000"/>
                          </a:solidFill>
                          <a:latin typeface="Times New Roman"/>
                        </a:rPr>
                        <a:t>    </a:t>
                      </a:r>
                      <a:r>
                        <a:rPr sz="1100" b="0" i="1">
                          <a:solidFill>
                            <a:srgbClr val="000000"/>
                          </a:solidFill>
                          <a:latin typeface="Calibri"/>
                        </a:rPr>
                        <a:t>EVA</a:t>
                      </a:r>
                      <a:endParaRPr sz="1100"/>
                    </a:p>
                  </a:txBody>
                  <a:tcPr marL="1028700" marR="9525" marT="9525" marB="0" anchor="ctr"/>
                </a:tc>
              </a:tr>
              <a:tr h="175260">
                <a:tc>
                  <a:txBody>
                    <a:bodyPr wrap="square"/>
                    <a:lstStyle/>
                    <a:p>
                      <a:pPr algn="l"/>
                      <a:r>
                        <a:rPr sz="1100" b="0" i="1">
                          <a:solidFill>
                            <a:srgbClr val="000000"/>
                          </a:solidFill>
                          <a:latin typeface="Calibri"/>
                        </a:rPr>
                        <a:t>4.5.9.2.</a:t>
                      </a:r>
                      <a:r>
                        <a:rPr sz="700" b="0" i="1">
                          <a:solidFill>
                            <a:srgbClr val="000000"/>
                          </a:solidFill>
                          <a:latin typeface="Times New Roman"/>
                        </a:rPr>
                        <a:t>    </a:t>
                      </a:r>
                      <a:r>
                        <a:rPr sz="1100" b="0" i="1">
                          <a:solidFill>
                            <a:srgbClr val="000000"/>
                          </a:solidFill>
                          <a:latin typeface="Calibri"/>
                        </a:rPr>
                        <a:t>Coextruded Multilayer Films</a:t>
                      </a:r>
                      <a:endParaRPr sz="1100"/>
                    </a:p>
                  </a:txBody>
                  <a:tcPr marL="1028700" marR="9525" marT="9525" marB="0" anchor="ctr"/>
                </a:tc>
              </a:tr>
              <a:tr h="175260">
                <a:tc>
                  <a:txBody>
                    <a:bodyPr wrap="square"/>
                    <a:lstStyle/>
                    <a:p>
                      <a:pPr algn="l"/>
                      <a:r>
                        <a:rPr sz="1100" b="0" i="1">
                          <a:solidFill>
                            <a:srgbClr val="000000"/>
                          </a:solidFill>
                          <a:latin typeface="Calibri"/>
                        </a:rPr>
                        <a:t>4.5.9.3.</a:t>
                      </a:r>
                      <a:r>
                        <a:rPr sz="700" b="0" i="1">
                          <a:solidFill>
                            <a:srgbClr val="000000"/>
                          </a:solidFill>
                          <a:latin typeface="Times New Roman"/>
                        </a:rPr>
                        <a:t>    </a:t>
                      </a:r>
                      <a:r>
                        <a:rPr sz="1100" b="0" i="1">
                          <a:solidFill>
                            <a:srgbClr val="000000"/>
                          </a:solidFill>
                          <a:latin typeface="Calibri"/>
                        </a:rPr>
                        <a:t>Barrier Films</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4.5.9.4.</a:t>
                      </a:r>
                      <a:r>
                        <a:rPr sz="700" b="0" i="1">
                          <a:solidFill>
                            <a:srgbClr val="000000"/>
                          </a:solidFill>
                          <a:latin typeface="Times New Roman"/>
                        </a:rPr>
                        <a:t>    </a:t>
                      </a:r>
                      <a:r>
                        <a:rPr sz="1100" b="0" i="1">
                          <a:solidFill>
                            <a:srgbClr val="000000"/>
                          </a:solidFill>
                          <a:latin typeface="Calibri"/>
                        </a:rPr>
                        <a:t>Conductive Polymers</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End-Use Industry</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Food &amp; Beverage</a:t>
                      </a:r>
                      <a:endParaRPr sz="1100"/>
                    </a:p>
                  </a:txBody>
                  <a:tcPr marL="771525" marR="9525" marT="9525" marB="0" anchor="ctr"/>
                </a:tc>
              </a:tr>
              <a:tr h="175260">
                <a:tc>
                  <a:txBody>
                    <a:bodyPr wrap="square"/>
                    <a:lstStyle/>
                    <a:p>
                      <a:pPr algn="l"/>
                      <a:r>
                        <a:rPr sz="1100" b="0" i="1">
                          <a:solidFill>
                            <a:srgbClr val="000000"/>
                          </a:solidFill>
                          <a:latin typeface="Calibri"/>
                        </a:rPr>
                        <a:t>5.5.1.1.</a:t>
                      </a:r>
                      <a:r>
                        <a:rPr sz="700" b="0" i="1">
                          <a:solidFill>
                            <a:srgbClr val="000000"/>
                          </a:solidFill>
                          <a:latin typeface="Times New Roman"/>
                        </a:rPr>
                        <a:t>    </a:t>
                      </a:r>
                      <a:r>
                        <a:rPr sz="1100" b="0" i="1">
                          <a:solidFill>
                            <a:srgbClr val="000000"/>
                          </a:solidFill>
                          <a:latin typeface="Calibri"/>
                        </a:rPr>
                        <a:t>Fresh Produce</a:t>
                      </a:r>
                      <a:endParaRPr sz="1100"/>
                    </a:p>
                  </a:txBody>
                  <a:tcPr marL="1028700" marR="9525" marT="9525" marB="0" anchor="ctr"/>
                </a:tc>
              </a:tr>
              <a:tr h="175260">
                <a:tc>
                  <a:txBody>
                    <a:bodyPr wrap="square"/>
                    <a:lstStyle/>
                    <a:p>
                      <a:pPr algn="l"/>
                      <a:r>
                        <a:rPr sz="1100" b="0" i="1">
                          <a:solidFill>
                            <a:srgbClr val="000000"/>
                          </a:solidFill>
                          <a:latin typeface="Calibri"/>
                        </a:rPr>
                        <a:t>5.5.1.2.</a:t>
                      </a:r>
                      <a:r>
                        <a:rPr sz="700" b="0" i="1">
                          <a:solidFill>
                            <a:srgbClr val="000000"/>
                          </a:solidFill>
                          <a:latin typeface="Times New Roman"/>
                        </a:rPr>
                        <a:t>    </a:t>
                      </a:r>
                      <a:r>
                        <a:rPr sz="1100" b="0" i="1">
                          <a:solidFill>
                            <a:srgbClr val="000000"/>
                          </a:solidFill>
                          <a:latin typeface="Calibri"/>
                        </a:rPr>
                        <a:t>Frozen Food</a:t>
                      </a:r>
                      <a:endParaRPr sz="1100"/>
                    </a:p>
                  </a:txBody>
                  <a:tcPr marL="1028700" marR="9525" marT="9525" marB="0" anchor="ctr"/>
                </a:tc>
              </a:tr>
              <a:tr h="175260">
                <a:tc>
                  <a:txBody>
                    <a:bodyPr wrap="square"/>
                    <a:lstStyle/>
                    <a:p>
                      <a:pPr algn="l"/>
                      <a:r>
                        <a:rPr sz="1100" b="0" i="1">
                          <a:solidFill>
                            <a:srgbClr val="000000"/>
                          </a:solidFill>
                          <a:latin typeface="Calibri"/>
                        </a:rPr>
                        <a:t>5.5.1.3.</a:t>
                      </a:r>
                      <a:r>
                        <a:rPr sz="700" b="0" i="1">
                          <a:solidFill>
                            <a:srgbClr val="000000"/>
                          </a:solidFill>
                          <a:latin typeface="Times New Roman"/>
                        </a:rPr>
                        <a:t>    </a:t>
                      </a:r>
                      <a:r>
                        <a:rPr sz="1100" b="0" i="1">
                          <a:solidFill>
                            <a:srgbClr val="000000"/>
                          </a:solidFill>
                          <a:latin typeface="Calibri"/>
                        </a:rPr>
                        <a:t>Dairy Products</a:t>
                      </a:r>
                      <a:endParaRPr sz="1100"/>
                    </a:p>
                  </a:txBody>
                  <a:tcPr marL="1028700" marR="9525" marT="9525" marB="0" anchor="ctr"/>
                </a:tc>
              </a:tr>
              <a:tr h="175260">
                <a:tc>
                  <a:txBody>
                    <a:bodyPr wrap="square"/>
                    <a:lstStyle/>
                    <a:p>
                      <a:pPr algn="l"/>
                      <a:r>
                        <a:rPr sz="1100" b="0" i="1">
                          <a:solidFill>
                            <a:srgbClr val="000000"/>
                          </a:solidFill>
                          <a:latin typeface="Calibri"/>
                        </a:rPr>
                        <a:t>5.5.1.4.</a:t>
                      </a:r>
                      <a:r>
                        <a:rPr sz="700" b="0" i="1">
                          <a:solidFill>
                            <a:srgbClr val="000000"/>
                          </a:solidFill>
                          <a:latin typeface="Times New Roman"/>
                        </a:rPr>
                        <a:t>    </a:t>
                      </a:r>
                      <a:r>
                        <a:rPr sz="1100" b="0" i="1">
                          <a:solidFill>
                            <a:srgbClr val="000000"/>
                          </a:solidFill>
                          <a:latin typeface="Calibri"/>
                        </a:rPr>
                        <a:t>Bakery</a:t>
                      </a:r>
                      <a:endParaRPr sz="1100"/>
                    </a:p>
                  </a:txBody>
                  <a:tcPr marL="1028700" marR="9525" marT="9525" marB="0" anchor="ctr"/>
                </a:tc>
              </a:tr>
              <a:tr h="175260">
                <a:tc>
                  <a:txBody>
                    <a:bodyPr wrap="square"/>
                    <a:lstStyle/>
                    <a:p>
                      <a:pPr algn="l"/>
                      <a:r>
                        <a:rPr sz="1100" b="0" i="1">
                          <a:solidFill>
                            <a:srgbClr val="000000"/>
                          </a:solidFill>
                          <a:latin typeface="Calibri"/>
                        </a:rPr>
                        <a:t>5.5.1.5.</a:t>
                      </a:r>
                      <a:r>
                        <a:rPr sz="700" b="0" i="1">
                          <a:solidFill>
                            <a:srgbClr val="000000"/>
                          </a:solidFill>
                          <a:latin typeface="Times New Roman"/>
                        </a:rPr>
                        <a:t>    </a:t>
                      </a:r>
                      <a:r>
                        <a:rPr sz="1100" b="0" i="1">
                          <a:solidFill>
                            <a:srgbClr val="000000"/>
                          </a:solidFill>
                          <a:latin typeface="Calibri"/>
                        </a:rPr>
                        <a:t>Meat &amp; Poultry</a:t>
                      </a:r>
                      <a:endParaRPr sz="1100"/>
                    </a:p>
                  </a:txBody>
                  <a:tcPr marL="1028700" marR="9525" marT="9525" marB="0" anchor="ctr"/>
                </a:tc>
              </a:tr>
              <a:tr h="175260">
                <a:tc>
                  <a:txBody>
                    <a:bodyPr wrap="square"/>
                    <a:lstStyle/>
                    <a:p>
                      <a:pPr algn="l"/>
                      <a:r>
                        <a:rPr sz="1100" b="0" i="1">
                          <a:solidFill>
                            <a:srgbClr val="000000"/>
                          </a:solidFill>
                          <a:latin typeface="Calibri"/>
                        </a:rPr>
                        <a:t>5.5.1.6.</a:t>
                      </a:r>
                      <a:r>
                        <a:rPr sz="700" b="0" i="1">
                          <a:solidFill>
                            <a:srgbClr val="000000"/>
                          </a:solidFill>
                          <a:latin typeface="Times New Roman"/>
                        </a:rPr>
                        <a:t>    </a:t>
                      </a:r>
                      <a:r>
                        <a:rPr sz="1100" b="0" i="1">
                          <a:solidFill>
                            <a:srgbClr val="000000"/>
                          </a:solidFill>
                          <a:latin typeface="Calibri"/>
                        </a:rPr>
                        <a:t>Seafood</a:t>
                      </a:r>
                      <a:endParaRPr sz="1100"/>
                    </a:p>
                  </a:txBody>
                  <a:tcPr marL="1028700" marR="9525" marT="9525" marB="0" anchor="ctr"/>
                </a:tc>
              </a:tr>
              <a:tr h="175260">
                <a:tc>
                  <a:txBody>
                    <a:bodyPr wrap="square"/>
                    <a:lstStyle/>
                    <a:p>
                      <a:pPr algn="l"/>
                      <a:r>
                        <a:rPr sz="1100" b="0" i="1">
                          <a:solidFill>
                            <a:srgbClr val="000000"/>
                          </a:solidFill>
                          <a:latin typeface="Calibri"/>
                        </a:rPr>
                        <a:t>5.5.1.7.</a:t>
                      </a:r>
                      <a:r>
                        <a:rPr sz="700" b="0" i="1">
                          <a:solidFill>
                            <a:srgbClr val="000000"/>
                          </a:solidFill>
                          <a:latin typeface="Times New Roman"/>
                        </a:rPr>
                        <a:t>    </a:t>
                      </a:r>
                      <a:r>
                        <a:rPr sz="1100" b="0" i="1">
                          <a:solidFill>
                            <a:srgbClr val="000000"/>
                          </a:solidFill>
                          <a:latin typeface="Calibri"/>
                        </a:rPr>
                        <a:t>Snacks &amp; Confectionery</a:t>
                      </a:r>
                      <a:endParaRPr sz="1100"/>
                    </a:p>
                  </a:txBody>
                  <a:tcPr marL="1028700" marR="9525" marT="9525" marB="0" anchor="ctr"/>
                </a:tc>
              </a:tr>
              <a:tr h="175260">
                <a:tc>
                  <a:txBody>
                    <a:bodyPr wrap="square"/>
                    <a:lstStyle/>
                    <a:p>
                      <a:pPr algn="l"/>
                      <a:r>
                        <a:rPr sz="1100" b="0" i="1">
                          <a:solidFill>
                            <a:srgbClr val="000000"/>
                          </a:solidFill>
                          <a:latin typeface="Calibri"/>
                        </a:rPr>
                        <a:t>5.5.1.8.</a:t>
                      </a:r>
                      <a:r>
                        <a:rPr sz="700" b="0" i="1">
                          <a:solidFill>
                            <a:srgbClr val="000000"/>
                          </a:solidFill>
                          <a:latin typeface="Times New Roman"/>
                        </a:rPr>
                        <a:t>    </a:t>
                      </a:r>
                      <a:r>
                        <a:rPr sz="1100" b="0" i="1">
                          <a:solidFill>
                            <a:srgbClr val="000000"/>
                          </a:solidFill>
                          <a:latin typeface="Calibri"/>
                        </a:rPr>
                        <a:t>Beverage Packaging</a:t>
                      </a:r>
                      <a:endParaRPr sz="1100"/>
                    </a:p>
                  </a:txBody>
                  <a:tcPr marL="1028700"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Retail &amp; Consumer Goods</a:t>
                      </a:r>
                      <a:endParaRPr sz="1100"/>
                    </a:p>
                  </a:txBody>
                  <a:tcPr marL="771525" marR="9525" marT="9525" marB="0" anchor="ctr"/>
                </a:tc>
              </a:tr>
              <a:tr h="175260">
                <a:tc>
                  <a:txBody>
                    <a:bodyPr wrap="square"/>
                    <a:lstStyle/>
                    <a:p>
                      <a:pPr algn="l"/>
                      <a:r>
                        <a:rPr sz="1100" b="0" i="1">
                          <a:solidFill>
                            <a:srgbClr val="000000"/>
                          </a:solidFill>
                          <a:latin typeface="Calibri"/>
                        </a:rPr>
                        <a:t>5.5.2.1.</a:t>
                      </a:r>
                      <a:r>
                        <a:rPr sz="700" b="0" i="1">
                          <a:solidFill>
                            <a:srgbClr val="000000"/>
                          </a:solidFill>
                          <a:latin typeface="Times New Roman"/>
                        </a:rPr>
                        <a:t>    </a:t>
                      </a:r>
                      <a:r>
                        <a:rPr sz="1100" b="0" i="1">
                          <a:solidFill>
                            <a:srgbClr val="000000"/>
                          </a:solidFill>
                          <a:latin typeface="Calibri"/>
                        </a:rPr>
                        <a:t>Apparel</a:t>
                      </a:r>
                      <a:endParaRPr sz="1100"/>
                    </a:p>
                  </a:txBody>
                  <a:tcPr marL="1028700" marR="9525" marT="9525" marB="0" anchor="ctr"/>
                </a:tc>
              </a:tr>
              <a:tr h="175260">
                <a:tc>
                  <a:txBody>
                    <a:bodyPr wrap="square"/>
                    <a:lstStyle/>
                    <a:p>
                      <a:pPr algn="l"/>
                      <a:r>
                        <a:rPr sz="1100" b="0" i="1">
                          <a:solidFill>
                            <a:srgbClr val="000000"/>
                          </a:solidFill>
                          <a:latin typeface="Calibri"/>
                        </a:rPr>
                        <a:t>5.5.2.2.</a:t>
                      </a:r>
                      <a:r>
                        <a:rPr sz="700" b="0" i="1">
                          <a:solidFill>
                            <a:srgbClr val="000000"/>
                          </a:solidFill>
                          <a:latin typeface="Times New Roman"/>
                        </a:rPr>
                        <a:t>    </a:t>
                      </a:r>
                      <a:r>
                        <a:rPr sz="1100" b="0" i="1">
                          <a:solidFill>
                            <a:srgbClr val="000000"/>
                          </a:solidFill>
                          <a:latin typeface="Calibri"/>
                        </a:rPr>
                        <a:t>Footwear</a:t>
                      </a:r>
                      <a:endParaRPr sz="1100"/>
                    </a:p>
                  </a:txBody>
                  <a:tcPr marL="1028700" marR="9525" marT="9525" marB="0" anchor="ctr"/>
                </a:tc>
              </a:tr>
              <a:tr h="175260">
                <a:tc>
                  <a:txBody>
                    <a:bodyPr wrap="square"/>
                    <a:lstStyle/>
                    <a:p>
                      <a:pPr algn="l"/>
                      <a:r>
                        <a:rPr sz="1100" b="0" i="1">
                          <a:solidFill>
                            <a:srgbClr val="000000"/>
                          </a:solidFill>
                          <a:latin typeface="Calibri"/>
                        </a:rPr>
                        <a:t>5.5.2.3.</a:t>
                      </a:r>
                      <a:r>
                        <a:rPr sz="700" b="0" i="1">
                          <a:solidFill>
                            <a:srgbClr val="000000"/>
                          </a:solidFill>
                          <a:latin typeface="Times New Roman"/>
                        </a:rPr>
                        <a:t>    </a:t>
                      </a:r>
                      <a:r>
                        <a:rPr sz="1100" b="0" i="1">
                          <a:solidFill>
                            <a:srgbClr val="000000"/>
                          </a:solidFill>
                          <a:latin typeface="Calibri"/>
                        </a:rPr>
                        <a:t>Toys</a:t>
                      </a:r>
                      <a:endParaRPr sz="1100"/>
                    </a:p>
                  </a:txBody>
                  <a:tcPr marL="1028700" marR="9525" marT="9525" marB="0" anchor="ctr"/>
                </a:tc>
              </a:tr>
              <a:tr h="175260">
                <a:tc>
                  <a:txBody>
                    <a:bodyPr wrap="square"/>
                    <a:lstStyle/>
                    <a:p>
                      <a:pPr algn="l"/>
                      <a:r>
                        <a:rPr sz="1100" b="0" i="1">
                          <a:solidFill>
                            <a:srgbClr val="000000"/>
                          </a:solidFill>
                          <a:latin typeface="Calibri"/>
                        </a:rPr>
                        <a:t>5.5.2.4.</a:t>
                      </a:r>
                      <a:r>
                        <a:rPr sz="700" b="0" i="1">
                          <a:solidFill>
                            <a:srgbClr val="000000"/>
                          </a:solidFill>
                          <a:latin typeface="Times New Roman"/>
                        </a:rPr>
                        <a:t>    </a:t>
                      </a:r>
                      <a:r>
                        <a:rPr sz="1100" b="0" i="1">
                          <a:solidFill>
                            <a:srgbClr val="000000"/>
                          </a:solidFill>
                          <a:latin typeface="Calibri"/>
                        </a:rPr>
                        <a:t>Home Care</a:t>
                      </a:r>
                      <a:endParaRPr sz="1100"/>
                    </a:p>
                  </a:txBody>
                  <a:tcPr marL="1028700" marR="9525" marT="9525" marB="0" anchor="ctr"/>
                </a:tc>
              </a:tr>
              <a:tr h="175260">
                <a:tc>
                  <a:txBody>
                    <a:bodyPr wrap="square"/>
                    <a:lstStyle/>
                    <a:p>
                      <a:pPr algn="l"/>
                      <a:r>
                        <a:rPr sz="1100" b="0" i="1">
                          <a:solidFill>
                            <a:srgbClr val="000000"/>
                          </a:solidFill>
                          <a:latin typeface="Calibri"/>
                        </a:rPr>
                        <a:t>5.5.2.5.</a:t>
                      </a:r>
                      <a:r>
                        <a:rPr sz="700" b="0" i="1">
                          <a:solidFill>
                            <a:srgbClr val="000000"/>
                          </a:solidFill>
                          <a:latin typeface="Times New Roman"/>
                        </a:rPr>
                        <a:t>    </a:t>
                      </a:r>
                      <a:r>
                        <a:rPr sz="1100" b="0" i="1">
                          <a:solidFill>
                            <a:srgbClr val="000000"/>
                          </a:solidFill>
                          <a:latin typeface="Calibri"/>
                        </a:rPr>
                        <a:t>Household Goods</a:t>
                      </a:r>
                      <a:endParaRPr sz="1100"/>
                    </a:p>
                  </a:txBody>
                  <a:tcPr marL="1028700" marR="9525" marT="9525" marB="0" anchor="ctr"/>
                </a:tc>
              </a:tr>
              <a:tr h="175260">
                <a:tc>
                  <a:txBody>
                    <a:bodyPr wrap="square"/>
                    <a:lstStyle/>
                    <a:p>
                      <a:pPr algn="l"/>
                      <a:r>
                        <a:rPr sz="1100" b="0" i="1">
                          <a:solidFill>
                            <a:srgbClr val="000000"/>
                          </a:solidFill>
                          <a:latin typeface="Calibri"/>
                        </a:rPr>
                        <a:t>5.5.2.6.</a:t>
                      </a:r>
                      <a:r>
                        <a:rPr sz="700" b="0" i="1">
                          <a:solidFill>
                            <a:srgbClr val="000000"/>
                          </a:solidFill>
                          <a:latin typeface="Times New Roman"/>
                        </a:rPr>
                        <a:t>    </a:t>
                      </a:r>
                      <a:r>
                        <a:rPr sz="1100" b="0" i="1">
                          <a:solidFill>
                            <a:srgbClr val="000000"/>
                          </a:solidFill>
                          <a:latin typeface="Calibri"/>
                        </a:rPr>
                        <a:t>Stationery</a:t>
                      </a:r>
                      <a:endParaRPr sz="1100"/>
                    </a:p>
                  </a:txBody>
                  <a:tcPr marL="1028700"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Healthcare</a:t>
                      </a:r>
                      <a:endParaRPr sz="1100"/>
                    </a:p>
                  </a:txBody>
                  <a:tcPr marL="771525" marR="9525" marT="9525" marB="0" anchor="ctr"/>
                </a:tc>
              </a:tr>
              <a:tr h="175260">
                <a:tc>
                  <a:txBody>
                    <a:bodyPr wrap="square"/>
                    <a:lstStyle/>
                    <a:p>
                      <a:pPr algn="l"/>
                      <a:r>
                        <a:rPr sz="1100" b="0" i="1">
                          <a:solidFill>
                            <a:srgbClr val="000000"/>
                          </a:solidFill>
                          <a:latin typeface="Calibri"/>
                        </a:rPr>
                        <a:t>5.5.3.1.</a:t>
                      </a:r>
                      <a:r>
                        <a:rPr sz="700" b="0" i="1">
                          <a:solidFill>
                            <a:srgbClr val="000000"/>
                          </a:solidFill>
                          <a:latin typeface="Times New Roman"/>
                        </a:rPr>
                        <a:t>    </a:t>
                      </a:r>
                      <a:r>
                        <a:rPr sz="1100" b="0" i="1">
                          <a:solidFill>
                            <a:srgbClr val="000000"/>
                          </a:solidFill>
                          <a:latin typeface="Calibri"/>
                        </a:rPr>
                        <a:t>Pharmaceuticals</a:t>
                      </a:r>
                      <a:endParaRPr sz="1100"/>
                    </a:p>
                  </a:txBody>
                  <a:tcPr marL="1028700" marR="9525" marT="9525" marB="0" anchor="ctr"/>
                </a:tc>
              </a:tr>
              <a:tr h="175260">
                <a:tc>
                  <a:txBody>
                    <a:bodyPr wrap="square"/>
                    <a:lstStyle/>
                    <a:p>
                      <a:pPr algn="l"/>
                      <a:r>
                        <a:rPr sz="1100" b="0" i="1">
                          <a:solidFill>
                            <a:srgbClr val="000000"/>
                          </a:solidFill>
                          <a:latin typeface="Calibri"/>
                        </a:rPr>
                        <a:t>5.5.3.2.</a:t>
                      </a:r>
                      <a:r>
                        <a:rPr sz="700" b="0" i="1">
                          <a:solidFill>
                            <a:srgbClr val="000000"/>
                          </a:solidFill>
                          <a:latin typeface="Times New Roman"/>
                        </a:rPr>
                        <a:t>    </a:t>
                      </a:r>
                      <a:r>
                        <a:rPr sz="1100" b="0" i="1">
                          <a:solidFill>
                            <a:srgbClr val="000000"/>
                          </a:solidFill>
                          <a:latin typeface="Calibri"/>
                        </a:rPr>
                        <a:t>Medical Devices</a:t>
                      </a:r>
                      <a:endParaRPr sz="1100"/>
                    </a:p>
                  </a:txBody>
                  <a:tcPr marL="1028700" marR="9525" marT="9525" marB="0" anchor="ctr"/>
                </a:tc>
              </a:tr>
              <a:tr h="175260">
                <a:tc>
                  <a:txBody>
                    <a:bodyPr wrap="square"/>
                    <a:lstStyle/>
                    <a:p>
                      <a:pPr algn="l"/>
                      <a:r>
                        <a:rPr sz="1100" b="0" i="1">
                          <a:solidFill>
                            <a:srgbClr val="000000"/>
                          </a:solidFill>
                          <a:latin typeface="Calibri"/>
                        </a:rPr>
                        <a:t>5.5.3.3.</a:t>
                      </a:r>
                      <a:r>
                        <a:rPr sz="700" b="0" i="1">
                          <a:solidFill>
                            <a:srgbClr val="000000"/>
                          </a:solidFill>
                          <a:latin typeface="Times New Roman"/>
                        </a:rPr>
                        <a:t>    </a:t>
                      </a:r>
                      <a:r>
                        <a:rPr sz="1100" b="0" i="1">
                          <a:solidFill>
                            <a:srgbClr val="000000"/>
                          </a:solidFill>
                          <a:latin typeface="Calibri"/>
                        </a:rPr>
                        <a:t>Surgical Products</a:t>
                      </a:r>
                      <a:endParaRPr sz="1100"/>
                    </a:p>
                  </a:txBody>
                  <a:tcPr marL="1028700" marR="9525" marT="9525" marB="0" anchor="ctr"/>
                </a:tc>
              </a:tr>
              <a:tr h="175260">
                <a:tc>
                  <a:txBody>
                    <a:bodyPr wrap="square"/>
                    <a:lstStyle/>
                    <a:p>
                      <a:pPr algn="l"/>
                      <a:r>
                        <a:rPr sz="1100" b="0" i="1">
                          <a:solidFill>
                            <a:srgbClr val="000000"/>
                          </a:solidFill>
                          <a:latin typeface="Calibri"/>
                        </a:rPr>
                        <a:t>5.5.3.4.</a:t>
                      </a:r>
                      <a:r>
                        <a:rPr sz="700" b="0" i="1">
                          <a:solidFill>
                            <a:srgbClr val="000000"/>
                          </a:solidFill>
                          <a:latin typeface="Times New Roman"/>
                        </a:rPr>
                        <a:t>    </a:t>
                      </a:r>
                      <a:r>
                        <a:rPr sz="1100" b="0" i="1">
                          <a:solidFill>
                            <a:srgbClr val="000000"/>
                          </a:solidFill>
                          <a:latin typeface="Calibri"/>
                        </a:rPr>
                        <a:t>Diagnostic Kits</a:t>
                      </a:r>
                      <a:endParaRPr sz="1100"/>
                    </a:p>
                  </a:txBody>
                  <a:tcPr marL="1028700" marR="9525" marT="9525" marB="0" anchor="ctr"/>
                </a:tc>
              </a:tr>
              <a:tr h="175260">
                <a:tc>
                  <a:txBody>
                    <a:bodyPr wrap="square"/>
                    <a:lstStyle/>
                    <a:p>
                      <a:pPr algn="l"/>
                      <a:r>
                        <a:rPr sz="1100" b="0" i="1">
                          <a:solidFill>
                            <a:srgbClr val="000000"/>
                          </a:solidFill>
                          <a:latin typeface="Calibri"/>
                        </a:rPr>
                        <a:t>5.5.3.5.</a:t>
                      </a:r>
                      <a:r>
                        <a:rPr sz="700" b="0" i="1">
                          <a:solidFill>
                            <a:srgbClr val="000000"/>
                          </a:solidFill>
                          <a:latin typeface="Times New Roman"/>
                        </a:rPr>
                        <a:t>    </a:t>
                      </a:r>
                      <a:r>
                        <a:rPr sz="1100" b="0" i="1">
                          <a:solidFill>
                            <a:srgbClr val="000000"/>
                          </a:solidFill>
                          <a:latin typeface="Calibri"/>
                        </a:rPr>
                        <a:t>Laboratory Supplies</a:t>
                      </a:r>
                      <a:endParaRPr sz="1100"/>
                    </a:p>
                  </a:txBody>
                  <a:tcPr marL="1028700"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E-commerce &amp; Logistics</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5.5.4.1.</a:t>
                      </a:r>
                      <a:r>
                        <a:rPr sz="700" b="0" i="1">
                          <a:solidFill>
                            <a:srgbClr val="000000"/>
                          </a:solidFill>
                          <a:latin typeface="Times New Roman"/>
                        </a:rPr>
                        <a:t>    </a:t>
                      </a:r>
                      <a:r>
                        <a:rPr sz="1100" b="0" i="1">
                          <a:solidFill>
                            <a:srgbClr val="000000"/>
                          </a:solidFill>
                          <a:latin typeface="Calibri"/>
                        </a:rPr>
                        <a:t>Courier Packaging</a:t>
                      </a:r>
                      <a:endParaRPr sz="1100"/>
                    </a:p>
                  </a:txBody>
                  <a:tcPr marL="1028700" marR="9525" marT="9525" marB="0" anchor="ctr"/>
                </a:tc>
              </a:tr>
              <a:tr h="175260">
                <a:tc>
                  <a:txBody>
                    <a:bodyPr wrap="square"/>
                    <a:lstStyle/>
                    <a:p>
                      <a:pPr algn="l"/>
                      <a:r>
                        <a:rPr sz="1100" b="0" i="1">
                          <a:solidFill>
                            <a:srgbClr val="000000"/>
                          </a:solidFill>
                          <a:latin typeface="Calibri"/>
                        </a:rPr>
                        <a:t>5.5.4.2.</a:t>
                      </a:r>
                      <a:r>
                        <a:rPr sz="700" b="0" i="1">
                          <a:solidFill>
                            <a:srgbClr val="000000"/>
                          </a:solidFill>
                          <a:latin typeface="Times New Roman"/>
                        </a:rPr>
                        <a:t>    </a:t>
                      </a:r>
                      <a:r>
                        <a:rPr sz="1100" b="0" i="1">
                          <a:solidFill>
                            <a:srgbClr val="000000"/>
                          </a:solidFill>
                          <a:latin typeface="Calibri"/>
                        </a:rPr>
                        <a:t>Fulfillment Centers</a:t>
                      </a:r>
                      <a:endParaRPr sz="1100"/>
                    </a:p>
                  </a:txBody>
                  <a:tcPr marL="1028700" marR="9525" marT="9525" marB="0" anchor="ctr"/>
                </a:tc>
              </a:tr>
              <a:tr h="175260">
                <a:tc>
                  <a:txBody>
                    <a:bodyPr wrap="square"/>
                    <a:lstStyle/>
                    <a:p>
                      <a:pPr algn="l"/>
                      <a:r>
                        <a:rPr sz="1100" b="0" i="1">
                          <a:solidFill>
                            <a:srgbClr val="000000"/>
                          </a:solidFill>
                          <a:latin typeface="Calibri"/>
                        </a:rPr>
                        <a:t>5.5.4.3.</a:t>
                      </a:r>
                      <a:r>
                        <a:rPr sz="700" b="0" i="1">
                          <a:solidFill>
                            <a:srgbClr val="000000"/>
                          </a:solidFill>
                          <a:latin typeface="Times New Roman"/>
                        </a:rPr>
                        <a:t>    </a:t>
                      </a:r>
                      <a:r>
                        <a:rPr sz="1100" b="0" i="1">
                          <a:solidFill>
                            <a:srgbClr val="000000"/>
                          </a:solidFill>
                          <a:latin typeface="Calibri"/>
                        </a:rPr>
                        <a:t>Return Packaging</a:t>
                      </a:r>
                      <a:endParaRPr sz="1100"/>
                    </a:p>
                  </a:txBody>
                  <a:tcPr marL="1028700" marR="9525" marT="9525" marB="0" anchor="ctr"/>
                </a:tc>
              </a:tr>
              <a:tr h="175260">
                <a:tc>
                  <a:txBody>
                    <a:bodyPr wrap="square"/>
                    <a:lstStyle/>
                    <a:p>
                      <a:pPr algn="l"/>
                      <a:r>
                        <a:rPr sz="1100" b="0" i="1">
                          <a:solidFill>
                            <a:srgbClr val="000000"/>
                          </a:solidFill>
                          <a:latin typeface="Calibri"/>
                        </a:rPr>
                        <a:t>5.5.4.4.</a:t>
                      </a:r>
                      <a:r>
                        <a:rPr sz="700" b="0" i="1">
                          <a:solidFill>
                            <a:srgbClr val="000000"/>
                          </a:solidFill>
                          <a:latin typeface="Times New Roman"/>
                        </a:rPr>
                        <a:t>    </a:t>
                      </a:r>
                      <a:r>
                        <a:rPr sz="1100" b="0" i="1">
                          <a:solidFill>
                            <a:srgbClr val="000000"/>
                          </a:solidFill>
                          <a:latin typeface="Calibri"/>
                        </a:rPr>
                        <a:t>Warehouse Packaging</a:t>
                      </a:r>
                      <a:endParaRPr sz="1100"/>
                    </a:p>
                  </a:txBody>
                  <a:tcPr marL="1028700"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Industrial</a:t>
                      </a:r>
                      <a:endParaRPr sz="1100"/>
                    </a:p>
                  </a:txBody>
                  <a:tcPr marL="771525" marR="9525" marT="9525" marB="0" anchor="ctr"/>
                </a:tc>
              </a:tr>
              <a:tr h="175260">
                <a:tc>
                  <a:txBody>
                    <a:bodyPr wrap="square"/>
                    <a:lstStyle/>
                    <a:p>
                      <a:pPr algn="l"/>
                      <a:r>
                        <a:rPr sz="1100" b="0" i="1">
                          <a:solidFill>
                            <a:srgbClr val="000000"/>
                          </a:solidFill>
                          <a:latin typeface="Calibri"/>
                        </a:rPr>
                        <a:t>5.5.5.1.</a:t>
                      </a:r>
                      <a:r>
                        <a:rPr sz="700" b="0" i="1">
                          <a:solidFill>
                            <a:srgbClr val="000000"/>
                          </a:solidFill>
                          <a:latin typeface="Times New Roman"/>
                        </a:rPr>
                        <a:t>    </a:t>
                      </a:r>
                      <a:r>
                        <a:rPr sz="1100" b="0" i="1">
                          <a:solidFill>
                            <a:srgbClr val="000000"/>
                          </a:solidFill>
                          <a:latin typeface="Calibri"/>
                        </a:rPr>
                        <a:t>Automotive Components</a:t>
                      </a:r>
                      <a:endParaRPr sz="1100"/>
                    </a:p>
                  </a:txBody>
                  <a:tcPr marL="1028700" marR="9525" marT="9525" marB="0" anchor="ctr"/>
                </a:tc>
              </a:tr>
              <a:tr h="175260">
                <a:tc>
                  <a:txBody>
                    <a:bodyPr wrap="square"/>
                    <a:lstStyle/>
                    <a:p>
                      <a:pPr algn="l"/>
                      <a:r>
                        <a:rPr sz="1100" b="0" i="1">
                          <a:solidFill>
                            <a:srgbClr val="000000"/>
                          </a:solidFill>
                          <a:latin typeface="Calibri"/>
                        </a:rPr>
                        <a:t>5.5.5.2.</a:t>
                      </a:r>
                      <a:r>
                        <a:rPr sz="700" b="0" i="1">
                          <a:solidFill>
                            <a:srgbClr val="000000"/>
                          </a:solidFill>
                          <a:latin typeface="Times New Roman"/>
                        </a:rPr>
                        <a:t>    </a:t>
                      </a:r>
                      <a:r>
                        <a:rPr sz="1100" b="0" i="1">
                          <a:solidFill>
                            <a:srgbClr val="000000"/>
                          </a:solidFill>
                          <a:latin typeface="Calibri"/>
                        </a:rPr>
                        <a:t>Chemicals</a:t>
                      </a:r>
                      <a:endParaRPr sz="1100"/>
                    </a:p>
                  </a:txBody>
                  <a:tcPr marL="1028700" marR="9525" marT="9525" marB="0" anchor="ctr"/>
                </a:tc>
              </a:tr>
              <a:tr h="175260">
                <a:tc>
                  <a:txBody>
                    <a:bodyPr wrap="square"/>
                    <a:lstStyle/>
                    <a:p>
                      <a:pPr algn="l"/>
                      <a:r>
                        <a:rPr sz="1100" b="0" i="1">
                          <a:solidFill>
                            <a:srgbClr val="000000"/>
                          </a:solidFill>
                          <a:latin typeface="Calibri"/>
                        </a:rPr>
                        <a:t>5.5.5.3.</a:t>
                      </a:r>
                      <a:r>
                        <a:rPr sz="700" b="0" i="1">
                          <a:solidFill>
                            <a:srgbClr val="000000"/>
                          </a:solidFill>
                          <a:latin typeface="Times New Roman"/>
                        </a:rPr>
                        <a:t>    </a:t>
                      </a:r>
                      <a:r>
                        <a:rPr sz="1100" b="0" i="1">
                          <a:solidFill>
                            <a:srgbClr val="000000"/>
                          </a:solidFill>
                          <a:latin typeface="Calibri"/>
                        </a:rPr>
                        <a:t>Machinery Parts</a:t>
                      </a:r>
                      <a:endParaRPr sz="1100"/>
                    </a:p>
                  </a:txBody>
                  <a:tcPr marL="1028700" marR="9525" marT="9525" marB="0" anchor="ctr"/>
                </a:tc>
              </a:tr>
              <a:tr h="175260">
                <a:tc>
                  <a:txBody>
                    <a:bodyPr wrap="square"/>
                    <a:lstStyle/>
                    <a:p>
                      <a:pPr algn="l"/>
                      <a:r>
                        <a:rPr sz="1100" b="0" i="1">
                          <a:solidFill>
                            <a:srgbClr val="000000"/>
                          </a:solidFill>
                          <a:latin typeface="Calibri"/>
                        </a:rPr>
                        <a:t>5.5.5.4.</a:t>
                      </a:r>
                      <a:r>
                        <a:rPr sz="700" b="0" i="1">
                          <a:solidFill>
                            <a:srgbClr val="000000"/>
                          </a:solidFill>
                          <a:latin typeface="Times New Roman"/>
                        </a:rPr>
                        <a:t>    </a:t>
                      </a:r>
                      <a:r>
                        <a:rPr sz="1100" b="0" i="1">
                          <a:solidFill>
                            <a:srgbClr val="000000"/>
                          </a:solidFill>
                          <a:latin typeface="Calibri"/>
                        </a:rPr>
                        <a:t>Hardware</a:t>
                      </a:r>
                      <a:endParaRPr sz="1100"/>
                    </a:p>
                  </a:txBody>
                  <a:tcPr marL="1028700" marR="9525" marT="9525" marB="0" anchor="ctr"/>
                </a:tc>
              </a:tr>
              <a:tr h="175260">
                <a:tc>
                  <a:txBody>
                    <a:bodyPr wrap="square"/>
                    <a:lstStyle/>
                    <a:p>
                      <a:pPr algn="l"/>
                      <a:r>
                        <a:rPr sz="1100" b="0" i="1">
                          <a:solidFill>
                            <a:srgbClr val="000000"/>
                          </a:solidFill>
                          <a:latin typeface="Calibri"/>
                        </a:rPr>
                        <a:t>5.5.5.5.</a:t>
                      </a:r>
                      <a:r>
                        <a:rPr sz="700" b="0" i="1">
                          <a:solidFill>
                            <a:srgbClr val="000000"/>
                          </a:solidFill>
                          <a:latin typeface="Times New Roman"/>
                        </a:rPr>
                        <a:t>    </a:t>
                      </a:r>
                      <a:r>
                        <a:rPr sz="1100" b="0" i="1">
                          <a:solidFill>
                            <a:srgbClr val="000000"/>
                          </a:solidFill>
                          <a:latin typeface="Calibri"/>
                        </a:rPr>
                        <a:t>Electrical Components</a:t>
                      </a:r>
                      <a:endParaRPr sz="1100"/>
                    </a:p>
                  </a:txBody>
                  <a:tcPr marL="1028700"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Agriculture</a:t>
                      </a:r>
                      <a:endParaRPr sz="1100"/>
                    </a:p>
                  </a:txBody>
                  <a:tcPr marL="771525" marR="9525" marT="9525" marB="0" anchor="ctr"/>
                </a:tc>
              </a:tr>
              <a:tr h="175260">
                <a:tc>
                  <a:txBody>
                    <a:bodyPr wrap="square"/>
                    <a:lstStyle/>
                    <a:p>
                      <a:pPr algn="l"/>
                      <a:r>
                        <a:rPr sz="1100" b="0" i="1">
                          <a:solidFill>
                            <a:srgbClr val="000000"/>
                          </a:solidFill>
                          <a:latin typeface="Calibri"/>
                        </a:rPr>
                        <a:t>5.5.6.1.</a:t>
                      </a:r>
                      <a:r>
                        <a:rPr sz="700" b="0" i="1">
                          <a:solidFill>
                            <a:srgbClr val="000000"/>
                          </a:solidFill>
                          <a:latin typeface="Times New Roman"/>
                        </a:rPr>
                        <a:t>    </a:t>
                      </a:r>
                      <a:r>
                        <a:rPr sz="1100" b="0" i="1">
                          <a:solidFill>
                            <a:srgbClr val="000000"/>
                          </a:solidFill>
                          <a:latin typeface="Calibri"/>
                        </a:rPr>
                        <a:t>Seeds</a:t>
                      </a:r>
                      <a:endParaRPr sz="1100"/>
                    </a:p>
                  </a:txBody>
                  <a:tcPr marL="1028700" marR="9525" marT="9525" marB="0" anchor="ctr"/>
                </a:tc>
              </a:tr>
              <a:tr h="175260">
                <a:tc>
                  <a:txBody>
                    <a:bodyPr wrap="square"/>
                    <a:lstStyle/>
                    <a:p>
                      <a:pPr algn="l"/>
                      <a:r>
                        <a:rPr sz="1100" b="0" i="1">
                          <a:solidFill>
                            <a:srgbClr val="000000"/>
                          </a:solidFill>
                          <a:latin typeface="Calibri"/>
                        </a:rPr>
                        <a:t>5.5.6.2.</a:t>
                      </a:r>
                      <a:r>
                        <a:rPr sz="700" b="0" i="1">
                          <a:solidFill>
                            <a:srgbClr val="000000"/>
                          </a:solidFill>
                          <a:latin typeface="Times New Roman"/>
                        </a:rPr>
                        <a:t>    </a:t>
                      </a:r>
                      <a:r>
                        <a:rPr sz="1100" b="0" i="1">
                          <a:solidFill>
                            <a:srgbClr val="000000"/>
                          </a:solidFill>
                          <a:latin typeface="Calibri"/>
                        </a:rPr>
                        <a:t>Fertilizers</a:t>
                      </a:r>
                      <a:endParaRPr sz="1100"/>
                    </a:p>
                  </a:txBody>
                  <a:tcPr marL="1028700" marR="9525" marT="9525" marB="0" anchor="ctr"/>
                </a:tc>
              </a:tr>
              <a:tr h="175260">
                <a:tc>
                  <a:txBody>
                    <a:bodyPr wrap="square"/>
                    <a:lstStyle/>
                    <a:p>
                      <a:pPr algn="l"/>
                      <a:r>
                        <a:rPr sz="1100" b="0" i="1">
                          <a:solidFill>
                            <a:srgbClr val="000000"/>
                          </a:solidFill>
                          <a:latin typeface="Calibri"/>
                        </a:rPr>
                        <a:t>5.5.6.3.</a:t>
                      </a:r>
                      <a:r>
                        <a:rPr sz="700" b="0" i="1">
                          <a:solidFill>
                            <a:srgbClr val="000000"/>
                          </a:solidFill>
                          <a:latin typeface="Times New Roman"/>
                        </a:rPr>
                        <a:t>    </a:t>
                      </a:r>
                      <a:r>
                        <a:rPr sz="1100" b="0" i="1">
                          <a:solidFill>
                            <a:srgbClr val="000000"/>
                          </a:solidFill>
                          <a:latin typeface="Calibri"/>
                        </a:rPr>
                        <a:t>Animal Feed</a:t>
                      </a:r>
                      <a:endParaRPr sz="1100"/>
                    </a:p>
                  </a:txBody>
                  <a:tcPr marL="1028700" marR="9525" marT="9525" marB="0" anchor="ctr"/>
                </a:tc>
              </a:tr>
              <a:tr h="175260">
                <a:tc>
                  <a:txBody>
                    <a:bodyPr wrap="square"/>
                    <a:lstStyle/>
                    <a:p>
                      <a:pPr algn="l"/>
                      <a:r>
                        <a:rPr sz="1100" b="0" i="1">
                          <a:solidFill>
                            <a:srgbClr val="000000"/>
                          </a:solidFill>
                          <a:latin typeface="Calibri"/>
                        </a:rPr>
                        <a:t>5.5.6.4.</a:t>
                      </a:r>
                      <a:r>
                        <a:rPr sz="700" b="0" i="1">
                          <a:solidFill>
                            <a:srgbClr val="000000"/>
                          </a:solidFill>
                          <a:latin typeface="Times New Roman"/>
                        </a:rPr>
                        <a:t>    </a:t>
                      </a:r>
                      <a:r>
                        <a:rPr sz="1100" b="0" i="1">
                          <a:solidFill>
                            <a:srgbClr val="000000"/>
                          </a:solidFill>
                          <a:latin typeface="Calibri"/>
                        </a:rPr>
                        <a:t>Produce Packaging</a:t>
                      </a:r>
                      <a:endParaRPr sz="1100"/>
                    </a:p>
                  </a:txBody>
                  <a:tcPr marL="1028700" marR="9525" marT="9525" marB="0" anchor="ctr"/>
                </a:tc>
              </a:tr>
              <a:tr h="175260">
                <a:tc>
                  <a:txBody>
                    <a:bodyPr wrap="square"/>
                    <a:lstStyle/>
                    <a:p>
                      <a:pPr algn="l"/>
                      <a:r>
                        <a:rPr sz="1100" b="0" i="0">
                          <a:solidFill>
                            <a:srgbClr val="000000"/>
                          </a:solidFill>
                          <a:latin typeface="Calibri"/>
                        </a:rPr>
                        <a:t>5.5.7.</a:t>
                      </a:r>
                      <a:r>
                        <a:rPr sz="700" b="0" i="0">
                          <a:solidFill>
                            <a:srgbClr val="000000"/>
                          </a:solidFill>
                          <a:latin typeface="Times New Roman"/>
                        </a:rPr>
                        <a:t>   </a:t>
                      </a:r>
                      <a:r>
                        <a:rPr sz="1100" b="0" i="0">
                          <a:solidFill>
                            <a:srgbClr val="000000"/>
                          </a:solidFill>
                          <a:latin typeface="Calibri"/>
                        </a:rPr>
                        <a:t>Electronics</a:t>
                      </a:r>
                      <a:endParaRPr sz="1100"/>
                    </a:p>
                  </a:txBody>
                  <a:tcPr marL="771525" marR="9525" marT="9525" marB="0" anchor="ctr"/>
                </a:tc>
              </a:tr>
              <a:tr h="175260">
                <a:tc>
                  <a:txBody>
                    <a:bodyPr wrap="square"/>
                    <a:lstStyle/>
                    <a:p>
                      <a:pPr algn="l"/>
                      <a:r>
                        <a:rPr sz="1100" b="0" i="1">
                          <a:solidFill>
                            <a:srgbClr val="000000"/>
                          </a:solidFill>
                          <a:latin typeface="Calibri"/>
                        </a:rPr>
                        <a:t>5.5.7.1.</a:t>
                      </a:r>
                      <a:r>
                        <a:rPr sz="700" b="0" i="1">
                          <a:solidFill>
                            <a:srgbClr val="000000"/>
                          </a:solidFill>
                          <a:latin typeface="Times New Roman"/>
                        </a:rPr>
                        <a:t>    </a:t>
                      </a:r>
                      <a:r>
                        <a:rPr sz="1100" b="0" i="1">
                          <a:solidFill>
                            <a:srgbClr val="000000"/>
                          </a:solidFill>
                          <a:latin typeface="Calibri"/>
                        </a:rPr>
                        <a:t>Semiconductors</a:t>
                      </a:r>
                      <a:endParaRPr sz="1100"/>
                    </a:p>
                  </a:txBody>
                  <a:tcPr marL="1028700" marR="9525" marT="9525" marB="0" anchor="ctr"/>
                </a:tc>
              </a:tr>
              <a:tr h="175260">
                <a:tc>
                  <a:txBody>
                    <a:bodyPr wrap="square"/>
                    <a:lstStyle/>
                    <a:p>
                      <a:pPr algn="l"/>
                      <a:r>
                        <a:rPr sz="1100" b="0" i="1">
                          <a:solidFill>
                            <a:srgbClr val="000000"/>
                          </a:solidFill>
                          <a:latin typeface="Calibri"/>
                        </a:rPr>
                        <a:t>5.5.7.2.</a:t>
                      </a:r>
                      <a:r>
                        <a:rPr sz="700" b="0" i="1">
                          <a:solidFill>
                            <a:srgbClr val="000000"/>
                          </a:solidFill>
                          <a:latin typeface="Times New Roman"/>
                        </a:rPr>
                        <a:t>    </a:t>
                      </a:r>
                      <a:r>
                        <a:rPr sz="1100" b="0" i="1">
                          <a:solidFill>
                            <a:srgbClr val="000000"/>
                          </a:solidFill>
                          <a:latin typeface="Calibri"/>
                        </a:rPr>
                        <a:t>Consumer Electronics</a:t>
                      </a:r>
                      <a:endParaRPr sz="1100"/>
                    </a:p>
                  </a:txBody>
                  <a:tcPr marL="1028700" marR="9525" marT="9525" marB="0" anchor="ctr"/>
                </a:tc>
              </a:tr>
              <a:tr h="175260">
                <a:tc>
                  <a:txBody>
                    <a:bodyPr wrap="square"/>
                    <a:lstStyle/>
                    <a:p>
                      <a:pPr algn="l"/>
                      <a:r>
                        <a:rPr sz="1100" b="0" i="1">
                          <a:solidFill>
                            <a:srgbClr val="000000"/>
                          </a:solidFill>
                          <a:latin typeface="Calibri"/>
                        </a:rPr>
                        <a:t>5.5.7.3.</a:t>
                      </a:r>
                      <a:r>
                        <a:rPr sz="700" b="0" i="1">
                          <a:solidFill>
                            <a:srgbClr val="000000"/>
                          </a:solidFill>
                          <a:latin typeface="Times New Roman"/>
                        </a:rPr>
                        <a:t>    </a:t>
                      </a:r>
                      <a:r>
                        <a:rPr sz="1100" b="0" i="1">
                          <a:solidFill>
                            <a:srgbClr val="000000"/>
                          </a:solidFill>
                          <a:latin typeface="Calibri"/>
                        </a:rPr>
                        <a:t>Electronic Components</a:t>
                      </a:r>
                      <a:endParaRPr sz="1100"/>
                    </a:p>
                  </a:txBody>
                  <a:tcPr marL="1028700" marR="9525" marT="9525" marB="0" anchor="ctr"/>
                </a:tc>
              </a:tr>
              <a:tr h="175260">
                <a:tc>
                  <a:txBody>
                    <a:bodyPr wrap="square"/>
                    <a:lstStyle/>
                    <a:p>
                      <a:pPr algn="l"/>
                      <a:r>
                        <a:rPr sz="1100" b="0" i="1">
                          <a:solidFill>
                            <a:srgbClr val="000000"/>
                          </a:solidFill>
                          <a:latin typeface="Calibri"/>
                        </a:rPr>
                        <a:t>5.5.7.4.</a:t>
                      </a:r>
                      <a:r>
                        <a:rPr sz="700" b="0" i="1">
                          <a:solidFill>
                            <a:srgbClr val="000000"/>
                          </a:solidFill>
                          <a:latin typeface="Times New Roman"/>
                        </a:rPr>
                        <a:t>    </a:t>
                      </a:r>
                      <a:r>
                        <a:rPr sz="1100" b="0" i="1">
                          <a:solidFill>
                            <a:srgbClr val="000000"/>
                          </a:solidFill>
                          <a:latin typeface="Calibri"/>
                        </a:rPr>
                        <a:t>PCB Packaging</a:t>
                      </a:r>
                      <a:endParaRPr sz="1100"/>
                    </a:p>
                  </a:txBody>
                  <a:tcPr marL="1028700" marR="9525" marT="9525" marB="0" anchor="ctr"/>
                </a:tc>
              </a:tr>
              <a:tr h="175260">
                <a:tc>
                  <a:txBody>
                    <a:bodyPr wrap="square"/>
                    <a:lstStyle/>
                    <a:p>
                      <a:pPr algn="l"/>
                      <a:r>
                        <a:rPr sz="1100" b="0" i="0">
                          <a:solidFill>
                            <a:srgbClr val="000000"/>
                          </a:solidFill>
                          <a:latin typeface="Calibri"/>
                        </a:rPr>
                        <a:t>5.5.8.</a:t>
                      </a:r>
                      <a:r>
                        <a:rPr sz="700" b="0" i="0">
                          <a:solidFill>
                            <a:srgbClr val="000000"/>
                          </a:solidFill>
                          <a:latin typeface="Times New Roman"/>
                        </a:rPr>
                        <a:t>   </a:t>
                      </a:r>
                      <a:r>
                        <a:rPr sz="1100" b="0" i="0">
                          <a:solidFill>
                            <a:srgbClr val="000000"/>
                          </a:solidFill>
                          <a:latin typeface="Calibri"/>
                        </a:rPr>
                        <a:t>Personal Care &amp; Cosmetics</a:t>
                      </a:r>
                      <a:endParaRPr sz="1100"/>
                    </a:p>
                  </a:txBody>
                  <a:tcPr marL="771525" marR="9525" marT="9525" marB="0" anchor="ctr"/>
                </a:tc>
              </a:tr>
              <a:tr h="175260">
                <a:tc>
                  <a:txBody>
                    <a:bodyPr wrap="square"/>
                    <a:lstStyle/>
                    <a:p>
                      <a:pPr algn="l"/>
                      <a:r>
                        <a:rPr sz="1100" b="0" i="1">
                          <a:solidFill>
                            <a:srgbClr val="000000"/>
                          </a:solidFill>
                          <a:latin typeface="Calibri"/>
                        </a:rPr>
                        <a:t>5.5.8.1.</a:t>
                      </a:r>
                      <a:r>
                        <a:rPr sz="700" b="0" i="1">
                          <a:solidFill>
                            <a:srgbClr val="000000"/>
                          </a:solidFill>
                          <a:latin typeface="Times New Roman"/>
                        </a:rPr>
                        <a:t>    </a:t>
                      </a:r>
                      <a:r>
                        <a:rPr sz="1100" b="0" i="1">
                          <a:solidFill>
                            <a:srgbClr val="000000"/>
                          </a:solidFill>
                          <a:latin typeface="Calibri"/>
                        </a:rPr>
                        <a:t>Cosmetic Products</a:t>
                      </a:r>
                      <a:endParaRPr sz="1100"/>
                    </a:p>
                  </a:txBody>
                  <a:tcPr marL="1028700" marR="9525" marT="9525" marB="0" anchor="ctr"/>
                </a:tc>
              </a:tr>
              <a:tr h="175260">
                <a:tc>
                  <a:txBody>
                    <a:bodyPr wrap="square"/>
                    <a:lstStyle/>
                    <a:p>
                      <a:pPr algn="l"/>
                      <a:r>
                        <a:rPr sz="1100" b="0" i="1">
                          <a:solidFill>
                            <a:srgbClr val="000000"/>
                          </a:solidFill>
                          <a:latin typeface="Calibri"/>
                        </a:rPr>
                        <a:t>5.5.8.2.</a:t>
                      </a:r>
                      <a:r>
                        <a:rPr sz="700" b="0" i="1">
                          <a:solidFill>
                            <a:srgbClr val="000000"/>
                          </a:solidFill>
                          <a:latin typeface="Times New Roman"/>
                        </a:rPr>
                        <a:t>    </a:t>
                      </a:r>
                      <a:r>
                        <a:rPr sz="1100" b="0" i="1">
                          <a:solidFill>
                            <a:srgbClr val="000000"/>
                          </a:solidFill>
                          <a:latin typeface="Calibri"/>
                        </a:rPr>
                        <a:t>Toiletries</a:t>
                      </a:r>
                      <a:endParaRPr sz="1100"/>
                    </a:p>
                  </a:txBody>
                  <a:tcPr marL="1028700" marR="9525" marT="9525" marB="0" anchor="ctr"/>
                </a:tc>
              </a:tr>
              <a:tr h="175260">
                <a:tc>
                  <a:txBody>
                    <a:bodyPr wrap="square"/>
                    <a:lstStyle/>
                    <a:p>
                      <a:pPr algn="l"/>
                      <a:r>
                        <a:rPr sz="1100" b="0" i="1">
                          <a:solidFill>
                            <a:srgbClr val="000000"/>
                          </a:solidFill>
                          <a:latin typeface="Calibri"/>
                        </a:rPr>
                        <a:t>5.5.8.3.</a:t>
                      </a:r>
                      <a:r>
                        <a:rPr sz="700" b="0" i="1">
                          <a:solidFill>
                            <a:srgbClr val="000000"/>
                          </a:solidFill>
                          <a:latin typeface="Times New Roman"/>
                        </a:rPr>
                        <a:t>    </a:t>
                      </a:r>
                      <a:r>
                        <a:rPr sz="1100" b="0" i="1">
                          <a:solidFill>
                            <a:srgbClr val="000000"/>
                          </a:solidFill>
                          <a:latin typeface="Calibri"/>
                        </a:rPr>
                        <a:t>Beauty Products</a:t>
                      </a:r>
                      <a:endParaRPr sz="1100"/>
                    </a:p>
                  </a:txBody>
                  <a:tcPr marL="1028700"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6.5.1.1.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6.5.1.2.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6.5.2.1.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6.5.2.2.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6.5.2.3.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6.5.3.1.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6.5.3.2.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6.5.3.3.</a:t>
                      </a:r>
                      <a:r>
                        <a:rPr sz="700" b="0" i="1">
                          <a:solidFill>
                            <a:srgbClr val="000000"/>
                          </a:solidFill>
                          <a:latin typeface="Times New Roman"/>
                        </a:rPr>
                        <a:t>    </a:t>
                      </a:r>
                      <a:r>
                        <a:rPr sz="1100" b="0" i="1">
                          <a:solidFill>
                            <a:srgbClr val="000000"/>
                          </a:solidFill>
                          <a:latin typeface="Calibri"/>
                        </a:rPr>
                        <a:t>S Korea</a:t>
                      </a:r>
                      <a:endParaRPr sz="1100"/>
                    </a:p>
                  </a:txBody>
                  <a:tcPr marL="1028700"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6.5.4.1.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6.5.4.2.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6.5.4.3.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6.5.4.4.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6.5.4.5.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6.5.4.6.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6.5.4.7.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6.5.4.8.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6.5.4.9.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r h="175260">
                <a:tc>
                  <a:txBody>
                    <a:bodyPr wrap="square"/>
                    <a:lstStyle/>
                    <a:p>
                      <a:pPr algn="l"/>
                      <a:r>
                        <a:rPr sz="1100" b="0" i="0">
                          <a:solidFill>
                            <a:srgbClr val="000000"/>
                          </a:solidFill>
                          <a:latin typeface="Calibri"/>
                        </a:rPr>
                        <a:t>6.5.5.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6.5.5.1.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6.5.5.2.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6.5.5.3.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6.5.5.4.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6.5.5.5.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6.5.5.6.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6.5.5.7.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6.5.5.8.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6.5.5.9.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6.5.5.10.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6.5.5.11.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6.5.5.12.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6.5.6.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6.5.6.1.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6.5.6.2.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6.5.6.3.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6.5.6.4.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6.5.6.5.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6.5.6.6.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6.5.6.7.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tr>
              <a:tr h="350520">
                <a:tc>
                  <a:txBody>
                    <a:bodyPr wrap="square"/>
                    <a:lstStyle/>
                    <a:p>
                      <a:pPr algn="l"/>
                      <a:r>
                        <a:rPr sz="1100" b="0" i="1">
                          <a:solidFill>
                            <a:srgbClr val="EE0000"/>
                          </a:solidFill>
                          <a:latin typeface="Calibri"/>
                        </a:rPr>
                        <a:t>Note: Value &amp; Volume (US$ Mn / UNITS)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Product Type × End-Use Industry</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End-Use Industry × Material</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8.4.1.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8.4.2.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8.4.3.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9.4.1.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9.4.2.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9.4.3.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10.4.1.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10.4.2.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10.4.3.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11.4.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11.4.1.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11.4.2.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11.4.3.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Material</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End-Use Industry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14.1.1.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14.1.2.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14.1.3.</a:t>
                      </a:r>
                      <a:r>
                        <a:rPr sz="700" b="0" i="0">
                          <a:solidFill>
                            <a:srgbClr val="000000"/>
                          </a:solidFill>
                          <a:latin typeface="Times New Roman"/>
                        </a:rPr>
                        <a:t> </a:t>
                      </a:r>
                      <a:r>
                        <a:rPr sz="1100" b="0" i="0">
                          <a:solidFill>
                            <a:srgbClr val="000000"/>
                          </a:solidFill>
                          <a:latin typeface="Calibri"/>
                        </a:rPr>
                        <a:t>Retail Pricing (where applicable)</a:t>
                      </a:r>
                      <a:endParaRPr sz="1100"/>
                    </a:p>
                  </a:txBody>
                  <a:tcPr marL="7715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Segment-wise Price Comparison (Product Type vs Material)</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Country-wise Price Comparison (Product Type)</a:t>
                      </a:r>
                      <a:endParaRPr sz="1100"/>
                    </a:p>
                  </a:txBody>
                  <a:tcPr marL="428625" marR="9525" marT="9525" marB="0" anchor="ctr"/>
                </a:tc>
              </a:tr>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14.5.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14.6.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15.1.1.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15.1.2.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15.1.3.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16.1.1.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tr>
              <a:tr h="175260">
                <a:tc>
                  <a:txBody>
                    <a:bodyPr wrap="square"/>
                    <a:lstStyle/>
                    <a:p>
                      <a:pPr algn="l"/>
                      <a:r>
                        <a:rPr sz="1100" b="0" i="0">
                          <a:solidFill>
                            <a:srgbClr val="000000"/>
                          </a:solidFill>
                          <a:latin typeface="Calibri"/>
                        </a:rPr>
                        <a:t>16.1.2.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tr>
              <a:tr h="175260">
                <a:tc>
                  <a:txBody>
                    <a:bodyPr wrap="square"/>
                    <a:lstStyle/>
                    <a:p>
                      <a:pPr algn="l"/>
                      <a:r>
                        <a:rPr sz="1100" b="0" i="0">
                          <a:solidFill>
                            <a:srgbClr val="000000"/>
                          </a:solidFill>
                          <a:latin typeface="Calibri"/>
                        </a:rPr>
                        <a:t>16.1.3.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16.2.1.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16.2.2.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16.2.3.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16.5.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16.6.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16.7.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16.8.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16.9.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Formula Requirements</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r h="175260">
                <a:tc>
                  <a:txBody>
                    <a:bodyPr wrap="square"/>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FDA</a:t>
                      </a:r>
                      <a:endParaRPr sz="1100"/>
                    </a:p>
                  </a:txBody>
                  <a:tcPr marL="771525" marR="9525" marT="9525" marB="0" anchor="ctr"/>
                </a:tc>
              </a:tr>
              <a:tr h="175260">
                <a:tc>
                  <a:txBody>
                    <a:bodyPr wrap="square"/>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USDA</a:t>
                      </a:r>
                      <a:endParaRPr sz="1100"/>
                    </a:p>
                  </a:txBody>
                  <a:tcPr marL="771525" marR="9525" marT="9525" marB="0" anchor="ctr"/>
                </a:tc>
              </a:tr>
              <a:tr h="175260">
                <a:tc>
                  <a:txBody>
                    <a:bodyPr wrap="square"/>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FASSAI</a:t>
                      </a:r>
                      <a:endParaRPr sz="1100"/>
                    </a:p>
                  </a:txBody>
                  <a:tcPr marL="771525" marR="9525" marT="9525" marB="0" anchor="ctr"/>
                </a:tc>
              </a:tr>
              <a:tr h="175260">
                <a:tc>
                  <a:txBody>
                    <a:bodyPr wrap="square"/>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EU Commissions</a:t>
                      </a:r>
                      <a:endParaRPr sz="1100"/>
                    </a:p>
                  </a:txBody>
                  <a:tcPr marL="7715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Production Volume (UNITS),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Exports: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Imports: Key Countries, Share &amp; Value (US$ Mn / UNITS)</a:t>
                      </a:r>
                      <a:endParaRPr sz="1100"/>
                    </a:p>
                  </a:txBody>
                  <a:tcPr marL="428625" marR="9525" marT="9525" marB="0" anchor="ctr"/>
                </a:tc>
              </a:tr>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19.1.1.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19.1.2.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(6/6)</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19.3.1.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19.3.2.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19.3.3.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7: Competition Assessment</a:t>
                      </a:r>
                      <a:endParaRPr sz="1100"/>
                    </a:p>
                  </a:txBody>
                  <a:tcPr marL="9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Company Profile- MNCs</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Amcor plc</a:t>
                      </a:r>
                      <a:endParaRPr sz="1100"/>
                    </a:p>
                  </a:txBody>
                  <a:tcPr marL="428625" marR="9525" marT="9525" marB="0" anchor="ctr"/>
                </a:tc>
              </a:tr>
              <a:tr h="175260">
                <a:tc>
                  <a:txBody>
                    <a:bodyPr wrap="square"/>
                    <a:lstStyle/>
                    <a:p>
                      <a:pPr algn="l"/>
                      <a:r>
                        <a:rPr sz="1100" b="0" i="0">
                          <a:solidFill>
                            <a:srgbClr val="000000"/>
                          </a:solidFill>
                          <a:latin typeface="Calibri"/>
                        </a:rPr>
                        <a:t>23.1.1.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23.1.2.</a:t>
                      </a:r>
                      <a:r>
                        <a:rPr sz="700" b="0" i="0">
                          <a:solidFill>
                            <a:srgbClr val="000000"/>
                          </a:solidFill>
                          <a:latin typeface="Times New Roman"/>
                        </a:rPr>
                        <a:t> </a:t>
                      </a:r>
                      <a:r>
                        <a:rPr sz="1100" b="0" i="0">
                          <a:solidFill>
                            <a:srgbClr val="000000"/>
                          </a:solidFill>
                          <a:latin typeface="Calibri"/>
                        </a:rPr>
                        <a:t>Apparent Production Volume (UNITS)</a:t>
                      </a:r>
                      <a:endParaRPr sz="1100"/>
                    </a:p>
                  </a:txBody>
                  <a:tcPr marL="771525" marR="9525" marT="9525" marB="0" anchor="ctr"/>
                </a:tc>
              </a:tr>
              <a:tr h="175260">
                <a:tc>
                  <a:txBody>
                    <a:bodyPr wrap="square"/>
                    <a:lstStyle/>
                    <a:p>
                      <a:pPr algn="l"/>
                      <a:r>
                        <a:rPr sz="1100" b="0" i="0">
                          <a:solidFill>
                            <a:srgbClr val="000000"/>
                          </a:solidFill>
                          <a:latin typeface="Calibri"/>
                        </a:rPr>
                        <a:t>23.1.3.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23.1.4.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23.1.4.1.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23.1.4.2.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23.1.4.3.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23.1.5.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23.1.6.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23.1.6.1.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23.1.6.2.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403098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1">
                          <a:solidFill>
                            <a:srgbClr val="000000"/>
                          </a:solidFill>
                          <a:latin typeface="Calibri"/>
                        </a:rPr>
                        <a:t>23.1.6.3.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23.1.6.4.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23.1.7.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23.1.8.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Sealed Air Corporation</a:t>
                      </a:r>
                      <a:endParaRPr sz="1100"/>
                    </a:p>
                  </a:txBody>
                  <a:tcPr marL="428625" marR="9525" marT="9525" marB="0" anchor="ctr"/>
                </a:tc>
              </a:tr>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Inteplast Group</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Novolex</a:t>
                      </a:r>
                      <a:endParaRPr sz="1100"/>
                    </a:p>
                  </a:txBody>
                  <a:tcPr marL="428625" marR="9525" marT="9525" marB="0" anchor="ctr"/>
                </a:tc>
              </a:tr>
              <a:tr h="175260">
                <a:tc>
                  <a:txBody>
                    <a:bodyPr wrap="square"/>
                    <a:lstStyle/>
                    <a:p>
                      <a:pPr algn="l"/>
                      <a:r>
                        <a:rPr sz="1100" b="0" i="0">
                          <a:solidFill>
                            <a:srgbClr val="0070C0"/>
                          </a:solidFill>
                          <a:latin typeface="Calibri"/>
                        </a:rPr>
                        <a:t>23.5.</a:t>
                      </a:r>
                      <a:r>
                        <a:rPr sz="700" b="0" i="0">
                          <a:solidFill>
                            <a:srgbClr val="0070C0"/>
                          </a:solidFill>
                          <a:latin typeface="Times New Roman"/>
                        </a:rPr>
                        <a:t>  </a:t>
                      </a:r>
                      <a:r>
                        <a:rPr sz="1100" b="0" i="0">
                          <a:solidFill>
                            <a:srgbClr val="0070C0"/>
                          </a:solidFill>
                          <a:latin typeface="Calibri"/>
                        </a:rPr>
                        <a:t>Coveris</a:t>
                      </a:r>
                      <a:endParaRPr sz="1100"/>
                    </a:p>
                  </a:txBody>
                  <a:tcPr marL="428625" marR="9525" marT="9525" marB="0" anchor="ctr"/>
                </a:tc>
              </a:tr>
              <a:tr h="175260">
                <a:tc>
                  <a:txBody>
                    <a:bodyPr wrap="square"/>
                    <a:lstStyle/>
                    <a:p>
                      <a:pPr algn="l"/>
                      <a:r>
                        <a:rPr sz="1100" b="0" i="0">
                          <a:solidFill>
                            <a:srgbClr val="0070C0"/>
                          </a:solidFill>
                          <a:latin typeface="Calibri"/>
                        </a:rPr>
                        <a:t>23.6.</a:t>
                      </a:r>
                      <a:r>
                        <a:rPr sz="700" b="0" i="0">
                          <a:solidFill>
                            <a:srgbClr val="0070C0"/>
                          </a:solidFill>
                          <a:latin typeface="Times New Roman"/>
                        </a:rPr>
                        <a:t>  </a:t>
                      </a:r>
                      <a:r>
                        <a:rPr sz="1100" b="0" i="0">
                          <a:solidFill>
                            <a:srgbClr val="0070C0"/>
                          </a:solidFill>
                          <a:latin typeface="Calibri"/>
                        </a:rPr>
                        <a:t>Printpack</a:t>
                      </a:r>
                      <a:endParaRPr sz="1100"/>
                    </a:p>
                  </a:txBody>
                  <a:tcPr marL="428625" marR="9525" marT="9525" marB="0" anchor="ctr"/>
                </a:tc>
              </a:tr>
              <a:tr h="175260">
                <a:tc>
                  <a:txBody>
                    <a:bodyPr wrap="square"/>
                    <a:lstStyle/>
                    <a:p>
                      <a:pPr algn="l"/>
                      <a:r>
                        <a:rPr sz="1100" b="0" i="0">
                          <a:solidFill>
                            <a:srgbClr val="0070C0"/>
                          </a:solidFill>
                          <a:latin typeface="Calibri"/>
                        </a:rPr>
                        <a:t>23.7.</a:t>
                      </a:r>
                      <a:r>
                        <a:rPr sz="700" b="0" i="0">
                          <a:solidFill>
                            <a:srgbClr val="0070C0"/>
                          </a:solidFill>
                          <a:latin typeface="Times New Roman"/>
                        </a:rPr>
                        <a:t>  </a:t>
                      </a:r>
                      <a:r>
                        <a:rPr sz="1100" b="0" i="0">
                          <a:solidFill>
                            <a:srgbClr val="0070C0"/>
                          </a:solidFill>
                          <a:latin typeface="Calibri"/>
                        </a:rPr>
                        <a:t>Winpak Ltd.</a:t>
                      </a:r>
                      <a:endParaRPr sz="1100"/>
                    </a:p>
                  </a:txBody>
                  <a:tcPr marL="428625" marR="9525" marT="9525" marB="0" anchor="ctr"/>
                </a:tc>
              </a:tr>
              <a:tr h="175260">
                <a:tc>
                  <a:txBody>
                    <a:bodyPr wrap="square"/>
                    <a:lstStyle/>
                    <a:p>
                      <a:pPr algn="l"/>
                      <a:r>
                        <a:rPr sz="1100" b="0" i="0">
                          <a:solidFill>
                            <a:srgbClr val="0070C0"/>
                          </a:solidFill>
                          <a:latin typeface="Calibri"/>
                        </a:rPr>
                        <a:t>23.8.</a:t>
                      </a:r>
                      <a:r>
                        <a:rPr sz="700" b="0" i="0">
                          <a:solidFill>
                            <a:srgbClr val="0070C0"/>
                          </a:solidFill>
                          <a:latin typeface="Times New Roman"/>
                        </a:rPr>
                        <a:t>  </a:t>
                      </a:r>
                      <a:r>
                        <a:rPr sz="1100" b="0" i="0">
                          <a:solidFill>
                            <a:srgbClr val="0070C0"/>
                          </a:solidFill>
                          <a:latin typeface="Calibri"/>
                        </a:rPr>
                        <a:t>Huhtamaki</a:t>
                      </a:r>
                      <a:endParaRPr sz="1100"/>
                    </a:p>
                  </a:txBody>
                  <a:tcPr marL="428625" marR="9525" marT="9525" marB="0" anchor="ctr"/>
                </a:tc>
              </a:tr>
              <a:tr h="175260">
                <a:tc>
                  <a:txBody>
                    <a:bodyPr wrap="square"/>
                    <a:lstStyle/>
                    <a:p>
                      <a:pPr algn="l"/>
                      <a:r>
                        <a:rPr sz="1100" b="0" i="0">
                          <a:solidFill>
                            <a:srgbClr val="0070C0"/>
                          </a:solidFill>
                          <a:latin typeface="Calibri"/>
                        </a:rPr>
                        <a:t>23.9.</a:t>
                      </a:r>
                      <a:r>
                        <a:rPr sz="700" b="0" i="0">
                          <a:solidFill>
                            <a:srgbClr val="0070C0"/>
                          </a:solidFill>
                          <a:latin typeface="Times New Roman"/>
                        </a:rPr>
                        <a:t>  </a:t>
                      </a:r>
                      <a:r>
                        <a:rPr sz="1100" b="0" i="0">
                          <a:solidFill>
                            <a:srgbClr val="0070C0"/>
                          </a:solidFill>
                          <a:latin typeface="Calibri"/>
                        </a:rPr>
                        <a:t>Berry Global Group</a:t>
                      </a:r>
                      <a:endParaRPr sz="1100"/>
                    </a:p>
                  </a:txBody>
                  <a:tcPr marL="428625" marR="9525" marT="9525" marB="0" anchor="ctr"/>
                </a:tc>
              </a:tr>
              <a:tr h="175260">
                <a:tc>
                  <a:txBody>
                    <a:bodyPr wrap="square"/>
                    <a:lstStyle/>
                    <a:p>
                      <a:pPr algn="l"/>
                      <a:r>
                        <a:rPr sz="1100" b="0" i="0">
                          <a:solidFill>
                            <a:srgbClr val="0070C0"/>
                          </a:solidFill>
                          <a:latin typeface="Calibri"/>
                        </a:rPr>
                        <a:t>23.10.</a:t>
                      </a:r>
                      <a:r>
                        <a:rPr sz="700" b="0" i="0">
                          <a:solidFill>
                            <a:srgbClr val="0070C0"/>
                          </a:solidFill>
                          <a:latin typeface="Times New Roman"/>
                        </a:rPr>
                        <a:t> </a:t>
                      </a:r>
                      <a:r>
                        <a:rPr sz="1100" b="0" i="0">
                          <a:solidFill>
                            <a:srgbClr val="0070C0"/>
                          </a:solidFill>
                          <a:latin typeface="Calibri"/>
                        </a:rPr>
                        <a:t>Mondi Group</a:t>
                      </a:r>
                      <a:endParaRPr sz="1100"/>
                    </a:p>
                  </a:txBody>
                  <a:tcPr marL="428625" marR="9525" marT="9525" marB="0" anchor="ctr"/>
                </a:tc>
              </a:tr>
              <a:tr h="175260">
                <a:tc>
                  <a:txBody>
                    <a:bodyPr wrap="square"/>
                    <a:lstStyle/>
                    <a:p>
                      <a:pPr algn="l"/>
                      <a:r>
                        <a:rPr sz="1100" b="0" i="0">
                          <a:solidFill>
                            <a:srgbClr val="0070C0"/>
                          </a:solidFill>
                          <a:latin typeface="Calibri"/>
                        </a:rPr>
                        <a:t>23.11.</a:t>
                      </a:r>
                      <a:r>
                        <a:rPr sz="700" b="0" i="0">
                          <a:solidFill>
                            <a:srgbClr val="0070C0"/>
                          </a:solidFill>
                          <a:latin typeface="Times New Roman"/>
                        </a:rPr>
                        <a:t> </a:t>
                      </a:r>
                      <a:r>
                        <a:rPr sz="1100" b="0" i="0">
                          <a:solidFill>
                            <a:srgbClr val="0070C0"/>
                          </a:solidFill>
                          <a:latin typeface="Calibri"/>
                        </a:rPr>
                        <a:t>Pactiv Evergreen</a:t>
                      </a:r>
                      <a:endParaRPr sz="1100"/>
                    </a:p>
                  </a:txBody>
                  <a:tcPr marL="428625" marR="9525" marT="9525" marB="0" anchor="ctr"/>
                </a:tc>
              </a:tr>
              <a:tr h="175260">
                <a:tc>
                  <a:txBody>
                    <a:bodyPr wrap="square"/>
                    <a:lstStyle/>
                    <a:p>
                      <a:pPr algn="l"/>
                      <a:r>
                        <a:rPr sz="1100" b="0" i="0">
                          <a:solidFill>
                            <a:srgbClr val="0070C0"/>
                          </a:solidFill>
                          <a:latin typeface="Calibri"/>
                        </a:rPr>
                        <a:t>23.12.</a:t>
                      </a:r>
                      <a:r>
                        <a:rPr sz="700" b="0" i="0">
                          <a:solidFill>
                            <a:srgbClr val="0070C0"/>
                          </a:solidFill>
                          <a:latin typeface="Times New Roman"/>
                        </a:rPr>
                        <a:t> </a:t>
                      </a:r>
                      <a:r>
                        <a:rPr sz="1100" b="0" i="0">
                          <a:solidFill>
                            <a:srgbClr val="0070C0"/>
                          </a:solidFill>
                          <a:latin typeface="Calibri"/>
                        </a:rPr>
                        <a:t>Sonoco Products Company</a:t>
                      </a:r>
                      <a:endParaRPr sz="1100"/>
                    </a:p>
                  </a:txBody>
                  <a:tcPr marL="428625" marR="9525" marT="9525" marB="0" anchor="ctr"/>
                </a:tc>
              </a:tr>
              <a:tr h="175260">
                <a:tc>
                  <a:txBody>
                    <a:bodyPr wrap="square"/>
                    <a:lstStyle/>
                    <a:p>
                      <a:pPr algn="l"/>
                      <a:r>
                        <a:rPr sz="1100" b="0" i="0">
                          <a:solidFill>
                            <a:srgbClr val="0070C0"/>
                          </a:solidFill>
                          <a:latin typeface="Calibri"/>
                        </a:rPr>
                        <a:t>23.13.</a:t>
                      </a:r>
                      <a:r>
                        <a:rPr sz="700" b="0" i="0">
                          <a:solidFill>
                            <a:srgbClr val="0070C0"/>
                          </a:solidFill>
                          <a:latin typeface="Times New Roman"/>
                        </a:rPr>
                        <a:t> </a:t>
                      </a:r>
                      <a:r>
                        <a:rPr sz="1100" b="0" i="0">
                          <a:solidFill>
                            <a:srgbClr val="0070C0"/>
                          </a:solidFill>
                          <a:latin typeface="Calibri"/>
                        </a:rPr>
                        <a:t>A-Pac Manufacturing Co., Inc.</a:t>
                      </a:r>
                      <a:endParaRPr sz="1100"/>
                    </a:p>
                  </a:txBody>
                  <a:tcPr marL="428625" marR="9525" marT="9525" marB="0" anchor="ctr"/>
                </a:tc>
              </a:tr>
              <a:tr h="175260">
                <a:tc>
                  <a:txBody>
                    <a:bodyPr wrap="square"/>
                    <a:lstStyle/>
                    <a:p>
                      <a:pPr algn="l"/>
                      <a:r>
                        <a:rPr sz="1100" b="0" i="0">
                          <a:solidFill>
                            <a:srgbClr val="0070C0"/>
                          </a:solidFill>
                          <a:latin typeface="Calibri"/>
                        </a:rPr>
                        <a:t>23.14.</a:t>
                      </a:r>
                      <a:r>
                        <a:rPr sz="700" b="0" i="0">
                          <a:solidFill>
                            <a:srgbClr val="0070C0"/>
                          </a:solidFill>
                          <a:latin typeface="Times New Roman"/>
                        </a:rPr>
                        <a:t> </a:t>
                      </a:r>
                      <a:r>
                        <a:rPr sz="1100" b="0" i="0">
                          <a:solidFill>
                            <a:srgbClr val="0070C0"/>
                          </a:solidFill>
                          <a:latin typeface="Calibri"/>
                        </a:rPr>
                        <a:t>PPC Flex</a:t>
                      </a:r>
                      <a:endParaRPr sz="1100"/>
                    </a:p>
                  </a:txBody>
                  <a:tcPr marL="428625" marR="9525" marT="9525" marB="0" anchor="ctr"/>
                </a:tc>
              </a:tr>
              <a:tr h="175260">
                <a:tc>
                  <a:txBody>
                    <a:bodyPr wrap="square"/>
                    <a:lstStyle/>
                    <a:p>
                      <a:pPr algn="l"/>
                      <a:r>
                        <a:rPr sz="1100" b="0" i="0">
                          <a:solidFill>
                            <a:srgbClr val="0070C0"/>
                          </a:solidFill>
                          <a:latin typeface="Calibri"/>
                        </a:rPr>
                        <a:t>23.15.</a:t>
                      </a:r>
                      <a:r>
                        <a:rPr sz="700" b="0" i="0">
                          <a:solidFill>
                            <a:srgbClr val="0070C0"/>
                          </a:solidFill>
                          <a:latin typeface="Times New Roman"/>
                        </a:rPr>
                        <a:t> </a:t>
                      </a:r>
                      <a:r>
                        <a:rPr sz="1100" b="0" i="0">
                          <a:solidFill>
                            <a:srgbClr val="0070C0"/>
                          </a:solidFill>
                          <a:latin typeface="Calibri"/>
                        </a:rPr>
                        <a:t>Arihant Packers</a:t>
                      </a:r>
                      <a:endParaRPr sz="1100"/>
                    </a:p>
                  </a:txBody>
                  <a:tcPr marL="428625" marR="9525" marT="9525" marB="0" anchor="ctr"/>
                </a:tc>
              </a:tr>
              <a:tr h="175260">
                <a:tc>
                  <a:txBody>
                    <a:bodyPr wrap="square"/>
                    <a:lstStyle/>
                    <a:p>
                      <a:pPr algn="l"/>
                      <a:r>
                        <a:rPr sz="1100" b="0" i="0">
                          <a:solidFill>
                            <a:srgbClr val="0070C0"/>
                          </a:solidFill>
                          <a:latin typeface="Calibri"/>
                        </a:rPr>
                        <a:t>23.16.</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EE0000"/>
                          </a:solidFill>
                          <a:latin typeface="Calibri"/>
                        </a:rPr>
                        <a:t>ADD SECTIONS AS PER STORY LINE</a:t>
                      </a:r>
                      <a:endParaRPr sz="1100"/>
                    </a:p>
                  </a:txBody>
                  <a:tcPr marL="9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Europe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Europe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Europe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Europe Market Share by Product Type, %, 2026</a:t>
                      </a:r>
                      <a:endParaRPr sz="1050"/>
                    </a:p>
                  </a:txBody>
                  <a:tcPr marL="9525" marR="9525" marT="9525" marB="0" anchor="ctr"/>
                </a:tc>
              </a:tr>
              <a:tr h="169606">
                <a:tc>
                  <a:txBody>
                    <a:bodyPr wrap="square"/>
                    <a:lstStyle/>
                    <a:p>
                      <a:pPr algn="l"/>
                      <a:r>
                        <a:rPr sz="1050" b="0" i="0">
                          <a:solidFill>
                            <a:srgbClr val="000000"/>
                          </a:solidFill>
                          <a:latin typeface="Calibri"/>
                        </a:rPr>
                        <a:t>Figure 5: Europe Market Share by Principal Material / Barrier Technology, %, 2026</a:t>
                      </a:r>
                      <a:endParaRPr sz="1050"/>
                    </a:p>
                  </a:txBody>
                  <a:tcPr marL="9525" marR="9525" marT="9525" marB="0" anchor="ctr"/>
                </a:tc>
              </a:tr>
              <a:tr h="169606">
                <a:tc>
                  <a:txBody>
                    <a:bodyPr wrap="square"/>
                    <a:lstStyle/>
                    <a:p>
                      <a:pPr algn="l"/>
                      <a:r>
                        <a:rPr sz="1050" b="0" i="0">
                          <a:solidFill>
                            <a:srgbClr val="000000"/>
                          </a:solidFill>
                          <a:latin typeface="Calibri"/>
                        </a:rPr>
                        <a:t>Figure 6: Europe Market Share by Material Structure, %, 2026</a:t>
                      </a:r>
                      <a:endParaRPr sz="1050"/>
                    </a:p>
                  </a:txBody>
                  <a:tcPr marL="9525" marR="9525" marT="9525" marB="0" anchor="ctr"/>
                </a:tc>
              </a:tr>
              <a:tr h="169606">
                <a:tc>
                  <a:txBody>
                    <a:bodyPr wrap="square"/>
                    <a:lstStyle/>
                    <a:p>
                      <a:pPr algn="l"/>
                      <a:r>
                        <a:rPr sz="1050" b="0" i="0">
                          <a:solidFill>
                            <a:srgbClr val="000000"/>
                          </a:solidFill>
                          <a:latin typeface="Calibri"/>
                        </a:rPr>
                        <a:t>Figure 7: Europe Market Share by Barrier Level, %, 2026</a:t>
                      </a:r>
                      <a:endParaRPr sz="1050"/>
                    </a:p>
                  </a:txBody>
                  <a:tcPr marL="9525" marR="9525" marT="9525" marB="0" anchor="ctr"/>
                </a:tc>
              </a:tr>
              <a:tr h="169606">
                <a:tc>
                  <a:txBody>
                    <a:bodyPr wrap="square"/>
                    <a:lstStyle/>
                    <a:p>
                      <a:pPr algn="l"/>
                      <a:r>
                        <a:rPr sz="1050" b="0" i="0">
                          <a:solidFill>
                            <a:srgbClr val="000000"/>
                          </a:solidFill>
                          <a:latin typeface="Calibri"/>
                        </a:rPr>
                        <a:t>Figure 8: Europe Market Share by Application, %, 2026</a:t>
                      </a:r>
                      <a:endParaRPr sz="1050"/>
                    </a:p>
                  </a:txBody>
                  <a:tcPr marL="9525" marR="9525" marT="9525" marB="0" anchor="ctr"/>
                </a:tc>
              </a:tr>
              <a:tr h="169606">
                <a:tc>
                  <a:txBody>
                    <a:bodyPr wrap="square"/>
                    <a:lstStyle/>
                    <a:p>
                      <a:pPr algn="l"/>
                      <a:r>
                        <a:rPr sz="1050" b="0" i="0">
                          <a:solidFill>
                            <a:srgbClr val="000000"/>
                          </a:solidFill>
                          <a:latin typeface="Calibri"/>
                        </a:rPr>
                        <a:t>Figure 9: Europe Market Share by Barrier Level Vs Application, %, 2026</a:t>
                      </a:r>
                      <a:endParaRPr sz="1050"/>
                    </a:p>
                  </a:txBody>
                  <a:tcPr marL="9525" marR="9525" marT="9525" marB="0" anchor="ctr"/>
                </a:tc>
              </a:tr>
              <a:tr h="169606">
                <a:tc>
                  <a:txBody>
                    <a:bodyPr wrap="square"/>
                    <a:lstStyle/>
                    <a:p>
                      <a:pPr algn="l"/>
                      <a:r>
                        <a:rPr sz="1050" b="0" i="0">
                          <a:solidFill>
                            <a:srgbClr val="000000"/>
                          </a:solidFill>
                          <a:latin typeface="Calibri"/>
                        </a:rPr>
                        <a:t>Figure 10: Europe Market Incremental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 Europe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12: Europe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13: Europe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14: Europe Market Volume and YoY Growth, Thousand MT and %, 2021–2036</a:t>
                      </a:r>
                      <a:endParaRPr sz="1050"/>
                    </a:p>
                  </a:txBody>
                  <a:tcPr marL="9525" marR="9525" marT="9525" marB="0" anchor="ctr"/>
                </a:tc>
              </a:tr>
              <a:tr h="169606">
                <a:tc>
                  <a:txBody>
                    <a:bodyPr wrap="square"/>
                    <a:lstStyle/>
                    <a:p>
                      <a:pPr algn="l"/>
                      <a:r>
                        <a:rPr sz="1050" b="0" i="0">
                          <a:solidFill>
                            <a:srgbClr val="000000"/>
                          </a:solidFill>
                          <a:latin typeface="Calibri"/>
                        </a:rPr>
                        <a:t>Figure 15: Europe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16: Europe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Figure 17: Europe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18: Europe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19: Europe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20: Europe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21: Europe Market Size Evolution Index, 2025=100, 2021–2036</a:t>
                      </a:r>
                      <a:endParaRPr sz="1050"/>
                    </a:p>
                  </a:txBody>
                  <a:tcPr marL="9525" marR="9525" marT="9525" marB="0" anchor="ctr"/>
                </a:tc>
              </a:tr>
              <a:tr h="169606">
                <a:tc>
                  <a:txBody>
                    <a:bodyPr wrap="square"/>
                    <a:lstStyle/>
                    <a:p>
                      <a:pPr algn="l"/>
                      <a:r>
                        <a:rPr sz="1050" b="0" i="0">
                          <a:solidFill>
                            <a:srgbClr val="000000"/>
                          </a:solidFill>
                          <a:latin typeface="Calibri"/>
                        </a:rPr>
                        <a:t>Figure 22: Europe Market Cumulative Value Addition, US$ Mn, 2026–2036</a:t>
                      </a:r>
                      <a:endParaRPr sz="1050"/>
                    </a:p>
                  </a:txBody>
                  <a:tcPr marL="9525" marR="9525" marT="9525" marB="0" anchor="ctr"/>
                </a:tc>
              </a:tr>
              <a:tr h="169606">
                <a:tc>
                  <a:txBody>
                    <a:bodyPr wrap="square"/>
                    <a:lstStyle/>
                    <a:p>
                      <a:pPr algn="l"/>
                      <a:r>
                        <a:rPr sz="1050" b="0" i="0">
                          <a:solidFill>
                            <a:srgbClr val="000000"/>
                          </a:solidFill>
                          <a:latin typeface="Calibri"/>
                        </a:rPr>
                        <a:t>Figure 23: Europe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24: Europe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Figure 25: Europe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Figure 26: Europe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Figure 27: Europe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Figure 28: Europe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Figure 29: Europe Market Share by Product Type, %, 2026 and 2036</a:t>
                      </a:r>
                      <a:endParaRPr sz="1050"/>
                    </a:p>
                  </a:txBody>
                  <a:tcPr marL="9525" marR="9525" marT="9525" marB="0" anchor="ctr"/>
                </a:tc>
              </a:tr>
              <a:tr h="169606">
                <a:tc>
                  <a:txBody>
                    <a:bodyPr wrap="square"/>
                    <a:lstStyle/>
                    <a:p>
                      <a:pPr algn="l"/>
                      <a:r>
                        <a:rPr sz="1050" b="0" i="0">
                          <a:solidFill>
                            <a:srgbClr val="000000"/>
                          </a:solidFill>
                          <a:latin typeface="Calibri"/>
                        </a:rPr>
                        <a:t>Figure 30: Europe Market Share by Principal Material / Barrier Technology, %, 2026 and 2036</a:t>
                      </a:r>
                      <a:endParaRPr sz="1050"/>
                    </a:p>
                  </a:txBody>
                  <a:tcPr marL="9525" marR="9525" marT="9525" marB="0" anchor="ctr"/>
                </a:tc>
              </a:tr>
              <a:tr h="169606">
                <a:tc>
                  <a:txBody>
                    <a:bodyPr wrap="square"/>
                    <a:lstStyle/>
                    <a:p>
                      <a:pPr algn="l"/>
                      <a:r>
                        <a:rPr sz="1050" b="0" i="0">
                          <a:solidFill>
                            <a:srgbClr val="000000"/>
                          </a:solidFill>
                          <a:latin typeface="Calibri"/>
                        </a:rPr>
                        <a:t>Figure 31: Europe Market Share by Material Structure,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Figure 32: Europe Market Share by Barrier Level, %, 2026 and 2036</a:t>
                      </a:r>
                      <a:endParaRPr sz="1050"/>
                    </a:p>
                  </a:txBody>
                  <a:tcPr marL="9525" marR="9525" marT="9525" marB="0" anchor="ctr"/>
                </a:tc>
              </a:tr>
              <a:tr h="170045">
                <a:tc>
                  <a:txBody>
                    <a:bodyPr wrap="square"/>
                    <a:lstStyle/>
                    <a:p>
                      <a:pPr algn="l"/>
                      <a:r>
                        <a:rPr sz="1050" b="0" i="0">
                          <a:solidFill>
                            <a:srgbClr val="000000"/>
                          </a:solidFill>
                          <a:latin typeface="Calibri"/>
                        </a:rPr>
                        <a:t>Figure 33: Europe Market Share by Application, %, 2026 and 2036</a:t>
                      </a:r>
                      <a:endParaRPr sz="1050"/>
                    </a:p>
                  </a:txBody>
                  <a:tcPr marL="9525" marR="9525" marT="9525" marB="0" anchor="ctr"/>
                </a:tc>
              </a:tr>
              <a:tr h="170045">
                <a:tc>
                  <a:txBody>
                    <a:bodyPr wrap="square"/>
                    <a:lstStyle/>
                    <a:p>
                      <a:pPr algn="l"/>
                      <a:r>
                        <a:rPr sz="1050" b="0" i="0">
                          <a:solidFill>
                            <a:srgbClr val="000000"/>
                          </a:solidFill>
                          <a:latin typeface="Calibri"/>
                        </a:rPr>
                        <a:t>Figure 34: Europe Market Share by Barrier Level Vs Application, %, 2026 and 2036</a:t>
                      </a:r>
                      <a:endParaRPr sz="1050"/>
                    </a:p>
                  </a:txBody>
                  <a:tcPr marL="9525" marR="9525" marT="9525" marB="0" anchor="ctr"/>
                </a:tc>
              </a:tr>
              <a:tr h="170045">
                <a:tc>
                  <a:txBody>
                    <a:bodyPr wrap="square"/>
                    <a:lstStyle/>
                    <a:p>
                      <a:pPr algn="l"/>
                      <a:r>
                        <a:rPr sz="1050" b="0" i="0">
                          <a:solidFill>
                            <a:srgbClr val="000000"/>
                          </a:solidFill>
                          <a:latin typeface="Calibri"/>
                        </a:rPr>
                        <a:t>Figure 35: Europe Market Absolute $ Opportunity by Product Type, US$ Mn, 2026–2036</a:t>
                      </a:r>
                      <a:endParaRPr sz="1050"/>
                    </a:p>
                  </a:txBody>
                  <a:tcPr marL="9525" marR="9525" marT="9525" marB="0" anchor="ctr"/>
                </a:tc>
              </a:tr>
              <a:tr h="333289">
                <a:tc>
                  <a:txBody>
                    <a:bodyPr wrap="square"/>
                    <a:lstStyle/>
                    <a:p>
                      <a:pPr algn="l"/>
                      <a:r>
                        <a:rPr sz="1050" b="0" i="0">
                          <a:solidFill>
                            <a:srgbClr val="000000"/>
                          </a:solidFill>
                          <a:latin typeface="Calibri"/>
                        </a:rPr>
                        <a:t>Figure 36: Europe Market Absolute $ Opportunity by Principal Material / Barrier Technology, US$ Mn, 2026–2036</a:t>
                      </a:r>
                      <a:endParaRPr sz="1050"/>
                    </a:p>
                  </a:txBody>
                  <a:tcPr marL="9525" marR="9525" marT="9525" marB="0" anchor="ctr"/>
                </a:tc>
              </a:tr>
              <a:tr h="170045">
                <a:tc>
                  <a:txBody>
                    <a:bodyPr wrap="square"/>
                    <a:lstStyle/>
                    <a:p>
                      <a:pPr algn="l"/>
                      <a:r>
                        <a:rPr sz="1050" b="0" i="0">
                          <a:solidFill>
                            <a:srgbClr val="000000"/>
                          </a:solidFill>
                          <a:latin typeface="Calibri"/>
                        </a:rPr>
                        <a:t>Figure 37: Europe Market Absolute $ Opportunity by Material Structure, US$ Mn, 2026–2036</a:t>
                      </a:r>
                      <a:endParaRPr sz="1050"/>
                    </a:p>
                  </a:txBody>
                  <a:tcPr marL="9525" marR="9525" marT="9525" marB="0" anchor="ctr"/>
                </a:tc>
              </a:tr>
              <a:tr h="170045">
                <a:tc>
                  <a:txBody>
                    <a:bodyPr wrap="square"/>
                    <a:lstStyle/>
                    <a:p>
                      <a:pPr algn="l"/>
                      <a:r>
                        <a:rPr sz="1050" b="0" i="0">
                          <a:solidFill>
                            <a:srgbClr val="000000"/>
                          </a:solidFill>
                          <a:latin typeface="Calibri"/>
                        </a:rPr>
                        <a:t>Figure 38: Europe Market Absolute $ Opportunity by Barrier Level, US$ Mn, 2026–2036</a:t>
                      </a:r>
                      <a:endParaRPr sz="1050"/>
                    </a:p>
                  </a:txBody>
                  <a:tcPr marL="9525" marR="9525" marT="9525" marB="0" anchor="ctr"/>
                </a:tc>
              </a:tr>
              <a:tr h="170045">
                <a:tc>
                  <a:txBody>
                    <a:bodyPr wrap="square"/>
                    <a:lstStyle/>
                    <a:p>
                      <a:pPr algn="l"/>
                      <a:r>
                        <a:rPr sz="1050" b="0" i="0">
                          <a:solidFill>
                            <a:srgbClr val="000000"/>
                          </a:solidFill>
                          <a:latin typeface="Calibri"/>
                        </a:rPr>
                        <a:t>Figure 39: Europe Market Absolute $ Opportunity by Application, US$ Mn, 2026–2036</a:t>
                      </a:r>
                      <a:endParaRPr sz="1050"/>
                    </a:p>
                  </a:txBody>
                  <a:tcPr marL="9525" marR="9525" marT="9525" marB="0" anchor="ctr"/>
                </a:tc>
              </a:tr>
              <a:tr h="170045">
                <a:tc>
                  <a:txBody>
                    <a:bodyPr wrap="square"/>
                    <a:lstStyle/>
                    <a:p>
                      <a:pPr algn="l"/>
                      <a:r>
                        <a:rPr sz="1050" b="0" i="0">
                          <a:solidFill>
                            <a:srgbClr val="000000"/>
                          </a:solidFill>
                          <a:latin typeface="Calibri"/>
                        </a:rPr>
                        <a:t>Figure 40: Europe Market Absolute $ Opportunity by Barrier Level Vs Application, US$ Mn, 2026–2036</a:t>
                      </a:r>
                      <a:endParaRPr sz="1050"/>
                    </a:p>
                  </a:txBody>
                  <a:tcPr marL="9525" marR="9525" marT="9525" marB="0" anchor="ctr"/>
                </a:tc>
              </a:tr>
              <a:tr h="170045">
                <a:tc>
                  <a:txBody>
                    <a:bodyPr wrap="square"/>
                    <a:lstStyle/>
                    <a:p>
                      <a:pPr algn="l"/>
                      <a:r>
                        <a:rPr sz="1050" b="0" i="0">
                          <a:solidFill>
                            <a:srgbClr val="000000"/>
                          </a:solidFill>
                          <a:latin typeface="Calibri"/>
                        </a:rPr>
                        <a:t>Figure 41: Europe Market BPS Share Change by Product Type, 2026–2036</a:t>
                      </a:r>
                      <a:endParaRPr sz="1050"/>
                    </a:p>
                  </a:txBody>
                  <a:tcPr marL="9525" marR="9525" marT="9525" marB="0" anchor="ctr"/>
                </a:tc>
              </a:tr>
              <a:tr h="170045">
                <a:tc>
                  <a:txBody>
                    <a:bodyPr wrap="square"/>
                    <a:lstStyle/>
                    <a:p>
                      <a:pPr algn="l"/>
                      <a:r>
                        <a:rPr sz="1050" b="0" i="0">
                          <a:solidFill>
                            <a:srgbClr val="000000"/>
                          </a:solidFill>
                          <a:latin typeface="Calibri"/>
                        </a:rPr>
                        <a:t>Figure 42: Europe Market BPS Share Change by Principal Material / Barrier Technology, 2026–2036</a:t>
                      </a:r>
                      <a:endParaRPr sz="1050"/>
                    </a:p>
                  </a:txBody>
                  <a:tcPr marL="9525" marR="9525" marT="9525" marB="0" anchor="ctr"/>
                </a:tc>
              </a:tr>
              <a:tr h="170045">
                <a:tc>
                  <a:txBody>
                    <a:bodyPr wrap="square"/>
                    <a:lstStyle/>
                    <a:p>
                      <a:pPr algn="l"/>
                      <a:r>
                        <a:rPr sz="1050" b="0" i="0">
                          <a:solidFill>
                            <a:srgbClr val="000000"/>
                          </a:solidFill>
                          <a:latin typeface="Calibri"/>
                        </a:rPr>
                        <a:t>Figure 43: Europe Market BPS Share Change by Material Structure, 2026–2036</a:t>
                      </a:r>
                      <a:endParaRPr sz="1050"/>
                    </a:p>
                  </a:txBody>
                  <a:tcPr marL="9525" marR="9525" marT="9525" marB="0" anchor="ctr"/>
                </a:tc>
              </a:tr>
              <a:tr h="170045">
                <a:tc>
                  <a:txBody>
                    <a:bodyPr wrap="square"/>
                    <a:lstStyle/>
                    <a:p>
                      <a:pPr algn="l"/>
                      <a:r>
                        <a:rPr sz="1050" b="0" i="0">
                          <a:solidFill>
                            <a:srgbClr val="000000"/>
                          </a:solidFill>
                          <a:latin typeface="Calibri"/>
                        </a:rPr>
                        <a:t>Figure 44: Europe Market BPS Share Change by Barrier Level, 2026–2036</a:t>
                      </a:r>
                      <a:endParaRPr sz="1050"/>
                    </a:p>
                  </a:txBody>
                  <a:tcPr marL="9525" marR="9525" marT="9525" marB="0" anchor="ctr"/>
                </a:tc>
              </a:tr>
              <a:tr h="170045">
                <a:tc>
                  <a:txBody>
                    <a:bodyPr wrap="square"/>
                    <a:lstStyle/>
                    <a:p>
                      <a:pPr algn="l"/>
                      <a:r>
                        <a:rPr sz="1050" b="0" i="0">
                          <a:solidFill>
                            <a:srgbClr val="000000"/>
                          </a:solidFill>
                          <a:latin typeface="Calibri"/>
                        </a:rPr>
                        <a:t>Figure 45: Europe Market BPS Share Change by Application, 2026–2036</a:t>
                      </a:r>
                      <a:endParaRPr sz="1050"/>
                    </a:p>
                  </a:txBody>
                  <a:tcPr marL="9525" marR="9525" marT="9525" marB="0" anchor="ctr"/>
                </a:tc>
              </a:tr>
              <a:tr h="170045">
                <a:tc>
                  <a:txBody>
                    <a:bodyPr wrap="square"/>
                    <a:lstStyle/>
                    <a:p>
                      <a:pPr algn="l"/>
                      <a:r>
                        <a:rPr sz="1050" b="0" i="0">
                          <a:solidFill>
                            <a:srgbClr val="000000"/>
                          </a:solidFill>
                          <a:latin typeface="Calibri"/>
                        </a:rPr>
                        <a:t>Figure 46: Europe Market BPS Share Change by Barrier Level Vs Application, 2026–2036</a:t>
                      </a:r>
                      <a:endParaRPr sz="1050"/>
                    </a:p>
                  </a:txBody>
                  <a:tcPr marL="9525" marR="9525" marT="9525" marB="0" anchor="ctr"/>
                </a:tc>
              </a:tr>
              <a:tr h="170045">
                <a:tc>
                  <a:txBody>
                    <a:bodyPr wrap="square"/>
                    <a:lstStyle/>
                    <a:p>
                      <a:pPr algn="l"/>
                      <a:r>
                        <a:rPr sz="1050" b="0" i="0">
                          <a:solidFill>
                            <a:srgbClr val="000000"/>
                          </a:solidFill>
                          <a:latin typeface="Calibri"/>
                        </a:rPr>
                        <a:t>Figure 47: Europe Market YoY Growth by Product Type, %, 2026–2036</a:t>
                      </a:r>
                      <a:endParaRPr sz="1050"/>
                    </a:p>
                  </a:txBody>
                  <a:tcPr marL="9525" marR="9525" marT="9525" marB="0" anchor="ctr"/>
                </a:tc>
              </a:tr>
              <a:tr h="170045">
                <a:tc>
                  <a:txBody>
                    <a:bodyPr wrap="square"/>
                    <a:lstStyle/>
                    <a:p>
                      <a:pPr algn="l"/>
                      <a:r>
                        <a:rPr sz="1050" b="0" i="0">
                          <a:solidFill>
                            <a:srgbClr val="000000"/>
                          </a:solidFill>
                          <a:latin typeface="Calibri"/>
                        </a:rPr>
                        <a:t>Figure 48: Europe Market YoY Growth by Principal Material / Barrier Technology, %, 2026–2036</a:t>
                      </a:r>
                      <a:endParaRPr sz="1050"/>
                    </a:p>
                  </a:txBody>
                  <a:tcPr marL="9525" marR="9525" marT="9525" marB="0" anchor="ctr"/>
                </a:tc>
              </a:tr>
              <a:tr h="170045">
                <a:tc>
                  <a:txBody>
                    <a:bodyPr wrap="square"/>
                    <a:lstStyle/>
                    <a:p>
                      <a:pPr algn="l"/>
                      <a:r>
                        <a:rPr sz="1050" b="0" i="0">
                          <a:solidFill>
                            <a:srgbClr val="000000"/>
                          </a:solidFill>
                          <a:latin typeface="Calibri"/>
                        </a:rPr>
                        <a:t>Figure 49: Europe Market YoY Growth by Material Structure, %, 2026–2036</a:t>
                      </a:r>
                      <a:endParaRPr sz="1050"/>
                    </a:p>
                  </a:txBody>
                  <a:tcPr marL="9525" marR="9525" marT="9525" marB="0" anchor="ctr"/>
                </a:tc>
              </a:tr>
              <a:tr h="170045">
                <a:tc>
                  <a:txBody>
                    <a:bodyPr wrap="square"/>
                    <a:lstStyle/>
                    <a:p>
                      <a:pPr algn="l"/>
                      <a:r>
                        <a:rPr sz="1050" b="0" i="0">
                          <a:solidFill>
                            <a:srgbClr val="000000"/>
                          </a:solidFill>
                          <a:latin typeface="Calibri"/>
                        </a:rPr>
                        <a:t>Figure 50: Europe Market YoY Growth by Barrier Level, %, 2026–2036</a:t>
                      </a:r>
                      <a:endParaRPr sz="1050"/>
                    </a:p>
                  </a:txBody>
                  <a:tcPr marL="9525" marR="9525" marT="9525" marB="0" anchor="ctr"/>
                </a:tc>
              </a:tr>
              <a:tr h="170045">
                <a:tc>
                  <a:txBody>
                    <a:bodyPr wrap="square"/>
                    <a:lstStyle/>
                    <a:p>
                      <a:pPr algn="l"/>
                      <a:r>
                        <a:rPr sz="1050" b="0" i="0">
                          <a:solidFill>
                            <a:srgbClr val="000000"/>
                          </a:solidFill>
                          <a:latin typeface="Calibri"/>
                        </a:rPr>
                        <a:t>Figure 51: Europe Market YoY Growth by Application, %, 2026–2036</a:t>
                      </a:r>
                      <a:endParaRPr sz="1050"/>
                    </a:p>
                  </a:txBody>
                  <a:tcPr marL="9525" marR="9525" marT="9525" marB="0" anchor="ctr"/>
                </a:tc>
              </a:tr>
              <a:tr h="170045">
                <a:tc>
                  <a:txBody>
                    <a:bodyPr wrap="square"/>
                    <a:lstStyle/>
                    <a:p>
                      <a:pPr algn="l"/>
                      <a:r>
                        <a:rPr sz="1050" b="0" i="0">
                          <a:solidFill>
                            <a:srgbClr val="000000"/>
                          </a:solidFill>
                          <a:latin typeface="Calibri"/>
                        </a:rPr>
                        <a:t>Figure 52: Europe Market YoY Growth by Barrier Level Vs Application, %, 2026–2036</a:t>
                      </a:r>
                      <a:endParaRPr sz="1050"/>
                    </a:p>
                  </a:txBody>
                  <a:tcPr marL="9525" marR="9525" marT="9525" marB="0" anchor="ctr"/>
                </a:tc>
              </a:tr>
              <a:tr h="170045">
                <a:tc>
                  <a:txBody>
                    <a:bodyPr wrap="square"/>
                    <a:lstStyle/>
                    <a:p>
                      <a:pPr algn="l"/>
                      <a:r>
                        <a:rPr sz="1050" b="0" i="0">
                          <a:solidFill>
                            <a:srgbClr val="000000"/>
                          </a:solidFill>
                          <a:latin typeface="Calibri"/>
                        </a:rPr>
                        <a:t>Figure 53: Europe Market Attractiveness by Product Type, 2026–2036</a:t>
                      </a:r>
                      <a:endParaRPr sz="1050"/>
                    </a:p>
                  </a:txBody>
                  <a:tcPr marL="9525" marR="9525" marT="9525" marB="0" anchor="ctr"/>
                </a:tc>
              </a:tr>
              <a:tr h="170045">
                <a:tc>
                  <a:txBody>
                    <a:bodyPr wrap="square"/>
                    <a:lstStyle/>
                    <a:p>
                      <a:pPr algn="l"/>
                      <a:r>
                        <a:rPr sz="1050" b="0" i="0">
                          <a:solidFill>
                            <a:srgbClr val="000000"/>
                          </a:solidFill>
                          <a:latin typeface="Calibri"/>
                        </a:rPr>
                        <a:t>Figure 54: Europe Market Attractiveness by Principal Material / Barrier Technology, 2026–2036</a:t>
                      </a:r>
                      <a:endParaRPr sz="1050"/>
                    </a:p>
                  </a:txBody>
                  <a:tcPr marL="9525" marR="9525" marT="9525" marB="0" anchor="ctr"/>
                </a:tc>
              </a:tr>
              <a:tr h="170045">
                <a:tc>
                  <a:txBody>
                    <a:bodyPr wrap="square"/>
                    <a:lstStyle/>
                    <a:p>
                      <a:pPr algn="l"/>
                      <a:r>
                        <a:rPr sz="1050" b="0" i="0">
                          <a:solidFill>
                            <a:srgbClr val="000000"/>
                          </a:solidFill>
                          <a:latin typeface="Calibri"/>
                        </a:rPr>
                        <a:t>Figure 55: Europe Market Attractiveness by Material Structure, 2026–2036</a:t>
                      </a:r>
                      <a:endParaRPr sz="1050"/>
                    </a:p>
                  </a:txBody>
                  <a:tcPr marL="9525" marR="9525" marT="9525" marB="0" anchor="ctr"/>
                </a:tc>
              </a:tr>
              <a:tr h="170045">
                <a:tc>
                  <a:txBody>
                    <a:bodyPr wrap="square"/>
                    <a:lstStyle/>
                    <a:p>
                      <a:pPr algn="l"/>
                      <a:r>
                        <a:rPr sz="1050" b="0" i="0">
                          <a:solidFill>
                            <a:srgbClr val="000000"/>
                          </a:solidFill>
                          <a:latin typeface="Calibri"/>
                        </a:rPr>
                        <a:t>Figure 56: Europe Market Attractiveness by Barrier Level, 2026–2036</a:t>
                      </a:r>
                      <a:endParaRPr sz="1050"/>
                    </a:p>
                  </a:txBody>
                  <a:tcPr marL="9525" marR="9525" marT="9525" marB="0" anchor="ctr"/>
                </a:tc>
              </a:tr>
              <a:tr h="170045">
                <a:tc>
                  <a:txBody>
                    <a:bodyPr wrap="square"/>
                    <a:lstStyle/>
                    <a:p>
                      <a:pPr algn="l"/>
                      <a:r>
                        <a:rPr sz="1050" b="0" i="0">
                          <a:solidFill>
                            <a:srgbClr val="000000"/>
                          </a:solidFill>
                          <a:latin typeface="Calibri"/>
                        </a:rPr>
                        <a:t>Figure 57: Europe Market Attractiveness by Application, 2026–2036</a:t>
                      </a:r>
                      <a:endParaRPr sz="1050"/>
                    </a:p>
                  </a:txBody>
                  <a:tcPr marL="9525" marR="9525" marT="9525" marB="0" anchor="ctr"/>
                </a:tc>
              </a:tr>
              <a:tr h="170045">
                <a:tc>
                  <a:txBody>
                    <a:bodyPr wrap="square"/>
                    <a:lstStyle/>
                    <a:p>
                      <a:pPr algn="l"/>
                      <a:r>
                        <a:rPr sz="1050" b="0" i="0">
                          <a:solidFill>
                            <a:srgbClr val="000000"/>
                          </a:solidFill>
                          <a:latin typeface="Calibri"/>
                        </a:rPr>
                        <a:t>Figure 58: Europe Market Attractiveness by Barrier Level Vs Application, 2026–2036</a:t>
                      </a:r>
                      <a:endParaRPr sz="1050"/>
                    </a:p>
                  </a:txBody>
                  <a:tcPr marL="9525" marR="9525" marT="9525" marB="0" anchor="ctr"/>
                </a:tc>
              </a:tr>
              <a:tr h="170045">
                <a:tc>
                  <a:txBody>
                    <a:bodyPr wrap="square"/>
                    <a:lstStyle/>
                    <a:p>
                      <a:pPr algn="l"/>
                      <a:r>
                        <a:rPr sz="1050" b="0" i="0">
                          <a:solidFill>
                            <a:srgbClr val="000000"/>
                          </a:solidFill>
                          <a:latin typeface="Calibri"/>
                        </a:rPr>
                        <a:t>Figure 59: Europe Market Volume by Product Type, Thousand MT, 2021–2036</a:t>
                      </a:r>
                      <a:endParaRPr sz="1050"/>
                    </a:p>
                  </a:txBody>
                  <a:tcPr marL="9525" marR="9525" marT="9525" marB="0" anchor="ctr"/>
                </a:tc>
              </a:tr>
              <a:tr h="333289">
                <a:tc>
                  <a:txBody>
                    <a:bodyPr wrap="square"/>
                    <a:lstStyle/>
                    <a:p>
                      <a:pPr algn="l"/>
                      <a:r>
                        <a:rPr sz="1050" b="0" i="0">
                          <a:solidFill>
                            <a:srgbClr val="000000"/>
                          </a:solidFill>
                          <a:latin typeface="Calibri"/>
                        </a:rPr>
                        <a:t>Figure 60: Europe Market Volume by Principal Material / Barrier Technology, Thousand 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97"/>
        </p:xfrm>
        <a:graphic>
          <a:graphicData uri="http://schemas.openxmlformats.org/drawingml/2006/table">
            <a:tbl>
              <a:tblPr>
                <a:tableStyleId>{3B4B98B0-60AC-42C2-AFA5-B58CD77FA1E5}</a:tableStyleId>
              </a:tblPr>
              <a:tblGrid>
                <a:gridCol w="5876925"/>
              </a:tblGrid>
              <a:tr h="172048">
                <a:tc>
                  <a:txBody>
                    <a:bodyPr wrap="square"/>
                    <a:lstStyle/>
                    <a:p>
                      <a:pPr algn="l"/>
                      <a:r>
                        <a:rPr sz="1050" b="0" i="0">
                          <a:solidFill>
                            <a:srgbClr val="000000"/>
                          </a:solidFill>
                          <a:latin typeface="Calibri"/>
                        </a:rPr>
                        <a:t>Figure 61: Europe Market Volume by Material Structure,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62: Europe Market Volume by Barrier Level,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63: Europe Market Volume by Application,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64: Europe Market Volume by Barrier Level Vs Application, Thousand MT, 2021–2036</a:t>
                      </a:r>
                      <a:endParaRPr sz="1050"/>
                    </a:p>
                  </a:txBody>
                  <a:tcPr marL="9525" marR="9525" marT="9525" marB="0" anchor="ctr"/>
                </a:tc>
              </a:tr>
              <a:tr h="172048">
                <a:tc>
                  <a:txBody>
                    <a:bodyPr wrap="square"/>
                    <a:lstStyle/>
                    <a:p>
                      <a:pPr algn="l"/>
                      <a:r>
                        <a:rPr sz="1050" b="0" i="0">
                          <a:solidFill>
                            <a:srgbClr val="000000"/>
                          </a:solidFill>
                          <a:latin typeface="Calibri"/>
                        </a:rPr>
                        <a:t>Figure 65: Europe Market Average Selling Price by Product Type, US$/MT, 2021–2036</a:t>
                      </a:r>
                      <a:endParaRPr sz="1050"/>
                    </a:p>
                  </a:txBody>
                  <a:tcPr marL="9525" marR="9525" marT="9525" marB="0" anchor="ctr"/>
                </a:tc>
              </a:tr>
              <a:tr h="337215">
                <a:tc>
                  <a:txBody>
                    <a:bodyPr wrap="square"/>
                    <a:lstStyle/>
                    <a:p>
                      <a:pPr algn="l"/>
                      <a:r>
                        <a:rPr sz="1050" b="0" i="0">
                          <a:solidFill>
                            <a:srgbClr val="000000"/>
                          </a:solidFill>
                          <a:latin typeface="Calibri"/>
                        </a:rPr>
                        <a:t>Figure 66: Europe Market Average Selling Price by Principal Material / Barrier Technology, US$/MT, 2021–2036</a:t>
                      </a:r>
                      <a:endParaRPr sz="1050"/>
                    </a:p>
                  </a:txBody>
                  <a:tcPr marL="9525" marR="9525" marT="9525" marB="0" anchor="ctr"/>
                </a:tc>
              </a:tr>
              <a:tr h="172048">
                <a:tc>
                  <a:txBody>
                    <a:bodyPr wrap="square"/>
                    <a:lstStyle/>
                    <a:p>
                      <a:pPr algn="l"/>
                      <a:r>
                        <a:rPr sz="1050" b="0" i="0">
                          <a:solidFill>
                            <a:srgbClr val="000000"/>
                          </a:solidFill>
                          <a:latin typeface="Calibri"/>
                        </a:rPr>
                        <a:t>Figure 67: Europe Market Average Selling Price by Material Structure, US$/MT, 2021–2036</a:t>
                      </a:r>
                      <a:endParaRPr sz="1050"/>
                    </a:p>
                  </a:txBody>
                  <a:tcPr marL="9525" marR="9525" marT="9525" marB="0" anchor="ctr"/>
                </a:tc>
              </a:tr>
              <a:tr h="172048">
                <a:tc>
                  <a:txBody>
                    <a:bodyPr wrap="square"/>
                    <a:lstStyle/>
                    <a:p>
                      <a:pPr algn="l"/>
                      <a:r>
                        <a:rPr sz="1050" b="0" i="0">
                          <a:solidFill>
                            <a:srgbClr val="000000"/>
                          </a:solidFill>
                          <a:latin typeface="Calibri"/>
                        </a:rPr>
                        <a:t>Figure 68: Europe Market Average Selling Price by Barrier Level, US$/MT, 2021–2036</a:t>
                      </a:r>
                      <a:endParaRPr sz="1050"/>
                    </a:p>
                  </a:txBody>
                  <a:tcPr marL="9525" marR="9525" marT="9525" marB="0" anchor="ctr"/>
                </a:tc>
              </a:tr>
              <a:tr h="172048">
                <a:tc>
                  <a:txBody>
                    <a:bodyPr wrap="square"/>
                    <a:lstStyle/>
                    <a:p>
                      <a:pPr algn="l"/>
                      <a:r>
                        <a:rPr sz="1050" b="0" i="0">
                          <a:solidFill>
                            <a:srgbClr val="000000"/>
                          </a:solidFill>
                          <a:latin typeface="Calibri"/>
                        </a:rPr>
                        <a:t>Figure 69: Europe Market Average Selling Price by Application, US$/MT, 2021–2036</a:t>
                      </a:r>
                      <a:endParaRPr sz="1050"/>
                    </a:p>
                  </a:txBody>
                  <a:tcPr marL="9525" marR="9525" marT="9525" marB="0" anchor="ctr"/>
                </a:tc>
              </a:tr>
              <a:tr h="172048">
                <a:tc>
                  <a:txBody>
                    <a:bodyPr wrap="square"/>
                    <a:lstStyle/>
                    <a:p>
                      <a:pPr algn="l"/>
                      <a:r>
                        <a:rPr sz="1050" b="0" i="0">
                          <a:solidFill>
                            <a:srgbClr val="000000"/>
                          </a:solidFill>
                          <a:latin typeface="Calibri"/>
                        </a:rPr>
                        <a:t>Figure 70: Europe Market Average Selling Price by Barrier Level Vs Application, US$/MT, 2021–2036</a:t>
                      </a:r>
                      <a:endParaRPr sz="1050"/>
                    </a:p>
                  </a:txBody>
                  <a:tcPr marL="9525" marR="9525" marT="9525" marB="0" anchor="ctr"/>
                </a:tc>
              </a:tr>
              <a:tr h="337215">
                <a:tc>
                  <a:txBody>
                    <a:bodyPr wrap="square"/>
                    <a:lstStyle/>
                    <a:p>
                      <a:pPr algn="l"/>
                      <a:r>
                        <a:rPr sz="1050" b="0" i="0">
                          <a:solidFill>
                            <a:srgbClr val="000000"/>
                          </a:solidFill>
                          <a:latin typeface="Calibri"/>
                        </a:rPr>
                        <a:t>Figure 71: Europe Market Value and YoY Growth, Rollstock Films (Product Type),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72: Europe Market Value and YoY Growth, PE-Based (Principal Material / Barrier Technology),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73: Europe Market Value and YoY Growth, Monolayer Films (Material Structure),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74: Europe Market Value and YoY Growth, Low-Barrier Films (Barrier Level),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75: Europe Market Value and YoY Growth, Food Packaging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76: Europe Market Value and YoY Growth, Low-Barrier Films (Barrier Level Vs Application),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77: Europe Market Value and YoY Growth, Barrier Casings (Product Type),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78: Europe Market Value and YoY Growth, PP-Based (Principal Material / Barrier Technology), US$ Mn and %, 2021–2036</a:t>
                      </a:r>
                      <a:endParaRPr sz="1050"/>
                    </a:p>
                  </a:txBody>
                  <a:tcPr marL="9525" marR="9525" marT="9525" marB="0" anchor="ctr"/>
                </a:tc>
              </a:tr>
              <a:tr h="337215">
                <a:tc>
                  <a:txBody>
                    <a:bodyPr wrap="square"/>
                    <a:lstStyle/>
                    <a:p>
                      <a:pPr algn="l"/>
                      <a:r>
                        <a:rPr sz="1050" b="0" i="0">
                          <a:solidFill>
                            <a:srgbClr val="000000"/>
                          </a:solidFill>
                          <a:latin typeface="Calibri"/>
                        </a:rPr>
                        <a:t>Figure 79: Europe Market Value and YoY Growth, Coextruded Multilayer Films (Material Structure), US$ Mn and %, 2021–2036</a:t>
                      </a:r>
                      <a:endParaRPr sz="1050"/>
                    </a:p>
                  </a:txBody>
                  <a:tcPr marL="9525" marR="9525" marT="9525" marB="0" anchor="ctr"/>
                </a:tc>
              </a:tr>
              <a:tr h="337215">
                <a:tc>
                  <a:txBody>
                    <a:bodyPr wrap="square"/>
                    <a:lstStyle/>
                    <a:p>
                      <a:pPr algn="l"/>
                      <a:r>
                        <a:rPr sz="1050" b="0" i="0">
                          <a:solidFill>
                            <a:srgbClr val="000000"/>
                          </a:solidFill>
                          <a:latin typeface="Calibri"/>
                        </a:rPr>
                        <a:t>Figure 80: Europe Market Value and YoY Growth, Medium-Barrier Films (Barrier Level),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3"/>
        </p:xfrm>
        <a:graphic>
          <a:graphicData uri="http://schemas.openxmlformats.org/drawingml/2006/table">
            <a:tbl>
              <a:tblPr>
                <a:tableStyleId>{3B4B98B0-60AC-42C2-AFA5-B58CD77FA1E5}</a:tableStyleId>
              </a:tblPr>
              <a:tblGrid>
                <a:gridCol w="5876925"/>
              </a:tblGrid>
              <a:tr h="334587">
                <a:tc>
                  <a:txBody>
                    <a:bodyPr wrap="square"/>
                    <a:lstStyle/>
                    <a:p>
                      <a:pPr algn="l"/>
                      <a:r>
                        <a:rPr sz="1050" b="0" i="0">
                          <a:solidFill>
                            <a:srgbClr val="000000"/>
                          </a:solidFill>
                          <a:latin typeface="Calibri"/>
                        </a:rPr>
                        <a:t>Figure 81: Europe Market Value and YoY Growth, Non-Food Packaging (Application), US$ Mn and %, 2021–2036</a:t>
                      </a:r>
                      <a:endParaRPr sz="1050"/>
                    </a:p>
                  </a:txBody>
                  <a:tcPr marL="9525" marR="9525" marT="9525" marB="0" anchor="ctr"/>
                </a:tc>
              </a:tr>
              <a:tr h="170708">
                <a:tc>
                  <a:txBody>
                    <a:bodyPr wrap="square"/>
                    <a:lstStyle/>
                    <a:p>
                      <a:pPr algn="l"/>
                      <a:r>
                        <a:rPr sz="1050" b="0" i="0">
                          <a:solidFill>
                            <a:srgbClr val="000000"/>
                          </a:solidFill>
                          <a:latin typeface="Calibri"/>
                        </a:rPr>
                        <a:t>Figure 82: Product Type × Principal Material / Barrier Technology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83: Product Type × Material Structure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84: Product Type × Barrier Level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85: Product Type × Application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86: Product Type × Barrier Level Vs Application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87: Principal Material / Barrier Technology × Material Structure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88: Principal Material / Barrier Technology × Barrier Level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89: Principal Material / Barrier Technology × Application Opportunity Matrix, 2026–2036</a:t>
                      </a:r>
                      <a:endParaRPr sz="1050"/>
                    </a:p>
                  </a:txBody>
                  <a:tcPr marL="9525" marR="9525" marT="9525" marB="0" anchor="ctr"/>
                </a:tc>
              </a:tr>
              <a:tr h="334587">
                <a:tc>
                  <a:txBody>
                    <a:bodyPr wrap="square"/>
                    <a:lstStyle/>
                    <a:p>
                      <a:pPr algn="l"/>
                      <a:r>
                        <a:rPr sz="1050" b="0" i="0">
                          <a:solidFill>
                            <a:srgbClr val="000000"/>
                          </a:solidFill>
                          <a:latin typeface="Calibri"/>
                        </a:rPr>
                        <a:t>Figure 90: Principal Material / Barrier Technology × Barrier Level Vs Application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91: Material Structure × Barrier Level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92: Material Structure × Application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93: Material Structure × Barrier Level Vs Application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94: Barrier Level × Application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95: Barrier Level × Barrier Level Vs Application Opportunity Matrix, 2026–2036</a:t>
                      </a:r>
                      <a:endParaRPr sz="1050"/>
                    </a:p>
                  </a:txBody>
                  <a:tcPr marL="9525" marR="9525" marT="9525" marB="0" anchor="ctr"/>
                </a:tc>
              </a:tr>
              <a:tr h="170708">
                <a:tc>
                  <a:txBody>
                    <a:bodyPr wrap="square"/>
                    <a:lstStyle/>
                    <a:p>
                      <a:pPr algn="l"/>
                      <a:r>
                        <a:rPr sz="1050" b="0" i="0">
                          <a:solidFill>
                            <a:srgbClr val="000000"/>
                          </a:solidFill>
                          <a:latin typeface="Calibri"/>
                        </a:rPr>
                        <a:t>Figure 96: Application × Barrier Level Vs Application Opportunity Matrix, 2026–2036</a:t>
                      </a:r>
                      <a:endParaRPr sz="1050"/>
                    </a:p>
                  </a:txBody>
                  <a:tcPr marL="9525" marR="9525" marT="9525" marB="0" anchor="ctr"/>
                </a:tc>
              </a:tr>
              <a:tr h="334587">
                <a:tc>
                  <a:txBody>
                    <a:bodyPr wrap="square"/>
                    <a:lstStyle/>
                    <a:p>
                      <a:pPr algn="l"/>
                      <a:r>
                        <a:rPr sz="1050" b="0" i="0">
                          <a:solidFill>
                            <a:srgbClr val="000000"/>
                          </a:solidFill>
                          <a:latin typeface="Calibri"/>
                        </a:rPr>
                        <a:t>Figure 97: Europe Market Value by Product Type and Principal Material / Barrier Technology, US$ Mn, 2036</a:t>
                      </a:r>
                      <a:endParaRPr sz="1050"/>
                    </a:p>
                  </a:txBody>
                  <a:tcPr marL="9525" marR="9525" marT="9525" marB="0" anchor="ctr"/>
                </a:tc>
              </a:tr>
              <a:tr h="170708">
                <a:tc>
                  <a:txBody>
                    <a:bodyPr wrap="square"/>
                    <a:lstStyle/>
                    <a:p>
                      <a:pPr algn="l"/>
                      <a:r>
                        <a:rPr sz="1050" b="0" i="0">
                          <a:solidFill>
                            <a:srgbClr val="000000"/>
                          </a:solidFill>
                          <a:latin typeface="Calibri"/>
                        </a:rPr>
                        <a:t>Figure 98: Europe Market Value by Product Type and Material Structure, US$ Mn, 2036</a:t>
                      </a:r>
                      <a:endParaRPr sz="1050"/>
                    </a:p>
                  </a:txBody>
                  <a:tcPr marL="9525" marR="9525" marT="9525" marB="0" anchor="ctr"/>
                </a:tc>
              </a:tr>
              <a:tr h="170708">
                <a:tc>
                  <a:txBody>
                    <a:bodyPr wrap="square"/>
                    <a:lstStyle/>
                    <a:p>
                      <a:pPr algn="l"/>
                      <a:r>
                        <a:rPr sz="1050" b="0" i="0">
                          <a:solidFill>
                            <a:srgbClr val="000000"/>
                          </a:solidFill>
                          <a:latin typeface="Calibri"/>
                        </a:rPr>
                        <a:t>Figure 99: Europe Market Value by Product Type and Barrier Level, US$ Mn, 2036</a:t>
                      </a:r>
                      <a:endParaRPr sz="1050"/>
                    </a:p>
                  </a:txBody>
                  <a:tcPr marL="9525" marR="9525" marT="9525" marB="0" anchor="ctr"/>
                </a:tc>
              </a:tr>
              <a:tr h="170708">
                <a:tc>
                  <a:txBody>
                    <a:bodyPr wrap="square"/>
                    <a:lstStyle/>
                    <a:p>
                      <a:pPr algn="l"/>
                      <a:r>
                        <a:rPr sz="1050" b="0" i="0">
                          <a:solidFill>
                            <a:srgbClr val="000000"/>
                          </a:solidFill>
                          <a:latin typeface="Calibri"/>
                        </a:rPr>
                        <a:t>Figure 100: Europe Market Value by Product Type and Application, US$ Mn, 2036</a:t>
                      </a:r>
                      <a:endParaRPr sz="1050"/>
                    </a:p>
                  </a:txBody>
                  <a:tcPr marL="9525" marR="9525" marT="9525" marB="0" anchor="ctr"/>
                </a:tc>
              </a:tr>
              <a:tr h="170708">
                <a:tc>
                  <a:txBody>
                    <a:bodyPr wrap="square"/>
                    <a:lstStyle/>
                    <a:p>
                      <a:pPr algn="l"/>
                      <a:r>
                        <a:rPr sz="1050" b="0" i="0">
                          <a:solidFill>
                            <a:srgbClr val="000000"/>
                          </a:solidFill>
                          <a:latin typeface="Calibri"/>
                        </a:rPr>
                        <a:t>Figure 101: Europe Market Value by Product Type and Barrier Level Vs Application, US$ Mn, 2036</a:t>
                      </a:r>
                      <a:endParaRPr sz="1050"/>
                    </a:p>
                  </a:txBody>
                  <a:tcPr marL="9525" marR="9525" marT="9525" marB="0" anchor="ctr"/>
                </a:tc>
              </a:tr>
              <a:tr h="334587">
                <a:tc>
                  <a:txBody>
                    <a:bodyPr wrap="square"/>
                    <a:lstStyle/>
                    <a:p>
                      <a:pPr algn="l"/>
                      <a:r>
                        <a:rPr sz="1050" b="0" i="0">
                          <a:solidFill>
                            <a:srgbClr val="000000"/>
                          </a:solidFill>
                          <a:latin typeface="Calibri"/>
                        </a:rPr>
                        <a:t>Figure 102: Europe Market Value by Principal Material / Barrier Technology and Material Structure, US$ Mn, 2036</a:t>
                      </a:r>
                      <a:endParaRPr sz="1050"/>
                    </a:p>
                  </a:txBody>
                  <a:tcPr marL="9525" marR="9525" marT="9525" marB="0" anchor="ctr"/>
                </a:tc>
              </a:tr>
              <a:tr h="334587">
                <a:tc>
                  <a:txBody>
                    <a:bodyPr wrap="square"/>
                    <a:lstStyle/>
                    <a:p>
                      <a:pPr algn="l"/>
                      <a:r>
                        <a:rPr sz="1050" b="0" i="0">
                          <a:solidFill>
                            <a:srgbClr val="000000"/>
                          </a:solidFill>
                          <a:latin typeface="Calibri"/>
                        </a:rPr>
                        <a:t>Figure 103: Europe Market Value by Principal Material / Barrier Technology and Barrier Level, US$ Mn, 2036</a:t>
                      </a:r>
                      <a:endParaRPr sz="1050"/>
                    </a:p>
                  </a:txBody>
                  <a:tcPr marL="9525" marR="9525" marT="9525" marB="0" anchor="ctr"/>
                </a:tc>
              </a:tr>
              <a:tr h="170708">
                <a:tc>
                  <a:txBody>
                    <a:bodyPr wrap="square"/>
                    <a:lstStyle/>
                    <a:p>
                      <a:pPr algn="l"/>
                      <a:r>
                        <a:rPr sz="1050" b="0" i="0">
                          <a:solidFill>
                            <a:srgbClr val="000000"/>
                          </a:solidFill>
                          <a:latin typeface="Calibri"/>
                        </a:rPr>
                        <a:t>Figure 104: Germany Market Value and YoY Growth, US$ Mn and %, 2021–2036</a:t>
                      </a:r>
                      <a:endParaRPr sz="1050"/>
                    </a:p>
                  </a:txBody>
                  <a:tcPr marL="9525" marR="9525" marT="9525" marB="0" anchor="ctr"/>
                </a:tc>
              </a:tr>
              <a:tr h="170708">
                <a:tc>
                  <a:txBody>
                    <a:bodyPr wrap="square"/>
                    <a:lstStyle/>
                    <a:p>
                      <a:pPr algn="l"/>
                      <a:r>
                        <a:rPr sz="1050" b="0" i="0">
                          <a:solidFill>
                            <a:srgbClr val="000000"/>
                          </a:solidFill>
                          <a:latin typeface="Calibri"/>
                        </a:rPr>
                        <a:t>Figure 105: Germany Market Value by Product Type, US$ Mn, 2026 and 2036</a:t>
                      </a:r>
                      <a:endParaRPr sz="1050"/>
                    </a:p>
                  </a:txBody>
                  <a:tcPr marL="9525" marR="9525" marT="9525" marB="0" anchor="ctr"/>
                </a:tc>
              </a:tr>
              <a:tr h="170708">
                <a:tc>
                  <a:txBody>
                    <a:bodyPr wrap="square"/>
                    <a:lstStyle/>
                    <a:p>
                      <a:pPr algn="l"/>
                      <a:r>
                        <a:rPr sz="1050" b="0" i="0">
                          <a:solidFill>
                            <a:srgbClr val="000000"/>
                          </a:solidFill>
                          <a:latin typeface="Calibri"/>
                        </a:rPr>
                        <a:t>Figure 106: Germany Market Value by Application, US$ Mn,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107: Germany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108: Germany Market Value by Principal Material / Barrier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109: Germany Market Value by Material Structure,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110: Germany Market Value by Barrier Level,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111: Germany Market Value by Barrier Level Vs Application,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112: U.K.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113: U.K.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114: U.K. Market Value by Application,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115: U.K.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116: U.K. Market Value by Principal Material / Barrier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117: U.K. Market Value by Material Structure,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118: U.K. Market Value by Barrier Level,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119: U.K. Market Value by Barrier Level Vs Application,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120: France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121: France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122: France Market Value by Application,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123: France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124: France Market Value by Principal Material / Barrier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125: France Market Value by Material Structure,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126: France Market Value by Barrier Level,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127: France Market Value by Barrier Level Vs Application,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128: Italy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129: Italy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130: Italy Market Value by Application,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131: Italy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132: Italy Market Value by Principal Material / Barrier Technology,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133: Italy Market Value by Material Structure,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134: Italy Market Value by Barrier Level,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135: Italy Market Value by Barrier Level Vs Application,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136: Spain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137: Spain Market Value by Product Type, US$ Mn,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Figure 138: Spain Market Value by Application,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139: Spain Market Share within Europe, %, 2026 and 2036</a:t>
                      </a:r>
                      <a:endParaRPr sz="1050"/>
                    </a:p>
                  </a:txBody>
                  <a:tcPr marL="9525" marR="9525" marT="9525" marB="0" anchor="ctr"/>
                </a:tc>
              </a:tr>
              <a:tr h="170045">
                <a:tc>
                  <a:txBody>
                    <a:bodyPr wrap="square"/>
                    <a:lstStyle/>
                    <a:p>
                      <a:pPr algn="l"/>
                      <a:r>
                        <a:rPr sz="1050" b="0" i="0">
                          <a:solidFill>
                            <a:srgbClr val="000000"/>
                          </a:solidFill>
                          <a:latin typeface="Calibri"/>
                        </a:rPr>
                        <a:t>Figure 140: Spain Market Value by Principal Material / Barrier Technology,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141: Spain Market Value by Material Structure,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142: Spain Market Value by Barrier Level,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143: Spain Market Value by Barrier Level Vs Application,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144: Nordic Market Value and YoY Growth, US$ Mn and %, 2021–2036</a:t>
                      </a:r>
                      <a:endParaRPr sz="1050"/>
                    </a:p>
                  </a:txBody>
                  <a:tcPr marL="9525" marR="9525" marT="9525" marB="0" anchor="ctr"/>
                </a:tc>
              </a:tr>
              <a:tr h="170045">
                <a:tc>
                  <a:txBody>
                    <a:bodyPr wrap="square"/>
                    <a:lstStyle/>
                    <a:p>
                      <a:pPr algn="l"/>
                      <a:r>
                        <a:rPr sz="1050" b="0" i="0">
                          <a:solidFill>
                            <a:srgbClr val="000000"/>
                          </a:solidFill>
                          <a:latin typeface="Calibri"/>
                        </a:rPr>
                        <a:t>Figure 145: Nordic Market Value by Product Type,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146: Russia Market Value and YoY Growth, US$ Mn and %, 2021–2036</a:t>
                      </a:r>
                      <a:endParaRPr sz="1050"/>
                    </a:p>
                  </a:txBody>
                  <a:tcPr marL="9525" marR="9525" marT="9525" marB="0" anchor="ctr"/>
                </a:tc>
              </a:tr>
              <a:tr h="170045">
                <a:tc>
                  <a:txBody>
                    <a:bodyPr wrap="square"/>
                    <a:lstStyle/>
                    <a:p>
                      <a:pPr algn="l"/>
                      <a:r>
                        <a:rPr sz="1050" b="0" i="0">
                          <a:solidFill>
                            <a:srgbClr val="000000"/>
                          </a:solidFill>
                          <a:latin typeface="Calibri"/>
                        </a:rPr>
                        <a:t>Figure 147: Russia Market Value by Product Type,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148: Poland Market Value and YoY Growth, US$ Mn and %, 2021–2036</a:t>
                      </a:r>
                      <a:endParaRPr sz="1050"/>
                    </a:p>
                  </a:txBody>
                  <a:tcPr marL="9525" marR="9525" marT="9525" marB="0" anchor="ctr"/>
                </a:tc>
              </a:tr>
              <a:tr h="170045">
                <a:tc>
                  <a:txBody>
                    <a:bodyPr wrap="square"/>
                    <a:lstStyle/>
                    <a:p>
                      <a:pPr algn="l"/>
                      <a:r>
                        <a:rPr sz="1050" b="0" i="0">
                          <a:solidFill>
                            <a:srgbClr val="000000"/>
                          </a:solidFill>
                          <a:latin typeface="Calibri"/>
                        </a:rPr>
                        <a:t>Figure 149: Poland Market Value by Product Type,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150: Netherlands Market Value and YoY Growth, US$ Mn and %, 2021–2036</a:t>
                      </a:r>
                      <a:endParaRPr sz="1050"/>
                    </a:p>
                  </a:txBody>
                  <a:tcPr marL="9525" marR="9525" marT="9525" marB="0" anchor="ctr"/>
                </a:tc>
              </a:tr>
              <a:tr h="170045">
                <a:tc>
                  <a:txBody>
                    <a:bodyPr wrap="square"/>
                    <a:lstStyle/>
                    <a:p>
                      <a:pPr algn="l"/>
                      <a:r>
                        <a:rPr sz="1050" b="0" i="0">
                          <a:solidFill>
                            <a:srgbClr val="000000"/>
                          </a:solidFill>
                          <a:latin typeface="Calibri"/>
                        </a:rPr>
                        <a:t>Figure 151: Netherlands Market Value by Product Type,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152: Belgium Market Value and YoY Growth, US$ Mn and %, 2021–2036</a:t>
                      </a:r>
                      <a:endParaRPr sz="1050"/>
                    </a:p>
                  </a:txBody>
                  <a:tcPr marL="9525" marR="9525" marT="9525" marB="0" anchor="ctr"/>
                </a:tc>
              </a:tr>
              <a:tr h="170045">
                <a:tc>
                  <a:txBody>
                    <a:bodyPr wrap="square"/>
                    <a:lstStyle/>
                    <a:p>
                      <a:pPr algn="l"/>
                      <a:r>
                        <a:rPr sz="1050" b="0" i="0">
                          <a:solidFill>
                            <a:srgbClr val="000000"/>
                          </a:solidFill>
                          <a:latin typeface="Calibri"/>
                        </a:rPr>
                        <a:t>Figure 153: Belgium Market Value by Product Type, US$ Mn, 2026 and 2036</a:t>
                      </a:r>
                      <a:endParaRPr sz="1050"/>
                    </a:p>
                  </a:txBody>
                  <a:tcPr marL="9525" marR="9525" marT="9525" marB="0" anchor="ctr"/>
                </a:tc>
              </a:tr>
              <a:tr h="170045">
                <a:tc>
                  <a:txBody>
                    <a:bodyPr wrap="square"/>
                    <a:lstStyle/>
                    <a:p>
                      <a:pPr algn="l"/>
                      <a:r>
                        <a:rPr sz="1050" b="0" i="0">
                          <a:solidFill>
                            <a:srgbClr val="000000"/>
                          </a:solidFill>
                          <a:latin typeface="Calibri"/>
                        </a:rPr>
                        <a:t>Figure 154: Europe Market Average Selling Price Trend, US$/MT, 2021–2036</a:t>
                      </a:r>
                      <a:endParaRPr sz="1050"/>
                    </a:p>
                  </a:txBody>
                  <a:tcPr marL="9525" marR="9525" marT="9525" marB="0" anchor="ctr"/>
                </a:tc>
              </a:tr>
              <a:tr h="170045">
                <a:tc>
                  <a:txBody>
                    <a:bodyPr wrap="square"/>
                    <a:lstStyle/>
                    <a:p>
                      <a:pPr algn="l"/>
                      <a:r>
                        <a:rPr sz="1050" b="0" i="0">
                          <a:solidFill>
                            <a:srgbClr val="000000"/>
                          </a:solidFill>
                          <a:latin typeface="Calibri"/>
                        </a:rPr>
                        <a:t>Figure 155: Europe Market Average Selling Price Outlook, US$/MT, 2026–2036</a:t>
                      </a:r>
                      <a:endParaRPr sz="1050"/>
                    </a:p>
                  </a:txBody>
                  <a:tcPr marL="9525" marR="9525" marT="9525" marB="0" anchor="ctr"/>
                </a:tc>
              </a:tr>
              <a:tr h="170045">
                <a:tc>
                  <a:txBody>
                    <a:bodyPr wrap="square"/>
                    <a:lstStyle/>
                    <a:p>
                      <a:pPr algn="l"/>
                      <a:r>
                        <a:rPr sz="1050" b="0" i="0">
                          <a:solidFill>
                            <a:srgbClr val="000000"/>
                          </a:solidFill>
                          <a:latin typeface="Calibri"/>
                        </a:rPr>
                        <a:t>Figure 156: Europe Market Average Selling Price by Product Type, US$/MT, 2026 and 2036</a:t>
                      </a:r>
                      <a:endParaRPr sz="1050"/>
                    </a:p>
                  </a:txBody>
                  <a:tcPr marL="9525" marR="9525" marT="9525" marB="0" anchor="ctr"/>
                </a:tc>
              </a:tr>
              <a:tr h="333289">
                <a:tc>
                  <a:txBody>
                    <a:bodyPr wrap="square"/>
                    <a:lstStyle/>
                    <a:p>
                      <a:pPr algn="l"/>
                      <a:r>
                        <a:rPr sz="1050" b="0" i="0">
                          <a:solidFill>
                            <a:srgbClr val="000000"/>
                          </a:solidFill>
                          <a:latin typeface="Calibri"/>
                        </a:rPr>
                        <a:t>Figure 157: Europe Market Average Selling Price by Principal Material / Barrier Technology, US$/MT, 2026 and 2036</a:t>
                      </a:r>
                      <a:endParaRPr sz="1050"/>
                    </a:p>
                  </a:txBody>
                  <a:tcPr marL="9525" marR="9525" marT="9525" marB="0" anchor="ctr"/>
                </a:tc>
              </a:tr>
              <a:tr h="170045">
                <a:tc>
                  <a:txBody>
                    <a:bodyPr wrap="square"/>
                    <a:lstStyle/>
                    <a:p>
                      <a:pPr algn="l"/>
                      <a:r>
                        <a:rPr sz="1050" b="0" i="0">
                          <a:solidFill>
                            <a:srgbClr val="000000"/>
                          </a:solidFill>
                          <a:latin typeface="Calibri"/>
                        </a:rPr>
                        <a:t>Figure 158: Europe Market Average Selling Price by Material Structure, US$/MT, 2026 and 2036</a:t>
                      </a:r>
                      <a:endParaRPr sz="1050"/>
                    </a:p>
                  </a:txBody>
                  <a:tcPr marL="9525" marR="9525" marT="9525" marB="0" anchor="ctr"/>
                </a:tc>
              </a:tr>
              <a:tr h="170045">
                <a:tc>
                  <a:txBody>
                    <a:bodyPr wrap="square"/>
                    <a:lstStyle/>
                    <a:p>
                      <a:pPr algn="l"/>
                      <a:r>
                        <a:rPr sz="1050" b="0" i="0">
                          <a:solidFill>
                            <a:srgbClr val="000000"/>
                          </a:solidFill>
                          <a:latin typeface="Calibri"/>
                        </a:rPr>
                        <a:t>Figure 159: Europe Market Average Selling Price by Barrier Level, US$/MT, 2026 and 2036</a:t>
                      </a:r>
                      <a:endParaRPr sz="1050"/>
                    </a:p>
                  </a:txBody>
                  <a:tcPr marL="9525" marR="9525" marT="9525" marB="0" anchor="ctr"/>
                </a:tc>
              </a:tr>
              <a:tr h="170045">
                <a:tc>
                  <a:txBody>
                    <a:bodyPr wrap="square"/>
                    <a:lstStyle/>
                    <a:p>
                      <a:pPr algn="l"/>
                      <a:r>
                        <a:rPr sz="1050" b="0" i="0">
                          <a:solidFill>
                            <a:srgbClr val="000000"/>
                          </a:solidFill>
                          <a:latin typeface="Calibri"/>
                        </a:rPr>
                        <a:t>Figure 160: Europe Market Average Selling Price by Application, US$/MT, 2026 and 2036</a:t>
                      </a:r>
                      <a:endParaRPr sz="1050"/>
                    </a:p>
                  </a:txBody>
                  <a:tcPr marL="9525" marR="9525" marT="9525" marB="0" anchor="ctr"/>
                </a:tc>
              </a:tr>
              <a:tr h="333289">
                <a:tc>
                  <a:txBody>
                    <a:bodyPr wrap="square"/>
                    <a:lstStyle/>
                    <a:p>
                      <a:pPr algn="l"/>
                      <a:r>
                        <a:rPr sz="1050" b="0" i="0">
                          <a:solidFill>
                            <a:srgbClr val="000000"/>
                          </a:solidFill>
                          <a:latin typeface="Calibri"/>
                        </a:rPr>
                        <a:t>Figure 161: Europe Market Average Selling Price by Barrier Level Vs Application, US$/MT, 2026 and 2036</a:t>
                      </a:r>
                      <a:endParaRPr sz="1050"/>
                    </a:p>
                  </a:txBody>
                  <a:tcPr marL="9525" marR="9525" marT="9525" marB="0" anchor="ctr"/>
                </a:tc>
              </a:tr>
              <a:tr h="170045">
                <a:tc>
                  <a:txBody>
                    <a:bodyPr wrap="square"/>
                    <a:lstStyle/>
                    <a:p>
                      <a:pPr algn="l"/>
                      <a:r>
                        <a:rPr sz="1050" b="0" i="0">
                          <a:solidFill>
                            <a:srgbClr val="000000"/>
                          </a:solidFill>
                          <a:latin typeface="Calibri"/>
                        </a:rPr>
                        <a:t>Figure 162: Europe Market Value Chain Structure, 2026</a:t>
                      </a:r>
                      <a:endParaRPr sz="1050"/>
                    </a:p>
                  </a:txBody>
                  <a:tcPr marL="9525" marR="9525" marT="9525" marB="0" anchor="ctr"/>
                </a:tc>
              </a:tr>
              <a:tr h="170045">
                <a:tc>
                  <a:txBody>
                    <a:bodyPr wrap="square"/>
                    <a:lstStyle/>
                    <a:p>
                      <a:pPr algn="l"/>
                      <a:r>
                        <a:rPr sz="1050" b="0" i="0">
                          <a:solidFill>
                            <a:srgbClr val="000000"/>
                          </a:solidFill>
                          <a:latin typeface="Calibri"/>
                        </a:rPr>
                        <a:t>Figure 163: Europe Market Margin Distribution across the Value Chain, %, 2026</a:t>
                      </a:r>
                      <a:endParaRPr sz="1050"/>
                    </a:p>
                  </a:txBody>
                  <a:tcPr marL="9525" marR="9525" marT="9525" marB="0" anchor="ctr"/>
                </a:tc>
              </a:tr>
              <a:tr h="170045">
                <a:tc>
                  <a:txBody>
                    <a:bodyPr wrap="square"/>
                    <a:lstStyle/>
                    <a:p>
                      <a:pPr algn="l"/>
                      <a:r>
                        <a:rPr sz="1050" b="0" i="0">
                          <a:solidFill>
                            <a:srgbClr val="000000"/>
                          </a:solidFill>
                          <a:latin typeface="Calibri"/>
                        </a:rPr>
                        <a:t>Figure 164: Europe Market Cost Structure Breakdown, %, 2026</a:t>
                      </a:r>
                      <a:endParaRPr sz="1050"/>
                    </a:p>
                  </a:txBody>
                  <a:tcPr marL="9525" marR="9525" marT="9525" marB="0" anchor="ctr"/>
                </a:tc>
              </a:tr>
              <a:tr h="170045">
                <a:tc>
                  <a:txBody>
                    <a:bodyPr wrap="square"/>
                    <a:lstStyle/>
                    <a:p>
                      <a:pPr algn="l"/>
                      <a:r>
                        <a:rPr sz="1050" b="0" i="0">
                          <a:solidFill>
                            <a:srgbClr val="000000"/>
                          </a:solidFill>
                          <a:latin typeface="Calibri"/>
                        </a:rPr>
                        <a:t>Figure 165: Europe Market Pricing Pressure Assessment by Product Type, 2026–2036</a:t>
                      </a:r>
                      <a:endParaRPr sz="1050"/>
                    </a:p>
                  </a:txBody>
                  <a:tcPr marL="9525" marR="9525" marT="9525" marB="0" anchor="ctr"/>
                </a:tc>
              </a:tr>
              <a:tr h="170045">
                <a:tc>
                  <a:txBody>
                    <a:bodyPr wrap="square"/>
                    <a:lstStyle/>
                    <a:p>
                      <a:pPr algn="l"/>
                      <a:r>
                        <a:rPr sz="1050" b="0" i="0">
                          <a:solidFill>
                            <a:srgbClr val="000000"/>
                          </a:solidFill>
                          <a:latin typeface="Calibri"/>
                        </a:rPr>
                        <a:t>Figure 166: Europe Market Import and Export Share, %, 2025</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167: Europe Market Trade Balance by Leading Country, US$ Mn, 2025</a:t>
                      </a:r>
                      <a:endParaRPr sz="1050"/>
                    </a:p>
                  </a:txBody>
                  <a:tcPr marL="9525" marR="9525" marT="9525" marB="0" anchor="ctr"/>
                </a:tc>
              </a:tr>
              <a:tr h="169606">
                <a:tc>
                  <a:txBody>
                    <a:bodyPr wrap="square"/>
                    <a:lstStyle/>
                    <a:p>
                      <a:pPr algn="l"/>
                      <a:r>
                        <a:rPr sz="1050" b="0" i="0">
                          <a:solidFill>
                            <a:srgbClr val="000000"/>
                          </a:solidFill>
                          <a:latin typeface="Calibri"/>
                        </a:rPr>
                        <a:t>Figure 168: Europe Market Raw Material Price Index, 2025=100, 2021–2036</a:t>
                      </a:r>
                      <a:endParaRPr sz="1050"/>
                    </a:p>
                  </a:txBody>
                  <a:tcPr marL="9525" marR="9525" marT="9525" marB="0" anchor="ctr"/>
                </a:tc>
              </a:tr>
              <a:tr h="169606">
                <a:tc>
                  <a:txBody>
                    <a:bodyPr wrap="square"/>
                    <a:lstStyle/>
                    <a:p>
                      <a:pPr algn="l"/>
                      <a:r>
                        <a:rPr sz="1050" b="0" i="0">
                          <a:solidFill>
                            <a:srgbClr val="000000"/>
                          </a:solidFill>
                          <a:latin typeface="Calibri"/>
                        </a:rPr>
                        <a:t>Figure 169: Company Market Share in the Europe Market, %, 2026</a:t>
                      </a:r>
                      <a:endParaRPr sz="1050"/>
                    </a:p>
                  </a:txBody>
                  <a:tcPr marL="9525" marR="9525" marT="9525" marB="0" anchor="ctr"/>
                </a:tc>
              </a:tr>
              <a:tr h="169606">
                <a:tc>
                  <a:txBody>
                    <a:bodyPr wrap="square"/>
                    <a:lstStyle/>
                    <a:p>
                      <a:pPr algn="l"/>
                      <a:r>
                        <a:rPr sz="1050" b="0" i="0">
                          <a:solidFill>
                            <a:srgbClr val="000000"/>
                          </a:solidFill>
                          <a:latin typeface="Calibri"/>
                        </a:rPr>
                        <a:t>Figure 170: Competitive Positioning of Leading Flexible Plastic Packaging Manufacturers, 2026</a:t>
                      </a:r>
                      <a:endParaRPr sz="1050"/>
                    </a:p>
                  </a:txBody>
                  <a:tcPr marL="9525" marR="9525" marT="9525" marB="0" anchor="ctr"/>
                </a:tc>
              </a:tr>
              <a:tr h="169606">
                <a:tc>
                  <a:txBody>
                    <a:bodyPr wrap="square"/>
                    <a:lstStyle/>
                    <a:p>
                      <a:pPr algn="l"/>
                      <a:r>
                        <a:rPr sz="1050" b="0" i="0">
                          <a:solidFill>
                            <a:srgbClr val="000000"/>
                          </a:solidFill>
                          <a:latin typeface="Calibri"/>
                        </a:rPr>
                        <a:t>Figure 171: Company Revenue from the Europe Market, US$ Mn, 2026</a:t>
                      </a:r>
                      <a:endParaRPr sz="1050"/>
                    </a:p>
                  </a:txBody>
                  <a:tcPr marL="9525" marR="9525" marT="9525" marB="0" anchor="ctr"/>
                </a:tc>
              </a:tr>
              <a:tr h="169606">
                <a:tc>
                  <a:txBody>
                    <a:bodyPr wrap="square"/>
                    <a:lstStyle/>
                    <a:p>
                      <a:pPr algn="l"/>
                      <a:r>
                        <a:rPr sz="1050" b="0" i="0">
                          <a:solidFill>
                            <a:srgbClr val="000000"/>
                          </a:solidFill>
                          <a:latin typeface="Calibri"/>
                        </a:rPr>
                        <a:t>Figure 172: Europe Market Concentration by Company Tier, %, 2026</a:t>
                      </a:r>
                      <a:endParaRPr sz="1050"/>
                    </a:p>
                  </a:txBody>
                  <a:tcPr marL="9525" marR="9525" marT="9525" marB="0" anchor="ctr"/>
                </a:tc>
              </a:tr>
              <a:tr h="169606">
                <a:tc>
                  <a:txBody>
                    <a:bodyPr wrap="square"/>
                    <a:lstStyle/>
                    <a:p>
                      <a:pPr algn="l"/>
                      <a:r>
                        <a:rPr sz="1050" b="0" i="0">
                          <a:solidFill>
                            <a:srgbClr val="000000"/>
                          </a:solidFill>
                          <a:latin typeface="Calibri"/>
                        </a:rPr>
                        <a:t>Figure 173: Europe Market Competitive Intensity Assessment, 2026</a:t>
                      </a:r>
                      <a:endParaRPr sz="1050"/>
                    </a:p>
                  </a:txBody>
                  <a:tcPr marL="9525" marR="9525" marT="9525" marB="0" anchor="ctr"/>
                </a:tc>
              </a:tr>
              <a:tr h="169606">
                <a:tc>
                  <a:txBody>
                    <a:bodyPr wrap="square"/>
                    <a:lstStyle/>
                    <a:p>
                      <a:pPr algn="l"/>
                      <a:r>
                        <a:rPr sz="1050" b="0" i="0">
                          <a:solidFill>
                            <a:srgbClr val="000000"/>
                          </a:solidFill>
                          <a:latin typeface="Calibri"/>
                        </a:rPr>
                        <a:t>Figure 174: Company A: Revenue from the Europe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175: Company B: Revenue from the Europe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176: Company C: Revenue from the Europe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177: Company D: Revenue from the Europe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178: Company E: Revenue from the Europe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179: Company F: Revenue from the Europe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180: Company G: Revenue from the Europe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181: Company H: Revenue from the Europe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182: Europe Market Strategic Developments by Type, %, 2025–2026</a:t>
                      </a:r>
                      <a:endParaRPr sz="1050"/>
                    </a:p>
                  </a:txBody>
                  <a:tcPr marL="9525" marR="9525" marT="9525" marB="0" anchor="ctr"/>
                </a:tc>
              </a:tr>
              <a:tr h="169606">
                <a:tc>
                  <a:txBody>
                    <a:bodyPr wrap="square"/>
                    <a:lstStyle/>
                    <a:p>
                      <a:pPr algn="l"/>
                      <a:r>
                        <a:rPr sz="1050" b="0" i="0">
                          <a:solidFill>
                            <a:srgbClr val="000000"/>
                          </a:solidFill>
                          <a:latin typeface="Calibri"/>
                        </a:rPr>
                        <a:t>Figure 183: Europe Market Company Footprint by Region, 2026</a:t>
                      </a:r>
                      <a:endParaRPr sz="1050"/>
                    </a:p>
                  </a:txBody>
                  <a:tcPr marL="9525" marR="9525" marT="9525" marB="0" anchor="ctr"/>
                </a:tc>
              </a:tr>
              <a:tr h="169606">
                <a:tc>
                  <a:txBody>
                    <a:bodyPr wrap="square"/>
                    <a:lstStyle/>
                    <a:p>
                      <a:pPr algn="l"/>
                      <a:r>
                        <a:rPr sz="1050" b="0" i="0">
                          <a:solidFill>
                            <a:srgbClr val="000000"/>
                          </a:solidFill>
                          <a:latin typeface="Calibri"/>
                        </a:rPr>
                        <a:t>Figure 184: Europe Market Value Forecast by Scenario, US$ Mn, 2026–2036</a:t>
                      </a:r>
                      <a:endParaRPr sz="1050"/>
                    </a:p>
                  </a:txBody>
                  <a:tcPr marL="9525" marR="9525" marT="9525" marB="0" anchor="ctr"/>
                </a:tc>
              </a:tr>
              <a:tr h="169606">
                <a:tc>
                  <a:txBody>
                    <a:bodyPr wrap="square"/>
                    <a:lstStyle/>
                    <a:p>
                      <a:pPr algn="l"/>
                      <a:r>
                        <a:rPr sz="1050" b="0" i="0">
                          <a:solidFill>
                            <a:srgbClr val="000000"/>
                          </a:solidFill>
                          <a:latin typeface="Calibri"/>
                        </a:rPr>
                        <a:t>Figure 185: Europe Market YoY Growth by Scenario, %, 2026–2036</a:t>
                      </a:r>
                      <a:endParaRPr sz="1050"/>
                    </a:p>
                  </a:txBody>
                  <a:tcPr marL="9525" marR="9525" marT="9525" marB="0" anchor="ctr"/>
                </a:tc>
              </a:tr>
              <a:tr h="169606">
                <a:tc>
                  <a:txBody>
                    <a:bodyPr wrap="square"/>
                    <a:lstStyle/>
                    <a:p>
                      <a:pPr algn="l"/>
                      <a:r>
                        <a:rPr sz="1050" b="0" i="0">
                          <a:solidFill>
                            <a:srgbClr val="000000"/>
                          </a:solidFill>
                          <a:latin typeface="Calibri"/>
                        </a:rPr>
                        <a:t>Figure 186: Europe Market Key Trends Impact Assessment, 2026–2036</a:t>
                      </a:r>
                      <a:endParaRPr sz="1050"/>
                    </a:p>
                  </a:txBody>
                  <a:tcPr marL="9525" marR="9525" marT="9525" marB="0" anchor="ctr"/>
                </a:tc>
              </a:tr>
              <a:tr h="169606">
                <a:tc>
                  <a:txBody>
                    <a:bodyPr wrap="square"/>
                    <a:lstStyle/>
                    <a:p>
                      <a:pPr algn="l"/>
                      <a:r>
                        <a:rPr sz="1050" b="0" i="0">
                          <a:solidFill>
                            <a:srgbClr val="000000"/>
                          </a:solidFill>
                          <a:latin typeface="Calibri"/>
                        </a:rPr>
                        <a:t>Figure 187: Europe Market Drivers, Restraints and Opportunities Impact, 2026–2036</a:t>
                      </a:r>
                      <a:endParaRPr sz="1050"/>
                    </a:p>
                  </a:txBody>
                  <a:tcPr marL="9525" marR="9525" marT="9525" marB="0" anchor="ctr"/>
                </a:tc>
              </a:tr>
              <a:tr h="169606">
                <a:tc>
                  <a:txBody>
                    <a:bodyPr wrap="square"/>
                    <a:lstStyle/>
                    <a:p>
                      <a:pPr algn="l"/>
                      <a:r>
                        <a:rPr sz="1050" b="0" i="0">
                          <a:solidFill>
                            <a:srgbClr val="000000"/>
                          </a:solidFill>
                          <a:latin typeface="Calibri"/>
                        </a:rPr>
                        <a:t>Figure 188: Europe Market Opportunity Map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189: Europe Market Technology Adoption Roadmap, 2021–2036</a:t>
                      </a:r>
                      <a:endParaRPr sz="1050"/>
                    </a:p>
                  </a:txBody>
                  <a:tcPr marL="9525" marR="9525" marT="9525" marB="0" anchor="ctr"/>
                </a:tc>
              </a:tr>
              <a:tr h="169606">
                <a:tc>
                  <a:txBody>
                    <a:bodyPr wrap="square"/>
                    <a:lstStyle/>
                    <a:p>
                      <a:pPr algn="l"/>
                      <a:r>
                        <a:rPr sz="1050" b="0" i="0">
                          <a:solidFill>
                            <a:srgbClr val="000000"/>
                          </a:solidFill>
                          <a:latin typeface="Calibri"/>
                        </a:rPr>
                        <a:t>Figure 190: Europe Market Emerging Opportunity Pockets by Product Type, US$ Mn, 2026–2036</a:t>
                      </a:r>
                      <a:endParaRPr sz="1050"/>
                    </a:p>
                  </a:txBody>
                  <a:tcPr marL="9525" marR="9525" marT="9525" marB="0" anchor="ctr"/>
                </a:tc>
              </a:tr>
              <a:tr h="169606">
                <a:tc>
                  <a:txBody>
                    <a:bodyPr wrap="square"/>
                    <a:lstStyle/>
                    <a:p>
                      <a:pPr algn="l"/>
                      <a:r>
                        <a:rPr sz="1050" b="0" i="0">
                          <a:solidFill>
                            <a:srgbClr val="000000"/>
                          </a:solidFill>
                          <a:latin typeface="Calibri"/>
                        </a:rPr>
                        <a:t>Figure 191: Europe Market Risk and Sensitivity Analysis, %, 2026–2036</a:t>
                      </a:r>
                      <a:endParaRPr sz="1050"/>
                    </a:p>
                  </a:txBody>
                  <a:tcPr marL="9525" marR="9525" marT="9525" marB="0" anchor="ctr"/>
                </a:tc>
              </a:tr>
              <a:tr h="169606">
                <a:tc>
                  <a:txBody>
                    <a:bodyPr wrap="square"/>
                    <a:lstStyle/>
                    <a:p>
                      <a:pPr algn="l"/>
                      <a:r>
                        <a:rPr sz="1050" b="0" i="0">
                          <a:solidFill>
                            <a:srgbClr val="000000"/>
                          </a:solidFill>
                          <a:latin typeface="Calibri"/>
                        </a:rPr>
                        <a:t>Figure 192: Europe Market Regulatory Landscape Timeline, 2021–2036</a:t>
                      </a:r>
                      <a:endParaRPr sz="1050"/>
                    </a:p>
                  </a:txBody>
                  <a:tcPr marL="9525" marR="9525" marT="9525" marB="0" anchor="ctr"/>
                </a:tc>
              </a:tr>
              <a:tr h="169606">
                <a:tc>
                  <a:txBody>
                    <a:bodyPr wrap="square"/>
                    <a:lstStyle/>
                    <a:p>
                      <a:pPr algn="l"/>
                      <a:r>
                        <a:rPr sz="1050" b="0" i="0">
                          <a:solidFill>
                            <a:srgbClr val="000000"/>
                          </a:solidFill>
                          <a:latin typeface="Calibri"/>
                        </a:rPr>
                        <a:t>Figure 193: Europe Market Investment Hotspots, 2026–2036</a:t>
                      </a:r>
                      <a:endParaRPr sz="1050"/>
                    </a:p>
                  </a:txBody>
                  <a:tcPr marL="9525" marR="9525" marT="9525" marB="0" anchor="ctr"/>
                </a:tc>
              </a:tr>
              <a:tr h="169606">
                <a:tc>
                  <a:txBody>
                    <a:bodyPr wrap="square"/>
                    <a:lstStyle/>
                    <a:p>
                      <a:pPr algn="l"/>
                      <a:r>
                        <a:rPr sz="1050" b="0" i="0">
                          <a:solidFill>
                            <a:srgbClr val="000000"/>
                          </a:solidFill>
                          <a:latin typeface="Calibri"/>
                        </a:rPr>
                        <a:t>Figure 194: Europe Market Innovation Pipeline Assessment, 2026</a:t>
                      </a:r>
                      <a:endParaRPr sz="1050"/>
                    </a:p>
                  </a:txBody>
                  <a:tcPr marL="9525" marR="9525" marT="9525" marB="0" anchor="ctr"/>
                </a:tc>
              </a:tr>
              <a:tr h="169606">
                <a:tc>
                  <a:txBody>
                    <a:bodyPr wrap="square"/>
                    <a:lstStyle/>
                    <a:p>
                      <a:pPr algn="l"/>
                      <a:r>
                        <a:rPr sz="1050" b="0" i="0">
                          <a:solidFill>
                            <a:srgbClr val="000000"/>
                          </a:solidFill>
                          <a:latin typeface="Calibri"/>
                        </a:rPr>
                        <a:t>Figure 195: Europe Market Demand Shift Analysis by Product Type, %, 2026–2036</a:t>
                      </a:r>
                      <a:endParaRPr sz="1050"/>
                    </a:p>
                  </a:txBody>
                  <a:tcPr marL="9525" marR="9525" marT="9525" marB="0" anchor="ctr"/>
                </a:tc>
              </a:tr>
              <a:tr h="169606">
                <a:tc>
                  <a:txBody>
                    <a:bodyPr wrap="square"/>
                    <a:lstStyle/>
                    <a:p>
                      <a:pPr algn="l"/>
                      <a:r>
                        <a:rPr sz="1050" b="0" i="0">
                          <a:solidFill>
                            <a:srgbClr val="000000"/>
                          </a:solidFill>
                          <a:latin typeface="Calibri"/>
                        </a:rPr>
                        <a:t>Figure 196: Europe Market White-Space Opportunity Assessment, 2026–2036</a:t>
                      </a:r>
                      <a:endParaRPr sz="1050"/>
                    </a:p>
                  </a:txBody>
                  <a:tcPr marL="9525" marR="9525" marT="9525" marB="0" anchor="ctr"/>
                </a:tc>
              </a:tr>
              <a:tr h="169606">
                <a:tc>
                  <a:txBody>
                    <a:bodyPr wrap="square"/>
                    <a:lstStyle/>
                    <a:p>
                      <a:pPr algn="l"/>
                      <a:r>
                        <a:rPr sz="1050" b="0" i="0">
                          <a:solidFill>
                            <a:srgbClr val="000000"/>
                          </a:solidFill>
                          <a:latin typeface="Calibri"/>
                        </a:rPr>
                        <a:t>Figure 197: Europe Market Customer Purchase Criteria Assessment, 2026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00064"/>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198: Europe Market Go-to-Market Priority, 2026–2036</a:t>
                      </a:r>
                      <a:endParaRPr sz="1050"/>
                    </a:p>
                  </a:txBody>
                  <a:tcPr marL="9525" marR="9525" marT="9525" marB="0" anchor="ctr"/>
                </a:tc>
              </a:tr>
              <a:tr h="166688">
                <a:tc>
                  <a:txBody>
                    <a:bodyPr wrap="square"/>
                    <a:lstStyle/>
                    <a:p>
                      <a:pPr algn="l"/>
                      <a:r>
                        <a:rPr sz="1050" b="0" i="0">
                          <a:solidFill>
                            <a:srgbClr val="000000"/>
                          </a:solidFill>
                          <a:latin typeface="Calibri"/>
                        </a:rPr>
                        <a:t>Figure 199: Europe Market Unmet Needs Analysis by Product Type, 2026</a:t>
                      </a:r>
                      <a:endParaRPr sz="1050"/>
                    </a:p>
                  </a:txBody>
                  <a:tcPr marL="9525" marR="9525" marT="9525" marB="0" anchor="ctr"/>
                </a:tc>
              </a:tr>
              <a:tr h="166688">
                <a:tc>
                  <a:txBody>
                    <a:bodyPr wrap="square"/>
                    <a:lstStyle/>
                    <a:p>
                      <a:pPr algn="l"/>
                      <a:r>
                        <a:rPr sz="1050" b="0" i="0">
                          <a:solidFill>
                            <a:srgbClr val="000000"/>
                          </a:solidFill>
                          <a:latin typeface="Calibri"/>
                        </a:rPr>
                        <a:t>Figure 200: Europe Market Right-to-Win Assessment,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Table 1: Europe Market Snapshot: Value, Volume and CAGR, US$ Mn, 2025–2036</a:t>
                      </a:r>
                      <a:endParaRPr sz="1050"/>
                    </a:p>
                  </a:txBody>
                  <a:tcPr marL="9525" marR="9525" marT="9525" marB="0" anchor="ctr"/>
                </a:tc>
              </a:tr>
              <a:tr h="170045">
                <a:tc>
                  <a:txBody>
                    <a:bodyPr wrap="square"/>
                    <a:lstStyle/>
                    <a:p>
                      <a:pPr algn="l"/>
                      <a:r>
                        <a:rPr sz="1050" b="0" i="0">
                          <a:solidFill>
                            <a:srgbClr val="000000"/>
                          </a:solidFill>
                          <a:latin typeface="Calibri"/>
                        </a:rPr>
                        <a:t>Table 2: Europe Market Taxonomy by Segment, 2026</a:t>
                      </a:r>
                      <a:endParaRPr sz="1050"/>
                    </a:p>
                  </a:txBody>
                  <a:tcPr marL="9525" marR="9525" marT="9525" marB="0" anchor="ctr"/>
                </a:tc>
              </a:tr>
              <a:tr h="170045">
                <a:tc>
                  <a:txBody>
                    <a:bodyPr wrap="square"/>
                    <a:lstStyle/>
                    <a:p>
                      <a:pPr algn="l"/>
                      <a:r>
                        <a:rPr sz="1050" b="0" i="0">
                          <a:solidFill>
                            <a:srgbClr val="000000"/>
                          </a:solidFill>
                          <a:latin typeface="Calibri"/>
                        </a:rPr>
                        <a:t>Table 3: Europe Market Scope: Inclusions and Exclusions by Segment, 2026</a:t>
                      </a:r>
                      <a:endParaRPr sz="1050"/>
                    </a:p>
                  </a:txBody>
                  <a:tcPr marL="9525" marR="9525" marT="9525" marB="0" anchor="ctr"/>
                </a:tc>
              </a:tr>
              <a:tr h="170045">
                <a:tc>
                  <a:txBody>
                    <a:bodyPr wrap="square"/>
                    <a:lstStyle/>
                    <a:p>
                      <a:pPr algn="l"/>
                      <a:r>
                        <a:rPr sz="1050" b="0" i="0">
                          <a:solidFill>
                            <a:srgbClr val="000000"/>
                          </a:solidFill>
                          <a:latin typeface="Calibri"/>
                        </a:rPr>
                        <a:t>Table 4: Europe Market Key Demand Drivers and Impact Rating, 2026–2036</a:t>
                      </a:r>
                      <a:endParaRPr sz="1050"/>
                    </a:p>
                  </a:txBody>
                  <a:tcPr marL="9525" marR="9525" marT="9525" marB="0" anchor="ctr"/>
                </a:tc>
              </a:tr>
              <a:tr h="170045">
                <a:tc>
                  <a:txBody>
                    <a:bodyPr wrap="square"/>
                    <a:lstStyle/>
                    <a:p>
                      <a:pPr algn="l"/>
                      <a:r>
                        <a:rPr sz="1050" b="0" i="0">
                          <a:solidFill>
                            <a:srgbClr val="000000"/>
                          </a:solidFill>
                          <a:latin typeface="Calibri"/>
                        </a:rPr>
                        <a:t>Table 5: Europe Market Key Restraints and Impact Rating, 2026–2036</a:t>
                      </a:r>
                      <a:endParaRPr sz="1050"/>
                    </a:p>
                  </a:txBody>
                  <a:tcPr marL="9525" marR="9525" marT="9525" marB="0" anchor="ctr"/>
                </a:tc>
              </a:tr>
              <a:tr h="170045">
                <a:tc>
                  <a:txBody>
                    <a:bodyPr wrap="square"/>
                    <a:lstStyle/>
                    <a:p>
                      <a:pPr algn="l"/>
                      <a:r>
                        <a:rPr sz="1050" b="0" i="0">
                          <a:solidFill>
                            <a:srgbClr val="000000"/>
                          </a:solidFill>
                          <a:latin typeface="Calibri"/>
                        </a:rPr>
                        <a:t>Table 6: Europe Market Analyst Recommendations by Segment, 2026–2036</a:t>
                      </a:r>
                      <a:endParaRPr sz="1050"/>
                    </a:p>
                  </a:txBody>
                  <a:tcPr marL="9525" marR="9525" marT="9525" marB="0" anchor="ctr"/>
                </a:tc>
              </a:tr>
              <a:tr h="170045">
                <a:tc>
                  <a:txBody>
                    <a:bodyPr wrap="square"/>
                    <a:lstStyle/>
                    <a:p>
                      <a:pPr algn="l"/>
                      <a:r>
                        <a:rPr sz="1050" b="0" i="0">
                          <a:solidFill>
                            <a:srgbClr val="000000"/>
                          </a:solidFill>
                          <a:latin typeface="Calibri"/>
                        </a:rPr>
                        <a:t>Table 7: Europe Market Key Market Signals and Data Points, 2026</a:t>
                      </a:r>
                      <a:endParaRPr sz="1050"/>
                    </a:p>
                  </a:txBody>
                  <a:tcPr marL="9525" marR="9525" marT="9525" marB="0" anchor="ctr"/>
                </a:tc>
              </a:tr>
              <a:tr h="170045">
                <a:tc>
                  <a:txBody>
                    <a:bodyPr wrap="square"/>
                    <a:lstStyle/>
                    <a:p>
                      <a:pPr algn="l"/>
                      <a:r>
                        <a:rPr sz="1050" b="0" i="0">
                          <a:solidFill>
                            <a:srgbClr val="000000"/>
                          </a:solidFill>
                          <a:latin typeface="Calibri"/>
                        </a:rPr>
                        <a:t>Table 8: Europe Market Value and YoY Growth, US$ Mn and %, 2021–2036</a:t>
                      </a:r>
                      <a:endParaRPr sz="1050"/>
                    </a:p>
                  </a:txBody>
                  <a:tcPr marL="9525" marR="9525" marT="9525" marB="0" anchor="ctr"/>
                </a:tc>
              </a:tr>
              <a:tr h="170045">
                <a:tc>
                  <a:txBody>
                    <a:bodyPr wrap="square"/>
                    <a:lstStyle/>
                    <a:p>
                      <a:pPr algn="l"/>
                      <a:r>
                        <a:rPr sz="1050" b="0" i="0">
                          <a:solidFill>
                            <a:srgbClr val="000000"/>
                          </a:solidFill>
                          <a:latin typeface="Calibri"/>
                        </a:rPr>
                        <a:t>Table 9: Europe Market Historical Value Analysis, US$ Mn, 2021–2025</a:t>
                      </a:r>
                      <a:endParaRPr sz="1050"/>
                    </a:p>
                  </a:txBody>
                  <a:tcPr marL="9525" marR="9525" marT="9525" marB="0" anchor="ctr"/>
                </a:tc>
              </a:tr>
              <a:tr h="170045">
                <a:tc>
                  <a:txBody>
                    <a:bodyPr wrap="square"/>
                    <a:lstStyle/>
                    <a:p>
                      <a:pPr algn="l"/>
                      <a:r>
                        <a:rPr sz="1050" b="0" i="0">
                          <a:solidFill>
                            <a:srgbClr val="000000"/>
                          </a:solidFill>
                          <a:latin typeface="Calibri"/>
                        </a:rPr>
                        <a:t>Table 10: Europe Market Forecast Value Analysis, US$ Mn, 2026–2036</a:t>
                      </a:r>
                      <a:endParaRPr sz="1050"/>
                    </a:p>
                  </a:txBody>
                  <a:tcPr marL="9525" marR="9525" marT="9525" marB="0" anchor="ctr"/>
                </a:tc>
              </a:tr>
              <a:tr h="170045">
                <a:tc>
                  <a:txBody>
                    <a:bodyPr wrap="square"/>
                    <a:lstStyle/>
                    <a:p>
                      <a:pPr algn="l"/>
                      <a:r>
                        <a:rPr sz="1050" b="0" i="0">
                          <a:solidFill>
                            <a:srgbClr val="000000"/>
                          </a:solidFill>
                          <a:latin typeface="Calibri"/>
                        </a:rPr>
                        <a:t>Table 11: Europe Market Volume and YoY Growth, Thousand MT and %, 2021–2036</a:t>
                      </a:r>
                      <a:endParaRPr sz="1050"/>
                    </a:p>
                  </a:txBody>
                  <a:tcPr marL="9525" marR="9525" marT="9525" marB="0" anchor="ctr"/>
                </a:tc>
              </a:tr>
              <a:tr h="170045">
                <a:tc>
                  <a:txBody>
                    <a:bodyPr wrap="square"/>
                    <a:lstStyle/>
                    <a:p>
                      <a:pPr algn="l"/>
                      <a:r>
                        <a:rPr sz="1050" b="0" i="0">
                          <a:solidFill>
                            <a:srgbClr val="000000"/>
                          </a:solidFill>
                          <a:latin typeface="Calibri"/>
                        </a:rPr>
                        <a:t>Table 12: Europe Market Volume Forecast, Thousand MT, 2026–2036</a:t>
                      </a:r>
                      <a:endParaRPr sz="1050"/>
                    </a:p>
                  </a:txBody>
                  <a:tcPr marL="9525" marR="9525" marT="9525" marB="0" anchor="ctr"/>
                </a:tc>
              </a:tr>
              <a:tr h="170045">
                <a:tc>
                  <a:txBody>
                    <a:bodyPr wrap="square"/>
                    <a:lstStyle/>
                    <a:p>
                      <a:pPr algn="l"/>
                      <a:r>
                        <a:rPr sz="1050" b="0" i="0">
                          <a:solidFill>
                            <a:srgbClr val="000000"/>
                          </a:solidFill>
                          <a:latin typeface="Calibri"/>
                        </a:rPr>
                        <a:t>Table 13: Europe Market Average Selling Price, US$/MT, 2021–2036</a:t>
                      </a:r>
                      <a:endParaRPr sz="1050"/>
                    </a:p>
                  </a:txBody>
                  <a:tcPr marL="9525" marR="9525" marT="9525" marB="0" anchor="ctr"/>
                </a:tc>
              </a:tr>
              <a:tr h="170045">
                <a:tc>
                  <a:txBody>
                    <a:bodyPr wrap="square"/>
                    <a:lstStyle/>
                    <a:p>
                      <a:pPr algn="l"/>
                      <a:r>
                        <a:rPr sz="1050" b="0" i="0">
                          <a:solidFill>
                            <a:srgbClr val="000000"/>
                          </a:solidFill>
                          <a:latin typeface="Calibri"/>
                        </a:rPr>
                        <a:t>Table 14: Europe Market Average Selling Price YoY Change, %, 2026–2036</a:t>
                      </a:r>
                      <a:endParaRPr sz="1050"/>
                    </a:p>
                  </a:txBody>
                  <a:tcPr marL="9525" marR="9525" marT="9525" marB="0" anchor="ctr"/>
                </a:tc>
              </a:tr>
              <a:tr h="170045">
                <a:tc>
                  <a:txBody>
                    <a:bodyPr wrap="square"/>
                    <a:lstStyle/>
                    <a:p>
                      <a:pPr algn="l"/>
                      <a:r>
                        <a:rPr sz="1050" b="0" i="0">
                          <a:solidFill>
                            <a:srgbClr val="000000"/>
                          </a:solidFill>
                          <a:latin typeface="Calibri"/>
                        </a:rPr>
                        <a:t>Table 15: Europe Market CAGR and Absolute $ Opportunity, %, US$ Mn, 2026–2036</a:t>
                      </a:r>
                      <a:endParaRPr sz="1050"/>
                    </a:p>
                  </a:txBody>
                  <a:tcPr marL="9525" marR="9525" marT="9525" marB="0" anchor="ctr"/>
                </a:tc>
              </a:tr>
              <a:tr h="170045">
                <a:tc>
                  <a:txBody>
                    <a:bodyPr wrap="square"/>
                    <a:lstStyle/>
                    <a:p>
                      <a:pPr algn="l"/>
                      <a:r>
                        <a:rPr sz="1050" b="0" i="0">
                          <a:solidFill>
                            <a:srgbClr val="000000"/>
                          </a:solidFill>
                          <a:latin typeface="Calibri"/>
                        </a:rPr>
                        <a:t>Table 16: Europe Market Absolute $ Opportunity by Year, US$ Mn, 2026–2036</a:t>
                      </a:r>
                      <a:endParaRPr sz="1050"/>
                    </a:p>
                  </a:txBody>
                  <a:tcPr marL="9525" marR="9525" marT="9525" marB="0" anchor="ctr"/>
                </a:tc>
              </a:tr>
              <a:tr h="170045">
                <a:tc>
                  <a:txBody>
                    <a:bodyPr wrap="square"/>
                    <a:lstStyle/>
                    <a:p>
                      <a:pPr algn="l"/>
                      <a:r>
                        <a:rPr sz="1050" b="0" i="0">
                          <a:solidFill>
                            <a:srgbClr val="000000"/>
                          </a:solidFill>
                          <a:latin typeface="Calibri"/>
                        </a:rPr>
                        <a:t>Table 17: Europe Market Value by Scenario (Optimistic, Likely, Pessimistic), US$ Mn, 2026–2036</a:t>
                      </a:r>
                      <a:endParaRPr sz="1050"/>
                    </a:p>
                  </a:txBody>
                  <a:tcPr marL="9525" marR="9525" marT="9525" marB="0" anchor="ctr"/>
                </a:tc>
              </a:tr>
              <a:tr h="170045">
                <a:tc>
                  <a:txBody>
                    <a:bodyPr wrap="square"/>
                    <a:lstStyle/>
                    <a:p>
                      <a:pPr algn="l"/>
                      <a:r>
                        <a:rPr sz="1050" b="0" i="0">
                          <a:solidFill>
                            <a:srgbClr val="000000"/>
                          </a:solidFill>
                          <a:latin typeface="Calibri"/>
                        </a:rPr>
                        <a:t>Table 18: Europe Market Scenario CAGR Comparison, %, 2026–2036</a:t>
                      </a:r>
                      <a:endParaRPr sz="1050"/>
                    </a:p>
                  </a:txBody>
                  <a:tcPr marL="9525" marR="9525" marT="9525" marB="0" anchor="ctr"/>
                </a:tc>
              </a:tr>
              <a:tr h="170045">
                <a:tc>
                  <a:txBody>
                    <a:bodyPr wrap="square"/>
                    <a:lstStyle/>
                    <a:p>
                      <a:pPr algn="l"/>
                      <a:r>
                        <a:rPr sz="1050" b="0" i="0">
                          <a:solidFill>
                            <a:srgbClr val="000000"/>
                          </a:solidFill>
                          <a:latin typeface="Calibri"/>
                        </a:rPr>
                        <a:t>Table 19: Europe Market Historical vs Forecast Growth Comparison, %, 2021–2036</a:t>
                      </a:r>
                      <a:endParaRPr sz="1050"/>
                    </a:p>
                  </a:txBody>
                  <a:tcPr marL="9525" marR="9525" marT="9525" marB="0" anchor="ctr"/>
                </a:tc>
              </a:tr>
              <a:tr h="170045">
                <a:tc>
                  <a:txBody>
                    <a:bodyPr wrap="square"/>
                    <a:lstStyle/>
                    <a:p>
                      <a:pPr algn="l"/>
                      <a:r>
                        <a:rPr sz="1050" b="0" i="0">
                          <a:solidFill>
                            <a:srgbClr val="000000"/>
                          </a:solidFill>
                          <a:latin typeface="Calibri"/>
                        </a:rPr>
                        <a:t>Table 20: Europe Market Five-Year Block Value Summary, US$ Mn, 2021–2036</a:t>
                      </a:r>
                      <a:endParaRPr sz="1050"/>
                    </a:p>
                  </a:txBody>
                  <a:tcPr marL="9525" marR="9525" marT="9525" marB="0" anchor="ctr"/>
                </a:tc>
              </a:tr>
              <a:tr h="170045">
                <a:tc>
                  <a:txBody>
                    <a:bodyPr wrap="square"/>
                    <a:lstStyle/>
                    <a:p>
                      <a:pPr algn="l"/>
                      <a:r>
                        <a:rPr sz="1050" b="0" i="0">
                          <a:solidFill>
                            <a:srgbClr val="000000"/>
                          </a:solidFill>
                          <a:latin typeface="Calibri"/>
                        </a:rPr>
                        <a:t>Table 21: Europe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22: Europe Market Value by Principal Material / Barrier Technology, US$ Mn, 2021–2036</a:t>
                      </a:r>
                      <a:endParaRPr sz="1050"/>
                    </a:p>
                  </a:txBody>
                  <a:tcPr marL="9525" marR="9525" marT="9525" marB="0" anchor="ctr"/>
                </a:tc>
              </a:tr>
              <a:tr h="170045">
                <a:tc>
                  <a:txBody>
                    <a:bodyPr wrap="square"/>
                    <a:lstStyle/>
                    <a:p>
                      <a:pPr algn="l"/>
                      <a:r>
                        <a:rPr sz="1050" b="0" i="0">
                          <a:solidFill>
                            <a:srgbClr val="000000"/>
                          </a:solidFill>
                          <a:latin typeface="Calibri"/>
                        </a:rPr>
                        <a:t>Table 23: Europe Market Value by Material Structure, US$ Mn, 2021–2036</a:t>
                      </a:r>
                      <a:endParaRPr sz="1050"/>
                    </a:p>
                  </a:txBody>
                  <a:tcPr marL="9525" marR="9525" marT="9525" marB="0" anchor="ctr"/>
                </a:tc>
              </a:tr>
              <a:tr h="170045">
                <a:tc>
                  <a:txBody>
                    <a:bodyPr wrap="square"/>
                    <a:lstStyle/>
                    <a:p>
                      <a:pPr algn="l"/>
                      <a:r>
                        <a:rPr sz="1050" b="0" i="0">
                          <a:solidFill>
                            <a:srgbClr val="000000"/>
                          </a:solidFill>
                          <a:latin typeface="Calibri"/>
                        </a:rPr>
                        <a:t>Table 24: Europe Market Value by Barrier Level, US$ Mn, 2021–2036</a:t>
                      </a:r>
                      <a:endParaRPr sz="1050"/>
                    </a:p>
                  </a:txBody>
                  <a:tcPr marL="9525" marR="9525" marT="9525" marB="0" anchor="ctr"/>
                </a:tc>
              </a:tr>
              <a:tr h="170045">
                <a:tc>
                  <a:txBody>
                    <a:bodyPr wrap="square"/>
                    <a:lstStyle/>
                    <a:p>
                      <a:pPr algn="l"/>
                      <a:r>
                        <a:rPr sz="1050" b="0" i="0">
                          <a:solidFill>
                            <a:srgbClr val="000000"/>
                          </a:solidFill>
                          <a:latin typeface="Calibri"/>
                        </a:rPr>
                        <a:t>Table 25: Europe Market Value by Application, US$ Mn, 2021–2036</a:t>
                      </a:r>
                      <a:endParaRPr sz="1050"/>
                    </a:p>
                  </a:txBody>
                  <a:tcPr marL="9525" marR="9525" marT="9525" marB="0" anchor="ctr"/>
                </a:tc>
              </a:tr>
              <a:tr h="170045">
                <a:tc>
                  <a:txBody>
                    <a:bodyPr wrap="square"/>
                    <a:lstStyle/>
                    <a:p>
                      <a:pPr algn="l"/>
                      <a:r>
                        <a:rPr sz="1050" b="0" i="0">
                          <a:solidFill>
                            <a:srgbClr val="000000"/>
                          </a:solidFill>
                          <a:latin typeface="Calibri"/>
                        </a:rPr>
                        <a:t>Table 26: Europe Market Value by Barrier Level Vs Application, US$ Mn, 2021–2036</a:t>
                      </a:r>
                      <a:endParaRPr sz="1050"/>
                    </a:p>
                  </a:txBody>
                  <a:tcPr marL="9525" marR="9525" marT="9525" marB="0" anchor="ctr"/>
                </a:tc>
              </a:tr>
              <a:tr h="170045">
                <a:tc>
                  <a:txBody>
                    <a:bodyPr wrap="square"/>
                    <a:lstStyle/>
                    <a:p>
                      <a:pPr algn="l"/>
                      <a:r>
                        <a:rPr sz="1050" b="0" i="0">
                          <a:solidFill>
                            <a:srgbClr val="000000"/>
                          </a:solidFill>
                          <a:latin typeface="Calibri"/>
                        </a:rPr>
                        <a:t>Table 27: Europe Market CAGR and Absolute $ Opportunity by Product Type, %, US$ Mn, 2026–2036</a:t>
                      </a:r>
                      <a:endParaRPr sz="1050"/>
                    </a:p>
                  </a:txBody>
                  <a:tcPr marL="9525" marR="9525" marT="9525" marB="0" anchor="ctr"/>
                </a:tc>
              </a:tr>
              <a:tr h="333289">
                <a:tc>
                  <a:txBody>
                    <a:bodyPr wrap="square"/>
                    <a:lstStyle/>
                    <a:p>
                      <a:pPr algn="l"/>
                      <a:r>
                        <a:rPr sz="1050" b="0" i="0">
                          <a:solidFill>
                            <a:srgbClr val="000000"/>
                          </a:solidFill>
                          <a:latin typeface="Calibri"/>
                        </a:rPr>
                        <a:t>Table 28: Europe Market CAGR and Absolute $ Opportunity by Principal Material / Barrier Technology, %, US$ Mn, 2026–2036</a:t>
                      </a:r>
                      <a:endParaRPr sz="1050"/>
                    </a:p>
                  </a:txBody>
                  <a:tcPr marL="9525" marR="9525" marT="9525" marB="0" anchor="ctr"/>
                </a:tc>
              </a:tr>
              <a:tr h="333289">
                <a:tc>
                  <a:txBody>
                    <a:bodyPr wrap="square"/>
                    <a:lstStyle/>
                    <a:p>
                      <a:pPr algn="l"/>
                      <a:r>
                        <a:rPr sz="1050" b="0" i="0">
                          <a:solidFill>
                            <a:srgbClr val="000000"/>
                          </a:solidFill>
                          <a:latin typeface="Calibri"/>
                        </a:rPr>
                        <a:t>Table 29: Europe Market CAGR and Absolute $ Opportunity by Material Structure,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90"/>
        </p:xfrm>
        <a:graphic>
          <a:graphicData uri="http://schemas.openxmlformats.org/drawingml/2006/table">
            <a:tbl>
              <a:tblPr>
                <a:tableStyleId>{3B4B98B0-60AC-42C2-AFA5-B58CD77FA1E5}</a:tableStyleId>
              </a:tblPr>
              <a:tblGrid>
                <a:gridCol w="5876925"/>
              </a:tblGrid>
              <a:tr h="170486">
                <a:tc>
                  <a:txBody>
                    <a:bodyPr wrap="square"/>
                    <a:lstStyle/>
                    <a:p>
                      <a:pPr algn="l"/>
                      <a:r>
                        <a:rPr sz="1050" b="0" i="0">
                          <a:solidFill>
                            <a:srgbClr val="000000"/>
                          </a:solidFill>
                          <a:latin typeface="Calibri"/>
                        </a:rPr>
                        <a:t>Table 30: Europe Market CAGR and Absolute $ Opportunity by Barrier Level, %, US$ Mn, 2026–2036</a:t>
                      </a:r>
                      <a:endParaRPr sz="1050"/>
                    </a:p>
                  </a:txBody>
                  <a:tcPr marL="9525" marR="9525" marT="9525" marB="0" anchor="ctr"/>
                </a:tc>
              </a:tr>
              <a:tr h="170486">
                <a:tc>
                  <a:txBody>
                    <a:bodyPr wrap="square"/>
                    <a:lstStyle/>
                    <a:p>
                      <a:pPr algn="l"/>
                      <a:r>
                        <a:rPr sz="1050" b="0" i="0">
                          <a:solidFill>
                            <a:srgbClr val="000000"/>
                          </a:solidFill>
                          <a:latin typeface="Calibri"/>
                        </a:rPr>
                        <a:t>Table 31: Europe Market CAGR and Absolute $ Opportunity by Application, %, US$ Mn, 2026–2036</a:t>
                      </a:r>
                      <a:endParaRPr sz="1050"/>
                    </a:p>
                  </a:txBody>
                  <a:tcPr marL="9525" marR="9525" marT="9525" marB="0" anchor="ctr"/>
                </a:tc>
              </a:tr>
              <a:tr h="334153">
                <a:tc>
                  <a:txBody>
                    <a:bodyPr wrap="square"/>
                    <a:lstStyle/>
                    <a:p>
                      <a:pPr algn="l"/>
                      <a:r>
                        <a:rPr sz="1050" b="0" i="0">
                          <a:solidFill>
                            <a:srgbClr val="000000"/>
                          </a:solidFill>
                          <a:latin typeface="Calibri"/>
                        </a:rPr>
                        <a:t>Table 32: Europe Market CAGR and Absolute $ Opportunity by Barrier Level Vs Application, %, US$ Mn, 2026–2036</a:t>
                      </a:r>
                      <a:endParaRPr sz="1050"/>
                    </a:p>
                  </a:txBody>
                  <a:tcPr marL="9525" marR="9525" marT="9525" marB="0" anchor="ctr"/>
                </a:tc>
              </a:tr>
              <a:tr h="170486">
                <a:tc>
                  <a:txBody>
                    <a:bodyPr wrap="square"/>
                    <a:lstStyle/>
                    <a:p>
                      <a:pPr algn="l"/>
                      <a:r>
                        <a:rPr sz="1050" b="0" i="0">
                          <a:solidFill>
                            <a:srgbClr val="000000"/>
                          </a:solidFill>
                          <a:latin typeface="Calibri"/>
                        </a:rPr>
                        <a:t>Table 33: Europe Market Share and BPS Change by Product Type, %, 2025, 2026 and 2036</a:t>
                      </a:r>
                      <a:endParaRPr sz="1050"/>
                    </a:p>
                  </a:txBody>
                  <a:tcPr marL="9525" marR="9525" marT="9525" marB="0" anchor="ctr"/>
                </a:tc>
              </a:tr>
              <a:tr h="334153">
                <a:tc>
                  <a:txBody>
                    <a:bodyPr wrap="square"/>
                    <a:lstStyle/>
                    <a:p>
                      <a:pPr algn="l"/>
                      <a:r>
                        <a:rPr sz="1050" b="0" i="0">
                          <a:solidFill>
                            <a:srgbClr val="000000"/>
                          </a:solidFill>
                          <a:latin typeface="Calibri"/>
                        </a:rPr>
                        <a:t>Table 34: Europe Market Share and BPS Change by Principal Material / Barrier Technology, %, 2025, 2026 and 2036</a:t>
                      </a:r>
                      <a:endParaRPr sz="1050"/>
                    </a:p>
                  </a:txBody>
                  <a:tcPr marL="9525" marR="9525" marT="9525" marB="0" anchor="ctr"/>
                </a:tc>
              </a:tr>
              <a:tr h="170486">
                <a:tc>
                  <a:txBody>
                    <a:bodyPr wrap="square"/>
                    <a:lstStyle/>
                    <a:p>
                      <a:pPr algn="l"/>
                      <a:r>
                        <a:rPr sz="1050" b="0" i="0">
                          <a:solidFill>
                            <a:srgbClr val="000000"/>
                          </a:solidFill>
                          <a:latin typeface="Calibri"/>
                        </a:rPr>
                        <a:t>Table 35: Europe Market Share and BPS Change by Material Structure, %, 2025, 2026 and 2036</a:t>
                      </a:r>
                      <a:endParaRPr sz="1050"/>
                    </a:p>
                  </a:txBody>
                  <a:tcPr marL="9525" marR="9525" marT="9525" marB="0" anchor="ctr"/>
                </a:tc>
              </a:tr>
              <a:tr h="170486">
                <a:tc>
                  <a:txBody>
                    <a:bodyPr wrap="square"/>
                    <a:lstStyle/>
                    <a:p>
                      <a:pPr algn="l"/>
                      <a:r>
                        <a:rPr sz="1050" b="0" i="0">
                          <a:solidFill>
                            <a:srgbClr val="000000"/>
                          </a:solidFill>
                          <a:latin typeface="Calibri"/>
                        </a:rPr>
                        <a:t>Table 36: Europe Market Share and BPS Change by Barrier Level, %, 2025, 2026 and 2036</a:t>
                      </a:r>
                      <a:endParaRPr sz="1050"/>
                    </a:p>
                  </a:txBody>
                  <a:tcPr marL="9525" marR="9525" marT="9525" marB="0" anchor="ctr"/>
                </a:tc>
              </a:tr>
              <a:tr h="170486">
                <a:tc>
                  <a:txBody>
                    <a:bodyPr wrap="square"/>
                    <a:lstStyle/>
                    <a:p>
                      <a:pPr algn="l"/>
                      <a:r>
                        <a:rPr sz="1050" b="0" i="0">
                          <a:solidFill>
                            <a:srgbClr val="000000"/>
                          </a:solidFill>
                          <a:latin typeface="Calibri"/>
                        </a:rPr>
                        <a:t>Table 37: Europe Market Share and BPS Change by Application, %, 2025, 2026 and 2036</a:t>
                      </a:r>
                      <a:endParaRPr sz="1050"/>
                    </a:p>
                  </a:txBody>
                  <a:tcPr marL="9525" marR="9525" marT="9525" marB="0" anchor="ctr"/>
                </a:tc>
              </a:tr>
              <a:tr h="334153">
                <a:tc>
                  <a:txBody>
                    <a:bodyPr wrap="square"/>
                    <a:lstStyle/>
                    <a:p>
                      <a:pPr algn="l"/>
                      <a:r>
                        <a:rPr sz="1050" b="0" i="0">
                          <a:solidFill>
                            <a:srgbClr val="000000"/>
                          </a:solidFill>
                          <a:latin typeface="Calibri"/>
                        </a:rPr>
                        <a:t>Table 38: Europe Market Share and BPS Change by Barrier Level Vs Application, %, 2025, 2026 and 2036</a:t>
                      </a:r>
                      <a:endParaRPr sz="1050"/>
                    </a:p>
                  </a:txBody>
                  <a:tcPr marL="9525" marR="9525" marT="9525" marB="0" anchor="ctr"/>
                </a:tc>
              </a:tr>
              <a:tr h="170486">
                <a:tc>
                  <a:txBody>
                    <a:bodyPr wrap="square"/>
                    <a:lstStyle/>
                    <a:p>
                      <a:pPr algn="l"/>
                      <a:r>
                        <a:rPr sz="1050" b="0" i="0">
                          <a:solidFill>
                            <a:srgbClr val="000000"/>
                          </a:solidFill>
                          <a:latin typeface="Calibri"/>
                        </a:rPr>
                        <a:t>Table 39: Europe Market YoY Growth by Product Type, %, 2026–2036</a:t>
                      </a:r>
                      <a:endParaRPr sz="1050"/>
                    </a:p>
                  </a:txBody>
                  <a:tcPr marL="9525" marR="9525" marT="9525" marB="0" anchor="ctr"/>
                </a:tc>
              </a:tr>
              <a:tr h="170486">
                <a:tc>
                  <a:txBody>
                    <a:bodyPr wrap="square"/>
                    <a:lstStyle/>
                    <a:p>
                      <a:pPr algn="l"/>
                      <a:r>
                        <a:rPr sz="1050" b="0" i="0">
                          <a:solidFill>
                            <a:srgbClr val="000000"/>
                          </a:solidFill>
                          <a:latin typeface="Calibri"/>
                        </a:rPr>
                        <a:t>Table 40: Europe Market YoY Growth by Principal Material / Barrier Technology, %, 2026–2036</a:t>
                      </a:r>
                      <a:endParaRPr sz="1050"/>
                    </a:p>
                  </a:txBody>
                  <a:tcPr marL="9525" marR="9525" marT="9525" marB="0" anchor="ctr"/>
                </a:tc>
              </a:tr>
              <a:tr h="170486">
                <a:tc>
                  <a:txBody>
                    <a:bodyPr wrap="square"/>
                    <a:lstStyle/>
                    <a:p>
                      <a:pPr algn="l"/>
                      <a:r>
                        <a:rPr sz="1050" b="0" i="0">
                          <a:solidFill>
                            <a:srgbClr val="000000"/>
                          </a:solidFill>
                          <a:latin typeface="Calibri"/>
                        </a:rPr>
                        <a:t>Table 41: Europe Market YoY Growth by Material Structure, %, 2026–2036</a:t>
                      </a:r>
                      <a:endParaRPr sz="1050"/>
                    </a:p>
                  </a:txBody>
                  <a:tcPr marL="9525" marR="9525" marT="9525" marB="0" anchor="ctr"/>
                </a:tc>
              </a:tr>
              <a:tr h="170486">
                <a:tc>
                  <a:txBody>
                    <a:bodyPr wrap="square"/>
                    <a:lstStyle/>
                    <a:p>
                      <a:pPr algn="l"/>
                      <a:r>
                        <a:rPr sz="1050" b="0" i="0">
                          <a:solidFill>
                            <a:srgbClr val="000000"/>
                          </a:solidFill>
                          <a:latin typeface="Calibri"/>
                        </a:rPr>
                        <a:t>Table 42: Europe Market YoY Growth by Barrier Level, %, 2026–2036</a:t>
                      </a:r>
                      <a:endParaRPr sz="1050"/>
                    </a:p>
                  </a:txBody>
                  <a:tcPr marL="9525" marR="9525" marT="9525" marB="0" anchor="ctr"/>
                </a:tc>
              </a:tr>
              <a:tr h="170486">
                <a:tc>
                  <a:txBody>
                    <a:bodyPr wrap="square"/>
                    <a:lstStyle/>
                    <a:p>
                      <a:pPr algn="l"/>
                      <a:r>
                        <a:rPr sz="1050" b="0" i="0">
                          <a:solidFill>
                            <a:srgbClr val="000000"/>
                          </a:solidFill>
                          <a:latin typeface="Calibri"/>
                        </a:rPr>
                        <a:t>Table 43: Europe Market YoY Growth by Application, %, 2026–2036</a:t>
                      </a:r>
                      <a:endParaRPr sz="1050"/>
                    </a:p>
                  </a:txBody>
                  <a:tcPr marL="9525" marR="9525" marT="9525" marB="0" anchor="ctr"/>
                </a:tc>
              </a:tr>
              <a:tr h="170486">
                <a:tc>
                  <a:txBody>
                    <a:bodyPr wrap="square"/>
                    <a:lstStyle/>
                    <a:p>
                      <a:pPr algn="l"/>
                      <a:r>
                        <a:rPr sz="1050" b="0" i="0">
                          <a:solidFill>
                            <a:srgbClr val="000000"/>
                          </a:solidFill>
                          <a:latin typeface="Calibri"/>
                        </a:rPr>
                        <a:t>Table 44: Europe Market YoY Growth by Barrier Level Vs Application, %, 2026–2036</a:t>
                      </a:r>
                      <a:endParaRPr sz="1050"/>
                    </a:p>
                  </a:txBody>
                  <a:tcPr marL="9525" marR="9525" marT="9525" marB="0" anchor="ctr"/>
                </a:tc>
              </a:tr>
              <a:tr h="170486">
                <a:tc>
                  <a:txBody>
                    <a:bodyPr wrap="square"/>
                    <a:lstStyle/>
                    <a:p>
                      <a:pPr algn="l"/>
                      <a:r>
                        <a:rPr sz="1050" b="0" i="0">
                          <a:solidFill>
                            <a:srgbClr val="000000"/>
                          </a:solidFill>
                          <a:latin typeface="Calibri"/>
                        </a:rPr>
                        <a:t>Table 45: Europe Market Volume by Product Type, Thousand MT, 2021–2036</a:t>
                      </a:r>
                      <a:endParaRPr sz="1050"/>
                    </a:p>
                  </a:txBody>
                  <a:tcPr marL="9525" marR="9525" marT="9525" marB="0" anchor="ctr"/>
                </a:tc>
              </a:tr>
              <a:tr h="170486">
                <a:tc>
                  <a:txBody>
                    <a:bodyPr wrap="square"/>
                    <a:lstStyle/>
                    <a:p>
                      <a:pPr algn="l"/>
                      <a:r>
                        <a:rPr sz="1050" b="0" i="0">
                          <a:solidFill>
                            <a:srgbClr val="000000"/>
                          </a:solidFill>
                          <a:latin typeface="Calibri"/>
                        </a:rPr>
                        <a:t>Table 46: Europe Market Volume by Principal Material / Barrier Technology, Thousand MT, 2021–2036</a:t>
                      </a:r>
                      <a:endParaRPr sz="1050"/>
                    </a:p>
                  </a:txBody>
                  <a:tcPr marL="9525" marR="9525" marT="9525" marB="0" anchor="ctr"/>
                </a:tc>
              </a:tr>
              <a:tr h="170486">
                <a:tc>
                  <a:txBody>
                    <a:bodyPr wrap="square"/>
                    <a:lstStyle/>
                    <a:p>
                      <a:pPr algn="l"/>
                      <a:r>
                        <a:rPr sz="1050" b="0" i="0">
                          <a:solidFill>
                            <a:srgbClr val="000000"/>
                          </a:solidFill>
                          <a:latin typeface="Calibri"/>
                        </a:rPr>
                        <a:t>Table 47: Europe Market Volume by Material Structure, Thousand MT, 2021–2036</a:t>
                      </a:r>
                      <a:endParaRPr sz="1050"/>
                    </a:p>
                  </a:txBody>
                  <a:tcPr marL="9525" marR="9525" marT="9525" marB="0" anchor="ctr"/>
                </a:tc>
              </a:tr>
              <a:tr h="170486">
                <a:tc>
                  <a:txBody>
                    <a:bodyPr wrap="square"/>
                    <a:lstStyle/>
                    <a:p>
                      <a:pPr algn="l"/>
                      <a:r>
                        <a:rPr sz="1050" b="0" i="0">
                          <a:solidFill>
                            <a:srgbClr val="000000"/>
                          </a:solidFill>
                          <a:latin typeface="Calibri"/>
                        </a:rPr>
                        <a:t>Table 48: Europe Market Volume by Barrier Level, Thousand MT, 2021–2036</a:t>
                      </a:r>
                      <a:endParaRPr sz="1050"/>
                    </a:p>
                  </a:txBody>
                  <a:tcPr marL="9525" marR="9525" marT="9525" marB="0" anchor="ctr"/>
                </a:tc>
              </a:tr>
              <a:tr h="170486">
                <a:tc>
                  <a:txBody>
                    <a:bodyPr wrap="square"/>
                    <a:lstStyle/>
                    <a:p>
                      <a:pPr algn="l"/>
                      <a:r>
                        <a:rPr sz="1050" b="0" i="0">
                          <a:solidFill>
                            <a:srgbClr val="000000"/>
                          </a:solidFill>
                          <a:latin typeface="Calibri"/>
                        </a:rPr>
                        <a:t>Table 49: Europe Market Volume by Application, Thousand MT, 2021–2036</a:t>
                      </a:r>
                      <a:endParaRPr sz="1050"/>
                    </a:p>
                  </a:txBody>
                  <a:tcPr marL="9525" marR="9525" marT="9525" marB="0" anchor="ctr"/>
                </a:tc>
              </a:tr>
              <a:tr h="170486">
                <a:tc>
                  <a:txBody>
                    <a:bodyPr wrap="square"/>
                    <a:lstStyle/>
                    <a:p>
                      <a:pPr algn="l"/>
                      <a:r>
                        <a:rPr sz="1050" b="0" i="0">
                          <a:solidFill>
                            <a:srgbClr val="000000"/>
                          </a:solidFill>
                          <a:latin typeface="Calibri"/>
                        </a:rPr>
                        <a:t>Table 50: Europe Market Volume by Barrier Level Vs Application, Thousand MT, 2021–2036</a:t>
                      </a:r>
                      <a:endParaRPr sz="1050"/>
                    </a:p>
                  </a:txBody>
                  <a:tcPr marL="9525" marR="9525" marT="9525" marB="0" anchor="ctr"/>
                </a:tc>
              </a:tr>
              <a:tr h="170486">
                <a:tc>
                  <a:txBody>
                    <a:bodyPr wrap="square"/>
                    <a:lstStyle/>
                    <a:p>
                      <a:pPr algn="l"/>
                      <a:r>
                        <a:rPr sz="1050" b="0" i="0">
                          <a:solidFill>
                            <a:srgbClr val="000000"/>
                          </a:solidFill>
                          <a:latin typeface="Calibri"/>
                        </a:rPr>
                        <a:t>Table 51: Europe Market Average Selling Price by Product Type, US$/MT, 2021–2036</a:t>
                      </a:r>
                      <a:endParaRPr sz="1050"/>
                    </a:p>
                  </a:txBody>
                  <a:tcPr marL="9525" marR="9525" marT="9525" marB="0" anchor="ctr"/>
                </a:tc>
              </a:tr>
              <a:tr h="334153">
                <a:tc>
                  <a:txBody>
                    <a:bodyPr wrap="square"/>
                    <a:lstStyle/>
                    <a:p>
                      <a:pPr algn="l"/>
                      <a:r>
                        <a:rPr sz="1050" b="0" i="0">
                          <a:solidFill>
                            <a:srgbClr val="000000"/>
                          </a:solidFill>
                          <a:latin typeface="Calibri"/>
                        </a:rPr>
                        <a:t>Table 52: Europe Market Average Selling Price by Principal Material / Barrier Technology, US$/MT, 2021–2036</a:t>
                      </a:r>
                      <a:endParaRPr sz="1050"/>
                    </a:p>
                  </a:txBody>
                  <a:tcPr marL="9525" marR="9525" marT="9525" marB="0" anchor="ctr"/>
                </a:tc>
              </a:tr>
              <a:tr h="170486">
                <a:tc>
                  <a:txBody>
                    <a:bodyPr wrap="square"/>
                    <a:lstStyle/>
                    <a:p>
                      <a:pPr algn="l"/>
                      <a:r>
                        <a:rPr sz="1050" b="0" i="0">
                          <a:solidFill>
                            <a:srgbClr val="000000"/>
                          </a:solidFill>
                          <a:latin typeface="Calibri"/>
                        </a:rPr>
                        <a:t>Table 53: Europe Market Average Selling Price by Material Structure, US$/MT, 2021–2036</a:t>
                      </a:r>
                      <a:endParaRPr sz="1050"/>
                    </a:p>
                  </a:txBody>
                  <a:tcPr marL="9525" marR="9525" marT="9525" marB="0" anchor="ctr"/>
                </a:tc>
              </a:tr>
              <a:tr h="170486">
                <a:tc>
                  <a:txBody>
                    <a:bodyPr wrap="square"/>
                    <a:lstStyle/>
                    <a:p>
                      <a:pPr algn="l"/>
                      <a:r>
                        <a:rPr sz="1050" b="0" i="0">
                          <a:solidFill>
                            <a:srgbClr val="000000"/>
                          </a:solidFill>
                          <a:latin typeface="Calibri"/>
                        </a:rPr>
                        <a:t>Table 54: Europe Market Average Selling Price by Barrier Level, US$/MT, 2021–2036</a:t>
                      </a:r>
                      <a:endParaRPr sz="1050"/>
                    </a:p>
                  </a:txBody>
                  <a:tcPr marL="9525" marR="9525" marT="9525" marB="0" anchor="ctr"/>
                </a:tc>
              </a:tr>
              <a:tr h="170486">
                <a:tc>
                  <a:txBody>
                    <a:bodyPr wrap="square"/>
                    <a:lstStyle/>
                    <a:p>
                      <a:pPr algn="l"/>
                      <a:r>
                        <a:rPr sz="1050" b="0" i="0">
                          <a:solidFill>
                            <a:srgbClr val="000000"/>
                          </a:solidFill>
                          <a:latin typeface="Calibri"/>
                        </a:rPr>
                        <a:t>Table 55: Europe Market Average Selling Price by Application, US$/MT, 2021–2036</a:t>
                      </a:r>
                      <a:endParaRPr sz="1050"/>
                    </a:p>
                  </a:txBody>
                  <a:tcPr marL="9525" marR="9525" marT="9525" marB="0" anchor="ctr"/>
                </a:tc>
              </a:tr>
              <a:tr h="170486">
                <a:tc>
                  <a:txBody>
                    <a:bodyPr wrap="square"/>
                    <a:lstStyle/>
                    <a:p>
                      <a:pPr algn="l"/>
                      <a:r>
                        <a:rPr sz="1050" b="0" i="0">
                          <a:solidFill>
                            <a:srgbClr val="000000"/>
                          </a:solidFill>
                          <a:latin typeface="Calibri"/>
                        </a:rPr>
                        <a:t>Table 56: Europe Market Average Selling Price by Barrier Level Vs Application, US$/MT,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67020">
                <a:tc>
                  <a:txBody>
                    <a:bodyPr wrap="square"/>
                    <a:lstStyle/>
                    <a:p>
                      <a:pPr algn="l"/>
                      <a:r>
                        <a:rPr sz="1050" b="0" i="0">
                          <a:solidFill>
                            <a:srgbClr val="000000"/>
                          </a:solidFill>
                          <a:latin typeface="Calibri"/>
                        </a:rPr>
                        <a:t>Table 57: Europe Market Attractiveness Index by Product Type, 2026–2036</a:t>
                      </a:r>
                      <a:endParaRPr sz="1050"/>
                    </a:p>
                  </a:txBody>
                  <a:tcPr marL="9525" marR="9525" marT="9525" marB="0" anchor="ctr"/>
                </a:tc>
              </a:tr>
              <a:tr h="167020">
                <a:tc>
                  <a:txBody>
                    <a:bodyPr wrap="square"/>
                    <a:lstStyle/>
                    <a:p>
                      <a:pPr algn="l"/>
                      <a:r>
                        <a:rPr sz="1050" b="0" i="0">
                          <a:solidFill>
                            <a:srgbClr val="000000"/>
                          </a:solidFill>
                          <a:latin typeface="Calibri"/>
                        </a:rPr>
                        <a:t>Table 58: Europe Market Attractiveness Index by Principal Material / Barrier Technology, 2026–2036</a:t>
                      </a:r>
                      <a:endParaRPr sz="1050"/>
                    </a:p>
                  </a:txBody>
                  <a:tcPr marL="9525" marR="9525" marT="9525" marB="0" anchor="ctr"/>
                </a:tc>
              </a:tr>
              <a:tr h="167020">
                <a:tc>
                  <a:txBody>
                    <a:bodyPr wrap="square"/>
                    <a:lstStyle/>
                    <a:p>
                      <a:pPr algn="l"/>
                      <a:r>
                        <a:rPr sz="1050" b="0" i="0">
                          <a:solidFill>
                            <a:srgbClr val="000000"/>
                          </a:solidFill>
                          <a:latin typeface="Calibri"/>
                        </a:rPr>
                        <a:t>Table 59: Europe Market Attractiveness Index by Material Structure, 2026–2036</a:t>
                      </a:r>
                      <a:endParaRPr sz="1050"/>
                    </a:p>
                  </a:txBody>
                  <a:tcPr marL="9525" marR="9525" marT="9525" marB="0" anchor="ctr"/>
                </a:tc>
              </a:tr>
              <a:tr h="167020">
                <a:tc>
                  <a:txBody>
                    <a:bodyPr wrap="square"/>
                    <a:lstStyle/>
                    <a:p>
                      <a:pPr algn="l"/>
                      <a:r>
                        <a:rPr sz="1050" b="0" i="0">
                          <a:solidFill>
                            <a:srgbClr val="000000"/>
                          </a:solidFill>
                          <a:latin typeface="Calibri"/>
                        </a:rPr>
                        <a:t>Table 60: Europe Market Attractiveness Index by Barrier Level, 2026–2036</a:t>
                      </a:r>
                      <a:endParaRPr sz="1050"/>
                    </a:p>
                  </a:txBody>
                  <a:tcPr marL="9525" marR="9525" marT="9525" marB="0" anchor="ctr"/>
                </a:tc>
              </a:tr>
              <a:tr h="167020">
                <a:tc>
                  <a:txBody>
                    <a:bodyPr wrap="square"/>
                    <a:lstStyle/>
                    <a:p>
                      <a:pPr algn="l"/>
                      <a:r>
                        <a:rPr sz="1050" b="0" i="0">
                          <a:solidFill>
                            <a:srgbClr val="000000"/>
                          </a:solidFill>
                          <a:latin typeface="Calibri"/>
                        </a:rPr>
                        <a:t>Table 61: Europe Market Attractiveness Index by Application, 2026–2036</a:t>
                      </a:r>
                      <a:endParaRPr sz="1050"/>
                    </a:p>
                  </a:txBody>
                  <a:tcPr marL="9525" marR="9525" marT="9525" marB="0" anchor="ctr"/>
                </a:tc>
              </a:tr>
              <a:tr h="167020">
                <a:tc>
                  <a:txBody>
                    <a:bodyPr wrap="square"/>
                    <a:lstStyle/>
                    <a:p>
                      <a:pPr algn="l"/>
                      <a:r>
                        <a:rPr sz="1050" b="0" i="0">
                          <a:solidFill>
                            <a:srgbClr val="000000"/>
                          </a:solidFill>
                          <a:latin typeface="Calibri"/>
                        </a:rPr>
                        <a:t>Table 62: Europe Market Attractiveness Index by Barrier Level Vs Application, 2026–2036</a:t>
                      </a:r>
                      <a:endParaRPr sz="1050"/>
                    </a:p>
                  </a:txBody>
                  <a:tcPr marL="9525" marR="9525" marT="9525" marB="0" anchor="ctr"/>
                </a:tc>
              </a:tr>
              <a:tr h="327360">
                <a:tc>
                  <a:txBody>
                    <a:bodyPr wrap="square"/>
                    <a:lstStyle/>
                    <a:p>
                      <a:pPr algn="l"/>
                      <a:r>
                        <a:rPr sz="1050" b="0" i="0">
                          <a:solidFill>
                            <a:srgbClr val="000000"/>
                          </a:solidFill>
                          <a:latin typeface="Calibri"/>
                        </a:rPr>
                        <a:t>Table 63: Europe Market Value and YoY Growth, Rollstock Films (Product Type), US$ Mn and %, 2021–2036</a:t>
                      </a:r>
                      <a:endParaRPr sz="1050"/>
                    </a:p>
                  </a:txBody>
                  <a:tcPr marL="9525" marR="9525" marT="9525" marB="0" anchor="ctr"/>
                </a:tc>
              </a:tr>
              <a:tr h="327360">
                <a:tc>
                  <a:txBody>
                    <a:bodyPr wrap="square"/>
                    <a:lstStyle/>
                    <a:p>
                      <a:pPr algn="l"/>
                      <a:r>
                        <a:rPr sz="1050" b="0" i="0">
                          <a:solidFill>
                            <a:srgbClr val="000000"/>
                          </a:solidFill>
                          <a:latin typeface="Calibri"/>
                        </a:rPr>
                        <a:t>Table 64: Europe Market Value and YoY Growth, PE-Based (Principal Material / Barrier Technology), US$ Mn and %, 2021–2036</a:t>
                      </a:r>
                      <a:endParaRPr sz="1050"/>
                    </a:p>
                  </a:txBody>
                  <a:tcPr marL="9525" marR="9525" marT="9525" marB="0" anchor="ctr"/>
                </a:tc>
              </a:tr>
              <a:tr h="327360">
                <a:tc>
                  <a:txBody>
                    <a:bodyPr wrap="square"/>
                    <a:lstStyle/>
                    <a:p>
                      <a:pPr algn="l"/>
                      <a:r>
                        <a:rPr sz="1050" b="0" i="0">
                          <a:solidFill>
                            <a:srgbClr val="000000"/>
                          </a:solidFill>
                          <a:latin typeface="Calibri"/>
                        </a:rPr>
                        <a:t>Table 65: Europe Market Value and YoY Growth, Monolayer Films (Material Structure), US$ Mn and %, 2021–2036</a:t>
                      </a:r>
                      <a:endParaRPr sz="1050"/>
                    </a:p>
                  </a:txBody>
                  <a:tcPr marL="9525" marR="9525" marT="9525" marB="0" anchor="ctr"/>
                </a:tc>
              </a:tr>
              <a:tr h="327360">
                <a:tc>
                  <a:txBody>
                    <a:bodyPr wrap="square"/>
                    <a:lstStyle/>
                    <a:p>
                      <a:pPr algn="l"/>
                      <a:r>
                        <a:rPr sz="1050" b="0" i="0">
                          <a:solidFill>
                            <a:srgbClr val="000000"/>
                          </a:solidFill>
                          <a:latin typeface="Calibri"/>
                        </a:rPr>
                        <a:t>Table 66: Europe Market Value and YoY Growth, Low-Barrier Films (Barrier Level), US$ Mn and %, 2021–2036</a:t>
                      </a:r>
                      <a:endParaRPr sz="1050"/>
                    </a:p>
                  </a:txBody>
                  <a:tcPr marL="9525" marR="9525" marT="9525" marB="0" anchor="ctr"/>
                </a:tc>
              </a:tr>
              <a:tr h="327360">
                <a:tc>
                  <a:txBody>
                    <a:bodyPr wrap="square"/>
                    <a:lstStyle/>
                    <a:p>
                      <a:pPr algn="l"/>
                      <a:r>
                        <a:rPr sz="1050" b="0" i="0">
                          <a:solidFill>
                            <a:srgbClr val="000000"/>
                          </a:solidFill>
                          <a:latin typeface="Calibri"/>
                        </a:rPr>
                        <a:t>Table 67: Europe Market Value and YoY Growth, Food Packaging (Application), US$ Mn and %, 2021–2036</a:t>
                      </a:r>
                      <a:endParaRPr sz="1050"/>
                    </a:p>
                  </a:txBody>
                  <a:tcPr marL="9525" marR="9525" marT="9525" marB="0" anchor="ctr"/>
                </a:tc>
              </a:tr>
              <a:tr h="327360">
                <a:tc>
                  <a:txBody>
                    <a:bodyPr wrap="square"/>
                    <a:lstStyle/>
                    <a:p>
                      <a:pPr algn="l"/>
                      <a:r>
                        <a:rPr sz="1050" b="0" i="0">
                          <a:solidFill>
                            <a:srgbClr val="000000"/>
                          </a:solidFill>
                          <a:latin typeface="Calibri"/>
                        </a:rPr>
                        <a:t>Table 68: Europe Market Value and YoY Growth, Low-Barrier Films (Barrier Level Vs Application), US$ Mn and %, 2021–2036</a:t>
                      </a:r>
                      <a:endParaRPr sz="1050"/>
                    </a:p>
                  </a:txBody>
                  <a:tcPr marL="9525" marR="9525" marT="9525" marB="0" anchor="ctr"/>
                </a:tc>
              </a:tr>
              <a:tr h="327360">
                <a:tc>
                  <a:txBody>
                    <a:bodyPr wrap="square"/>
                    <a:lstStyle/>
                    <a:p>
                      <a:pPr algn="l"/>
                      <a:r>
                        <a:rPr sz="1050" b="0" i="0">
                          <a:solidFill>
                            <a:srgbClr val="000000"/>
                          </a:solidFill>
                          <a:latin typeface="Calibri"/>
                        </a:rPr>
                        <a:t>Table 69: Europe Market Value and YoY Growth, Barrier Casings (Product Type), US$ Mn and %, 2021–2036</a:t>
                      </a:r>
                      <a:endParaRPr sz="1050"/>
                    </a:p>
                  </a:txBody>
                  <a:tcPr marL="9525" marR="9525" marT="9525" marB="0" anchor="ctr"/>
                </a:tc>
              </a:tr>
              <a:tr h="327360">
                <a:tc>
                  <a:txBody>
                    <a:bodyPr wrap="square"/>
                    <a:lstStyle/>
                    <a:p>
                      <a:pPr algn="l"/>
                      <a:r>
                        <a:rPr sz="1050" b="0" i="0">
                          <a:solidFill>
                            <a:srgbClr val="000000"/>
                          </a:solidFill>
                          <a:latin typeface="Calibri"/>
                        </a:rPr>
                        <a:t>Table 70: Europe Market Value and YoY Growth, PP-Based (Principal Material / Barrier Technology), US$ Mn and %, 2021–2036</a:t>
                      </a:r>
                      <a:endParaRPr sz="1050"/>
                    </a:p>
                  </a:txBody>
                  <a:tcPr marL="9525" marR="9525" marT="9525" marB="0" anchor="ctr"/>
                </a:tc>
              </a:tr>
              <a:tr h="327360">
                <a:tc>
                  <a:txBody>
                    <a:bodyPr wrap="square"/>
                    <a:lstStyle/>
                    <a:p>
                      <a:pPr algn="l"/>
                      <a:r>
                        <a:rPr sz="1050" b="0" i="0">
                          <a:solidFill>
                            <a:srgbClr val="000000"/>
                          </a:solidFill>
                          <a:latin typeface="Calibri"/>
                        </a:rPr>
                        <a:t>Table 71: Europe Market Value and YoY Growth, Coextruded Multilayer Films (Material Structure), US$ Mn and %, 2021–2036</a:t>
                      </a:r>
                      <a:endParaRPr sz="1050"/>
                    </a:p>
                  </a:txBody>
                  <a:tcPr marL="9525" marR="9525" marT="9525" marB="0" anchor="ctr"/>
                </a:tc>
              </a:tr>
              <a:tr h="327360">
                <a:tc>
                  <a:txBody>
                    <a:bodyPr wrap="square"/>
                    <a:lstStyle/>
                    <a:p>
                      <a:pPr algn="l"/>
                      <a:r>
                        <a:rPr sz="1050" b="0" i="0">
                          <a:solidFill>
                            <a:srgbClr val="000000"/>
                          </a:solidFill>
                          <a:latin typeface="Calibri"/>
                        </a:rPr>
                        <a:t>Table 72: Europe Market Value and YoY Growth, Medium-Barrier Films (Barrier Level), US$ Mn and %, 2021–2036</a:t>
                      </a:r>
                      <a:endParaRPr sz="1050"/>
                    </a:p>
                  </a:txBody>
                  <a:tcPr marL="9525" marR="9525" marT="9525" marB="0" anchor="ctr"/>
                </a:tc>
              </a:tr>
              <a:tr h="327360">
                <a:tc>
                  <a:txBody>
                    <a:bodyPr wrap="square"/>
                    <a:lstStyle/>
                    <a:p>
                      <a:pPr algn="l"/>
                      <a:r>
                        <a:rPr sz="1050" b="0" i="0">
                          <a:solidFill>
                            <a:srgbClr val="000000"/>
                          </a:solidFill>
                          <a:latin typeface="Calibri"/>
                        </a:rPr>
                        <a:t>Table 73: Europe Market Value and YoY Growth, Non-Food Packaging (Application), US$ Mn and %, 2021–2036</a:t>
                      </a:r>
                      <a:endParaRPr sz="1050"/>
                    </a:p>
                  </a:txBody>
                  <a:tcPr marL="9525" marR="9525" marT="9525" marB="0" anchor="ctr"/>
                </a:tc>
              </a:tr>
              <a:tr h="327360">
                <a:tc>
                  <a:txBody>
                    <a:bodyPr wrap="square"/>
                    <a:lstStyle/>
                    <a:p>
                      <a:pPr algn="l"/>
                      <a:r>
                        <a:rPr sz="1050" b="0" i="0">
                          <a:solidFill>
                            <a:srgbClr val="000000"/>
                          </a:solidFill>
                          <a:latin typeface="Calibri"/>
                        </a:rPr>
                        <a:t>Table 74: Europe Market Value and YoY Growth, Medium-Barrier Films (Barrier Level Vs Application), US$ Mn and %, 2021–2036</a:t>
                      </a:r>
                      <a:endParaRPr sz="1050"/>
                    </a:p>
                  </a:txBody>
                  <a:tcPr marL="9525" marR="9525" marT="9525" marB="0" anchor="ctr"/>
                </a:tc>
              </a:tr>
              <a:tr h="327360">
                <a:tc>
                  <a:txBody>
                    <a:bodyPr wrap="square"/>
                    <a:lstStyle/>
                    <a:p>
                      <a:pPr algn="l"/>
                      <a:r>
                        <a:rPr sz="1050" b="0" i="0">
                          <a:solidFill>
                            <a:srgbClr val="000000"/>
                          </a:solidFill>
                          <a:latin typeface="Calibri"/>
                        </a:rPr>
                        <a:t>Table 75: Europe Market Value and YoY Growth, Premade Pouches &amp; Bags (Product Type), US$ Mn and %,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327360">
                <a:tc>
                  <a:txBody>
                    <a:bodyPr wrap="square"/>
                    <a:lstStyle/>
                    <a:p>
                      <a:pPr algn="l"/>
                      <a:r>
                        <a:rPr sz="1050" b="0" i="0">
                          <a:solidFill>
                            <a:srgbClr val="000000"/>
                          </a:solidFill>
                          <a:latin typeface="Calibri"/>
                        </a:rPr>
                        <a:t>Table 76: Europe Market Value and YoY Growth, PET-Based (Principal Material / Barrier Technology), US$ Mn and %, 2021–2036</a:t>
                      </a:r>
                      <a:endParaRPr sz="1050"/>
                    </a:p>
                  </a:txBody>
                  <a:tcPr marL="9525" marR="9525" marT="9525" marB="0" anchor="ctr"/>
                </a:tc>
              </a:tr>
              <a:tr h="327360">
                <a:tc>
                  <a:txBody>
                    <a:bodyPr wrap="square"/>
                    <a:lstStyle/>
                    <a:p>
                      <a:pPr algn="l"/>
                      <a:r>
                        <a:rPr sz="1050" b="0" i="0">
                          <a:solidFill>
                            <a:srgbClr val="000000"/>
                          </a:solidFill>
                          <a:latin typeface="Calibri"/>
                        </a:rPr>
                        <a:t>Table 77: Europe Market Value and YoY Growth, Laminated Films (Material Structure), US$ Mn and %, 2021–2036</a:t>
                      </a:r>
                      <a:endParaRPr sz="1050"/>
                    </a:p>
                  </a:txBody>
                  <a:tcPr marL="9525" marR="9525" marT="9525" marB="0" anchor="ctr"/>
                </a:tc>
              </a:tr>
              <a:tr h="327360">
                <a:tc>
                  <a:txBody>
                    <a:bodyPr wrap="square"/>
                    <a:lstStyle/>
                    <a:p>
                      <a:pPr algn="l"/>
                      <a:r>
                        <a:rPr sz="1050" b="0" i="0">
                          <a:solidFill>
                            <a:srgbClr val="000000"/>
                          </a:solidFill>
                          <a:latin typeface="Calibri"/>
                        </a:rPr>
                        <a:t>Table 78: Europe Market Value and YoY Growth, High-Barrier Films (Barrier Level), US$ Mn and %, 2021–2036</a:t>
                      </a:r>
                      <a:endParaRPr sz="1050"/>
                    </a:p>
                  </a:txBody>
                  <a:tcPr marL="9525" marR="9525" marT="9525" marB="0" anchor="ctr"/>
                </a:tc>
              </a:tr>
              <a:tr h="167020">
                <a:tc>
                  <a:txBody>
                    <a:bodyPr wrap="square"/>
                    <a:lstStyle/>
                    <a:p>
                      <a:pPr algn="l"/>
                      <a:r>
                        <a:rPr sz="1050" b="0" i="0">
                          <a:solidFill>
                            <a:srgbClr val="000000"/>
                          </a:solidFill>
                          <a:latin typeface="Calibri"/>
                        </a:rPr>
                        <a:t>Table 79: Europe Market Value by Application by Scenario, US$ Mn, 2036</a:t>
                      </a:r>
                      <a:endParaRPr sz="1050"/>
                    </a:p>
                  </a:txBody>
                  <a:tcPr marL="9525" marR="9525" marT="9525" marB="0" anchor="ctr"/>
                </a:tc>
              </a:tr>
              <a:tr h="327360">
                <a:tc>
                  <a:txBody>
                    <a:bodyPr wrap="square"/>
                    <a:lstStyle/>
                    <a:p>
                      <a:pPr algn="l"/>
                      <a:r>
                        <a:rPr sz="1050" b="0" i="0">
                          <a:solidFill>
                            <a:srgbClr val="000000"/>
                          </a:solidFill>
                          <a:latin typeface="Calibri"/>
                        </a:rPr>
                        <a:t>Table 80: Europe Market Value and YoY Growth, High-Barrier Films (Barrier Level Vs Application), US$ Mn and %, 2021–2036</a:t>
                      </a:r>
                      <a:endParaRPr sz="1050"/>
                    </a:p>
                  </a:txBody>
                  <a:tcPr marL="9525" marR="9525" marT="9525" marB="0" anchor="ctr"/>
                </a:tc>
              </a:tr>
              <a:tr h="327360">
                <a:tc>
                  <a:txBody>
                    <a:bodyPr wrap="square"/>
                    <a:lstStyle/>
                    <a:p>
                      <a:pPr algn="l"/>
                      <a:r>
                        <a:rPr sz="1050" b="0" i="0">
                          <a:solidFill>
                            <a:srgbClr val="000000"/>
                          </a:solidFill>
                          <a:latin typeface="Calibri"/>
                        </a:rPr>
                        <a:t>Table 81: Europe Market Value and YoY Growth, Sachets &amp; Stick Packs (Product Type), US$ Mn and %, 2021–2036</a:t>
                      </a:r>
                      <a:endParaRPr sz="1050"/>
                    </a:p>
                  </a:txBody>
                  <a:tcPr marL="9525" marR="9525" marT="9525" marB="0" anchor="ctr"/>
                </a:tc>
              </a:tr>
              <a:tr h="327360">
                <a:tc>
                  <a:txBody>
                    <a:bodyPr wrap="square"/>
                    <a:lstStyle/>
                    <a:p>
                      <a:pPr algn="l"/>
                      <a:r>
                        <a:rPr sz="1050" b="0" i="0">
                          <a:solidFill>
                            <a:srgbClr val="000000"/>
                          </a:solidFill>
                          <a:latin typeface="Calibri"/>
                        </a:rPr>
                        <a:t>Table 82: Europe Market Value and YoY Growth, PA-Based (Principal Material / Barrier Technology), US$ Mn and %, 2021–2036</a:t>
                      </a:r>
                      <a:endParaRPr sz="1050"/>
                    </a:p>
                  </a:txBody>
                  <a:tcPr marL="9525" marR="9525" marT="9525" marB="0" anchor="ctr"/>
                </a:tc>
              </a:tr>
              <a:tr h="327360">
                <a:tc>
                  <a:txBody>
                    <a:bodyPr wrap="square"/>
                    <a:lstStyle/>
                    <a:p>
                      <a:pPr algn="l"/>
                      <a:r>
                        <a:rPr sz="1050" b="0" i="0">
                          <a:solidFill>
                            <a:srgbClr val="000000"/>
                          </a:solidFill>
                          <a:latin typeface="Calibri"/>
                        </a:rPr>
                        <a:t>Table 83: Europe Market Value and YoY Growth, Coated Films (Material Structure), US$ Mn and %, 2021–2036</a:t>
                      </a:r>
                      <a:endParaRPr sz="1050"/>
                    </a:p>
                  </a:txBody>
                  <a:tcPr marL="9525" marR="9525" marT="9525" marB="0" anchor="ctr"/>
                </a:tc>
              </a:tr>
              <a:tr h="327360">
                <a:tc>
                  <a:txBody>
                    <a:bodyPr wrap="square"/>
                    <a:lstStyle/>
                    <a:p>
                      <a:pPr algn="l"/>
                      <a:r>
                        <a:rPr sz="1050" b="0" i="0">
                          <a:solidFill>
                            <a:srgbClr val="000000"/>
                          </a:solidFill>
                          <a:latin typeface="Calibri"/>
                        </a:rPr>
                        <a:t>Table 84: Europe Market Value and YoY Growth, Ultra-High-Barrier Films (Barrier Level), US$ Mn and %, 2021–2036</a:t>
                      </a:r>
                      <a:endParaRPr sz="1050"/>
                    </a:p>
                  </a:txBody>
                  <a:tcPr marL="9525" marR="9525" marT="9525" marB="0" anchor="ctr"/>
                </a:tc>
              </a:tr>
              <a:tr h="327360">
                <a:tc>
                  <a:txBody>
                    <a:bodyPr wrap="square"/>
                    <a:lstStyle/>
                    <a:p>
                      <a:pPr algn="l"/>
                      <a:r>
                        <a:rPr sz="1050" b="0" i="0">
                          <a:solidFill>
                            <a:srgbClr val="000000"/>
                          </a:solidFill>
                          <a:latin typeface="Calibri"/>
                        </a:rPr>
                        <a:t>Table 85: Europe Market Value and YoY Growth, Ultra-High-Barrier Films (Barrier Level Vs Application), US$ Mn and %, 2021–2036</a:t>
                      </a:r>
                      <a:endParaRPr sz="1050"/>
                    </a:p>
                  </a:txBody>
                  <a:tcPr marL="9525" marR="9525" marT="9525" marB="0" anchor="ctr"/>
                </a:tc>
              </a:tr>
              <a:tr h="167020">
                <a:tc>
                  <a:txBody>
                    <a:bodyPr wrap="square"/>
                    <a:lstStyle/>
                    <a:p>
                      <a:pPr algn="l"/>
                      <a:r>
                        <a:rPr sz="1050" b="0" i="0">
                          <a:solidFill>
                            <a:srgbClr val="000000"/>
                          </a:solidFill>
                          <a:latin typeface="Calibri"/>
                        </a:rPr>
                        <a:t>Table 86: Europe Market Value by Product Type by Scenario, US$ Mn, 2036</a:t>
                      </a:r>
                      <a:endParaRPr sz="1050"/>
                    </a:p>
                  </a:txBody>
                  <a:tcPr marL="9525" marR="9525" marT="9525" marB="0" anchor="ctr"/>
                </a:tc>
              </a:tr>
              <a:tr h="327360">
                <a:tc>
                  <a:txBody>
                    <a:bodyPr wrap="square"/>
                    <a:lstStyle/>
                    <a:p>
                      <a:pPr algn="l"/>
                      <a:r>
                        <a:rPr sz="1050" b="0" i="0">
                          <a:solidFill>
                            <a:srgbClr val="000000"/>
                          </a:solidFill>
                          <a:latin typeface="Calibri"/>
                        </a:rPr>
                        <a:t>Table 87: Europe Market Value and YoY Growth, EVOH-Based (Principal Material / Barrier Technology), US$ Mn and %, 2021–2036</a:t>
                      </a:r>
                      <a:endParaRPr sz="1050"/>
                    </a:p>
                  </a:txBody>
                  <a:tcPr marL="9525" marR="9525" marT="9525" marB="0" anchor="ctr"/>
                </a:tc>
              </a:tr>
              <a:tr h="327360">
                <a:tc>
                  <a:txBody>
                    <a:bodyPr wrap="square"/>
                    <a:lstStyle/>
                    <a:p>
                      <a:pPr algn="l"/>
                      <a:r>
                        <a:rPr sz="1050" b="0" i="0">
                          <a:solidFill>
                            <a:srgbClr val="000000"/>
                          </a:solidFill>
                          <a:latin typeface="Calibri"/>
                        </a:rPr>
                        <a:t>Table 88: Europe Market Value and YoY Growth, Metallized Films (Material Structure), US$ Mn and %, 2021–2036</a:t>
                      </a:r>
                      <a:endParaRPr sz="1050"/>
                    </a:p>
                  </a:txBody>
                  <a:tcPr marL="9525" marR="9525" marT="9525" marB="0" anchor="ctr"/>
                </a:tc>
              </a:tr>
              <a:tr h="327360">
                <a:tc>
                  <a:txBody>
                    <a:bodyPr wrap="square"/>
                    <a:lstStyle/>
                    <a:p>
                      <a:pPr algn="l"/>
                      <a:r>
                        <a:rPr sz="1050" b="0" i="0">
                          <a:solidFill>
                            <a:srgbClr val="000000"/>
                          </a:solidFill>
                          <a:latin typeface="Calibri"/>
                        </a:rPr>
                        <a:t>Table 89: Europe Market Value by Product Type and Principal Material / Barrier Technology, US$ Mn, 2026–2036</a:t>
                      </a:r>
                      <a:endParaRPr sz="1050"/>
                    </a:p>
                  </a:txBody>
                  <a:tcPr marL="9525" marR="9525" marT="9525" marB="0" anchor="ctr"/>
                </a:tc>
              </a:tr>
              <a:tr h="167020">
                <a:tc>
                  <a:txBody>
                    <a:bodyPr wrap="square"/>
                    <a:lstStyle/>
                    <a:p>
                      <a:pPr algn="l"/>
                      <a:r>
                        <a:rPr sz="1050" b="0" i="0">
                          <a:solidFill>
                            <a:srgbClr val="000000"/>
                          </a:solidFill>
                          <a:latin typeface="Calibri"/>
                        </a:rPr>
                        <a:t>Table 90: Europe Market Value by Product Type and Material Structure, US$ Mn, 2026–2036</a:t>
                      </a:r>
                      <a:endParaRPr sz="1050"/>
                    </a:p>
                  </a:txBody>
                  <a:tcPr marL="9525" marR="9525" marT="9525" marB="0" anchor="ctr"/>
                </a:tc>
              </a:tr>
              <a:tr h="167020">
                <a:tc>
                  <a:txBody>
                    <a:bodyPr wrap="square"/>
                    <a:lstStyle/>
                    <a:p>
                      <a:pPr algn="l"/>
                      <a:r>
                        <a:rPr sz="1050" b="0" i="0">
                          <a:solidFill>
                            <a:srgbClr val="000000"/>
                          </a:solidFill>
                          <a:latin typeface="Calibri"/>
                        </a:rPr>
                        <a:t>Table 91: Europe Market Value by Product Type and Barrier Level, US$ Mn, 2026–2036</a:t>
                      </a:r>
                      <a:endParaRPr sz="1050"/>
                    </a:p>
                  </a:txBody>
                  <a:tcPr marL="9525" marR="9525" marT="9525" marB="0" anchor="ctr"/>
                </a:tc>
              </a:tr>
              <a:tr h="167020">
                <a:tc>
                  <a:txBody>
                    <a:bodyPr wrap="square"/>
                    <a:lstStyle/>
                    <a:p>
                      <a:pPr algn="l"/>
                      <a:r>
                        <a:rPr sz="1050" b="0" i="0">
                          <a:solidFill>
                            <a:srgbClr val="000000"/>
                          </a:solidFill>
                          <a:latin typeface="Calibri"/>
                        </a:rPr>
                        <a:t>Table 92: Europe Market Value by Product Type and Application, US$ Mn, 2026–2036</a:t>
                      </a:r>
                      <a:endParaRPr sz="1050"/>
                    </a:p>
                  </a:txBody>
                  <a:tcPr marL="9525" marR="9525" marT="9525" marB="0" anchor="ctr"/>
                </a:tc>
              </a:tr>
              <a:tr h="167020">
                <a:tc>
                  <a:txBody>
                    <a:bodyPr wrap="square"/>
                    <a:lstStyle/>
                    <a:p>
                      <a:pPr algn="l"/>
                      <a:r>
                        <a:rPr sz="1050" b="0" i="0">
                          <a:solidFill>
                            <a:srgbClr val="000000"/>
                          </a:solidFill>
                          <a:latin typeface="Calibri"/>
                        </a:rPr>
                        <a:t>Table 93: Europe Market Value by Product Type and Barrier Level Vs Application, US$ Mn, 2026–2036</a:t>
                      </a:r>
                      <a:endParaRPr sz="1050"/>
                    </a:p>
                  </a:txBody>
                  <a:tcPr marL="9525" marR="9525" marT="9525" marB="0" anchor="ctr"/>
                </a:tc>
              </a:tr>
              <a:tr h="327360">
                <a:tc>
                  <a:txBody>
                    <a:bodyPr wrap="square"/>
                    <a:lstStyle/>
                    <a:p>
                      <a:pPr algn="l"/>
                      <a:r>
                        <a:rPr sz="1050" b="0" i="0">
                          <a:solidFill>
                            <a:srgbClr val="000000"/>
                          </a:solidFill>
                          <a:latin typeface="Calibri"/>
                        </a:rPr>
                        <a:t>Table 94: Europe Market Value by Principal Material / Barrier Technology and Material Structure,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336334">
                <a:tc>
                  <a:txBody>
                    <a:bodyPr wrap="square"/>
                    <a:lstStyle/>
                    <a:p>
                      <a:pPr algn="l"/>
                      <a:r>
                        <a:rPr sz="1050" b="0" i="0">
                          <a:solidFill>
                            <a:srgbClr val="000000"/>
                          </a:solidFill>
                          <a:latin typeface="Calibri"/>
                        </a:rPr>
                        <a:t>Table 95: Europe Market Value by Principal Material / Barrier Technology and Barrier Level, US$ Mn, 2026–2036</a:t>
                      </a:r>
                      <a:endParaRPr sz="1050"/>
                    </a:p>
                  </a:txBody>
                  <a:tcPr marL="9525" marR="9525" marT="9525" marB="0" anchor="ctr"/>
                </a:tc>
              </a:tr>
              <a:tr h="336334">
                <a:tc>
                  <a:txBody>
                    <a:bodyPr wrap="square"/>
                    <a:lstStyle/>
                    <a:p>
                      <a:pPr algn="l"/>
                      <a:r>
                        <a:rPr sz="1050" b="0" i="0">
                          <a:solidFill>
                            <a:srgbClr val="000000"/>
                          </a:solidFill>
                          <a:latin typeface="Calibri"/>
                        </a:rPr>
                        <a:t>Table 96: Europe Market Value by Principal Material / Barrier Technology and Application, US$ Mn, 2026–2036</a:t>
                      </a:r>
                      <a:endParaRPr sz="1050"/>
                    </a:p>
                  </a:txBody>
                  <a:tcPr marL="9525" marR="9525" marT="9525" marB="0" anchor="ctr"/>
                </a:tc>
              </a:tr>
              <a:tr h="336334">
                <a:tc>
                  <a:txBody>
                    <a:bodyPr wrap="square"/>
                    <a:lstStyle/>
                    <a:p>
                      <a:pPr algn="l"/>
                      <a:r>
                        <a:rPr sz="1050" b="0" i="0">
                          <a:solidFill>
                            <a:srgbClr val="000000"/>
                          </a:solidFill>
                          <a:latin typeface="Calibri"/>
                        </a:rPr>
                        <a:t>Table 97: Europe Market Value by Principal Material / Barrier Technology and Barrier Level Vs Application, US$ Mn, 2026–2036</a:t>
                      </a:r>
                      <a:endParaRPr sz="1050"/>
                    </a:p>
                  </a:txBody>
                  <a:tcPr marL="9525" marR="9525" marT="9525" marB="0" anchor="ctr"/>
                </a:tc>
              </a:tr>
              <a:tr h="171599">
                <a:tc>
                  <a:txBody>
                    <a:bodyPr wrap="square"/>
                    <a:lstStyle/>
                    <a:p>
                      <a:pPr algn="l"/>
                      <a:r>
                        <a:rPr sz="1050" b="0" i="0">
                          <a:solidFill>
                            <a:srgbClr val="000000"/>
                          </a:solidFill>
                          <a:latin typeface="Calibri"/>
                        </a:rPr>
                        <a:t>Table 98: Europe Market Value by Material Structure and Barrier Level, US$ Mn, 2026–2036</a:t>
                      </a:r>
                      <a:endParaRPr sz="1050"/>
                    </a:p>
                  </a:txBody>
                  <a:tcPr marL="9525" marR="9525" marT="9525" marB="0" anchor="ctr"/>
                </a:tc>
              </a:tr>
              <a:tr h="171599">
                <a:tc>
                  <a:txBody>
                    <a:bodyPr wrap="square"/>
                    <a:lstStyle/>
                    <a:p>
                      <a:pPr algn="l"/>
                      <a:r>
                        <a:rPr sz="1050" b="0" i="0">
                          <a:solidFill>
                            <a:srgbClr val="000000"/>
                          </a:solidFill>
                          <a:latin typeface="Calibri"/>
                        </a:rPr>
                        <a:t>Table 99: Europe Market Value by Material Structure and Application, US$ Mn, 2026–2036</a:t>
                      </a:r>
                      <a:endParaRPr sz="1050"/>
                    </a:p>
                  </a:txBody>
                  <a:tcPr marL="9525" marR="9525" marT="9525" marB="0" anchor="ctr"/>
                </a:tc>
              </a:tr>
              <a:tr h="336334">
                <a:tc>
                  <a:txBody>
                    <a:bodyPr wrap="square"/>
                    <a:lstStyle/>
                    <a:p>
                      <a:pPr algn="l"/>
                      <a:r>
                        <a:rPr sz="1050" b="0" i="0">
                          <a:solidFill>
                            <a:srgbClr val="000000"/>
                          </a:solidFill>
                          <a:latin typeface="Calibri"/>
                        </a:rPr>
                        <a:t>Table 100: Europe Market Value by Material Structure and Barrier Level Vs Application, US$ Mn, 2026–2036</a:t>
                      </a:r>
                      <a:endParaRPr sz="1050"/>
                    </a:p>
                  </a:txBody>
                  <a:tcPr marL="9525" marR="9525" marT="9525" marB="0" anchor="ctr"/>
                </a:tc>
              </a:tr>
              <a:tr h="171599">
                <a:tc>
                  <a:txBody>
                    <a:bodyPr wrap="square"/>
                    <a:lstStyle/>
                    <a:p>
                      <a:pPr algn="l"/>
                      <a:r>
                        <a:rPr sz="1050" b="0" i="0">
                          <a:solidFill>
                            <a:srgbClr val="000000"/>
                          </a:solidFill>
                          <a:latin typeface="Calibri"/>
                        </a:rPr>
                        <a:t>Table 101: Europe Market Value by Barrier Level and Application, US$ Mn, 2026–2036</a:t>
                      </a:r>
                      <a:endParaRPr sz="1050"/>
                    </a:p>
                  </a:txBody>
                  <a:tcPr marL="9525" marR="9525" marT="9525" marB="0" anchor="ctr"/>
                </a:tc>
              </a:tr>
              <a:tr h="171599">
                <a:tc>
                  <a:txBody>
                    <a:bodyPr wrap="square"/>
                    <a:lstStyle/>
                    <a:p>
                      <a:pPr algn="l"/>
                      <a:r>
                        <a:rPr sz="1050" b="0" i="0">
                          <a:solidFill>
                            <a:srgbClr val="000000"/>
                          </a:solidFill>
                          <a:latin typeface="Calibri"/>
                        </a:rPr>
                        <a:t>Table 102: Europe Market Value by Barrier Level and Barrier Level Vs Application, US$ Mn, 2026–2036</a:t>
                      </a:r>
                      <a:endParaRPr sz="1050"/>
                    </a:p>
                  </a:txBody>
                  <a:tcPr marL="9525" marR="9525" marT="9525" marB="0" anchor="ctr"/>
                </a:tc>
              </a:tr>
              <a:tr h="171599">
                <a:tc>
                  <a:txBody>
                    <a:bodyPr wrap="square"/>
                    <a:lstStyle/>
                    <a:p>
                      <a:pPr algn="l"/>
                      <a:r>
                        <a:rPr sz="1050" b="0" i="0">
                          <a:solidFill>
                            <a:srgbClr val="000000"/>
                          </a:solidFill>
                          <a:latin typeface="Calibri"/>
                        </a:rPr>
                        <a:t>Table 103: Europe Market Value by Application and Barrier Level Vs Application, US$ Mn, 2026–2036</a:t>
                      </a:r>
                      <a:endParaRPr sz="1050"/>
                    </a:p>
                  </a:txBody>
                  <a:tcPr marL="9525" marR="9525" marT="9525" marB="0" anchor="ctr"/>
                </a:tc>
              </a:tr>
              <a:tr h="336334">
                <a:tc>
                  <a:txBody>
                    <a:bodyPr wrap="square"/>
                    <a:lstStyle/>
                    <a:p>
                      <a:pPr algn="l"/>
                      <a:r>
                        <a:rPr sz="1050" b="0" i="0">
                          <a:solidFill>
                            <a:srgbClr val="000000"/>
                          </a:solidFill>
                          <a:latin typeface="Calibri"/>
                        </a:rPr>
                        <a:t>Table 104: Europe Market CAGR by Product Type and Principal Material / Barrier Technology, %, 2026–2036</a:t>
                      </a:r>
                      <a:endParaRPr sz="1050"/>
                    </a:p>
                  </a:txBody>
                  <a:tcPr marL="9525" marR="9525" marT="9525" marB="0" anchor="ctr"/>
                </a:tc>
              </a:tr>
              <a:tr h="171599">
                <a:tc>
                  <a:txBody>
                    <a:bodyPr wrap="square"/>
                    <a:lstStyle/>
                    <a:p>
                      <a:pPr algn="l"/>
                      <a:r>
                        <a:rPr sz="1050" b="0" i="0">
                          <a:solidFill>
                            <a:srgbClr val="000000"/>
                          </a:solidFill>
                          <a:latin typeface="Calibri"/>
                        </a:rPr>
                        <a:t>Table 105: Europe Market CAGR by Product Type and Material Structure, %, 2026–2036</a:t>
                      </a:r>
                      <a:endParaRPr sz="1050"/>
                    </a:p>
                  </a:txBody>
                  <a:tcPr marL="9525" marR="9525" marT="9525" marB="0" anchor="ctr"/>
                </a:tc>
              </a:tr>
              <a:tr h="171599">
                <a:tc>
                  <a:txBody>
                    <a:bodyPr wrap="square"/>
                    <a:lstStyle/>
                    <a:p>
                      <a:pPr algn="l"/>
                      <a:r>
                        <a:rPr sz="1050" b="0" i="0">
                          <a:solidFill>
                            <a:srgbClr val="000000"/>
                          </a:solidFill>
                          <a:latin typeface="Calibri"/>
                        </a:rPr>
                        <a:t>Table 106: Europe Market CAGR by Product Type and Barrier Level, %, 2026–2036</a:t>
                      </a:r>
                      <a:endParaRPr sz="1050"/>
                    </a:p>
                  </a:txBody>
                  <a:tcPr marL="9525" marR="9525" marT="9525" marB="0" anchor="ctr"/>
                </a:tc>
              </a:tr>
              <a:tr h="171599">
                <a:tc>
                  <a:txBody>
                    <a:bodyPr wrap="square"/>
                    <a:lstStyle/>
                    <a:p>
                      <a:pPr algn="l"/>
                      <a:r>
                        <a:rPr sz="1050" b="0" i="0">
                          <a:solidFill>
                            <a:srgbClr val="000000"/>
                          </a:solidFill>
                          <a:latin typeface="Calibri"/>
                        </a:rPr>
                        <a:t>Table 107: Europe Market CAGR by Product Type and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108: Europe Market CAGR by Product Type and Barrier Level Vs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109: Europe Market CAGR by Principal Material / Barrier Technology and Material Structure, %, 2026–2036</a:t>
                      </a:r>
                      <a:endParaRPr sz="1050"/>
                    </a:p>
                  </a:txBody>
                  <a:tcPr marL="9525" marR="9525" marT="9525" marB="0" anchor="ctr"/>
                </a:tc>
              </a:tr>
              <a:tr h="336334">
                <a:tc>
                  <a:txBody>
                    <a:bodyPr wrap="square"/>
                    <a:lstStyle/>
                    <a:p>
                      <a:pPr algn="l"/>
                      <a:r>
                        <a:rPr sz="1050" b="0" i="0">
                          <a:solidFill>
                            <a:srgbClr val="000000"/>
                          </a:solidFill>
                          <a:latin typeface="Calibri"/>
                        </a:rPr>
                        <a:t>Table 110: Europe Market CAGR by Principal Material / Barrier Technology and Barrier Level, %, 2026–2036</a:t>
                      </a:r>
                      <a:endParaRPr sz="1050"/>
                    </a:p>
                  </a:txBody>
                  <a:tcPr marL="9525" marR="9525" marT="9525" marB="0" anchor="ctr"/>
                </a:tc>
              </a:tr>
              <a:tr h="336334">
                <a:tc>
                  <a:txBody>
                    <a:bodyPr wrap="square"/>
                    <a:lstStyle/>
                    <a:p>
                      <a:pPr algn="l"/>
                      <a:r>
                        <a:rPr sz="1050" b="0" i="0">
                          <a:solidFill>
                            <a:srgbClr val="000000"/>
                          </a:solidFill>
                          <a:latin typeface="Calibri"/>
                        </a:rPr>
                        <a:t>Table 111: Europe Market CAGR by Principal Material / Barrier Technology and Application, %, 2026–2036</a:t>
                      </a:r>
                      <a:endParaRPr sz="1050"/>
                    </a:p>
                  </a:txBody>
                  <a:tcPr marL="9525" marR="9525" marT="9525" marB="0" anchor="ctr"/>
                </a:tc>
              </a:tr>
              <a:tr h="336334">
                <a:tc>
                  <a:txBody>
                    <a:bodyPr wrap="square"/>
                    <a:lstStyle/>
                    <a:p>
                      <a:pPr algn="l"/>
                      <a:r>
                        <a:rPr sz="1050" b="0" i="0">
                          <a:solidFill>
                            <a:srgbClr val="000000"/>
                          </a:solidFill>
                          <a:latin typeface="Calibri"/>
                        </a:rPr>
                        <a:t>Table 112: Europe Market CAGR by Principal Material / Barrier Technology and Barrier Level Vs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113: Europe Market CAGR by Material Structure and Barrier Level, %, 2026–2036</a:t>
                      </a:r>
                      <a:endParaRPr sz="1050"/>
                    </a:p>
                  </a:txBody>
                  <a:tcPr marL="9525" marR="9525" marT="9525" marB="0" anchor="ctr"/>
                </a:tc>
              </a:tr>
              <a:tr h="171599">
                <a:tc>
                  <a:txBody>
                    <a:bodyPr wrap="square"/>
                    <a:lstStyle/>
                    <a:p>
                      <a:pPr algn="l"/>
                      <a:r>
                        <a:rPr sz="1050" b="0" i="0">
                          <a:solidFill>
                            <a:srgbClr val="000000"/>
                          </a:solidFill>
                          <a:latin typeface="Calibri"/>
                        </a:rPr>
                        <a:t>Table 114: Europe Market CAGR by Material Structure and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115: Europe Market CAGR by Material Structure and Barrier Level Vs Application, %, 2026–2036</a:t>
                      </a:r>
                      <a:endParaRPr sz="1050"/>
                    </a:p>
                  </a:txBody>
                  <a:tcPr marL="9525" marR="9525" marT="9525" marB="0" anchor="ctr"/>
                </a:tc>
              </a:tr>
              <a:tr h="171599">
                <a:tc>
                  <a:txBody>
                    <a:bodyPr wrap="square"/>
                    <a:lstStyle/>
                    <a:p>
                      <a:pPr algn="l"/>
                      <a:r>
                        <a:rPr sz="1050" b="0" i="0">
                          <a:solidFill>
                            <a:srgbClr val="000000"/>
                          </a:solidFill>
                          <a:latin typeface="Calibri"/>
                        </a:rPr>
                        <a:t>Table 116: Europe Market CAGR by Barrier Level and Application, %,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117: Europe Market CAGR by Barrier Level and Barrier Level Vs Application, %, 2026–2036</a:t>
                      </a:r>
                      <a:endParaRPr sz="1050"/>
                    </a:p>
                  </a:txBody>
                  <a:tcPr marL="9525" marR="9525" marT="9525" marB="0" anchor="ctr"/>
                </a:tc>
              </a:tr>
              <a:tr h="169606">
                <a:tc>
                  <a:txBody>
                    <a:bodyPr wrap="square"/>
                    <a:lstStyle/>
                    <a:p>
                      <a:pPr algn="l"/>
                      <a:r>
                        <a:rPr sz="1050" b="0" i="0">
                          <a:solidFill>
                            <a:srgbClr val="000000"/>
                          </a:solidFill>
                          <a:latin typeface="Calibri"/>
                        </a:rPr>
                        <a:t>Table 118: Germany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119: Germany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120: Germany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121: Germany Market Share within Europe, %, 2025, 2026 and 2036</a:t>
                      </a:r>
                      <a:endParaRPr sz="1050"/>
                    </a:p>
                  </a:txBody>
                  <a:tcPr marL="9525" marR="9525" marT="9525" marB="0" anchor="ctr"/>
                </a:tc>
              </a:tr>
              <a:tr h="169606">
                <a:tc>
                  <a:txBody>
                    <a:bodyPr wrap="square"/>
                    <a:lstStyle/>
                    <a:p>
                      <a:pPr algn="l"/>
                      <a:r>
                        <a:rPr sz="1050" b="0" i="0">
                          <a:solidFill>
                            <a:srgbClr val="000000"/>
                          </a:solidFill>
                          <a:latin typeface="Calibri"/>
                        </a:rPr>
                        <a:t>Table 122: Germany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123: Germany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124: Germany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125: Germany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126: U.K.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127: U.K.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128: U.K.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129: U.K. Market Share within Europe, %, 2025, 2026 and 2036</a:t>
                      </a:r>
                      <a:endParaRPr sz="1050"/>
                    </a:p>
                  </a:txBody>
                  <a:tcPr marL="9525" marR="9525" marT="9525" marB="0" anchor="ctr"/>
                </a:tc>
              </a:tr>
              <a:tr h="169606">
                <a:tc>
                  <a:txBody>
                    <a:bodyPr wrap="square"/>
                    <a:lstStyle/>
                    <a:p>
                      <a:pPr algn="l"/>
                      <a:r>
                        <a:rPr sz="1050" b="0" i="0">
                          <a:solidFill>
                            <a:srgbClr val="000000"/>
                          </a:solidFill>
                          <a:latin typeface="Calibri"/>
                        </a:rPr>
                        <a:t>Table 130: U.K.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131: U.K.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132: U.K.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133: U.K.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134: France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135: France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136: France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137: France Market Share within Europe, %, 2025, 2026 and 2036</a:t>
                      </a:r>
                      <a:endParaRPr sz="1050"/>
                    </a:p>
                  </a:txBody>
                  <a:tcPr marL="9525" marR="9525" marT="9525" marB="0" anchor="ctr"/>
                </a:tc>
              </a:tr>
              <a:tr h="169606">
                <a:tc>
                  <a:txBody>
                    <a:bodyPr wrap="square"/>
                    <a:lstStyle/>
                    <a:p>
                      <a:pPr algn="l"/>
                      <a:r>
                        <a:rPr sz="1050" b="0" i="0">
                          <a:solidFill>
                            <a:srgbClr val="000000"/>
                          </a:solidFill>
                          <a:latin typeface="Calibri"/>
                        </a:rPr>
                        <a:t>Table 138: France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139: France Market Value by Material Structure, US$ Mn, 2021–2036</a:t>
                      </a:r>
                      <a:endParaRPr sz="1050"/>
                    </a:p>
                  </a:txBody>
                  <a:tcPr marL="9525" marR="9525" marT="9525" marB="0" anchor="ctr"/>
                </a:tc>
              </a:tr>
              <a:tr h="169606">
                <a:tc>
                  <a:txBody>
                    <a:bodyPr wrap="square"/>
                    <a:lstStyle/>
                    <a:p>
                      <a:pPr algn="l"/>
                      <a:r>
                        <a:rPr sz="1050" b="0" i="0">
                          <a:solidFill>
                            <a:srgbClr val="000000"/>
                          </a:solidFill>
                          <a:latin typeface="Calibri"/>
                        </a:rPr>
                        <a:t>Table 140: France Market Value by Barrier Level, US$ Mn, 2021–2036</a:t>
                      </a:r>
                      <a:endParaRPr sz="1050"/>
                    </a:p>
                  </a:txBody>
                  <a:tcPr marL="9525" marR="9525" marT="9525" marB="0" anchor="ctr"/>
                </a:tc>
              </a:tr>
              <a:tr h="169606">
                <a:tc>
                  <a:txBody>
                    <a:bodyPr wrap="square"/>
                    <a:lstStyle/>
                    <a:p>
                      <a:pPr algn="l"/>
                      <a:r>
                        <a:rPr sz="1050" b="0" i="0">
                          <a:solidFill>
                            <a:srgbClr val="000000"/>
                          </a:solidFill>
                          <a:latin typeface="Calibri"/>
                        </a:rPr>
                        <a:t>Table 141: France Market Value by Barrier Level Vs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142: Italy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143: Italy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144: Italy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145: Italy Market Share within Europe, %, 2025, 2026 and 2036</a:t>
                      </a:r>
                      <a:endParaRPr sz="1050"/>
                    </a:p>
                  </a:txBody>
                  <a:tcPr marL="9525" marR="9525" marT="9525" marB="0" anchor="ctr"/>
                </a:tc>
              </a:tr>
              <a:tr h="169606">
                <a:tc>
                  <a:txBody>
                    <a:bodyPr wrap="square"/>
                    <a:lstStyle/>
                    <a:p>
                      <a:pPr algn="l"/>
                      <a:r>
                        <a:rPr sz="1050" b="0" i="0">
                          <a:solidFill>
                            <a:srgbClr val="000000"/>
                          </a:solidFill>
                          <a:latin typeface="Calibri"/>
                        </a:rPr>
                        <a:t>Table 146: Italy Market Value by Principal Material / Barrier Technology, US$ Mn, 2021–2036</a:t>
                      </a:r>
                      <a:endParaRPr sz="1050"/>
                    </a:p>
                  </a:txBody>
                  <a:tcPr marL="9525" marR="9525" marT="9525" marB="0" anchor="ctr"/>
                </a:tc>
              </a:tr>
              <a:tr h="169606">
                <a:tc>
                  <a:txBody>
                    <a:bodyPr wrap="square"/>
                    <a:lstStyle/>
                    <a:p>
                      <a:pPr algn="l"/>
                      <a:r>
                        <a:rPr sz="1050" b="0" i="0">
                          <a:solidFill>
                            <a:srgbClr val="000000"/>
                          </a:solidFill>
                          <a:latin typeface="Calibri"/>
                        </a:rPr>
                        <a:t>Table 147: Italy Market Value by Material Structure, US$ Mn,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148: Italy Market Value by Barrier Level, US$ Mn, 2021–2036</a:t>
                      </a:r>
                      <a:endParaRPr sz="1050"/>
                    </a:p>
                  </a:txBody>
                  <a:tcPr marL="9525" marR="9525" marT="9525" marB="0" anchor="ctr"/>
                </a:tc>
              </a:tr>
              <a:tr h="169826">
                <a:tc>
                  <a:txBody>
                    <a:bodyPr wrap="square"/>
                    <a:lstStyle/>
                    <a:p>
                      <a:pPr algn="l"/>
                      <a:r>
                        <a:rPr sz="1050" b="0" i="0">
                          <a:solidFill>
                            <a:srgbClr val="000000"/>
                          </a:solidFill>
                          <a:latin typeface="Calibri"/>
                        </a:rPr>
                        <a:t>Table 149: Italy Market Value by Barrier Level Vs Application, US$ Mn, 2021–2036</a:t>
                      </a:r>
                      <a:endParaRPr sz="1050"/>
                    </a:p>
                  </a:txBody>
                  <a:tcPr marL="9525" marR="9525" marT="9525" marB="0" anchor="ctr"/>
                </a:tc>
              </a:tr>
              <a:tr h="169826">
                <a:tc>
                  <a:txBody>
                    <a:bodyPr wrap="square"/>
                    <a:lstStyle/>
                    <a:p>
                      <a:pPr algn="l"/>
                      <a:r>
                        <a:rPr sz="1050" b="0" i="0">
                          <a:solidFill>
                            <a:srgbClr val="000000"/>
                          </a:solidFill>
                          <a:latin typeface="Calibri"/>
                        </a:rPr>
                        <a:t>Table 150: Spain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151: Spain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152: Nordic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153: Nordic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154: Russia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155: Russia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156: Poland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157: Poland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158: Netherlands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159: Netherlands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160: Belgium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161: Belgium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162: Switzerland Market Value by Product Type, US$ Mn, 2021–2036</a:t>
                      </a:r>
                      <a:endParaRPr sz="1050"/>
                    </a:p>
                  </a:txBody>
                  <a:tcPr marL="9525" marR="9525" marT="9525" marB="0" anchor="ctr"/>
                </a:tc>
              </a:tr>
              <a:tr h="169826">
                <a:tc>
                  <a:txBody>
                    <a:bodyPr wrap="square"/>
                    <a:lstStyle/>
                    <a:p>
                      <a:pPr algn="l"/>
                      <a:r>
                        <a:rPr sz="1050" b="0" i="0">
                          <a:solidFill>
                            <a:srgbClr val="000000"/>
                          </a:solidFill>
                          <a:latin typeface="Calibri"/>
                        </a:rPr>
                        <a:t>Table 163: Switzerland Market Historical and Forecast Growth, %, 2021–2036</a:t>
                      </a:r>
                      <a:endParaRPr sz="1050"/>
                    </a:p>
                  </a:txBody>
                  <a:tcPr marL="9525" marR="9525" marT="9525" marB="0" anchor="ctr"/>
                </a:tc>
              </a:tr>
              <a:tr h="169826">
                <a:tc>
                  <a:txBody>
                    <a:bodyPr wrap="square"/>
                    <a:lstStyle/>
                    <a:p>
                      <a:pPr algn="l"/>
                      <a:r>
                        <a:rPr sz="1050" b="0" i="0">
                          <a:solidFill>
                            <a:srgbClr val="000000"/>
                          </a:solidFill>
                          <a:latin typeface="Calibri"/>
                        </a:rPr>
                        <a:t>Table 164: Market Product Price Comparison by Company and Product Type, US$/MT, 2026</a:t>
                      </a:r>
                      <a:endParaRPr sz="1050"/>
                    </a:p>
                  </a:txBody>
                  <a:tcPr marL="9525" marR="9525" marT="9525" marB="0" anchor="ctr"/>
                </a:tc>
              </a:tr>
              <a:tr h="169826">
                <a:tc>
                  <a:txBody>
                    <a:bodyPr wrap="square"/>
                    <a:lstStyle/>
                    <a:p>
                      <a:pPr algn="l"/>
                      <a:r>
                        <a:rPr sz="1050" b="0" i="0">
                          <a:solidFill>
                            <a:srgbClr val="000000"/>
                          </a:solidFill>
                          <a:latin typeface="Calibri"/>
                        </a:rPr>
                        <a:t>Table 165: Europe Market Average Selling Price, US$/MT, 2021–2036</a:t>
                      </a:r>
                      <a:endParaRPr sz="1050"/>
                    </a:p>
                  </a:txBody>
                  <a:tcPr marL="9525" marR="9525" marT="9525" marB="0" anchor="ctr"/>
                </a:tc>
              </a:tr>
              <a:tr h="169826">
                <a:tc>
                  <a:txBody>
                    <a:bodyPr wrap="square"/>
                    <a:lstStyle/>
                    <a:p>
                      <a:pPr algn="l"/>
                      <a:r>
                        <a:rPr sz="1050" b="0" i="0">
                          <a:solidFill>
                            <a:srgbClr val="000000"/>
                          </a:solidFill>
                          <a:latin typeface="Calibri"/>
                        </a:rPr>
                        <a:t>Table 166: Europe Market Average Selling Price by Product Type, US$/MT, 2021–2036</a:t>
                      </a:r>
                      <a:endParaRPr sz="1050"/>
                    </a:p>
                  </a:txBody>
                  <a:tcPr marL="9525" marR="9525" marT="9525" marB="0" anchor="ctr"/>
                </a:tc>
              </a:tr>
              <a:tr h="332858">
                <a:tc>
                  <a:txBody>
                    <a:bodyPr wrap="square"/>
                    <a:lstStyle/>
                    <a:p>
                      <a:pPr algn="l"/>
                      <a:r>
                        <a:rPr sz="1050" b="0" i="0">
                          <a:solidFill>
                            <a:srgbClr val="000000"/>
                          </a:solidFill>
                          <a:latin typeface="Calibri"/>
                        </a:rPr>
                        <a:t>Table 167: Europe Market Average Selling Price by Principal Material / Barrier Technology, US$/MT, 2021–2036</a:t>
                      </a:r>
                      <a:endParaRPr sz="1050"/>
                    </a:p>
                  </a:txBody>
                  <a:tcPr marL="9525" marR="9525" marT="9525" marB="0" anchor="ctr"/>
                </a:tc>
              </a:tr>
              <a:tr h="169826">
                <a:tc>
                  <a:txBody>
                    <a:bodyPr wrap="square"/>
                    <a:lstStyle/>
                    <a:p>
                      <a:pPr algn="l"/>
                      <a:r>
                        <a:rPr sz="1050" b="0" i="0">
                          <a:solidFill>
                            <a:srgbClr val="000000"/>
                          </a:solidFill>
                          <a:latin typeface="Calibri"/>
                        </a:rPr>
                        <a:t>Table 168: Europe Market Average Selling Price by Material Structure, US$/MT, 2021–2036</a:t>
                      </a:r>
                      <a:endParaRPr sz="1050"/>
                    </a:p>
                  </a:txBody>
                  <a:tcPr marL="9525" marR="9525" marT="9525" marB="0" anchor="ctr"/>
                </a:tc>
              </a:tr>
              <a:tr h="169826">
                <a:tc>
                  <a:txBody>
                    <a:bodyPr wrap="square"/>
                    <a:lstStyle/>
                    <a:p>
                      <a:pPr algn="l"/>
                      <a:r>
                        <a:rPr sz="1050" b="0" i="0">
                          <a:solidFill>
                            <a:srgbClr val="000000"/>
                          </a:solidFill>
                          <a:latin typeface="Calibri"/>
                        </a:rPr>
                        <a:t>Table 169: Europe Market Average Selling Price by Barrier Level, US$/MT, 2021–2036</a:t>
                      </a:r>
                      <a:endParaRPr sz="1050"/>
                    </a:p>
                  </a:txBody>
                  <a:tcPr marL="9525" marR="9525" marT="9525" marB="0" anchor="ctr"/>
                </a:tc>
              </a:tr>
              <a:tr h="169826">
                <a:tc>
                  <a:txBody>
                    <a:bodyPr wrap="square"/>
                    <a:lstStyle/>
                    <a:p>
                      <a:pPr algn="l"/>
                      <a:r>
                        <a:rPr sz="1050" b="0" i="0">
                          <a:solidFill>
                            <a:srgbClr val="000000"/>
                          </a:solidFill>
                          <a:latin typeface="Calibri"/>
                        </a:rPr>
                        <a:t>Table 170: Europe Market Average Selling Price by Application, US$/MT, 2021–2036</a:t>
                      </a:r>
                      <a:endParaRPr sz="1050"/>
                    </a:p>
                  </a:txBody>
                  <a:tcPr marL="9525" marR="9525" marT="9525" marB="0" anchor="ctr"/>
                </a:tc>
              </a:tr>
              <a:tr h="169826">
                <a:tc>
                  <a:txBody>
                    <a:bodyPr wrap="square"/>
                    <a:lstStyle/>
                    <a:p>
                      <a:pPr algn="l"/>
                      <a:r>
                        <a:rPr sz="1050" b="0" i="0">
                          <a:solidFill>
                            <a:srgbClr val="000000"/>
                          </a:solidFill>
                          <a:latin typeface="Calibri"/>
                        </a:rPr>
                        <a:t>Table 171: Europe Market Average Selling Price by Barrier Level Vs Application, US$/MT, 2021–2036</a:t>
                      </a:r>
                      <a:endParaRPr sz="1050"/>
                    </a:p>
                  </a:txBody>
                  <a:tcPr marL="9525" marR="9525" marT="9525" marB="0" anchor="ctr"/>
                </a:tc>
              </a:tr>
              <a:tr h="169826">
                <a:tc>
                  <a:txBody>
                    <a:bodyPr wrap="square"/>
                    <a:lstStyle/>
                    <a:p>
                      <a:pPr algn="l"/>
                      <a:r>
                        <a:rPr sz="1050" b="0" i="0">
                          <a:solidFill>
                            <a:srgbClr val="000000"/>
                          </a:solidFill>
                          <a:latin typeface="Calibri"/>
                        </a:rPr>
                        <a:t>Table 172: Supplier-to-Customer Relationship Mapping in Germany, 2026</a:t>
                      </a:r>
                      <a:endParaRPr sz="1050"/>
                    </a:p>
                  </a:txBody>
                  <a:tcPr marL="9525" marR="9525" marT="9525" marB="0" anchor="ctr"/>
                </a:tc>
              </a:tr>
              <a:tr h="169826">
                <a:tc>
                  <a:txBody>
                    <a:bodyPr wrap="square"/>
                    <a:lstStyle/>
                    <a:p>
                      <a:pPr algn="l"/>
                      <a:r>
                        <a:rPr sz="1050" b="0" i="0">
                          <a:solidFill>
                            <a:srgbClr val="000000"/>
                          </a:solidFill>
                          <a:latin typeface="Calibri"/>
                        </a:rPr>
                        <a:t>Table 173: Europe Market Value Chain Participants by Stage, 2026</a:t>
                      </a:r>
                      <a:endParaRPr sz="1050"/>
                    </a:p>
                  </a:txBody>
                  <a:tcPr marL="9525" marR="9525" marT="9525" marB="0" anchor="ctr"/>
                </a:tc>
              </a:tr>
              <a:tr h="169826">
                <a:tc>
                  <a:txBody>
                    <a:bodyPr wrap="square"/>
                    <a:lstStyle/>
                    <a:p>
                      <a:pPr algn="l"/>
                      <a:r>
                        <a:rPr sz="1050" b="0" i="0">
                          <a:solidFill>
                            <a:srgbClr val="000000"/>
                          </a:solidFill>
                          <a:latin typeface="Calibri"/>
                        </a:rPr>
                        <a:t>Table 174: Europe Market Margin Analysis by Value Chain Stage, %, 2026</a:t>
                      </a:r>
                      <a:endParaRPr sz="1050"/>
                    </a:p>
                  </a:txBody>
                  <a:tcPr marL="9525" marR="9525" marT="9525" marB="0" anchor="ctr"/>
                </a:tc>
              </a:tr>
              <a:tr h="169826">
                <a:tc>
                  <a:txBody>
                    <a:bodyPr wrap="square"/>
                    <a:lstStyle/>
                    <a:p>
                      <a:pPr algn="l"/>
                      <a:r>
                        <a:rPr sz="1050" b="0" i="0">
                          <a:solidFill>
                            <a:srgbClr val="000000"/>
                          </a:solidFill>
                          <a:latin typeface="Calibri"/>
                        </a:rPr>
                        <a:t>Table 175: Europe Market Cost Structure by Component, %, 2026</a:t>
                      </a:r>
                      <a:endParaRPr sz="1050"/>
                    </a:p>
                  </a:txBody>
                  <a:tcPr marL="9525" marR="9525" marT="9525" marB="0" anchor="ctr"/>
                </a:tc>
              </a:tr>
              <a:tr h="169826">
                <a:tc>
                  <a:txBody>
                    <a:bodyPr wrap="square"/>
                    <a:lstStyle/>
                    <a:p>
                      <a:pPr algn="l"/>
                      <a:r>
                        <a:rPr sz="1050" b="0" i="0">
                          <a:solidFill>
                            <a:srgbClr val="000000"/>
                          </a:solidFill>
                          <a:latin typeface="Calibri"/>
                        </a:rPr>
                        <a:t>Table 176: Europe Market Import Value by Leading Country, US$ Mn, 2021–2025</a:t>
                      </a:r>
                      <a:endParaRPr sz="1050"/>
                    </a:p>
                  </a:txBody>
                  <a:tcPr marL="9525" marR="9525" marT="9525" marB="0" anchor="ctr"/>
                </a:tc>
              </a:tr>
              <a:tr h="169826">
                <a:tc>
                  <a:txBody>
                    <a:bodyPr wrap="square"/>
                    <a:lstStyle/>
                    <a:p>
                      <a:pPr algn="l"/>
                      <a:r>
                        <a:rPr sz="1050" b="0" i="0">
                          <a:solidFill>
                            <a:srgbClr val="000000"/>
                          </a:solidFill>
                          <a:latin typeface="Calibri"/>
                        </a:rPr>
                        <a:t>Table 177: Europe Market Export Value by Leading Country, US$ Mn, 2021–2025</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3993844"/>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178: Europe Market Trade Flow Summary, US$ Mn, 2025</a:t>
                      </a:r>
                      <a:endParaRPr sz="1050"/>
                    </a:p>
                  </a:txBody>
                  <a:tcPr marL="9525" marR="9525" marT="9525" marB="0" anchor="ctr"/>
                </a:tc>
              </a:tr>
              <a:tr h="166688">
                <a:tc>
                  <a:txBody>
                    <a:bodyPr wrap="square"/>
                    <a:lstStyle/>
                    <a:p>
                      <a:pPr algn="l"/>
                      <a:r>
                        <a:rPr sz="1050" b="0" i="0">
                          <a:solidFill>
                            <a:srgbClr val="000000"/>
                          </a:solidFill>
                          <a:latin typeface="Calibri"/>
                        </a:rPr>
                        <a:t>Table 179: Europe Market Pricing Factors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180: Europe Market Raw Material Price Trend, US$, 2021–2036</a:t>
                      </a:r>
                      <a:endParaRPr sz="1050"/>
                    </a:p>
                  </a:txBody>
                  <a:tcPr marL="9525" marR="9525" marT="9525" marB="0" anchor="ctr"/>
                </a:tc>
              </a:tr>
              <a:tr h="326708">
                <a:tc>
                  <a:txBody>
                    <a:bodyPr wrap="square"/>
                    <a:lstStyle/>
                    <a:p>
                      <a:pPr algn="l"/>
                      <a:r>
                        <a:rPr sz="1050" b="0" i="0">
                          <a:solidFill>
                            <a:srgbClr val="000000"/>
                          </a:solidFill>
                          <a:latin typeface="Calibri"/>
                        </a:rPr>
                        <a:t>Table 181: Leading Flexible Plastic Packaging Manufacturers: Product Portfolio and Geographic Presence, 2026</a:t>
                      </a:r>
                      <a:endParaRPr sz="1050"/>
                    </a:p>
                  </a:txBody>
                  <a:tcPr marL="9525" marR="9525" marT="9525" marB="0" anchor="ctr"/>
                </a:tc>
              </a:tr>
              <a:tr h="166688">
                <a:tc>
                  <a:txBody>
                    <a:bodyPr wrap="square"/>
                    <a:lstStyle/>
                    <a:p>
                      <a:pPr algn="l"/>
                      <a:r>
                        <a:rPr sz="1050" b="0" i="0">
                          <a:solidFill>
                            <a:srgbClr val="000000"/>
                          </a:solidFill>
                          <a:latin typeface="Calibri"/>
                        </a:rPr>
                        <a:t>Table 182: Company Revenue from the Europe Market, US$ Mn, 2025–2026</a:t>
                      </a:r>
                      <a:endParaRPr sz="1050"/>
                    </a:p>
                  </a:txBody>
                  <a:tcPr marL="9525" marR="9525" marT="9525" marB="0" anchor="ctr"/>
                </a:tc>
              </a:tr>
              <a:tr h="166688">
                <a:tc>
                  <a:txBody>
                    <a:bodyPr wrap="square"/>
                    <a:lstStyle/>
                    <a:p>
                      <a:pPr algn="l"/>
                      <a:r>
                        <a:rPr sz="1050" b="0" i="0">
                          <a:solidFill>
                            <a:srgbClr val="000000"/>
                          </a:solidFill>
                          <a:latin typeface="Calibri"/>
                        </a:rPr>
                        <a:t>Table 183: Company Market Share in the Europe Market by Region, %, 2026</a:t>
                      </a:r>
                      <a:endParaRPr sz="1050"/>
                    </a:p>
                  </a:txBody>
                  <a:tcPr marL="9525" marR="9525" marT="9525" marB="0" anchor="ctr"/>
                </a:tc>
              </a:tr>
              <a:tr h="166688">
                <a:tc>
                  <a:txBody>
                    <a:bodyPr wrap="square"/>
                    <a:lstStyle/>
                    <a:p>
                      <a:pPr algn="l"/>
                      <a:r>
                        <a:rPr sz="1050" b="0" i="0">
                          <a:solidFill>
                            <a:srgbClr val="000000"/>
                          </a:solidFill>
                          <a:latin typeface="Calibri"/>
                        </a:rPr>
                        <a:t>Table 184: Europe Market Competitive Benchmarking Matrix, 2026</a:t>
                      </a:r>
                      <a:endParaRPr sz="1050"/>
                    </a:p>
                  </a:txBody>
                  <a:tcPr marL="9525" marR="9525" marT="9525" marB="0" anchor="ctr"/>
                </a:tc>
              </a:tr>
              <a:tr h="166688">
                <a:tc>
                  <a:txBody>
                    <a:bodyPr wrap="square"/>
                    <a:lstStyle/>
                    <a:p>
                      <a:pPr algn="l"/>
                      <a:r>
                        <a:rPr sz="1050" b="0" i="0">
                          <a:solidFill>
                            <a:srgbClr val="000000"/>
                          </a:solidFill>
                          <a:latin typeface="Calibri"/>
                        </a:rPr>
                        <a:t>Table 185: Europe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186: Company 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Company B: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Company C: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189: Company D: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Company E: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Company F: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Company G: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Company H: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Europe Market Value by Scenario, US$ Mn, 2026–2036</a:t>
                      </a:r>
                      <a:endParaRPr sz="1050"/>
                    </a:p>
                  </a:txBody>
                  <a:tcPr marL="9525" marR="9525" marT="9525" marB="0" anchor="ctr"/>
                </a:tc>
              </a:tr>
              <a:tr h="166688">
                <a:tc>
                  <a:txBody>
                    <a:bodyPr wrap="square"/>
                    <a:lstStyle/>
                    <a:p>
                      <a:pPr algn="l"/>
                      <a:r>
                        <a:rPr sz="1050" b="0" i="0">
                          <a:solidFill>
                            <a:srgbClr val="000000"/>
                          </a:solidFill>
                          <a:latin typeface="Calibri"/>
                        </a:rPr>
                        <a:t>Table 195: Europe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Europe Market Opportunity Assessment by Product Type, US$ Mn, 2026–2036</a:t>
                      </a:r>
                      <a:endParaRPr sz="1050"/>
                    </a:p>
                  </a:txBody>
                  <a:tcPr marL="9525" marR="9525" marT="9525" marB="0" anchor="ctr"/>
                </a:tc>
              </a:tr>
              <a:tr h="166688">
                <a:tc>
                  <a:txBody>
                    <a:bodyPr wrap="square"/>
                    <a:lstStyle/>
                    <a:p>
                      <a:pPr algn="l"/>
                      <a:r>
                        <a:rPr sz="1050" b="0" i="0">
                          <a:solidFill>
                            <a:srgbClr val="000000"/>
                          </a:solidFill>
                          <a:latin typeface="Calibri"/>
                        </a:rPr>
                        <a:t>Table 197: Europe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Europe Market Client Opportunity Prioritisation by Product Type, 2026–2036</a:t>
                      </a:r>
                      <a:endParaRPr sz="1050"/>
                    </a:p>
                  </a:txBody>
                  <a:tcPr marL="9525" marR="9525" marT="9525" marB="0" anchor="ctr"/>
                </a:tc>
              </a:tr>
              <a:tr h="166688">
                <a:tc>
                  <a:txBody>
                    <a:bodyPr wrap="square"/>
                    <a:lstStyle/>
                    <a:p>
                      <a:pPr algn="l"/>
                      <a:r>
                        <a:rPr sz="1050" b="0" i="0">
                          <a:solidFill>
                            <a:srgbClr val="000000"/>
                          </a:solidFill>
                          <a:latin typeface="Calibri"/>
                        </a:rPr>
                        <a:t>Table 199: Europe Market Customer Purchase Criteria by Product Type, 2026</a:t>
                      </a:r>
                      <a:endParaRPr sz="1050"/>
                    </a:p>
                  </a:txBody>
                  <a:tcPr marL="9525" marR="9525" marT="9525" marB="0" anchor="ctr"/>
                </a:tc>
              </a:tr>
              <a:tr h="166688">
                <a:tc>
                  <a:txBody>
                    <a:bodyPr wrap="square"/>
                    <a:lstStyle/>
                    <a:p>
                      <a:pPr algn="l"/>
                      <a:r>
                        <a:rPr sz="1050" b="0" i="0">
                          <a:solidFill>
                            <a:srgbClr val="000000"/>
                          </a:solidFill>
                          <a:latin typeface="Calibri"/>
                        </a:rPr>
                        <a:t>Table 200: Europe Market Strategic Recommendations and Action Plan,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5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Flexible Plastic Packaging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