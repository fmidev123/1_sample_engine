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43.xml" ContentType="application/vnd.openxmlformats-officedocument.drawingml.chart+xml"/>
  <Override PartName="/ppt/charts/chart44.xml" ContentType="application/vnd.openxmlformats-officedocument.drawingml.chart+xml"/>
  <Override PartName="/ppt/charts/chart45.xml" ContentType="application/vnd.openxmlformats-officedocument.drawingml.chart+xml"/>
  <Override PartName="/ppt/charts/chart46.xml" ContentType="application/vnd.openxmlformats-officedocument.drawingml.chart+xml"/>
  <Override PartName="/ppt/charts/chart47.xml" ContentType="application/vnd.openxmlformats-officedocument.drawingml.chart+xml"/>
  <Override PartName="/ppt/charts/chart48.xml" ContentType="application/vnd.openxmlformats-officedocument.drawingml.chart+xml"/>
  <Override PartName="/ppt/charts/chart49.xml" ContentType="application/vnd.openxmlformats-officedocument.drawingml.chart+xml"/>
  <Override PartName="/ppt/charts/chart5.xml" ContentType="application/vnd.openxmlformats-officedocument.drawingml.chart+xml"/>
  <Override PartName="/ppt/charts/chart50.xml" ContentType="application/vnd.openxmlformats-officedocument.drawingml.chart+xml"/>
  <Override PartName="/ppt/charts/chart51.xml" ContentType="application/vnd.openxmlformats-officedocument.drawingml.chart+xml"/>
  <Override PartName="/ppt/charts/chart52.xml" ContentType="application/vnd.openxmlformats-officedocument.drawingml.chart+xml"/>
  <Override PartName="/ppt/charts/chart53.xml" ContentType="application/vnd.openxmlformats-officedocument.drawingml.chart+xml"/>
  <Override PartName="/ppt/charts/chart54.xml" ContentType="application/vnd.openxmlformats-officedocument.drawingml.chart+xml"/>
  <Override PartName="/ppt/charts/chart55.xml" ContentType="application/vnd.openxmlformats-officedocument.drawingml.chart+xml"/>
  <Override PartName="/ppt/charts/chart56.xml" ContentType="application/vnd.openxmlformats-officedocument.drawingml.chart+xml"/>
  <Override PartName="/ppt/charts/chart57.xml" ContentType="application/vnd.openxmlformats-officedocument.drawingml.chart+xml"/>
  <Override PartName="/ppt/charts/chart58.xml" ContentType="application/vnd.openxmlformats-officedocument.drawingml.chart+xml"/>
  <Override PartName="/ppt/charts/chart59.xml" ContentType="application/vnd.openxmlformats-officedocument.drawingml.chart+xml"/>
  <Override PartName="/ppt/charts/chart6.xml" ContentType="application/vnd.openxmlformats-officedocument.drawingml.chart+xml"/>
  <Override PartName="/ppt/charts/chart60.xml" ContentType="application/vnd.openxmlformats-officedocument.drawingml.chart+xml"/>
  <Override PartName="/ppt/charts/chart61.xml" ContentType="application/vnd.openxmlformats-officedocument.drawingml.chart+xml"/>
  <Override PartName="/ppt/charts/chart62.xml" ContentType="application/vnd.openxmlformats-officedocument.drawingml.chart+xml"/>
  <Override PartName="/ppt/charts/chart63.xml" ContentType="application/vnd.openxmlformats-officedocument.drawingml.chart+xml"/>
  <Override PartName="/ppt/charts/chart64.xml" ContentType="application/vnd.openxmlformats-officedocument.drawingml.chart+xml"/>
  <Override PartName="/ppt/charts/chart65.xml" ContentType="application/vnd.openxmlformats-officedocument.drawingml.chart+xml"/>
  <Override PartName="/ppt/charts/chart66.xml" ContentType="application/vnd.openxmlformats-officedocument.drawingml.chart+xml"/>
  <Override PartName="/ppt/charts/chart67.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390" r:id="rId142"/>
    <p:sldId id="384" r:id="rId136"/>
    <p:sldId id="385" r:id="rId137"/>
    <p:sldId id="386" r:id="rId138"/>
    <p:sldId id="387" r:id="rId139"/>
    <p:sldId id="388" r:id="rId140"/>
    <p:sldId id="389" r:id="rId141"/>
    <p:sldId id="399" r:id="rId151"/>
    <p:sldId id="391" r:id="rId143"/>
    <p:sldId id="392" r:id="rId144"/>
    <p:sldId id="393" r:id="rId145"/>
    <p:sldId id="394" r:id="rId146"/>
    <p:sldId id="395" r:id="rId147"/>
    <p:sldId id="396" r:id="rId148"/>
    <p:sldId id="397" r:id="rId149"/>
    <p:sldId id="398" r:id="rId150"/>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Sheet18.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Sheet19.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Sheet20.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Sheet21.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Sheet22.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Sheet23.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Sheet24.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Sheet25.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Sheet26.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Sheet27.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Sheet28.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Sheet29.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Sheet30.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Sheet31.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Sheet32.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Sheet33.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Sheet34.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Sheet35.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Sheet36.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Sheet37.xlsx"/></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Sheet38.xlsx"/></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Sheet39.xlsx"/></Relationships>
</file>

<file path=ppt/charts/_rels/chart40.xml.rels><?xml version='1.0' encoding='UTF-8' standalone='yes'?>
<Relationships xmlns="http://schemas.openxmlformats.org/package/2006/relationships"><Relationship Id="rId1" Type="http://schemas.openxmlformats.org/officeDocument/2006/relationships/package" Target="../embeddings/Microsoft_Excel_Sheet40.xlsx"/></Relationships>
</file>

<file path=ppt/charts/_rels/chart41.xml.rels><?xml version='1.0' encoding='UTF-8' standalone='yes'?>
<Relationships xmlns="http://schemas.openxmlformats.org/package/2006/relationships"><Relationship Id="rId1" Type="http://schemas.openxmlformats.org/officeDocument/2006/relationships/package" Target="../embeddings/Microsoft_Excel_Sheet41.xlsx"/></Relationships>
</file>

<file path=ppt/charts/_rels/chart42.xml.rels><?xml version='1.0' encoding='UTF-8' standalone='yes'?>
<Relationships xmlns="http://schemas.openxmlformats.org/package/2006/relationships"><Relationship Id="rId1" Type="http://schemas.openxmlformats.org/officeDocument/2006/relationships/package" Target="../embeddings/Microsoft_Excel_Sheet42.xlsx"/></Relationships>
</file>

<file path=ppt/charts/_rels/chart43.xml.rels><?xml version='1.0' encoding='UTF-8' standalone='yes'?>
<Relationships xmlns="http://schemas.openxmlformats.org/package/2006/relationships"><Relationship Id="rId1" Type="http://schemas.openxmlformats.org/officeDocument/2006/relationships/package" Target="../embeddings/Microsoft_Excel_Sheet43.xlsx"/></Relationships>
</file>

<file path=ppt/charts/_rels/chart44.xml.rels><?xml version='1.0' encoding='UTF-8' standalone='yes'?>
<Relationships xmlns="http://schemas.openxmlformats.org/package/2006/relationships"><Relationship Id="rId1" Type="http://schemas.openxmlformats.org/officeDocument/2006/relationships/package" Target="../embeddings/Microsoft_Excel_Sheet44.xlsx"/></Relationships>
</file>

<file path=ppt/charts/_rels/chart45.xml.rels><?xml version='1.0' encoding='UTF-8' standalone='yes'?>
<Relationships xmlns="http://schemas.openxmlformats.org/package/2006/relationships"><Relationship Id="rId1" Type="http://schemas.openxmlformats.org/officeDocument/2006/relationships/package" Target="../embeddings/Microsoft_Excel_Sheet45.xlsx"/></Relationships>
</file>

<file path=ppt/charts/_rels/chart46.xml.rels><?xml version='1.0' encoding='UTF-8' standalone='yes'?>
<Relationships xmlns="http://schemas.openxmlformats.org/package/2006/relationships"><Relationship Id="rId1" Type="http://schemas.openxmlformats.org/officeDocument/2006/relationships/package" Target="../embeddings/Microsoft_Excel_Sheet46.xlsx"/></Relationships>
</file>

<file path=ppt/charts/_rels/chart47.xml.rels><?xml version='1.0' encoding='UTF-8' standalone='yes'?>
<Relationships xmlns="http://schemas.openxmlformats.org/package/2006/relationships"><Relationship Id="rId1" Type="http://schemas.openxmlformats.org/officeDocument/2006/relationships/package" Target="../embeddings/Microsoft_Excel_Sheet47.xlsx"/></Relationships>
</file>

<file path=ppt/charts/_rels/chart48.xml.rels><?xml version='1.0' encoding='UTF-8' standalone='yes'?>
<Relationships xmlns="http://schemas.openxmlformats.org/package/2006/relationships"><Relationship Id="rId1" Type="http://schemas.openxmlformats.org/officeDocument/2006/relationships/package" Target="../embeddings/Microsoft_Excel_Sheet48.xlsx"/></Relationships>
</file>

<file path=ppt/charts/_rels/chart49.xml.rels><?xml version='1.0' encoding='UTF-8' standalone='yes'?>
<Relationships xmlns="http://schemas.openxmlformats.org/package/2006/relationships"><Relationship Id="rId1" Type="http://schemas.openxmlformats.org/officeDocument/2006/relationships/package" Target="../embeddings/Microsoft_Excel_Sheet49.xlsx"/></Relationships>
</file>

<file path=ppt/charts/_rels/chart50.xml.rels><?xml version='1.0' encoding='UTF-8' standalone='yes'?>
<Relationships xmlns="http://schemas.openxmlformats.org/package/2006/relationships"><Relationship Id="rId1" Type="http://schemas.openxmlformats.org/officeDocument/2006/relationships/package" Target="../embeddings/Microsoft_Excel_Sheet50.xlsx"/></Relationships>
</file>

<file path=ppt/charts/_rels/chart51.xml.rels><?xml version='1.0' encoding='UTF-8' standalone='yes'?>
<Relationships xmlns="http://schemas.openxmlformats.org/package/2006/relationships"><Relationship Id="rId1" Type="http://schemas.openxmlformats.org/officeDocument/2006/relationships/package" Target="../embeddings/Microsoft_Excel_Sheet51.xlsx"/></Relationships>
</file>

<file path=ppt/charts/_rels/chart52.xml.rels><?xml version='1.0' encoding='UTF-8' standalone='yes'?>
<Relationships xmlns="http://schemas.openxmlformats.org/package/2006/relationships"><Relationship Id="rId1" Type="http://schemas.openxmlformats.org/officeDocument/2006/relationships/package" Target="../embeddings/Microsoft_Excel_Sheet52.xlsx"/></Relationships>
</file>

<file path=ppt/charts/_rels/chart53.xml.rels><?xml version='1.0' encoding='UTF-8' standalone='yes'?>
<Relationships xmlns="http://schemas.openxmlformats.org/package/2006/relationships"><Relationship Id="rId1" Type="http://schemas.openxmlformats.org/officeDocument/2006/relationships/package" Target="../embeddings/Microsoft_Excel_Sheet53.xlsx"/></Relationships>
</file>

<file path=ppt/charts/_rels/chart54.xml.rels><?xml version='1.0' encoding='UTF-8' standalone='yes'?>
<Relationships xmlns="http://schemas.openxmlformats.org/package/2006/relationships"><Relationship Id="rId1" Type="http://schemas.openxmlformats.org/officeDocument/2006/relationships/package" Target="../embeddings/Microsoft_Excel_Sheet54.xlsx"/></Relationships>
</file>

<file path=ppt/charts/_rels/chart55.xml.rels><?xml version='1.0' encoding='UTF-8' standalone='yes'?>
<Relationships xmlns="http://schemas.openxmlformats.org/package/2006/relationships"><Relationship Id="rId1" Type="http://schemas.openxmlformats.org/officeDocument/2006/relationships/package" Target="../embeddings/Microsoft_Excel_Sheet55.xlsx"/></Relationships>
</file>

<file path=ppt/charts/_rels/chart56.xml.rels><?xml version='1.0' encoding='UTF-8' standalone='yes'?>
<Relationships xmlns="http://schemas.openxmlformats.org/package/2006/relationships"><Relationship Id="rId1" Type="http://schemas.openxmlformats.org/officeDocument/2006/relationships/package" Target="../embeddings/Microsoft_Excel_Sheet56.xlsx"/></Relationships>
</file>

<file path=ppt/charts/_rels/chart57.xml.rels><?xml version='1.0' encoding='UTF-8' standalone='yes'?>
<Relationships xmlns="http://schemas.openxmlformats.org/package/2006/relationships"><Relationship Id="rId1" Type="http://schemas.openxmlformats.org/officeDocument/2006/relationships/package" Target="../embeddings/Microsoft_Excel_Sheet57.xlsx"/></Relationships>
</file>

<file path=ppt/charts/_rels/chart58.xml.rels><?xml version='1.0' encoding='UTF-8' standalone='yes'?>
<Relationships xmlns="http://schemas.openxmlformats.org/package/2006/relationships"><Relationship Id="rId1" Type="http://schemas.openxmlformats.org/officeDocument/2006/relationships/package" Target="../embeddings/Microsoft_Excel_Sheet58.xlsx"/></Relationships>
</file>

<file path=ppt/charts/_rels/chart59.xml.rels><?xml version='1.0' encoding='UTF-8' standalone='yes'?>
<Relationships xmlns="http://schemas.openxmlformats.org/package/2006/relationships"><Relationship Id="rId1" Type="http://schemas.openxmlformats.org/officeDocument/2006/relationships/package" Target="../embeddings/Microsoft_Excel_Sheet59.xlsx"/></Relationships>
</file>

<file path=ppt/charts/_rels/chart60.xml.rels><?xml version='1.0' encoding='UTF-8' standalone='yes'?>
<Relationships xmlns="http://schemas.openxmlformats.org/package/2006/relationships"><Relationship Id="rId1" Type="http://schemas.openxmlformats.org/officeDocument/2006/relationships/package" Target="../embeddings/Microsoft_Excel_Sheet60.xlsx"/></Relationships>
</file>

<file path=ppt/charts/_rels/chart61.xml.rels><?xml version='1.0' encoding='UTF-8' standalone='yes'?>
<Relationships xmlns="http://schemas.openxmlformats.org/package/2006/relationships"><Relationship Id="rId1" Type="http://schemas.openxmlformats.org/officeDocument/2006/relationships/package" Target="../embeddings/Microsoft_Excel_Sheet61.xlsx"/></Relationships>
</file>

<file path=ppt/charts/_rels/chart62.xml.rels><?xml version='1.0' encoding='UTF-8' standalone='yes'?>
<Relationships xmlns="http://schemas.openxmlformats.org/package/2006/relationships"><Relationship Id="rId1" Type="http://schemas.openxmlformats.org/officeDocument/2006/relationships/package" Target="../embeddings/Microsoft_Excel_Sheet62.xlsx"/></Relationships>
</file>

<file path=ppt/charts/_rels/chart63.xml.rels><?xml version='1.0' encoding='UTF-8' standalone='yes'?>
<Relationships xmlns="http://schemas.openxmlformats.org/package/2006/relationships"><Relationship Id="rId1" Type="http://schemas.openxmlformats.org/officeDocument/2006/relationships/package" Target="../embeddings/Microsoft_Excel_Sheet63.xlsx"/></Relationships>
</file>

<file path=ppt/charts/_rels/chart64.xml.rels><?xml version='1.0' encoding='UTF-8' standalone='yes'?>
<Relationships xmlns="http://schemas.openxmlformats.org/package/2006/relationships"><Relationship Id="rId1" Type="http://schemas.openxmlformats.org/officeDocument/2006/relationships/package" Target="../embeddings/Microsoft_Excel_Sheet64.xlsx"/></Relationships>
</file>

<file path=ppt/charts/_rels/chart65.xml.rels><?xml version='1.0' encoding='UTF-8' standalone='yes'?>
<Relationships xmlns="http://schemas.openxmlformats.org/package/2006/relationships"><Relationship Id="rId1" Type="http://schemas.openxmlformats.org/officeDocument/2006/relationships/package" Target="../embeddings/Microsoft_Excel_Sheet65.xlsx"/></Relationships>
</file>

<file path=ppt/charts/_rels/chart66.xml.rels><?xml version='1.0' encoding='UTF-8' standalone='yes'?>
<Relationships xmlns="http://schemas.openxmlformats.org/package/2006/relationships"><Relationship Id="rId1" Type="http://schemas.openxmlformats.org/officeDocument/2006/relationships/package" Target="../embeddings/Microsoft_Excel_Sheet66.xlsx"/></Relationships>
</file>

<file path=ppt/charts/_rels/chart67.xml.rels><?xml version='1.0' encoding='UTF-8' standalone='yes'?>
<Relationships xmlns="http://schemas.openxmlformats.org/package/2006/relationships"><Relationship Id="rId1" Type="http://schemas.openxmlformats.org/officeDocument/2006/relationships/package" Target="../embeddings/Microsoft_Excel_Sheet67.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S1</c:v>
                </c:pt>
              </c:strCache>
            </c:strRef>
          </c:tx>
          <c:spPr>
            <a:solidFill>
              <a:srgbClr val="003E58"/>
            </a:solidFill>
            <a:ln>
              <a:noFill/>
            </a:ln>
          </c:spPr>
          <c:cat>
            <c:strRef>
              <c:f>Sheet1!$A$2:$A$4</c:f>
              <c:strCache>
                <c:ptCount val="3"/>
                <c:pt idx="0">
                  <c:v>2021–2026</c:v>
                </c:pt>
                <c:pt idx="1">
                  <c:v>2026–2036</c:v>
                </c:pt>
                <c:pt idx="2">
                  <c:v>2021–2036</c:v>
                </c:pt>
              </c:strCache>
            </c:strRef>
          </c:cat>
          <c:val>
            <c:numRef>
              <c:f>Sheet1!$B$2:$B$4</c:f>
              <c:numCache>
                <c:formatCode>General</c:formatCode>
                <c:ptCount val="3"/>
                <c:pt idx="0">
                  <c:v>4.267111044824423</c:v>
                </c:pt>
                <c:pt idx="1">
                  <c:v>5.262309349761174</c:v>
                </c:pt>
                <c:pt idx="2">
                  <c:v>4.929525603977369</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6.94624834168475"/>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Sheet1!$A$2:$A$6</c:f>
              <c:strCache>
                <c:ptCount val="5"/>
                <c:pt idx="0">
                  <c:v>2021</c:v>
                </c:pt>
                <c:pt idx="1">
                  <c:v>2021–2026</c:v>
                </c:pt>
                <c:pt idx="2">
                  <c:v>2026</c:v>
                </c:pt>
                <c:pt idx="3">
                  <c:v>2026–2036</c:v>
                </c:pt>
                <c:pt idx="4">
                  <c:v>2036</c:v>
                </c:pt>
              </c:strCache>
            </c:strRef>
          </c:cat>
          <c:val>
            <c:numRef>
              <c:f>Sheet1!$B$2:$B$6</c:f>
              <c:numCache>
                <c:formatCode>General</c:formatCode>
                <c:ptCount val="5"/>
                <c:pt idx="0">
                  <c:v>0.0</c:v>
                </c:pt>
                <c:pt idx="1">
                  <c:v>33337.047</c:v>
                </c:pt>
                <c:pt idx="2">
                  <c:v>0.0</c:v>
                </c:pt>
                <c:pt idx="3">
                  <c:v>41083.159</c:v>
                </c:pt>
                <c:pt idx="4">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f>Sheet1!$A$2:$A$6</c:f>
              <c:strCache>
                <c:ptCount val="5"/>
                <c:pt idx="0">
                  <c:v>2021</c:v>
                </c:pt>
                <c:pt idx="1">
                  <c:v>2021–2026</c:v>
                </c:pt>
                <c:pt idx="2">
                  <c:v>2026</c:v>
                </c:pt>
                <c:pt idx="3">
                  <c:v>2026–2036</c:v>
                </c:pt>
                <c:pt idx="4">
                  <c:v>2036</c:v>
                </c:pt>
              </c:strCache>
            </c:strRef>
          </c:cat>
          <c:val>
            <c:numRef>
              <c:f>Sheet1!$C$2:$C$6</c:f>
              <c:numCache>
                <c:formatCode>General</c:formatCode>
                <c:ptCount val="5"/>
                <c:pt idx="0">
                  <c:v>33337.047</c:v>
                </c:pt>
                <c:pt idx="1">
                  <c:v>7746.112000000001</c:v>
                </c:pt>
                <c:pt idx="2">
                  <c:v>41083.159</c:v>
                </c:pt>
                <c:pt idx="3">
                  <c:v>27527.686</c:v>
                </c:pt>
                <c:pt idx="4">
                  <c:v>68610.845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S1</c:v>
                </c:pt>
              </c:strCache>
            </c:strRef>
          </c:tx>
          <c:spPr>
            <a:solidFill>
              <a:srgbClr val="003E58"/>
            </a:solidFill>
            <a:ln>
              <a:noFill/>
            </a:ln>
          </c:spPr>
          <c:cat>
            <c:strRef>
              <c:f>Sheet1!$A$2:$A$4</c:f>
              <c:strCache>
                <c:ptCount val="3"/>
                <c:pt idx="0">
                  <c:v>2021–2026</c:v>
                </c:pt>
                <c:pt idx="1">
                  <c:v>2026–2036</c:v>
                </c:pt>
                <c:pt idx="2">
                  <c:v>2021–2036</c:v>
                </c:pt>
              </c:strCache>
            </c:strRef>
          </c:cat>
          <c:val>
            <c:numRef>
              <c:f>Sheet1!$B$2:$B$4</c:f>
              <c:numCache>
                <c:formatCode>General</c:formatCode>
                <c:ptCount val="3"/>
                <c:pt idx="0">
                  <c:v>4.691687740852357</c:v>
                </c:pt>
                <c:pt idx="1">
                  <c:v>6.551652185188406</c:v>
                </c:pt>
                <c:pt idx="2">
                  <c:v>5.9280211378824665</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8.648180884448696"/>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Sheet1!$A$2:$A$6</c:f>
              <c:strCache>
                <c:ptCount val="5"/>
                <c:pt idx="0">
                  <c:v>2021</c:v>
                </c:pt>
                <c:pt idx="1">
                  <c:v>2021–2026</c:v>
                </c:pt>
                <c:pt idx="2">
                  <c:v>2026</c:v>
                </c:pt>
                <c:pt idx="3">
                  <c:v>2026–2036</c:v>
                </c:pt>
                <c:pt idx="4">
                  <c:v>2036</c:v>
                </c:pt>
              </c:strCache>
            </c:strRef>
          </c:cat>
          <c:val>
            <c:numRef>
              <c:f>Sheet1!$B$2:$B$6</c:f>
              <c:numCache>
                <c:formatCode>General</c:formatCode>
                <c:ptCount val="5"/>
                <c:pt idx="0">
                  <c:v>0.0</c:v>
                </c:pt>
                <c:pt idx="1">
                  <c:v>101257.06200000002</c:v>
                </c:pt>
                <c:pt idx="2">
                  <c:v>0.0</c:v>
                </c:pt>
                <c:pt idx="3">
                  <c:v>127346.299</c:v>
                </c:pt>
                <c:pt idx="4">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f>Sheet1!$A$2:$A$6</c:f>
              <c:strCache>
                <c:ptCount val="5"/>
                <c:pt idx="0">
                  <c:v>2021</c:v>
                </c:pt>
                <c:pt idx="1">
                  <c:v>2021–2026</c:v>
                </c:pt>
                <c:pt idx="2">
                  <c:v>2026</c:v>
                </c:pt>
                <c:pt idx="3">
                  <c:v>2026–2036</c:v>
                </c:pt>
                <c:pt idx="4">
                  <c:v>2036</c:v>
                </c:pt>
              </c:strCache>
            </c:strRef>
          </c:cat>
          <c:val>
            <c:numRef>
              <c:f>Sheet1!$C$2:$C$6</c:f>
              <c:numCache>
                <c:formatCode>General</c:formatCode>
                <c:ptCount val="5"/>
                <c:pt idx="0">
                  <c:v>101257.06200000002</c:v>
                </c:pt>
                <c:pt idx="1">
                  <c:v>26089.23699999998</c:v>
                </c:pt>
                <c:pt idx="2">
                  <c:v>127346.299</c:v>
                </c:pt>
                <c:pt idx="3">
                  <c:v>112862.112</c:v>
                </c:pt>
                <c:pt idx="4">
                  <c:v>240208.411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69B1E0"/>
            </a:solidFill>
            <a:ln>
              <a:noFill/>
            </a:ln>
          </c:spPr>
          <c:dLbls>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f>Sheet1!$A$2:$A$6</c:f>
              <c:strCache>
                <c:ptCount val="5"/>
                <c:pt idx="0">
                  <c:v>2021</c:v>
                </c:pt>
                <c:pt idx="1">
                  <c:v>2022</c:v>
                </c:pt>
                <c:pt idx="2">
                  <c:v>2023</c:v>
                </c:pt>
                <c:pt idx="3">
                  <c:v>2024</c:v>
                </c:pt>
                <c:pt idx="4">
                  <c:v>2025</c:v>
                </c:pt>
              </c:strCache>
            </c:strRef>
          </c:cat>
          <c:val>
            <c:numRef>
              <c:f>Sheet1!$B$2:$B$6</c:f>
              <c:numCache>
                <c:formatCode>General</c:formatCode>
                <c:ptCount val="5"/>
                <c:pt idx="0">
                  <c:v>101257.06200000002</c:v>
                </c:pt>
                <c:pt idx="1">
                  <c:v>105663.41199999998</c:v>
                </c:pt>
                <c:pt idx="2">
                  <c:v>110359.605</c:v>
                </c:pt>
                <c:pt idx="3">
                  <c:v>115439.248</c:v>
                </c:pt>
                <c:pt idx="4">
                  <c:v>120899.999</c:v>
                </c:pt>
              </c:numCache>
            </c:numRef>
          </c:val>
        </c:ser>
        <c:gapWidth val="50"/>
        <c:axId val="-2068027336"/>
        <c:axId val="-2113994440"/>
      </c:barChart>
      <c:barChart>
        <c:barDir val="col"/>
        <c:grouping val="clustered"/>
        <c:varyColors val="0"/>
        <c:ser>
          <c:idx val="1"/>
          <c:order val="1"/>
          <c:tx>
            <c:strRef>
              <c:f>Sheet1!$C$1</c:f>
              <c:strCache>
                <c:ptCount val="1"/>
                <c:pt idx="0">
                  <c:v>Volume (Thousand MT)</c:v>
                </c:pt>
              </c:strCache>
            </c:strRef>
          </c:tx>
          <c:spPr>
            <a:solidFill>
              <a:srgbClr val="C55A11"/>
            </a:solidFill>
            <a:ln>
              <a:noFill/>
            </a:ln>
          </c:spPr>
          <c:dLbls>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Sheet1!$A$2:$A$6</c:f>
              <c:strCache>
                <c:ptCount val="5"/>
                <c:pt idx="0">
                  <c:v>2021</c:v>
                </c:pt>
                <c:pt idx="1">
                  <c:v>2022</c:v>
                </c:pt>
                <c:pt idx="2">
                  <c:v>2023</c:v>
                </c:pt>
                <c:pt idx="3">
                  <c:v>2024</c:v>
                </c:pt>
                <c:pt idx="4">
                  <c:v>2025</c:v>
                </c:pt>
              </c:strCache>
            </c:strRef>
          </c:cat>
          <c:val>
            <c:numRef>
              <c:f>Sheet1!$C$2:$C$6</c:f>
              <c:numCache>
                <c:formatCode>General</c:formatCode>
                <c:ptCount val="5"/>
                <c:pt idx="0">
                  <c:v>33337.047</c:v>
                </c:pt>
                <c:pt idx="1">
                  <c:v>34702.065</c:v>
                </c:pt>
                <c:pt idx="2">
                  <c:v>36143.166</c:v>
                </c:pt>
                <c:pt idx="3">
                  <c:v>37672.458</c:v>
                </c:pt>
                <c:pt idx="4">
                  <c:v>39303.641</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142662"/>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53374"/>
          <c:min val="0"/>
        </c:scaling>
        <c:delete val="0"/>
        <c:axPos val="r"/>
        <c:numFmt formatCode="#,##0"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69B1E0"/>
            </a:solidFill>
            <a:ln>
              <a:noFill/>
            </a:ln>
          </c:spPr>
          <c:dLbls>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f>Sheet1!$A$2:$A$12</c: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f>Sheet1!$B$2:$B$12</c:f>
              <c:numCache>
                <c:formatCode>General</c:formatCode>
                <c:ptCount val="11"/>
                <c:pt idx="0">
                  <c:v>127346.299</c:v>
                </c:pt>
                <c:pt idx="1">
                  <c:v>134491.251</c:v>
                </c:pt>
                <c:pt idx="2">
                  <c:v>142430.272</c:v>
                </c:pt>
                <c:pt idx="3">
                  <c:v>151245.973</c:v>
                </c:pt>
                <c:pt idx="4">
                  <c:v>161059.539</c:v>
                </c:pt>
                <c:pt idx="5">
                  <c:v>171893.665</c:v>
                </c:pt>
                <c:pt idx="6">
                  <c:v>183758.02000000002</c:v>
                </c:pt>
                <c:pt idx="7">
                  <c:v>196559.207</c:v>
                </c:pt>
                <c:pt idx="8">
                  <c:v>210265.41199999998</c:v>
                </c:pt>
                <c:pt idx="9">
                  <c:v>224814.036</c:v>
                </c:pt>
                <c:pt idx="10">
                  <c:v>240208.411</c:v>
                </c:pt>
              </c:numCache>
            </c:numRef>
          </c:val>
        </c:ser>
        <c:gapWidth val="50"/>
        <c:axId val="-2068027336"/>
        <c:axId val="-2113994440"/>
      </c:barChart>
      <c:barChart>
        <c:barDir val="col"/>
        <c:grouping val="clustered"/>
        <c:varyColors val="0"/>
        <c:ser>
          <c:idx val="1"/>
          <c:order val="1"/>
          <c:tx>
            <c:strRef>
              <c:f>Sheet1!$C$1</c:f>
              <c:strCache>
                <c:ptCount val="1"/>
                <c:pt idx="0">
                  <c:v>Volume (Thousand MT)</c:v>
                </c:pt>
              </c:strCache>
            </c:strRef>
          </c:tx>
          <c:spPr>
            <a:solidFill>
              <a:srgbClr val="C55A11"/>
            </a:solidFill>
            <a:ln>
              <a:noFill/>
            </a:ln>
          </c:spPr>
          <c:dLbls>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Sheet1!$A$2:$A$12</c: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f>Sheet1!$C$2:$C$12</c:f>
              <c:numCache>
                <c:formatCode>General</c:formatCode>
                <c:ptCount val="11"/>
                <c:pt idx="0">
                  <c:v>41083.159</c:v>
                </c:pt>
                <c:pt idx="1">
                  <c:v>43021.538</c:v>
                </c:pt>
                <c:pt idx="2">
                  <c:v>45139.441000000006</c:v>
                </c:pt>
                <c:pt idx="3">
                  <c:v>47451.863999999994</c:v>
                </c:pt>
                <c:pt idx="4">
                  <c:v>49979.886000000006</c:v>
                </c:pt>
                <c:pt idx="5">
                  <c:v>52717.049999999996</c:v>
                </c:pt>
                <c:pt idx="6">
                  <c:v>55648.335999999996</c:v>
                </c:pt>
                <c:pt idx="7">
                  <c:v>58733.648</c:v>
                </c:pt>
                <c:pt idx="8">
                  <c:v>61945.787</c:v>
                </c:pt>
                <c:pt idx="9">
                  <c:v>65240.898</c:v>
                </c:pt>
                <c:pt idx="10">
                  <c:v>68610.845</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283446"/>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103912"/>
          <c:min val="0"/>
        </c:scaling>
        <c:delete val="0"/>
        <c:axPos val="r"/>
        <c:numFmt formatCode="#,##0"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Index</c:v>
                </c:pt>
              </c:strCache>
            </c:strRef>
          </c:tx>
          <c:spPr>
            <a:solidFill>
              <a:srgbClr val="0E72AE"/>
            </a:solidFill>
            <a:ln>
              <a:noFill/>
            </a:ln>
          </c:spPr>
          <c:cat>
            <c:strRef>
              <c:f>Sheet1!$A$2:$A$11</c:f>
              <c:strCache>
                <c:ptCount val="10"/>
                <c:pt idx="0">
                  <c:v>Nordic</c:v>
                </c:pt>
                <c:pt idx="1">
                  <c:v>Thailand</c:v>
                </c:pt>
                <c:pt idx="2">
                  <c:v>South Korea</c:v>
                </c:pt>
                <c:pt idx="3">
                  <c:v>Italy</c:v>
                </c:pt>
                <c:pt idx="4">
                  <c:v>Mexico</c:v>
                </c:pt>
                <c:pt idx="5">
                  <c:v>India</c:v>
                </c:pt>
                <c:pt idx="6">
                  <c:v>Spain</c:v>
                </c:pt>
                <c:pt idx="7">
                  <c:v>Turkey</c:v>
                </c:pt>
                <c:pt idx="8">
                  <c:v>Indonesia</c:v>
                </c:pt>
                <c:pt idx="9">
                  <c:v>Saudi Arabia</c:v>
                </c:pt>
              </c:strCache>
            </c:strRef>
          </c:cat>
          <c:val>
            <c:numRef>
              <c:f>Sheet1!$B$2:$B$11</c:f>
              <c:numCache>
                <c:formatCode>General</c:formatCode>
                <c:ptCount val="10"/>
                <c:pt idx="0">
                  <c:v>107.58299444756949</c:v>
                </c:pt>
                <c:pt idx="1">
                  <c:v>111.88572494160962</c:v>
                </c:pt>
                <c:pt idx="2">
                  <c:v>112.06144233515143</c:v>
                </c:pt>
                <c:pt idx="3">
                  <c:v>113.08897616920576</c:v>
                </c:pt>
                <c:pt idx="4">
                  <c:v>119.39410780350761</c:v>
                </c:pt>
                <c:pt idx="5">
                  <c:v>122.55796656704736</c:v>
                </c:pt>
                <c:pt idx="6">
                  <c:v>123.978076345946</c:v>
                </c:pt>
                <c:pt idx="7">
                  <c:v>124.00938521984959</c:v>
                </c:pt>
                <c:pt idx="8">
                  <c:v>133.37006319443816</c:v>
                </c:pt>
                <c:pt idx="9">
                  <c:v>138.41529378399483</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Index</c:v>
                </c:pt>
              </c:strCache>
            </c:strRef>
          </c:tx>
          <c:spPr>
            <a:solidFill>
              <a:srgbClr val="0E72AE"/>
            </a:solidFill>
            <a:ln>
              <a:noFill/>
            </a:ln>
          </c:spPr>
          <c:cat>
            <c:strRef>
              <c:f>Sheet1!$A$2:$A$11</c:f>
              <c:strCache>
                <c:ptCount val="10"/>
                <c:pt idx="0">
                  <c:v>Brazil</c:v>
                </c:pt>
                <c:pt idx="1">
                  <c:v>Canada</c:v>
                </c:pt>
                <c:pt idx="2">
                  <c:v>Mexico</c:v>
                </c:pt>
                <c:pt idx="3">
                  <c:v>Germany</c:v>
                </c:pt>
                <c:pt idx="4">
                  <c:v>U.K.</c:v>
                </c:pt>
                <c:pt idx="5">
                  <c:v>South Korea</c:v>
                </c:pt>
                <c:pt idx="6">
                  <c:v>Japan</c:v>
                </c:pt>
                <c:pt idx="7">
                  <c:v>India</c:v>
                </c:pt>
                <c:pt idx="8">
                  <c:v>China</c:v>
                </c:pt>
                <c:pt idx="9">
                  <c:v>U.S.</c:v>
                </c:pt>
              </c:strCache>
            </c:strRef>
          </c:cat>
          <c:val>
            <c:numRef>
              <c:f>Sheet1!$B$2:$B$11</c:f>
              <c:numCache>
                <c:formatCode>General</c:formatCode>
                <c:ptCount val="10"/>
                <c:pt idx="0">
                  <c:v>2.4011636429415746</c:v>
                </c:pt>
                <c:pt idx="1">
                  <c:v>2.5281832400938944</c:v>
                </c:pt>
                <c:pt idx="2">
                  <c:v>2.6190808834057613</c:v>
                </c:pt>
                <c:pt idx="3">
                  <c:v>2.7174965501265835</c:v>
                </c:pt>
                <c:pt idx="4">
                  <c:v>2.773746605060873</c:v>
                </c:pt>
                <c:pt idx="5">
                  <c:v>3.642779607030569</c:v>
                </c:pt>
                <c:pt idx="6">
                  <c:v>4.814108032995164</c:v>
                </c:pt>
                <c:pt idx="7">
                  <c:v>5.048322150838361</c:v>
                </c:pt>
                <c:pt idx="8">
                  <c:v>17.583522626264518</c:v>
                </c:pt>
                <c:pt idx="9">
                  <c:v>20.588932448827467</c:v>
                </c:pt>
              </c:numCache>
            </c:numRef>
          </c:val>
        </c:ser>
        <c:dLbls>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f>Sheet1!$B$1</c:f>
              <c:strCache>
                <c:ptCount val="1"/>
                <c:pt idx="0">
                  <c:v>Share</c:v>
                </c:pt>
              </c:strCache>
            </c:strRef>
          </c:tx>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Lbls>
            <c:dLbl>
              <c:idx val="0"/>
              <c:tx>
                <c:rich>
                  <a:bodyPr/>
                  <a:lstStyle/>
                  <a:p>
                    <a:pPr>
                      <a:defRPr sz="1100" b="1">
                        <a:solidFill>
                          <a:srgbClr val="FFFFFF"/>
                        </a:solidFill>
                        <a:latin typeface="Calibri"/>
                      </a:defRPr>
                    </a:pPr>
                    <a:r>
                      <a:t>53.6%</a:t>
                    </a:r>
                  </a:p>
                </c:rich>
              </c:tx>
              <c:showLegendKey val="0"/>
              <c:showVal val="1"/>
              <c:showCatName val="0"/>
              <c:showSerName val="0"/>
              <c:showPercent val="0"/>
              <c:showBubbleSize val="0"/>
            </c:dLbl>
            <c:dLbl>
              <c:idx val="1"/>
              <c:tx>
                <c:rich>
                  <a:bodyPr/>
                  <a:lstStyle/>
                  <a:p>
                    <a:pPr>
                      <a:defRPr sz="1100" b="1">
                        <a:solidFill>
                          <a:srgbClr val="FFFFFF"/>
                        </a:solidFill>
                        <a:latin typeface="Calibri"/>
                      </a:defRPr>
                    </a:pPr>
                    <a:r>
                      <a:t>11.0%</a:t>
                    </a:r>
                  </a:p>
                </c:rich>
              </c:tx>
              <c:showLegendKey val="0"/>
              <c:showVal val="1"/>
              <c:showCatName val="0"/>
              <c:showSerName val="0"/>
              <c:showPercent val="0"/>
              <c:showBubbleSize val="0"/>
            </c:dLbl>
            <c:dLbl>
              <c:idx val="2"/>
              <c:tx>
                <c:rich>
                  <a:bodyPr/>
                  <a:lstStyle/>
                  <a:p>
                    <a:pPr>
                      <a:defRPr sz="1100" b="1">
                        <a:solidFill>
                          <a:srgbClr val="FFFFFF"/>
                        </a:solidFill>
                        <a:latin typeface="Calibri"/>
                      </a:defRPr>
                    </a:pPr>
                    <a:r>
                      <a:t>28.6%</a:t>
                    </a:r>
                  </a:p>
                </c:rich>
              </c:tx>
              <c:showLegendKey val="0"/>
              <c:showVal val="1"/>
              <c:showCatName val="0"/>
              <c:showSerName val="0"/>
              <c:showPercent val="0"/>
              <c:showBubbleSize val="0"/>
            </c:dLbl>
            <c:dLbl>
              <c:idx val="3"/>
              <c:tx>
                <c:rich>
                  <a:bodyPr/>
                  <a:lstStyle/>
                  <a:p>
                    <a:pPr>
                      <a:defRPr sz="1100" b="1">
                        <a:solidFill>
                          <a:srgbClr val="FFFFFF"/>
                        </a:solidFill>
                        <a:latin typeface="Calibri"/>
                      </a:defRPr>
                    </a:pPr>
                    <a:r>
                      <a:t>6.8%</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Rollstock Films</c:v>
                </c:pt>
                <c:pt idx="1">
                  <c:v>Barrier Casings</c:v>
                </c:pt>
                <c:pt idx="2">
                  <c:v>Premade Pouches &amp; Bags</c:v>
                </c:pt>
                <c:pt idx="3">
                  <c:v>Sachets &amp; Stick Packs</c:v>
                </c:pt>
              </c:strCache>
            </c:strRef>
          </c:cat>
          <c:val>
            <c:numRef>
              <c:f>Sheet1!$B$2:$B$5</c:f>
              <c:numCache>
                <c:formatCode>General</c:formatCode>
                <c:ptCount val="4"/>
                <c:pt idx="0">
                  <c:v>128658.331</c:v>
                </c:pt>
                <c:pt idx="1">
                  <c:v>26386.453999999998</c:v>
                </c:pt>
                <c:pt idx="2">
                  <c:v>68737.593</c:v>
                </c:pt>
                <c:pt idx="3">
                  <c:v>16426.033</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Optimistic Scenario</c:v>
                </c:pt>
              </c:strCache>
            </c:strRef>
          </c:tx>
          <c:spPr>
            <a:ln w="28575">
              <a:solidFill>
                <a:srgbClr val="2E5F8A"/>
              </a:solidFill>
            </a:ln>
          </c:spPr>
          <c:marker>
            <c:symbol val="circle"/>
            <c:size val="6"/>
            <c:spPr>
              <a:solidFill>
                <a:srgbClr val="2E5F8A"/>
              </a:solidFill>
              <a:ln>
                <a:solidFill>
                  <a:srgbClr val="2E5F8A"/>
                </a:solidFill>
              </a:ln>
            </c:spPr>
          </c:marker>
          <c:cat>
            <c:strRef>
              <c:f>Sheet1!$A$2:$A$12</c: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f>Sheet1!$B$2:$B$12</c:f>
              <c:numCache>
                <c:formatCode>General</c:formatCode>
                <c:ptCount val="11"/>
                <c:pt idx="0">
                  <c:v>0.07350742760679589</c:v>
                </c:pt>
                <c:pt idx="1">
                  <c:v>0.07455065606360953</c:v>
                </c:pt>
                <c:pt idx="2">
                  <c:v>0.07558702117531253</c:v>
                </c:pt>
                <c:pt idx="3">
                  <c:v>0.07640375924347584</c:v>
                </c:pt>
                <c:pt idx="4">
                  <c:v>0.0787510232713065</c:v>
                </c:pt>
                <c:pt idx="5">
                  <c:v>0.08089238694581868</c:v>
                </c:pt>
                <c:pt idx="6">
                  <c:v>0.08246409297614973</c:v>
                </c:pt>
                <c:pt idx="7">
                  <c:v>0.08422797266957804</c:v>
                </c:pt>
                <c:pt idx="8">
                  <c:v>0.08520256767528551</c:v>
                </c:pt>
                <c:pt idx="9">
                  <c:v>0.08612911926521867</c:v>
                </c:pt>
                <c:pt idx="10">
                  <c:v>0.08787927226842575</c:v>
                </c:pt>
              </c:numCache>
            </c:numRef>
          </c:val>
          <c:smooth val="0"/>
        </c:ser>
        <c:ser>
          <c:idx val="1"/>
          <c:order val="1"/>
          <c:tx>
            <c:strRef>
              <c:f>Sheet1!$C$1</c:f>
              <c:strCache>
                <c:ptCount val="1"/>
                <c:pt idx="0">
                  <c:v>Likely Scenario</c:v>
                </c:pt>
              </c:strCache>
            </c:strRef>
          </c:tx>
          <c:spPr>
            <a:ln w="28575">
              <a:solidFill>
                <a:srgbClr val="8B1A1A"/>
              </a:solidFill>
            </a:ln>
          </c:spPr>
          <c:marker>
            <c:symbol val="circle"/>
            <c:size val="6"/>
            <c:spPr>
              <a:solidFill>
                <a:srgbClr val="8B1A1A"/>
              </a:solidFill>
              <a:ln>
                <a:solidFill>
                  <a:srgbClr val="8B1A1A"/>
                </a:solidFill>
              </a:ln>
            </c:spPr>
          </c:marker>
          <c:cat>
            <c:strRef>
              <c:f>Sheet1!$A$2:$A$12</c: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f>Sheet1!$C$2:$C$12</c:f>
              <c:numCache>
                <c:formatCode>General</c:formatCode>
                <c:ptCount val="11"/>
                <c:pt idx="0">
                  <c:v>0.06724011691406812</c:v>
                </c:pt>
                <c:pt idx="1">
                  <c:v>0.07118011691406811</c:v>
                </c:pt>
                <c:pt idx="2">
                  <c:v>0.07122011691406811</c:v>
                </c:pt>
                <c:pt idx="3">
                  <c:v>0.06997011691406811</c:v>
                </c:pt>
                <c:pt idx="4">
                  <c:v>0.06639011691406811</c:v>
                </c:pt>
                <c:pt idx="5">
                  <c:v>0.06438011691406811</c:v>
                </c:pt>
                <c:pt idx="6">
                  <c:v>0.06142011691406812</c:v>
                </c:pt>
                <c:pt idx="7">
                  <c:v>0.060580116914068116</c:v>
                </c:pt>
                <c:pt idx="8">
                  <c:v>0.059080116914068115</c:v>
                </c:pt>
                <c:pt idx="9">
                  <c:v>0.05929011691406812</c:v>
                </c:pt>
                <c:pt idx="10">
                  <c:v>0.057790116914068115</c:v>
                </c:pt>
              </c:numCache>
            </c:numRef>
          </c:val>
          <c:smooth val="0"/>
        </c:ser>
        <c:ser>
          <c:idx val="2"/>
          <c:order val="2"/>
          <c:tx>
            <c:strRef>
              <c:f>Sheet1!$D$1</c:f>
              <c:strCache>
                <c:ptCount val="1"/>
                <c:pt idx="0">
                  <c:v>Conservative Scenario</c:v>
                </c:pt>
              </c:strCache>
            </c:strRef>
          </c:tx>
          <c:spPr>
            <a:ln w="28575">
              <a:solidFill>
                <a:srgbClr val="A08000"/>
              </a:solidFill>
            </a:ln>
          </c:spPr>
          <c:marker>
            <c:symbol val="circle"/>
            <c:size val="6"/>
            <c:spPr>
              <a:solidFill>
                <a:srgbClr val="A08000"/>
              </a:solidFill>
              <a:ln>
                <a:solidFill>
                  <a:srgbClr val="A08000"/>
                </a:solidFill>
              </a:ln>
            </c:spPr>
          </c:marker>
          <c:cat>
            <c:strRef>
              <c:f>Sheet1!$A$2:$A$12</c: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f>Sheet1!$D$2:$D$12</c:f>
              <c:numCache>
                <c:formatCode>General</c:formatCode>
                <c:ptCount val="11"/>
                <c:pt idx="0">
                  <c:v>0.0456552486334864</c:v>
                </c:pt>
                <c:pt idx="1">
                  <c:v>0.0478352486334864</c:v>
                </c:pt>
                <c:pt idx="2">
                  <c:v>0.048295248633486394</c:v>
                </c:pt>
                <c:pt idx="3">
                  <c:v>0.046285248633486396</c:v>
                </c:pt>
                <c:pt idx="4">
                  <c:v>0.0490052486334864</c:v>
                </c:pt>
                <c:pt idx="5">
                  <c:v>0.049495248633486394</c:v>
                </c:pt>
                <c:pt idx="6">
                  <c:v>0.0497352486334864</c:v>
                </c:pt>
                <c:pt idx="7">
                  <c:v>0.0471552486334864</c:v>
                </c:pt>
                <c:pt idx="8">
                  <c:v>0.047615248633486394</c:v>
                </c:pt>
                <c:pt idx="9">
                  <c:v>0.0490052486334864</c:v>
                </c:pt>
                <c:pt idx="10">
                  <c:v>0.0512752486334864</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6D5E1"/>
            </a:solidFill>
          </a:ln>
        </c:spPr>
        <c:txPr>
          <a:bodyPr/>
          <a:lstStyle/>
          <a:p>
            <a:pPr>
              <a:defRPr sz="1100"/>
            </a:pPr>
          </a:p>
        </c:txPr>
        <c:crossAx val="2140495176"/>
        <c:crosses val="autoZero"/>
        <c:auto val="1"/>
        <c:lblAlgn val="ctr"/>
        <c:lblOffset val="100"/>
        <c:noMultiLvlLbl val="0"/>
        <c:tickLblSkip val="1"/>
        <c:tickMarkSkip val="1"/>
      </c:catAx>
      <c:valAx>
        <c:axId val="2140495176"/>
        <c:scaling>
          <c:min val="0.0"/>
        </c:scaling>
        <c:delete val="0"/>
        <c:axPos val="l"/>
        <c:numFmt formatCode="0.00%" sourceLinked="0"/>
        <c:majorTickMark val="out"/>
        <c:minorTickMark val="none"/>
        <c:tickLblPos val="nextTo"/>
        <c:spPr>
          <a:ln>
            <a:solidFill>
              <a:srgbClr val="C6D5E1"/>
            </a:solidFill>
          </a:ln>
        </c:spPr>
        <c:txPr>
          <a:bodyPr/>
          <a:lstStyle/>
          <a:p>
            <a:pPr>
              <a:defRPr sz="1100"/>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100">
          <a:latin typeface="Calibri"/>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East Asia</c:v>
                </c:pt>
              </c:strCache>
            </c:strRef>
          </c:tx>
          <c:spPr>
            <a:solidFill>
              <a:srgbClr val="3D85C6"/>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Sheet1!$B$2:$B$3</c:f>
              <c:numCache>
                <c:formatCode>General</c:formatCode>
                <c:ptCount val="2"/>
                <c:pt idx="0">
                  <c:v>29.606545105258338</c:v>
                </c:pt>
                <c:pt idx="1">
                  <c:v>28.92629000561063</c:v>
                </c:pt>
              </c:numCache>
            </c:numRef>
          </c:val>
        </c:ser>
        <c:ser>
          <c:idx val="1"/>
          <c:order val="1"/>
          <c:tx>
            <c:strRef>
              <c:f>Sheet1!$C$1</c:f>
              <c:strCache>
                <c:ptCount val="1"/>
                <c:pt idx="0">
                  <c:v>North America</c:v>
                </c:pt>
              </c:strCache>
            </c:strRef>
          </c:tx>
          <c:spPr>
            <a:solidFill>
              <a:srgbClr val="9E7E0A"/>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Sheet1!$C$2:$C$3</c:f>
              <c:numCache>
                <c:formatCode>General</c:formatCode>
                <c:ptCount val="2"/>
                <c:pt idx="0">
                  <c:v>25.11857474251189</c:v>
                </c:pt>
                <c:pt idx="1">
                  <c:v>22.823861154894683</c:v>
                </c:pt>
              </c:numCache>
            </c:numRef>
          </c:val>
        </c:ser>
        <c:ser>
          <c:idx val="2"/>
          <c:order val="2"/>
          <c:tx>
            <c:strRef>
              <c:f>Sheet1!$D$1</c:f>
              <c:strCache>
                <c:ptCount val="1"/>
                <c:pt idx="0">
                  <c:v>Europe</c:v>
                </c:pt>
              </c:strCache>
            </c:strRef>
          </c:tx>
          <c:spPr>
            <a:solidFill>
              <a:srgbClr val="008189"/>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Sheet1!$D$2:$D$3</c:f>
              <c:numCache>
                <c:formatCode>General</c:formatCode>
                <c:ptCount val="2"/>
                <c:pt idx="0">
                  <c:v>19.175767374655877</c:v>
                </c:pt>
                <c:pt idx="1">
                  <c:v>19.135164418977787</c:v>
                </c:pt>
              </c:numCache>
            </c:numRef>
          </c:val>
        </c:ser>
        <c:ser>
          <c:idx val="3"/>
          <c:order val="3"/>
          <c:tx>
            <c:strRef>
              <c:f>Sheet1!$E$1</c:f>
              <c:strCache>
                <c:ptCount val="1"/>
                <c:pt idx="0">
                  <c:v>South Asia &amp; Pacific</c:v>
                </c:pt>
              </c:strCache>
            </c:strRef>
          </c:tx>
          <c:spPr>
            <a:solidFill>
              <a:srgbClr val="40315E"/>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Sheet1!$E$2:$E$3</c:f>
              <c:numCache>
                <c:formatCode>General</c:formatCode>
                <c:ptCount val="2"/>
                <c:pt idx="0">
                  <c:v>13.415859768719343</c:v>
                </c:pt>
                <c:pt idx="1">
                  <c:v>15.141934194222504</c:v>
                </c:pt>
              </c:numCache>
            </c:numRef>
          </c:val>
        </c:ser>
        <c:ser>
          <c:idx val="4"/>
          <c:order val="4"/>
          <c:tx>
            <c:strRef>
              <c:f>Sheet1!$F$1</c:f>
              <c:strCache>
                <c:ptCount val="1"/>
                <c:pt idx="0">
                  <c:v>Latin America</c:v>
                </c:pt>
              </c:strCache>
            </c:strRef>
          </c:tx>
          <c:spPr>
            <a:solidFill>
              <a:srgbClr val="A35313"/>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Sheet1!$F$2:$F$3</c:f>
              <c:numCache>
                <c:formatCode>General</c:formatCode>
                <c:ptCount val="2"/>
                <c:pt idx="0">
                  <c:v>6.897169226933109</c:v>
                </c:pt>
                <c:pt idx="1">
                  <c:v>7.222377162094418</c:v>
                </c:pt>
              </c:numCache>
            </c:numRef>
          </c:val>
        </c:ser>
        <c:ser>
          <c:idx val="5"/>
          <c:order val="5"/>
          <c:tx>
            <c:strRef>
              <c:f>Sheet1!$G$1</c:f>
              <c:strCache>
                <c:ptCount val="1"/>
                <c:pt idx="0">
                  <c:v>Middle East &amp; Africa</c:v>
                </c:pt>
              </c:strCache>
            </c:strRef>
          </c:tx>
          <c:spPr>
            <a:solidFill>
              <a:srgbClr val="808080"/>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Sheet1!$G$2:$G$3</c:f>
              <c:numCache>
                <c:formatCode>General</c:formatCode>
                <c:ptCount val="2"/>
                <c:pt idx="0">
                  <c:v>5.786083781921445</c:v>
                </c:pt>
                <c:pt idx="1">
                  <c:v>6.750373064199983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East Asia</c:v>
                </c:pt>
              </c:strCache>
            </c:strRef>
          </c:tx>
          <c:spPr>
            <a:solidFill>
              <a:srgbClr val="3D85C6"/>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Sheet1!$B$2:$B$3</c:f>
              <c:numCache>
                <c:formatCode>General</c:formatCode>
                <c:ptCount val="2"/>
                <c:pt idx="0">
                  <c:v>26.960921518724923</c:v>
                </c:pt>
                <c:pt idx="1">
                  <c:v>26.528417441635714</c:v>
                </c:pt>
              </c:numCache>
            </c:numRef>
          </c:val>
        </c:ser>
        <c:ser>
          <c:idx val="1"/>
          <c:order val="1"/>
          <c:tx>
            <c:strRef>
              <c:f>Sheet1!$C$1</c:f>
              <c:strCache>
                <c:ptCount val="1"/>
                <c:pt idx="0">
                  <c:v>North America</c:v>
                </c:pt>
              </c:strCache>
            </c:strRef>
          </c:tx>
          <c:spPr>
            <a:solidFill>
              <a:srgbClr val="9E7E0A"/>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Sheet1!$C$2:$C$3</c:f>
              <c:numCache>
                <c:formatCode>General</c:formatCode>
                <c:ptCount val="2"/>
                <c:pt idx="0">
                  <c:v>28.25166887455702</c:v>
                </c:pt>
                <c:pt idx="1">
                  <c:v>25.839199277663926</c:v>
                </c:pt>
              </c:numCache>
            </c:numRef>
          </c:val>
        </c:ser>
        <c:ser>
          <c:idx val="2"/>
          <c:order val="2"/>
          <c:tx>
            <c:strRef>
              <c:f>Sheet1!$D$1</c:f>
              <c:strCache>
                <c:ptCount val="1"/>
                <c:pt idx="0">
                  <c:v>Europe</c:v>
                </c:pt>
              </c:strCache>
            </c:strRef>
          </c:tx>
          <c:spPr>
            <a:solidFill>
              <a:srgbClr val="008189"/>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Sheet1!$D$2:$D$3</c:f>
              <c:numCache>
                <c:formatCode>General</c:formatCode>
                <c:ptCount val="2"/>
                <c:pt idx="0">
                  <c:v>20.527354936892554</c:v>
                </c:pt>
                <c:pt idx="1">
                  <c:v>20.562569726169997</c:v>
                </c:pt>
              </c:numCache>
            </c:numRef>
          </c:val>
        </c:ser>
        <c:ser>
          <c:idx val="3"/>
          <c:order val="3"/>
          <c:tx>
            <c:strRef>
              <c:f>Sheet1!$E$1</c:f>
              <c:strCache>
                <c:ptCount val="1"/>
                <c:pt idx="0">
                  <c:v>South Asia &amp; Pacific</c:v>
                </c:pt>
              </c:strCache>
            </c:strRef>
          </c:tx>
          <c:spPr>
            <a:solidFill>
              <a:srgbClr val="40315E"/>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Sheet1!$E$2:$E$3</c:f>
              <c:numCache>
                <c:formatCode>General</c:formatCode>
                <c:ptCount val="2"/>
                <c:pt idx="0">
                  <c:v>12.141803884368843</c:v>
                </c:pt>
                <c:pt idx="1">
                  <c:v>13.607898184714273</c:v>
                </c:pt>
              </c:numCache>
            </c:numRef>
          </c:val>
        </c:ser>
        <c:ser>
          <c:idx val="4"/>
          <c:order val="4"/>
          <c:tx>
            <c:strRef>
              <c:f>Sheet1!$F$1</c:f>
              <c:strCache>
                <c:ptCount val="1"/>
                <c:pt idx="0">
                  <c:v>Latin America</c:v>
                </c:pt>
              </c:strCache>
            </c:strRef>
          </c:tx>
          <c:spPr>
            <a:solidFill>
              <a:srgbClr val="A35313"/>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Sheet1!$F$2:$F$3</c:f>
              <c:numCache>
                <c:formatCode>General</c:formatCode>
                <c:ptCount val="2"/>
                <c:pt idx="0">
                  <c:v>6.536388571949087</c:v>
                </c:pt>
                <c:pt idx="1">
                  <c:v>6.918269402314975</c:v>
                </c:pt>
              </c:numCache>
            </c:numRef>
          </c:val>
        </c:ser>
        <c:ser>
          <c:idx val="5"/>
          <c:order val="5"/>
          <c:tx>
            <c:strRef>
              <c:f>Sheet1!$G$1</c:f>
              <c:strCache>
                <c:ptCount val="1"/>
                <c:pt idx="0">
                  <c:v>Middle East &amp; Africa</c:v>
                </c:pt>
              </c:strCache>
            </c:strRef>
          </c:tx>
          <c:spPr>
            <a:solidFill>
              <a:srgbClr val="808080"/>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Sheet1!$G$2:$G$3</c:f>
              <c:numCache>
                <c:formatCode>General</c:formatCode>
                <c:ptCount val="2"/>
                <c:pt idx="0">
                  <c:v>5.581862213507578</c:v>
                </c:pt>
                <c:pt idx="1">
                  <c:v>6.543645967501114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East Asia</c:v>
                </c:pt>
              </c:strCache>
            </c:strRef>
          </c:tx>
          <c:spPr>
            <a:solidFill>
              <a:srgbClr val="3D85C6"/>
            </a:solidFill>
            <a:ln>
              <a:noFill/>
            </a:ln>
          </c:spPr>
          <c:dLbls>
            <c:dLbl>
              <c:idx val="0"/>
              <c:tx>
                <c:rich>
                  <a:bodyPr/>
                  <a:lstStyle/>
                  <a:p>
                    <a:r>
                      <a:rPr sz="1100">
                        <a:solidFill>
                          <a:srgbClr val="FFFFFF"/>
                        </a:solidFill>
                        <a:latin typeface="Calibri"/>
                      </a:rPr>
                      <a:t>9,964</a:t>
                    </a:r>
                  </a:p>
                </c:rich>
              </c:tx>
              <c:dLblPos val="ctr"/>
              <c:showLegendKey val="0"/>
              <c:showVal val="1"/>
              <c:showCatName val="0"/>
              <c:showSerName val="0"/>
              <c:showPercent val="0"/>
              <c:showBubbleSize val="0"/>
            </c:dLbl>
            <c:dLbl>
              <c:idx val="1"/>
              <c:tx>
                <c:rich>
                  <a:bodyPr/>
                  <a:lstStyle/>
                  <a:p>
                    <a:r>
                      <a:rPr sz="1100">
                        <a:solidFill>
                          <a:srgbClr val="FFFFFF"/>
                        </a:solidFill>
                        <a:latin typeface="Calibri"/>
                      </a:rPr>
                      <a:t>10,349</a:t>
                    </a:r>
                  </a:p>
                </c:rich>
              </c:tx>
              <c:dLblPos val="ctr"/>
              <c:showLegendKey val="0"/>
              <c:showVal val="1"/>
              <c:showCatName val="0"/>
              <c:showSerName val="0"/>
              <c:showPercent val="0"/>
              <c:showBubbleSize val="0"/>
            </c:dLbl>
            <c:dLbl>
              <c:idx val="2"/>
              <c:tx>
                <c:rich>
                  <a:bodyPr/>
                  <a:lstStyle/>
                  <a:p>
                    <a:r>
                      <a:rPr sz="1100">
                        <a:solidFill>
                          <a:srgbClr val="FFFFFF"/>
                        </a:solidFill>
                        <a:latin typeface="Calibri"/>
                      </a:rPr>
                      <a:t>10,757</a:t>
                    </a:r>
                  </a:p>
                </c:rich>
              </c:tx>
              <c:dLblPos val="ctr"/>
              <c:showLegendKey val="0"/>
              <c:showVal val="1"/>
              <c:showCatName val="0"/>
              <c:showSerName val="0"/>
              <c:showPercent val="0"/>
              <c:showBubbleSize val="0"/>
            </c:dLbl>
            <c:dLbl>
              <c:idx val="3"/>
              <c:tx>
                <c:rich>
                  <a:bodyPr/>
                  <a:lstStyle/>
                  <a:p>
                    <a:r>
                      <a:rPr sz="1100">
                        <a:solidFill>
                          <a:srgbClr val="FFFFFF"/>
                        </a:solidFill>
                        <a:latin typeface="Calibri"/>
                      </a:rPr>
                      <a:t>11,191</a:t>
                    </a:r>
                  </a:p>
                </c:rich>
              </c:tx>
              <c:dLblPos val="ctr"/>
              <c:showLegendKey val="0"/>
              <c:showVal val="1"/>
              <c:showCatName val="0"/>
              <c:showSerName val="0"/>
              <c:showPercent val="0"/>
              <c:showBubbleSize val="0"/>
            </c:dLbl>
            <c:dLbl>
              <c:idx val="4"/>
              <c:tx>
                <c:rich>
                  <a:bodyPr/>
                  <a:lstStyle/>
                  <a:p>
                    <a:r>
                      <a:rPr sz="1100">
                        <a:solidFill>
                          <a:srgbClr val="FFFFFF"/>
                        </a:solidFill>
                        <a:latin typeface="Calibri"/>
                      </a:rPr>
                      <a:t>11,656</a:t>
                    </a:r>
                  </a:p>
                </c:rich>
              </c:tx>
              <c:dLblPos val="ctr"/>
              <c:showLegendKey val="0"/>
              <c:showVal val="1"/>
              <c:showCatName val="0"/>
              <c:showSerName val="0"/>
              <c:showPercent val="0"/>
              <c:showBubbleSize val="0"/>
            </c:dLbl>
            <c:dLbl>
              <c:idx val="5"/>
              <c:tx>
                <c:rich>
                  <a:bodyPr/>
                  <a:lstStyle/>
                  <a:p>
                    <a:r>
                      <a:rPr sz="1100">
                        <a:solidFill>
                          <a:srgbClr val="FFFFFF"/>
                        </a:solidFill>
                        <a:latin typeface="Calibri"/>
                      </a:rPr>
                      <a:t>12,163</a:t>
                    </a:r>
                  </a:p>
                </c:rich>
              </c:tx>
              <c:dLblPos val="ctr"/>
              <c:showLegendKey val="0"/>
              <c:showVal val="1"/>
              <c:showCatName val="0"/>
              <c:showSerName val="0"/>
              <c:showPercent val="0"/>
              <c:showBubbleSize val="0"/>
            </c:dLbl>
            <c:dLbl>
              <c:idx val="6"/>
              <c:tx>
                <c:rich>
                  <a:bodyPr/>
                  <a:lstStyle/>
                  <a:p>
                    <a:r>
                      <a:rPr sz="1100">
                        <a:solidFill>
                          <a:srgbClr val="FFFFFF"/>
                        </a:solidFill>
                        <a:latin typeface="Calibri"/>
                      </a:rPr>
                      <a:t>12,715</a:t>
                    </a:r>
                  </a:p>
                </c:rich>
              </c:tx>
              <c:dLblPos val="ctr"/>
              <c:showLegendKey val="0"/>
              <c:showVal val="1"/>
              <c:showCatName val="0"/>
              <c:showSerName val="0"/>
              <c:showPercent val="0"/>
              <c:showBubbleSize val="0"/>
            </c:dLbl>
            <c:dLbl>
              <c:idx val="7"/>
              <c:tx>
                <c:rich>
                  <a:bodyPr/>
                  <a:lstStyle/>
                  <a:p>
                    <a:r>
                      <a:rPr sz="1100">
                        <a:solidFill>
                          <a:srgbClr val="FFFFFF"/>
                        </a:solidFill>
                        <a:latin typeface="Calibri"/>
                      </a:rPr>
                      <a:t>13,315</a:t>
                    </a:r>
                  </a:p>
                </c:rich>
              </c:tx>
              <c:dLblPos val="ctr"/>
              <c:showLegendKey val="0"/>
              <c:showVal val="1"/>
              <c:showCatName val="0"/>
              <c:showSerName val="0"/>
              <c:showPercent val="0"/>
              <c:showBubbleSize val="0"/>
            </c:dLbl>
            <c:dLbl>
              <c:idx val="8"/>
              <c:tx>
                <c:rich>
                  <a:bodyPr/>
                  <a:lstStyle/>
                  <a:p>
                    <a:r>
                      <a:rPr sz="1100">
                        <a:solidFill>
                          <a:srgbClr val="FFFFFF"/>
                        </a:solidFill>
                        <a:latin typeface="Calibri"/>
                      </a:rPr>
                      <a:t>13,965</a:t>
                    </a:r>
                  </a:p>
                </c:rich>
              </c:tx>
              <c:dLblPos val="ctr"/>
              <c:showLegendKey val="0"/>
              <c:showVal val="1"/>
              <c:showCatName val="0"/>
              <c:showSerName val="0"/>
              <c:showPercent val="0"/>
              <c:showBubbleSize val="0"/>
            </c:dLbl>
            <c:dLbl>
              <c:idx val="9"/>
              <c:tx>
                <c:rich>
                  <a:bodyPr/>
                  <a:lstStyle/>
                  <a:p>
                    <a:r>
                      <a:rPr sz="1100">
                        <a:solidFill>
                          <a:srgbClr val="FFFFFF"/>
                        </a:solidFill>
                        <a:latin typeface="Calibri"/>
                      </a:rPr>
                      <a:t>14,672</a:t>
                    </a:r>
                  </a:p>
                </c:rich>
              </c:tx>
              <c:dLblPos val="ctr"/>
              <c:showLegendKey val="0"/>
              <c:showVal val="1"/>
              <c:showCatName val="0"/>
              <c:showSerName val="0"/>
              <c:showPercent val="0"/>
              <c:showBubbleSize val="0"/>
            </c:dLbl>
            <c:dLbl>
              <c:idx val="10"/>
              <c:tx>
                <c:rich>
                  <a:bodyPr/>
                  <a:lstStyle/>
                  <a:p>
                    <a:r>
                      <a:rPr sz="1100">
                        <a:solidFill>
                          <a:srgbClr val="FFFFFF"/>
                        </a:solidFill>
                        <a:latin typeface="Calibri"/>
                      </a:rPr>
                      <a:t>15,436</a:t>
                    </a:r>
                  </a:p>
                </c:rich>
              </c:tx>
              <c:dLblPos val="ctr"/>
              <c:showLegendKey val="0"/>
              <c:showVal val="1"/>
              <c:showCatName val="0"/>
              <c:showSerName val="0"/>
              <c:showPercent val="0"/>
              <c:showBubbleSize val="0"/>
            </c:dLbl>
            <c:dLbl>
              <c:idx val="11"/>
              <c:tx>
                <c:rich>
                  <a:bodyPr/>
                  <a:lstStyle/>
                  <a:p>
                    <a:r>
                      <a:rPr sz="1100">
                        <a:solidFill>
                          <a:srgbClr val="FFFFFF"/>
                        </a:solidFill>
                        <a:latin typeface="Calibri"/>
                      </a:rPr>
                      <a:t>16,254</a:t>
                    </a:r>
                  </a:p>
                </c:rich>
              </c:tx>
              <c:dLblPos val="ctr"/>
              <c:showLegendKey val="0"/>
              <c:showVal val="1"/>
              <c:showCatName val="0"/>
              <c:showSerName val="0"/>
              <c:showPercent val="0"/>
              <c:showBubbleSize val="0"/>
            </c:dLbl>
            <c:dLbl>
              <c:idx val="12"/>
              <c:tx>
                <c:rich>
                  <a:bodyPr/>
                  <a:lstStyle/>
                  <a:p>
                    <a:r>
                      <a:rPr sz="1100">
                        <a:solidFill>
                          <a:srgbClr val="FFFFFF"/>
                        </a:solidFill>
                        <a:latin typeface="Calibri"/>
                      </a:rPr>
                      <a:t>17,113</a:t>
                    </a:r>
                  </a:p>
                </c:rich>
              </c:tx>
              <c:dLblPos val="ctr"/>
              <c:showLegendKey val="0"/>
              <c:showVal val="1"/>
              <c:showCatName val="0"/>
              <c:showSerName val="0"/>
              <c:showPercent val="0"/>
              <c:showBubbleSize val="0"/>
            </c:dLbl>
            <c:dLbl>
              <c:idx val="13"/>
              <c:tx>
                <c:rich>
                  <a:bodyPr/>
                  <a:lstStyle/>
                  <a:p>
                    <a:r>
                      <a:rPr sz="1100">
                        <a:solidFill>
                          <a:srgbClr val="FFFFFF"/>
                        </a:solidFill>
                        <a:latin typeface="Calibri"/>
                      </a:rPr>
                      <a:t>18,006</a:t>
                    </a:r>
                  </a:p>
                </c:rich>
              </c:tx>
              <c:dLblPos val="ctr"/>
              <c:showLegendKey val="0"/>
              <c:showVal val="1"/>
              <c:showCatName val="0"/>
              <c:showSerName val="0"/>
              <c:showPercent val="0"/>
              <c:showBubbleSize val="0"/>
            </c:dLbl>
            <c:dLbl>
              <c:idx val="14"/>
              <c:tx>
                <c:rich>
                  <a:bodyPr/>
                  <a:lstStyle/>
                  <a:p>
                    <a:r>
                      <a:rPr sz="1100">
                        <a:solidFill>
                          <a:srgbClr val="FFFFFF"/>
                        </a:solidFill>
                        <a:latin typeface="Calibri"/>
                      </a:rPr>
                      <a:t>18,917</a:t>
                    </a:r>
                  </a:p>
                </c:rich>
              </c:tx>
              <c:dLblPos val="ctr"/>
              <c:showLegendKey val="0"/>
              <c:showVal val="1"/>
              <c:showCatName val="0"/>
              <c:showSerName val="0"/>
              <c:showPercent val="0"/>
              <c:showBubbleSize val="0"/>
            </c:dLbl>
            <c:dLbl>
              <c:idx val="15"/>
              <c:tx>
                <c:rich>
                  <a:bodyPr/>
                  <a:lstStyle/>
                  <a:p>
                    <a:r>
                      <a:rPr sz="1100">
                        <a:solidFill>
                          <a:srgbClr val="FFFFFF"/>
                        </a:solidFill>
                        <a:latin typeface="Calibri"/>
                      </a:rPr>
                      <a:t>19,847</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9963.727</c:v>
                </c:pt>
                <c:pt idx="1">
                  <c:v>10349.391</c:v>
                </c:pt>
                <c:pt idx="2">
                  <c:v>10757.242</c:v>
                </c:pt>
                <c:pt idx="3">
                  <c:v>11191.285</c:v>
                </c:pt>
                <c:pt idx="4">
                  <c:v>11656.096</c:v>
                </c:pt>
                <c:pt idx="5">
                  <c:v>12163.304</c:v>
                </c:pt>
                <c:pt idx="6">
                  <c:v>12715.045</c:v>
                </c:pt>
                <c:pt idx="7">
                  <c:v>13314.571</c:v>
                </c:pt>
                <c:pt idx="8">
                  <c:v>13964.859</c:v>
                </c:pt>
                <c:pt idx="9">
                  <c:v>14672.091</c:v>
                </c:pt>
                <c:pt idx="10">
                  <c:v>15436.327</c:v>
                </c:pt>
                <c:pt idx="11">
                  <c:v>16253.839</c:v>
                </c:pt>
                <c:pt idx="12">
                  <c:v>17113.233</c:v>
                </c:pt>
                <c:pt idx="13">
                  <c:v>18005.708</c:v>
                </c:pt>
                <c:pt idx="14">
                  <c:v>18917.416</c:v>
                </c:pt>
                <c:pt idx="15">
                  <c:v>19846.572</c:v>
                </c:pt>
              </c:numCache>
            </c:numRef>
          </c:val>
        </c:ser>
        <c:ser>
          <c:idx val="1"/>
          <c:order val="1"/>
          <c:tx>
            <c:strRef>
              <c:f>Sheet1!$C$1</c:f>
              <c:strCache>
                <c:ptCount val="1"/>
                <c:pt idx="0">
                  <c:v>North America</c:v>
                </c:pt>
              </c:strCache>
            </c:strRef>
          </c:tx>
          <c:spPr>
            <a:solidFill>
              <a:srgbClr val="9E7E0A"/>
            </a:solidFill>
            <a:ln>
              <a:noFill/>
            </a:ln>
          </c:spPr>
          <c:dLbls>
            <c:dLbl>
              <c:idx val="0"/>
              <c:tx>
                <c:rich>
                  <a:bodyPr/>
                  <a:lstStyle/>
                  <a:p>
                    <a:r>
                      <a:rPr sz="1100">
                        <a:solidFill>
                          <a:srgbClr val="FFFFFF"/>
                        </a:solidFill>
                        <a:latin typeface="Calibri"/>
                      </a:rPr>
                      <a:t>8,756</a:t>
                    </a:r>
                  </a:p>
                </c:rich>
              </c:tx>
              <c:dLblPos val="ctr"/>
              <c:showLegendKey val="0"/>
              <c:showVal val="1"/>
              <c:showCatName val="0"/>
              <c:showSerName val="0"/>
              <c:showPercent val="0"/>
              <c:showBubbleSize val="0"/>
            </c:dLbl>
            <c:dLbl>
              <c:idx val="1"/>
              <c:tx>
                <c:rich>
                  <a:bodyPr/>
                  <a:lstStyle/>
                  <a:p>
                    <a:r>
                      <a:rPr sz="1100">
                        <a:solidFill>
                          <a:srgbClr val="FFFFFF"/>
                        </a:solidFill>
                        <a:latin typeface="Calibri"/>
                      </a:rPr>
                      <a:t>9,039</a:t>
                    </a:r>
                  </a:p>
                </c:rich>
              </c:tx>
              <c:dLblPos val="ctr"/>
              <c:showLegendKey val="0"/>
              <c:showVal val="1"/>
              <c:showCatName val="0"/>
              <c:showSerName val="0"/>
              <c:showPercent val="0"/>
              <c:showBubbleSize val="0"/>
            </c:dLbl>
            <c:dLbl>
              <c:idx val="2"/>
              <c:tx>
                <c:rich>
                  <a:bodyPr/>
                  <a:lstStyle/>
                  <a:p>
                    <a:r>
                      <a:rPr sz="1100">
                        <a:solidFill>
                          <a:srgbClr val="FFFFFF"/>
                        </a:solidFill>
                        <a:latin typeface="Calibri"/>
                      </a:rPr>
                      <a:t>9,335</a:t>
                    </a:r>
                  </a:p>
                </c:rich>
              </c:tx>
              <c:dLblPos val="ctr"/>
              <c:showLegendKey val="0"/>
              <c:showVal val="1"/>
              <c:showCatName val="0"/>
              <c:showSerName val="0"/>
              <c:showPercent val="0"/>
              <c:showBubbleSize val="0"/>
            </c:dLbl>
            <c:dLbl>
              <c:idx val="3"/>
              <c:tx>
                <c:rich>
                  <a:bodyPr/>
                  <a:lstStyle/>
                  <a:p>
                    <a:r>
                      <a:rPr sz="1100">
                        <a:solidFill>
                          <a:srgbClr val="FFFFFF"/>
                        </a:solidFill>
                        <a:latin typeface="Calibri"/>
                      </a:rPr>
                      <a:t>9,643</a:t>
                    </a:r>
                  </a:p>
                </c:rich>
              </c:tx>
              <c:dLblPos val="ctr"/>
              <c:showLegendKey val="0"/>
              <c:showVal val="1"/>
              <c:showCatName val="0"/>
              <c:showSerName val="0"/>
              <c:showPercent val="0"/>
              <c:showBubbleSize val="0"/>
            </c:dLbl>
            <c:dLbl>
              <c:idx val="4"/>
              <c:tx>
                <c:rich>
                  <a:bodyPr/>
                  <a:lstStyle/>
                  <a:p>
                    <a:r>
                      <a:rPr sz="1100">
                        <a:solidFill>
                          <a:srgbClr val="FFFFFF"/>
                        </a:solidFill>
                        <a:latin typeface="Calibri"/>
                      </a:rPr>
                      <a:t>9,968</a:t>
                    </a:r>
                  </a:p>
                </c:rich>
              </c:tx>
              <c:dLblPos val="ctr"/>
              <c:showLegendKey val="0"/>
              <c:showVal val="1"/>
              <c:showCatName val="0"/>
              <c:showSerName val="0"/>
              <c:showPercent val="0"/>
              <c:showBubbleSize val="0"/>
            </c:dLbl>
            <c:dLbl>
              <c:idx val="5"/>
              <c:tx>
                <c:rich>
                  <a:bodyPr/>
                  <a:lstStyle/>
                  <a:p>
                    <a:r>
                      <a:rPr sz="1100">
                        <a:solidFill>
                          <a:srgbClr val="FFFFFF"/>
                        </a:solidFill>
                        <a:latin typeface="Calibri"/>
                      </a:rPr>
                      <a:t>10,320</a:t>
                    </a:r>
                  </a:p>
                </c:rich>
              </c:tx>
              <c:dLblPos val="ctr"/>
              <c:showLegendKey val="0"/>
              <c:showVal val="1"/>
              <c:showCatName val="0"/>
              <c:showSerName val="0"/>
              <c:showPercent val="0"/>
              <c:showBubbleSize val="0"/>
            </c:dLbl>
            <c:dLbl>
              <c:idx val="6"/>
              <c:tx>
                <c:rich>
                  <a:bodyPr/>
                  <a:lstStyle/>
                  <a:p>
                    <a:r>
                      <a:rPr sz="1100">
                        <a:solidFill>
                          <a:srgbClr val="FFFFFF"/>
                        </a:solidFill>
                        <a:latin typeface="Calibri"/>
                      </a:rPr>
                      <a:t>10,702</a:t>
                    </a:r>
                  </a:p>
                </c:rich>
              </c:tx>
              <c:dLblPos val="ctr"/>
              <c:showLegendKey val="0"/>
              <c:showVal val="1"/>
              <c:showCatName val="0"/>
              <c:showSerName val="0"/>
              <c:showPercent val="0"/>
              <c:showBubbleSize val="0"/>
            </c:dLbl>
            <c:dLbl>
              <c:idx val="7"/>
              <c:tx>
                <c:rich>
                  <a:bodyPr/>
                  <a:lstStyle/>
                  <a:p>
                    <a:r>
                      <a:rPr sz="1100">
                        <a:solidFill>
                          <a:srgbClr val="FFFFFF"/>
                        </a:solidFill>
                        <a:latin typeface="Calibri"/>
                      </a:rPr>
                      <a:t>11,118</a:t>
                    </a:r>
                  </a:p>
                </c:rich>
              </c:tx>
              <c:dLblPos val="ctr"/>
              <c:showLegendKey val="0"/>
              <c:showVal val="1"/>
              <c:showCatName val="0"/>
              <c:showSerName val="0"/>
              <c:showPercent val="0"/>
              <c:showBubbleSize val="0"/>
            </c:dLbl>
            <c:dLbl>
              <c:idx val="8"/>
              <c:tx>
                <c:rich>
                  <a:bodyPr/>
                  <a:lstStyle/>
                  <a:p>
                    <a:r>
                      <a:rPr sz="1100">
                        <a:solidFill>
                          <a:srgbClr val="FFFFFF"/>
                        </a:solidFill>
                        <a:latin typeface="Calibri"/>
                      </a:rPr>
                      <a:t>11,571</a:t>
                    </a:r>
                  </a:p>
                </c:rich>
              </c:tx>
              <c:dLblPos val="ctr"/>
              <c:showLegendKey val="0"/>
              <c:showVal val="1"/>
              <c:showCatName val="0"/>
              <c:showSerName val="0"/>
              <c:showPercent val="0"/>
              <c:showBubbleSize val="0"/>
            </c:dLbl>
            <c:dLbl>
              <c:idx val="9"/>
              <c:tx>
                <c:rich>
                  <a:bodyPr/>
                  <a:lstStyle/>
                  <a:p>
                    <a:r>
                      <a:rPr sz="1100">
                        <a:solidFill>
                          <a:srgbClr val="FFFFFF"/>
                        </a:solidFill>
                        <a:latin typeface="Calibri"/>
                      </a:rPr>
                      <a:t>12,069</a:t>
                    </a:r>
                  </a:p>
                </c:rich>
              </c:tx>
              <c:dLblPos val="ctr"/>
              <c:showLegendKey val="0"/>
              <c:showVal val="1"/>
              <c:showCatName val="0"/>
              <c:showSerName val="0"/>
              <c:showPercent val="0"/>
              <c:showBubbleSize val="0"/>
            </c:dLbl>
            <c:dLbl>
              <c:idx val="10"/>
              <c:tx>
                <c:rich>
                  <a:bodyPr/>
                  <a:lstStyle/>
                  <a:p>
                    <a:r>
                      <a:rPr sz="1100">
                        <a:solidFill>
                          <a:srgbClr val="FFFFFF"/>
                        </a:solidFill>
                        <a:latin typeface="Calibri"/>
                      </a:rPr>
                      <a:t>12,607</a:t>
                    </a:r>
                  </a:p>
                </c:rich>
              </c:tx>
              <c:dLblPos val="ctr"/>
              <c:showLegendKey val="0"/>
              <c:showVal val="1"/>
              <c:showCatName val="0"/>
              <c:showSerName val="0"/>
              <c:showPercent val="0"/>
              <c:showBubbleSize val="0"/>
            </c:dLbl>
            <c:dLbl>
              <c:idx val="11"/>
              <c:tx>
                <c:rich>
                  <a:bodyPr/>
                  <a:lstStyle/>
                  <a:p>
                    <a:r>
                      <a:rPr sz="1100">
                        <a:solidFill>
                          <a:srgbClr val="FFFFFF"/>
                        </a:solidFill>
                        <a:latin typeface="Calibri"/>
                      </a:rPr>
                      <a:t>13,183</a:t>
                    </a:r>
                  </a:p>
                </c:rich>
              </c:tx>
              <c:dLblPos val="ctr"/>
              <c:showLegendKey val="0"/>
              <c:showVal val="1"/>
              <c:showCatName val="0"/>
              <c:showSerName val="0"/>
              <c:showPercent val="0"/>
              <c:showBubbleSize val="0"/>
            </c:dLbl>
            <c:dLbl>
              <c:idx val="12"/>
              <c:tx>
                <c:rich>
                  <a:bodyPr/>
                  <a:lstStyle/>
                  <a:p>
                    <a:r>
                      <a:rPr sz="1100">
                        <a:solidFill>
                          <a:srgbClr val="FFFFFF"/>
                        </a:solidFill>
                        <a:latin typeface="Calibri"/>
                      </a:rPr>
                      <a:t>13,783</a:t>
                    </a:r>
                  </a:p>
                </c:rich>
              </c:tx>
              <c:dLblPos val="ctr"/>
              <c:showLegendKey val="0"/>
              <c:showVal val="1"/>
              <c:showCatName val="0"/>
              <c:showSerName val="0"/>
              <c:showPercent val="0"/>
              <c:showBubbleSize val="0"/>
            </c:dLbl>
            <c:dLbl>
              <c:idx val="13"/>
              <c:tx>
                <c:rich>
                  <a:bodyPr/>
                  <a:lstStyle/>
                  <a:p>
                    <a:r>
                      <a:rPr sz="1100">
                        <a:solidFill>
                          <a:srgbClr val="FFFFFF"/>
                        </a:solidFill>
                        <a:latin typeface="Calibri"/>
                      </a:rPr>
                      <a:t>14,400</a:t>
                    </a:r>
                  </a:p>
                </c:rich>
              </c:tx>
              <c:dLblPos val="ctr"/>
              <c:showLegendKey val="0"/>
              <c:showVal val="1"/>
              <c:showCatName val="0"/>
              <c:showSerName val="0"/>
              <c:showPercent val="0"/>
              <c:showBubbleSize val="0"/>
            </c:dLbl>
            <c:dLbl>
              <c:idx val="14"/>
              <c:tx>
                <c:rich>
                  <a:bodyPr/>
                  <a:lstStyle/>
                  <a:p>
                    <a:r>
                      <a:rPr sz="1100">
                        <a:solidFill>
                          <a:srgbClr val="FFFFFF"/>
                        </a:solidFill>
                        <a:latin typeface="Calibri"/>
                      </a:rPr>
                      <a:t>15,026</a:t>
                    </a:r>
                  </a:p>
                </c:rich>
              </c:tx>
              <c:dLblPos val="ctr"/>
              <c:showLegendKey val="0"/>
              <c:showVal val="1"/>
              <c:showCatName val="0"/>
              <c:showSerName val="0"/>
              <c:showPercent val="0"/>
              <c:showBubbleSize val="0"/>
            </c:dLbl>
            <c:dLbl>
              <c:idx val="15"/>
              <c:tx>
                <c:rich>
                  <a:bodyPr/>
                  <a:lstStyle/>
                  <a:p>
                    <a:r>
                      <a:rPr sz="1100">
                        <a:solidFill>
                          <a:srgbClr val="FFFFFF"/>
                        </a:solidFill>
                        <a:latin typeface="Calibri"/>
                      </a:rPr>
                      <a:t>15,660</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Sheet1!$C$2:$C$17</c:f>
              <c:numCache>
                <c:formatCode>General</c:formatCode>
                <c:ptCount val="16"/>
                <c:pt idx="0">
                  <c:v>8755.68</c:v>
                </c:pt>
                <c:pt idx="1">
                  <c:v>9039.389</c:v>
                </c:pt>
                <c:pt idx="2">
                  <c:v>9334.648</c:v>
                </c:pt>
                <c:pt idx="3">
                  <c:v>9643.35</c:v>
                </c:pt>
                <c:pt idx="4">
                  <c:v>9967.574</c:v>
                </c:pt>
                <c:pt idx="5">
                  <c:v>10319.504</c:v>
                </c:pt>
                <c:pt idx="6">
                  <c:v>10701.55</c:v>
                </c:pt>
                <c:pt idx="7">
                  <c:v>11117.913</c:v>
                </c:pt>
                <c:pt idx="8">
                  <c:v>11571.486</c:v>
                </c:pt>
                <c:pt idx="9">
                  <c:v>12068.725</c:v>
                </c:pt>
                <c:pt idx="10">
                  <c:v>12607.303</c:v>
                </c:pt>
                <c:pt idx="11">
                  <c:v>13182.788</c:v>
                </c:pt>
                <c:pt idx="12">
                  <c:v>13782.581</c:v>
                </c:pt>
                <c:pt idx="13">
                  <c:v>14400.092</c:v>
                </c:pt>
                <c:pt idx="14">
                  <c:v>15026.466</c:v>
                </c:pt>
                <c:pt idx="15">
                  <c:v>15659.644</c:v>
                </c:pt>
              </c:numCache>
            </c:numRef>
          </c:val>
        </c:ser>
        <c:ser>
          <c:idx val="2"/>
          <c:order val="2"/>
          <c:tx>
            <c:strRef>
              <c:f>Sheet1!$D$1</c:f>
              <c:strCache>
                <c:ptCount val="1"/>
                <c:pt idx="0">
                  <c:v>Europe</c:v>
                </c:pt>
              </c:strCache>
            </c:strRef>
          </c:tx>
          <c:spPr>
            <a:solidFill>
              <a:srgbClr val="008189"/>
            </a:solidFill>
            <a:ln>
              <a:noFill/>
            </a:ln>
          </c:spPr>
          <c:dLbls>
            <c:dLbl>
              <c:idx val="0"/>
              <c:tx>
                <c:rich>
                  <a:bodyPr/>
                  <a:lstStyle/>
                  <a:p>
                    <a:r>
                      <a:rPr sz="1100">
                        <a:solidFill>
                          <a:srgbClr val="FFFFFF"/>
                        </a:solidFill>
                        <a:latin typeface="Calibri"/>
                      </a:rPr>
                      <a:t>6,355</a:t>
                    </a:r>
                  </a:p>
                </c:rich>
              </c:tx>
              <c:dLblPos val="ctr"/>
              <c:showLegendKey val="0"/>
              <c:showVal val="1"/>
              <c:showCatName val="0"/>
              <c:showSerName val="0"/>
              <c:showPercent val="0"/>
              <c:showBubbleSize val="0"/>
            </c:dLbl>
            <c:dLbl>
              <c:idx val="1"/>
              <c:tx>
                <c:rich>
                  <a:bodyPr/>
                  <a:lstStyle/>
                  <a:p>
                    <a:r>
                      <a:rPr sz="1100">
                        <a:solidFill>
                          <a:srgbClr val="FFFFFF"/>
                        </a:solidFill>
                        <a:latin typeface="Calibri"/>
                      </a:rPr>
                      <a:t>6,625</a:t>
                    </a:r>
                  </a:p>
                </c:rich>
              </c:tx>
              <c:dLblPos val="ctr"/>
              <c:showLegendKey val="0"/>
              <c:showVal val="1"/>
              <c:showCatName val="0"/>
              <c:showSerName val="0"/>
              <c:showPercent val="0"/>
              <c:showBubbleSize val="0"/>
            </c:dLbl>
            <c:dLbl>
              <c:idx val="2"/>
              <c:tx>
                <c:rich>
                  <a:bodyPr/>
                  <a:lstStyle/>
                  <a:p>
                    <a:r>
                      <a:rPr sz="1100">
                        <a:solidFill>
                          <a:srgbClr val="FFFFFF"/>
                        </a:solidFill>
                        <a:latin typeface="Calibri"/>
                      </a:rPr>
                      <a:t>6,909</a:t>
                    </a:r>
                  </a:p>
                </c:rich>
              </c:tx>
              <c:dLblPos val="ctr"/>
              <c:showLegendKey val="0"/>
              <c:showVal val="1"/>
              <c:showCatName val="0"/>
              <c:showSerName val="0"/>
              <c:showPercent val="0"/>
              <c:showBubbleSize val="0"/>
            </c:dLbl>
            <c:dLbl>
              <c:idx val="3"/>
              <c:tx>
                <c:rich>
                  <a:bodyPr/>
                  <a:lstStyle/>
                  <a:p>
                    <a:r>
                      <a:rPr sz="1100">
                        <a:solidFill>
                          <a:srgbClr val="FFFFFF"/>
                        </a:solidFill>
                        <a:latin typeface="Calibri"/>
                      </a:rPr>
                      <a:t>7,210</a:t>
                    </a:r>
                  </a:p>
                </c:rich>
              </c:tx>
              <c:dLblPos val="ctr"/>
              <c:showLegendKey val="0"/>
              <c:showVal val="1"/>
              <c:showCatName val="0"/>
              <c:showSerName val="0"/>
              <c:showPercent val="0"/>
              <c:showBubbleSize val="0"/>
            </c:dLbl>
            <c:dLbl>
              <c:idx val="4"/>
              <c:tx>
                <c:rich>
                  <a:bodyPr/>
                  <a:lstStyle/>
                  <a:p>
                    <a:r>
                      <a:rPr sz="1100">
                        <a:solidFill>
                          <a:srgbClr val="FFFFFF"/>
                        </a:solidFill>
                        <a:latin typeface="Calibri"/>
                      </a:rPr>
                      <a:t>7,530</a:t>
                    </a:r>
                  </a:p>
                </c:rich>
              </c:tx>
              <c:dLblPos val="ctr"/>
              <c:showLegendKey val="0"/>
              <c:showVal val="1"/>
              <c:showCatName val="0"/>
              <c:showSerName val="0"/>
              <c:showPercent val="0"/>
              <c:showBubbleSize val="0"/>
            </c:dLbl>
            <c:dLbl>
              <c:idx val="5"/>
              <c:tx>
                <c:rich>
                  <a:bodyPr/>
                  <a:lstStyle/>
                  <a:p>
                    <a:r>
                      <a:rPr sz="1100">
                        <a:solidFill>
                          <a:srgbClr val="FFFFFF"/>
                        </a:solidFill>
                        <a:latin typeface="Calibri"/>
                      </a:rPr>
                      <a:t>7,878</a:t>
                    </a:r>
                  </a:p>
                </c:rich>
              </c:tx>
              <c:dLblPos val="ctr"/>
              <c:showLegendKey val="0"/>
              <c:showVal val="1"/>
              <c:showCatName val="0"/>
              <c:showSerName val="0"/>
              <c:showPercent val="0"/>
              <c:showBubbleSize val="0"/>
            </c:dLbl>
            <c:dLbl>
              <c:idx val="6"/>
              <c:tx>
                <c:rich>
                  <a:bodyPr/>
                  <a:lstStyle/>
                  <a:p>
                    <a:r>
                      <a:rPr sz="1100">
                        <a:solidFill>
                          <a:srgbClr val="FFFFFF"/>
                        </a:solidFill>
                        <a:latin typeface="Calibri"/>
                      </a:rPr>
                      <a:t>8,254</a:t>
                    </a:r>
                  </a:p>
                </c:rich>
              </c:tx>
              <c:dLblPos val="ctr"/>
              <c:showLegendKey val="0"/>
              <c:showVal val="1"/>
              <c:showCatName val="0"/>
              <c:showSerName val="0"/>
              <c:showPercent val="0"/>
              <c:showBubbleSize val="0"/>
            </c:dLbl>
            <c:dLbl>
              <c:idx val="7"/>
              <c:tx>
                <c:rich>
                  <a:bodyPr/>
                  <a:lstStyle/>
                  <a:p>
                    <a:r>
                      <a:rPr sz="1100">
                        <a:solidFill>
                          <a:srgbClr val="FFFFFF"/>
                        </a:solidFill>
                        <a:latin typeface="Calibri"/>
                      </a:rPr>
                      <a:t>8,664</a:t>
                    </a:r>
                  </a:p>
                </c:rich>
              </c:tx>
              <c:dLblPos val="ctr"/>
              <c:showLegendKey val="0"/>
              <c:showVal val="1"/>
              <c:showCatName val="0"/>
              <c:showSerName val="0"/>
              <c:showPercent val="0"/>
              <c:showBubbleSize val="0"/>
            </c:dLbl>
            <c:dLbl>
              <c:idx val="8"/>
              <c:tx>
                <c:rich>
                  <a:bodyPr/>
                  <a:lstStyle/>
                  <a:p>
                    <a:r>
                      <a:rPr sz="1100">
                        <a:solidFill>
                          <a:srgbClr val="FFFFFF"/>
                        </a:solidFill>
                        <a:latin typeface="Calibri"/>
                      </a:rPr>
                      <a:t>9,111</a:t>
                    </a:r>
                  </a:p>
                </c:rich>
              </c:tx>
              <c:dLblPos val="ctr"/>
              <c:showLegendKey val="0"/>
              <c:showVal val="1"/>
              <c:showCatName val="0"/>
              <c:showSerName val="0"/>
              <c:showPercent val="0"/>
              <c:showBubbleSize val="0"/>
            </c:dLbl>
            <c:dLbl>
              <c:idx val="9"/>
              <c:tx>
                <c:rich>
                  <a:bodyPr/>
                  <a:lstStyle/>
                  <a:p>
                    <a:r>
                      <a:rPr sz="1100">
                        <a:solidFill>
                          <a:srgbClr val="FFFFFF"/>
                        </a:solidFill>
                        <a:latin typeface="Calibri"/>
                      </a:rPr>
                      <a:t>9,597</a:t>
                    </a:r>
                  </a:p>
                </c:rich>
              </c:tx>
              <c:dLblPos val="ctr"/>
              <c:showLegendKey val="0"/>
              <c:showVal val="1"/>
              <c:showCatName val="0"/>
              <c:showSerName val="0"/>
              <c:showPercent val="0"/>
              <c:showBubbleSize val="0"/>
            </c:dLbl>
            <c:dLbl>
              <c:idx val="10"/>
              <c:tx>
                <c:rich>
                  <a:bodyPr/>
                  <a:lstStyle/>
                  <a:p>
                    <a:r>
                      <a:rPr sz="1100">
                        <a:solidFill>
                          <a:srgbClr val="FFFFFF"/>
                        </a:solidFill>
                        <a:latin typeface="Calibri"/>
                      </a:rPr>
                      <a:t>10,120</a:t>
                    </a:r>
                  </a:p>
                </c:rich>
              </c:tx>
              <c:dLblPos val="ctr"/>
              <c:showLegendKey val="0"/>
              <c:showVal val="1"/>
              <c:showCatName val="0"/>
              <c:showSerName val="0"/>
              <c:showPercent val="0"/>
              <c:showBubbleSize val="0"/>
            </c:dLbl>
            <c:dLbl>
              <c:idx val="11"/>
              <c:tx>
                <c:rich>
                  <a:bodyPr/>
                  <a:lstStyle/>
                  <a:p>
                    <a:r>
                      <a:rPr sz="1100">
                        <a:solidFill>
                          <a:srgbClr val="FFFFFF"/>
                        </a:solidFill>
                        <a:latin typeface="Calibri"/>
                      </a:rPr>
                      <a:t>10,677</a:t>
                    </a:r>
                  </a:p>
                </c:rich>
              </c:tx>
              <c:dLblPos val="ctr"/>
              <c:showLegendKey val="0"/>
              <c:showVal val="1"/>
              <c:showCatName val="0"/>
              <c:showSerName val="0"/>
              <c:showPercent val="0"/>
              <c:showBubbleSize val="0"/>
            </c:dLbl>
            <c:dLbl>
              <c:idx val="12"/>
              <c:tx>
                <c:rich>
                  <a:bodyPr/>
                  <a:lstStyle/>
                  <a:p>
                    <a:r>
                      <a:rPr sz="1100">
                        <a:solidFill>
                          <a:srgbClr val="FFFFFF"/>
                        </a:solidFill>
                        <a:latin typeface="Calibri"/>
                      </a:rPr>
                      <a:t>11,262</a:t>
                    </a:r>
                  </a:p>
                </c:rich>
              </c:tx>
              <c:dLblPos val="ctr"/>
              <c:showLegendKey val="0"/>
              <c:showVal val="1"/>
              <c:showCatName val="0"/>
              <c:showSerName val="0"/>
              <c:showPercent val="0"/>
              <c:showBubbleSize val="0"/>
            </c:dLbl>
            <c:dLbl>
              <c:idx val="13"/>
              <c:tx>
                <c:rich>
                  <a:bodyPr/>
                  <a:lstStyle/>
                  <a:p>
                    <a:r>
                      <a:rPr sz="1100">
                        <a:solidFill>
                          <a:srgbClr val="FFFFFF"/>
                        </a:solidFill>
                        <a:latin typeface="Calibri"/>
                      </a:rPr>
                      <a:t>11,870</a:t>
                    </a:r>
                  </a:p>
                </c:rich>
              </c:tx>
              <c:dLblPos val="ctr"/>
              <c:showLegendKey val="0"/>
              <c:showVal val="1"/>
              <c:showCatName val="0"/>
              <c:showSerName val="0"/>
              <c:showPercent val="0"/>
              <c:showBubbleSize val="0"/>
            </c:dLbl>
            <c:dLbl>
              <c:idx val="14"/>
              <c:tx>
                <c:rich>
                  <a:bodyPr/>
                  <a:lstStyle/>
                  <a:p>
                    <a:r>
                      <a:rPr sz="1100">
                        <a:solidFill>
                          <a:srgbClr val="FFFFFF"/>
                        </a:solidFill>
                        <a:latin typeface="Calibri"/>
                      </a:rPr>
                      <a:t>12,492</a:t>
                    </a:r>
                  </a:p>
                </c:rich>
              </c:tx>
              <c:dLblPos val="ctr"/>
              <c:showLegendKey val="0"/>
              <c:showVal val="1"/>
              <c:showCatName val="0"/>
              <c:showSerName val="0"/>
              <c:showPercent val="0"/>
              <c:showBubbleSize val="0"/>
            </c:dLbl>
            <c:dLbl>
              <c:idx val="15"/>
              <c:tx>
                <c:rich>
                  <a:bodyPr/>
                  <a:lstStyle/>
                  <a:p>
                    <a:r>
                      <a:rPr sz="1100">
                        <a:solidFill>
                          <a:srgbClr val="FFFFFF"/>
                        </a:solidFill>
                        <a:latin typeface="Calibri"/>
                      </a:rPr>
                      <a:t>13,129</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Sheet1!$D$2:$D$17</c:f>
              <c:numCache>
                <c:formatCode>General</c:formatCode>
                <c:ptCount val="16"/>
                <c:pt idx="0">
                  <c:v>6355.351</c:v>
                </c:pt>
                <c:pt idx="1">
                  <c:v>6624.799</c:v>
                </c:pt>
                <c:pt idx="2">
                  <c:v>6909.022</c:v>
                </c:pt>
                <c:pt idx="3">
                  <c:v>7210.17</c:v>
                </c:pt>
                <c:pt idx="4">
                  <c:v>7530.495</c:v>
                </c:pt>
                <c:pt idx="5">
                  <c:v>7878.011</c:v>
                </c:pt>
                <c:pt idx="6">
                  <c:v>8254.316</c:v>
                </c:pt>
                <c:pt idx="7">
                  <c:v>8664.236</c:v>
                </c:pt>
                <c:pt idx="8">
                  <c:v>9110.973</c:v>
                </c:pt>
                <c:pt idx="9">
                  <c:v>9597.116</c:v>
                </c:pt>
                <c:pt idx="10">
                  <c:v>10120.265</c:v>
                </c:pt>
                <c:pt idx="11">
                  <c:v>10677.237</c:v>
                </c:pt>
                <c:pt idx="12">
                  <c:v>11261.896</c:v>
                </c:pt>
                <c:pt idx="13">
                  <c:v>11869.531</c:v>
                </c:pt>
                <c:pt idx="14">
                  <c:v>12492.327</c:v>
                </c:pt>
                <c:pt idx="15">
                  <c:v>13128.798</c:v>
                </c:pt>
              </c:numCache>
            </c:numRef>
          </c:val>
        </c:ser>
        <c:ser>
          <c:idx val="3"/>
          <c:order val="3"/>
          <c:tx>
            <c:strRef>
              <c:f>Sheet1!$E$1</c:f>
              <c:strCache>
                <c:ptCount val="1"/>
                <c:pt idx="0">
                  <c:v>South Asia &amp; Pacific</c:v>
                </c:pt>
              </c:strCache>
            </c:strRef>
          </c:tx>
          <c:spPr>
            <a:solidFill>
              <a:srgbClr val="40315E"/>
            </a:solidFill>
            <a:ln>
              <a:noFill/>
            </a:ln>
          </c:spPr>
          <c:dLbls>
            <c:dLbl>
              <c:idx val="0"/>
              <c:tx>
                <c:rich>
                  <a:bodyPr/>
                  <a:lstStyle/>
                  <a:p>
                    <a:r>
                      <a:rPr sz="1100">
                        <a:solidFill>
                          <a:srgbClr val="FFFFFF"/>
                        </a:solidFill>
                        <a:latin typeface="Calibri"/>
                      </a:rPr>
                      <a:t>4,222</a:t>
                    </a:r>
                  </a:p>
                </c:rich>
              </c:tx>
              <c:dLblPos val="ctr"/>
              <c:showLegendKey val="0"/>
              <c:showVal val="1"/>
              <c:showCatName val="0"/>
              <c:showSerName val="0"/>
              <c:showPercent val="0"/>
              <c:showBubbleSize val="0"/>
            </c:dLbl>
            <c:dLbl>
              <c:idx val="1"/>
              <c:tx>
                <c:rich>
                  <a:bodyPr/>
                  <a:lstStyle/>
                  <a:p>
                    <a:r>
                      <a:rPr sz="1100">
                        <a:solidFill>
                          <a:srgbClr val="FFFFFF"/>
                        </a:solidFill>
                        <a:latin typeface="Calibri"/>
                      </a:rPr>
                      <a:t>4,443</a:t>
                    </a:r>
                  </a:p>
                </c:rich>
              </c:tx>
              <c:dLblPos val="ctr"/>
              <c:showLegendKey val="0"/>
              <c:showVal val="1"/>
              <c:showCatName val="0"/>
              <c:showSerName val="0"/>
              <c:showPercent val="0"/>
              <c:showBubbleSize val="0"/>
            </c:dLbl>
            <c:dLbl>
              <c:idx val="2"/>
              <c:tx>
                <c:rich>
                  <a:bodyPr/>
                  <a:lstStyle/>
                  <a:p>
                    <a:r>
                      <a:rPr sz="1100">
                        <a:solidFill>
                          <a:srgbClr val="FFFFFF"/>
                        </a:solidFill>
                        <a:latin typeface="Calibri"/>
                      </a:rPr>
                      <a:t>4,680</a:t>
                    </a:r>
                  </a:p>
                </c:rich>
              </c:tx>
              <c:dLblPos val="ctr"/>
              <c:showLegendKey val="0"/>
              <c:showVal val="1"/>
              <c:showCatName val="0"/>
              <c:showSerName val="0"/>
              <c:showPercent val="0"/>
              <c:showBubbleSize val="0"/>
            </c:dLbl>
            <c:dLbl>
              <c:idx val="3"/>
              <c:tx>
                <c:rich>
                  <a:bodyPr/>
                  <a:lstStyle/>
                  <a:p>
                    <a:r>
                      <a:rPr sz="1100">
                        <a:solidFill>
                          <a:srgbClr val="FFFFFF"/>
                        </a:solidFill>
                        <a:latin typeface="Calibri"/>
                      </a:rPr>
                      <a:t>4,935</a:t>
                    </a:r>
                  </a:p>
                </c:rich>
              </c:tx>
              <c:dLblPos val="ctr"/>
              <c:showLegendKey val="0"/>
              <c:showVal val="1"/>
              <c:showCatName val="0"/>
              <c:showSerName val="0"/>
              <c:showPercent val="0"/>
              <c:showBubbleSize val="0"/>
            </c:dLbl>
            <c:dLbl>
              <c:idx val="4"/>
              <c:tx>
                <c:rich>
                  <a:bodyPr/>
                  <a:lstStyle/>
                  <a:p>
                    <a:r>
                      <a:rPr sz="1100">
                        <a:solidFill>
                          <a:srgbClr val="FFFFFF"/>
                        </a:solidFill>
                        <a:latin typeface="Calibri"/>
                      </a:rPr>
                      <a:t>5,209</a:t>
                    </a:r>
                  </a:p>
                </c:rich>
              </c:tx>
              <c:dLblPos val="ctr"/>
              <c:showLegendKey val="0"/>
              <c:showVal val="1"/>
              <c:showCatName val="0"/>
              <c:showSerName val="0"/>
              <c:showPercent val="0"/>
              <c:showBubbleSize val="0"/>
            </c:dLbl>
            <c:dLbl>
              <c:idx val="5"/>
              <c:tx>
                <c:rich>
                  <a:bodyPr/>
                  <a:lstStyle/>
                  <a:p>
                    <a:r>
                      <a:rPr sz="1100">
                        <a:solidFill>
                          <a:srgbClr val="FFFFFF"/>
                        </a:solidFill>
                        <a:latin typeface="Calibri"/>
                      </a:rPr>
                      <a:t>5,512</a:t>
                    </a:r>
                  </a:p>
                </c:rich>
              </c:tx>
              <c:dLblPos val="ctr"/>
              <c:showLegendKey val="0"/>
              <c:showVal val="1"/>
              <c:showCatName val="0"/>
              <c:showSerName val="0"/>
              <c:showPercent val="0"/>
              <c:showBubbleSize val="0"/>
            </c:dLbl>
            <c:dLbl>
              <c:idx val="6"/>
              <c:tx>
                <c:rich>
                  <a:bodyPr/>
                  <a:lstStyle/>
                  <a:p>
                    <a:r>
                      <a:rPr sz="1100">
                        <a:solidFill>
                          <a:srgbClr val="FFFFFF"/>
                        </a:solidFill>
                        <a:latin typeface="Calibri"/>
                      </a:rPr>
                      <a:t>5,844</a:t>
                    </a:r>
                  </a:p>
                </c:rich>
              </c:tx>
              <c:dLblPos val="ctr"/>
              <c:showLegendKey val="0"/>
              <c:showVal val="1"/>
              <c:showCatName val="0"/>
              <c:showSerName val="0"/>
              <c:showPercent val="0"/>
              <c:showBubbleSize val="0"/>
            </c:dLbl>
            <c:dLbl>
              <c:idx val="7"/>
              <c:tx>
                <c:rich>
                  <a:bodyPr/>
                  <a:lstStyle/>
                  <a:p>
                    <a:r>
                      <a:rPr sz="1100">
                        <a:solidFill>
                          <a:srgbClr val="FFFFFF"/>
                        </a:solidFill>
                        <a:latin typeface="Calibri"/>
                      </a:rPr>
                      <a:t>6,209</a:t>
                    </a:r>
                  </a:p>
                </c:rich>
              </c:tx>
              <c:dLblPos val="ctr"/>
              <c:showLegendKey val="0"/>
              <c:showVal val="1"/>
              <c:showCatName val="0"/>
              <c:showSerName val="0"/>
              <c:showPercent val="0"/>
              <c:showBubbleSize val="0"/>
            </c:dLbl>
            <c:dLbl>
              <c:idx val="8"/>
              <c:tx>
                <c:rich>
                  <a:bodyPr/>
                  <a:lstStyle/>
                  <a:p>
                    <a:r>
                      <a:rPr sz="1100">
                        <a:solidFill>
                          <a:srgbClr val="FFFFFF"/>
                        </a:solidFill>
                        <a:latin typeface="Calibri"/>
                      </a:rPr>
                      <a:t>6,611</a:t>
                    </a:r>
                  </a:p>
                </c:rich>
              </c:tx>
              <c:dLblPos val="ctr"/>
              <c:showLegendKey val="0"/>
              <c:showVal val="1"/>
              <c:showCatName val="0"/>
              <c:showSerName val="0"/>
              <c:showPercent val="0"/>
              <c:showBubbleSize val="0"/>
            </c:dLbl>
            <c:dLbl>
              <c:idx val="9"/>
              <c:tx>
                <c:rich>
                  <a:bodyPr/>
                  <a:lstStyle/>
                  <a:p>
                    <a:r>
                      <a:rPr sz="1100">
                        <a:solidFill>
                          <a:srgbClr val="FFFFFF"/>
                        </a:solidFill>
                        <a:latin typeface="Calibri"/>
                      </a:rPr>
                      <a:t>7,053</a:t>
                    </a:r>
                  </a:p>
                </c:rich>
              </c:tx>
              <c:dLblPos val="ctr"/>
              <c:showLegendKey val="0"/>
              <c:showVal val="1"/>
              <c:showCatName val="0"/>
              <c:showSerName val="0"/>
              <c:showPercent val="0"/>
              <c:showBubbleSize val="0"/>
            </c:dLbl>
            <c:dLbl>
              <c:idx val="10"/>
              <c:tx>
                <c:rich>
                  <a:bodyPr/>
                  <a:lstStyle/>
                  <a:p>
                    <a:r>
                      <a:rPr sz="1100">
                        <a:solidFill>
                          <a:srgbClr val="FFFFFF"/>
                        </a:solidFill>
                        <a:latin typeface="Calibri"/>
                      </a:rPr>
                      <a:t>7,533</a:t>
                    </a:r>
                  </a:p>
                </c:rich>
              </c:tx>
              <c:dLblPos val="ctr"/>
              <c:showLegendKey val="0"/>
              <c:showVal val="1"/>
              <c:showCatName val="0"/>
              <c:showSerName val="0"/>
              <c:showPercent val="0"/>
              <c:showBubbleSize val="0"/>
            </c:dLbl>
            <c:dLbl>
              <c:idx val="11"/>
              <c:tx>
                <c:rich>
                  <a:bodyPr/>
                  <a:lstStyle/>
                  <a:p>
                    <a:r>
                      <a:rPr sz="1100">
                        <a:solidFill>
                          <a:srgbClr val="FFFFFF"/>
                        </a:solidFill>
                        <a:latin typeface="Calibri"/>
                      </a:rPr>
                      <a:t>8,050</a:t>
                    </a:r>
                  </a:p>
                </c:rich>
              </c:tx>
              <c:dLblPos val="ctr"/>
              <c:showLegendKey val="0"/>
              <c:showVal val="1"/>
              <c:showCatName val="0"/>
              <c:showSerName val="0"/>
              <c:showPercent val="0"/>
              <c:showBubbleSize val="0"/>
            </c:dLbl>
            <c:dLbl>
              <c:idx val="12"/>
              <c:tx>
                <c:rich>
                  <a:bodyPr/>
                  <a:lstStyle/>
                  <a:p>
                    <a:r>
                      <a:rPr sz="1100">
                        <a:solidFill>
                          <a:srgbClr val="FFFFFF"/>
                        </a:solidFill>
                        <a:latin typeface="Calibri"/>
                      </a:rPr>
                      <a:t>8,598</a:t>
                    </a:r>
                  </a:p>
                </c:rich>
              </c:tx>
              <c:dLblPos val="ctr"/>
              <c:showLegendKey val="0"/>
              <c:showVal val="1"/>
              <c:showCatName val="0"/>
              <c:showSerName val="0"/>
              <c:showPercent val="0"/>
              <c:showBubbleSize val="0"/>
            </c:dLbl>
            <c:dLbl>
              <c:idx val="13"/>
              <c:tx>
                <c:rich>
                  <a:bodyPr/>
                  <a:lstStyle/>
                  <a:p>
                    <a:r>
                      <a:rPr sz="1100">
                        <a:solidFill>
                          <a:srgbClr val="FFFFFF"/>
                        </a:solidFill>
                        <a:latin typeface="Calibri"/>
                      </a:rPr>
                      <a:t>9,174</a:t>
                    </a:r>
                  </a:p>
                </c:rich>
              </c:tx>
              <c:dLblPos val="ctr"/>
              <c:showLegendKey val="0"/>
              <c:showVal val="1"/>
              <c:showCatName val="0"/>
              <c:showSerName val="0"/>
              <c:showPercent val="0"/>
              <c:showBubbleSize val="0"/>
            </c:dLbl>
            <c:dLbl>
              <c:idx val="14"/>
              <c:tx>
                <c:rich>
                  <a:bodyPr/>
                  <a:lstStyle/>
                  <a:p>
                    <a:r>
                      <a:rPr sz="1100">
                        <a:solidFill>
                          <a:srgbClr val="FFFFFF"/>
                        </a:solidFill>
                        <a:latin typeface="Calibri"/>
                      </a:rPr>
                      <a:t>9,772</a:t>
                    </a:r>
                  </a:p>
                </c:rich>
              </c:tx>
              <c:dLblPos val="ctr"/>
              <c:showLegendKey val="0"/>
              <c:showVal val="1"/>
              <c:showCatName val="0"/>
              <c:showSerName val="0"/>
              <c:showPercent val="0"/>
              <c:showBubbleSize val="0"/>
            </c:dLbl>
            <c:dLbl>
              <c:idx val="15"/>
              <c:tx>
                <c:rich>
                  <a:bodyPr/>
                  <a:lstStyle/>
                  <a:p>
                    <a:r>
                      <a:rPr sz="1100">
                        <a:solidFill>
                          <a:srgbClr val="FFFFFF"/>
                        </a:solidFill>
                        <a:latin typeface="Calibri"/>
                      </a:rPr>
                      <a:t>10,389</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Sheet1!$E$2:$E$17</c:f>
              <c:numCache>
                <c:formatCode>General</c:formatCode>
                <c:ptCount val="16"/>
                <c:pt idx="0">
                  <c:v>4221.77</c:v>
                </c:pt>
                <c:pt idx="1">
                  <c:v>4443.354</c:v>
                </c:pt>
                <c:pt idx="2">
                  <c:v>4680.245</c:v>
                </c:pt>
                <c:pt idx="3">
                  <c:v>4934.677</c:v>
                </c:pt>
                <c:pt idx="4">
                  <c:v>5209.458</c:v>
                </c:pt>
                <c:pt idx="5">
                  <c:v>5511.659</c:v>
                </c:pt>
                <c:pt idx="6">
                  <c:v>5843.569</c:v>
                </c:pt>
                <c:pt idx="7">
                  <c:v>6209.15</c:v>
                </c:pt>
                <c:pt idx="8">
                  <c:v>6611.302</c:v>
                </c:pt>
                <c:pt idx="9">
                  <c:v>7052.88</c:v>
                </c:pt>
                <c:pt idx="10">
                  <c:v>7533.151</c:v>
                </c:pt>
                <c:pt idx="11">
                  <c:v>8050.019</c:v>
                </c:pt>
                <c:pt idx="12">
                  <c:v>8598.155</c:v>
                </c:pt>
                <c:pt idx="13">
                  <c:v>9174.324</c:v>
                </c:pt>
                <c:pt idx="14">
                  <c:v>9771.743</c:v>
                </c:pt>
                <c:pt idx="15">
                  <c:v>10389.009</c:v>
                </c:pt>
              </c:numCache>
            </c:numRef>
          </c:val>
        </c:ser>
        <c:ser>
          <c:idx val="4"/>
          <c:order val="4"/>
          <c:tx>
            <c:strRef>
              <c:f>Sheet1!$F$1</c:f>
              <c:strCache>
                <c:ptCount val="1"/>
                <c:pt idx="0">
                  <c:v>Latin America</c:v>
                </c:pt>
              </c:strCache>
            </c:strRef>
          </c:tx>
          <c:spPr>
            <a:solidFill>
              <a:srgbClr val="A35313"/>
            </a:solidFill>
            <a:ln>
              <a:noFill/>
            </a:ln>
          </c:spPr>
          <c:dLbls>
            <c:dLbl>
              <c:idx val="12"/>
              <c:tx>
                <c:rich>
                  <a:bodyPr/>
                  <a:lstStyle/>
                  <a:p>
                    <a:r>
                      <a:rPr sz="1100">
                        <a:solidFill>
                          <a:srgbClr val="FFFFFF"/>
                        </a:solidFill>
                        <a:latin typeface="Calibri"/>
                      </a:rPr>
                      <a:t>4,184</a:t>
                    </a:r>
                  </a:p>
                </c:rich>
              </c:tx>
              <c:dLblPos val="ctr"/>
              <c:showLegendKey val="0"/>
              <c:showVal val="1"/>
              <c:showCatName val="0"/>
              <c:showSerName val="0"/>
              <c:showPercent val="0"/>
              <c:showBubbleSize val="0"/>
            </c:dLbl>
            <c:dLbl>
              <c:idx val="13"/>
              <c:tx>
                <c:rich>
                  <a:bodyPr/>
                  <a:lstStyle/>
                  <a:p>
                    <a:r>
                      <a:rPr sz="1100">
                        <a:solidFill>
                          <a:srgbClr val="FFFFFF"/>
                        </a:solidFill>
                        <a:latin typeface="Calibri"/>
                      </a:rPr>
                      <a:t>4,434</a:t>
                    </a:r>
                  </a:p>
                </c:rich>
              </c:tx>
              <c:dLblPos val="ctr"/>
              <c:showLegendKey val="0"/>
              <c:showVal val="1"/>
              <c:showCatName val="0"/>
              <c:showSerName val="0"/>
              <c:showPercent val="0"/>
              <c:showBubbleSize val="0"/>
            </c:dLbl>
            <c:dLbl>
              <c:idx val="14"/>
              <c:tx>
                <c:rich>
                  <a:bodyPr/>
                  <a:lstStyle/>
                  <a:p>
                    <a:r>
                      <a:rPr sz="1100">
                        <a:solidFill>
                          <a:srgbClr val="FFFFFF"/>
                        </a:solidFill>
                        <a:latin typeface="Calibri"/>
                      </a:rPr>
                      <a:t>4,691</a:t>
                    </a:r>
                  </a:p>
                </c:rich>
              </c:tx>
              <c:dLblPos val="ctr"/>
              <c:showLegendKey val="0"/>
              <c:showVal val="1"/>
              <c:showCatName val="0"/>
              <c:showSerName val="0"/>
              <c:showPercent val="0"/>
              <c:showBubbleSize val="0"/>
            </c:dLbl>
            <c:dLbl>
              <c:idx val="15"/>
              <c:tx>
                <c:rich>
                  <a:bodyPr/>
                  <a:lstStyle/>
                  <a:p>
                    <a:r>
                      <a:rPr sz="1100">
                        <a:solidFill>
                          <a:srgbClr val="FFFFFF"/>
                        </a:solidFill>
                        <a:latin typeface="Calibri"/>
                      </a:rPr>
                      <a:t>4,955</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Sheet1!$F$2:$F$17</c:f>
              <c:numCache>
                <c:formatCode>General</c:formatCode>
                <c:ptCount val="16"/>
                <c:pt idx="0">
                  <c:v>2236.798</c:v>
                </c:pt>
                <c:pt idx="1">
                  <c:v>2343.132</c:v>
                </c:pt>
                <c:pt idx="2">
                  <c:v>2454.849</c:v>
                </c:pt>
                <c:pt idx="3">
                  <c:v>2572.9</c:v>
                </c:pt>
                <c:pt idx="4">
                  <c:v>2697.868</c:v>
                </c:pt>
                <c:pt idx="5">
                  <c:v>2833.575</c:v>
                </c:pt>
                <c:pt idx="6">
                  <c:v>2980.835</c:v>
                </c:pt>
                <c:pt idx="7">
                  <c:v>3141.957</c:v>
                </c:pt>
                <c:pt idx="8">
                  <c:v>3318.275</c:v>
                </c:pt>
                <c:pt idx="9">
                  <c:v>3511.33</c:v>
                </c:pt>
                <c:pt idx="10">
                  <c:v>3720.68</c:v>
                </c:pt>
                <c:pt idx="11">
                  <c:v>3945.813</c:v>
                </c:pt>
                <c:pt idx="12">
                  <c:v>4184.345</c:v>
                </c:pt>
                <c:pt idx="13">
                  <c:v>4433.942</c:v>
                </c:pt>
                <c:pt idx="14">
                  <c:v>4691.197</c:v>
                </c:pt>
                <c:pt idx="15">
                  <c:v>4955.334</c:v>
                </c:pt>
              </c:numCache>
            </c:numRef>
          </c:val>
        </c:ser>
        <c:ser>
          <c:idx val="5"/>
          <c:order val="5"/>
          <c:tx>
            <c:strRef>
              <c:f>Sheet1!$G$1</c:f>
              <c:strCache>
                <c:ptCount val="1"/>
                <c:pt idx="0">
                  <c:v>Middle East &amp; Africa</c:v>
                </c:pt>
              </c:strCache>
            </c:strRef>
          </c:tx>
          <c:spPr>
            <a:solidFill>
              <a:srgbClr val="808080"/>
            </a:solidFill>
            <a:ln>
              <a:noFill/>
            </a:ln>
          </c:spPr>
          <c:dLbls>
            <c:dLbl>
              <c:idx val="14"/>
              <c:tx>
                <c:rich>
                  <a:bodyPr/>
                  <a:lstStyle/>
                  <a:p>
                    <a:r>
                      <a:rPr sz="1100">
                        <a:solidFill>
                          <a:srgbClr val="FFFFFF"/>
                        </a:solidFill>
                        <a:latin typeface="Calibri"/>
                      </a:rPr>
                      <a:t>4,342</a:t>
                    </a:r>
                  </a:p>
                </c:rich>
              </c:tx>
              <c:dLblPos val="ctr"/>
              <c:showLegendKey val="0"/>
              <c:showVal val="1"/>
              <c:showCatName val="0"/>
              <c:showSerName val="0"/>
              <c:showPercent val="0"/>
              <c:showBubbleSize val="0"/>
            </c:dLbl>
            <c:dLbl>
              <c:idx val="15"/>
              <c:tx>
                <c:rich>
                  <a:bodyPr/>
                  <a:lstStyle/>
                  <a:p>
                    <a:r>
                      <a:rPr sz="1100">
                        <a:solidFill>
                          <a:srgbClr val="FFFFFF"/>
                        </a:solidFill>
                        <a:latin typeface="Calibri"/>
                      </a:rPr>
                      <a:t>4,631</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Sheet1!$G$2:$G$17</c:f>
              <c:numCache>
                <c:formatCode>General</c:formatCode>
                <c:ptCount val="16"/>
                <c:pt idx="0">
                  <c:v>1803.721</c:v>
                </c:pt>
                <c:pt idx="1">
                  <c:v>1902.0</c:v>
                </c:pt>
                <c:pt idx="2">
                  <c:v>2007.16</c:v>
                </c:pt>
                <c:pt idx="3">
                  <c:v>2120.076</c:v>
                </c:pt>
                <c:pt idx="4">
                  <c:v>2242.15</c:v>
                </c:pt>
                <c:pt idx="5">
                  <c:v>2377.106</c:v>
                </c:pt>
                <c:pt idx="6">
                  <c:v>2526.223</c:v>
                </c:pt>
                <c:pt idx="7">
                  <c:v>2691.614</c:v>
                </c:pt>
                <c:pt idx="8">
                  <c:v>2874.969</c:v>
                </c:pt>
                <c:pt idx="9">
                  <c:v>3077.744</c:v>
                </c:pt>
                <c:pt idx="10">
                  <c:v>3299.324</c:v>
                </c:pt>
                <c:pt idx="11">
                  <c:v>3538.64</c:v>
                </c:pt>
                <c:pt idx="12">
                  <c:v>3793.438</c:v>
                </c:pt>
                <c:pt idx="13">
                  <c:v>4062.19</c:v>
                </c:pt>
                <c:pt idx="14">
                  <c:v>4341.749</c:v>
                </c:pt>
                <c:pt idx="15">
                  <c:v>4631.488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North America</c:v>
                </c:pt>
              </c:strCache>
            </c:strRef>
          </c:tx>
          <c:spPr>
            <a:solidFill>
              <a:srgbClr val="3D85C6"/>
            </a:solidFill>
            <a:ln>
              <a:noFill/>
            </a:ln>
          </c:spPr>
          <c:dLbls>
            <c:dLbl>
              <c:idx val="0"/>
              <c:tx>
                <c:rich>
                  <a:bodyPr/>
                  <a:lstStyle/>
                  <a:p>
                    <a:r>
                      <a:rPr sz="1100">
                        <a:solidFill>
                          <a:srgbClr val="FFFFFF"/>
                        </a:solidFill>
                        <a:latin typeface="Calibri"/>
                      </a:rPr>
                      <a:t>29,774</a:t>
                    </a:r>
                  </a:p>
                </c:rich>
              </c:tx>
              <c:dLblPos val="ctr"/>
              <c:showLegendKey val="0"/>
              <c:showVal val="1"/>
              <c:showCatName val="0"/>
              <c:showSerName val="0"/>
              <c:showPercent val="0"/>
              <c:showBubbleSize val="0"/>
            </c:dLbl>
            <c:dLbl>
              <c:idx val="1"/>
              <c:tx>
                <c:rich>
                  <a:bodyPr/>
                  <a:lstStyle/>
                  <a:p>
                    <a:r>
                      <a:rPr sz="1100">
                        <a:solidFill>
                          <a:srgbClr val="FFFFFF"/>
                        </a:solidFill>
                        <a:latin typeface="Calibri"/>
                      </a:rPr>
                      <a:t>30,844</a:t>
                    </a:r>
                  </a:p>
                </c:rich>
              </c:tx>
              <c:dLblPos val="ctr"/>
              <c:showLegendKey val="0"/>
              <c:showVal val="1"/>
              <c:showCatName val="0"/>
              <c:showSerName val="0"/>
              <c:showPercent val="0"/>
              <c:showBubbleSize val="0"/>
            </c:dLbl>
            <c:dLbl>
              <c:idx val="2"/>
              <c:tx>
                <c:rich>
                  <a:bodyPr/>
                  <a:lstStyle/>
                  <a:p>
                    <a:r>
                      <a:rPr sz="1100">
                        <a:solidFill>
                          <a:srgbClr val="FFFFFF"/>
                        </a:solidFill>
                        <a:latin typeface="Calibri"/>
                      </a:rPr>
                      <a:t>31,971</a:t>
                    </a:r>
                  </a:p>
                </c:rich>
              </c:tx>
              <c:dLblPos val="ctr"/>
              <c:showLegendKey val="0"/>
              <c:showVal val="1"/>
              <c:showCatName val="0"/>
              <c:showSerName val="0"/>
              <c:showPercent val="0"/>
              <c:showBubbleSize val="0"/>
            </c:dLbl>
            <c:dLbl>
              <c:idx val="3"/>
              <c:tx>
                <c:rich>
                  <a:bodyPr/>
                  <a:lstStyle/>
                  <a:p>
                    <a:r>
                      <a:rPr sz="1100">
                        <a:solidFill>
                          <a:srgbClr val="FFFFFF"/>
                        </a:solidFill>
                        <a:latin typeface="Calibri"/>
                      </a:rPr>
                      <a:t>33,178</a:t>
                    </a:r>
                  </a:p>
                </c:rich>
              </c:tx>
              <c:dLblPos val="ctr"/>
              <c:showLegendKey val="0"/>
              <c:showVal val="1"/>
              <c:showCatName val="0"/>
              <c:showSerName val="0"/>
              <c:showPercent val="0"/>
              <c:showBubbleSize val="0"/>
            </c:dLbl>
            <c:dLbl>
              <c:idx val="4"/>
              <c:tx>
                <c:rich>
                  <a:bodyPr/>
                  <a:lstStyle/>
                  <a:p>
                    <a:r>
                      <a:rPr sz="1100">
                        <a:solidFill>
                          <a:srgbClr val="FFFFFF"/>
                        </a:solidFill>
                        <a:latin typeface="Calibri"/>
                      </a:rPr>
                      <a:t>34,457</a:t>
                    </a:r>
                  </a:p>
                </c:rich>
              </c:tx>
              <c:dLblPos val="ctr"/>
              <c:showLegendKey val="0"/>
              <c:showVal val="1"/>
              <c:showCatName val="0"/>
              <c:showSerName val="0"/>
              <c:showPercent val="0"/>
              <c:showBubbleSize val="0"/>
            </c:dLbl>
            <c:dLbl>
              <c:idx val="5"/>
              <c:tx>
                <c:rich>
                  <a:bodyPr/>
                  <a:lstStyle/>
                  <a:p>
                    <a:r>
                      <a:rPr sz="1100">
                        <a:solidFill>
                          <a:srgbClr val="FFFFFF"/>
                        </a:solidFill>
                        <a:latin typeface="Calibri"/>
                      </a:rPr>
                      <a:t>35,977</a:t>
                    </a:r>
                  </a:p>
                </c:rich>
              </c:tx>
              <c:dLblPos val="ctr"/>
              <c:showLegendKey val="0"/>
              <c:showVal val="1"/>
              <c:showCatName val="0"/>
              <c:showSerName val="0"/>
              <c:showPercent val="0"/>
              <c:showBubbleSize val="0"/>
            </c:dLbl>
            <c:dLbl>
              <c:idx val="6"/>
              <c:tx>
                <c:rich>
                  <a:bodyPr/>
                  <a:lstStyle/>
                  <a:p>
                    <a:r>
                      <a:rPr sz="1100">
                        <a:solidFill>
                          <a:srgbClr val="FFFFFF"/>
                        </a:solidFill>
                        <a:latin typeface="Calibri"/>
                      </a:rPr>
                      <a:t>37,658</a:t>
                    </a:r>
                  </a:p>
                </c:rich>
              </c:tx>
              <c:dLblPos val="ctr"/>
              <c:showLegendKey val="0"/>
              <c:showVal val="1"/>
              <c:showCatName val="0"/>
              <c:showSerName val="0"/>
              <c:showPercent val="0"/>
              <c:showBubbleSize val="0"/>
            </c:dLbl>
            <c:dLbl>
              <c:idx val="7"/>
              <c:tx>
                <c:rich>
                  <a:bodyPr/>
                  <a:lstStyle/>
                  <a:p>
                    <a:r>
                      <a:rPr sz="1100">
                        <a:solidFill>
                          <a:srgbClr val="FFFFFF"/>
                        </a:solidFill>
                        <a:latin typeface="Calibri"/>
                      </a:rPr>
                      <a:t>39,516</a:t>
                    </a:r>
                  </a:p>
                </c:rich>
              </c:tx>
              <c:dLblPos val="ctr"/>
              <c:showLegendKey val="0"/>
              <c:showVal val="1"/>
              <c:showCatName val="0"/>
              <c:showSerName val="0"/>
              <c:showPercent val="0"/>
              <c:showBubbleSize val="0"/>
            </c:dLbl>
            <c:dLbl>
              <c:idx val="8"/>
              <c:tx>
                <c:rich>
                  <a:bodyPr/>
                  <a:lstStyle/>
                  <a:p>
                    <a:r>
                      <a:rPr sz="1100">
                        <a:solidFill>
                          <a:srgbClr val="FFFFFF"/>
                        </a:solidFill>
                        <a:latin typeface="Calibri"/>
                      </a:rPr>
                      <a:t>41,575</a:t>
                    </a:r>
                  </a:p>
                </c:rich>
              </c:tx>
              <c:dLblPos val="ctr"/>
              <c:showLegendKey val="0"/>
              <c:showVal val="1"/>
              <c:showCatName val="0"/>
              <c:showSerName val="0"/>
              <c:showPercent val="0"/>
              <c:showBubbleSize val="0"/>
            </c:dLbl>
            <c:dLbl>
              <c:idx val="9"/>
              <c:tx>
                <c:rich>
                  <a:bodyPr/>
                  <a:lstStyle/>
                  <a:p>
                    <a:r>
                      <a:rPr sz="1100">
                        <a:solidFill>
                          <a:srgbClr val="FFFFFF"/>
                        </a:solidFill>
                        <a:latin typeface="Calibri"/>
                      </a:rPr>
                      <a:t>43,865</a:t>
                    </a:r>
                  </a:p>
                </c:rich>
              </c:tx>
              <c:dLblPos val="ctr"/>
              <c:showLegendKey val="0"/>
              <c:showVal val="1"/>
              <c:showCatName val="0"/>
              <c:showSerName val="0"/>
              <c:showPercent val="0"/>
              <c:showBubbleSize val="0"/>
            </c:dLbl>
            <c:dLbl>
              <c:idx val="10"/>
              <c:tx>
                <c:rich>
                  <a:bodyPr/>
                  <a:lstStyle/>
                  <a:p>
                    <a:r>
                      <a:rPr sz="1100">
                        <a:solidFill>
                          <a:srgbClr val="FFFFFF"/>
                        </a:solidFill>
                        <a:latin typeface="Calibri"/>
                      </a:rPr>
                      <a:t>46,394</a:t>
                    </a:r>
                  </a:p>
                </c:rich>
              </c:tx>
              <c:dLblPos val="ctr"/>
              <c:showLegendKey val="0"/>
              <c:showVal val="1"/>
              <c:showCatName val="0"/>
              <c:showSerName val="0"/>
              <c:showPercent val="0"/>
              <c:showBubbleSize val="0"/>
            </c:dLbl>
            <c:dLbl>
              <c:idx val="11"/>
              <c:tx>
                <c:rich>
                  <a:bodyPr/>
                  <a:lstStyle/>
                  <a:p>
                    <a:r>
                      <a:rPr sz="1100">
                        <a:solidFill>
                          <a:srgbClr val="FFFFFF"/>
                        </a:solidFill>
                        <a:latin typeface="Calibri"/>
                      </a:rPr>
                      <a:t>49,160</a:t>
                    </a:r>
                  </a:p>
                </c:rich>
              </c:tx>
              <c:dLblPos val="ctr"/>
              <c:showLegendKey val="0"/>
              <c:showVal val="1"/>
              <c:showCatName val="0"/>
              <c:showSerName val="0"/>
              <c:showPercent val="0"/>
              <c:showBubbleSize val="0"/>
            </c:dLbl>
            <c:dLbl>
              <c:idx val="12"/>
              <c:tx>
                <c:rich>
                  <a:bodyPr/>
                  <a:lstStyle/>
                  <a:p>
                    <a:r>
                      <a:rPr sz="1100">
                        <a:solidFill>
                          <a:srgbClr val="FFFFFF"/>
                        </a:solidFill>
                        <a:latin typeface="Calibri"/>
                      </a:rPr>
                      <a:t>52,123</a:t>
                    </a:r>
                  </a:p>
                </c:rich>
              </c:tx>
              <c:dLblPos val="ctr"/>
              <c:showLegendKey val="0"/>
              <c:showVal val="1"/>
              <c:showCatName val="0"/>
              <c:showSerName val="0"/>
              <c:showPercent val="0"/>
              <c:showBubbleSize val="0"/>
            </c:dLbl>
            <c:dLbl>
              <c:idx val="13"/>
              <c:tx>
                <c:rich>
                  <a:bodyPr/>
                  <a:lstStyle/>
                  <a:p>
                    <a:r>
                      <a:rPr sz="1100">
                        <a:solidFill>
                          <a:srgbClr val="FFFFFF"/>
                        </a:solidFill>
                        <a:latin typeface="Calibri"/>
                      </a:rPr>
                      <a:t>55,271</a:t>
                    </a:r>
                  </a:p>
                </c:rich>
              </c:tx>
              <c:dLblPos val="ctr"/>
              <c:showLegendKey val="0"/>
              <c:showVal val="1"/>
              <c:showCatName val="0"/>
              <c:showSerName val="0"/>
              <c:showPercent val="0"/>
              <c:showBubbleSize val="0"/>
            </c:dLbl>
            <c:dLbl>
              <c:idx val="14"/>
              <c:tx>
                <c:rich>
                  <a:bodyPr/>
                  <a:lstStyle/>
                  <a:p>
                    <a:r>
                      <a:rPr sz="1100">
                        <a:solidFill>
                          <a:srgbClr val="FFFFFF"/>
                        </a:solidFill>
                        <a:latin typeface="Calibri"/>
                      </a:rPr>
                      <a:t>58,587</a:t>
                    </a:r>
                  </a:p>
                </c:rich>
              </c:tx>
              <c:dLblPos val="ctr"/>
              <c:showLegendKey val="0"/>
              <c:showVal val="1"/>
              <c:showCatName val="0"/>
              <c:showSerName val="0"/>
              <c:showPercent val="0"/>
              <c:showBubbleSize val="0"/>
            </c:dLbl>
            <c:dLbl>
              <c:idx val="15"/>
              <c:tx>
                <c:rich>
                  <a:bodyPr/>
                  <a:lstStyle/>
                  <a:p>
                    <a:r>
                      <a:rPr sz="1100">
                        <a:solidFill>
                          <a:srgbClr val="FFFFFF"/>
                        </a:solidFill>
                        <a:latin typeface="Calibri"/>
                      </a:rPr>
                      <a:t>62,068</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29774.216</c:v>
                </c:pt>
                <c:pt idx="1">
                  <c:v>30844.419</c:v>
                </c:pt>
                <c:pt idx="2">
                  <c:v>31971.467</c:v>
                </c:pt>
                <c:pt idx="3">
                  <c:v>33177.77</c:v>
                </c:pt>
                <c:pt idx="4">
                  <c:v>34456.502</c:v>
                </c:pt>
                <c:pt idx="5">
                  <c:v>35977.455</c:v>
                </c:pt>
                <c:pt idx="6">
                  <c:v>37657.647</c:v>
                </c:pt>
                <c:pt idx="7">
                  <c:v>39515.74</c:v>
                </c:pt>
                <c:pt idx="8">
                  <c:v>41575.033</c:v>
                </c:pt>
                <c:pt idx="9">
                  <c:v>43865.089</c:v>
                </c:pt>
                <c:pt idx="10">
                  <c:v>46393.683</c:v>
                </c:pt>
                <c:pt idx="11">
                  <c:v>49159.996</c:v>
                </c:pt>
                <c:pt idx="12">
                  <c:v>52122.945</c:v>
                </c:pt>
                <c:pt idx="13">
                  <c:v>55271.282</c:v>
                </c:pt>
                <c:pt idx="14">
                  <c:v>58587.021</c:v>
                </c:pt>
                <c:pt idx="15">
                  <c:v>62067.93</c:v>
                </c:pt>
              </c:numCache>
            </c:numRef>
          </c:val>
        </c:ser>
        <c:ser>
          <c:idx val="1"/>
          <c:order val="1"/>
          <c:tx>
            <c:strRef>
              <c:f>Sheet1!$C$1</c:f>
              <c:strCache>
                <c:ptCount val="1"/>
                <c:pt idx="0">
                  <c:v>East Asia</c:v>
                </c:pt>
              </c:strCache>
            </c:strRef>
          </c:tx>
          <c:spPr>
            <a:solidFill>
              <a:srgbClr val="9E7E0A"/>
            </a:solidFill>
            <a:ln>
              <a:noFill/>
            </a:ln>
          </c:spPr>
          <c:dLbls>
            <c:dLbl>
              <c:idx val="0"/>
              <c:tx>
                <c:rich>
                  <a:bodyPr/>
                  <a:lstStyle/>
                  <a:p>
                    <a:r>
                      <a:rPr sz="1100">
                        <a:solidFill>
                          <a:srgbClr val="FFFFFF"/>
                        </a:solidFill>
                        <a:latin typeface="Calibri"/>
                      </a:rPr>
                      <a:t>27,547</a:t>
                    </a:r>
                  </a:p>
                </c:rich>
              </c:tx>
              <c:dLblPos val="ctr"/>
              <c:showLegendKey val="0"/>
              <c:showVal val="1"/>
              <c:showCatName val="0"/>
              <c:showSerName val="0"/>
              <c:showPercent val="0"/>
              <c:showBubbleSize val="0"/>
            </c:dLbl>
            <c:dLbl>
              <c:idx val="1"/>
              <c:tx>
                <c:rich>
                  <a:bodyPr/>
                  <a:lstStyle/>
                  <a:p>
                    <a:r>
                      <a:rPr sz="1100">
                        <a:solidFill>
                          <a:srgbClr val="FFFFFF"/>
                        </a:solidFill>
                        <a:latin typeface="Calibri"/>
                      </a:rPr>
                      <a:t>28,682</a:t>
                    </a:r>
                  </a:p>
                </c:rich>
              </c:tx>
              <c:dLblPos val="ctr"/>
              <c:showLegendKey val="0"/>
              <c:showVal val="1"/>
              <c:showCatName val="0"/>
              <c:showSerName val="0"/>
              <c:showPercent val="0"/>
              <c:showBubbleSize val="0"/>
            </c:dLbl>
            <c:dLbl>
              <c:idx val="2"/>
              <c:tx>
                <c:rich>
                  <a:bodyPr/>
                  <a:lstStyle/>
                  <a:p>
                    <a:r>
                      <a:rPr sz="1100">
                        <a:solidFill>
                          <a:srgbClr val="FFFFFF"/>
                        </a:solidFill>
                        <a:latin typeface="Calibri"/>
                      </a:rPr>
                      <a:t>29,896</a:t>
                    </a:r>
                  </a:p>
                </c:rich>
              </c:tx>
              <c:dLblPos val="ctr"/>
              <c:showLegendKey val="0"/>
              <c:showVal val="1"/>
              <c:showCatName val="0"/>
              <c:showSerName val="0"/>
              <c:showPercent val="0"/>
              <c:showBubbleSize val="0"/>
            </c:dLbl>
            <c:dLbl>
              <c:idx val="3"/>
              <c:tx>
                <c:rich>
                  <a:bodyPr/>
                  <a:lstStyle/>
                  <a:p>
                    <a:r>
                      <a:rPr sz="1100">
                        <a:solidFill>
                          <a:srgbClr val="FFFFFF"/>
                        </a:solidFill>
                        <a:latin typeface="Calibri"/>
                      </a:rPr>
                      <a:t>31,216</a:t>
                    </a:r>
                  </a:p>
                </c:rich>
              </c:tx>
              <c:dLblPos val="ctr"/>
              <c:showLegendKey val="0"/>
              <c:showVal val="1"/>
              <c:showCatName val="0"/>
              <c:showSerName val="0"/>
              <c:showPercent val="0"/>
              <c:showBubbleSize val="0"/>
            </c:dLbl>
            <c:dLbl>
              <c:idx val="4"/>
              <c:tx>
                <c:rich>
                  <a:bodyPr/>
                  <a:lstStyle/>
                  <a:p>
                    <a:r>
                      <a:rPr sz="1100">
                        <a:solidFill>
                          <a:srgbClr val="FFFFFF"/>
                        </a:solidFill>
                        <a:latin typeface="Calibri"/>
                      </a:rPr>
                      <a:t>32,643</a:t>
                    </a:r>
                  </a:p>
                </c:rich>
              </c:tx>
              <c:dLblPos val="ctr"/>
              <c:showLegendKey val="0"/>
              <c:showVal val="1"/>
              <c:showCatName val="0"/>
              <c:showSerName val="0"/>
              <c:showPercent val="0"/>
              <c:showBubbleSize val="0"/>
            </c:dLbl>
            <c:dLbl>
              <c:idx val="5"/>
              <c:tx>
                <c:rich>
                  <a:bodyPr/>
                  <a:lstStyle/>
                  <a:p>
                    <a:r>
                      <a:rPr sz="1100">
                        <a:solidFill>
                          <a:srgbClr val="FFFFFF"/>
                        </a:solidFill>
                        <a:latin typeface="Calibri"/>
                      </a:rPr>
                      <a:t>34,334</a:t>
                    </a:r>
                  </a:p>
                </c:rich>
              </c:tx>
              <c:dLblPos val="ctr"/>
              <c:showLegendKey val="0"/>
              <c:showVal val="1"/>
              <c:showCatName val="0"/>
              <c:showSerName val="0"/>
              <c:showPercent val="0"/>
              <c:showBubbleSize val="0"/>
            </c:dLbl>
            <c:dLbl>
              <c:idx val="6"/>
              <c:tx>
                <c:rich>
                  <a:bodyPr/>
                  <a:lstStyle/>
                  <a:p>
                    <a:r>
                      <a:rPr sz="1100">
                        <a:solidFill>
                          <a:srgbClr val="FFFFFF"/>
                        </a:solidFill>
                        <a:latin typeface="Calibri"/>
                      </a:rPr>
                      <a:t>36,209</a:t>
                    </a:r>
                  </a:p>
                </c:rich>
              </c:tx>
              <c:dLblPos val="ctr"/>
              <c:showLegendKey val="0"/>
              <c:showVal val="1"/>
              <c:showCatName val="0"/>
              <c:showSerName val="0"/>
              <c:showPercent val="0"/>
              <c:showBubbleSize val="0"/>
            </c:dLbl>
            <c:dLbl>
              <c:idx val="7"/>
              <c:tx>
                <c:rich>
                  <a:bodyPr/>
                  <a:lstStyle/>
                  <a:p>
                    <a:r>
                      <a:rPr sz="1100">
                        <a:solidFill>
                          <a:srgbClr val="FFFFFF"/>
                        </a:solidFill>
                        <a:latin typeface="Calibri"/>
                      </a:rPr>
                      <a:t>38,290</a:t>
                    </a:r>
                  </a:p>
                </c:rich>
              </c:tx>
              <c:dLblPos val="ctr"/>
              <c:showLegendKey val="0"/>
              <c:showVal val="1"/>
              <c:showCatName val="0"/>
              <c:showSerName val="0"/>
              <c:showPercent val="0"/>
              <c:showBubbleSize val="0"/>
            </c:dLbl>
            <c:dLbl>
              <c:idx val="8"/>
              <c:tx>
                <c:rich>
                  <a:bodyPr/>
                  <a:lstStyle/>
                  <a:p>
                    <a:r>
                      <a:rPr sz="1100">
                        <a:solidFill>
                          <a:srgbClr val="FFFFFF"/>
                        </a:solidFill>
                        <a:latin typeface="Calibri"/>
                      </a:rPr>
                      <a:t>40,592</a:t>
                    </a:r>
                  </a:p>
                </c:rich>
              </c:tx>
              <c:dLblPos val="ctr"/>
              <c:showLegendKey val="0"/>
              <c:showVal val="1"/>
              <c:showCatName val="0"/>
              <c:showSerName val="0"/>
              <c:showPercent val="0"/>
              <c:showBubbleSize val="0"/>
            </c:dLbl>
            <c:dLbl>
              <c:idx val="9"/>
              <c:tx>
                <c:rich>
                  <a:bodyPr/>
                  <a:lstStyle/>
                  <a:p>
                    <a:r>
                      <a:rPr sz="1100">
                        <a:solidFill>
                          <a:srgbClr val="FFFFFF"/>
                        </a:solidFill>
                        <a:latin typeface="Calibri"/>
                      </a:rPr>
                      <a:t>43,149</a:t>
                    </a:r>
                  </a:p>
                </c:rich>
              </c:tx>
              <c:dLblPos val="ctr"/>
              <c:showLegendKey val="0"/>
              <c:showVal val="1"/>
              <c:showCatName val="0"/>
              <c:showSerName val="0"/>
              <c:showPercent val="0"/>
              <c:showBubbleSize val="0"/>
            </c:dLbl>
            <c:dLbl>
              <c:idx val="10"/>
              <c:tx>
                <c:rich>
                  <a:bodyPr/>
                  <a:lstStyle/>
                  <a:p>
                    <a:r>
                      <a:rPr sz="1100">
                        <a:solidFill>
                          <a:srgbClr val="FFFFFF"/>
                        </a:solidFill>
                        <a:latin typeface="Calibri"/>
                      </a:rPr>
                      <a:t>45,971</a:t>
                    </a:r>
                  </a:p>
                </c:rich>
              </c:tx>
              <c:dLblPos val="ctr"/>
              <c:showLegendKey val="0"/>
              <c:showVal val="1"/>
              <c:showCatName val="0"/>
              <c:showSerName val="0"/>
              <c:showPercent val="0"/>
              <c:showBubbleSize val="0"/>
            </c:dLbl>
            <c:dLbl>
              <c:idx val="11"/>
              <c:tx>
                <c:rich>
                  <a:bodyPr/>
                  <a:lstStyle/>
                  <a:p>
                    <a:r>
                      <a:rPr sz="1100">
                        <a:solidFill>
                          <a:srgbClr val="FFFFFF"/>
                        </a:solidFill>
                        <a:latin typeface="Calibri"/>
                      </a:rPr>
                      <a:t>49,059</a:t>
                    </a:r>
                  </a:p>
                </c:rich>
              </c:tx>
              <c:dLblPos val="ctr"/>
              <c:showLegendKey val="0"/>
              <c:showVal val="1"/>
              <c:showCatName val="0"/>
              <c:showSerName val="0"/>
              <c:showPercent val="0"/>
              <c:showBubbleSize val="0"/>
            </c:dLbl>
            <c:dLbl>
              <c:idx val="12"/>
              <c:tx>
                <c:rich>
                  <a:bodyPr/>
                  <a:lstStyle/>
                  <a:p>
                    <a:r>
                      <a:rPr sz="1100">
                        <a:solidFill>
                          <a:srgbClr val="FFFFFF"/>
                        </a:solidFill>
                        <a:latin typeface="Calibri"/>
                      </a:rPr>
                      <a:t>52,390</a:t>
                    </a:r>
                  </a:p>
                </c:rich>
              </c:tx>
              <c:dLblPos val="ctr"/>
              <c:showLegendKey val="0"/>
              <c:showVal val="1"/>
              <c:showCatName val="0"/>
              <c:showSerName val="0"/>
              <c:showPercent val="0"/>
              <c:showBubbleSize val="0"/>
            </c:dLbl>
            <c:dLbl>
              <c:idx val="13"/>
              <c:tx>
                <c:rich>
                  <a:bodyPr/>
                  <a:lstStyle/>
                  <a:p>
                    <a:r>
                      <a:rPr sz="1100">
                        <a:solidFill>
                          <a:srgbClr val="FFFFFF"/>
                        </a:solidFill>
                        <a:latin typeface="Calibri"/>
                      </a:rPr>
                      <a:t>55,955</a:t>
                    </a:r>
                  </a:p>
                </c:rich>
              </c:tx>
              <c:dLblPos val="ctr"/>
              <c:showLegendKey val="0"/>
              <c:showVal val="1"/>
              <c:showCatName val="0"/>
              <c:showSerName val="0"/>
              <c:showPercent val="0"/>
              <c:showBubbleSize val="0"/>
            </c:dLbl>
            <c:dLbl>
              <c:idx val="14"/>
              <c:tx>
                <c:rich>
                  <a:bodyPr/>
                  <a:lstStyle/>
                  <a:p>
                    <a:r>
                      <a:rPr sz="1100">
                        <a:solidFill>
                          <a:srgbClr val="FFFFFF"/>
                        </a:solidFill>
                        <a:latin typeface="Calibri"/>
                      </a:rPr>
                      <a:t>59,732</a:t>
                    </a:r>
                  </a:p>
                </c:rich>
              </c:tx>
              <c:dLblPos val="ctr"/>
              <c:showLegendKey val="0"/>
              <c:showVal val="1"/>
              <c:showCatName val="0"/>
              <c:showSerName val="0"/>
              <c:showPercent val="0"/>
              <c:showBubbleSize val="0"/>
            </c:dLbl>
            <c:dLbl>
              <c:idx val="15"/>
              <c:tx>
                <c:rich>
                  <a:bodyPr/>
                  <a:lstStyle/>
                  <a:p>
                    <a:r>
                      <a:rPr sz="1100">
                        <a:solidFill>
                          <a:srgbClr val="FFFFFF"/>
                        </a:solidFill>
                        <a:latin typeface="Calibri"/>
                      </a:rPr>
                      <a:t>63,723</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Sheet1!$C$2:$C$17</c:f>
              <c:numCache>
                <c:formatCode>General</c:formatCode>
                <c:ptCount val="16"/>
                <c:pt idx="0">
                  <c:v>27546.575</c:v>
                </c:pt>
                <c:pt idx="1">
                  <c:v>28682.059</c:v>
                </c:pt>
                <c:pt idx="2">
                  <c:v>29896.445</c:v>
                </c:pt>
                <c:pt idx="3">
                  <c:v>31216.081</c:v>
                </c:pt>
                <c:pt idx="4">
                  <c:v>32642.998</c:v>
                </c:pt>
                <c:pt idx="5">
                  <c:v>34333.736</c:v>
                </c:pt>
                <c:pt idx="6">
                  <c:v>36209.127</c:v>
                </c:pt>
                <c:pt idx="7">
                  <c:v>38289.633</c:v>
                </c:pt>
                <c:pt idx="8">
                  <c:v>40591.607</c:v>
                </c:pt>
                <c:pt idx="9">
                  <c:v>43149.371</c:v>
                </c:pt>
                <c:pt idx="10">
                  <c:v>45971.027</c:v>
                </c:pt>
                <c:pt idx="11">
                  <c:v>49058.715</c:v>
                </c:pt>
                <c:pt idx="12">
                  <c:v>52390.461</c:v>
                </c:pt>
                <c:pt idx="13">
                  <c:v>55955.026</c:v>
                </c:pt>
                <c:pt idx="14">
                  <c:v>59731.86</c:v>
                </c:pt>
                <c:pt idx="15">
                  <c:v>63723.49</c:v>
                </c:pt>
              </c:numCache>
            </c:numRef>
          </c:val>
        </c:ser>
        <c:ser>
          <c:idx val="2"/>
          <c:order val="2"/>
          <c:tx>
            <c:strRef>
              <c:f>Sheet1!$D$1</c:f>
              <c:strCache>
                <c:ptCount val="1"/>
                <c:pt idx="0">
                  <c:v>Europe</c:v>
                </c:pt>
              </c:strCache>
            </c:strRef>
          </c:tx>
          <c:spPr>
            <a:solidFill>
              <a:srgbClr val="008189"/>
            </a:solidFill>
            <a:ln>
              <a:noFill/>
            </a:ln>
          </c:spPr>
          <c:dLbls>
            <c:dLbl>
              <c:idx val="0"/>
              <c:tx>
                <c:rich>
                  <a:bodyPr/>
                  <a:lstStyle/>
                  <a:p>
                    <a:r>
                      <a:rPr sz="1100">
                        <a:solidFill>
                          <a:srgbClr val="FFFFFF"/>
                        </a:solidFill>
                        <a:latin typeface="Calibri"/>
                      </a:rPr>
                      <a:t>20,623</a:t>
                    </a:r>
                  </a:p>
                </c:rich>
              </c:tx>
              <c:dLblPos val="ctr"/>
              <c:showLegendKey val="0"/>
              <c:showVal val="1"/>
              <c:showCatName val="0"/>
              <c:showSerName val="0"/>
              <c:showPercent val="0"/>
              <c:showBubbleSize val="0"/>
            </c:dLbl>
            <c:dLbl>
              <c:idx val="1"/>
              <c:tx>
                <c:rich>
                  <a:bodyPr/>
                  <a:lstStyle/>
                  <a:p>
                    <a:r>
                      <a:rPr sz="1100">
                        <a:solidFill>
                          <a:srgbClr val="FFFFFF"/>
                        </a:solidFill>
                        <a:latin typeface="Calibri"/>
                      </a:rPr>
                      <a:t>21,559</a:t>
                    </a:r>
                  </a:p>
                </c:rich>
              </c:tx>
              <c:dLblPos val="ctr"/>
              <c:showLegendKey val="0"/>
              <c:showVal val="1"/>
              <c:showCatName val="0"/>
              <c:showSerName val="0"/>
              <c:showPercent val="0"/>
              <c:showBubbleSize val="0"/>
            </c:dLbl>
            <c:dLbl>
              <c:idx val="2"/>
              <c:tx>
                <c:rich>
                  <a:bodyPr/>
                  <a:lstStyle/>
                  <a:p>
                    <a:r>
                      <a:rPr sz="1100">
                        <a:solidFill>
                          <a:srgbClr val="FFFFFF"/>
                        </a:solidFill>
                        <a:latin typeface="Calibri"/>
                      </a:rPr>
                      <a:t>22,555</a:t>
                    </a:r>
                  </a:p>
                </c:rich>
              </c:tx>
              <c:dLblPos val="ctr"/>
              <c:showLegendKey val="0"/>
              <c:showVal val="1"/>
              <c:showCatName val="0"/>
              <c:showSerName val="0"/>
              <c:showPercent val="0"/>
              <c:showBubbleSize val="0"/>
            </c:dLbl>
            <c:dLbl>
              <c:idx val="3"/>
              <c:tx>
                <c:rich>
                  <a:bodyPr/>
                  <a:lstStyle/>
                  <a:p>
                    <a:r>
                      <a:rPr sz="1100">
                        <a:solidFill>
                          <a:srgbClr val="FFFFFF"/>
                        </a:solidFill>
                        <a:latin typeface="Calibri"/>
                      </a:rPr>
                      <a:t>23,631</a:t>
                    </a:r>
                  </a:p>
                </c:rich>
              </c:tx>
              <c:dLblPos val="ctr"/>
              <c:showLegendKey val="0"/>
              <c:showVal val="1"/>
              <c:showCatName val="0"/>
              <c:showSerName val="0"/>
              <c:showPercent val="0"/>
              <c:showBubbleSize val="0"/>
            </c:dLbl>
            <c:dLbl>
              <c:idx val="4"/>
              <c:tx>
                <c:rich>
                  <a:bodyPr/>
                  <a:lstStyle/>
                  <a:p>
                    <a:r>
                      <a:rPr sz="1100">
                        <a:solidFill>
                          <a:srgbClr val="FFFFFF"/>
                        </a:solidFill>
                        <a:latin typeface="Calibri"/>
                      </a:rPr>
                      <a:t>24,784</a:t>
                    </a:r>
                  </a:p>
                </c:rich>
              </c:tx>
              <c:dLblPos val="ctr"/>
              <c:showLegendKey val="0"/>
              <c:showVal val="1"/>
              <c:showCatName val="0"/>
              <c:showSerName val="0"/>
              <c:showPercent val="0"/>
              <c:showBubbleSize val="0"/>
            </c:dLbl>
            <c:dLbl>
              <c:idx val="5"/>
              <c:tx>
                <c:rich>
                  <a:bodyPr/>
                  <a:lstStyle/>
                  <a:p>
                    <a:r>
                      <a:rPr sz="1100">
                        <a:solidFill>
                          <a:srgbClr val="FFFFFF"/>
                        </a:solidFill>
                        <a:latin typeface="Calibri"/>
                      </a:rPr>
                      <a:t>26,141</a:t>
                    </a:r>
                  </a:p>
                </c:rich>
              </c:tx>
              <c:dLblPos val="ctr"/>
              <c:showLegendKey val="0"/>
              <c:showVal val="1"/>
              <c:showCatName val="0"/>
              <c:showSerName val="0"/>
              <c:showPercent val="0"/>
              <c:showBubbleSize val="0"/>
            </c:dLbl>
            <c:dLbl>
              <c:idx val="6"/>
              <c:tx>
                <c:rich>
                  <a:bodyPr/>
                  <a:lstStyle/>
                  <a:p>
                    <a:r>
                      <a:rPr sz="1100">
                        <a:solidFill>
                          <a:srgbClr val="FFFFFF"/>
                        </a:solidFill>
                        <a:latin typeface="Calibri"/>
                      </a:rPr>
                      <a:t>27,637</a:t>
                    </a:r>
                  </a:p>
                </c:rich>
              </c:tx>
              <c:dLblPos val="ctr"/>
              <c:showLegendKey val="0"/>
              <c:showVal val="1"/>
              <c:showCatName val="0"/>
              <c:showSerName val="0"/>
              <c:showPercent val="0"/>
              <c:showBubbleSize val="0"/>
            </c:dLbl>
            <c:dLbl>
              <c:idx val="7"/>
              <c:tx>
                <c:rich>
                  <a:bodyPr/>
                  <a:lstStyle/>
                  <a:p>
                    <a:r>
                      <a:rPr sz="1100">
                        <a:solidFill>
                          <a:srgbClr val="FFFFFF"/>
                        </a:solidFill>
                        <a:latin typeface="Calibri"/>
                      </a:rPr>
                      <a:t>29,294</a:t>
                    </a:r>
                  </a:p>
                </c:rich>
              </c:tx>
              <c:dLblPos val="ctr"/>
              <c:showLegendKey val="0"/>
              <c:showVal val="1"/>
              <c:showCatName val="0"/>
              <c:showSerName val="0"/>
              <c:showPercent val="0"/>
              <c:showBubbleSize val="0"/>
            </c:dLbl>
            <c:dLbl>
              <c:idx val="8"/>
              <c:tx>
                <c:rich>
                  <a:bodyPr/>
                  <a:lstStyle/>
                  <a:p>
                    <a:r>
                      <a:rPr sz="1100">
                        <a:solidFill>
                          <a:srgbClr val="FFFFFF"/>
                        </a:solidFill>
                        <a:latin typeface="Calibri"/>
                      </a:rPr>
                      <a:t>31,129</a:t>
                    </a:r>
                  </a:p>
                </c:rich>
              </c:tx>
              <c:dLblPos val="ctr"/>
              <c:showLegendKey val="0"/>
              <c:showVal val="1"/>
              <c:showCatName val="0"/>
              <c:showSerName val="0"/>
              <c:showPercent val="0"/>
              <c:showBubbleSize val="0"/>
            </c:dLbl>
            <c:dLbl>
              <c:idx val="9"/>
              <c:tx>
                <c:rich>
                  <a:bodyPr/>
                  <a:lstStyle/>
                  <a:p>
                    <a:r>
                      <a:rPr sz="1100">
                        <a:solidFill>
                          <a:srgbClr val="FFFFFF"/>
                        </a:solidFill>
                        <a:latin typeface="Calibri"/>
                      </a:rPr>
                      <a:t>33,165</a:t>
                    </a:r>
                  </a:p>
                </c:rich>
              </c:tx>
              <c:dLblPos val="ctr"/>
              <c:showLegendKey val="0"/>
              <c:showVal val="1"/>
              <c:showCatName val="0"/>
              <c:showSerName val="0"/>
              <c:showPercent val="0"/>
              <c:showBubbleSize val="0"/>
            </c:dLbl>
            <c:dLbl>
              <c:idx val="10"/>
              <c:tx>
                <c:rich>
                  <a:bodyPr/>
                  <a:lstStyle/>
                  <a:p>
                    <a:r>
                      <a:rPr sz="1100">
                        <a:solidFill>
                          <a:srgbClr val="FFFFFF"/>
                        </a:solidFill>
                        <a:latin typeface="Calibri"/>
                      </a:rPr>
                      <a:t>35,400</a:t>
                    </a:r>
                  </a:p>
                </c:rich>
              </c:tx>
              <c:dLblPos val="ctr"/>
              <c:showLegendKey val="0"/>
              <c:showVal val="1"/>
              <c:showCatName val="0"/>
              <c:showSerName val="0"/>
              <c:showPercent val="0"/>
              <c:showBubbleSize val="0"/>
            </c:dLbl>
            <c:dLbl>
              <c:idx val="11"/>
              <c:tx>
                <c:rich>
                  <a:bodyPr/>
                  <a:lstStyle/>
                  <a:p>
                    <a:r>
                      <a:rPr sz="1100">
                        <a:solidFill>
                          <a:srgbClr val="FFFFFF"/>
                        </a:solidFill>
                        <a:latin typeface="Calibri"/>
                      </a:rPr>
                      <a:t>37,838</a:t>
                    </a:r>
                  </a:p>
                </c:rich>
              </c:tx>
              <c:dLblPos val="ctr"/>
              <c:showLegendKey val="0"/>
              <c:showVal val="1"/>
              <c:showCatName val="0"/>
              <c:showSerName val="0"/>
              <c:showPercent val="0"/>
              <c:showBubbleSize val="0"/>
            </c:dLbl>
            <c:dLbl>
              <c:idx val="12"/>
              <c:tx>
                <c:rich>
                  <a:bodyPr/>
                  <a:lstStyle/>
                  <a:p>
                    <a:r>
                      <a:rPr sz="1100">
                        <a:solidFill>
                          <a:srgbClr val="FFFFFF"/>
                        </a:solidFill>
                        <a:latin typeface="Calibri"/>
                      </a:rPr>
                      <a:t>40,462</a:t>
                    </a:r>
                  </a:p>
                </c:rich>
              </c:tx>
              <c:dLblPos val="ctr"/>
              <c:showLegendKey val="0"/>
              <c:showVal val="1"/>
              <c:showCatName val="0"/>
              <c:showSerName val="0"/>
              <c:showPercent val="0"/>
              <c:showBubbleSize val="0"/>
            </c:dLbl>
            <c:dLbl>
              <c:idx val="13"/>
              <c:tx>
                <c:rich>
                  <a:bodyPr/>
                  <a:lstStyle/>
                  <a:p>
                    <a:r>
                      <a:rPr sz="1100">
                        <a:solidFill>
                          <a:srgbClr val="FFFFFF"/>
                        </a:solidFill>
                        <a:latin typeface="Calibri"/>
                      </a:rPr>
                      <a:t>43,268</a:t>
                    </a:r>
                  </a:p>
                </c:rich>
              </c:tx>
              <c:dLblPos val="ctr"/>
              <c:showLegendKey val="0"/>
              <c:showVal val="1"/>
              <c:showCatName val="0"/>
              <c:showSerName val="0"/>
              <c:showPercent val="0"/>
              <c:showBubbleSize val="0"/>
            </c:dLbl>
            <c:dLbl>
              <c:idx val="14"/>
              <c:tx>
                <c:rich>
                  <a:bodyPr/>
                  <a:lstStyle/>
                  <a:p>
                    <a:r>
                      <a:rPr sz="1100">
                        <a:solidFill>
                          <a:srgbClr val="FFFFFF"/>
                        </a:solidFill>
                        <a:latin typeface="Calibri"/>
                      </a:rPr>
                      <a:t>46,245</a:t>
                    </a:r>
                  </a:p>
                </c:rich>
              </c:tx>
              <c:dLblPos val="ctr"/>
              <c:showLegendKey val="0"/>
              <c:showVal val="1"/>
              <c:showCatName val="0"/>
              <c:showSerName val="0"/>
              <c:showPercent val="0"/>
              <c:showBubbleSize val="0"/>
            </c:dLbl>
            <c:dLbl>
              <c:idx val="15"/>
              <c:tx>
                <c:rich>
                  <a:bodyPr/>
                  <a:lstStyle/>
                  <a:p>
                    <a:r>
                      <a:rPr sz="1100">
                        <a:solidFill>
                          <a:srgbClr val="FFFFFF"/>
                        </a:solidFill>
                        <a:latin typeface="Calibri"/>
                      </a:rPr>
                      <a:t>49,393</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Sheet1!$D$2:$D$17</c:f>
              <c:numCache>
                <c:formatCode>General</c:formatCode>
                <c:ptCount val="16"/>
                <c:pt idx="0">
                  <c:v>20623.0</c:v>
                </c:pt>
                <c:pt idx="1">
                  <c:v>21558.682</c:v>
                </c:pt>
                <c:pt idx="2">
                  <c:v>22554.849</c:v>
                </c:pt>
                <c:pt idx="3">
                  <c:v>23630.681</c:v>
                </c:pt>
                <c:pt idx="4">
                  <c:v>24784.491</c:v>
                </c:pt>
                <c:pt idx="5">
                  <c:v>26140.827</c:v>
                </c:pt>
                <c:pt idx="6">
                  <c:v>27636.802</c:v>
                </c:pt>
                <c:pt idx="7">
                  <c:v>29294.495</c:v>
                </c:pt>
                <c:pt idx="8">
                  <c:v>31129.43</c:v>
                </c:pt>
                <c:pt idx="9">
                  <c:v>33164.97</c:v>
                </c:pt>
                <c:pt idx="10">
                  <c:v>35400.383</c:v>
                </c:pt>
                <c:pt idx="11">
                  <c:v>37837.582</c:v>
                </c:pt>
                <c:pt idx="12">
                  <c:v>40462.108</c:v>
                </c:pt>
                <c:pt idx="13">
                  <c:v>43267.859</c:v>
                </c:pt>
                <c:pt idx="14">
                  <c:v>46244.635</c:v>
                </c:pt>
                <c:pt idx="15">
                  <c:v>49393.022</c:v>
                </c:pt>
              </c:numCache>
            </c:numRef>
          </c:val>
        </c:ser>
        <c:ser>
          <c:idx val="3"/>
          <c:order val="3"/>
          <c:tx>
            <c:strRef>
              <c:f>Sheet1!$E$1</c:f>
              <c:strCache>
                <c:ptCount val="1"/>
                <c:pt idx="0">
                  <c:v>South Asia &amp; Pacific</c:v>
                </c:pt>
              </c:strCache>
            </c:strRef>
          </c:tx>
          <c:spPr>
            <a:solidFill>
              <a:srgbClr val="40315E"/>
            </a:solidFill>
            <a:ln>
              <a:noFill/>
            </a:ln>
          </c:spPr>
          <c:dLbls>
            <c:dLbl>
              <c:idx val="4"/>
              <c:tx>
                <c:rich>
                  <a:bodyPr/>
                  <a:lstStyle/>
                  <a:p>
                    <a:r>
                      <a:rPr sz="1100">
                        <a:solidFill>
                          <a:srgbClr val="FFFFFF"/>
                        </a:solidFill>
                        <a:latin typeface="Calibri"/>
                      </a:rPr>
                      <a:t>14,508</a:t>
                    </a:r>
                  </a:p>
                </c:rich>
              </c:tx>
              <c:dLblPos val="ctr"/>
              <c:showLegendKey val="0"/>
              <c:showVal val="1"/>
              <c:showCatName val="0"/>
              <c:showSerName val="0"/>
              <c:showPercent val="0"/>
              <c:showBubbleSize val="0"/>
            </c:dLbl>
            <c:dLbl>
              <c:idx val="5"/>
              <c:tx>
                <c:rich>
                  <a:bodyPr/>
                  <a:lstStyle/>
                  <a:p>
                    <a:r>
                      <a:rPr sz="1100">
                        <a:solidFill>
                          <a:srgbClr val="FFFFFF"/>
                        </a:solidFill>
                        <a:latin typeface="Calibri"/>
                      </a:rPr>
                      <a:t>15,462</a:t>
                    </a:r>
                  </a:p>
                </c:rich>
              </c:tx>
              <c:dLblPos val="ctr"/>
              <c:showLegendKey val="0"/>
              <c:showVal val="1"/>
              <c:showCatName val="0"/>
              <c:showSerName val="0"/>
              <c:showPercent val="0"/>
              <c:showBubbleSize val="0"/>
            </c:dLbl>
            <c:dLbl>
              <c:idx val="6"/>
              <c:tx>
                <c:rich>
                  <a:bodyPr/>
                  <a:lstStyle/>
                  <a:p>
                    <a:r>
                      <a:rPr sz="1100">
                        <a:solidFill>
                          <a:srgbClr val="FFFFFF"/>
                        </a:solidFill>
                        <a:latin typeface="Calibri"/>
                      </a:rPr>
                      <a:t>16,526</a:t>
                    </a:r>
                  </a:p>
                </c:rich>
              </c:tx>
              <c:dLblPos val="ctr"/>
              <c:showLegendKey val="0"/>
              <c:showVal val="1"/>
              <c:showCatName val="0"/>
              <c:showSerName val="0"/>
              <c:showPercent val="0"/>
              <c:showBubbleSize val="0"/>
            </c:dLbl>
            <c:dLbl>
              <c:idx val="7"/>
              <c:tx>
                <c:rich>
                  <a:bodyPr/>
                  <a:lstStyle/>
                  <a:p>
                    <a:r>
                      <a:rPr sz="1100">
                        <a:solidFill>
                          <a:srgbClr val="FFFFFF"/>
                        </a:solidFill>
                        <a:latin typeface="Calibri"/>
                      </a:rPr>
                      <a:t>17,715</a:t>
                    </a:r>
                  </a:p>
                </c:rich>
              </c:tx>
              <c:dLblPos val="ctr"/>
              <c:showLegendKey val="0"/>
              <c:showVal val="1"/>
              <c:showCatName val="0"/>
              <c:showSerName val="0"/>
              <c:showPercent val="0"/>
              <c:showBubbleSize val="0"/>
            </c:dLbl>
            <c:dLbl>
              <c:idx val="8"/>
              <c:tx>
                <c:rich>
                  <a:bodyPr/>
                  <a:lstStyle/>
                  <a:p>
                    <a:r>
                      <a:rPr sz="1100">
                        <a:solidFill>
                          <a:srgbClr val="FFFFFF"/>
                        </a:solidFill>
                        <a:latin typeface="Calibri"/>
                      </a:rPr>
                      <a:t>19,043</a:t>
                    </a:r>
                  </a:p>
                </c:rich>
              </c:tx>
              <c:dLblPos val="ctr"/>
              <c:showLegendKey val="0"/>
              <c:showVal val="1"/>
              <c:showCatName val="0"/>
              <c:showSerName val="0"/>
              <c:showPercent val="0"/>
              <c:showBubbleSize val="0"/>
            </c:dLbl>
            <c:dLbl>
              <c:idx val="9"/>
              <c:tx>
                <c:rich>
                  <a:bodyPr/>
                  <a:lstStyle/>
                  <a:p>
                    <a:r>
                      <a:rPr sz="1100">
                        <a:solidFill>
                          <a:srgbClr val="FFFFFF"/>
                        </a:solidFill>
                        <a:latin typeface="Calibri"/>
                      </a:rPr>
                      <a:t>20,526</a:t>
                    </a:r>
                  </a:p>
                </c:rich>
              </c:tx>
              <c:dLblPos val="ctr"/>
              <c:showLegendKey val="0"/>
              <c:showVal val="1"/>
              <c:showCatName val="0"/>
              <c:showSerName val="0"/>
              <c:showPercent val="0"/>
              <c:showBubbleSize val="0"/>
            </c:dLbl>
            <c:dLbl>
              <c:idx val="10"/>
              <c:tx>
                <c:rich>
                  <a:bodyPr/>
                  <a:lstStyle/>
                  <a:p>
                    <a:r>
                      <a:rPr sz="1100">
                        <a:solidFill>
                          <a:srgbClr val="FFFFFF"/>
                        </a:solidFill>
                        <a:latin typeface="Calibri"/>
                      </a:rPr>
                      <a:t>22,168</a:t>
                    </a:r>
                  </a:p>
                </c:rich>
              </c:tx>
              <c:dLblPos val="ctr"/>
              <c:showLegendKey val="0"/>
              <c:showVal val="1"/>
              <c:showCatName val="0"/>
              <c:showSerName val="0"/>
              <c:showPercent val="0"/>
              <c:showBubbleSize val="0"/>
            </c:dLbl>
            <c:dLbl>
              <c:idx val="11"/>
              <c:tx>
                <c:rich>
                  <a:bodyPr/>
                  <a:lstStyle/>
                  <a:p>
                    <a:r>
                      <a:rPr sz="1100">
                        <a:solidFill>
                          <a:srgbClr val="FFFFFF"/>
                        </a:solidFill>
                        <a:latin typeface="Calibri"/>
                      </a:rPr>
                      <a:t>23,972</a:t>
                    </a:r>
                  </a:p>
                </c:rich>
              </c:tx>
              <c:dLblPos val="ctr"/>
              <c:showLegendKey val="0"/>
              <c:showVal val="1"/>
              <c:showCatName val="0"/>
              <c:showSerName val="0"/>
              <c:showPercent val="0"/>
              <c:showBubbleSize val="0"/>
            </c:dLbl>
            <c:dLbl>
              <c:idx val="12"/>
              <c:tx>
                <c:rich>
                  <a:bodyPr/>
                  <a:lstStyle/>
                  <a:p>
                    <a:r>
                      <a:rPr sz="1100">
                        <a:solidFill>
                          <a:srgbClr val="FFFFFF"/>
                        </a:solidFill>
                        <a:latin typeface="Calibri"/>
                      </a:rPr>
                      <a:t>25,928</a:t>
                    </a:r>
                  </a:p>
                </c:rich>
              </c:tx>
              <c:dLblPos val="ctr"/>
              <c:showLegendKey val="0"/>
              <c:showVal val="1"/>
              <c:showCatName val="0"/>
              <c:showSerName val="0"/>
              <c:showPercent val="0"/>
              <c:showBubbleSize val="0"/>
            </c:dLbl>
            <c:dLbl>
              <c:idx val="13"/>
              <c:tx>
                <c:rich>
                  <a:bodyPr/>
                  <a:lstStyle/>
                  <a:p>
                    <a:r>
                      <a:rPr sz="1100">
                        <a:solidFill>
                          <a:srgbClr val="FFFFFF"/>
                        </a:solidFill>
                        <a:latin typeface="Calibri"/>
                      </a:rPr>
                      <a:t>28,035</a:t>
                    </a:r>
                  </a:p>
                </c:rich>
              </c:tx>
              <c:dLblPos val="ctr"/>
              <c:showLegendKey val="0"/>
              <c:showVal val="1"/>
              <c:showCatName val="0"/>
              <c:showSerName val="0"/>
              <c:showPercent val="0"/>
              <c:showBubbleSize val="0"/>
            </c:dLbl>
            <c:dLbl>
              <c:idx val="14"/>
              <c:tx>
                <c:rich>
                  <a:bodyPr/>
                  <a:lstStyle/>
                  <a:p>
                    <a:r>
                      <a:rPr sz="1100">
                        <a:solidFill>
                          <a:srgbClr val="FFFFFF"/>
                        </a:solidFill>
                        <a:latin typeface="Calibri"/>
                      </a:rPr>
                      <a:t>30,288</a:t>
                    </a:r>
                  </a:p>
                </c:rich>
              </c:tx>
              <c:dLblPos val="ctr"/>
              <c:showLegendKey val="0"/>
              <c:showVal val="1"/>
              <c:showCatName val="0"/>
              <c:showSerName val="0"/>
              <c:showPercent val="0"/>
              <c:showBubbleSize val="0"/>
            </c:dLbl>
            <c:dLbl>
              <c:idx val="15"/>
              <c:tx>
                <c:rich>
                  <a:bodyPr/>
                  <a:lstStyle/>
                  <a:p>
                    <a:r>
                      <a:rPr sz="1100">
                        <a:solidFill>
                          <a:srgbClr val="FFFFFF"/>
                        </a:solidFill>
                        <a:latin typeface="Calibri"/>
                      </a:rPr>
                      <a:t>32,687</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Sheet1!$E$2:$E$17</c:f>
              <c:numCache>
                <c:formatCode>General</c:formatCode>
                <c:ptCount val="16"/>
                <c:pt idx="0">
                  <c:v>11621.233</c:v>
                </c:pt>
                <c:pt idx="1">
                  <c:v>12257.908</c:v>
                </c:pt>
                <c:pt idx="2">
                  <c:v>12944.231</c:v>
                </c:pt>
                <c:pt idx="3">
                  <c:v>13693.333</c:v>
                </c:pt>
                <c:pt idx="4">
                  <c:v>14507.999</c:v>
                </c:pt>
                <c:pt idx="5">
                  <c:v>15462.138</c:v>
                </c:pt>
                <c:pt idx="6">
                  <c:v>16525.906</c:v>
                </c:pt>
                <c:pt idx="7">
                  <c:v>17714.926</c:v>
                </c:pt>
                <c:pt idx="8">
                  <c:v>19042.89</c:v>
                </c:pt>
                <c:pt idx="9">
                  <c:v>20525.953</c:v>
                </c:pt>
                <c:pt idx="10">
                  <c:v>22168.259</c:v>
                </c:pt>
                <c:pt idx="11">
                  <c:v>23972.168</c:v>
                </c:pt>
                <c:pt idx="12">
                  <c:v>25927.513</c:v>
                </c:pt>
                <c:pt idx="13">
                  <c:v>28035.356</c:v>
                </c:pt>
                <c:pt idx="14">
                  <c:v>30288.417</c:v>
                </c:pt>
                <c:pt idx="15">
                  <c:v>32687.316</c:v>
                </c:pt>
              </c:numCache>
            </c:numRef>
          </c:val>
        </c:ser>
        <c:ser>
          <c:idx val="4"/>
          <c:order val="4"/>
          <c:tx>
            <c:strRef>
              <c:f>Sheet1!$F$1</c:f>
              <c:strCache>
                <c:ptCount val="1"/>
                <c:pt idx="0">
                  <c:v>Latin America</c:v>
                </c:pt>
              </c:strCache>
            </c:strRef>
          </c:tx>
          <c:spPr>
            <a:solidFill>
              <a:srgbClr val="A35313"/>
            </a:solidFill>
            <a:ln>
              <a:noFill/>
            </a:ln>
          </c:spPr>
          <c:dLbls>
            <c:dLbl>
              <c:idx val="14"/>
              <c:tx>
                <c:rich>
                  <a:bodyPr/>
                  <a:lstStyle/>
                  <a:p>
                    <a:r>
                      <a:rPr sz="1100">
                        <a:solidFill>
                          <a:srgbClr val="FFFFFF"/>
                        </a:solidFill>
                        <a:latin typeface="Calibri"/>
                      </a:rPr>
                      <a:t>15,464</a:t>
                    </a:r>
                  </a:p>
                </c:rich>
              </c:tx>
              <c:dLblPos val="ctr"/>
              <c:showLegendKey val="0"/>
              <c:showVal val="1"/>
              <c:showCatName val="0"/>
              <c:showSerName val="0"/>
              <c:showPercent val="0"/>
              <c:showBubbleSize val="0"/>
            </c:dLbl>
            <c:dLbl>
              <c:idx val="15"/>
              <c:tx>
                <c:rich>
                  <a:bodyPr/>
                  <a:lstStyle/>
                  <a:p>
                    <a:r>
                      <a:rPr sz="1100">
                        <a:solidFill>
                          <a:srgbClr val="FFFFFF"/>
                        </a:solidFill>
                        <a:latin typeface="Calibri"/>
                      </a:rPr>
                      <a:t>16,618</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Sheet1!$F$2:$F$17</c:f>
              <c:numCache>
                <c:formatCode>General</c:formatCode>
                <c:ptCount val="16"/>
                <c:pt idx="0">
                  <c:v>6419.126</c:v>
                </c:pt>
                <c:pt idx="1">
                  <c:v>6744.235</c:v>
                </c:pt>
                <c:pt idx="2">
                  <c:v>7089.357</c:v>
                </c:pt>
                <c:pt idx="3">
                  <c:v>7461.104</c:v>
                </c:pt>
                <c:pt idx="4">
                  <c:v>7858.501</c:v>
                </c:pt>
                <c:pt idx="5">
                  <c:v>8323.849</c:v>
                </c:pt>
                <c:pt idx="6">
                  <c:v>8838.467</c:v>
                </c:pt>
                <c:pt idx="7">
                  <c:v>9411.937</c:v>
                </c:pt>
                <c:pt idx="8">
                  <c:v>10050.597</c:v>
                </c:pt>
                <c:pt idx="9">
                  <c:v>10763.368</c:v>
                </c:pt>
                <c:pt idx="10">
                  <c:v>11552.378</c:v>
                </c:pt>
                <c:pt idx="11">
                  <c:v>12420.305</c:v>
                </c:pt>
                <c:pt idx="12">
                  <c:v>13363.941</c:v>
                </c:pt>
                <c:pt idx="13">
                  <c:v>14379.671</c:v>
                </c:pt>
                <c:pt idx="14">
                  <c:v>15464.32</c:v>
                </c:pt>
                <c:pt idx="15">
                  <c:v>16618.265</c:v>
                </c:pt>
              </c:numCache>
            </c:numRef>
          </c:val>
        </c:ser>
        <c:ser>
          <c:idx val="5"/>
          <c:order val="5"/>
          <c:tx>
            <c:strRef>
              <c:f>Sheet1!$G$1</c:f>
              <c:strCache>
                <c:ptCount val="1"/>
                <c:pt idx="0">
                  <c:v>Middle East &amp; Africa</c:v>
                </c:pt>
              </c:strCache>
            </c:strRef>
          </c:tx>
          <c:spPr>
            <a:solidFill>
              <a:srgbClr val="808080"/>
            </a:solidFill>
            <a:ln>
              <a:noFill/>
            </a:ln>
          </c:spPr>
          <c:dLbls>
            <c:dLbl>
              <c:idx val="14"/>
              <c:tx>
                <c:rich>
                  <a:bodyPr/>
                  <a:lstStyle/>
                  <a:p>
                    <a:r>
                      <a:rPr sz="1100">
                        <a:solidFill>
                          <a:srgbClr val="FFFFFF"/>
                        </a:solidFill>
                        <a:latin typeface="Calibri"/>
                      </a:rPr>
                      <a:t>14,498</a:t>
                    </a:r>
                  </a:p>
                </c:rich>
              </c:tx>
              <c:dLblPos val="ctr"/>
              <c:showLegendKey val="0"/>
              <c:showVal val="1"/>
              <c:showCatName val="0"/>
              <c:showSerName val="0"/>
              <c:showPercent val="0"/>
              <c:showBubbleSize val="0"/>
            </c:dLbl>
            <c:dLbl>
              <c:idx val="15"/>
              <c:tx>
                <c:rich>
                  <a:bodyPr/>
                  <a:lstStyle/>
                  <a:p>
                    <a:r>
                      <a:rPr sz="1100">
                        <a:solidFill>
                          <a:srgbClr val="FFFFFF"/>
                        </a:solidFill>
                        <a:latin typeface="Calibri"/>
                      </a:rPr>
                      <a:t>15,718</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Sheet1!$G$2:$G$17</c:f>
              <c:numCache>
                <c:formatCode>General</c:formatCode>
                <c:ptCount val="16"/>
                <c:pt idx="0">
                  <c:v>5272.911</c:v>
                </c:pt>
                <c:pt idx="1">
                  <c:v>5576.109</c:v>
                </c:pt>
                <c:pt idx="2">
                  <c:v>5903.256</c:v>
                </c:pt>
                <c:pt idx="3">
                  <c:v>6260.281</c:v>
                </c:pt>
                <c:pt idx="4">
                  <c:v>6649.509</c:v>
                </c:pt>
                <c:pt idx="5">
                  <c:v>7108.295</c:v>
                </c:pt>
                <c:pt idx="6">
                  <c:v>7623.301</c:v>
                </c:pt>
                <c:pt idx="7">
                  <c:v>8203.538</c:v>
                </c:pt>
                <c:pt idx="8">
                  <c:v>8856.42</c:v>
                </c:pt>
                <c:pt idx="9">
                  <c:v>9590.786</c:v>
                </c:pt>
                <c:pt idx="10">
                  <c:v>10407.936</c:v>
                </c:pt>
                <c:pt idx="11">
                  <c:v>11309.253</c:v>
                </c:pt>
                <c:pt idx="12">
                  <c:v>12292.236</c:v>
                </c:pt>
                <c:pt idx="13">
                  <c:v>13356.215</c:v>
                </c:pt>
                <c:pt idx="14">
                  <c:v>14497.786</c:v>
                </c:pt>
                <c:pt idx="15">
                  <c:v>15718.388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Rollstock Films</c:v>
                </c:pt>
              </c:strCache>
            </c:strRef>
          </c:tx>
          <c:spPr>
            <a:solidFill>
              <a:srgbClr val="3D85C6"/>
            </a:solidFill>
            <a:ln>
              <a:noFill/>
            </a:ln>
          </c:spPr>
          <c:dLbls>
            <c:dLbl>
              <c:idx val="0"/>
              <c:tx>
                <c:rich>
                  <a:bodyPr/>
                  <a:lstStyle/>
                  <a:p>
                    <a:r>
                      <a:rPr sz="1100">
                        <a:solidFill>
                          <a:srgbClr val="FFFFFF"/>
                        </a:solidFill>
                        <a:latin typeface="Calibri"/>
                      </a:rPr>
                      <a:t>54%</a:t>
                    </a:r>
                  </a:p>
                </c:rich>
              </c:tx>
              <c:dLblPos val="ctr"/>
              <c:showLegendKey val="0"/>
              <c:showVal val="1"/>
              <c:showCatName val="0"/>
              <c:showSerName val="0"/>
              <c:showPercent val="0"/>
              <c:showBubbleSize val="0"/>
            </c:dLbl>
            <c:dLbl>
              <c:idx val="1"/>
              <c:tx>
                <c:rich>
                  <a:bodyPr/>
                  <a:lstStyle/>
                  <a:p>
                    <a:r>
                      <a:rPr sz="1100">
                        <a:solidFill>
                          <a:srgbClr val="FFFFFF"/>
                        </a:solidFill>
                        <a:latin typeface="Calibri"/>
                      </a:rPr>
                      <a:t>54%</a:t>
                    </a:r>
                  </a:p>
                </c:rich>
              </c:tx>
              <c:dLblPos val="ctr"/>
              <c:showLegendKey val="0"/>
              <c:showVal val="1"/>
              <c:showCatName val="0"/>
              <c:showSerName val="0"/>
              <c:showPercent val="0"/>
              <c:showBubbleSize val="0"/>
            </c:dLbl>
            <c:dLbl>
              <c:idx val="2"/>
              <c:tx>
                <c:rich>
                  <a:bodyPr/>
                  <a:lstStyle/>
                  <a:p>
                    <a:r>
                      <a:rPr sz="1100">
                        <a:solidFill>
                          <a:srgbClr val="FFFFFF"/>
                        </a:solidFill>
                        <a:latin typeface="Calibri"/>
                      </a:rPr>
                      <a:t>54%</a:t>
                    </a:r>
                  </a:p>
                </c:rich>
              </c:tx>
              <c:dLblPos val="ctr"/>
              <c:showLegendKey val="0"/>
              <c:showVal val="1"/>
              <c:showCatName val="0"/>
              <c:showSerName val="0"/>
              <c:showPercent val="0"/>
              <c:showBubbleSize val="0"/>
            </c:dLbl>
            <c:dLbl>
              <c:idx val="3"/>
              <c:tx>
                <c:rich>
                  <a:bodyPr/>
                  <a:lstStyle/>
                  <a:p>
                    <a:r>
                      <a:rPr sz="1100">
                        <a:solidFill>
                          <a:srgbClr val="FFFFFF"/>
                        </a:solidFill>
                        <a:latin typeface="Calibri"/>
                      </a:rPr>
                      <a:t>54%</a:t>
                    </a:r>
                  </a:p>
                </c:rich>
              </c:tx>
              <c:dLblPos val="ctr"/>
              <c:showLegendKey val="0"/>
              <c:showVal val="1"/>
              <c:showCatName val="0"/>
              <c:showSerName val="0"/>
              <c:showPercent val="0"/>
              <c:showBubbleSize val="0"/>
            </c:dLbl>
            <c:dLbl>
              <c:idx val="4"/>
              <c:tx>
                <c:rich>
                  <a:bodyPr/>
                  <a:lstStyle/>
                  <a:p>
                    <a:r>
                      <a:rPr sz="1100">
                        <a:solidFill>
                          <a:srgbClr val="FFFFFF"/>
                        </a:solidFill>
                        <a:latin typeface="Calibri"/>
                      </a:rPr>
                      <a:t>53%</a:t>
                    </a:r>
                  </a:p>
                </c:rich>
              </c:tx>
              <c:dLblPos val="ctr"/>
              <c:showLegendKey val="0"/>
              <c:showVal val="1"/>
              <c:showCatName val="0"/>
              <c:showSerName val="0"/>
              <c:showPercent val="0"/>
              <c:showBubbleSize val="0"/>
            </c:dLbl>
            <c:dLbl>
              <c:idx val="5"/>
              <c:tx>
                <c:rich>
                  <a:bodyPr/>
                  <a:lstStyle/>
                  <a:p>
                    <a:r>
                      <a:rPr sz="1100">
                        <a:solidFill>
                          <a:srgbClr val="FFFFFF"/>
                        </a:solidFill>
                        <a:latin typeface="Calibri"/>
                      </a:rPr>
                      <a:t>54%</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Middle East &amp; Africa  ·  15,718</c:v>
                </c:pt>
                <c:pt idx="1">
                  <c:v>Latin America  ·  16,618</c:v>
                </c:pt>
                <c:pt idx="2">
                  <c:v>South Asia &amp; Pacific  ·  32,687</c:v>
                </c:pt>
                <c:pt idx="3">
                  <c:v>Europe  ·  49,393</c:v>
                </c:pt>
                <c:pt idx="4">
                  <c:v>North America  ·  62,068</c:v>
                </c:pt>
                <c:pt idx="5">
                  <c:v>East Asia  ·  63,723</c:v>
                </c:pt>
              </c:strCache>
            </c:strRef>
          </c:cat>
          <c:val>
            <c:numRef>
              <c:f>Sheet1!$B$2:$B$7</c:f>
              <c:numCache>
                <c:formatCode>General</c:formatCode>
                <c:ptCount val="6"/>
                <c:pt idx="0">
                  <c:v>53.87982582944585</c:v>
                </c:pt>
                <c:pt idx="1">
                  <c:v>54.14726231331984</c:v>
                </c:pt>
                <c:pt idx="2">
                  <c:v>54.12559887528236</c:v>
                </c:pt>
                <c:pt idx="3">
                  <c:v>53.76584462141546</c:v>
                </c:pt>
                <c:pt idx="4">
                  <c:v>52.67281424283339</c:v>
                </c:pt>
                <c:pt idx="5">
                  <c:v>53.74665521699055</c:v>
                </c:pt>
              </c:numCache>
            </c:numRef>
          </c:val>
        </c:ser>
        <c:ser>
          <c:idx val="1"/>
          <c:order val="1"/>
          <c:tx>
            <c:strRef>
              <c:f>Sheet1!$C$1</c:f>
              <c:strCache>
                <c:ptCount val="1"/>
                <c:pt idx="0">
                  <c:v>Barrier Casings</c:v>
                </c:pt>
              </c:strCache>
            </c:strRef>
          </c:tx>
          <c:spPr>
            <a:solidFill>
              <a:srgbClr val="9E7E0A"/>
            </a:solidFill>
            <a:ln>
              <a:noFill/>
            </a:ln>
          </c:spPr>
          <c:dLbls>
            <c:dLbl>
              <c:idx val="0"/>
              <c:tx>
                <c:rich>
                  <a:bodyPr/>
                  <a:lstStyle/>
                  <a:p>
                    <a:r>
                      <a:rPr sz="1100">
                        <a:solidFill>
                          <a:srgbClr val="FFFFFF"/>
                        </a:solidFill>
                        <a:latin typeface="Calibri"/>
                      </a:rPr>
                      <a:t>11%</a:t>
                    </a:r>
                  </a:p>
                </c:rich>
              </c:tx>
              <c:dLblPos val="ctr"/>
              <c:showLegendKey val="0"/>
              <c:showVal val="1"/>
              <c:showCatName val="0"/>
              <c:showSerName val="0"/>
              <c:showPercent val="0"/>
              <c:showBubbleSize val="0"/>
            </c:dLbl>
            <c:dLbl>
              <c:idx val="1"/>
              <c:tx>
                <c:rich>
                  <a:bodyPr/>
                  <a:lstStyle/>
                  <a:p>
                    <a:r>
                      <a:rPr sz="1100">
                        <a:solidFill>
                          <a:srgbClr val="FFFFFF"/>
                        </a:solidFill>
                        <a:latin typeface="Calibri"/>
                      </a:rPr>
                      <a:t>11%</a:t>
                    </a:r>
                  </a:p>
                </c:rich>
              </c:tx>
              <c:dLblPos val="ctr"/>
              <c:showLegendKey val="0"/>
              <c:showVal val="1"/>
              <c:showCatName val="0"/>
              <c:showSerName val="0"/>
              <c:showPercent val="0"/>
              <c:showBubbleSize val="0"/>
            </c:dLbl>
            <c:dLbl>
              <c:idx val="2"/>
              <c:tx>
                <c:rich>
                  <a:bodyPr/>
                  <a:lstStyle/>
                  <a:p>
                    <a:r>
                      <a:rPr sz="1100">
                        <a:solidFill>
                          <a:srgbClr val="FFFFFF"/>
                        </a:solidFill>
                        <a:latin typeface="Calibri"/>
                      </a:rPr>
                      <a:t>11%</a:t>
                    </a:r>
                  </a:p>
                </c:rich>
              </c:tx>
              <c:dLblPos val="ctr"/>
              <c:showLegendKey val="0"/>
              <c:showVal val="1"/>
              <c:showCatName val="0"/>
              <c:showSerName val="0"/>
              <c:showPercent val="0"/>
              <c:showBubbleSize val="0"/>
            </c:dLbl>
            <c:dLbl>
              <c:idx val="3"/>
              <c:tx>
                <c:rich>
                  <a:bodyPr/>
                  <a:lstStyle/>
                  <a:p>
                    <a:r>
                      <a:rPr sz="1100">
                        <a:solidFill>
                          <a:srgbClr val="FFFFFF"/>
                        </a:solidFill>
                        <a:latin typeface="Calibri"/>
                      </a:rPr>
                      <a:t>11%</a:t>
                    </a:r>
                  </a:p>
                </c:rich>
              </c:tx>
              <c:dLblPos val="ctr"/>
              <c:showLegendKey val="0"/>
              <c:showVal val="1"/>
              <c:showCatName val="0"/>
              <c:showSerName val="0"/>
              <c:showPercent val="0"/>
              <c:showBubbleSize val="0"/>
            </c:dLbl>
            <c:dLbl>
              <c:idx val="4"/>
              <c:tx>
                <c:rich>
                  <a:bodyPr/>
                  <a:lstStyle/>
                  <a:p>
                    <a:r>
                      <a:rPr sz="1100">
                        <a:solidFill>
                          <a:srgbClr val="FFFFFF"/>
                        </a:solidFill>
                        <a:latin typeface="Calibri"/>
                      </a:rPr>
                      <a:t>11%</a:t>
                    </a:r>
                  </a:p>
                </c:rich>
              </c:tx>
              <c:dLblPos val="ctr"/>
              <c:showLegendKey val="0"/>
              <c:showVal val="1"/>
              <c:showCatName val="0"/>
              <c:showSerName val="0"/>
              <c:showPercent val="0"/>
              <c:showBubbleSize val="0"/>
            </c:dLbl>
            <c:dLbl>
              <c:idx val="5"/>
              <c:tx>
                <c:rich>
                  <a:bodyPr/>
                  <a:lstStyle/>
                  <a:p>
                    <a:r>
                      <a:rPr sz="1100">
                        <a:solidFill>
                          <a:srgbClr val="FFFFFF"/>
                        </a:solidFill>
                        <a:latin typeface="Calibri"/>
                      </a:rPr>
                      <a:t>11%</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Middle East &amp; Africa  ·  15,718</c:v>
                </c:pt>
                <c:pt idx="1">
                  <c:v>Latin America  ·  16,618</c:v>
                </c:pt>
                <c:pt idx="2">
                  <c:v>South Asia &amp; Pacific  ·  32,687</c:v>
                </c:pt>
                <c:pt idx="3">
                  <c:v>Europe  ·  49,393</c:v>
                </c:pt>
                <c:pt idx="4">
                  <c:v>North America  ·  62,068</c:v>
                </c:pt>
                <c:pt idx="5">
                  <c:v>East Asia  ·  63,723</c:v>
                </c:pt>
              </c:strCache>
            </c:strRef>
          </c:cat>
          <c:val>
            <c:numRef>
              <c:f>Sheet1!$C$2:$C$7</c:f>
              <c:numCache>
                <c:formatCode>General</c:formatCode>
                <c:ptCount val="6"/>
                <c:pt idx="0">
                  <c:v>10.885799597999439</c:v>
                </c:pt>
                <c:pt idx="1">
                  <c:v>11.128990368669074</c:v>
                </c:pt>
                <c:pt idx="2">
                  <c:v>11.08176979357283</c:v>
                </c:pt>
                <c:pt idx="3">
                  <c:v>10.80184138557383</c:v>
                </c:pt>
                <c:pt idx="4">
                  <c:v>11.274002350746958</c:v>
                </c:pt>
                <c:pt idx="5">
                  <c:v>10.782066224212356</c:v>
                </c:pt>
              </c:numCache>
            </c:numRef>
          </c:val>
        </c:ser>
        <c:ser>
          <c:idx val="2"/>
          <c:order val="2"/>
          <c:tx>
            <c:strRef>
              <c:f>Sheet1!$D$1</c:f>
              <c:strCache>
                <c:ptCount val="1"/>
                <c:pt idx="0">
                  <c:v>Premade Pouches &amp; Bags</c:v>
                </c:pt>
              </c:strCache>
            </c:strRef>
          </c:tx>
          <c:spPr>
            <a:solidFill>
              <a:srgbClr val="008189"/>
            </a:solidFill>
            <a:ln>
              <a:noFill/>
            </a:ln>
          </c:spPr>
          <c:dLbls>
            <c:dLbl>
              <c:idx val="0"/>
              <c:tx>
                <c:rich>
                  <a:bodyPr/>
                  <a:lstStyle/>
                  <a:p>
                    <a:r>
                      <a:rPr sz="1100">
                        <a:solidFill>
                          <a:srgbClr val="FFFFFF"/>
                        </a:solidFill>
                        <a:latin typeface="Calibri"/>
                      </a:rPr>
                      <a:t>28%</a:t>
                    </a:r>
                  </a:p>
                </c:rich>
              </c:tx>
              <c:dLblPos val="ctr"/>
              <c:showLegendKey val="0"/>
              <c:showVal val="1"/>
              <c:showCatName val="0"/>
              <c:showSerName val="0"/>
              <c:showPercent val="0"/>
              <c:showBubbleSize val="0"/>
            </c:dLbl>
            <c:dLbl>
              <c:idx val="1"/>
              <c:tx>
                <c:rich>
                  <a:bodyPr/>
                  <a:lstStyle/>
                  <a:p>
                    <a:r>
                      <a:rPr sz="1100">
                        <a:solidFill>
                          <a:srgbClr val="FFFFFF"/>
                        </a:solidFill>
                        <a:latin typeface="Calibri"/>
                      </a:rPr>
                      <a:t>28%</a:t>
                    </a:r>
                  </a:p>
                </c:rich>
              </c:tx>
              <c:dLblPos val="ctr"/>
              <c:showLegendKey val="0"/>
              <c:showVal val="1"/>
              <c:showCatName val="0"/>
              <c:showSerName val="0"/>
              <c:showPercent val="0"/>
              <c:showBubbleSize val="0"/>
            </c:dLbl>
            <c:dLbl>
              <c:idx val="2"/>
              <c:tx>
                <c:rich>
                  <a:bodyPr/>
                  <a:lstStyle/>
                  <a:p>
                    <a:r>
                      <a:rPr sz="1100">
                        <a:solidFill>
                          <a:srgbClr val="FFFFFF"/>
                        </a:solidFill>
                        <a:latin typeface="Calibri"/>
                      </a:rPr>
                      <a:t>28%</a:t>
                    </a:r>
                  </a:p>
                </c:rich>
              </c:tx>
              <c:dLblPos val="ctr"/>
              <c:showLegendKey val="0"/>
              <c:showVal val="1"/>
              <c:showCatName val="0"/>
              <c:showSerName val="0"/>
              <c:showPercent val="0"/>
              <c:showBubbleSize val="0"/>
            </c:dLbl>
            <c:dLbl>
              <c:idx val="3"/>
              <c:tx>
                <c:rich>
                  <a:bodyPr/>
                  <a:lstStyle/>
                  <a:p>
                    <a:r>
                      <a:rPr sz="1100">
                        <a:solidFill>
                          <a:srgbClr val="FFFFFF"/>
                        </a:solidFill>
                        <a:latin typeface="Calibri"/>
                      </a:rPr>
                      <a:t>29%</a:t>
                    </a:r>
                  </a:p>
                </c:rich>
              </c:tx>
              <c:dLblPos val="ctr"/>
              <c:showLegendKey val="0"/>
              <c:showVal val="1"/>
              <c:showCatName val="0"/>
              <c:showSerName val="0"/>
              <c:showPercent val="0"/>
              <c:showBubbleSize val="0"/>
            </c:dLbl>
            <c:dLbl>
              <c:idx val="4"/>
              <c:tx>
                <c:rich>
                  <a:bodyPr/>
                  <a:lstStyle/>
                  <a:p>
                    <a:r>
                      <a:rPr sz="1100">
                        <a:solidFill>
                          <a:srgbClr val="FFFFFF"/>
                        </a:solidFill>
                        <a:latin typeface="Calibri"/>
                      </a:rPr>
                      <a:t>29%</a:t>
                    </a:r>
                  </a:p>
                </c:rich>
              </c:tx>
              <c:dLblPos val="ctr"/>
              <c:showLegendKey val="0"/>
              <c:showVal val="1"/>
              <c:showCatName val="0"/>
              <c:showSerName val="0"/>
              <c:showPercent val="0"/>
              <c:showBubbleSize val="0"/>
            </c:dLbl>
            <c:dLbl>
              <c:idx val="5"/>
              <c:tx>
                <c:rich>
                  <a:bodyPr/>
                  <a:lstStyle/>
                  <a:p>
                    <a:r>
                      <a:rPr sz="1100">
                        <a:solidFill>
                          <a:srgbClr val="FFFFFF"/>
                        </a:solidFill>
                        <a:latin typeface="Calibri"/>
                      </a:rPr>
                      <a:t>29%</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Middle East &amp; Africa  ·  15,718</c:v>
                </c:pt>
                <c:pt idx="1">
                  <c:v>Latin America  ·  16,618</c:v>
                </c:pt>
                <c:pt idx="2">
                  <c:v>South Asia &amp; Pacific  ·  32,687</c:v>
                </c:pt>
                <c:pt idx="3">
                  <c:v>Europe  ·  49,393</c:v>
                </c:pt>
                <c:pt idx="4">
                  <c:v>North America  ·  62,068</c:v>
                </c:pt>
                <c:pt idx="5">
                  <c:v>East Asia  ·  63,723</c:v>
                </c:pt>
              </c:strCache>
            </c:strRef>
          </c:cat>
          <c:val>
            <c:numRef>
              <c:f>Sheet1!$D$2:$D$7</c:f>
              <c:numCache>
                <c:formatCode>General</c:formatCode>
                <c:ptCount val="6"/>
                <c:pt idx="0">
                  <c:v>28.219659448495538</c:v>
                </c:pt>
                <c:pt idx="1">
                  <c:v>27.78872690914045</c:v>
                </c:pt>
                <c:pt idx="2">
                  <c:v>27.788981750260007</c:v>
                </c:pt>
                <c:pt idx="3">
                  <c:v>28.592222427851805</c:v>
                </c:pt>
                <c:pt idx="4">
                  <c:v>28.9782383756275</c:v>
                </c:pt>
                <c:pt idx="5">
                  <c:v>29.018633018708904</c:v>
                </c:pt>
              </c:numCache>
            </c:numRef>
          </c:val>
        </c:ser>
        <c:ser>
          <c:idx val="3"/>
          <c:order val="3"/>
          <c:tx>
            <c:strRef>
              <c:f>Sheet1!$E$1</c:f>
              <c:strCache>
                <c:ptCount val="1"/>
                <c:pt idx="0">
                  <c:v>Sachets &amp; Stick Packs</c:v>
                </c:pt>
              </c:strCache>
            </c:strRef>
          </c:tx>
          <c:spPr>
            <a:solidFill>
              <a:srgbClr val="40315E"/>
            </a:solidFill>
            <a:ln>
              <a:noFill/>
            </a:ln>
          </c:spPr>
          <c:dLbls>
            <c:dLbl>
              <c:idx val="0"/>
              <c:tx>
                <c:rich>
                  <a:bodyPr/>
                  <a:lstStyle/>
                  <a:p>
                    <a:r>
                      <a:rPr sz="1100">
                        <a:solidFill>
                          <a:srgbClr val="FFFFFF"/>
                        </a:solidFill>
                        <a:latin typeface="Calibri"/>
                      </a:rPr>
                      <a:t>7%</a:t>
                    </a:r>
                  </a:p>
                </c:rich>
              </c:tx>
              <c:dLblPos val="ctr"/>
              <c:showLegendKey val="0"/>
              <c:showVal val="1"/>
              <c:showCatName val="0"/>
              <c:showSerName val="0"/>
              <c:showPercent val="0"/>
              <c:showBubbleSize val="0"/>
            </c:dLbl>
            <c:dLbl>
              <c:idx val="2"/>
              <c:tx>
                <c:rich>
                  <a:bodyPr/>
                  <a:lstStyle/>
                  <a:p>
                    <a:r>
                      <a:rPr sz="1100">
                        <a:solidFill>
                          <a:srgbClr val="FFFFFF"/>
                        </a:solidFill>
                        <a:latin typeface="Calibri"/>
                      </a:rPr>
                      <a:t>7%</a:t>
                    </a:r>
                  </a:p>
                </c:rich>
              </c:tx>
              <c:dLblPos val="ctr"/>
              <c:showLegendKey val="0"/>
              <c:showVal val="1"/>
              <c:showCatName val="0"/>
              <c:showSerName val="0"/>
              <c:showPercent val="0"/>
              <c:showBubbleSize val="0"/>
            </c:dLbl>
            <c:dLbl>
              <c:idx val="4"/>
              <c:tx>
                <c:rich>
                  <a:bodyPr/>
                  <a:lstStyle/>
                  <a:p>
                    <a:r>
                      <a:rPr sz="1100">
                        <a:solidFill>
                          <a:srgbClr val="FFFFFF"/>
                        </a:solidFill>
                        <a:latin typeface="Calibri"/>
                      </a:rPr>
                      <a:t>7%</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Middle East &amp; Africa  ·  15,718</c:v>
                </c:pt>
                <c:pt idx="1">
                  <c:v>Latin America  ·  16,618</c:v>
                </c:pt>
                <c:pt idx="2">
                  <c:v>South Asia &amp; Pacific  ·  32,687</c:v>
                </c:pt>
                <c:pt idx="3">
                  <c:v>Europe  ·  49,393</c:v>
                </c:pt>
                <c:pt idx="4">
                  <c:v>North America  ·  62,068</c:v>
                </c:pt>
                <c:pt idx="5">
                  <c:v>East Asia  ·  63,723</c:v>
                </c:pt>
              </c:strCache>
            </c:strRef>
          </c:cat>
          <c:val>
            <c:numRef>
              <c:f>Sheet1!$E$2:$E$7</c:f>
              <c:numCache>
                <c:formatCode>General</c:formatCode>
                <c:ptCount val="6"/>
                <c:pt idx="0">
                  <c:v>7.014715124059174</c:v>
                </c:pt>
                <c:pt idx="1">
                  <c:v>6.935020408870626</c:v>
                </c:pt>
                <c:pt idx="2">
                  <c:v>7.003649580884817</c:v>
                </c:pt>
                <c:pt idx="3">
                  <c:v>6.840091565158908</c:v>
                </c:pt>
                <c:pt idx="4">
                  <c:v>7.07494503079215</c:v>
                </c:pt>
                <c:pt idx="5">
                  <c:v>6.452645540088192</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f>Sheet1!$B$1</c:f>
              <c:strCache>
                <c:ptCount val="1"/>
                <c:pt idx="0">
                  <c:v>Rollstock Films</c:v>
                </c:pt>
              </c:strCache>
            </c:strRef>
          </c:tx>
          <c:spPr>
            <a:solidFill>
              <a:srgbClr val="3D85C6"/>
            </a:solidFill>
          </c:spPr>
          <c:invertIfNegative val="0"/>
          <c:xVal>
            <c:numRef>
              <c:f>Sheet1!$A$2:$A$2</c:f>
              <c:numCache>
                <c:formatCode>General</c:formatCode>
                <c:ptCount val="1"/>
                <c:pt idx="0">
                  <c:v>99.23265567145155</c:v>
                </c:pt>
              </c:numCache>
            </c:numRef>
          </c:xVal>
          <c:yVal>
            <c:numRef>
              <c:f>Sheet1!$B$2:$B$2</c:f>
              <c:numCache>
                <c:formatCode>General</c:formatCode>
                <c:ptCount val="1"/>
                <c:pt idx="0">
                  <c:v>215.257993481224</c:v>
                </c:pt>
              </c:numCache>
            </c:numRef>
          </c:yVal>
          <c:bubbleSize>
            <c:numRef>
              <c:f>Sheet1!$C$2:$C$2</c:f>
              <c:numCache>
                <c:formatCode>General</c:formatCode>
                <c:ptCount val="1"/>
                <c:pt idx="0">
                  <c:v>128658.331</c:v>
                </c:pt>
              </c:numCache>
            </c:numRef>
          </c:bubbleSize>
          <c:bubble3D val="0"/>
        </c:ser>
        <c:ser>
          <c:idx val="1"/>
          <c:order val="1"/>
          <c:tx>
            <c:strRef>
              <c:f>Sheet1!$B$4</c:f>
              <c:strCache>
                <c:ptCount val="1"/>
                <c:pt idx="0">
                  <c:v>Barrier Casings</c:v>
                </c:pt>
              </c:strCache>
            </c:strRef>
          </c:tx>
          <c:spPr>
            <a:solidFill>
              <a:srgbClr val="9E7E0A"/>
            </a:solidFill>
          </c:spPr>
          <c:invertIfNegative val="0"/>
          <c:xVal>
            <c:numRef>
              <c:f>Sheet1!$A$5:$A$5</c:f>
              <c:numCache>
                <c:formatCode>General</c:formatCode>
                <c:ptCount val="1"/>
                <c:pt idx="0">
                  <c:v>100.54757058902948</c:v>
                </c:pt>
              </c:numCache>
            </c:numRef>
          </c:xVal>
          <c:yVal>
            <c:numRef>
              <c:f>Sheet1!$B$5:$B$5</c:f>
              <c:numCache>
                <c:formatCode>General</c:formatCode>
                <c:ptCount val="1"/>
                <c:pt idx="0">
                  <c:v>43.791601670339865</c:v>
                </c:pt>
              </c:numCache>
            </c:numRef>
          </c:yVal>
          <c:bubbleSize>
            <c:numRef>
              <c:f>Sheet1!$C$5:$C$5</c:f>
              <c:numCache>
                <c:formatCode>General</c:formatCode>
                <c:ptCount val="1"/>
                <c:pt idx="0">
                  <c:v>26386.453999999998</c:v>
                </c:pt>
              </c:numCache>
            </c:numRef>
          </c:bubbleSize>
          <c:bubble3D val="0"/>
        </c:ser>
        <c:ser>
          <c:idx val="2"/>
          <c:order val="2"/>
          <c:tx>
            <c:strRef>
              <c:f>Sheet1!$B$7</c:f>
              <c:strCache>
                <c:ptCount val="1"/>
                <c:pt idx="0">
                  <c:v>Premade Pouches &amp; Bags</c:v>
                </c:pt>
              </c:strCache>
            </c:strRef>
          </c:tx>
          <c:spPr>
            <a:solidFill>
              <a:srgbClr val="008189"/>
            </a:solidFill>
          </c:spPr>
          <c:invertIfNegative val="0"/>
          <c:xVal>
            <c:numRef>
              <c:f>Sheet1!$A$8:$A$8</c:f>
              <c:numCache>
                <c:formatCode>General</c:formatCode>
                <c:ptCount val="1"/>
                <c:pt idx="0">
                  <c:v>102.07616788642002</c:v>
                </c:pt>
              </c:numCache>
            </c:numRef>
          </c:xVal>
          <c:yVal>
            <c:numRef>
              <c:f>Sheet1!$B$8:$B$8</c:f>
              <c:numCache>
                <c:formatCode>General</c:formatCode>
                <c:ptCount val="1"/>
                <c:pt idx="0">
                  <c:v>113.01223288789886</c:v>
                </c:pt>
              </c:numCache>
            </c:numRef>
          </c:yVal>
          <c:bubbleSize>
            <c:numRef>
              <c:f>Sheet1!$C$8:$C$8</c:f>
              <c:numCache>
                <c:formatCode>General</c:formatCode>
                <c:ptCount val="1"/>
                <c:pt idx="0">
                  <c:v>68737.593</c:v>
                </c:pt>
              </c:numCache>
            </c:numRef>
          </c:bubbleSize>
          <c:bubble3D val="0"/>
        </c:ser>
        <c:ser>
          <c:idx val="3"/>
          <c:order val="3"/>
          <c:tx>
            <c:strRef>
              <c:f>Sheet1!$B$10</c:f>
              <c:strCache>
                <c:ptCount val="1"/>
                <c:pt idx="0">
                  <c:v>Sachets &amp; Stick Packs</c:v>
                </c:pt>
              </c:strCache>
            </c:strRef>
          </c:tx>
          <c:spPr>
            <a:solidFill>
              <a:srgbClr val="40315E"/>
            </a:solidFill>
          </c:spPr>
          <c:invertIfNegative val="0"/>
          <c:xVal>
            <c:numRef>
              <c:f>Sheet1!$A$11:$A$11</c:f>
              <c:numCache>
                <c:formatCode>General</c:formatCode>
                <c:ptCount val="1"/>
                <c:pt idx="0">
                  <c:v>96.5608826328467</c:v>
                </c:pt>
              </c:numCache>
            </c:numRef>
          </c:xVal>
          <c:yVal>
            <c:numRef>
              <c:f>Sheet1!$B$11:$B$11</c:f>
              <c:numCache>
                <c:formatCode>General</c:formatCode>
                <c:ptCount val="1"/>
                <c:pt idx="0">
                  <c:v>27.93817196053731</c:v>
                </c:pt>
              </c:numCache>
            </c:numRef>
          </c:yVal>
          <c:bubbleSize>
            <c:numRef>
              <c:f>Sheet1!$C$11:$C$11</c:f>
              <c:numCache>
                <c:formatCode>General</c:formatCode>
                <c:ptCount val="1"/>
                <c:pt idx="0">
                  <c:v>16426.033</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10.0"/>
          <c:min val="9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7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0.0</c:v>
                </c:pt>
                <c:pt idx="1">
                  <c:v>68530.772</c:v>
                </c:pt>
                <c:pt idx="2">
                  <c:v>76594.319</c:v>
                </c:pt>
                <c:pt idx="3">
                  <c:v>86535.241</c:v>
                </c:pt>
                <c:pt idx="4">
                  <c:v>98635.785</c:v>
                </c:pt>
                <c:pt idx="5">
                  <c:v>112751.099</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68530.772</c:v>
                </c:pt>
                <c:pt idx="1">
                  <c:v>8063.547000000006</c:v>
                </c:pt>
                <c:pt idx="2">
                  <c:v>9940.921999999991</c:v>
                </c:pt>
                <c:pt idx="3">
                  <c:v>12100.544000000009</c:v>
                </c:pt>
                <c:pt idx="4">
                  <c:v>14115.313999999998</c:v>
                </c:pt>
                <c:pt idx="5">
                  <c:v>15907.232000000004</c:v>
                </c:pt>
                <c:pt idx="6">
                  <c:v>128658.331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0.0</c:v>
                </c:pt>
                <c:pt idx="1">
                  <c:v>13941.746</c:v>
                </c:pt>
                <c:pt idx="2">
                  <c:v>15593.4</c:v>
                </c:pt>
                <c:pt idx="3">
                  <c:v>17634.593</c:v>
                </c:pt>
                <c:pt idx="4">
                  <c:v>20147.945</c:v>
                </c:pt>
                <c:pt idx="5">
                  <c:v>23076.798</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13941.746</c:v>
                </c:pt>
                <c:pt idx="1">
                  <c:v>1651.6540000000005</c:v>
                </c:pt>
                <c:pt idx="2">
                  <c:v>2041.1930000000011</c:v>
                </c:pt>
                <c:pt idx="3">
                  <c:v>2513.351999999999</c:v>
                </c:pt>
                <c:pt idx="4">
                  <c:v>2928.852999999999</c:v>
                </c:pt>
                <c:pt idx="5">
                  <c:v>3309.655999999999</c:v>
                </c:pt>
                <c:pt idx="6">
                  <c:v>26386.453999999998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0.0</c:v>
                </c:pt>
                <c:pt idx="1">
                  <c:v>35979.224</c:v>
                </c:pt>
                <c:pt idx="2">
                  <c:v>40347.012</c:v>
                </c:pt>
                <c:pt idx="3">
                  <c:v>45740.574</c:v>
                </c:pt>
                <c:pt idx="4">
                  <c:v>52312.788</c:v>
                </c:pt>
                <c:pt idx="5">
                  <c:v>60009.082</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35979.224</c:v>
                </c:pt>
                <c:pt idx="1">
                  <c:v>4367.7880000000005</c:v>
                </c:pt>
                <c:pt idx="2">
                  <c:v>5393.561999999998</c:v>
                </c:pt>
                <c:pt idx="3">
                  <c:v>6572.214</c:v>
                </c:pt>
                <c:pt idx="4">
                  <c:v>7696.294000000002</c:v>
                </c:pt>
                <c:pt idx="5">
                  <c:v>8728.510999999991</c:v>
                </c:pt>
                <c:pt idx="6">
                  <c:v>68737.593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0.0</c:v>
                </c:pt>
                <c:pt idx="1">
                  <c:v>8894.557</c:v>
                </c:pt>
                <c:pt idx="2">
                  <c:v>9895.541</c:v>
                </c:pt>
                <c:pt idx="3">
                  <c:v>11149.131</c:v>
                </c:pt>
                <c:pt idx="4">
                  <c:v>12661.502</c:v>
                </c:pt>
                <c:pt idx="5">
                  <c:v>14428.433</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8894.557</c:v>
                </c:pt>
                <c:pt idx="1">
                  <c:v>1000.9839999999986</c:v>
                </c:pt>
                <c:pt idx="2">
                  <c:v>1253.5900000000001</c:v>
                </c:pt>
                <c:pt idx="3">
                  <c:v>1512.371000000001</c:v>
                </c:pt>
                <c:pt idx="4">
                  <c:v>1766.9310000000005</c:v>
                </c:pt>
                <c:pt idx="5">
                  <c:v>1997.5999999999985</c:v>
                </c:pt>
                <c:pt idx="6">
                  <c:v>16426.033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Rollstock Films</c:v>
                </c:pt>
              </c:strCache>
            </c:strRef>
          </c:tx>
          <c:spPr>
            <a:solidFill>
              <a:srgbClr val="3D85C6"/>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53.94171322095045</c:v>
                </c:pt>
                <c:pt idx="1">
                  <c:v>53.814498370306</c:v>
                </c:pt>
                <c:pt idx="2">
                  <c:v>53.56112655022726</c:v>
                </c:pt>
              </c:numCache>
            </c:numRef>
          </c:val>
        </c:ser>
        <c:ser>
          <c:idx val="1"/>
          <c:order val="1"/>
          <c:tx>
            <c:strRef>
              <c:f>Sheet1!$C$1</c:f>
              <c:strCache>
                <c:ptCount val="1"/>
                <c:pt idx="0">
                  <c:v>Premade Pouches &amp; Bags</c:v>
                </c:pt>
              </c:strCache>
            </c:strRef>
          </c:tx>
          <c:spPr>
            <a:solidFill>
              <a:srgbClr val="9E7E0A"/>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28.061785952272643</c:v>
                </c:pt>
                <c:pt idx="1">
                  <c:v>28.253058221974715</c:v>
                </c:pt>
                <c:pt idx="2">
                  <c:v>28.615814372961317</c:v>
                </c:pt>
              </c:numCache>
            </c:numRef>
          </c:val>
        </c:ser>
        <c:ser>
          <c:idx val="2"/>
          <c:order val="2"/>
          <c:tx>
            <c:strRef>
              <c:f>Sheet1!$D$1</c:f>
              <c:strCache>
                <c:ptCount val="1"/>
                <c:pt idx="0">
                  <c:v>Barrier Casings</c:v>
                </c:pt>
              </c:strCache>
            </c:strRef>
          </c:tx>
          <c:spPr>
            <a:solidFill>
              <a:srgbClr val="008189"/>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10.921164194947707</c:v>
                </c:pt>
                <c:pt idx="1">
                  <c:v>10.947900417584966</c:v>
                </c:pt>
                <c:pt idx="2">
                  <c:v>10.984816847233546</c:v>
                </c:pt>
              </c:numCache>
            </c:numRef>
          </c:val>
        </c:ser>
        <c:ser>
          <c:idx val="3"/>
          <c:order val="3"/>
          <c:tx>
            <c:strRef>
              <c:f>Sheet1!$E$1</c:f>
              <c:strCache>
                <c:ptCount val="1"/>
                <c:pt idx="0">
                  <c:v>Sachets &amp; Stick Packs</c:v>
                </c:pt>
              </c:strCache>
            </c:strRef>
          </c:tx>
          <c:spPr>
            <a:solidFill>
              <a:srgbClr val="40315E"/>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7.075336631829194</c:v>
                </c:pt>
                <c:pt idx="1">
                  <c:v>6.984542990134328</c:v>
                </c:pt>
                <c:pt idx="2">
                  <c:v>6.838242229577881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PE-Based</c:v>
                </c:pt>
              </c:strCache>
            </c:strRef>
          </c:tx>
          <c:spPr>
            <a:solidFill>
              <a:srgbClr val="3D85C6"/>
            </a:solidFill>
            <a:ln>
              <a:noFill/>
            </a:ln>
          </c:spPr>
          <c:dLbls>
            <c:dLbl>
              <c:idx val="0"/>
              <c:tx>
                <c:rich>
                  <a:bodyPr/>
                  <a:lstStyle/>
                  <a:p>
                    <a:r>
                      <a:rPr sz="1100">
                        <a:solidFill>
                          <a:srgbClr val="FFFFFF"/>
                        </a:solidFill>
                        <a:latin typeface="Calibri"/>
                      </a:rPr>
                      <a:t>32%</a:t>
                    </a:r>
                  </a:p>
                </c:rich>
              </c:tx>
              <c:dLblPos val="ctr"/>
              <c:showLegendKey val="0"/>
              <c:showVal val="1"/>
              <c:showCatName val="0"/>
              <c:showSerName val="0"/>
              <c:showPercent val="0"/>
              <c:showBubbleSize val="0"/>
            </c:dLbl>
            <c:dLbl>
              <c:idx val="1"/>
              <c:tx>
                <c:rich>
                  <a:bodyPr/>
                  <a:lstStyle/>
                  <a:p>
                    <a:r>
                      <a:rPr sz="1100">
                        <a:solidFill>
                          <a:srgbClr val="FFFFFF"/>
                        </a:solidFill>
                        <a:latin typeface="Calibri"/>
                      </a:rPr>
                      <a:t>31%</a:t>
                    </a:r>
                  </a:p>
                </c:rich>
              </c:tx>
              <c:dLblPos val="ctr"/>
              <c:showLegendKey val="0"/>
              <c:showVal val="1"/>
              <c:showCatName val="0"/>
              <c:showSerName val="0"/>
              <c:showPercent val="0"/>
              <c:showBubbleSize val="0"/>
            </c:dLbl>
            <c:dLbl>
              <c:idx val="2"/>
              <c:tx>
                <c:rich>
                  <a:bodyPr/>
                  <a:lstStyle/>
                  <a:p>
                    <a:r>
                      <a:rPr sz="1100">
                        <a:solidFill>
                          <a:srgbClr val="FFFFFF"/>
                        </a:solidFill>
                        <a:latin typeface="Calibri"/>
                      </a:rPr>
                      <a:t>31%</a:t>
                    </a:r>
                  </a:p>
                </c:rich>
              </c:tx>
              <c:dLblPos val="ctr"/>
              <c:showLegendKey val="0"/>
              <c:showVal val="1"/>
              <c:showCatName val="0"/>
              <c:showSerName val="0"/>
              <c:showPercent val="0"/>
              <c:showBubbleSize val="0"/>
            </c:dLbl>
            <c:dLbl>
              <c:idx val="3"/>
              <c:tx>
                <c:rich>
                  <a:bodyPr/>
                  <a:lstStyle/>
                  <a:p>
                    <a:r>
                      <a:rPr sz="1100">
                        <a:solidFill>
                          <a:srgbClr val="FFFFFF"/>
                        </a:solidFill>
                        <a:latin typeface="Calibri"/>
                      </a:rPr>
                      <a:t>32%</a:t>
                    </a:r>
                  </a:p>
                </c:rich>
              </c:tx>
              <c:dLblPos val="ctr"/>
              <c:showLegendKey val="0"/>
              <c:showVal val="1"/>
              <c:showCatName val="0"/>
              <c:showSerName val="0"/>
              <c:showPercent val="0"/>
              <c:showBubbleSize val="0"/>
            </c:dLbl>
            <c:dLbl>
              <c:idx val="4"/>
              <c:tx>
                <c:rich>
                  <a:bodyPr/>
                  <a:lstStyle/>
                  <a:p>
                    <a:r>
                      <a:rPr sz="1100">
                        <a:solidFill>
                          <a:srgbClr val="FFFFFF"/>
                        </a:solidFill>
                        <a:latin typeface="Calibri"/>
                      </a:rPr>
                      <a:t>31%</a:t>
                    </a:r>
                  </a:p>
                </c:rich>
              </c:tx>
              <c:dLblPos val="ctr"/>
              <c:showLegendKey val="0"/>
              <c:showVal val="1"/>
              <c:showCatName val="0"/>
              <c:showSerName val="0"/>
              <c:showPercent val="0"/>
              <c:showBubbleSize val="0"/>
            </c:dLbl>
            <c:dLbl>
              <c:idx val="5"/>
              <c:tx>
                <c:rich>
                  <a:bodyPr/>
                  <a:lstStyle/>
                  <a:p>
                    <a:r>
                      <a:rPr sz="1100">
                        <a:solidFill>
                          <a:srgbClr val="FFFFFF"/>
                        </a:solidFill>
                        <a:latin typeface="Calibri"/>
                      </a:rPr>
                      <a:t>30%</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Middle East &amp; Africa  ·  15,718</c:v>
                </c:pt>
                <c:pt idx="1">
                  <c:v>Latin America  ·  16,618</c:v>
                </c:pt>
                <c:pt idx="2">
                  <c:v>South Asia &amp; Pacific  ·  32,687</c:v>
                </c:pt>
                <c:pt idx="3">
                  <c:v>Europe  ·  49,393</c:v>
                </c:pt>
                <c:pt idx="4">
                  <c:v>North America  ·  62,068</c:v>
                </c:pt>
                <c:pt idx="5">
                  <c:v>East Asia  ·  63,723</c:v>
                </c:pt>
              </c:strCache>
            </c:strRef>
          </c:cat>
          <c:val>
            <c:numRef>
              <c:f>Sheet1!$B$2:$B$7</c:f>
              <c:numCache>
                <c:formatCode>General</c:formatCode>
                <c:ptCount val="6"/>
                <c:pt idx="0">
                  <c:v>31.645723676718458</c:v>
                </c:pt>
                <c:pt idx="1">
                  <c:v>30.84188993255313</c:v>
                </c:pt>
                <c:pt idx="2">
                  <c:v>30.913059087294265</c:v>
                </c:pt>
                <c:pt idx="3">
                  <c:v>31.79022534802588</c:v>
                </c:pt>
                <c:pt idx="4">
                  <c:v>31.344952817181028</c:v>
                </c:pt>
                <c:pt idx="5">
                  <c:v>30.425584512486438</c:v>
                </c:pt>
              </c:numCache>
            </c:numRef>
          </c:val>
        </c:ser>
        <c:ser>
          <c:idx val="1"/>
          <c:order val="1"/>
          <c:tx>
            <c:strRef>
              <c:f>Sheet1!$C$1</c:f>
              <c:strCache>
                <c:ptCount val="1"/>
                <c:pt idx="0">
                  <c:v>PP-Based</c:v>
                </c:pt>
              </c:strCache>
            </c:strRef>
          </c:tx>
          <c:spPr>
            <a:solidFill>
              <a:srgbClr val="9E7E0A"/>
            </a:solidFill>
            <a:ln>
              <a:noFill/>
            </a:ln>
          </c:spPr>
          <c:dLbls>
            <c:dLbl>
              <c:idx val="0"/>
              <c:tx>
                <c:rich>
                  <a:bodyPr/>
                  <a:lstStyle/>
                  <a:p>
                    <a:r>
                      <a:rPr sz="1100">
                        <a:solidFill>
                          <a:srgbClr val="FFFFFF"/>
                        </a:solidFill>
                        <a:latin typeface="Calibri"/>
                      </a:rPr>
                      <a:t>20%</a:t>
                    </a:r>
                  </a:p>
                </c:rich>
              </c:tx>
              <c:dLblPos val="ctr"/>
              <c:showLegendKey val="0"/>
              <c:showVal val="1"/>
              <c:showCatName val="0"/>
              <c:showSerName val="0"/>
              <c:showPercent val="0"/>
              <c:showBubbleSize val="0"/>
            </c:dLbl>
            <c:dLbl>
              <c:idx val="1"/>
              <c:tx>
                <c:rich>
                  <a:bodyPr/>
                  <a:lstStyle/>
                  <a:p>
                    <a:r>
                      <a:rPr sz="1100">
                        <a:solidFill>
                          <a:srgbClr val="FFFFFF"/>
                        </a:solidFill>
                        <a:latin typeface="Calibri"/>
                      </a:rPr>
                      <a:t>20%</a:t>
                    </a:r>
                  </a:p>
                </c:rich>
              </c:tx>
              <c:dLblPos val="ctr"/>
              <c:showLegendKey val="0"/>
              <c:showVal val="1"/>
              <c:showCatName val="0"/>
              <c:showSerName val="0"/>
              <c:showPercent val="0"/>
              <c:showBubbleSize val="0"/>
            </c:dLbl>
            <c:dLbl>
              <c:idx val="2"/>
              <c:tx>
                <c:rich>
                  <a:bodyPr/>
                  <a:lstStyle/>
                  <a:p>
                    <a:r>
                      <a:rPr sz="1100">
                        <a:solidFill>
                          <a:srgbClr val="FFFFFF"/>
                        </a:solidFill>
                        <a:latin typeface="Calibri"/>
                      </a:rPr>
                      <a:t>21%</a:t>
                    </a:r>
                  </a:p>
                </c:rich>
              </c:tx>
              <c:dLblPos val="ctr"/>
              <c:showLegendKey val="0"/>
              <c:showVal val="1"/>
              <c:showCatName val="0"/>
              <c:showSerName val="0"/>
              <c:showPercent val="0"/>
              <c:showBubbleSize val="0"/>
            </c:dLbl>
            <c:dLbl>
              <c:idx val="3"/>
              <c:tx>
                <c:rich>
                  <a:bodyPr/>
                  <a:lstStyle/>
                  <a:p>
                    <a:r>
                      <a:rPr sz="1100">
                        <a:solidFill>
                          <a:srgbClr val="FFFFFF"/>
                        </a:solidFill>
                        <a:latin typeface="Calibri"/>
                      </a:rPr>
                      <a:t>20%</a:t>
                    </a:r>
                  </a:p>
                </c:rich>
              </c:tx>
              <c:dLblPos val="ctr"/>
              <c:showLegendKey val="0"/>
              <c:showVal val="1"/>
              <c:showCatName val="0"/>
              <c:showSerName val="0"/>
              <c:showPercent val="0"/>
              <c:showBubbleSize val="0"/>
            </c:dLbl>
            <c:dLbl>
              <c:idx val="4"/>
              <c:tx>
                <c:rich>
                  <a:bodyPr/>
                  <a:lstStyle/>
                  <a:p>
                    <a:r>
                      <a:rPr sz="1100">
                        <a:solidFill>
                          <a:srgbClr val="FFFFFF"/>
                        </a:solidFill>
                        <a:latin typeface="Calibri"/>
                      </a:rPr>
                      <a:t>20%</a:t>
                    </a:r>
                  </a:p>
                </c:rich>
              </c:tx>
              <c:dLblPos val="ctr"/>
              <c:showLegendKey val="0"/>
              <c:showVal val="1"/>
              <c:showCatName val="0"/>
              <c:showSerName val="0"/>
              <c:showPercent val="0"/>
              <c:showBubbleSize val="0"/>
            </c:dLbl>
            <c:dLbl>
              <c:idx val="5"/>
              <c:tx>
                <c:rich>
                  <a:bodyPr/>
                  <a:lstStyle/>
                  <a:p>
                    <a:r>
                      <a:rPr sz="1100">
                        <a:solidFill>
                          <a:srgbClr val="FFFFFF"/>
                        </a:solidFill>
                        <a:latin typeface="Calibri"/>
                      </a:rPr>
                      <a:t>21%</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Middle East &amp; Africa  ·  15,718</c:v>
                </c:pt>
                <c:pt idx="1">
                  <c:v>Latin America  ·  16,618</c:v>
                </c:pt>
                <c:pt idx="2">
                  <c:v>South Asia &amp; Pacific  ·  32,687</c:v>
                </c:pt>
                <c:pt idx="3">
                  <c:v>Europe  ·  49,393</c:v>
                </c:pt>
                <c:pt idx="4">
                  <c:v>North America  ·  62,068</c:v>
                </c:pt>
                <c:pt idx="5">
                  <c:v>East Asia  ·  63,723</c:v>
                </c:pt>
              </c:strCache>
            </c:strRef>
          </c:cat>
          <c:val>
            <c:numRef>
              <c:f>Sheet1!$C$2:$C$7</c:f>
              <c:numCache>
                <c:formatCode>General</c:formatCode>
                <c:ptCount val="6"/>
                <c:pt idx="0">
                  <c:v>19.55348977942137</c:v>
                </c:pt>
                <c:pt idx="1">
                  <c:v>20.35235326912888</c:v>
                </c:pt>
                <c:pt idx="2">
                  <c:v>20.558617310721303</c:v>
                </c:pt>
                <c:pt idx="3">
                  <c:v>20.023909450205334</c:v>
                </c:pt>
                <c:pt idx="4">
                  <c:v>20.251786381411904</c:v>
                </c:pt>
                <c:pt idx="5">
                  <c:v>20.520083261605464</c:v>
                </c:pt>
              </c:numCache>
            </c:numRef>
          </c:val>
        </c:ser>
        <c:ser>
          <c:idx val="2"/>
          <c:order val="2"/>
          <c:tx>
            <c:strRef>
              <c:f>Sheet1!$D$1</c:f>
              <c:strCache>
                <c:ptCount val="1"/>
                <c:pt idx="0">
                  <c:v>PET-Based</c:v>
                </c:pt>
              </c:strCache>
            </c:strRef>
          </c:tx>
          <c:spPr>
            <a:solidFill>
              <a:srgbClr val="008189"/>
            </a:solidFill>
            <a:ln>
              <a:noFill/>
            </a:ln>
          </c:spPr>
          <c:dLbls>
            <c:dLbl>
              <c:idx val="0"/>
              <c:tx>
                <c:rich>
                  <a:bodyPr/>
                  <a:lstStyle/>
                  <a:p>
                    <a:r>
                      <a:rPr sz="1100">
                        <a:solidFill>
                          <a:srgbClr val="FFFFFF"/>
                        </a:solidFill>
                        <a:latin typeface="Calibri"/>
                      </a:rPr>
                      <a:t>10%</a:t>
                    </a:r>
                  </a:p>
                </c:rich>
              </c:tx>
              <c:dLblPos val="ctr"/>
              <c:showLegendKey val="0"/>
              <c:showVal val="1"/>
              <c:showCatName val="0"/>
              <c:showSerName val="0"/>
              <c:showPercent val="0"/>
              <c:showBubbleSize val="0"/>
            </c:dLbl>
            <c:dLbl>
              <c:idx val="1"/>
              <c:tx>
                <c:rich>
                  <a:bodyPr/>
                  <a:lstStyle/>
                  <a:p>
                    <a:r>
                      <a:rPr sz="1100">
                        <a:solidFill>
                          <a:srgbClr val="FFFFFF"/>
                        </a:solidFill>
                        <a:latin typeface="Calibri"/>
                      </a:rPr>
                      <a:t>10%</a:t>
                    </a:r>
                  </a:p>
                </c:rich>
              </c:tx>
              <c:dLblPos val="ctr"/>
              <c:showLegendKey val="0"/>
              <c:showVal val="1"/>
              <c:showCatName val="0"/>
              <c:showSerName val="0"/>
              <c:showPercent val="0"/>
              <c:showBubbleSize val="0"/>
            </c:dLbl>
            <c:dLbl>
              <c:idx val="2"/>
              <c:tx>
                <c:rich>
                  <a:bodyPr/>
                  <a:lstStyle/>
                  <a:p>
                    <a:r>
                      <a:rPr sz="1100">
                        <a:solidFill>
                          <a:srgbClr val="FFFFFF"/>
                        </a:solidFill>
                        <a:latin typeface="Calibri"/>
                      </a:rPr>
                      <a:t>10%</a:t>
                    </a:r>
                  </a:p>
                </c:rich>
              </c:tx>
              <c:dLblPos val="ctr"/>
              <c:showLegendKey val="0"/>
              <c:showVal val="1"/>
              <c:showCatName val="0"/>
              <c:showSerName val="0"/>
              <c:showPercent val="0"/>
              <c:showBubbleSize val="0"/>
            </c:dLbl>
            <c:dLbl>
              <c:idx val="3"/>
              <c:tx>
                <c:rich>
                  <a:bodyPr/>
                  <a:lstStyle/>
                  <a:p>
                    <a:r>
                      <a:rPr sz="1100">
                        <a:solidFill>
                          <a:srgbClr val="FFFFFF"/>
                        </a:solidFill>
                        <a:latin typeface="Calibri"/>
                      </a:rPr>
                      <a:t>10%</a:t>
                    </a:r>
                  </a:p>
                </c:rich>
              </c:tx>
              <c:dLblPos val="ctr"/>
              <c:showLegendKey val="0"/>
              <c:showVal val="1"/>
              <c:showCatName val="0"/>
              <c:showSerName val="0"/>
              <c:showPercent val="0"/>
              <c:showBubbleSize val="0"/>
            </c:dLbl>
            <c:dLbl>
              <c:idx val="4"/>
              <c:tx>
                <c:rich>
                  <a:bodyPr/>
                  <a:lstStyle/>
                  <a:p>
                    <a:r>
                      <a:rPr sz="1100">
                        <a:solidFill>
                          <a:srgbClr val="FFFFFF"/>
                        </a:solidFill>
                        <a:latin typeface="Calibri"/>
                      </a:rPr>
                      <a:t>10%</a:t>
                    </a:r>
                  </a:p>
                </c:rich>
              </c:tx>
              <c:dLblPos val="ctr"/>
              <c:showLegendKey val="0"/>
              <c:showVal val="1"/>
              <c:showCatName val="0"/>
              <c:showSerName val="0"/>
              <c:showPercent val="0"/>
              <c:showBubbleSize val="0"/>
            </c:dLbl>
            <c:dLbl>
              <c:idx val="5"/>
              <c:tx>
                <c:rich>
                  <a:bodyPr/>
                  <a:lstStyle/>
                  <a:p>
                    <a:r>
                      <a:rPr sz="1100">
                        <a:solidFill>
                          <a:srgbClr val="FFFFFF"/>
                        </a:solidFill>
                        <a:latin typeface="Calibri"/>
                      </a:rPr>
                      <a:t>10%</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Middle East &amp; Africa  ·  15,718</c:v>
                </c:pt>
                <c:pt idx="1">
                  <c:v>Latin America  ·  16,618</c:v>
                </c:pt>
                <c:pt idx="2">
                  <c:v>South Asia &amp; Pacific  ·  32,687</c:v>
                </c:pt>
                <c:pt idx="3">
                  <c:v>Europe  ·  49,393</c:v>
                </c:pt>
                <c:pt idx="4">
                  <c:v>North America  ·  62,068</c:v>
                </c:pt>
                <c:pt idx="5">
                  <c:v>East Asia  ·  63,723</c:v>
                </c:pt>
              </c:strCache>
            </c:strRef>
          </c:cat>
          <c:val>
            <c:numRef>
              <c:f>Sheet1!$D$2:$D$7</c:f>
              <c:numCache>
                <c:formatCode>General</c:formatCode>
                <c:ptCount val="6"/>
                <c:pt idx="0">
                  <c:v>10.366312419099517</c:v>
                </c:pt>
                <c:pt idx="1">
                  <c:v>10.157089202753717</c:v>
                </c:pt>
                <c:pt idx="2">
                  <c:v>9.939684553472809</c:v>
                </c:pt>
                <c:pt idx="3">
                  <c:v>9.981640726497764</c:v>
                </c:pt>
                <c:pt idx="4">
                  <c:v>9.885459048321444</c:v>
                </c:pt>
                <c:pt idx="5">
                  <c:v>10.259785053514568</c:v>
                </c:pt>
              </c:numCache>
            </c:numRef>
          </c:val>
        </c:ser>
        <c:ser>
          <c:idx val="3"/>
          <c:order val="3"/>
          <c:tx>
            <c:strRef>
              <c:f>Sheet1!$E$1</c:f>
              <c:strCache>
                <c:ptCount val="1"/>
                <c:pt idx="0">
                  <c:v>PA-Based</c:v>
                </c:pt>
              </c:strCache>
            </c:strRef>
          </c:tx>
          <c:spPr>
            <a:solidFill>
              <a:srgbClr val="40315E"/>
            </a:solidFill>
            <a:ln>
              <a:noFill/>
            </a:ln>
          </c:spPr>
          <c:dLbls>
            <c:dLbl>
              <c:idx val="0"/>
              <c:tx>
                <c:rich>
                  <a:bodyPr/>
                  <a:lstStyle/>
                  <a:p>
                    <a:r>
                      <a:rPr sz="1100">
                        <a:solidFill>
                          <a:srgbClr val="FFFFFF"/>
                        </a:solidFill>
                        <a:latin typeface="Calibri"/>
                      </a:rPr>
                      <a:t>8%</a:t>
                    </a:r>
                  </a:p>
                </c:rich>
              </c:tx>
              <c:dLblPos val="ctr"/>
              <c:showLegendKey val="0"/>
              <c:showVal val="1"/>
              <c:showCatName val="0"/>
              <c:showSerName val="0"/>
              <c:showPercent val="0"/>
              <c:showBubbleSize val="0"/>
            </c:dLbl>
            <c:dLbl>
              <c:idx val="1"/>
              <c:tx>
                <c:rich>
                  <a:bodyPr/>
                  <a:lstStyle/>
                  <a:p>
                    <a:r>
                      <a:rPr sz="1100">
                        <a:solidFill>
                          <a:srgbClr val="FFFFFF"/>
                        </a:solidFill>
                        <a:latin typeface="Calibri"/>
                      </a:rPr>
                      <a:t>8%</a:t>
                    </a:r>
                  </a:p>
                </c:rich>
              </c:tx>
              <c:dLblPos val="ctr"/>
              <c:showLegendKey val="0"/>
              <c:showVal val="1"/>
              <c:showCatName val="0"/>
              <c:showSerName val="0"/>
              <c:showPercent val="0"/>
              <c:showBubbleSize val="0"/>
            </c:dLbl>
            <c:dLbl>
              <c:idx val="2"/>
              <c:tx>
                <c:rich>
                  <a:bodyPr/>
                  <a:lstStyle/>
                  <a:p>
                    <a:r>
                      <a:rPr sz="1100">
                        <a:solidFill>
                          <a:srgbClr val="FFFFFF"/>
                        </a:solidFill>
                        <a:latin typeface="Calibri"/>
                      </a:rPr>
                      <a:t>8%</a:t>
                    </a:r>
                  </a:p>
                </c:rich>
              </c:tx>
              <c:dLblPos val="ctr"/>
              <c:showLegendKey val="0"/>
              <c:showVal val="1"/>
              <c:showCatName val="0"/>
              <c:showSerName val="0"/>
              <c:showPercent val="0"/>
              <c:showBubbleSize val="0"/>
            </c:dLbl>
            <c:dLbl>
              <c:idx val="3"/>
              <c:tx>
                <c:rich>
                  <a:bodyPr/>
                  <a:lstStyle/>
                  <a:p>
                    <a:r>
                      <a:rPr sz="1100">
                        <a:solidFill>
                          <a:srgbClr val="FFFFFF"/>
                        </a:solidFill>
                        <a:latin typeface="Calibri"/>
                      </a:rPr>
                      <a:t>8%</a:t>
                    </a:r>
                  </a:p>
                </c:rich>
              </c:tx>
              <c:dLblPos val="ctr"/>
              <c:showLegendKey val="0"/>
              <c:showVal val="1"/>
              <c:showCatName val="0"/>
              <c:showSerName val="0"/>
              <c:showPercent val="0"/>
              <c:showBubbleSize val="0"/>
            </c:dLbl>
            <c:dLbl>
              <c:idx val="4"/>
              <c:tx>
                <c:rich>
                  <a:bodyPr/>
                  <a:lstStyle/>
                  <a:p>
                    <a:r>
                      <a:rPr sz="1100">
                        <a:solidFill>
                          <a:srgbClr val="FFFFFF"/>
                        </a:solidFill>
                        <a:latin typeface="Calibri"/>
                      </a:rPr>
                      <a:t>8%</a:t>
                    </a:r>
                  </a:p>
                </c:rich>
              </c:tx>
              <c:dLblPos val="ctr"/>
              <c:showLegendKey val="0"/>
              <c:showVal val="1"/>
              <c:showCatName val="0"/>
              <c:showSerName val="0"/>
              <c:showPercent val="0"/>
              <c:showBubbleSize val="0"/>
            </c:dLbl>
            <c:dLbl>
              <c:idx val="5"/>
              <c:tx>
                <c:rich>
                  <a:bodyPr/>
                  <a:lstStyle/>
                  <a:p>
                    <a:r>
                      <a:rPr sz="1100">
                        <a:solidFill>
                          <a:srgbClr val="FFFFFF"/>
                        </a:solidFill>
                        <a:latin typeface="Calibri"/>
                      </a:rPr>
                      <a:t>8%</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Middle East &amp; Africa  ·  15,718</c:v>
                </c:pt>
                <c:pt idx="1">
                  <c:v>Latin America  ·  16,618</c:v>
                </c:pt>
                <c:pt idx="2">
                  <c:v>South Asia &amp; Pacific  ·  32,687</c:v>
                </c:pt>
                <c:pt idx="3">
                  <c:v>Europe  ·  49,393</c:v>
                </c:pt>
                <c:pt idx="4">
                  <c:v>North America  ·  62,068</c:v>
                </c:pt>
                <c:pt idx="5">
                  <c:v>East Asia  ·  63,723</c:v>
                </c:pt>
              </c:strCache>
            </c:strRef>
          </c:cat>
          <c:val>
            <c:numRef>
              <c:f>Sheet1!$E$2:$E$7</c:f>
              <c:numCache>
                <c:formatCode>General</c:formatCode>
                <c:ptCount val="6"/>
                <c:pt idx="0">
                  <c:v>7.859541049570865</c:v>
                </c:pt>
                <c:pt idx="1">
                  <c:v>8.22432426008371</c:v>
                </c:pt>
                <c:pt idx="2">
                  <c:v>8.311738054961078</c:v>
                </c:pt>
                <c:pt idx="3">
                  <c:v>8.104025301387713</c:v>
                </c:pt>
                <c:pt idx="4">
                  <c:v>8.175353739834607</c:v>
                </c:pt>
                <c:pt idx="5">
                  <c:v>8.183390586162036</c:v>
                </c:pt>
              </c:numCache>
            </c:numRef>
          </c:val>
        </c:ser>
        <c:ser>
          <c:idx val="4"/>
          <c:order val="4"/>
          <c:tx>
            <c:strRef>
              <c:f>Sheet1!$F$1</c:f>
              <c:strCache>
                <c:ptCount val="1"/>
                <c:pt idx="0">
                  <c:v>EVOH-Based</c:v>
                </c:pt>
              </c:strCache>
            </c:strRef>
          </c:tx>
          <c:spPr>
            <a:solidFill>
              <a:srgbClr val="A35313"/>
            </a:solidFill>
            <a:ln>
              <a:noFill/>
            </a:ln>
          </c:spPr>
          <c:dLbls>
            <c:dLbl>
              <c:idx val="0"/>
              <c:tx>
                <c:rich>
                  <a:bodyPr/>
                  <a:lstStyle/>
                  <a:p>
                    <a:r>
                      <a:rPr sz="1100">
                        <a:solidFill>
                          <a:srgbClr val="FFFFFF"/>
                        </a:solidFill>
                        <a:latin typeface="Calibri"/>
                      </a:rPr>
                      <a:t>8%</a:t>
                    </a:r>
                  </a:p>
                </c:rich>
              </c:tx>
              <c:dLblPos val="ctr"/>
              <c:showLegendKey val="0"/>
              <c:showVal val="1"/>
              <c:showCatName val="0"/>
              <c:showSerName val="0"/>
              <c:showPercent val="0"/>
              <c:showBubbleSize val="0"/>
            </c:dLbl>
            <c:dLbl>
              <c:idx val="1"/>
              <c:tx>
                <c:rich>
                  <a:bodyPr/>
                  <a:lstStyle/>
                  <a:p>
                    <a:r>
                      <a:rPr sz="1100">
                        <a:solidFill>
                          <a:srgbClr val="FFFFFF"/>
                        </a:solidFill>
                        <a:latin typeface="Calibri"/>
                      </a:rPr>
                      <a:t>8%</a:t>
                    </a:r>
                  </a:p>
                </c:rich>
              </c:tx>
              <c:dLblPos val="ctr"/>
              <c:showLegendKey val="0"/>
              <c:showVal val="1"/>
              <c:showCatName val="0"/>
              <c:showSerName val="0"/>
              <c:showPercent val="0"/>
              <c:showBubbleSize val="0"/>
            </c:dLbl>
            <c:dLbl>
              <c:idx val="2"/>
              <c:tx>
                <c:rich>
                  <a:bodyPr/>
                  <a:lstStyle/>
                  <a:p>
                    <a:r>
                      <a:rPr sz="1100">
                        <a:solidFill>
                          <a:srgbClr val="FFFFFF"/>
                        </a:solidFill>
                        <a:latin typeface="Calibri"/>
                      </a:rPr>
                      <a:t>8%</a:t>
                    </a:r>
                  </a:p>
                </c:rich>
              </c:tx>
              <c:dLblPos val="ctr"/>
              <c:showLegendKey val="0"/>
              <c:showVal val="1"/>
              <c:showCatName val="0"/>
              <c:showSerName val="0"/>
              <c:showPercent val="0"/>
              <c:showBubbleSize val="0"/>
            </c:dLbl>
            <c:dLbl>
              <c:idx val="3"/>
              <c:tx>
                <c:rich>
                  <a:bodyPr/>
                  <a:lstStyle/>
                  <a:p>
                    <a:r>
                      <a:rPr sz="1100">
                        <a:solidFill>
                          <a:srgbClr val="FFFFFF"/>
                        </a:solidFill>
                        <a:latin typeface="Calibri"/>
                      </a:rPr>
                      <a:t>8%</a:t>
                    </a:r>
                  </a:p>
                </c:rich>
              </c:tx>
              <c:dLblPos val="ctr"/>
              <c:showLegendKey val="0"/>
              <c:showVal val="1"/>
              <c:showCatName val="0"/>
              <c:showSerName val="0"/>
              <c:showPercent val="0"/>
              <c:showBubbleSize val="0"/>
            </c:dLbl>
            <c:dLbl>
              <c:idx val="4"/>
              <c:tx>
                <c:rich>
                  <a:bodyPr/>
                  <a:lstStyle/>
                  <a:p>
                    <a:r>
                      <a:rPr sz="1100">
                        <a:solidFill>
                          <a:srgbClr val="FFFFFF"/>
                        </a:solidFill>
                        <a:latin typeface="Calibri"/>
                      </a:rPr>
                      <a:t>8%</a:t>
                    </a:r>
                  </a:p>
                </c:rich>
              </c:tx>
              <c:dLblPos val="ctr"/>
              <c:showLegendKey val="0"/>
              <c:showVal val="1"/>
              <c:showCatName val="0"/>
              <c:showSerName val="0"/>
              <c:showPercent val="0"/>
              <c:showBubbleSize val="0"/>
            </c:dLbl>
            <c:dLbl>
              <c:idx val="5"/>
              <c:tx>
                <c:rich>
                  <a:bodyPr/>
                  <a:lstStyle/>
                  <a:p>
                    <a:r>
                      <a:rPr sz="1100">
                        <a:solidFill>
                          <a:srgbClr val="FFFFFF"/>
                        </a:solidFill>
                        <a:latin typeface="Calibri"/>
                      </a:rPr>
                      <a:t>8%</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Middle East &amp; Africa  ·  15,718</c:v>
                </c:pt>
                <c:pt idx="1">
                  <c:v>Latin America  ·  16,618</c:v>
                </c:pt>
                <c:pt idx="2">
                  <c:v>South Asia &amp; Pacific  ·  32,687</c:v>
                </c:pt>
                <c:pt idx="3">
                  <c:v>Europe  ·  49,393</c:v>
                </c:pt>
                <c:pt idx="4">
                  <c:v>North America  ·  62,068</c:v>
                </c:pt>
                <c:pt idx="5">
                  <c:v>East Asia  ·  63,723</c:v>
                </c:pt>
              </c:strCache>
            </c:strRef>
          </c:cat>
          <c:val>
            <c:numRef>
              <c:f>Sheet1!$F$2:$F$7</c:f>
              <c:numCache>
                <c:formatCode>General</c:formatCode>
                <c:ptCount val="6"/>
                <c:pt idx="0">
                  <c:v>8.15111042571419</c:v>
                </c:pt>
                <c:pt idx="1">
                  <c:v>8.208642719321182</c:v>
                </c:pt>
                <c:pt idx="2">
                  <c:v>8.037142236980923</c:v>
                </c:pt>
                <c:pt idx="3">
                  <c:v>8.028804149703575</c:v>
                </c:pt>
                <c:pt idx="4">
                  <c:v>7.981150395022023</c:v>
                </c:pt>
                <c:pt idx="5">
                  <c:v>8.185505975669347</c:v>
                </c:pt>
              </c:numCache>
            </c:numRef>
          </c:val>
        </c:ser>
        <c:ser>
          <c:idx val="5"/>
          <c:order val="5"/>
          <c:tx>
            <c:strRef>
              <c:f>Sheet1!$G$1</c:f>
              <c:strCache>
                <c:ptCount val="1"/>
                <c:pt idx="0">
                  <c:v>PVDC-Based</c:v>
                </c:pt>
              </c:strCache>
            </c:strRef>
          </c:tx>
          <c:spPr>
            <a:solidFill>
              <a:srgbClr val="808080"/>
            </a:solidFill>
            <a:ln>
              <a:noFill/>
            </a:ln>
          </c:spPr>
          <c:cat>
            <c:strRef>
              <c:f>Sheet1!$A$2:$A$7</c:f>
              <c:strCache>
                <c:ptCount val="6"/>
                <c:pt idx="0">
                  <c:v>Middle East &amp; Africa  ·  15,718</c:v>
                </c:pt>
                <c:pt idx="1">
                  <c:v>Latin America  ·  16,618</c:v>
                </c:pt>
                <c:pt idx="2">
                  <c:v>South Asia &amp; Pacific  ·  32,687</c:v>
                </c:pt>
                <c:pt idx="3">
                  <c:v>Europe  ·  49,393</c:v>
                </c:pt>
                <c:pt idx="4">
                  <c:v>North America  ·  62,068</c:v>
                </c:pt>
                <c:pt idx="5">
                  <c:v>East Asia  ·  63,723</c:v>
                </c:pt>
              </c:strCache>
            </c:strRef>
          </c:cat>
          <c:val>
            <c:numRef>
              <c:f>Sheet1!$G$2:$G$7</c:f>
              <c:numCache>
                <c:formatCode>General</c:formatCode>
                <c:ptCount val="6"/>
                <c:pt idx="0">
                  <c:v>4.88587695963186</c:v>
                </c:pt>
                <c:pt idx="1">
                  <c:v>4.895781840041665</c:v>
                </c:pt>
                <c:pt idx="2">
                  <c:v>4.999327720860524</c:v>
                </c:pt>
                <c:pt idx="3">
                  <c:v>4.861287896091881</c:v>
                </c:pt>
                <c:pt idx="4">
                  <c:v>4.89068332420033</c:v>
                </c:pt>
                <c:pt idx="5">
                  <c:v>4.837355970888537</c:v>
                </c:pt>
              </c:numCache>
            </c:numRef>
          </c:val>
        </c:ser>
        <c:ser>
          <c:idx val="6"/>
          <c:order val="6"/>
          <c:tx>
            <c:strRef>
              <c:f>Sheet1!$H$1</c:f>
              <c:strCache>
                <c:ptCount val="1"/>
                <c:pt idx="0">
                  <c:v>PVOH-Based</c:v>
                </c:pt>
              </c:strCache>
            </c:strRef>
          </c:tx>
          <c:spPr>
            <a:solidFill>
              <a:srgbClr val="0E72AE"/>
            </a:solidFill>
            <a:ln>
              <a:noFill/>
            </a:ln>
          </c:spPr>
          <c:cat>
            <c:strRef>
              <c:f>Sheet1!$A$2:$A$7</c:f>
              <c:strCache>
                <c:ptCount val="6"/>
                <c:pt idx="0">
                  <c:v>Middle East &amp; Africa  ·  15,718</c:v>
                </c:pt>
                <c:pt idx="1">
                  <c:v>Latin America  ·  16,618</c:v>
                </c:pt>
                <c:pt idx="2">
                  <c:v>South Asia &amp; Pacific  ·  32,687</c:v>
                </c:pt>
                <c:pt idx="3">
                  <c:v>Europe  ·  49,393</c:v>
                </c:pt>
                <c:pt idx="4">
                  <c:v>North America  ·  62,068</c:v>
                </c:pt>
                <c:pt idx="5">
                  <c:v>East Asia  ·  63,723</c:v>
                </c:pt>
              </c:strCache>
            </c:strRef>
          </c:cat>
          <c:val>
            <c:numRef>
              <c:f>Sheet1!$H$2:$H$7</c:f>
              <c:numCache>
                <c:formatCode>General</c:formatCode>
                <c:ptCount val="6"/>
                <c:pt idx="0">
                  <c:v>2.027504605116581</c:v>
                </c:pt>
                <c:pt idx="1">
                  <c:v>2.0645055305111573</c:v>
                </c:pt>
                <c:pt idx="2">
                  <c:v>1.9779507738705369</c:v>
                </c:pt>
                <c:pt idx="3">
                  <c:v>2.020238810251375</c:v>
                </c:pt>
                <c:pt idx="4">
                  <c:v>2.013646918347465</c:v>
                </c:pt>
                <c:pt idx="5">
                  <c:v>2.0817253116821646</c:v>
                </c:pt>
              </c:numCache>
            </c:numRef>
          </c:val>
        </c:ser>
        <c:ser>
          <c:idx val="7"/>
          <c:order val="7"/>
          <c:tx>
            <c:strRef>
              <c:f>Sheet1!$I$1</c:f>
              <c:strCache>
                <c:ptCount val="1"/>
                <c:pt idx="0">
                  <c:v>Metallized Barrier</c:v>
                </c:pt>
              </c:strCache>
            </c:strRef>
          </c:tx>
          <c:spPr>
            <a:solidFill>
              <a:srgbClr val="A86F00"/>
            </a:solidFill>
            <a:ln>
              <a:noFill/>
            </a:ln>
          </c:spPr>
          <c:cat>
            <c:strRef>
              <c:f>Sheet1!$A$2:$A$7</c:f>
              <c:strCache>
                <c:ptCount val="6"/>
                <c:pt idx="0">
                  <c:v>Middle East &amp; Africa  ·  15,718</c:v>
                </c:pt>
                <c:pt idx="1">
                  <c:v>Latin America  ·  16,618</c:v>
                </c:pt>
                <c:pt idx="2">
                  <c:v>South Asia &amp; Pacific  ·  32,687</c:v>
                </c:pt>
                <c:pt idx="3">
                  <c:v>Europe  ·  49,393</c:v>
                </c:pt>
                <c:pt idx="4">
                  <c:v>North America  ·  62,068</c:v>
                </c:pt>
                <c:pt idx="5">
                  <c:v>East Asia  ·  63,723</c:v>
                </c:pt>
              </c:strCache>
            </c:strRef>
          </c:cat>
          <c:val>
            <c:numRef>
              <c:f>Sheet1!$I$2:$I$7</c:f>
              <c:numCache>
                <c:formatCode>General</c:formatCode>
                <c:ptCount val="6"/>
                <c:pt idx="0">
                  <c:v>6.204759190924563</c:v>
                </c:pt>
                <c:pt idx="1">
                  <c:v>5.911555749050819</c:v>
                </c:pt>
                <c:pt idx="2">
                  <c:v>6.191836190889341</c:v>
                </c:pt>
                <c:pt idx="3">
                  <c:v>6.222532810403866</c:v>
                </c:pt>
                <c:pt idx="4">
                  <c:v>6.245002652899729</c:v>
                </c:pt>
                <c:pt idx="5">
                  <c:v>6.097968050682222</c:v>
                </c:pt>
              </c:numCache>
            </c:numRef>
          </c:val>
        </c:ser>
        <c:ser>
          <c:idx val="8"/>
          <c:order val="8"/>
          <c:tx>
            <c:strRef>
              <c:f>Sheet1!$J$1</c:f>
              <c:strCache>
                <c:ptCount val="1"/>
                <c:pt idx="0">
                  <c:v>AlOx / SiOx-Coated</c:v>
                </c:pt>
              </c:strCache>
            </c:strRef>
          </c:tx>
          <c:spPr>
            <a:solidFill>
              <a:srgbClr val="0B2E4A"/>
            </a:solidFill>
            <a:ln>
              <a:noFill/>
            </a:ln>
          </c:spPr>
          <c:cat>
            <c:strRef>
              <c:f>Sheet1!$A$2:$A$7</c:f>
              <c:strCache>
                <c:ptCount val="6"/>
                <c:pt idx="0">
                  <c:v>Middle East &amp; Africa  ·  15,718</c:v>
                </c:pt>
                <c:pt idx="1">
                  <c:v>Latin America  ·  16,618</c:v>
                </c:pt>
                <c:pt idx="2">
                  <c:v>South Asia &amp; Pacific  ·  32,687</c:v>
                </c:pt>
                <c:pt idx="3">
                  <c:v>Europe  ·  49,393</c:v>
                </c:pt>
                <c:pt idx="4">
                  <c:v>North America  ·  62,068</c:v>
                </c:pt>
                <c:pt idx="5">
                  <c:v>East Asia  ·  63,723</c:v>
                </c:pt>
              </c:strCache>
            </c:strRef>
          </c:cat>
          <c:val>
            <c:numRef>
              <c:f>Sheet1!$J$2:$J$7</c:f>
              <c:numCache>
                <c:formatCode>General</c:formatCode>
                <c:ptCount val="6"/>
                <c:pt idx="0">
                  <c:v>3.0565924516677474</c:v>
                </c:pt>
                <c:pt idx="1">
                  <c:v>3.1283590675681245</c:v>
                </c:pt>
                <c:pt idx="2">
                  <c:v>2.998900337944552</c:v>
                </c:pt>
                <c:pt idx="3">
                  <c:v>3.0519736168400464</c:v>
                </c:pt>
                <c:pt idx="4">
                  <c:v>3.048274590492237</c:v>
                </c:pt>
                <c:pt idx="5">
                  <c:v>3.1139569272486005</c:v>
                </c:pt>
              </c:numCache>
            </c:numRef>
          </c:val>
        </c:ser>
        <c:ser>
          <c:idx val="9"/>
          <c:order val="9"/>
          <c:tx>
            <c:strRef>
              <c:f>Sheet1!$K$1</c:f>
              <c:strCache>
                <c:ptCount val="1"/>
                <c:pt idx="0">
                  <c:v>Aluminum Foil-Based</c:v>
                </c:pt>
              </c:strCache>
            </c:strRef>
          </c:tx>
          <c:spPr>
            <a:solidFill>
              <a:srgbClr val="6C7A89"/>
            </a:solidFill>
            <a:ln>
              <a:noFill/>
            </a:ln>
          </c:spPr>
          <c:cat>
            <c:strRef>
              <c:f>Sheet1!$A$2:$A$7</c:f>
              <c:strCache>
                <c:ptCount val="6"/>
                <c:pt idx="0">
                  <c:v>Middle East &amp; Africa  ·  15,718</c:v>
                </c:pt>
                <c:pt idx="1">
                  <c:v>Latin America  ·  16,618</c:v>
                </c:pt>
                <c:pt idx="2">
                  <c:v>South Asia &amp; Pacific  ·  32,687</c:v>
                </c:pt>
                <c:pt idx="3">
                  <c:v>Europe  ·  49,393</c:v>
                </c:pt>
                <c:pt idx="4">
                  <c:v>North America  ·  62,068</c:v>
                </c:pt>
                <c:pt idx="5">
                  <c:v>East Asia  ·  63,723</c:v>
                </c:pt>
              </c:strCache>
            </c:strRef>
          </c:cat>
          <c:val>
            <c:numRef>
              <c:f>Sheet1!$K$2:$K$7</c:f>
              <c:numCache>
                <c:formatCode>General</c:formatCode>
                <c:ptCount val="6"/>
                <c:pt idx="0">
                  <c:v>3.0378627932918807</c:v>
                </c:pt>
                <c:pt idx="1">
                  <c:v>2.9880977346311424</c:v>
                </c:pt>
                <c:pt idx="2">
                  <c:v>2.921130108116865</c:v>
                </c:pt>
                <c:pt idx="3">
                  <c:v>2.9837190362638673</c:v>
                </c:pt>
                <c:pt idx="4">
                  <c:v>2.988805878049876</c:v>
                </c:pt>
                <c:pt idx="5">
                  <c:v>3.043210644037397</c:v>
                </c:pt>
              </c:numCache>
            </c:numRef>
          </c:val>
        </c:ser>
        <c:ser>
          <c:idx val="10"/>
          <c:order val="10"/>
          <c:tx>
            <c:strRef>
              <c:f>Sheet1!$L$1</c:f>
              <c:strCache>
                <c:ptCount val="1"/>
                <c:pt idx="0">
                  <c:v>Other Specialty Barrier Technologies</c:v>
                </c:pt>
              </c:strCache>
            </c:strRef>
          </c:tx>
          <c:spPr>
            <a:solidFill>
              <a:srgbClr val="B2B2B2"/>
            </a:solidFill>
            <a:ln>
              <a:noFill/>
            </a:ln>
          </c:spPr>
          <c:cat>
            <c:strRef>
              <c:f>Sheet1!$A$2:$A$7</c:f>
              <c:strCache>
                <c:ptCount val="6"/>
                <c:pt idx="0">
                  <c:v>Middle East &amp; Africa  ·  15,718</c:v>
                </c:pt>
                <c:pt idx="1">
                  <c:v>Latin America  ·  16,618</c:v>
                </c:pt>
                <c:pt idx="2">
                  <c:v>South Asia &amp; Pacific  ·  32,687</c:v>
                </c:pt>
                <c:pt idx="3">
                  <c:v>Europe  ·  49,393</c:v>
                </c:pt>
                <c:pt idx="4">
                  <c:v>North America  ·  62,068</c:v>
                </c:pt>
                <c:pt idx="5">
                  <c:v>East Asia  ·  63,723</c:v>
                </c:pt>
              </c:strCache>
            </c:strRef>
          </c:cat>
          <c:val>
            <c:numRef>
              <c:f>Sheet1!$L$2:$L$7</c:f>
              <c:numCache>
                <c:formatCode>General</c:formatCode>
                <c:ptCount val="6"/>
                <c:pt idx="0">
                  <c:v>3.2112266488429535</c:v>
                </c:pt>
                <c:pt idx="1">
                  <c:v>3.22740069435648</c:v>
                </c:pt>
                <c:pt idx="2">
                  <c:v>3.1506136248878205</c:v>
                </c:pt>
                <c:pt idx="3">
                  <c:v>2.931642854328694</c:v>
                </c:pt>
                <c:pt idx="4">
                  <c:v>3.1748842542393714</c:v>
                </c:pt>
                <c:pt idx="5">
                  <c:v>3.251433706023222</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f>Sheet1!$B$1</c:f>
              <c:strCache>
                <c:ptCount val="1"/>
                <c:pt idx="0">
                  <c:v>PE-Based</c:v>
                </c:pt>
              </c:strCache>
            </c:strRef>
          </c:tx>
          <c:spPr>
            <a:solidFill>
              <a:srgbClr val="3D85C6"/>
            </a:solidFill>
          </c:spPr>
          <c:invertIfNegative val="0"/>
          <c:xVal>
            <c:numRef>
              <c:f>Sheet1!$A$2:$A$2</c:f>
              <c:numCache>
                <c:formatCode>General</c:formatCode>
                <c:ptCount val="1"/>
                <c:pt idx="0">
                  <c:v>102.10793990811165</c:v>
                </c:pt>
              </c:numCache>
            </c:numRef>
          </c:xVal>
          <c:yVal>
            <c:numRef>
              <c:f>Sheet1!$B$2:$B$2</c:f>
              <c:numCache>
                <c:formatCode>General</c:formatCode>
                <c:ptCount val="1"/>
                <c:pt idx="0">
                  <c:v>337.900708540413</c:v>
                </c:pt>
              </c:numCache>
            </c:numRef>
          </c:yVal>
          <c:bubbleSize>
            <c:numRef>
              <c:f>Sheet1!$C$2:$C$2</c:f>
              <c:numCache>
                <c:formatCode>General</c:formatCode>
                <c:ptCount val="1"/>
                <c:pt idx="0">
                  <c:v>74749.795</c:v>
                </c:pt>
              </c:numCache>
            </c:numRef>
          </c:bubbleSize>
          <c:bubble3D val="0"/>
        </c:ser>
        <c:ser>
          <c:idx val="1"/>
          <c:order val="1"/>
          <c:tx>
            <c:strRef>
              <c:f>Sheet1!$B$4</c:f>
              <c:strCache>
                <c:ptCount val="1"/>
                <c:pt idx="0">
                  <c:v>PP-Based</c:v>
                </c:pt>
              </c:strCache>
            </c:strRef>
          </c:tx>
          <c:spPr>
            <a:solidFill>
              <a:srgbClr val="9E7E0A"/>
            </a:solidFill>
          </c:spPr>
          <c:invertIfNegative val="0"/>
          <c:xVal>
            <c:numRef>
              <c:f>Sheet1!$A$5:$A$5</c:f>
              <c:numCache>
                <c:formatCode>General</c:formatCode>
                <c:ptCount val="1"/>
                <c:pt idx="0">
                  <c:v>97.29111136801367</c:v>
                </c:pt>
              </c:numCache>
            </c:numRef>
          </c:xVal>
          <c:yVal>
            <c:numRef>
              <c:f>Sheet1!$B$5:$B$5</c:f>
              <c:numCache>
                <c:formatCode>General</c:formatCode>
                <c:ptCount val="1"/>
                <c:pt idx="0">
                  <c:v>226.82014632541345</c:v>
                </c:pt>
              </c:numCache>
            </c:numRef>
          </c:yVal>
          <c:bubbleSize>
            <c:numRef>
              <c:f>Sheet1!$C$5:$C$5</c:f>
              <c:numCache>
                <c:formatCode>General</c:formatCode>
                <c:ptCount val="1"/>
                <c:pt idx="0">
                  <c:v>48712.153</c:v>
                </c:pt>
              </c:numCache>
            </c:numRef>
          </c:bubbleSize>
          <c:bubble3D val="0"/>
        </c:ser>
        <c:ser>
          <c:idx val="2"/>
          <c:order val="2"/>
          <c:tx>
            <c:strRef>
              <c:f>Sheet1!$B$7</c:f>
              <c:strCache>
                <c:ptCount val="1"/>
                <c:pt idx="0">
                  <c:v>PET-Based</c:v>
                </c:pt>
              </c:strCache>
            </c:strRef>
          </c:tx>
          <c:spPr>
            <a:solidFill>
              <a:srgbClr val="008189"/>
            </a:solidFill>
          </c:spPr>
          <c:invertIfNegative val="0"/>
          <c:xVal>
            <c:numRef>
              <c:f>Sheet1!$A$8:$A$8</c:f>
              <c:numCache>
                <c:formatCode>General</c:formatCode>
                <c:ptCount val="1"/>
                <c:pt idx="0">
                  <c:v>101.86238764925429</c:v>
                </c:pt>
              </c:numCache>
            </c:numRef>
          </c:xVal>
          <c:yVal>
            <c:numRef>
              <c:f>Sheet1!$B$8:$B$8</c:f>
              <c:numCache>
                <c:formatCode>General</c:formatCode>
                <c:ptCount val="1"/>
                <c:pt idx="0">
                  <c:v>109.42438139152846</c:v>
                </c:pt>
              </c:numCache>
            </c:numRef>
          </c:yVal>
          <c:bubbleSize>
            <c:numRef>
              <c:f>Sheet1!$C$8:$C$8</c:f>
              <c:numCache>
                <c:formatCode>General</c:formatCode>
                <c:ptCount val="1"/>
                <c:pt idx="0">
                  <c:v>24170.191</c:v>
                </c:pt>
              </c:numCache>
            </c:numRef>
          </c:bubbleSize>
          <c:bubble3D val="0"/>
        </c:ser>
        <c:ser>
          <c:idx val="3"/>
          <c:order val="3"/>
          <c:tx>
            <c:strRef>
              <c:f>Sheet1!$B$10</c:f>
              <c:strCache>
                <c:ptCount val="1"/>
                <c:pt idx="0">
                  <c:v>PA-Based</c:v>
                </c:pt>
              </c:strCache>
            </c:strRef>
          </c:tx>
          <c:spPr>
            <a:solidFill>
              <a:srgbClr val="40315E"/>
            </a:solidFill>
          </c:spPr>
          <c:invertIfNegative val="0"/>
          <c:xVal>
            <c:numRef>
              <c:f>Sheet1!$A$11:$A$11</c:f>
              <c:numCache>
                <c:formatCode>General</c:formatCode>
                <c:ptCount val="1"/>
                <c:pt idx="0">
                  <c:v>98.0586351431813</c:v>
                </c:pt>
              </c:numCache>
            </c:numRef>
          </c:xVal>
          <c:yVal>
            <c:numRef>
              <c:f>Sheet1!$B$11:$B$11</c:f>
              <c:numCache>
                <c:formatCode>General</c:formatCode>
                <c:ptCount val="1"/>
                <c:pt idx="0">
                  <c:v>90.88418273636532</c:v>
                </c:pt>
              </c:numCache>
            </c:numRef>
          </c:yVal>
          <c:bubbleSize>
            <c:numRef>
              <c:f>Sheet1!$C$11:$C$11</c:f>
              <c:numCache>
                <c:formatCode>General</c:formatCode>
                <c:ptCount val="1"/>
                <c:pt idx="0">
                  <c:v>19610.855</c:v>
                </c:pt>
              </c:numCache>
            </c:numRef>
          </c:bubbleSize>
          <c:bubble3D val="0"/>
        </c:ser>
        <c:ser>
          <c:idx val="4"/>
          <c:order val="4"/>
          <c:tx>
            <c:strRef>
              <c:f>Sheet1!$B$13</c:f>
              <c:strCache>
                <c:ptCount val="1"/>
                <c:pt idx="0">
                  <c:v>EVOH-Based</c:v>
                </c:pt>
              </c:strCache>
            </c:strRef>
          </c:tx>
          <c:spPr>
            <a:solidFill>
              <a:srgbClr val="A35313"/>
            </a:solidFill>
          </c:spPr>
          <c:invertIfNegative val="0"/>
          <c:xVal>
            <c:numRef>
              <c:f>Sheet1!$A$14:$A$14</c:f>
              <c:numCache>
                <c:formatCode>General</c:formatCode>
                <c:ptCount val="1"/>
                <c:pt idx="0">
                  <c:v>102.82561373833448</c:v>
                </c:pt>
              </c:numCache>
            </c:numRef>
          </c:xVal>
          <c:yVal>
            <c:numRef>
              <c:f>Sheet1!$B$14:$B$14</c:f>
              <c:numCache>
                <c:formatCode>General</c:formatCode>
                <c:ptCount val="1"/>
                <c:pt idx="0">
                  <c:v>87.3465628761888</c:v>
                </c:pt>
              </c:numCache>
            </c:numRef>
          </c:yVal>
          <c:bubbleSize>
            <c:numRef>
              <c:f>Sheet1!$C$14:$C$14</c:f>
              <c:numCache>
                <c:formatCode>General</c:formatCode>
                <c:ptCount val="1"/>
                <c:pt idx="0">
                  <c:v>19407.978</c:v>
                </c:pt>
              </c:numCache>
            </c:numRef>
          </c:bubbleSize>
          <c:bubble3D val="0"/>
        </c:ser>
        <c:ser>
          <c:idx val="5"/>
          <c:order val="5"/>
          <c:tx>
            <c:strRef>
              <c:f>Sheet1!$B$16</c:f>
              <c:strCache>
                <c:ptCount val="1"/>
                <c:pt idx="0">
                  <c:v>PVDC-Based</c:v>
                </c:pt>
              </c:strCache>
            </c:strRef>
          </c:tx>
          <c:spPr>
            <a:solidFill>
              <a:srgbClr val="808080"/>
            </a:solidFill>
          </c:spPr>
          <c:invertIfNegative val="0"/>
          <c:xVal>
            <c:numRef>
              <c:f>Sheet1!$A$17:$A$17</c:f>
              <c:numCache>
                <c:formatCode>General</c:formatCode>
                <c:ptCount val="1"/>
                <c:pt idx="0">
                  <c:v>90.98212576241687</c:v>
                </c:pt>
              </c:numCache>
            </c:numRef>
          </c:xVal>
          <c:yVal>
            <c:numRef>
              <c:f>Sheet1!$B$17:$B$17</c:f>
              <c:numCache>
                <c:formatCode>General</c:formatCode>
                <c:ptCount val="1"/>
                <c:pt idx="0">
                  <c:v>56.811135462907046</c:v>
                </c:pt>
              </c:numCache>
            </c:numRef>
          </c:yVal>
          <c:bubbleSize>
            <c:numRef>
              <c:f>Sheet1!$C$17:$C$17</c:f>
              <c:numCache>
                <c:formatCode>General</c:formatCode>
                <c:ptCount val="1"/>
                <c:pt idx="0">
                  <c:v>11734.936</c:v>
                </c:pt>
              </c:numCache>
            </c:numRef>
          </c:bubbleSize>
          <c:bubble3D val="0"/>
        </c:ser>
        <c:ser>
          <c:idx val="6"/>
          <c:order val="6"/>
          <c:tx>
            <c:strRef>
              <c:f>Sheet1!$B$19</c:f>
              <c:strCache>
                <c:ptCount val="1"/>
                <c:pt idx="0">
                  <c:v>PVOH-Based</c:v>
                </c:pt>
              </c:strCache>
            </c:strRef>
          </c:tx>
          <c:spPr>
            <a:solidFill>
              <a:srgbClr val="0E72AE"/>
            </a:solidFill>
          </c:spPr>
          <c:invertIfNegative val="0"/>
          <c:xVal>
            <c:numRef>
              <c:f>Sheet1!$A$20:$A$20</c:f>
              <c:numCache>
                <c:formatCode>General</c:formatCode>
                <c:ptCount val="1"/>
                <c:pt idx="0">
                  <c:v>103.56763350623936</c:v>
                </c:pt>
              </c:numCache>
            </c:numRef>
          </c:xVal>
          <c:yVal>
            <c:numRef>
              <c:f>Sheet1!$B$20:$B$20</c:f>
              <c:numCache>
                <c:formatCode>General</c:formatCode>
                <c:ptCount val="1"/>
                <c:pt idx="0">
                  <c:v>21.874319081119754</c:v>
                </c:pt>
              </c:numCache>
            </c:numRef>
          </c:yVal>
          <c:bubbleSize>
            <c:numRef>
              <c:f>Sheet1!$C$20:$C$20</c:f>
              <c:numCache>
                <c:formatCode>General</c:formatCode>
                <c:ptCount val="1"/>
                <c:pt idx="0">
                  <c:v>4882.549</c:v>
                </c:pt>
              </c:numCache>
            </c:numRef>
          </c:bubbleSize>
          <c:bubble3D val="0"/>
        </c:ser>
        <c:ser>
          <c:idx val="7"/>
          <c:order val="7"/>
          <c:tx>
            <c:strRef>
              <c:f>Sheet1!$B$22</c:f>
              <c:strCache>
                <c:ptCount val="1"/>
                <c:pt idx="0">
                  <c:v>Metallized Barrier</c:v>
                </c:pt>
              </c:strCache>
            </c:strRef>
          </c:tx>
          <c:spPr>
            <a:solidFill>
              <a:srgbClr val="A86F00"/>
            </a:solidFill>
          </c:spPr>
          <c:invertIfNegative val="0"/>
          <c:xVal>
            <c:numRef>
              <c:f>Sheet1!$A$23:$A$23</c:f>
              <c:numCache>
                <c:formatCode>General</c:formatCode>
                <c:ptCount val="1"/>
                <c:pt idx="0">
                  <c:v>98.80924774850173</c:v>
                </c:pt>
              </c:numCache>
            </c:numRef>
          </c:xVal>
          <c:yVal>
            <c:numRef>
              <c:f>Sheet1!$B$23:$B$23</c:f>
              <c:numCache>
                <c:formatCode>General</c:formatCode>
                <c:ptCount val="1"/>
                <c:pt idx="0">
                  <c:v>68.35163251700284</c:v>
                </c:pt>
              </c:numCache>
            </c:numRef>
          </c:yVal>
          <c:bubbleSize>
            <c:numRef>
              <c:f>Sheet1!$C$23:$C$23</c:f>
              <c:numCache>
                <c:formatCode>General</c:formatCode>
                <c:ptCount val="1"/>
                <c:pt idx="0">
                  <c:v>14817.109</c:v>
                </c:pt>
              </c:numCache>
            </c:numRef>
          </c:bubbleSize>
          <c:bubble3D val="0"/>
        </c:ser>
        <c:ser>
          <c:idx val="8"/>
          <c:order val="8"/>
          <c:tx>
            <c:strRef>
              <c:f>Sheet1!$B$25</c:f>
              <c:strCache>
                <c:ptCount val="1"/>
                <c:pt idx="0">
                  <c:v>AlOx / SiOx-Coated</c:v>
                </c:pt>
              </c:strCache>
            </c:strRef>
          </c:tx>
          <c:spPr>
            <a:solidFill>
              <a:srgbClr val="0B2E4A"/>
            </a:solidFill>
          </c:spPr>
          <c:invertIfNegative val="0"/>
          <c:xVal>
            <c:numRef>
              <c:f>Sheet1!$A$26:$A$26</c:f>
              <c:numCache>
                <c:formatCode>General</c:formatCode>
                <c:ptCount val="1"/>
                <c:pt idx="0">
                  <c:v>103.88786235923581</c:v>
                </c:pt>
              </c:numCache>
            </c:numRef>
          </c:xVal>
          <c:yVal>
            <c:numRef>
              <c:f>Sheet1!$B$26:$B$26</c:f>
              <c:numCache>
                <c:formatCode>General</c:formatCode>
                <c:ptCount val="1"/>
                <c:pt idx="0">
                  <c:v>32.928383470897856</c:v>
                </c:pt>
              </c:numCache>
            </c:numRef>
          </c:yVal>
          <c:bubbleSize>
            <c:numRef>
              <c:f>Sheet1!$C$26:$C$26</c:f>
              <c:numCache>
                <c:formatCode>General</c:formatCode>
                <c:ptCount val="1"/>
                <c:pt idx="0">
                  <c:v>7364.371</c:v>
                </c:pt>
              </c:numCache>
            </c:numRef>
          </c:bubbleSize>
          <c:bubble3D val="0"/>
        </c:ser>
        <c:ser>
          <c:idx val="9"/>
          <c:order val="9"/>
          <c:tx>
            <c:strRef>
              <c:f>Sheet1!$B$28</c:f>
              <c:strCache>
                <c:ptCount val="1"/>
                <c:pt idx="0">
                  <c:v>Aluminum Foil-Based</c:v>
                </c:pt>
              </c:strCache>
            </c:strRef>
          </c:tx>
          <c:spPr>
            <a:solidFill>
              <a:srgbClr val="6C7A89"/>
            </a:solidFill>
          </c:spPr>
          <c:invertIfNegative val="0"/>
          <c:xVal>
            <c:numRef>
              <c:f>Sheet1!$A$29:$A$29</c:f>
              <c:numCache>
                <c:formatCode>General</c:formatCode>
                <c:ptCount val="1"/>
                <c:pt idx="0">
                  <c:v>91.33505193471612</c:v>
                </c:pt>
              </c:numCache>
            </c:numRef>
          </c:xVal>
          <c:yVal>
            <c:numRef>
              <c:f>Sheet1!$B$29:$B$29</c:f>
              <c:numCache>
                <c:formatCode>General</c:formatCode>
                <c:ptCount val="1"/>
                <c:pt idx="0">
                  <c:v>34.76611491657001</c:v>
                </c:pt>
              </c:numCache>
            </c:numRef>
          </c:yVal>
          <c:bubbleSize>
            <c:numRef>
              <c:f>Sheet1!$C$29:$C$29</c:f>
              <c:numCache>
                <c:formatCode>General</c:formatCode>
                <c:ptCount val="1"/>
                <c:pt idx="0">
                  <c:v>7196.992</c:v>
                </c:pt>
              </c:numCache>
            </c:numRef>
          </c:bubbleSize>
          <c:bubble3D val="0"/>
        </c:ser>
        <c:ser>
          <c:idx val="10"/>
          <c:order val="10"/>
          <c:tx>
            <c:strRef>
              <c:f>Sheet1!$B$31</c:f>
              <c:strCache>
                <c:ptCount val="1"/>
                <c:pt idx="0">
                  <c:v>Other Specialty Barrier Technologies</c:v>
                </c:pt>
              </c:strCache>
            </c:strRef>
          </c:tx>
          <c:spPr>
            <a:solidFill>
              <a:srgbClr val="B2B2B2"/>
            </a:solidFill>
          </c:spPr>
          <c:invertIfNegative val="0"/>
          <c:xVal>
            <c:numRef>
              <c:f>Sheet1!$A$32:$A$32</c:f>
              <c:numCache>
                <c:formatCode>General</c:formatCode>
                <c:ptCount val="1"/>
                <c:pt idx="0">
                  <c:v>108.37808857261449</c:v>
                </c:pt>
              </c:numCache>
            </c:numRef>
          </c:xVal>
          <c:yVal>
            <c:numRef>
              <c:f>Sheet1!$B$32:$B$32</c:f>
              <c:numCache>
                <c:formatCode>General</c:formatCode>
                <c:ptCount val="1"/>
                <c:pt idx="0">
                  <c:v>32.89243268159342</c:v>
                </c:pt>
              </c:numCache>
            </c:numRef>
          </c:yVal>
          <c:bubbleSize>
            <c:numRef>
              <c:f>Sheet1!$C$32:$C$32</c:f>
              <c:numCache>
                <c:formatCode>General</c:formatCode>
                <c:ptCount val="1"/>
                <c:pt idx="0">
                  <c:v>7561.481</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15.0"/>
          <c:min val="85.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42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0.0</c:v>
                </c:pt>
                <c:pt idx="1">
                  <c:v>39118.55</c:v>
                </c:pt>
                <c:pt idx="2">
                  <c:v>43811.871</c:v>
                </c:pt>
                <c:pt idx="3">
                  <c:v>49700.278</c:v>
                </c:pt>
                <c:pt idx="4">
                  <c:v>56885.017</c:v>
                </c:pt>
                <c:pt idx="5">
                  <c:v>65272.065</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39118.55</c:v>
                </c:pt>
                <c:pt idx="1">
                  <c:v>4693.320999999996</c:v>
                </c:pt>
                <c:pt idx="2">
                  <c:v>5888.406999999999</c:v>
                </c:pt>
                <c:pt idx="3">
                  <c:v>7184.739000000001</c:v>
                </c:pt>
                <c:pt idx="4">
                  <c:v>8387.048000000003</c:v>
                </c:pt>
                <c:pt idx="5">
                  <c:v>9477.729999999996</c:v>
                </c:pt>
                <c:pt idx="6">
                  <c:v>74749.795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0.0</c:v>
                </c:pt>
                <c:pt idx="1">
                  <c:v>26258.824</c:v>
                </c:pt>
                <c:pt idx="2">
                  <c:v>29288.316</c:v>
                </c:pt>
                <c:pt idx="3">
                  <c:v>33009.758</c:v>
                </c:pt>
                <c:pt idx="4">
                  <c:v>37525.763</c:v>
                </c:pt>
                <c:pt idx="5">
                  <c:v>42779.993</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26258.824</c:v>
                </c:pt>
                <c:pt idx="1">
                  <c:v>3029.4919999999984</c:v>
                </c:pt>
                <c:pt idx="2">
                  <c:v>3721.4420000000027</c:v>
                </c:pt>
                <c:pt idx="3">
                  <c:v>4516.004999999997</c:v>
                </c:pt>
                <c:pt idx="4">
                  <c:v>5254.230000000003</c:v>
                </c:pt>
                <c:pt idx="5">
                  <c:v>5932.159999999996</c:v>
                </c:pt>
                <c:pt idx="6">
                  <c:v>48712.153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0.0</c:v>
                </c:pt>
                <c:pt idx="1">
                  <c:v>12667.991</c:v>
                </c:pt>
                <c:pt idx="2">
                  <c:v>14295.71</c:v>
                </c:pt>
                <c:pt idx="3">
                  <c:v>16224.111</c:v>
                </c:pt>
                <c:pt idx="4">
                  <c:v>18510.354</c:v>
                </c:pt>
                <c:pt idx="5">
                  <c:v>21166.831</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12667.991</c:v>
                </c:pt>
                <c:pt idx="1">
                  <c:v>1627.7189999999991</c:v>
                </c:pt>
                <c:pt idx="2">
                  <c:v>1928.4010000000017</c:v>
                </c:pt>
                <c:pt idx="3">
                  <c:v>2286.2429999999986</c:v>
                </c:pt>
                <c:pt idx="4">
                  <c:v>2656.476999999999</c:v>
                </c:pt>
                <c:pt idx="5">
                  <c:v>3003.3600000000006</c:v>
                </c:pt>
                <c:pt idx="6">
                  <c:v>24170.191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0.0</c:v>
                </c:pt>
                <c:pt idx="1">
                  <c:v>10521.604</c:v>
                </c:pt>
                <c:pt idx="2">
                  <c:v>11711.76</c:v>
                </c:pt>
                <c:pt idx="3">
                  <c:v>13194.915</c:v>
                </c:pt>
                <c:pt idx="4">
                  <c:v>15029.584</c:v>
                </c:pt>
                <c:pt idx="5">
                  <c:v>17182.842</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10521.604</c:v>
                </c:pt>
                <c:pt idx="1">
                  <c:v>1190.1560000000009</c:v>
                </c:pt>
                <c:pt idx="2">
                  <c:v>1483.1550000000007</c:v>
                </c:pt>
                <c:pt idx="3">
                  <c:v>1834.6689999999999</c:v>
                </c:pt>
                <c:pt idx="4">
                  <c:v>2153.258</c:v>
                </c:pt>
                <c:pt idx="5">
                  <c:v>2428.012999999999</c:v>
                </c:pt>
                <c:pt idx="6">
                  <c:v>19610.855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0.0</c:v>
                </c:pt>
                <c:pt idx="1">
                  <c:v>10112.056</c:v>
                </c:pt>
                <c:pt idx="2">
                  <c:v>11341.133</c:v>
                </c:pt>
                <c:pt idx="3">
                  <c:v>12862.249</c:v>
                </c:pt>
                <c:pt idx="4">
                  <c:v>14732.563</c:v>
                </c:pt>
                <c:pt idx="5">
                  <c:v>16926.939</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10112.056</c:v>
                </c:pt>
                <c:pt idx="1">
                  <c:v>1229.0769999999993</c:v>
                </c:pt>
                <c:pt idx="2">
                  <c:v>1521.116</c:v>
                </c:pt>
                <c:pt idx="3">
                  <c:v>1870.3140000000003</c:v>
                </c:pt>
                <c:pt idx="4">
                  <c:v>2194.3759999999984</c:v>
                </c:pt>
                <c:pt idx="5">
                  <c:v>2481.0390000000007</c:v>
                </c:pt>
                <c:pt idx="6">
                  <c:v>19407.978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0.0</c:v>
                </c:pt>
                <c:pt idx="1">
                  <c:v>6576.989</c:v>
                </c:pt>
                <c:pt idx="2">
                  <c:v>7251.214</c:v>
                </c:pt>
                <c:pt idx="3">
                  <c:v>8087.759</c:v>
                </c:pt>
                <c:pt idx="4">
                  <c:v>9127.589</c:v>
                </c:pt>
                <c:pt idx="5">
                  <c:v>10355.28</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6576.989</c:v>
                </c:pt>
                <c:pt idx="1">
                  <c:v>674.2250000000004</c:v>
                </c:pt>
                <c:pt idx="2">
                  <c:v>836.5450000000001</c:v>
                </c:pt>
                <c:pt idx="3">
                  <c:v>1039.83</c:v>
                </c:pt>
                <c:pt idx="4">
                  <c:v>1227.6910000000007</c:v>
                </c:pt>
                <c:pt idx="5">
                  <c:v>1379.655999999999</c:v>
                </c:pt>
                <c:pt idx="6">
                  <c:v>11734.936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0.0</c:v>
                </c:pt>
                <c:pt idx="1">
                  <c:v>2532.376</c:v>
                </c:pt>
                <c:pt idx="2">
                  <c:v>2844.023</c:v>
                </c:pt>
                <c:pt idx="3">
                  <c:v>3230.956</c:v>
                </c:pt>
                <c:pt idx="4">
                  <c:v>3698.739</c:v>
                </c:pt>
                <c:pt idx="5">
                  <c:v>4252.044</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2532.376</c:v>
                </c:pt>
                <c:pt idx="1">
                  <c:v>311.64699999999993</c:v>
                </c:pt>
                <c:pt idx="2">
                  <c:v>386.933</c:v>
                </c:pt>
                <c:pt idx="3">
                  <c:v>467.7829999999999</c:v>
                </c:pt>
                <c:pt idx="4">
                  <c:v>553.3049999999998</c:v>
                </c:pt>
                <c:pt idx="5">
                  <c:v>630.5050000000001</c:v>
                </c:pt>
                <c:pt idx="6">
                  <c:v>4882.549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0.0</c:v>
                </c:pt>
                <c:pt idx="1">
                  <c:v>7913.025</c:v>
                </c:pt>
                <c:pt idx="2">
                  <c:v>8818.351</c:v>
                </c:pt>
                <c:pt idx="3">
                  <c:v>9947.988</c:v>
                </c:pt>
                <c:pt idx="4">
                  <c:v>11350.372</c:v>
                </c:pt>
                <c:pt idx="5">
                  <c:v>12980.624</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7913.025</c:v>
                </c:pt>
                <c:pt idx="1">
                  <c:v>905.3260000000009</c:v>
                </c:pt>
                <c:pt idx="2">
                  <c:v>1129.6369999999988</c:v>
                </c:pt>
                <c:pt idx="3">
                  <c:v>1402.384</c:v>
                </c:pt>
                <c:pt idx="4">
                  <c:v>1630.2520000000004</c:v>
                </c:pt>
                <c:pt idx="5">
                  <c:v>1836.4850000000006</c:v>
                </c:pt>
                <c:pt idx="6">
                  <c:v>14817.109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0.0</c:v>
                </c:pt>
                <c:pt idx="1">
                  <c:v>3812.098</c:v>
                </c:pt>
                <c:pt idx="2">
                  <c:v>4283.877</c:v>
                </c:pt>
                <c:pt idx="3">
                  <c:v>4869.639</c:v>
                </c:pt>
                <c:pt idx="4">
                  <c:v>5583.841</c:v>
                </c:pt>
                <c:pt idx="5">
                  <c:v>6418.043</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3812.098</c:v>
                </c:pt>
                <c:pt idx="1">
                  <c:v>471.77900000000045</c:v>
                </c:pt>
                <c:pt idx="2">
                  <c:v>585.7619999999997</c:v>
                </c:pt>
                <c:pt idx="3">
                  <c:v>714.2020000000002</c:v>
                </c:pt>
                <c:pt idx="4">
                  <c:v>834.2019999999993</c:v>
                </c:pt>
                <c:pt idx="5">
                  <c:v>946.3280000000004</c:v>
                </c:pt>
                <c:pt idx="6">
                  <c:v>7364.371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0.0</c:v>
                </c:pt>
                <c:pt idx="1">
                  <c:v>4024.851</c:v>
                </c:pt>
                <c:pt idx="2">
                  <c:v>4462.482</c:v>
                </c:pt>
                <c:pt idx="3">
                  <c:v>4995.545</c:v>
                </c:pt>
                <c:pt idx="4">
                  <c:v>5630.256</c:v>
                </c:pt>
                <c:pt idx="5">
                  <c:v>6368.676</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4024.851</c:v>
                </c:pt>
                <c:pt idx="1">
                  <c:v>437.63099999999986</c:v>
                </c:pt>
                <c:pt idx="2">
                  <c:v>533.0630000000001</c:v>
                </c:pt>
                <c:pt idx="3">
                  <c:v>634.7110000000002</c:v>
                </c:pt>
                <c:pt idx="4">
                  <c:v>738.4200000000001</c:v>
                </c:pt>
                <c:pt idx="5">
                  <c:v>828.3159999999998</c:v>
                </c:pt>
                <c:pt idx="6">
                  <c:v>7196.992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0.0</c:v>
                </c:pt>
                <c:pt idx="1">
                  <c:v>3807.936</c:v>
                </c:pt>
                <c:pt idx="2">
                  <c:v>4321.529</c:v>
                </c:pt>
                <c:pt idx="3">
                  <c:v>4936.34</c:v>
                </c:pt>
                <c:pt idx="4">
                  <c:v>5683.94</c:v>
                </c:pt>
                <c:pt idx="5">
                  <c:v>6562.072</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3807.936</c:v>
                </c:pt>
                <c:pt idx="1">
                  <c:v>513.5930000000003</c:v>
                </c:pt>
                <c:pt idx="2">
                  <c:v>614.8109999999997</c:v>
                </c:pt>
                <c:pt idx="3">
                  <c:v>747.5999999999995</c:v>
                </c:pt>
                <c:pt idx="4">
                  <c:v>878.1320000000005</c:v>
                </c:pt>
                <c:pt idx="5">
                  <c:v>999.4089999999997</c:v>
                </c:pt>
                <c:pt idx="6">
                  <c:v>7561.481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PE-Based</c:v>
                </c:pt>
              </c:strCache>
            </c:strRef>
          </c:tx>
          <c:spPr>
            <a:solidFill>
              <a:srgbClr val="3D85C6"/>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30.839709045080816</c:v>
                </c:pt>
                <c:pt idx="1">
                  <c:v>30.71824623094664</c:v>
                </c:pt>
                <c:pt idx="2">
                  <c:v>31.118725193676607</c:v>
                </c:pt>
              </c:numCache>
            </c:numRef>
          </c:val>
        </c:ser>
        <c:ser>
          <c:idx val="1"/>
          <c:order val="1"/>
          <c:tx>
            <c:strRef>
              <c:f>Sheet1!$C$1</c:f>
              <c:strCache>
                <c:ptCount val="1"/>
                <c:pt idx="0">
                  <c:v>PP-Based</c:v>
                </c:pt>
              </c:strCache>
            </c:strRef>
          </c:tx>
          <c:spPr>
            <a:solidFill>
              <a:srgbClr val="9E7E0A"/>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20.712382714722484</c:v>
                </c:pt>
                <c:pt idx="1">
                  <c:v>20.620013302310312</c:v>
                </c:pt>
                <c:pt idx="2">
                  <c:v>20.27912053537176</c:v>
                </c:pt>
              </c:numCache>
            </c:numRef>
          </c:val>
        </c:ser>
        <c:ser>
          <c:idx val="2"/>
          <c:order val="2"/>
          <c:tx>
            <c:strRef>
              <c:f>Sheet1!$D$1</c:f>
              <c:strCache>
                <c:ptCount val="1"/>
                <c:pt idx="0">
                  <c:v>PET-Based</c:v>
                </c:pt>
              </c:strCache>
            </c:strRef>
          </c:tx>
          <c:spPr>
            <a:solidFill>
              <a:srgbClr val="008189"/>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9.614537400014008</c:v>
                </c:pt>
                <c:pt idx="1">
                  <c:v>9.947671035593496</c:v>
                </c:pt>
                <c:pt idx="2">
                  <c:v>10.062175175298815</c:v>
                </c:pt>
              </c:numCache>
            </c:numRef>
          </c:val>
        </c:ser>
        <c:ser>
          <c:idx val="3"/>
          <c:order val="3"/>
          <c:tx>
            <c:strRef>
              <c:f>Sheet1!$E$1</c:f>
              <c:strCache>
                <c:ptCount val="1"/>
                <c:pt idx="0">
                  <c:v>PA-Based</c:v>
                </c:pt>
              </c:strCache>
            </c:strRef>
          </c:tx>
          <c:spPr>
            <a:solidFill>
              <a:srgbClr val="40315E"/>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8.407308997443645</c:v>
                </c:pt>
                <c:pt idx="1">
                  <c:v>8.262198430578666</c:v>
                </c:pt>
                <c:pt idx="2">
                  <c:v>8.164100082923824</c:v>
                </c:pt>
              </c:numCache>
            </c:numRef>
          </c:val>
        </c:ser>
        <c:ser>
          <c:idx val="4"/>
          <c:order val="4"/>
          <c:tx>
            <c:strRef>
              <c:f>Sheet1!$F$1</c:f>
              <c:strCache>
                <c:ptCount val="1"/>
                <c:pt idx="0">
                  <c:v>EVOH-Based</c:v>
                </c:pt>
              </c:strCache>
            </c:strRef>
          </c:tx>
          <c:spPr>
            <a:solidFill>
              <a:srgbClr val="A35313"/>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Sheet1!$F$2:$F$4</c:f>
              <c:numCache>
                <c:formatCode>General</c:formatCode>
                <c:ptCount val="3"/>
                <c:pt idx="0">
                  <c:v>7.764954781770725</c:v>
                </c:pt>
                <c:pt idx="1">
                  <c:v>7.940596625108072</c:v>
                </c:pt>
                <c:pt idx="2">
                  <c:v>8.079641341450118</c:v>
                </c:pt>
              </c:numCache>
            </c:numRef>
          </c:val>
        </c:ser>
        <c:ser>
          <c:idx val="5"/>
          <c:order val="5"/>
          <c:tx>
            <c:strRef>
              <c:f>Sheet1!$G$1</c:f>
              <c:strCache>
                <c:ptCount val="1"/>
                <c:pt idx="0">
                  <c:v>Metallized Barrier</c:v>
                </c:pt>
              </c:strCache>
            </c:strRef>
          </c:tx>
          <c:spPr>
            <a:solidFill>
              <a:srgbClr val="808080"/>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Sheet1!$G$2:$G$4</c:f>
              <c:numCache>
                <c:formatCode>General</c:formatCode>
                <c:ptCount val="3"/>
                <c:pt idx="0">
                  <c:v>6.279303326807007</c:v>
                </c:pt>
                <c:pt idx="1">
                  <c:v>6.213784774272986</c:v>
                </c:pt>
                <c:pt idx="2">
                  <c:v>6.168438898538149</c:v>
                </c:pt>
              </c:numCache>
            </c:numRef>
          </c:val>
        </c:ser>
        <c:ser>
          <c:idx val="6"/>
          <c:order val="6"/>
          <c:tx>
            <c:strRef>
              <c:f>Sheet1!$H$1</c:f>
              <c:strCache>
                <c:ptCount val="1"/>
                <c:pt idx="0">
                  <c:v>PVDC-Based</c:v>
                </c:pt>
              </c:strCache>
            </c:strRef>
          </c:tx>
          <c:spPr>
            <a:solidFill>
              <a:srgbClr val="0E72AE"/>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Sheet1!$H$2:$H$4</c:f>
              <c:numCache>
                <c:formatCode>General</c:formatCode>
                <c:ptCount val="3"/>
                <c:pt idx="0">
                  <c:v>5.381986151069504</c:v>
                </c:pt>
                <c:pt idx="1">
                  <c:v>5.164648678446095</c:v>
                </c:pt>
                <c:pt idx="2">
                  <c:v>4.88531438179038</c:v>
                </c:pt>
              </c:numCache>
            </c:numRef>
          </c:val>
        </c:ser>
        <c:ser>
          <c:idx val="7"/>
          <c:order val="7"/>
          <c:tx>
            <c:strRef>
              <c:f>Sheet1!$I$1</c:f>
              <c:strCache>
                <c:ptCount val="1"/>
                <c:pt idx="0">
                  <c:v>Other Specialty Barrier Technologies</c:v>
                </c:pt>
              </c:strCache>
            </c:strRef>
          </c:tx>
          <c:spPr>
            <a:solidFill>
              <a:srgbClr val="A86F00"/>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Sheet1!$I$2:$I$4</c:f>
              <c:numCache>
                <c:formatCode>General</c:formatCode>
                <c:ptCount val="3"/>
                <c:pt idx="0">
                  <c:v>2.8312613181613084</c:v>
                </c:pt>
                <c:pt idx="1">
                  <c:v>2.990221152872129</c:v>
                </c:pt>
                <c:pt idx="2">
                  <c:v>3.147883539964317</c:v>
                </c:pt>
              </c:numCache>
            </c:numRef>
          </c:val>
        </c:ser>
        <c:ser>
          <c:idx val="8"/>
          <c:order val="8"/>
          <c:tx>
            <c:strRef>
              <c:f>Sheet1!$J$1</c:f>
              <c:strCache>
                <c:ptCount val="1"/>
                <c:pt idx="0">
                  <c:v>AlOx / SiOx-Coated</c:v>
                </c:pt>
              </c:strCache>
            </c:strRef>
          </c:tx>
          <c:spPr>
            <a:solidFill>
              <a:srgbClr val="0B2E4A"/>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Sheet1!$J$2:$J$4</c:f>
              <c:numCache>
                <c:formatCode>General</c:formatCode>
                <c:ptCount val="3"/>
                <c:pt idx="0">
                  <c:v>2.9717354723538736</c:v>
                </c:pt>
                <c:pt idx="1">
                  <c:v>2.99348940644526</c:v>
                </c:pt>
                <c:pt idx="2">
                  <c:v>3.0658256303349245</c:v>
                </c:pt>
              </c:numCache>
            </c:numRef>
          </c:val>
        </c:ser>
        <c:ser>
          <c:idx val="9"/>
          <c:order val="9"/>
          <c:tx>
            <c:strRef>
              <c:f>Sheet1!$K$1</c:f>
              <c:strCache>
                <c:ptCount val="1"/>
                <c:pt idx="0">
                  <c:v>Aluminum Foil-Based</c:v>
                </c:pt>
              </c:strCache>
            </c:strRef>
          </c:tx>
          <c:spPr>
            <a:solidFill>
              <a:srgbClr val="6C7A89"/>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Sheet1!$K$2:$K$4</c:f>
              <c:numCache>
                <c:formatCode>General</c:formatCode>
                <c:ptCount val="3"/>
                <c:pt idx="0">
                  <c:v>3.2185103614650634</c:v>
                </c:pt>
                <c:pt idx="1">
                  <c:v>3.160555901506365</c:v>
                </c:pt>
                <c:pt idx="2">
                  <c:v>2.996144889348379</c:v>
                </c:pt>
              </c:numCache>
            </c:numRef>
          </c:val>
        </c:ser>
        <c:ser>
          <c:idx val="10"/>
          <c:order val="10"/>
          <c:tx>
            <c:strRef>
              <c:f>Sheet1!$L$1</c:f>
              <c:strCache>
                <c:ptCount val="1"/>
                <c:pt idx="0">
                  <c:v>PVOH-Based</c:v>
                </c:pt>
              </c:strCache>
            </c:strRef>
          </c:tx>
          <c:spPr>
            <a:solidFill>
              <a:srgbClr val="B2B2B2"/>
            </a:solidFill>
            <a:ln>
              <a:noFill/>
            </a:ln>
          </c:spPr>
          <c:dLbls>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Sheet1!$L$2:$L$4</c:f>
              <c:numCache>
                <c:formatCode>General</c:formatCode>
                <c:ptCount val="3"/>
                <c:pt idx="0">
                  <c:v>1.9783104311115647</c:v>
                </c:pt>
                <c:pt idx="1">
                  <c:v>1.9885744619199774</c:v>
                </c:pt>
                <c:pt idx="2">
                  <c:v>2.0326303313027214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Monolayer Films</c:v>
                </c:pt>
              </c:strCache>
            </c:strRef>
          </c:tx>
          <c:spPr>
            <a:solidFill>
              <a:srgbClr val="3D85C6"/>
            </a:solidFill>
            <a:ln>
              <a:noFill/>
            </a:ln>
          </c:spPr>
          <c:dLbls>
            <c:dLbl>
              <c:idx val="0"/>
              <c:tx>
                <c:rich>
                  <a:bodyPr/>
                  <a:lstStyle/>
                  <a:p>
                    <a:r>
                      <a:rPr sz="1100">
                        <a:solidFill>
                          <a:srgbClr val="FFFFFF"/>
                        </a:solidFill>
                        <a:latin typeface="Calibri"/>
                      </a:rPr>
                      <a:t>17%</a:t>
                    </a:r>
                  </a:p>
                </c:rich>
              </c:tx>
              <c:dLblPos val="ctr"/>
              <c:showLegendKey val="0"/>
              <c:showVal val="1"/>
              <c:showCatName val="0"/>
              <c:showSerName val="0"/>
              <c:showPercent val="0"/>
              <c:showBubbleSize val="0"/>
            </c:dLbl>
            <c:dLbl>
              <c:idx val="1"/>
              <c:tx>
                <c:rich>
                  <a:bodyPr/>
                  <a:lstStyle/>
                  <a:p>
                    <a:r>
                      <a:rPr sz="1100">
                        <a:solidFill>
                          <a:srgbClr val="FFFFFF"/>
                        </a:solidFill>
                        <a:latin typeface="Calibri"/>
                      </a:rPr>
                      <a:t>17%</a:t>
                    </a:r>
                  </a:p>
                </c:rich>
              </c:tx>
              <c:dLblPos val="ctr"/>
              <c:showLegendKey val="0"/>
              <c:showVal val="1"/>
              <c:showCatName val="0"/>
              <c:showSerName val="0"/>
              <c:showPercent val="0"/>
              <c:showBubbleSize val="0"/>
            </c:dLbl>
            <c:dLbl>
              <c:idx val="2"/>
              <c:tx>
                <c:rich>
                  <a:bodyPr/>
                  <a:lstStyle/>
                  <a:p>
                    <a:r>
                      <a:rPr sz="1100">
                        <a:solidFill>
                          <a:srgbClr val="FFFFFF"/>
                        </a:solidFill>
                        <a:latin typeface="Calibri"/>
                      </a:rPr>
                      <a:t>16%</a:t>
                    </a:r>
                  </a:p>
                </c:rich>
              </c:tx>
              <c:dLblPos val="ctr"/>
              <c:showLegendKey val="0"/>
              <c:showVal val="1"/>
              <c:showCatName val="0"/>
              <c:showSerName val="0"/>
              <c:showPercent val="0"/>
              <c:showBubbleSize val="0"/>
            </c:dLbl>
            <c:dLbl>
              <c:idx val="3"/>
              <c:tx>
                <c:rich>
                  <a:bodyPr/>
                  <a:lstStyle/>
                  <a:p>
                    <a:r>
                      <a:rPr sz="1100">
                        <a:solidFill>
                          <a:srgbClr val="FFFFFF"/>
                        </a:solidFill>
                        <a:latin typeface="Calibri"/>
                      </a:rPr>
                      <a:t>16%</a:t>
                    </a:r>
                  </a:p>
                </c:rich>
              </c:tx>
              <c:dLblPos val="ctr"/>
              <c:showLegendKey val="0"/>
              <c:showVal val="1"/>
              <c:showCatName val="0"/>
              <c:showSerName val="0"/>
              <c:showPercent val="0"/>
              <c:showBubbleSize val="0"/>
            </c:dLbl>
            <c:dLbl>
              <c:idx val="4"/>
              <c:tx>
                <c:rich>
                  <a:bodyPr/>
                  <a:lstStyle/>
                  <a:p>
                    <a:r>
                      <a:rPr sz="1100">
                        <a:solidFill>
                          <a:srgbClr val="FFFFFF"/>
                        </a:solidFill>
                        <a:latin typeface="Calibri"/>
                      </a:rPr>
                      <a:t>16%</a:t>
                    </a:r>
                  </a:p>
                </c:rich>
              </c:tx>
              <c:dLblPos val="ctr"/>
              <c:showLegendKey val="0"/>
              <c:showVal val="1"/>
              <c:showCatName val="0"/>
              <c:showSerName val="0"/>
              <c:showPercent val="0"/>
              <c:showBubbleSize val="0"/>
            </c:dLbl>
            <c:dLbl>
              <c:idx val="5"/>
              <c:tx>
                <c:rich>
                  <a:bodyPr/>
                  <a:lstStyle/>
                  <a:p>
                    <a:r>
                      <a:rPr sz="1100">
                        <a:solidFill>
                          <a:srgbClr val="FFFFFF"/>
                        </a:solidFill>
                        <a:latin typeface="Calibri"/>
                      </a:rPr>
                      <a:t>16%</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Middle East &amp; Africa  ·  15,718</c:v>
                </c:pt>
                <c:pt idx="1">
                  <c:v>Latin America  ·  16,618</c:v>
                </c:pt>
                <c:pt idx="2">
                  <c:v>South Asia &amp; Pacific  ·  32,687</c:v>
                </c:pt>
                <c:pt idx="3">
                  <c:v>Europe  ·  49,393</c:v>
                </c:pt>
                <c:pt idx="4">
                  <c:v>North America  ·  62,068</c:v>
                </c:pt>
                <c:pt idx="5">
                  <c:v>East Asia  ·  63,723</c:v>
                </c:pt>
              </c:strCache>
            </c:strRef>
          </c:cat>
          <c:val>
            <c:numRef>
              <c:f>Sheet1!$B$2:$B$7</c:f>
              <c:numCache>
                <c:formatCode>General</c:formatCode>
                <c:ptCount val="6"/>
                <c:pt idx="0">
                  <c:v>16.549426060738543</c:v>
                </c:pt>
                <c:pt idx="1">
                  <c:v>17.082588520366684</c:v>
                </c:pt>
                <c:pt idx="2">
                  <c:v>15.740157435991382</c:v>
                </c:pt>
                <c:pt idx="3">
                  <c:v>15.955873281047674</c:v>
                </c:pt>
                <c:pt idx="4">
                  <c:v>15.974929661339274</c:v>
                </c:pt>
                <c:pt idx="5">
                  <c:v>16.18167309760226</c:v>
                </c:pt>
              </c:numCache>
            </c:numRef>
          </c:val>
        </c:ser>
        <c:ser>
          <c:idx val="1"/>
          <c:order val="1"/>
          <c:tx>
            <c:strRef>
              <c:f>Sheet1!$C$1</c:f>
              <c:strCache>
                <c:ptCount val="1"/>
                <c:pt idx="0">
                  <c:v>Coextruded Multilayer Films</c:v>
                </c:pt>
              </c:strCache>
            </c:strRef>
          </c:tx>
          <c:spPr>
            <a:solidFill>
              <a:srgbClr val="9E7E0A"/>
            </a:solidFill>
            <a:ln>
              <a:noFill/>
            </a:ln>
          </c:spPr>
          <c:dLbls>
            <c:dLbl>
              <c:idx val="0"/>
              <c:tx>
                <c:rich>
                  <a:bodyPr/>
                  <a:lstStyle/>
                  <a:p>
                    <a:r>
                      <a:rPr sz="1100">
                        <a:solidFill>
                          <a:srgbClr val="FFFFFF"/>
                        </a:solidFill>
                        <a:latin typeface="Calibri"/>
                      </a:rPr>
                      <a:t>29%</a:t>
                    </a:r>
                  </a:p>
                </c:rich>
              </c:tx>
              <c:dLblPos val="ctr"/>
              <c:showLegendKey val="0"/>
              <c:showVal val="1"/>
              <c:showCatName val="0"/>
              <c:showSerName val="0"/>
              <c:showPercent val="0"/>
              <c:showBubbleSize val="0"/>
            </c:dLbl>
            <c:dLbl>
              <c:idx val="1"/>
              <c:tx>
                <c:rich>
                  <a:bodyPr/>
                  <a:lstStyle/>
                  <a:p>
                    <a:r>
                      <a:rPr sz="1100">
                        <a:solidFill>
                          <a:srgbClr val="FFFFFF"/>
                        </a:solidFill>
                        <a:latin typeface="Calibri"/>
                      </a:rPr>
                      <a:t>29%</a:t>
                    </a:r>
                  </a:p>
                </c:rich>
              </c:tx>
              <c:dLblPos val="ctr"/>
              <c:showLegendKey val="0"/>
              <c:showVal val="1"/>
              <c:showCatName val="0"/>
              <c:showSerName val="0"/>
              <c:showPercent val="0"/>
              <c:showBubbleSize val="0"/>
            </c:dLbl>
            <c:dLbl>
              <c:idx val="2"/>
              <c:tx>
                <c:rich>
                  <a:bodyPr/>
                  <a:lstStyle/>
                  <a:p>
                    <a:r>
                      <a:rPr sz="1100">
                        <a:solidFill>
                          <a:srgbClr val="FFFFFF"/>
                        </a:solidFill>
                        <a:latin typeface="Calibri"/>
                      </a:rPr>
                      <a:t>29%</a:t>
                    </a:r>
                  </a:p>
                </c:rich>
              </c:tx>
              <c:dLblPos val="ctr"/>
              <c:showLegendKey val="0"/>
              <c:showVal val="1"/>
              <c:showCatName val="0"/>
              <c:showSerName val="0"/>
              <c:showPercent val="0"/>
              <c:showBubbleSize val="0"/>
            </c:dLbl>
            <c:dLbl>
              <c:idx val="3"/>
              <c:tx>
                <c:rich>
                  <a:bodyPr/>
                  <a:lstStyle/>
                  <a:p>
                    <a:r>
                      <a:rPr sz="1100">
                        <a:solidFill>
                          <a:srgbClr val="FFFFFF"/>
                        </a:solidFill>
                        <a:latin typeface="Calibri"/>
                      </a:rPr>
                      <a:t>29%</a:t>
                    </a:r>
                  </a:p>
                </c:rich>
              </c:tx>
              <c:dLblPos val="ctr"/>
              <c:showLegendKey val="0"/>
              <c:showVal val="1"/>
              <c:showCatName val="0"/>
              <c:showSerName val="0"/>
              <c:showPercent val="0"/>
              <c:showBubbleSize val="0"/>
            </c:dLbl>
            <c:dLbl>
              <c:idx val="4"/>
              <c:tx>
                <c:rich>
                  <a:bodyPr/>
                  <a:lstStyle/>
                  <a:p>
                    <a:r>
                      <a:rPr sz="1100">
                        <a:solidFill>
                          <a:srgbClr val="FFFFFF"/>
                        </a:solidFill>
                        <a:latin typeface="Calibri"/>
                      </a:rPr>
                      <a:t>29%</a:t>
                    </a:r>
                  </a:p>
                </c:rich>
              </c:tx>
              <c:dLblPos val="ctr"/>
              <c:showLegendKey val="0"/>
              <c:showVal val="1"/>
              <c:showCatName val="0"/>
              <c:showSerName val="0"/>
              <c:showPercent val="0"/>
              <c:showBubbleSize val="0"/>
            </c:dLbl>
            <c:dLbl>
              <c:idx val="5"/>
              <c:tx>
                <c:rich>
                  <a:bodyPr/>
                  <a:lstStyle/>
                  <a:p>
                    <a:r>
                      <a:rPr sz="1100">
                        <a:solidFill>
                          <a:srgbClr val="FFFFFF"/>
                        </a:solidFill>
                        <a:latin typeface="Calibri"/>
                      </a:rPr>
                      <a:t>29%</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Middle East &amp; Africa  ·  15,718</c:v>
                </c:pt>
                <c:pt idx="1">
                  <c:v>Latin America  ·  16,618</c:v>
                </c:pt>
                <c:pt idx="2">
                  <c:v>South Asia &amp; Pacific  ·  32,687</c:v>
                </c:pt>
                <c:pt idx="3">
                  <c:v>Europe  ·  49,393</c:v>
                </c:pt>
                <c:pt idx="4">
                  <c:v>North America  ·  62,068</c:v>
                </c:pt>
                <c:pt idx="5">
                  <c:v>East Asia  ·  63,723</c:v>
                </c:pt>
              </c:strCache>
            </c:strRef>
          </c:cat>
          <c:val>
            <c:numRef>
              <c:f>Sheet1!$C$2:$C$7</c:f>
              <c:numCache>
                <c:formatCode>General</c:formatCode>
                <c:ptCount val="6"/>
                <c:pt idx="0">
                  <c:v>28.810950588571803</c:v>
                </c:pt>
                <c:pt idx="1">
                  <c:v>28.52073736212912</c:v>
                </c:pt>
                <c:pt idx="2">
                  <c:v>28.737789300290057</c:v>
                </c:pt>
                <c:pt idx="3">
                  <c:v>29.07619825326744</c:v>
                </c:pt>
                <c:pt idx="4">
                  <c:v>28.906691892361998</c:v>
                </c:pt>
                <c:pt idx="5">
                  <c:v>28.693481341127402</c:v>
                </c:pt>
              </c:numCache>
            </c:numRef>
          </c:val>
        </c:ser>
        <c:ser>
          <c:idx val="2"/>
          <c:order val="2"/>
          <c:tx>
            <c:strRef>
              <c:f>Sheet1!$D$1</c:f>
              <c:strCache>
                <c:ptCount val="1"/>
                <c:pt idx="0">
                  <c:v>Laminated Films</c:v>
                </c:pt>
              </c:strCache>
            </c:strRef>
          </c:tx>
          <c:spPr>
            <a:solidFill>
              <a:srgbClr val="008189"/>
            </a:solidFill>
            <a:ln>
              <a:noFill/>
            </a:ln>
          </c:spPr>
          <c:dLbls>
            <c:dLbl>
              <c:idx val="0"/>
              <c:tx>
                <c:rich>
                  <a:bodyPr/>
                  <a:lstStyle/>
                  <a:p>
                    <a:r>
                      <a:rPr sz="1100">
                        <a:solidFill>
                          <a:srgbClr val="FFFFFF"/>
                        </a:solidFill>
                        <a:latin typeface="Calibri"/>
                      </a:rPr>
                      <a:t>25%</a:t>
                    </a:r>
                  </a:p>
                </c:rich>
              </c:tx>
              <c:dLblPos val="ctr"/>
              <c:showLegendKey val="0"/>
              <c:showVal val="1"/>
              <c:showCatName val="0"/>
              <c:showSerName val="0"/>
              <c:showPercent val="0"/>
              <c:showBubbleSize val="0"/>
            </c:dLbl>
            <c:dLbl>
              <c:idx val="1"/>
              <c:tx>
                <c:rich>
                  <a:bodyPr/>
                  <a:lstStyle/>
                  <a:p>
                    <a:r>
                      <a:rPr sz="1100">
                        <a:solidFill>
                          <a:srgbClr val="FFFFFF"/>
                        </a:solidFill>
                        <a:latin typeface="Calibri"/>
                      </a:rPr>
                      <a:t>24%</a:t>
                    </a:r>
                  </a:p>
                </c:rich>
              </c:tx>
              <c:dLblPos val="ctr"/>
              <c:showLegendKey val="0"/>
              <c:showVal val="1"/>
              <c:showCatName val="0"/>
              <c:showSerName val="0"/>
              <c:showPercent val="0"/>
              <c:showBubbleSize val="0"/>
            </c:dLbl>
            <c:dLbl>
              <c:idx val="2"/>
              <c:tx>
                <c:rich>
                  <a:bodyPr/>
                  <a:lstStyle/>
                  <a:p>
                    <a:r>
                      <a:rPr sz="1100">
                        <a:solidFill>
                          <a:srgbClr val="FFFFFF"/>
                        </a:solidFill>
                        <a:latin typeface="Calibri"/>
                      </a:rPr>
                      <a:t>26%</a:t>
                    </a:r>
                  </a:p>
                </c:rich>
              </c:tx>
              <c:dLblPos val="ctr"/>
              <c:showLegendKey val="0"/>
              <c:showVal val="1"/>
              <c:showCatName val="0"/>
              <c:showSerName val="0"/>
              <c:showPercent val="0"/>
              <c:showBubbleSize val="0"/>
            </c:dLbl>
            <c:dLbl>
              <c:idx val="3"/>
              <c:tx>
                <c:rich>
                  <a:bodyPr/>
                  <a:lstStyle/>
                  <a:p>
                    <a:r>
                      <a:rPr sz="1100">
                        <a:solidFill>
                          <a:srgbClr val="FFFFFF"/>
                        </a:solidFill>
                        <a:latin typeface="Calibri"/>
                      </a:rPr>
                      <a:t>25%</a:t>
                    </a:r>
                  </a:p>
                </c:rich>
              </c:tx>
              <c:dLblPos val="ctr"/>
              <c:showLegendKey val="0"/>
              <c:showVal val="1"/>
              <c:showCatName val="0"/>
              <c:showSerName val="0"/>
              <c:showPercent val="0"/>
              <c:showBubbleSize val="0"/>
            </c:dLbl>
            <c:dLbl>
              <c:idx val="4"/>
              <c:tx>
                <c:rich>
                  <a:bodyPr/>
                  <a:lstStyle/>
                  <a:p>
                    <a:r>
                      <a:rPr sz="1100">
                        <a:solidFill>
                          <a:srgbClr val="FFFFFF"/>
                        </a:solidFill>
                        <a:latin typeface="Calibri"/>
                      </a:rPr>
                      <a:t>25%</a:t>
                    </a:r>
                  </a:p>
                </c:rich>
              </c:tx>
              <c:dLblPos val="ctr"/>
              <c:showLegendKey val="0"/>
              <c:showVal val="1"/>
              <c:showCatName val="0"/>
              <c:showSerName val="0"/>
              <c:showPercent val="0"/>
              <c:showBubbleSize val="0"/>
            </c:dLbl>
            <c:dLbl>
              <c:idx val="5"/>
              <c:tx>
                <c:rich>
                  <a:bodyPr/>
                  <a:lstStyle/>
                  <a:p>
                    <a:r>
                      <a:rPr sz="1100">
                        <a:solidFill>
                          <a:srgbClr val="FFFFFF"/>
                        </a:solidFill>
                        <a:latin typeface="Calibri"/>
                      </a:rPr>
                      <a:t>26%</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Middle East &amp; Africa  ·  15,718</c:v>
                </c:pt>
                <c:pt idx="1">
                  <c:v>Latin America  ·  16,618</c:v>
                </c:pt>
                <c:pt idx="2">
                  <c:v>South Asia &amp; Pacific  ·  32,687</c:v>
                </c:pt>
                <c:pt idx="3">
                  <c:v>Europe  ·  49,393</c:v>
                </c:pt>
                <c:pt idx="4">
                  <c:v>North America  ·  62,068</c:v>
                </c:pt>
                <c:pt idx="5">
                  <c:v>East Asia  ·  63,723</c:v>
                </c:pt>
              </c:strCache>
            </c:strRef>
          </c:cat>
          <c:val>
            <c:numRef>
              <c:f>Sheet1!$D$2:$D$7</c:f>
              <c:numCache>
                <c:formatCode>General</c:formatCode>
                <c:ptCount val="6"/>
                <c:pt idx="0">
                  <c:v>24.532522037247077</c:v>
                </c:pt>
                <c:pt idx="1">
                  <c:v>24.17979709796437</c:v>
                </c:pt>
                <c:pt idx="2">
                  <c:v>25.504235343152676</c:v>
                </c:pt>
                <c:pt idx="3">
                  <c:v>25.366627698949056</c:v>
                </c:pt>
                <c:pt idx="4">
                  <c:v>25.14665504628002</c:v>
                </c:pt>
                <c:pt idx="5">
                  <c:v>25.578165515131612</c:v>
                </c:pt>
              </c:numCache>
            </c:numRef>
          </c:val>
        </c:ser>
        <c:ser>
          <c:idx val="3"/>
          <c:order val="3"/>
          <c:tx>
            <c:strRef>
              <c:f>Sheet1!$E$1</c:f>
              <c:strCache>
                <c:ptCount val="1"/>
                <c:pt idx="0">
                  <c:v>Coated Films</c:v>
                </c:pt>
              </c:strCache>
            </c:strRef>
          </c:tx>
          <c:spPr>
            <a:solidFill>
              <a:srgbClr val="40315E"/>
            </a:solidFill>
            <a:ln>
              <a:noFill/>
            </a:ln>
          </c:spPr>
          <c:cat>
            <c:strRef>
              <c:f>Sheet1!$A$2:$A$7</c:f>
              <c:strCache>
                <c:ptCount val="6"/>
                <c:pt idx="0">
                  <c:v>Middle East &amp; Africa  ·  15,718</c:v>
                </c:pt>
                <c:pt idx="1">
                  <c:v>Latin America  ·  16,618</c:v>
                </c:pt>
                <c:pt idx="2">
                  <c:v>South Asia &amp; Pacific  ·  32,687</c:v>
                </c:pt>
                <c:pt idx="3">
                  <c:v>Europe  ·  49,393</c:v>
                </c:pt>
                <c:pt idx="4">
                  <c:v>North America  ·  62,068</c:v>
                </c:pt>
                <c:pt idx="5">
                  <c:v>East Asia  ·  63,723</c:v>
                </c:pt>
              </c:strCache>
            </c:strRef>
          </c:cat>
          <c:val>
            <c:numRef>
              <c:f>Sheet1!$E$2:$E$7</c:f>
              <c:numCache>
                <c:formatCode>General</c:formatCode>
                <c:ptCount val="6"/>
                <c:pt idx="0">
                  <c:v>6.5983229323515875</c:v>
                </c:pt>
                <c:pt idx="1">
                  <c:v>6.4767166442034325</c:v>
                </c:pt>
                <c:pt idx="2">
                  <c:v>6.636149018781476</c:v>
                </c:pt>
                <c:pt idx="3">
                  <c:v>6.7379436714765095</c:v>
                </c:pt>
                <c:pt idx="4">
                  <c:v>6.639391818599265</c:v>
                </c:pt>
                <c:pt idx="5">
                  <c:v>6.422151291114919</c:v>
                </c:pt>
              </c:numCache>
            </c:numRef>
          </c:val>
        </c:ser>
        <c:ser>
          <c:idx val="4"/>
          <c:order val="4"/>
          <c:tx>
            <c:strRef>
              <c:f>Sheet1!$F$1</c:f>
              <c:strCache>
                <c:ptCount val="1"/>
                <c:pt idx="0">
                  <c:v>Metallized Films</c:v>
                </c:pt>
              </c:strCache>
            </c:strRef>
          </c:tx>
          <c:spPr>
            <a:solidFill>
              <a:srgbClr val="A35313"/>
            </a:solidFill>
            <a:ln>
              <a:noFill/>
            </a:ln>
          </c:spPr>
          <c:dLbls>
            <c:dLbl>
              <c:idx val="1"/>
              <c:tx>
                <c:rich>
                  <a:bodyPr/>
                  <a:lstStyle/>
                  <a:p>
                    <a:r>
                      <a:rPr sz="1100">
                        <a:solidFill>
                          <a:srgbClr val="FFFFFF"/>
                        </a:solidFill>
                        <a:latin typeface="Calibri"/>
                      </a:rPr>
                      <a:t>7%</a:t>
                    </a:r>
                  </a:p>
                </c:rich>
              </c:tx>
              <c:dLblPos val="ctr"/>
              <c:showLegendKey val="0"/>
              <c:showVal val="1"/>
              <c:showCatName val="0"/>
              <c:showSerName val="0"/>
              <c:showPercent val="0"/>
              <c:showBubbleSize val="0"/>
            </c:dLbl>
            <c:dLbl>
              <c:idx val="2"/>
              <c:tx>
                <c:rich>
                  <a:bodyPr/>
                  <a:lstStyle/>
                  <a:p>
                    <a:r>
                      <a:rPr sz="1100">
                        <a:solidFill>
                          <a:srgbClr val="FFFFFF"/>
                        </a:solidFill>
                        <a:latin typeface="Calibri"/>
                      </a:rPr>
                      <a:t>7%</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Middle East &amp; Africa  ·  15,718</c:v>
                </c:pt>
                <c:pt idx="1">
                  <c:v>Latin America  ·  16,618</c:v>
                </c:pt>
                <c:pt idx="2">
                  <c:v>South Asia &amp; Pacific  ·  32,687</c:v>
                </c:pt>
                <c:pt idx="3">
                  <c:v>Europe  ·  49,393</c:v>
                </c:pt>
                <c:pt idx="4">
                  <c:v>North America  ·  62,068</c:v>
                </c:pt>
                <c:pt idx="5">
                  <c:v>East Asia  ·  63,723</c:v>
                </c:pt>
              </c:strCache>
            </c:strRef>
          </c:cat>
          <c:val>
            <c:numRef>
              <c:f>Sheet1!$F$2:$F$7</c:f>
              <c:numCache>
                <c:formatCode>General</c:formatCode>
                <c:ptCount val="6"/>
                <c:pt idx="0">
                  <c:v>6.993986915197666</c:v>
                </c:pt>
                <c:pt idx="1">
                  <c:v>7.254270692261155</c:v>
                </c:pt>
                <c:pt idx="2">
                  <c:v>7.079804288611522</c:v>
                </c:pt>
                <c:pt idx="3">
                  <c:v>6.79043894095</c:v>
                </c:pt>
                <c:pt idx="4">
                  <c:v>6.863199833846559</c:v>
                </c:pt>
                <c:pt idx="5">
                  <c:v>6.947262195663447</c:v>
                </c:pt>
              </c:numCache>
            </c:numRef>
          </c:val>
        </c:ser>
        <c:ser>
          <c:idx val="5"/>
          <c:order val="5"/>
          <c:tx>
            <c:strRef>
              <c:f>Sheet1!$G$1</c:f>
              <c:strCache>
                <c:ptCount val="1"/>
                <c:pt idx="0">
                  <c:v>Foil-Laminated Structures</c:v>
                </c:pt>
              </c:strCache>
            </c:strRef>
          </c:tx>
          <c:spPr>
            <a:solidFill>
              <a:srgbClr val="808080"/>
            </a:solidFill>
            <a:ln>
              <a:noFill/>
            </a:ln>
          </c:spPr>
          <c:dLbls>
            <c:dLbl>
              <c:idx val="0"/>
              <c:tx>
                <c:rich>
                  <a:bodyPr/>
                  <a:lstStyle/>
                  <a:p>
                    <a:r>
                      <a:rPr sz="1100">
                        <a:solidFill>
                          <a:srgbClr val="FFFFFF"/>
                        </a:solidFill>
                        <a:latin typeface="Calibri"/>
                      </a:rPr>
                      <a:t>8%</a:t>
                    </a:r>
                  </a:p>
                </c:rich>
              </c:tx>
              <c:dLblPos val="ctr"/>
              <c:showLegendKey val="0"/>
              <c:showVal val="1"/>
              <c:showCatName val="0"/>
              <c:showSerName val="0"/>
              <c:showPercent val="0"/>
              <c:showBubbleSize val="0"/>
            </c:dLbl>
            <c:dLbl>
              <c:idx val="1"/>
              <c:tx>
                <c:rich>
                  <a:bodyPr/>
                  <a:lstStyle/>
                  <a:p>
                    <a:r>
                      <a:rPr sz="1100">
                        <a:solidFill>
                          <a:srgbClr val="FFFFFF"/>
                        </a:solidFill>
                        <a:latin typeface="Calibri"/>
                      </a:rPr>
                      <a:t>8%</a:t>
                    </a:r>
                  </a:p>
                </c:rich>
              </c:tx>
              <c:dLblPos val="ctr"/>
              <c:showLegendKey val="0"/>
              <c:showVal val="1"/>
              <c:showCatName val="0"/>
              <c:showSerName val="0"/>
              <c:showPercent val="0"/>
              <c:showBubbleSize val="0"/>
            </c:dLbl>
            <c:dLbl>
              <c:idx val="2"/>
              <c:tx>
                <c:rich>
                  <a:bodyPr/>
                  <a:lstStyle/>
                  <a:p>
                    <a:r>
                      <a:rPr sz="1100">
                        <a:solidFill>
                          <a:srgbClr val="FFFFFF"/>
                        </a:solidFill>
                        <a:latin typeface="Calibri"/>
                      </a:rPr>
                      <a:t>8%</a:t>
                    </a:r>
                  </a:p>
                </c:rich>
              </c:tx>
              <c:dLblPos val="ctr"/>
              <c:showLegendKey val="0"/>
              <c:showVal val="1"/>
              <c:showCatName val="0"/>
              <c:showSerName val="0"/>
              <c:showPercent val="0"/>
              <c:showBubbleSize val="0"/>
            </c:dLbl>
            <c:dLbl>
              <c:idx val="3"/>
              <c:tx>
                <c:rich>
                  <a:bodyPr/>
                  <a:lstStyle/>
                  <a:p>
                    <a:r>
                      <a:rPr sz="1100">
                        <a:solidFill>
                          <a:srgbClr val="FFFFFF"/>
                        </a:solidFill>
                        <a:latin typeface="Calibri"/>
                      </a:rPr>
                      <a:t>8%</a:t>
                    </a:r>
                  </a:p>
                </c:rich>
              </c:tx>
              <c:dLblPos val="ctr"/>
              <c:showLegendKey val="0"/>
              <c:showVal val="1"/>
              <c:showCatName val="0"/>
              <c:showSerName val="0"/>
              <c:showPercent val="0"/>
              <c:showBubbleSize val="0"/>
            </c:dLbl>
            <c:dLbl>
              <c:idx val="4"/>
              <c:tx>
                <c:rich>
                  <a:bodyPr/>
                  <a:lstStyle/>
                  <a:p>
                    <a:r>
                      <a:rPr sz="1100">
                        <a:solidFill>
                          <a:srgbClr val="FFFFFF"/>
                        </a:solidFill>
                        <a:latin typeface="Calibri"/>
                      </a:rPr>
                      <a:t>8%</a:t>
                    </a:r>
                  </a:p>
                </c:rich>
              </c:tx>
              <c:dLblPos val="ctr"/>
              <c:showLegendKey val="0"/>
              <c:showVal val="1"/>
              <c:showCatName val="0"/>
              <c:showSerName val="0"/>
              <c:showPercent val="0"/>
              <c:showBubbleSize val="0"/>
            </c:dLbl>
            <c:dLbl>
              <c:idx val="5"/>
              <c:tx>
                <c:rich>
                  <a:bodyPr/>
                  <a:lstStyle/>
                  <a:p>
                    <a:r>
                      <a:rPr sz="1100">
                        <a:solidFill>
                          <a:srgbClr val="FFFFFF"/>
                        </a:solidFill>
                        <a:latin typeface="Calibri"/>
                      </a:rPr>
                      <a:t>7%</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Middle East &amp; Africa  ·  15,718</c:v>
                </c:pt>
                <c:pt idx="1">
                  <c:v>Latin America  ·  16,618</c:v>
                </c:pt>
                <c:pt idx="2">
                  <c:v>South Asia &amp; Pacific  ·  32,687</c:v>
                </c:pt>
                <c:pt idx="3">
                  <c:v>Europe  ·  49,393</c:v>
                </c:pt>
                <c:pt idx="4">
                  <c:v>North America  ·  62,068</c:v>
                </c:pt>
                <c:pt idx="5">
                  <c:v>East Asia  ·  63,723</c:v>
                </c:pt>
              </c:strCache>
            </c:strRef>
          </c:cat>
          <c:val>
            <c:numRef>
              <c:f>Sheet1!$G$2:$G$7</c:f>
              <c:numCache>
                <c:formatCode>General</c:formatCode>
                <c:ptCount val="6"/>
                <c:pt idx="0">
                  <c:v>7.820687464897801</c:v>
                </c:pt>
                <c:pt idx="1">
                  <c:v>7.7163465791196275</c:v>
                </c:pt>
                <c:pt idx="2">
                  <c:v>7.64087207404854</c:v>
                </c:pt>
                <c:pt idx="3">
                  <c:v>7.737066584020715</c:v>
                </c:pt>
                <c:pt idx="4">
                  <c:v>7.6577534913401095</c:v>
                </c:pt>
                <c:pt idx="5">
                  <c:v>7.499747620543888</c:v>
                </c:pt>
              </c:numCache>
            </c:numRef>
          </c:val>
        </c:ser>
        <c:ser>
          <c:idx val="6"/>
          <c:order val="6"/>
          <c:tx>
            <c:strRef>
              <c:f>Sheet1!$H$1</c:f>
              <c:strCache>
                <c:ptCount val="1"/>
                <c:pt idx="0">
                  <c:v>Mono-Material Recyclable Structures</c:v>
                </c:pt>
              </c:strCache>
            </c:strRef>
          </c:tx>
          <c:spPr>
            <a:solidFill>
              <a:srgbClr val="0E72AE"/>
            </a:solidFill>
            <a:ln>
              <a:noFill/>
            </a:ln>
          </c:spPr>
          <c:dLbls>
            <c:dLbl>
              <c:idx val="0"/>
              <c:tx>
                <c:rich>
                  <a:bodyPr/>
                  <a:lstStyle/>
                  <a:p>
                    <a:r>
                      <a:rPr sz="1100">
                        <a:solidFill>
                          <a:srgbClr val="FFFFFF"/>
                        </a:solidFill>
                        <a:latin typeface="Calibri"/>
                      </a:rPr>
                      <a:t>9%</a:t>
                    </a:r>
                  </a:p>
                </c:rich>
              </c:tx>
              <c:dLblPos val="ctr"/>
              <c:showLegendKey val="0"/>
              <c:showVal val="1"/>
              <c:showCatName val="0"/>
              <c:showSerName val="0"/>
              <c:showPercent val="0"/>
              <c:showBubbleSize val="0"/>
            </c:dLbl>
            <c:dLbl>
              <c:idx val="1"/>
              <c:tx>
                <c:rich>
                  <a:bodyPr/>
                  <a:lstStyle/>
                  <a:p>
                    <a:r>
                      <a:rPr sz="1100">
                        <a:solidFill>
                          <a:srgbClr val="FFFFFF"/>
                        </a:solidFill>
                        <a:latin typeface="Calibri"/>
                      </a:rPr>
                      <a:t>9%</a:t>
                    </a:r>
                  </a:p>
                </c:rich>
              </c:tx>
              <c:dLblPos val="ctr"/>
              <c:showLegendKey val="0"/>
              <c:showVal val="1"/>
              <c:showCatName val="0"/>
              <c:showSerName val="0"/>
              <c:showPercent val="0"/>
              <c:showBubbleSize val="0"/>
            </c:dLbl>
            <c:dLbl>
              <c:idx val="2"/>
              <c:tx>
                <c:rich>
                  <a:bodyPr/>
                  <a:lstStyle/>
                  <a:p>
                    <a:r>
                      <a:rPr sz="1100">
                        <a:solidFill>
                          <a:srgbClr val="FFFFFF"/>
                        </a:solidFill>
                        <a:latin typeface="Calibri"/>
                      </a:rPr>
                      <a:t>9%</a:t>
                    </a:r>
                  </a:p>
                </c:rich>
              </c:tx>
              <c:dLblPos val="ctr"/>
              <c:showLegendKey val="0"/>
              <c:showVal val="1"/>
              <c:showCatName val="0"/>
              <c:showSerName val="0"/>
              <c:showPercent val="0"/>
              <c:showBubbleSize val="0"/>
            </c:dLbl>
            <c:dLbl>
              <c:idx val="3"/>
              <c:tx>
                <c:rich>
                  <a:bodyPr/>
                  <a:lstStyle/>
                  <a:p>
                    <a:r>
                      <a:rPr sz="1100">
                        <a:solidFill>
                          <a:srgbClr val="FFFFFF"/>
                        </a:solidFill>
                        <a:latin typeface="Calibri"/>
                      </a:rPr>
                      <a:t>8%</a:t>
                    </a:r>
                  </a:p>
                </c:rich>
              </c:tx>
              <c:dLblPos val="ctr"/>
              <c:showLegendKey val="0"/>
              <c:showVal val="1"/>
              <c:showCatName val="0"/>
              <c:showSerName val="0"/>
              <c:showPercent val="0"/>
              <c:showBubbleSize val="0"/>
            </c:dLbl>
            <c:dLbl>
              <c:idx val="4"/>
              <c:tx>
                <c:rich>
                  <a:bodyPr/>
                  <a:lstStyle/>
                  <a:p>
                    <a:r>
                      <a:rPr sz="1100">
                        <a:solidFill>
                          <a:srgbClr val="FFFFFF"/>
                        </a:solidFill>
                        <a:latin typeface="Calibri"/>
                      </a:rPr>
                      <a:t>9%</a:t>
                    </a:r>
                  </a:p>
                </c:rich>
              </c:tx>
              <c:dLblPos val="ctr"/>
              <c:showLegendKey val="0"/>
              <c:showVal val="1"/>
              <c:showCatName val="0"/>
              <c:showSerName val="0"/>
              <c:showPercent val="0"/>
              <c:showBubbleSize val="0"/>
            </c:dLbl>
            <c:dLbl>
              <c:idx val="5"/>
              <c:tx>
                <c:rich>
                  <a:bodyPr/>
                  <a:lstStyle/>
                  <a:p>
                    <a:r>
                      <a:rPr sz="1100">
                        <a:solidFill>
                          <a:srgbClr val="FFFFFF"/>
                        </a:solidFill>
                        <a:latin typeface="Calibri"/>
                      </a:rPr>
                      <a:t>9%</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Middle East &amp; Africa  ·  15,718</c:v>
                </c:pt>
                <c:pt idx="1">
                  <c:v>Latin America  ·  16,618</c:v>
                </c:pt>
                <c:pt idx="2">
                  <c:v>South Asia &amp; Pacific  ·  32,687</c:v>
                </c:pt>
                <c:pt idx="3">
                  <c:v>Europe  ·  49,393</c:v>
                </c:pt>
                <c:pt idx="4">
                  <c:v>North America  ·  62,068</c:v>
                </c:pt>
                <c:pt idx="5">
                  <c:v>East Asia  ·  63,723</c:v>
                </c:pt>
              </c:strCache>
            </c:strRef>
          </c:cat>
          <c:val>
            <c:numRef>
              <c:f>Sheet1!$H$2:$H$7</c:f>
              <c:numCache>
                <c:formatCode>General</c:formatCode>
                <c:ptCount val="6"/>
                <c:pt idx="0">
                  <c:v>8.69410400099552</c:v>
                </c:pt>
                <c:pt idx="1">
                  <c:v>8.76954310395561</c:v>
                </c:pt>
                <c:pt idx="2">
                  <c:v>8.66099253912435</c:v>
                </c:pt>
                <c:pt idx="3">
                  <c:v>8.335851570288613</c:v>
                </c:pt>
                <c:pt idx="4">
                  <c:v>8.81137825623278</c:v>
                </c:pt>
                <c:pt idx="5">
                  <c:v>8.677518938816457</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f>Sheet1!$B$1</c:f>
              <c:strCache>
                <c:ptCount val="1"/>
                <c:pt idx="0">
                  <c:v>Monolayer Films</c:v>
                </c:pt>
              </c:strCache>
            </c:strRef>
          </c:tx>
          <c:spPr>
            <a:solidFill>
              <a:srgbClr val="3D85C6"/>
            </a:solidFill>
          </c:spPr>
          <c:invertIfNegative val="0"/>
          <c:xVal>
            <c:numRef>
              <c:f>Sheet1!$A$2:$A$2</c:f>
              <c:numCache>
                <c:formatCode>General</c:formatCode>
                <c:ptCount val="1"/>
                <c:pt idx="0">
                  <c:v>102.60441204771749</c:v>
                </c:pt>
              </c:numCache>
            </c:numRef>
          </c:xVal>
          <c:yVal>
            <c:numRef>
              <c:f>Sheet1!$B$2:$B$2</c:f>
              <c:numCache>
                <c:formatCode>General</c:formatCode>
                <c:ptCount val="1"/>
                <c:pt idx="0">
                  <c:v>110.9670434945267</c:v>
                </c:pt>
              </c:numCache>
            </c:numRef>
          </c:yVal>
          <c:bubbleSize>
            <c:numRef>
              <c:f>Sheet1!$C$2:$C$2</c:f>
              <c:numCache>
                <c:formatCode>General</c:formatCode>
                <c:ptCount val="1"/>
                <c:pt idx="0">
                  <c:v>38693.091</c:v>
                </c:pt>
              </c:numCache>
            </c:numRef>
          </c:bubbleSize>
          <c:bubble3D val="0"/>
        </c:ser>
        <c:ser>
          <c:idx val="1"/>
          <c:order val="1"/>
          <c:tx>
            <c:strRef>
              <c:f>Sheet1!$B$4</c:f>
              <c:strCache>
                <c:ptCount val="1"/>
                <c:pt idx="0">
                  <c:v>Coextruded Multilayer Films</c:v>
                </c:pt>
              </c:strCache>
            </c:strRef>
          </c:tx>
          <c:spPr>
            <a:solidFill>
              <a:srgbClr val="9E7E0A"/>
            </a:solidFill>
          </c:spPr>
          <c:invertIfNegative val="0"/>
          <c:xVal>
            <c:numRef>
              <c:f>Sheet1!$A$5:$A$5</c:f>
              <c:numCache>
                <c:formatCode>General</c:formatCode>
                <c:ptCount val="1"/>
                <c:pt idx="0">
                  <c:v>98.19639659050699</c:v>
                </c:pt>
              </c:numCache>
            </c:numRef>
          </c:xVal>
          <c:yVal>
            <c:numRef>
              <c:f>Sheet1!$B$5:$B$5</c:f>
              <c:numCache>
                <c:formatCode>General</c:formatCode>
                <c:ptCount val="1"/>
                <c:pt idx="0">
                  <c:v>204.05495176581462</c:v>
                </c:pt>
              </c:numCache>
            </c:numRef>
          </c:yVal>
          <c:bubbleSize>
            <c:numRef>
              <c:f>Sheet1!$C$5:$C$5</c:f>
              <c:numCache>
                <c:formatCode>General</c:formatCode>
                <c:ptCount val="1"/>
                <c:pt idx="0">
                  <c:v>69249.766</c:v>
                </c:pt>
              </c:numCache>
            </c:numRef>
          </c:bubbleSize>
          <c:bubble3D val="0"/>
        </c:ser>
        <c:ser>
          <c:idx val="2"/>
          <c:order val="2"/>
          <c:tx>
            <c:strRef>
              <c:f>Sheet1!$B$7</c:f>
              <c:strCache>
                <c:ptCount val="1"/>
                <c:pt idx="0">
                  <c:v>Laminated Films</c:v>
                </c:pt>
              </c:strCache>
            </c:strRef>
          </c:tx>
          <c:spPr>
            <a:solidFill>
              <a:srgbClr val="008189"/>
            </a:solidFill>
          </c:spPr>
          <c:invertIfNegative val="0"/>
          <c:xVal>
            <c:numRef>
              <c:f>Sheet1!$A$8:$A$8</c:f>
              <c:numCache>
                <c:formatCode>General</c:formatCode>
                <c:ptCount val="1"/>
                <c:pt idx="0">
                  <c:v>98.6211740329501</c:v>
                </c:pt>
              </c:numCache>
            </c:numRef>
          </c:xVal>
          <c:yVal>
            <c:numRef>
              <c:f>Sheet1!$B$8:$B$8</c:f>
              <c:numCache>
                <c:formatCode>General</c:formatCode>
                <c:ptCount val="1"/>
                <c:pt idx="0">
                  <c:v>178.2409993713284</c:v>
                </c:pt>
              </c:numCache>
            </c:numRef>
          </c:yVal>
          <c:bubbleSize>
            <c:numRef>
              <c:f>Sheet1!$C$8:$C$8</c:f>
              <c:numCache>
                <c:formatCode>General</c:formatCode>
                <c:ptCount val="1"/>
                <c:pt idx="0">
                  <c:v>60647.683</c:v>
                </c:pt>
              </c:numCache>
            </c:numRef>
          </c:bubbleSize>
          <c:bubble3D val="0"/>
        </c:ser>
        <c:ser>
          <c:idx val="3"/>
          <c:order val="3"/>
          <c:tx>
            <c:strRef>
              <c:f>Sheet1!$B$10</c:f>
              <c:strCache>
                <c:ptCount val="1"/>
                <c:pt idx="0">
                  <c:v>Coated Films</c:v>
                </c:pt>
              </c:strCache>
            </c:strRef>
          </c:tx>
          <c:spPr>
            <a:solidFill>
              <a:srgbClr val="40315E"/>
            </a:solidFill>
          </c:spPr>
          <c:invertIfNegative val="0"/>
          <c:xVal>
            <c:numRef>
              <c:f>Sheet1!$A$11:$A$11</c:f>
              <c:numCache>
                <c:formatCode>General</c:formatCode>
                <c:ptCount val="1"/>
                <c:pt idx="0">
                  <c:v>99.46732192176924</c:v>
                </c:pt>
              </c:numCache>
            </c:numRef>
          </c:xVal>
          <c:yVal>
            <c:numRef>
              <c:f>Sheet1!$B$11:$B$11</c:f>
              <c:numCache>
                <c:formatCode>General</c:formatCode>
                <c:ptCount val="1"/>
                <c:pt idx="0">
                  <c:v>46.26481449610091</c:v>
                </c:pt>
              </c:numCache>
            </c:numRef>
          </c:yVal>
          <c:bubbleSize>
            <c:numRef>
              <c:f>Sheet1!$C$11:$C$11</c:f>
              <c:numCache>
                <c:formatCode>General</c:formatCode>
                <c:ptCount val="1"/>
                <c:pt idx="0">
                  <c:v>15824.074</c:v>
                </c:pt>
              </c:numCache>
            </c:numRef>
          </c:bubbleSize>
          <c:bubble3D val="0"/>
        </c:ser>
        <c:ser>
          <c:idx val="4"/>
          <c:order val="4"/>
          <c:tx>
            <c:strRef>
              <c:f>Sheet1!$B$13</c:f>
              <c:strCache>
                <c:ptCount val="1"/>
                <c:pt idx="0">
                  <c:v>Metallized Films</c:v>
                </c:pt>
              </c:strCache>
            </c:strRef>
          </c:tx>
          <c:spPr>
            <a:solidFill>
              <a:srgbClr val="A35313"/>
            </a:solidFill>
          </c:spPr>
          <c:invertIfNegative val="0"/>
          <c:xVal>
            <c:numRef>
              <c:f>Sheet1!$A$14:$A$14</c:f>
              <c:numCache>
                <c:formatCode>General</c:formatCode>
                <c:ptCount val="1"/>
                <c:pt idx="0">
                  <c:v>94.65071720313159</c:v>
                </c:pt>
              </c:numCache>
            </c:numRef>
          </c:xVal>
          <c:yVal>
            <c:numRef>
              <c:f>Sheet1!$B$14:$B$14</c:f>
              <c:numCache>
                <c:formatCode>General</c:formatCode>
                <c:ptCount val="1"/>
                <c:pt idx="0">
                  <c:v>50.175534351414484</c:v>
                </c:pt>
              </c:numCache>
            </c:numRef>
          </c:yVal>
          <c:bubbleSize>
            <c:numRef>
              <c:f>Sheet1!$C$14:$C$14</c:f>
              <c:numCache>
                <c:formatCode>General</c:formatCode>
                <c:ptCount val="1"/>
                <c:pt idx="0">
                  <c:v>16659.96</c:v>
                </c:pt>
              </c:numCache>
            </c:numRef>
          </c:bubbleSize>
          <c:bubble3D val="0"/>
        </c:ser>
        <c:ser>
          <c:idx val="5"/>
          <c:order val="5"/>
          <c:tx>
            <c:strRef>
              <c:f>Sheet1!$B$16</c:f>
              <c:strCache>
                <c:ptCount val="1"/>
                <c:pt idx="0">
                  <c:v>Foil-Laminated Structures</c:v>
                </c:pt>
              </c:strCache>
            </c:strRef>
          </c:tx>
          <c:spPr>
            <a:solidFill>
              <a:srgbClr val="808080"/>
            </a:solidFill>
          </c:spPr>
          <c:invertIfNegative val="0"/>
          <c:xVal>
            <c:numRef>
              <c:f>Sheet1!$A$17:$A$17</c:f>
              <c:numCache>
                <c:formatCode>General</c:formatCode>
                <c:ptCount val="1"/>
                <c:pt idx="0">
                  <c:v>100.3856815389077</c:v>
                </c:pt>
              </c:numCache>
            </c:numRef>
          </c:xVal>
          <c:yVal>
            <c:numRef>
              <c:f>Sheet1!$B$17:$B$17</c:f>
              <c:numCache>
                <c:formatCode>General</c:formatCode>
                <c:ptCount val="1"/>
                <c:pt idx="0">
                  <c:v>53.38521145400543</c:v>
                </c:pt>
              </c:numCache>
            </c:numRef>
          </c:yVal>
          <c:bubbleSize>
            <c:numRef>
              <c:f>Sheet1!$C$17:$C$17</c:f>
              <c:numCache>
                <c:formatCode>General</c:formatCode>
                <c:ptCount val="1"/>
                <c:pt idx="0">
                  <c:v>18362.886</c:v>
                </c:pt>
              </c:numCache>
            </c:numRef>
          </c:bubbleSize>
          <c:bubble3D val="0"/>
        </c:ser>
        <c:ser>
          <c:idx val="6"/>
          <c:order val="6"/>
          <c:tx>
            <c:strRef>
              <c:f>Sheet1!$B$19</c:f>
              <c:strCache>
                <c:ptCount val="1"/>
                <c:pt idx="0">
                  <c:v>Mono-Material Recyclable Structures</c:v>
                </c:pt>
              </c:strCache>
            </c:strRef>
          </c:tx>
          <c:spPr>
            <a:solidFill>
              <a:srgbClr val="0E72AE"/>
            </a:solidFill>
          </c:spPr>
          <c:invertIfNegative val="0"/>
          <c:xVal>
            <c:numRef>
              <c:f>Sheet1!$A$20:$A$20</c:f>
              <c:numCache>
                <c:formatCode>General</c:formatCode>
                <c:ptCount val="1"/>
                <c:pt idx="0">
                  <c:v>110.0544319967575</c:v>
                </c:pt>
              </c:numCache>
            </c:numRef>
          </c:xVal>
          <c:yVal>
            <c:numRef>
              <c:f>Sheet1!$B$20:$B$20</c:f>
              <c:numCache>
                <c:formatCode>General</c:formatCode>
                <c:ptCount val="1"/>
                <c:pt idx="0">
                  <c:v>56.91144506680953</c:v>
                </c:pt>
              </c:numCache>
            </c:numRef>
          </c:yVal>
          <c:bubbleSize>
            <c:numRef>
              <c:f>Sheet1!$C$20:$C$20</c:f>
              <c:numCache>
                <c:formatCode>General</c:formatCode>
                <c:ptCount val="1"/>
                <c:pt idx="0">
                  <c:v>20770.951999999997</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20.0"/>
          <c:min val="85.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50.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0.0</c:v>
                </c:pt>
                <c:pt idx="1">
                  <c:v>20187.489</c:v>
                </c:pt>
                <c:pt idx="2">
                  <c:v>22657.879</c:v>
                </c:pt>
                <c:pt idx="3">
                  <c:v>25709.12</c:v>
                </c:pt>
                <c:pt idx="4">
                  <c:v>29431.996</c:v>
                </c:pt>
                <c:pt idx="5">
                  <c:v>33773.166</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20187.489</c:v>
                </c:pt>
                <c:pt idx="1">
                  <c:v>2470.3899999999994</c:v>
                </c:pt>
                <c:pt idx="2">
                  <c:v>3051.240999999998</c:v>
                </c:pt>
                <c:pt idx="3">
                  <c:v>3722.876</c:v>
                </c:pt>
                <c:pt idx="4">
                  <c:v>4341.169999999998</c:v>
                </c:pt>
                <c:pt idx="5">
                  <c:v>4919.925000000003</c:v>
                </c:pt>
                <c:pt idx="6">
                  <c:v>38693.091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0.0</c:v>
                </c:pt>
                <c:pt idx="1">
                  <c:v>37122.347</c:v>
                </c:pt>
                <c:pt idx="2">
                  <c:v>41332.145</c:v>
                </c:pt>
                <c:pt idx="3">
                  <c:v>46591.664000000004</c:v>
                </c:pt>
                <c:pt idx="4">
                  <c:v>53075.318</c:v>
                </c:pt>
                <c:pt idx="5">
                  <c:v>60674.734</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37122.347</c:v>
                </c:pt>
                <c:pt idx="1">
                  <c:v>4209.797999999995</c:v>
                </c:pt>
                <c:pt idx="2">
                  <c:v>5259.5190000000075</c:v>
                </c:pt>
                <c:pt idx="3">
                  <c:v>6483.653999999995</c:v>
                </c:pt>
                <c:pt idx="4">
                  <c:v>7599.415999999997</c:v>
                </c:pt>
                <c:pt idx="5">
                  <c:v>8575.032000000007</c:v>
                </c:pt>
                <c:pt idx="6">
                  <c:v>69249.766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0.0</c:v>
                </c:pt>
                <c:pt idx="1">
                  <c:v>32426.188</c:v>
                </c:pt>
                <c:pt idx="2">
                  <c:v>36253.794</c:v>
                </c:pt>
                <c:pt idx="3">
                  <c:v>40960.77</c:v>
                </c:pt>
                <c:pt idx="4">
                  <c:v>46634.681</c:v>
                </c:pt>
                <c:pt idx="5">
                  <c:v>53225.41</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32426.188</c:v>
                </c:pt>
                <c:pt idx="1">
                  <c:v>3827.6060000000034</c:v>
                </c:pt>
                <c:pt idx="2">
                  <c:v>4706.975999999995</c:v>
                </c:pt>
                <c:pt idx="3">
                  <c:v>5673.911</c:v>
                </c:pt>
                <c:pt idx="4">
                  <c:v>6590.729000000007</c:v>
                </c:pt>
                <c:pt idx="5">
                  <c:v>7422.272999999994</c:v>
                </c:pt>
                <c:pt idx="6">
                  <c:v>60647.683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0.0</c:v>
                </c:pt>
                <c:pt idx="1">
                  <c:v>8416.647</c:v>
                </c:pt>
                <c:pt idx="2">
                  <c:v>9408.169</c:v>
                </c:pt>
                <c:pt idx="3">
                  <c:v>10630.646</c:v>
                </c:pt>
                <c:pt idx="4">
                  <c:v>12124.992</c:v>
                </c:pt>
                <c:pt idx="5">
                  <c:v>13864.946</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8416.647</c:v>
                </c:pt>
                <c:pt idx="1">
                  <c:v>991.521999999999</c:v>
                </c:pt>
                <c:pt idx="2">
                  <c:v>1222.4770000000008</c:v>
                </c:pt>
                <c:pt idx="3">
                  <c:v>1494.3459999999995</c:v>
                </c:pt>
                <c:pt idx="4">
                  <c:v>1739.9539999999997</c:v>
                </c:pt>
                <c:pt idx="5">
                  <c:v>1959.1280000000006</c:v>
                </c:pt>
                <c:pt idx="6">
                  <c:v>15824.074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0.0</c:v>
                </c:pt>
                <c:pt idx="1">
                  <c:v>9128.098</c:v>
                </c:pt>
                <c:pt idx="2">
                  <c:v>10212.859</c:v>
                </c:pt>
                <c:pt idx="3">
                  <c:v>11490.479</c:v>
                </c:pt>
                <c:pt idx="4">
                  <c:v>12993.651</c:v>
                </c:pt>
                <c:pt idx="5">
                  <c:v>14720.974</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9128.098</c:v>
                </c:pt>
                <c:pt idx="1">
                  <c:v>1084.7610000000004</c:v>
                </c:pt>
                <c:pt idx="2">
                  <c:v>1277.619999999999</c:v>
                </c:pt>
                <c:pt idx="3">
                  <c:v>1503.1720000000005</c:v>
                </c:pt>
                <c:pt idx="4">
                  <c:v>1727.3230000000003</c:v>
                </c:pt>
                <c:pt idx="5">
                  <c:v>1938.985999999999</c:v>
                </c:pt>
                <c:pt idx="6">
                  <c:v>16659.96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0.0</c:v>
                </c:pt>
                <c:pt idx="1">
                  <c:v>9712.013</c:v>
                </c:pt>
                <c:pt idx="2">
                  <c:v>10873.681</c:v>
                </c:pt>
                <c:pt idx="3">
                  <c:v>12309.16</c:v>
                </c:pt>
                <c:pt idx="4">
                  <c:v>14036.817</c:v>
                </c:pt>
                <c:pt idx="5">
                  <c:v>16063.704</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9712.013</c:v>
                </c:pt>
                <c:pt idx="1">
                  <c:v>1161.6679999999997</c:v>
                </c:pt>
                <c:pt idx="2">
                  <c:v>1435.4789999999994</c:v>
                </c:pt>
                <c:pt idx="3">
                  <c:v>1727.6569999999992</c:v>
                </c:pt>
                <c:pt idx="4">
                  <c:v>2026.8870000000006</c:v>
                </c:pt>
                <c:pt idx="5">
                  <c:v>2299.181999999999</c:v>
                </c:pt>
                <c:pt idx="6">
                  <c:v>18362.886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0.0</c:v>
                </c:pt>
                <c:pt idx="1">
                  <c:v>10353.517</c:v>
                </c:pt>
                <c:pt idx="2">
                  <c:v>11691.741</c:v>
                </c:pt>
                <c:pt idx="3">
                  <c:v>13367.7</c:v>
                </c:pt>
                <c:pt idx="4">
                  <c:v>15460.563999999998</c:v>
                </c:pt>
                <c:pt idx="5">
                  <c:v>17942.476</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10353.517</c:v>
                </c:pt>
                <c:pt idx="1">
                  <c:v>1338.2240000000002</c:v>
                </c:pt>
                <c:pt idx="2">
                  <c:v>1675.9590000000007</c:v>
                </c:pt>
                <c:pt idx="3">
                  <c:v>2092.8639999999978</c:v>
                </c:pt>
                <c:pt idx="4">
                  <c:v>2481.9120000000003</c:v>
                </c:pt>
                <c:pt idx="5">
                  <c:v>2828.4759999999987</c:v>
                </c:pt>
                <c:pt idx="6">
                  <c:v>20770.951999999997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Coextruded Multilayer Films</c:v>
                </c:pt>
              </c:strCache>
            </c:strRef>
          </c:tx>
          <c:spPr>
            <a:solidFill>
              <a:srgbClr val="3D85C6"/>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29.573500064356</c:v>
                </c:pt>
                <c:pt idx="1">
                  <c:v>29.15070739511637</c:v>
                </c:pt>
                <c:pt idx="2">
                  <c:v>28.829034513578982</c:v>
                </c:pt>
              </c:numCache>
            </c:numRef>
          </c:val>
        </c:ser>
        <c:ser>
          <c:idx val="1"/>
          <c:order val="1"/>
          <c:tx>
            <c:strRef>
              <c:f>Sheet1!$C$1</c:f>
              <c:strCache>
                <c:ptCount val="1"/>
                <c:pt idx="0">
                  <c:v>Laminated Films</c:v>
                </c:pt>
              </c:strCache>
            </c:strRef>
          </c:tx>
          <c:spPr>
            <a:solidFill>
              <a:srgbClr val="9E7E0A"/>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25.476605527786354</c:v>
                </c:pt>
                <c:pt idx="1">
                  <c:v>25.462999910189772</c:v>
                </c:pt>
                <c:pt idx="2">
                  <c:v>25.247943023743897</c:v>
                </c:pt>
              </c:numCache>
            </c:numRef>
          </c:val>
        </c:ser>
        <c:ser>
          <c:idx val="2"/>
          <c:order val="2"/>
          <c:tx>
            <c:strRef>
              <c:f>Sheet1!$D$1</c:f>
              <c:strCache>
                <c:ptCount val="1"/>
                <c:pt idx="0">
                  <c:v>Monolayer Films</c:v>
                </c:pt>
              </c:strCache>
            </c:strRef>
          </c:tx>
          <c:spPr>
            <a:solidFill>
              <a:srgbClr val="008189"/>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15.710048112101536</c:v>
                </c:pt>
                <c:pt idx="1">
                  <c:v>15.852434784932385</c:v>
                </c:pt>
                <c:pt idx="2">
                  <c:v>16.108133215584473</c:v>
                </c:pt>
              </c:numCache>
            </c:numRef>
          </c:val>
        </c:ser>
        <c:ser>
          <c:idx val="3"/>
          <c:order val="3"/>
          <c:tx>
            <c:strRef>
              <c:f>Sheet1!$E$1</c:f>
              <c:strCache>
                <c:ptCount val="1"/>
                <c:pt idx="0">
                  <c:v>Mono-Material Recyclable Structures</c:v>
                </c:pt>
              </c:strCache>
            </c:strRef>
          </c:tx>
          <c:spPr>
            <a:solidFill>
              <a:srgbClr val="40315E"/>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8.008261270786834</c:v>
                </c:pt>
                <c:pt idx="1">
                  <c:v>8.130206438115646</c:v>
                </c:pt>
                <c:pt idx="2">
                  <c:v>8.64705437543128</c:v>
                </c:pt>
              </c:numCache>
            </c:numRef>
          </c:val>
        </c:ser>
        <c:ser>
          <c:idx val="4"/>
          <c:order val="4"/>
          <c:tx>
            <c:strRef>
              <c:f>Sheet1!$F$1</c:f>
              <c:strCache>
                <c:ptCount val="1"/>
                <c:pt idx="0">
                  <c:v>Foil-Laminated Structures</c:v>
                </c:pt>
              </c:strCache>
            </c:strRef>
          </c:tx>
          <c:spPr>
            <a:solidFill>
              <a:srgbClr val="A35313"/>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Sheet1!$F$2:$F$4</c:f>
              <c:numCache>
                <c:formatCode>General</c:formatCode>
                <c:ptCount val="3"/>
                <c:pt idx="0">
                  <c:v>7.636127222772149</c:v>
                </c:pt>
                <c:pt idx="1">
                  <c:v>7.626458779143633</c:v>
                </c:pt>
                <c:pt idx="2">
                  <c:v>7.644564087955421</c:v>
                </c:pt>
              </c:numCache>
            </c:numRef>
          </c:val>
        </c:ser>
        <c:ser>
          <c:idx val="5"/>
          <c:order val="5"/>
          <c:tx>
            <c:strRef>
              <c:f>Sheet1!$G$1</c:f>
              <c:strCache>
                <c:ptCount val="1"/>
                <c:pt idx="0">
                  <c:v>Metallized Films</c:v>
                </c:pt>
              </c:strCache>
            </c:strRef>
          </c:tx>
          <c:spPr>
            <a:solidFill>
              <a:srgbClr val="808080"/>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Sheet1!$G$2:$G$4</c:f>
              <c:numCache>
                <c:formatCode>General</c:formatCode>
                <c:ptCount val="3"/>
                <c:pt idx="0">
                  <c:v>7.075644828364118</c:v>
                </c:pt>
                <c:pt idx="1">
                  <c:v>7.167933478773497</c:v>
                </c:pt>
                <c:pt idx="2">
                  <c:v>6.935627216918615</c:v>
                </c:pt>
              </c:numCache>
            </c:numRef>
          </c:val>
        </c:ser>
        <c:ser>
          <c:idx val="6"/>
          <c:order val="6"/>
          <c:tx>
            <c:strRef>
              <c:f>Sheet1!$H$1</c:f>
              <c:strCache>
                <c:ptCount val="1"/>
                <c:pt idx="0">
                  <c:v>Coated Films</c:v>
                </c:pt>
              </c:strCache>
            </c:strRef>
          </c:tx>
          <c:spPr>
            <a:solidFill>
              <a:srgbClr val="0E72AE"/>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Sheet1!$H$2:$H$4</c:f>
              <c:numCache>
                <c:formatCode>General</c:formatCode>
                <c:ptCount val="3"/>
                <c:pt idx="0">
                  <c:v>6.519812973833004</c:v>
                </c:pt>
                <c:pt idx="1">
                  <c:v>6.6092592137287</c:v>
                </c:pt>
                <c:pt idx="2">
                  <c:v>6.587643566787328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Low-Barrier Films</c:v>
                </c:pt>
              </c:strCache>
            </c:strRef>
          </c:tx>
          <c:spPr>
            <a:solidFill>
              <a:srgbClr val="3D85C6"/>
            </a:solidFill>
            <a:ln>
              <a:noFill/>
            </a:ln>
          </c:spPr>
          <c:dLbls>
            <c:dLbl>
              <c:idx val="0"/>
              <c:tx>
                <c:rich>
                  <a:bodyPr/>
                  <a:lstStyle/>
                  <a:p>
                    <a:r>
                      <a:rPr sz="1100">
                        <a:solidFill>
                          <a:srgbClr val="FFFFFF"/>
                        </a:solidFill>
                        <a:latin typeface="Calibri"/>
                      </a:rPr>
                      <a:t>21%</a:t>
                    </a:r>
                  </a:p>
                </c:rich>
              </c:tx>
              <c:dLblPos val="ctr"/>
              <c:showLegendKey val="0"/>
              <c:showVal val="1"/>
              <c:showCatName val="0"/>
              <c:showSerName val="0"/>
              <c:showPercent val="0"/>
              <c:showBubbleSize val="0"/>
            </c:dLbl>
            <c:dLbl>
              <c:idx val="1"/>
              <c:tx>
                <c:rich>
                  <a:bodyPr/>
                  <a:lstStyle/>
                  <a:p>
                    <a:r>
                      <a:rPr sz="1100">
                        <a:solidFill>
                          <a:srgbClr val="FFFFFF"/>
                        </a:solidFill>
                        <a:latin typeface="Calibri"/>
                      </a:rPr>
                      <a:t>20%</a:t>
                    </a:r>
                  </a:p>
                </c:rich>
              </c:tx>
              <c:dLblPos val="ctr"/>
              <c:showLegendKey val="0"/>
              <c:showVal val="1"/>
              <c:showCatName val="0"/>
              <c:showSerName val="0"/>
              <c:showPercent val="0"/>
              <c:showBubbleSize val="0"/>
            </c:dLbl>
            <c:dLbl>
              <c:idx val="2"/>
              <c:tx>
                <c:rich>
                  <a:bodyPr/>
                  <a:lstStyle/>
                  <a:p>
                    <a:r>
                      <a:rPr sz="1100">
                        <a:solidFill>
                          <a:srgbClr val="FFFFFF"/>
                        </a:solidFill>
                        <a:latin typeface="Calibri"/>
                      </a:rPr>
                      <a:t>21%</a:t>
                    </a:r>
                  </a:p>
                </c:rich>
              </c:tx>
              <c:dLblPos val="ctr"/>
              <c:showLegendKey val="0"/>
              <c:showVal val="1"/>
              <c:showCatName val="0"/>
              <c:showSerName val="0"/>
              <c:showPercent val="0"/>
              <c:showBubbleSize val="0"/>
            </c:dLbl>
            <c:dLbl>
              <c:idx val="3"/>
              <c:tx>
                <c:rich>
                  <a:bodyPr/>
                  <a:lstStyle/>
                  <a:p>
                    <a:r>
                      <a:rPr sz="1100">
                        <a:solidFill>
                          <a:srgbClr val="FFFFFF"/>
                        </a:solidFill>
                        <a:latin typeface="Calibri"/>
                      </a:rPr>
                      <a:t>21%</a:t>
                    </a:r>
                  </a:p>
                </c:rich>
              </c:tx>
              <c:dLblPos val="ctr"/>
              <c:showLegendKey val="0"/>
              <c:showVal val="1"/>
              <c:showCatName val="0"/>
              <c:showSerName val="0"/>
              <c:showPercent val="0"/>
              <c:showBubbleSize val="0"/>
            </c:dLbl>
            <c:dLbl>
              <c:idx val="4"/>
              <c:tx>
                <c:rich>
                  <a:bodyPr/>
                  <a:lstStyle/>
                  <a:p>
                    <a:r>
                      <a:rPr sz="1100">
                        <a:solidFill>
                          <a:srgbClr val="FFFFFF"/>
                        </a:solidFill>
                        <a:latin typeface="Calibri"/>
                      </a:rPr>
                      <a:t>21%</a:t>
                    </a:r>
                  </a:p>
                </c:rich>
              </c:tx>
              <c:dLblPos val="ctr"/>
              <c:showLegendKey val="0"/>
              <c:showVal val="1"/>
              <c:showCatName val="0"/>
              <c:showSerName val="0"/>
              <c:showPercent val="0"/>
              <c:showBubbleSize val="0"/>
            </c:dLbl>
            <c:dLbl>
              <c:idx val="5"/>
              <c:tx>
                <c:rich>
                  <a:bodyPr/>
                  <a:lstStyle/>
                  <a:p>
                    <a:r>
                      <a:rPr sz="1100">
                        <a:solidFill>
                          <a:srgbClr val="FFFFFF"/>
                        </a:solidFill>
                        <a:latin typeface="Calibri"/>
                      </a:rPr>
                      <a:t>20%</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Middle East &amp; Africa  ·  15,718</c:v>
                </c:pt>
                <c:pt idx="1">
                  <c:v>Latin America  ·  16,618</c:v>
                </c:pt>
                <c:pt idx="2">
                  <c:v>South Asia &amp; Pacific  ·  32,687</c:v>
                </c:pt>
                <c:pt idx="3">
                  <c:v>Europe  ·  49,393</c:v>
                </c:pt>
                <c:pt idx="4">
                  <c:v>North America  ·  62,068</c:v>
                </c:pt>
                <c:pt idx="5">
                  <c:v>East Asia  ·  63,723</c:v>
                </c:pt>
              </c:strCache>
            </c:strRef>
          </c:cat>
          <c:val>
            <c:numRef>
              <c:f>Sheet1!$B$2:$B$7</c:f>
              <c:numCache>
                <c:formatCode>General</c:formatCode>
                <c:ptCount val="6"/>
                <c:pt idx="0">
                  <c:v>21.342557519257063</c:v>
                </c:pt>
                <c:pt idx="1">
                  <c:v>20.098184726482007</c:v>
                </c:pt>
                <c:pt idx="2">
                  <c:v>21.253409770732162</c:v>
                </c:pt>
                <c:pt idx="3">
                  <c:v>21.056859003281883</c:v>
                </c:pt>
                <c:pt idx="4">
                  <c:v>21.11884833278635</c:v>
                </c:pt>
                <c:pt idx="5">
                  <c:v>20.243407886165684</c:v>
                </c:pt>
              </c:numCache>
            </c:numRef>
          </c:val>
        </c:ser>
        <c:ser>
          <c:idx val="1"/>
          <c:order val="1"/>
          <c:tx>
            <c:strRef>
              <c:f>Sheet1!$C$1</c:f>
              <c:strCache>
                <c:ptCount val="1"/>
                <c:pt idx="0">
                  <c:v>Medium-Barrier Films</c:v>
                </c:pt>
              </c:strCache>
            </c:strRef>
          </c:tx>
          <c:spPr>
            <a:solidFill>
              <a:srgbClr val="9E7E0A"/>
            </a:solidFill>
            <a:ln>
              <a:noFill/>
            </a:ln>
          </c:spPr>
          <c:dLbls>
            <c:dLbl>
              <c:idx val="0"/>
              <c:tx>
                <c:rich>
                  <a:bodyPr/>
                  <a:lstStyle/>
                  <a:p>
                    <a:r>
                      <a:rPr sz="1100">
                        <a:solidFill>
                          <a:srgbClr val="FFFFFF"/>
                        </a:solidFill>
                        <a:latin typeface="Calibri"/>
                      </a:rPr>
                      <a:t>31%</a:t>
                    </a:r>
                  </a:p>
                </c:rich>
              </c:tx>
              <c:dLblPos val="ctr"/>
              <c:showLegendKey val="0"/>
              <c:showVal val="1"/>
              <c:showCatName val="0"/>
              <c:showSerName val="0"/>
              <c:showPercent val="0"/>
              <c:showBubbleSize val="0"/>
            </c:dLbl>
            <c:dLbl>
              <c:idx val="1"/>
              <c:tx>
                <c:rich>
                  <a:bodyPr/>
                  <a:lstStyle/>
                  <a:p>
                    <a:r>
                      <a:rPr sz="1100">
                        <a:solidFill>
                          <a:srgbClr val="FFFFFF"/>
                        </a:solidFill>
                        <a:latin typeface="Calibri"/>
                      </a:rPr>
                      <a:t>33%</a:t>
                    </a:r>
                  </a:p>
                </c:rich>
              </c:tx>
              <c:dLblPos val="ctr"/>
              <c:showLegendKey val="0"/>
              <c:showVal val="1"/>
              <c:showCatName val="0"/>
              <c:showSerName val="0"/>
              <c:showPercent val="0"/>
              <c:showBubbleSize val="0"/>
            </c:dLbl>
            <c:dLbl>
              <c:idx val="2"/>
              <c:tx>
                <c:rich>
                  <a:bodyPr/>
                  <a:lstStyle/>
                  <a:p>
                    <a:r>
                      <a:rPr sz="1100">
                        <a:solidFill>
                          <a:srgbClr val="FFFFFF"/>
                        </a:solidFill>
                        <a:latin typeface="Calibri"/>
                      </a:rPr>
                      <a:t>32%</a:t>
                    </a:r>
                  </a:p>
                </c:rich>
              </c:tx>
              <c:dLblPos val="ctr"/>
              <c:showLegendKey val="0"/>
              <c:showVal val="1"/>
              <c:showCatName val="0"/>
              <c:showSerName val="0"/>
              <c:showPercent val="0"/>
              <c:showBubbleSize val="0"/>
            </c:dLbl>
            <c:dLbl>
              <c:idx val="3"/>
              <c:tx>
                <c:rich>
                  <a:bodyPr/>
                  <a:lstStyle/>
                  <a:p>
                    <a:r>
                      <a:rPr sz="1100">
                        <a:solidFill>
                          <a:srgbClr val="FFFFFF"/>
                        </a:solidFill>
                        <a:latin typeface="Calibri"/>
                      </a:rPr>
                      <a:t>32%</a:t>
                    </a:r>
                  </a:p>
                </c:rich>
              </c:tx>
              <c:dLblPos val="ctr"/>
              <c:showLegendKey val="0"/>
              <c:showVal val="1"/>
              <c:showCatName val="0"/>
              <c:showSerName val="0"/>
              <c:showPercent val="0"/>
              <c:showBubbleSize val="0"/>
            </c:dLbl>
            <c:dLbl>
              <c:idx val="4"/>
              <c:tx>
                <c:rich>
                  <a:bodyPr/>
                  <a:lstStyle/>
                  <a:p>
                    <a:r>
                      <a:rPr sz="1100">
                        <a:solidFill>
                          <a:srgbClr val="FFFFFF"/>
                        </a:solidFill>
                        <a:latin typeface="Calibri"/>
                      </a:rPr>
                      <a:t>32%</a:t>
                    </a:r>
                  </a:p>
                </c:rich>
              </c:tx>
              <c:dLblPos val="ctr"/>
              <c:showLegendKey val="0"/>
              <c:showVal val="1"/>
              <c:showCatName val="0"/>
              <c:showSerName val="0"/>
              <c:showPercent val="0"/>
              <c:showBubbleSize val="0"/>
            </c:dLbl>
            <c:dLbl>
              <c:idx val="5"/>
              <c:tx>
                <c:rich>
                  <a:bodyPr/>
                  <a:lstStyle/>
                  <a:p>
                    <a:r>
                      <a:rPr sz="1100">
                        <a:solidFill>
                          <a:srgbClr val="FFFFFF"/>
                        </a:solidFill>
                        <a:latin typeface="Calibri"/>
                      </a:rPr>
                      <a:t>33%</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Middle East &amp; Africa  ·  15,718</c:v>
                </c:pt>
                <c:pt idx="1">
                  <c:v>Latin America  ·  16,618</c:v>
                </c:pt>
                <c:pt idx="2">
                  <c:v>South Asia &amp; Pacific  ·  32,687</c:v>
                </c:pt>
                <c:pt idx="3">
                  <c:v>Europe  ·  49,393</c:v>
                </c:pt>
                <c:pt idx="4">
                  <c:v>North America  ·  62,068</c:v>
                </c:pt>
                <c:pt idx="5">
                  <c:v>East Asia  ·  63,723</c:v>
                </c:pt>
              </c:strCache>
            </c:strRef>
          </c:cat>
          <c:val>
            <c:numRef>
              <c:f>Sheet1!$C$2:$C$7</c:f>
              <c:numCache>
                <c:formatCode>General</c:formatCode>
                <c:ptCount val="6"/>
                <c:pt idx="0">
                  <c:v>31.484500827947492</c:v>
                </c:pt>
                <c:pt idx="1">
                  <c:v>32.876111570478436</c:v>
                </c:pt>
                <c:pt idx="2">
                  <c:v>31.710839510678685</c:v>
                </c:pt>
                <c:pt idx="3">
                  <c:v>31.81623914406371</c:v>
                </c:pt>
                <c:pt idx="4">
                  <c:v>31.8725547960114</c:v>
                </c:pt>
                <c:pt idx="5">
                  <c:v>32.55404718103168</c:v>
                </c:pt>
              </c:numCache>
            </c:numRef>
          </c:val>
        </c:ser>
        <c:ser>
          <c:idx val="2"/>
          <c:order val="2"/>
          <c:tx>
            <c:strRef>
              <c:f>Sheet1!$D$1</c:f>
              <c:strCache>
                <c:ptCount val="1"/>
                <c:pt idx="0">
                  <c:v>High-Barrier Films</c:v>
                </c:pt>
              </c:strCache>
            </c:strRef>
          </c:tx>
          <c:spPr>
            <a:solidFill>
              <a:srgbClr val="008189"/>
            </a:solidFill>
            <a:ln>
              <a:noFill/>
            </a:ln>
          </c:spPr>
          <c:dLbls>
            <c:dLbl>
              <c:idx val="0"/>
              <c:tx>
                <c:rich>
                  <a:bodyPr/>
                  <a:lstStyle/>
                  <a:p>
                    <a:r>
                      <a:rPr sz="1100">
                        <a:solidFill>
                          <a:srgbClr val="FFFFFF"/>
                        </a:solidFill>
                        <a:latin typeface="Calibri"/>
                      </a:rPr>
                      <a:t>34%</a:t>
                    </a:r>
                  </a:p>
                </c:rich>
              </c:tx>
              <c:dLblPos val="ctr"/>
              <c:showLegendKey val="0"/>
              <c:showVal val="1"/>
              <c:showCatName val="0"/>
              <c:showSerName val="0"/>
              <c:showPercent val="0"/>
              <c:showBubbleSize val="0"/>
            </c:dLbl>
            <c:dLbl>
              <c:idx val="1"/>
              <c:tx>
                <c:rich>
                  <a:bodyPr/>
                  <a:lstStyle/>
                  <a:p>
                    <a:r>
                      <a:rPr sz="1100">
                        <a:solidFill>
                          <a:srgbClr val="FFFFFF"/>
                        </a:solidFill>
                        <a:latin typeface="Calibri"/>
                      </a:rPr>
                      <a:t>34%</a:t>
                    </a:r>
                  </a:p>
                </c:rich>
              </c:tx>
              <c:dLblPos val="ctr"/>
              <c:showLegendKey val="0"/>
              <c:showVal val="1"/>
              <c:showCatName val="0"/>
              <c:showSerName val="0"/>
              <c:showPercent val="0"/>
              <c:showBubbleSize val="0"/>
            </c:dLbl>
            <c:dLbl>
              <c:idx val="2"/>
              <c:tx>
                <c:rich>
                  <a:bodyPr/>
                  <a:lstStyle/>
                  <a:p>
                    <a:r>
                      <a:rPr sz="1100">
                        <a:solidFill>
                          <a:srgbClr val="FFFFFF"/>
                        </a:solidFill>
                        <a:latin typeface="Calibri"/>
                      </a:rPr>
                      <a:t>33%</a:t>
                    </a:r>
                  </a:p>
                </c:rich>
              </c:tx>
              <c:dLblPos val="ctr"/>
              <c:showLegendKey val="0"/>
              <c:showVal val="1"/>
              <c:showCatName val="0"/>
              <c:showSerName val="0"/>
              <c:showPercent val="0"/>
              <c:showBubbleSize val="0"/>
            </c:dLbl>
            <c:dLbl>
              <c:idx val="3"/>
              <c:tx>
                <c:rich>
                  <a:bodyPr/>
                  <a:lstStyle/>
                  <a:p>
                    <a:r>
                      <a:rPr sz="1100">
                        <a:solidFill>
                          <a:srgbClr val="FFFFFF"/>
                        </a:solidFill>
                        <a:latin typeface="Calibri"/>
                      </a:rPr>
                      <a:t>33%</a:t>
                    </a:r>
                  </a:p>
                </c:rich>
              </c:tx>
              <c:dLblPos val="ctr"/>
              <c:showLegendKey val="0"/>
              <c:showVal val="1"/>
              <c:showCatName val="0"/>
              <c:showSerName val="0"/>
              <c:showPercent val="0"/>
              <c:showBubbleSize val="0"/>
            </c:dLbl>
            <c:dLbl>
              <c:idx val="4"/>
              <c:tx>
                <c:rich>
                  <a:bodyPr/>
                  <a:lstStyle/>
                  <a:p>
                    <a:r>
                      <a:rPr sz="1100">
                        <a:solidFill>
                          <a:srgbClr val="FFFFFF"/>
                        </a:solidFill>
                        <a:latin typeface="Calibri"/>
                      </a:rPr>
                      <a:t>33%</a:t>
                    </a:r>
                  </a:p>
                </c:rich>
              </c:tx>
              <c:dLblPos val="ctr"/>
              <c:showLegendKey val="0"/>
              <c:showVal val="1"/>
              <c:showCatName val="0"/>
              <c:showSerName val="0"/>
              <c:showPercent val="0"/>
              <c:showBubbleSize val="0"/>
            </c:dLbl>
            <c:dLbl>
              <c:idx val="5"/>
              <c:tx>
                <c:rich>
                  <a:bodyPr/>
                  <a:lstStyle/>
                  <a:p>
                    <a:r>
                      <a:rPr sz="1100">
                        <a:solidFill>
                          <a:srgbClr val="FFFFFF"/>
                        </a:solidFill>
                        <a:latin typeface="Calibri"/>
                      </a:rPr>
                      <a:t>34%</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Middle East &amp; Africa  ·  15,718</c:v>
                </c:pt>
                <c:pt idx="1">
                  <c:v>Latin America  ·  16,618</c:v>
                </c:pt>
                <c:pt idx="2">
                  <c:v>South Asia &amp; Pacific  ·  32,687</c:v>
                </c:pt>
                <c:pt idx="3">
                  <c:v>Europe  ·  49,393</c:v>
                </c:pt>
                <c:pt idx="4">
                  <c:v>North America  ·  62,068</c:v>
                </c:pt>
                <c:pt idx="5">
                  <c:v>East Asia  ·  63,723</c:v>
                </c:pt>
              </c:strCache>
            </c:strRef>
          </c:cat>
          <c:val>
            <c:numRef>
              <c:f>Sheet1!$D$2:$D$7</c:f>
              <c:numCache>
                <c:formatCode>General</c:formatCode>
                <c:ptCount val="6"/>
                <c:pt idx="0">
                  <c:v>33.651796863647846</c:v>
                </c:pt>
                <c:pt idx="1">
                  <c:v>33.535686964230386</c:v>
                </c:pt>
                <c:pt idx="2">
                  <c:v>33.36733531034899</c:v>
                </c:pt>
                <c:pt idx="3">
                  <c:v>33.32977480098302</c:v>
                </c:pt>
                <c:pt idx="4">
                  <c:v>33.38013528081249</c:v>
                </c:pt>
                <c:pt idx="5">
                  <c:v>33.679266468299204</c:v>
                </c:pt>
              </c:numCache>
            </c:numRef>
          </c:val>
        </c:ser>
        <c:ser>
          <c:idx val="3"/>
          <c:order val="3"/>
          <c:tx>
            <c:strRef>
              <c:f>Sheet1!$E$1</c:f>
              <c:strCache>
                <c:ptCount val="1"/>
                <c:pt idx="0">
                  <c:v>Ultra-High-Barrier Films</c:v>
                </c:pt>
              </c:strCache>
            </c:strRef>
          </c:tx>
          <c:spPr>
            <a:solidFill>
              <a:srgbClr val="40315E"/>
            </a:solidFill>
            <a:ln>
              <a:noFill/>
            </a:ln>
          </c:spPr>
          <c:dLbls>
            <c:dLbl>
              <c:idx val="0"/>
              <c:tx>
                <c:rich>
                  <a:bodyPr/>
                  <a:lstStyle/>
                  <a:p>
                    <a:r>
                      <a:rPr sz="1100">
                        <a:solidFill>
                          <a:srgbClr val="FFFFFF"/>
                        </a:solidFill>
                        <a:latin typeface="Calibri"/>
                      </a:rPr>
                      <a:t>14%</a:t>
                    </a:r>
                  </a:p>
                </c:rich>
              </c:tx>
              <c:dLblPos val="ctr"/>
              <c:showLegendKey val="0"/>
              <c:showVal val="1"/>
              <c:showCatName val="0"/>
              <c:showSerName val="0"/>
              <c:showPercent val="0"/>
              <c:showBubbleSize val="0"/>
            </c:dLbl>
            <c:dLbl>
              <c:idx val="1"/>
              <c:tx>
                <c:rich>
                  <a:bodyPr/>
                  <a:lstStyle/>
                  <a:p>
                    <a:r>
                      <a:rPr sz="1100">
                        <a:solidFill>
                          <a:srgbClr val="FFFFFF"/>
                        </a:solidFill>
                        <a:latin typeface="Calibri"/>
                      </a:rPr>
                      <a:t>13%</a:t>
                    </a:r>
                  </a:p>
                </c:rich>
              </c:tx>
              <c:dLblPos val="ctr"/>
              <c:showLegendKey val="0"/>
              <c:showVal val="1"/>
              <c:showCatName val="0"/>
              <c:showSerName val="0"/>
              <c:showPercent val="0"/>
              <c:showBubbleSize val="0"/>
            </c:dLbl>
            <c:dLbl>
              <c:idx val="2"/>
              <c:tx>
                <c:rich>
                  <a:bodyPr/>
                  <a:lstStyle/>
                  <a:p>
                    <a:r>
                      <a:rPr sz="1100">
                        <a:solidFill>
                          <a:srgbClr val="FFFFFF"/>
                        </a:solidFill>
                        <a:latin typeface="Calibri"/>
                      </a:rPr>
                      <a:t>14%</a:t>
                    </a:r>
                  </a:p>
                </c:rich>
              </c:tx>
              <c:dLblPos val="ctr"/>
              <c:showLegendKey val="0"/>
              <c:showVal val="1"/>
              <c:showCatName val="0"/>
              <c:showSerName val="0"/>
              <c:showPercent val="0"/>
              <c:showBubbleSize val="0"/>
            </c:dLbl>
            <c:dLbl>
              <c:idx val="3"/>
              <c:tx>
                <c:rich>
                  <a:bodyPr/>
                  <a:lstStyle/>
                  <a:p>
                    <a:r>
                      <a:rPr sz="1100">
                        <a:solidFill>
                          <a:srgbClr val="FFFFFF"/>
                        </a:solidFill>
                        <a:latin typeface="Calibri"/>
                      </a:rPr>
                      <a:t>14%</a:t>
                    </a:r>
                  </a:p>
                </c:rich>
              </c:tx>
              <c:dLblPos val="ctr"/>
              <c:showLegendKey val="0"/>
              <c:showVal val="1"/>
              <c:showCatName val="0"/>
              <c:showSerName val="0"/>
              <c:showPercent val="0"/>
              <c:showBubbleSize val="0"/>
            </c:dLbl>
            <c:dLbl>
              <c:idx val="4"/>
              <c:tx>
                <c:rich>
                  <a:bodyPr/>
                  <a:lstStyle/>
                  <a:p>
                    <a:r>
                      <a:rPr sz="1100">
                        <a:solidFill>
                          <a:srgbClr val="FFFFFF"/>
                        </a:solidFill>
                        <a:latin typeface="Calibri"/>
                      </a:rPr>
                      <a:t>14%</a:t>
                    </a:r>
                  </a:p>
                </c:rich>
              </c:tx>
              <c:dLblPos val="ctr"/>
              <c:showLegendKey val="0"/>
              <c:showVal val="1"/>
              <c:showCatName val="0"/>
              <c:showSerName val="0"/>
              <c:showPercent val="0"/>
              <c:showBubbleSize val="0"/>
            </c:dLbl>
            <c:dLbl>
              <c:idx val="5"/>
              <c:tx>
                <c:rich>
                  <a:bodyPr/>
                  <a:lstStyle/>
                  <a:p>
                    <a:r>
                      <a:rPr sz="1100">
                        <a:solidFill>
                          <a:srgbClr val="FFFFFF"/>
                        </a:solidFill>
                        <a:latin typeface="Calibri"/>
                      </a:rPr>
                      <a:t>14%</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Middle East &amp; Africa  ·  15,718</c:v>
                </c:pt>
                <c:pt idx="1">
                  <c:v>Latin America  ·  16,618</c:v>
                </c:pt>
                <c:pt idx="2">
                  <c:v>South Asia &amp; Pacific  ·  32,687</c:v>
                </c:pt>
                <c:pt idx="3">
                  <c:v>Europe  ·  49,393</c:v>
                </c:pt>
                <c:pt idx="4">
                  <c:v>North America  ·  62,068</c:v>
                </c:pt>
                <c:pt idx="5">
                  <c:v>East Asia  ·  63,723</c:v>
                </c:pt>
              </c:strCache>
            </c:strRef>
          </c:cat>
          <c:val>
            <c:numRef>
              <c:f>Sheet1!$E$2:$E$7</c:f>
              <c:numCache>
                <c:formatCode>General</c:formatCode>
                <c:ptCount val="6"/>
                <c:pt idx="0">
                  <c:v>13.521144789147588</c:v>
                </c:pt>
                <c:pt idx="1">
                  <c:v>13.490016738809166</c:v>
                </c:pt>
                <c:pt idx="2">
                  <c:v>13.66841540824017</c:v>
                </c:pt>
                <c:pt idx="3">
                  <c:v>13.79712705167139</c:v>
                </c:pt>
                <c:pt idx="4">
                  <c:v>13.628461590389756</c:v>
                </c:pt>
                <c:pt idx="5">
                  <c:v>13.523278464503436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externalData r:id="rId1">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f>Sheet1!$B$1</c:f>
              <c:strCache>
                <c:ptCount val="1"/>
                <c:pt idx="0">
                  <c:v>Low-Barrier Films</c:v>
                </c:pt>
              </c:strCache>
            </c:strRef>
          </c:tx>
          <c:spPr>
            <a:solidFill>
              <a:srgbClr val="3D85C6"/>
            </a:solidFill>
          </c:spPr>
          <c:invertIfNegative val="0"/>
          <c:xVal>
            <c:numRef>
              <c:f>Sheet1!$A$2:$A$2</c:f>
              <c:numCache>
                <c:formatCode>General</c:formatCode>
                <c:ptCount val="1"/>
                <c:pt idx="0">
                  <c:v>98.46977022512871</c:v>
                </c:pt>
              </c:numCache>
            </c:numRef>
          </c:xVal>
          <c:yVal>
            <c:numRef>
              <c:f>Sheet1!$B$2:$B$2</c:f>
              <c:numCache>
                <c:formatCode>General</c:formatCode>
                <c:ptCount val="1"/>
                <c:pt idx="0">
                  <c:v>84.13306707772426</c:v>
                </c:pt>
              </c:numCache>
            </c:numRef>
          </c:yVal>
          <c:bubbleSize>
            <c:numRef>
              <c:f>Sheet1!$C$2:$C$2</c:f>
              <c:numCache>
                <c:formatCode>General</c:formatCode>
                <c:ptCount val="1"/>
                <c:pt idx="0">
                  <c:v>50050.302</c:v>
                </c:pt>
              </c:numCache>
            </c:numRef>
          </c:bubbleSize>
          <c:bubble3D val="0"/>
        </c:ser>
        <c:ser>
          <c:idx val="1"/>
          <c:order val="1"/>
          <c:tx>
            <c:strRef>
              <c:f>Sheet1!$B$4</c:f>
              <c:strCache>
                <c:ptCount val="1"/>
                <c:pt idx="0">
                  <c:v>Medium-Barrier Films</c:v>
                </c:pt>
              </c:strCache>
            </c:strRef>
          </c:tx>
          <c:spPr>
            <a:solidFill>
              <a:srgbClr val="9E7E0A"/>
            </a:solidFill>
          </c:spPr>
          <c:invertIfNegative val="0"/>
          <c:xVal>
            <c:numRef>
              <c:f>Sheet1!$A$5:$A$5</c:f>
              <c:numCache>
                <c:formatCode>General</c:formatCode>
                <c:ptCount val="1"/>
                <c:pt idx="0">
                  <c:v>93.77375993628645</c:v>
                </c:pt>
              </c:numCache>
            </c:numRef>
          </c:xVal>
          <c:yVal>
            <c:numRef>
              <c:f>Sheet1!$B$5:$B$5</c:f>
              <c:numCache>
                <c:formatCode>General</c:formatCode>
                <c:ptCount val="1"/>
                <c:pt idx="0">
                  <c:v>133.270277974311</c:v>
                </c:pt>
              </c:numCache>
            </c:numRef>
          </c:yVal>
          <c:bubbleSize>
            <c:numRef>
              <c:f>Sheet1!$C$5:$C$5</c:f>
              <c:numCache>
                <c:formatCode>General</c:formatCode>
                <c:ptCount val="1"/>
                <c:pt idx="0">
                  <c:v>77019.929</c:v>
                </c:pt>
              </c:numCache>
            </c:numRef>
          </c:bubbleSize>
          <c:bubble3D val="0"/>
        </c:ser>
        <c:ser>
          <c:idx val="2"/>
          <c:order val="2"/>
          <c:tx>
            <c:strRef>
              <c:f>Sheet1!$B$7</c:f>
              <c:strCache>
                <c:ptCount val="1"/>
                <c:pt idx="0">
                  <c:v>High-Barrier Films</c:v>
                </c:pt>
              </c:strCache>
            </c:strRef>
          </c:tx>
          <c:spPr>
            <a:solidFill>
              <a:srgbClr val="008189"/>
            </a:solidFill>
          </c:spPr>
          <c:invertIfNegative val="0"/>
          <c:xVal>
            <c:numRef>
              <c:f>Sheet1!$A$8:$A$8</c:f>
              <c:numCache>
                <c:formatCode>General</c:formatCode>
                <c:ptCount val="1"/>
                <c:pt idx="0">
                  <c:v>106.70233457569307</c:v>
                </c:pt>
              </c:numCache>
            </c:numRef>
          </c:xVal>
          <c:yVal>
            <c:numRef>
              <c:f>Sheet1!$B$8:$B$8</c:f>
              <c:numCache>
                <c:formatCode>General</c:formatCode>
                <c:ptCount val="1"/>
                <c:pt idx="0">
                  <c:v>128.50841838357294</c:v>
                </c:pt>
              </c:numCache>
            </c:numRef>
          </c:yVal>
          <c:bubbleSize>
            <c:numRef>
              <c:f>Sheet1!$C$8:$C$8</c:f>
              <c:numCache>
                <c:formatCode>General</c:formatCode>
                <c:ptCount val="1"/>
                <c:pt idx="0">
                  <c:v>80412.002</c:v>
                </c:pt>
              </c:numCache>
            </c:numRef>
          </c:bubbleSize>
          <c:bubble3D val="0"/>
        </c:ser>
        <c:ser>
          <c:idx val="3"/>
          <c:order val="3"/>
          <c:tx>
            <c:strRef>
              <c:f>Sheet1!$B$10</c:f>
              <c:strCache>
                <c:ptCount val="1"/>
                <c:pt idx="0">
                  <c:v>Ultra-High-Barrier Films</c:v>
                </c:pt>
              </c:strCache>
            </c:strRef>
          </c:tx>
          <c:spPr>
            <a:solidFill>
              <a:srgbClr val="40315E"/>
            </a:solidFill>
          </c:spPr>
          <c:invertIfNegative val="0"/>
          <c:xVal>
            <c:numRef>
              <c:f>Sheet1!$A$11:$A$11</c:f>
              <c:numCache>
                <c:formatCode>General</c:formatCode>
                <c:ptCount val="1"/>
                <c:pt idx="0">
                  <c:v>101.2228402820426</c:v>
                </c:pt>
              </c:numCache>
            </c:numRef>
          </c:xVal>
          <c:yVal>
            <c:numRef>
              <c:f>Sheet1!$B$11:$B$11</c:f>
              <c:numCache>
                <c:formatCode>General</c:formatCode>
                <c:ptCount val="1"/>
                <c:pt idx="0">
                  <c:v>54.088236564391735</c:v>
                </c:pt>
              </c:numCache>
            </c:numRef>
          </c:yVal>
          <c:bubbleSize>
            <c:numRef>
              <c:f>Sheet1!$C$11:$C$11</c:f>
              <c:numCache>
                <c:formatCode>General</c:formatCode>
                <c:ptCount val="1"/>
                <c:pt idx="0">
                  <c:v>32726.177</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15.0"/>
          <c:min val="85.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75.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externalData r:id="rId1">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0.0</c:v>
                </c:pt>
                <c:pt idx="1">
                  <c:v>26785.087</c:v>
                </c:pt>
                <c:pt idx="2">
                  <c:v>29904.147</c:v>
                </c:pt>
                <c:pt idx="3">
                  <c:v>33785.788</c:v>
                </c:pt>
                <c:pt idx="4">
                  <c:v>38491.357</c:v>
                </c:pt>
                <c:pt idx="5">
                  <c:v>43927.909</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26785.087</c:v>
                </c:pt>
                <c:pt idx="1">
                  <c:v>3119.0600000000013</c:v>
                </c:pt>
                <c:pt idx="2">
                  <c:v>3881.6409999999996</c:v>
                </c:pt>
                <c:pt idx="3">
                  <c:v>4705.569000000003</c:v>
                </c:pt>
                <c:pt idx="4">
                  <c:v>5436.551999999996</c:v>
                </c:pt>
                <c:pt idx="5">
                  <c:v>6122.393000000004</c:v>
                </c:pt>
                <c:pt idx="6">
                  <c:v>50050.302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0.0</c:v>
                </c:pt>
                <c:pt idx="1">
                  <c:v>42428.692</c:v>
                </c:pt>
                <c:pt idx="2">
                  <c:v>47010.351</c:v>
                </c:pt>
                <c:pt idx="3">
                  <c:v>52714.371</c:v>
                </c:pt>
                <c:pt idx="4">
                  <c:v>59708.635</c:v>
                </c:pt>
                <c:pt idx="5">
                  <c:v>67856.172</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42428.692</c:v>
                </c:pt>
                <c:pt idx="1">
                  <c:v>4581.659</c:v>
                </c:pt>
                <c:pt idx="2">
                  <c:v>5704.019999999997</c:v>
                </c:pt>
                <c:pt idx="3">
                  <c:v>6994.264000000003</c:v>
                </c:pt>
                <c:pt idx="4">
                  <c:v>8147.537000000004</c:v>
                </c:pt>
                <c:pt idx="5">
                  <c:v>9163.756999999998</c:v>
                </c:pt>
                <c:pt idx="6">
                  <c:v>77019.929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0.0</c:v>
                </c:pt>
                <c:pt idx="1">
                  <c:v>40912.679</c:v>
                </c:pt>
                <c:pt idx="2">
                  <c:v>46146.57</c:v>
                </c:pt>
                <c:pt idx="3">
                  <c:v>52630.934</c:v>
                </c:pt>
                <c:pt idx="4">
                  <c:v>60525.147</c:v>
                </c:pt>
                <c:pt idx="5">
                  <c:v>69836.171</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40912.679</c:v>
                </c:pt>
                <c:pt idx="1">
                  <c:v>5233.891000000003</c:v>
                </c:pt>
                <c:pt idx="2">
                  <c:v>6484.364000000001</c:v>
                </c:pt>
                <c:pt idx="3">
                  <c:v>7894.212999999996</c:v>
                </c:pt>
                <c:pt idx="4">
                  <c:v>9311.024000000005</c:v>
                </c:pt>
                <c:pt idx="5">
                  <c:v>10575.830999999991</c:v>
                </c:pt>
                <c:pt idx="6">
                  <c:v>80412.002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0.0</c:v>
                </c:pt>
                <c:pt idx="1">
                  <c:v>17219.842</c:v>
                </c:pt>
                <c:pt idx="2">
                  <c:v>19369.202</c:v>
                </c:pt>
                <c:pt idx="3">
                  <c:v>21928.444</c:v>
                </c:pt>
                <c:pt idx="4">
                  <c:v>25032.88</c:v>
                </c:pt>
                <c:pt idx="5">
                  <c:v>28645.157</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17219.842</c:v>
                </c:pt>
                <c:pt idx="1">
                  <c:v>2149.3600000000006</c:v>
                </c:pt>
                <c:pt idx="2">
                  <c:v>2559.2419999999984</c:v>
                </c:pt>
                <c:pt idx="3">
                  <c:v>3104.4360000000015</c:v>
                </c:pt>
                <c:pt idx="4">
                  <c:v>3612.276999999998</c:v>
                </c:pt>
                <c:pt idx="5">
                  <c:v>4081.0200000000004</c:v>
                </c:pt>
                <c:pt idx="6">
                  <c:v>32726.177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High-Barrier Films</c:v>
                </c:pt>
              </c:strCache>
            </c:strRef>
          </c:tx>
          <c:spPr>
            <a:solidFill>
              <a:srgbClr val="3D85C6"/>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31.606452922887552</c:v>
                </c:pt>
                <c:pt idx="1">
                  <c:v>32.12710459589324</c:v>
                </c:pt>
                <c:pt idx="2">
                  <c:v>33.47593117160219</c:v>
                </c:pt>
              </c:numCache>
            </c:numRef>
          </c:val>
        </c:ser>
        <c:ser>
          <c:idx val="1"/>
          <c:order val="1"/>
          <c:tx>
            <c:strRef>
              <c:f>Sheet1!$C$1</c:f>
              <c:strCache>
                <c:ptCount val="1"/>
                <c:pt idx="0">
                  <c:v>Medium-Barrier Films</c:v>
                </c:pt>
              </c:strCache>
            </c:strRef>
          </c:tx>
          <c:spPr>
            <a:solidFill>
              <a:srgbClr val="9E7E0A"/>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34.08993111196394</c:v>
                </c:pt>
                <c:pt idx="1">
                  <c:v>33.31756949357775</c:v>
                </c:pt>
                <c:pt idx="2">
                  <c:v>32.063793686490826</c:v>
                </c:pt>
              </c:numCache>
            </c:numRef>
          </c:val>
        </c:ser>
        <c:ser>
          <c:idx val="2"/>
          <c:order val="2"/>
          <c:tx>
            <c:strRef>
              <c:f>Sheet1!$D$1</c:f>
              <c:strCache>
                <c:ptCount val="1"/>
                <c:pt idx="0">
                  <c:v>Low-Barrier Films</c:v>
                </c:pt>
              </c:strCache>
            </c:strRef>
          </c:tx>
          <c:spPr>
            <a:solidFill>
              <a:srgbClr val="008189"/>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21.15476096185293</c:v>
                </c:pt>
                <c:pt idx="1">
                  <c:v>21.03326676943107</c:v>
                </c:pt>
                <c:pt idx="2">
                  <c:v>20.836198865809905</c:v>
                </c:pt>
              </c:numCache>
            </c:numRef>
          </c:val>
        </c:ser>
        <c:ser>
          <c:idx val="3"/>
          <c:order val="3"/>
          <c:tx>
            <c:strRef>
              <c:f>Sheet1!$E$1</c:f>
              <c:strCache>
                <c:ptCount val="1"/>
                <c:pt idx="0">
                  <c:v>Ultra-High-Barrier Films</c:v>
                </c:pt>
              </c:strCache>
            </c:strRef>
          </c:tx>
          <c:spPr>
            <a:solidFill>
              <a:srgbClr val="40315E"/>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13.148855003295573</c:v>
                </c:pt>
                <c:pt idx="1">
                  <c:v>13.522059141097936</c:v>
                </c:pt>
                <c:pt idx="2">
                  <c:v>13.624076276097078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Food Packaging</c:v>
                </c:pt>
              </c:strCache>
            </c:strRef>
          </c:tx>
          <c:spPr>
            <a:solidFill>
              <a:srgbClr val="3D85C6"/>
            </a:solidFill>
            <a:ln>
              <a:noFill/>
            </a:ln>
          </c:spPr>
          <c:dLbls>
            <c:dLbl>
              <c:idx val="0"/>
              <c:tx>
                <c:rich>
                  <a:bodyPr/>
                  <a:lstStyle/>
                  <a:p>
                    <a:r>
                      <a:rPr sz="1100">
                        <a:solidFill>
                          <a:srgbClr val="FFFFFF"/>
                        </a:solidFill>
                        <a:latin typeface="Calibri"/>
                      </a:rPr>
                      <a:t>84%</a:t>
                    </a:r>
                  </a:p>
                </c:rich>
              </c:tx>
              <c:dLblPos val="ctr"/>
              <c:showLegendKey val="0"/>
              <c:showVal val="1"/>
              <c:showCatName val="0"/>
              <c:showSerName val="0"/>
              <c:showPercent val="0"/>
              <c:showBubbleSize val="0"/>
            </c:dLbl>
            <c:dLbl>
              <c:idx val="1"/>
              <c:tx>
                <c:rich>
                  <a:bodyPr/>
                  <a:lstStyle/>
                  <a:p>
                    <a:r>
                      <a:rPr sz="1100">
                        <a:solidFill>
                          <a:srgbClr val="FFFFFF"/>
                        </a:solidFill>
                        <a:latin typeface="Calibri"/>
                      </a:rPr>
                      <a:t>84%</a:t>
                    </a:r>
                  </a:p>
                </c:rich>
              </c:tx>
              <c:dLblPos val="ctr"/>
              <c:showLegendKey val="0"/>
              <c:showVal val="1"/>
              <c:showCatName val="0"/>
              <c:showSerName val="0"/>
              <c:showPercent val="0"/>
              <c:showBubbleSize val="0"/>
            </c:dLbl>
            <c:dLbl>
              <c:idx val="2"/>
              <c:tx>
                <c:rich>
                  <a:bodyPr/>
                  <a:lstStyle/>
                  <a:p>
                    <a:r>
                      <a:rPr sz="1100">
                        <a:solidFill>
                          <a:srgbClr val="FFFFFF"/>
                        </a:solidFill>
                        <a:latin typeface="Calibri"/>
                      </a:rPr>
                      <a:t>84%</a:t>
                    </a:r>
                  </a:p>
                </c:rich>
              </c:tx>
              <c:dLblPos val="ctr"/>
              <c:showLegendKey val="0"/>
              <c:showVal val="1"/>
              <c:showCatName val="0"/>
              <c:showSerName val="0"/>
              <c:showPercent val="0"/>
              <c:showBubbleSize val="0"/>
            </c:dLbl>
            <c:dLbl>
              <c:idx val="3"/>
              <c:tx>
                <c:rich>
                  <a:bodyPr/>
                  <a:lstStyle/>
                  <a:p>
                    <a:r>
                      <a:rPr sz="1100">
                        <a:solidFill>
                          <a:srgbClr val="FFFFFF"/>
                        </a:solidFill>
                        <a:latin typeface="Calibri"/>
                      </a:rPr>
                      <a:t>84%</a:t>
                    </a:r>
                  </a:p>
                </c:rich>
              </c:tx>
              <c:dLblPos val="ctr"/>
              <c:showLegendKey val="0"/>
              <c:showVal val="1"/>
              <c:showCatName val="0"/>
              <c:showSerName val="0"/>
              <c:showPercent val="0"/>
              <c:showBubbleSize val="0"/>
            </c:dLbl>
            <c:dLbl>
              <c:idx val="4"/>
              <c:tx>
                <c:rich>
                  <a:bodyPr/>
                  <a:lstStyle/>
                  <a:p>
                    <a:r>
                      <a:rPr sz="1100">
                        <a:solidFill>
                          <a:srgbClr val="FFFFFF"/>
                        </a:solidFill>
                        <a:latin typeface="Calibri"/>
                      </a:rPr>
                      <a:t>84%</a:t>
                    </a:r>
                  </a:p>
                </c:rich>
              </c:tx>
              <c:dLblPos val="ctr"/>
              <c:showLegendKey val="0"/>
              <c:showVal val="1"/>
              <c:showCatName val="0"/>
              <c:showSerName val="0"/>
              <c:showPercent val="0"/>
              <c:showBubbleSize val="0"/>
            </c:dLbl>
            <c:dLbl>
              <c:idx val="5"/>
              <c:tx>
                <c:rich>
                  <a:bodyPr/>
                  <a:lstStyle/>
                  <a:p>
                    <a:r>
                      <a:rPr sz="1100">
                        <a:solidFill>
                          <a:srgbClr val="FFFFFF"/>
                        </a:solidFill>
                        <a:latin typeface="Calibri"/>
                      </a:rPr>
                      <a:t>83%</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Middle East &amp; Africa  ·  15,718</c:v>
                </c:pt>
                <c:pt idx="1">
                  <c:v>Latin America  ·  16,618</c:v>
                </c:pt>
                <c:pt idx="2">
                  <c:v>South Asia &amp; Pacific  ·  32,687</c:v>
                </c:pt>
                <c:pt idx="3">
                  <c:v>Europe  ·  49,393</c:v>
                </c:pt>
                <c:pt idx="4">
                  <c:v>North America  ·  62,068</c:v>
                </c:pt>
                <c:pt idx="5">
                  <c:v>East Asia  ·  63,723</c:v>
                </c:pt>
              </c:strCache>
            </c:strRef>
          </c:cat>
          <c:val>
            <c:numRef>
              <c:f>Sheet1!$B$2:$B$7</c:f>
              <c:numCache>
                <c:formatCode>General</c:formatCode>
                <c:ptCount val="6"/>
                <c:pt idx="0">
                  <c:v>83.75955703857439</c:v>
                </c:pt>
                <c:pt idx="1">
                  <c:v>83.66813864142857</c:v>
                </c:pt>
                <c:pt idx="2">
                  <c:v>83.50334524233527</c:v>
                </c:pt>
                <c:pt idx="3">
                  <c:v>84.2829759289273</c:v>
                </c:pt>
                <c:pt idx="4">
                  <c:v>83.8050938705383</c:v>
                </c:pt>
                <c:pt idx="5">
                  <c:v>83.11875025432143</c:v>
                </c:pt>
              </c:numCache>
            </c:numRef>
          </c:val>
        </c:ser>
        <c:ser>
          <c:idx val="1"/>
          <c:order val="1"/>
          <c:tx>
            <c:strRef>
              <c:f>Sheet1!$C$1</c:f>
              <c:strCache>
                <c:ptCount val="1"/>
                <c:pt idx="0">
                  <c:v>Non-Food Packaging</c:v>
                </c:pt>
              </c:strCache>
            </c:strRef>
          </c:tx>
          <c:spPr>
            <a:solidFill>
              <a:srgbClr val="9E7E0A"/>
            </a:solidFill>
            <a:ln>
              <a:noFill/>
            </a:ln>
          </c:spPr>
          <c:dLbls>
            <c:dLbl>
              <c:idx val="0"/>
              <c:tx>
                <c:rich>
                  <a:bodyPr/>
                  <a:lstStyle/>
                  <a:p>
                    <a:r>
                      <a:rPr sz="1100">
                        <a:solidFill>
                          <a:srgbClr val="FFFFFF"/>
                        </a:solidFill>
                        <a:latin typeface="Calibri"/>
                      </a:rPr>
                      <a:t>16%</a:t>
                    </a:r>
                  </a:p>
                </c:rich>
              </c:tx>
              <c:dLblPos val="ctr"/>
              <c:showLegendKey val="0"/>
              <c:showVal val="1"/>
              <c:showCatName val="0"/>
              <c:showSerName val="0"/>
              <c:showPercent val="0"/>
              <c:showBubbleSize val="0"/>
            </c:dLbl>
            <c:dLbl>
              <c:idx val="1"/>
              <c:tx>
                <c:rich>
                  <a:bodyPr/>
                  <a:lstStyle/>
                  <a:p>
                    <a:r>
                      <a:rPr sz="1100">
                        <a:solidFill>
                          <a:srgbClr val="FFFFFF"/>
                        </a:solidFill>
                        <a:latin typeface="Calibri"/>
                      </a:rPr>
                      <a:t>16%</a:t>
                    </a:r>
                  </a:p>
                </c:rich>
              </c:tx>
              <c:dLblPos val="ctr"/>
              <c:showLegendKey val="0"/>
              <c:showVal val="1"/>
              <c:showCatName val="0"/>
              <c:showSerName val="0"/>
              <c:showPercent val="0"/>
              <c:showBubbleSize val="0"/>
            </c:dLbl>
            <c:dLbl>
              <c:idx val="2"/>
              <c:tx>
                <c:rich>
                  <a:bodyPr/>
                  <a:lstStyle/>
                  <a:p>
                    <a:r>
                      <a:rPr sz="1100">
                        <a:solidFill>
                          <a:srgbClr val="FFFFFF"/>
                        </a:solidFill>
                        <a:latin typeface="Calibri"/>
                      </a:rPr>
                      <a:t>16%</a:t>
                    </a:r>
                  </a:p>
                </c:rich>
              </c:tx>
              <c:dLblPos val="ctr"/>
              <c:showLegendKey val="0"/>
              <c:showVal val="1"/>
              <c:showCatName val="0"/>
              <c:showSerName val="0"/>
              <c:showPercent val="0"/>
              <c:showBubbleSize val="0"/>
            </c:dLbl>
            <c:dLbl>
              <c:idx val="3"/>
              <c:tx>
                <c:rich>
                  <a:bodyPr/>
                  <a:lstStyle/>
                  <a:p>
                    <a:r>
                      <a:rPr sz="1100">
                        <a:solidFill>
                          <a:srgbClr val="FFFFFF"/>
                        </a:solidFill>
                        <a:latin typeface="Calibri"/>
                      </a:rPr>
                      <a:t>16%</a:t>
                    </a:r>
                  </a:p>
                </c:rich>
              </c:tx>
              <c:dLblPos val="ctr"/>
              <c:showLegendKey val="0"/>
              <c:showVal val="1"/>
              <c:showCatName val="0"/>
              <c:showSerName val="0"/>
              <c:showPercent val="0"/>
              <c:showBubbleSize val="0"/>
            </c:dLbl>
            <c:dLbl>
              <c:idx val="4"/>
              <c:tx>
                <c:rich>
                  <a:bodyPr/>
                  <a:lstStyle/>
                  <a:p>
                    <a:r>
                      <a:rPr sz="1100">
                        <a:solidFill>
                          <a:srgbClr val="FFFFFF"/>
                        </a:solidFill>
                        <a:latin typeface="Calibri"/>
                      </a:rPr>
                      <a:t>16%</a:t>
                    </a:r>
                  </a:p>
                </c:rich>
              </c:tx>
              <c:dLblPos val="ctr"/>
              <c:showLegendKey val="0"/>
              <c:showVal val="1"/>
              <c:showCatName val="0"/>
              <c:showSerName val="0"/>
              <c:showPercent val="0"/>
              <c:showBubbleSize val="0"/>
            </c:dLbl>
            <c:dLbl>
              <c:idx val="5"/>
              <c:tx>
                <c:rich>
                  <a:bodyPr/>
                  <a:lstStyle/>
                  <a:p>
                    <a:r>
                      <a:rPr sz="1100">
                        <a:solidFill>
                          <a:srgbClr val="FFFFFF"/>
                        </a:solidFill>
                        <a:latin typeface="Calibri"/>
                      </a:rPr>
                      <a:t>17%</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Middle East &amp; Africa  ·  15,718</c:v>
                </c:pt>
                <c:pt idx="1">
                  <c:v>Latin America  ·  16,618</c:v>
                </c:pt>
                <c:pt idx="2">
                  <c:v>South Asia &amp; Pacific  ·  32,687</c:v>
                </c:pt>
                <c:pt idx="3">
                  <c:v>Europe  ·  49,393</c:v>
                </c:pt>
                <c:pt idx="4">
                  <c:v>North America  ·  62,068</c:v>
                </c:pt>
                <c:pt idx="5">
                  <c:v>East Asia  ·  63,723</c:v>
                </c:pt>
              </c:strCache>
            </c:strRef>
          </c:cat>
          <c:val>
            <c:numRef>
              <c:f>Sheet1!$C$2:$C$7</c:f>
              <c:numCache>
                <c:formatCode>General</c:formatCode>
                <c:ptCount val="6"/>
                <c:pt idx="0">
                  <c:v>16.24044296142563</c:v>
                </c:pt>
                <c:pt idx="1">
                  <c:v>16.331861358571427</c:v>
                </c:pt>
                <c:pt idx="2">
                  <c:v>16.496654757664732</c:v>
                </c:pt>
                <c:pt idx="3">
                  <c:v>15.717024071072716</c:v>
                </c:pt>
                <c:pt idx="4">
                  <c:v>16.194906129461707</c:v>
                </c:pt>
                <c:pt idx="5">
                  <c:v>16.881249745678566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externalData r:id="rId1">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f>Sheet1!$B$1</c:f>
              <c:strCache>
                <c:ptCount val="1"/>
                <c:pt idx="0">
                  <c:v>Food Packaging</c:v>
                </c:pt>
              </c:strCache>
            </c:strRef>
          </c:tx>
          <c:spPr>
            <a:solidFill>
              <a:srgbClr val="3D85C6"/>
            </a:solidFill>
          </c:spPr>
          <c:invertIfNegative val="0"/>
          <c:xVal>
            <c:numRef>
              <c:f>Sheet1!$A$2:$A$2</c:f>
              <c:numCache>
                <c:formatCode>General</c:formatCode>
                <c:ptCount val="1"/>
                <c:pt idx="0">
                  <c:v>100.17636392965966</c:v>
                </c:pt>
              </c:numCache>
            </c:numRef>
          </c:xVal>
          <c:yVal>
            <c:numRef>
              <c:f>Sheet1!$B$2:$B$2</c:f>
              <c:numCache>
                <c:formatCode>General</c:formatCode>
                <c:ptCount val="1"/>
                <c:pt idx="0">
                  <c:v>167.1541801148065</c:v>
                </c:pt>
              </c:numCache>
            </c:numRef>
          </c:yVal>
          <c:bubbleSize>
            <c:numRef>
              <c:f>Sheet1!$C$2:$C$2</c:f>
              <c:numCache>
                <c:formatCode>General</c:formatCode>
                <c:ptCount val="1"/>
                <c:pt idx="0">
                  <c:v>200977.015</c:v>
                </c:pt>
              </c:numCache>
            </c:numRef>
          </c:bubbleSize>
          <c:bubble3D val="0"/>
        </c:ser>
        <c:ser>
          <c:idx val="1"/>
          <c:order val="1"/>
          <c:tx>
            <c:strRef>
              <c:f>Sheet1!$B$4</c:f>
              <c:strCache>
                <c:ptCount val="1"/>
                <c:pt idx="0">
                  <c:v>Non-Food Packaging</c:v>
                </c:pt>
              </c:strCache>
            </c:strRef>
          </c:tx>
          <c:spPr>
            <a:solidFill>
              <a:srgbClr val="9E7E0A"/>
            </a:solidFill>
          </c:spPr>
          <c:invertIfNegative val="0"/>
          <c:xVal>
            <c:numRef>
              <c:f>Sheet1!$A$5:$A$5</c:f>
              <c:numCache>
                <c:formatCode>General</c:formatCode>
                <c:ptCount val="1"/>
                <c:pt idx="0">
                  <c:v>99.09979722747295</c:v>
                </c:pt>
              </c:numCache>
            </c:numRef>
          </c:xVal>
          <c:yVal>
            <c:numRef>
              <c:f>Sheet1!$B$5:$B$5</c:f>
              <c:numCache>
                <c:formatCode>General</c:formatCode>
                <c:ptCount val="1"/>
                <c:pt idx="0">
                  <c:v>32.84581988519352</c:v>
                </c:pt>
              </c:numCache>
            </c:numRef>
          </c:yVal>
          <c:bubbleSize>
            <c:numRef>
              <c:f>Sheet1!$C$5:$C$5</c:f>
              <c:numCache>
                <c:formatCode>General</c:formatCode>
                <c:ptCount val="1"/>
                <c:pt idx="0">
                  <c:v>39231.396</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10.0"/>
          <c:min val="9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2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externalData r:id="rId1">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0.0</c:v>
                </c:pt>
                <c:pt idx="1">
                  <c:v>106432.331</c:v>
                </c:pt>
                <c:pt idx="2">
                  <c:v>119052.694</c:v>
                </c:pt>
                <c:pt idx="3">
                  <c:v>134656.307</c:v>
                </c:pt>
                <c:pt idx="4">
                  <c:v>153665.336</c:v>
                </c:pt>
                <c:pt idx="5">
                  <c:v>175877.611</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106432.331</c:v>
                </c:pt>
                <c:pt idx="1">
                  <c:v>12620.362999999998</c:v>
                </c:pt>
                <c:pt idx="2">
                  <c:v>15603.612999999998</c:v>
                </c:pt>
                <c:pt idx="3">
                  <c:v>19009.02900000001</c:v>
                </c:pt>
                <c:pt idx="4">
                  <c:v>22212.274999999994</c:v>
                </c:pt>
                <c:pt idx="5">
                  <c:v>25099.40400000001</c:v>
                </c:pt>
                <c:pt idx="6">
                  <c:v>200977.015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0.0</c:v>
                </c:pt>
                <c:pt idx="1">
                  <c:v>20913.968</c:v>
                </c:pt>
                <c:pt idx="2">
                  <c:v>23377.574</c:v>
                </c:pt>
                <c:pt idx="3">
                  <c:v>26403.233</c:v>
                </c:pt>
                <c:pt idx="4">
                  <c:v>30092.686999999998</c:v>
                </c:pt>
                <c:pt idx="5">
                  <c:v>34387.796</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20913.968</c:v>
                </c:pt>
                <c:pt idx="1">
                  <c:v>2463.6059999999998</c:v>
                </c:pt>
                <c:pt idx="2">
                  <c:v>3025.6589999999997</c:v>
                </c:pt>
                <c:pt idx="3">
                  <c:v>3689.453999999998</c:v>
                </c:pt>
                <c:pt idx="4">
                  <c:v>4295.109000000004</c:v>
                </c:pt>
                <c:pt idx="5">
                  <c:v>4843.5999999999985</c:v>
                </c:pt>
                <c:pt idx="6">
                  <c:v>39231.396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Food Packaging</c:v>
                </c:pt>
              </c:strCache>
            </c:strRef>
          </c:tx>
          <c:spPr>
            <a:solidFill>
              <a:srgbClr val="3D85C6"/>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83.58955925058896</c:v>
                </c:pt>
                <c:pt idx="1">
                  <c:v>83.57709005740325</c:v>
                </c:pt>
                <c:pt idx="2">
                  <c:v>83.66776757038703</c:v>
                </c:pt>
              </c:numCache>
            </c:numRef>
          </c:val>
        </c:ser>
        <c:ser>
          <c:idx val="1"/>
          <c:order val="1"/>
          <c:tx>
            <c:strRef>
              <c:f>Sheet1!$C$1</c:f>
              <c:strCache>
                <c:ptCount val="1"/>
                <c:pt idx="0">
                  <c:v>Non-Food Packaging</c:v>
                </c:pt>
              </c:strCache>
            </c:strRef>
          </c:tx>
          <c:spPr>
            <a:solidFill>
              <a:srgbClr val="9E7E0A"/>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16.410440749411045</c:v>
                </c:pt>
                <c:pt idx="1">
                  <c:v>16.42290994259676</c:v>
                </c:pt>
                <c:pt idx="2">
                  <c:v>16.332232429612965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5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Low-Barrier Films</c:v>
                </c:pt>
              </c:strCache>
            </c:strRef>
          </c:tx>
          <c:spPr>
            <a:solidFill>
              <a:srgbClr val="3D85C6"/>
            </a:solidFill>
            <a:ln>
              <a:noFill/>
            </a:ln>
          </c:spPr>
          <c:dLbls>
            <c:dLbl>
              <c:idx val="0"/>
              <c:tx>
                <c:rich>
                  <a:bodyPr/>
                  <a:lstStyle/>
                  <a:p>
                    <a:r>
                      <a:rPr sz="1100">
                        <a:solidFill>
                          <a:srgbClr val="FFFFFF"/>
                        </a:solidFill>
                        <a:latin typeface="Calibri"/>
                      </a:rPr>
                      <a:t>21%</a:t>
                    </a:r>
                  </a:p>
                </c:rich>
              </c:tx>
              <c:dLblPos val="ctr"/>
              <c:showLegendKey val="0"/>
              <c:showVal val="1"/>
              <c:showCatName val="0"/>
              <c:showSerName val="0"/>
              <c:showPercent val="0"/>
              <c:showBubbleSize val="0"/>
            </c:dLbl>
            <c:dLbl>
              <c:idx val="1"/>
              <c:tx>
                <c:rich>
                  <a:bodyPr/>
                  <a:lstStyle/>
                  <a:p>
                    <a:r>
                      <a:rPr sz="1100">
                        <a:solidFill>
                          <a:srgbClr val="FFFFFF"/>
                        </a:solidFill>
                        <a:latin typeface="Calibri"/>
                      </a:rPr>
                      <a:t>20%</a:t>
                    </a:r>
                  </a:p>
                </c:rich>
              </c:tx>
              <c:dLblPos val="ctr"/>
              <c:showLegendKey val="0"/>
              <c:showVal val="1"/>
              <c:showCatName val="0"/>
              <c:showSerName val="0"/>
              <c:showPercent val="0"/>
              <c:showBubbleSize val="0"/>
            </c:dLbl>
            <c:dLbl>
              <c:idx val="2"/>
              <c:tx>
                <c:rich>
                  <a:bodyPr/>
                  <a:lstStyle/>
                  <a:p>
                    <a:r>
                      <a:rPr sz="1100">
                        <a:solidFill>
                          <a:srgbClr val="FFFFFF"/>
                        </a:solidFill>
                        <a:latin typeface="Calibri"/>
                      </a:rPr>
                      <a:t>21%</a:t>
                    </a:r>
                  </a:p>
                </c:rich>
              </c:tx>
              <c:dLblPos val="ctr"/>
              <c:showLegendKey val="0"/>
              <c:showVal val="1"/>
              <c:showCatName val="0"/>
              <c:showSerName val="0"/>
              <c:showPercent val="0"/>
              <c:showBubbleSize val="0"/>
            </c:dLbl>
            <c:dLbl>
              <c:idx val="3"/>
              <c:tx>
                <c:rich>
                  <a:bodyPr/>
                  <a:lstStyle/>
                  <a:p>
                    <a:r>
                      <a:rPr sz="1100">
                        <a:solidFill>
                          <a:srgbClr val="FFFFFF"/>
                        </a:solidFill>
                        <a:latin typeface="Calibri"/>
                      </a:rPr>
                      <a:t>21%</a:t>
                    </a:r>
                  </a:p>
                </c:rich>
              </c:tx>
              <c:dLblPos val="ctr"/>
              <c:showLegendKey val="0"/>
              <c:showVal val="1"/>
              <c:showCatName val="0"/>
              <c:showSerName val="0"/>
              <c:showPercent val="0"/>
              <c:showBubbleSize val="0"/>
            </c:dLbl>
            <c:dLbl>
              <c:idx val="4"/>
              <c:tx>
                <c:rich>
                  <a:bodyPr/>
                  <a:lstStyle/>
                  <a:p>
                    <a:r>
                      <a:rPr sz="1100">
                        <a:solidFill>
                          <a:srgbClr val="FFFFFF"/>
                        </a:solidFill>
                        <a:latin typeface="Calibri"/>
                      </a:rPr>
                      <a:t>21%</a:t>
                    </a:r>
                  </a:p>
                </c:rich>
              </c:tx>
              <c:dLblPos val="ctr"/>
              <c:showLegendKey val="0"/>
              <c:showVal val="1"/>
              <c:showCatName val="0"/>
              <c:showSerName val="0"/>
              <c:showPercent val="0"/>
              <c:showBubbleSize val="0"/>
            </c:dLbl>
            <c:dLbl>
              <c:idx val="5"/>
              <c:tx>
                <c:rich>
                  <a:bodyPr/>
                  <a:lstStyle/>
                  <a:p>
                    <a:r>
                      <a:rPr sz="1100">
                        <a:solidFill>
                          <a:srgbClr val="FFFFFF"/>
                        </a:solidFill>
                        <a:latin typeface="Calibri"/>
                      </a:rPr>
                      <a:t>20%</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Middle East &amp; Africa  ·  15,718</c:v>
                </c:pt>
                <c:pt idx="1">
                  <c:v>Latin America  ·  16,618</c:v>
                </c:pt>
                <c:pt idx="2">
                  <c:v>South Asia &amp; Pacific  ·  32,687</c:v>
                </c:pt>
                <c:pt idx="3">
                  <c:v>Europe  ·  49,393</c:v>
                </c:pt>
                <c:pt idx="4">
                  <c:v>North America  ·  62,068</c:v>
                </c:pt>
                <c:pt idx="5">
                  <c:v>East Asia  ·  63,723</c:v>
                </c:pt>
              </c:strCache>
            </c:strRef>
          </c:cat>
          <c:val>
            <c:numRef>
              <c:f>Sheet1!$B$2:$B$7</c:f>
              <c:numCache>
                <c:formatCode>General</c:formatCode>
                <c:ptCount val="6"/>
                <c:pt idx="0">
                  <c:v>21.342556161448865</c:v>
                </c:pt>
                <c:pt idx="1">
                  <c:v>20.09817991841026</c:v>
                </c:pt>
                <c:pt idx="2">
                  <c:v>21.2534128300229</c:v>
                </c:pt>
                <c:pt idx="3">
                  <c:v>21.056855806751646</c:v>
                </c:pt>
                <c:pt idx="4">
                  <c:v>21.11885028417816</c:v>
                </c:pt>
                <c:pt idx="5">
                  <c:v>20.24340631688566</c:v>
                </c:pt>
              </c:numCache>
            </c:numRef>
          </c:val>
        </c:ser>
        <c:ser>
          <c:idx val="1"/>
          <c:order val="1"/>
          <c:tx>
            <c:strRef>
              <c:f>Sheet1!$C$1</c:f>
              <c:strCache>
                <c:ptCount val="1"/>
                <c:pt idx="0">
                  <c:v>Medium-Barrier Films</c:v>
                </c:pt>
              </c:strCache>
            </c:strRef>
          </c:tx>
          <c:spPr>
            <a:solidFill>
              <a:srgbClr val="9E7E0A"/>
            </a:solidFill>
            <a:ln>
              <a:noFill/>
            </a:ln>
          </c:spPr>
          <c:dLbls>
            <c:dLbl>
              <c:idx val="0"/>
              <c:tx>
                <c:rich>
                  <a:bodyPr/>
                  <a:lstStyle/>
                  <a:p>
                    <a:r>
                      <a:rPr sz="1100">
                        <a:solidFill>
                          <a:srgbClr val="FFFFFF"/>
                        </a:solidFill>
                        <a:latin typeface="Calibri"/>
                      </a:rPr>
                      <a:t>31%</a:t>
                    </a:r>
                  </a:p>
                </c:rich>
              </c:tx>
              <c:dLblPos val="ctr"/>
              <c:showLegendKey val="0"/>
              <c:showVal val="1"/>
              <c:showCatName val="0"/>
              <c:showSerName val="0"/>
              <c:showPercent val="0"/>
              <c:showBubbleSize val="0"/>
            </c:dLbl>
            <c:dLbl>
              <c:idx val="1"/>
              <c:tx>
                <c:rich>
                  <a:bodyPr/>
                  <a:lstStyle/>
                  <a:p>
                    <a:r>
                      <a:rPr sz="1100">
                        <a:solidFill>
                          <a:srgbClr val="FFFFFF"/>
                        </a:solidFill>
                        <a:latin typeface="Calibri"/>
                      </a:rPr>
                      <a:t>33%</a:t>
                    </a:r>
                  </a:p>
                </c:rich>
              </c:tx>
              <c:dLblPos val="ctr"/>
              <c:showLegendKey val="0"/>
              <c:showVal val="1"/>
              <c:showCatName val="0"/>
              <c:showSerName val="0"/>
              <c:showPercent val="0"/>
              <c:showBubbleSize val="0"/>
            </c:dLbl>
            <c:dLbl>
              <c:idx val="2"/>
              <c:tx>
                <c:rich>
                  <a:bodyPr/>
                  <a:lstStyle/>
                  <a:p>
                    <a:r>
                      <a:rPr sz="1100">
                        <a:solidFill>
                          <a:srgbClr val="FFFFFF"/>
                        </a:solidFill>
                        <a:latin typeface="Calibri"/>
                      </a:rPr>
                      <a:t>32%</a:t>
                    </a:r>
                  </a:p>
                </c:rich>
              </c:tx>
              <c:dLblPos val="ctr"/>
              <c:showLegendKey val="0"/>
              <c:showVal val="1"/>
              <c:showCatName val="0"/>
              <c:showSerName val="0"/>
              <c:showPercent val="0"/>
              <c:showBubbleSize val="0"/>
            </c:dLbl>
            <c:dLbl>
              <c:idx val="3"/>
              <c:tx>
                <c:rich>
                  <a:bodyPr/>
                  <a:lstStyle/>
                  <a:p>
                    <a:r>
                      <a:rPr sz="1100">
                        <a:solidFill>
                          <a:srgbClr val="FFFFFF"/>
                        </a:solidFill>
                        <a:latin typeface="Calibri"/>
                      </a:rPr>
                      <a:t>32%</a:t>
                    </a:r>
                  </a:p>
                </c:rich>
              </c:tx>
              <c:dLblPos val="ctr"/>
              <c:showLegendKey val="0"/>
              <c:showVal val="1"/>
              <c:showCatName val="0"/>
              <c:showSerName val="0"/>
              <c:showPercent val="0"/>
              <c:showBubbleSize val="0"/>
            </c:dLbl>
            <c:dLbl>
              <c:idx val="4"/>
              <c:tx>
                <c:rich>
                  <a:bodyPr/>
                  <a:lstStyle/>
                  <a:p>
                    <a:r>
                      <a:rPr sz="1100">
                        <a:solidFill>
                          <a:srgbClr val="FFFFFF"/>
                        </a:solidFill>
                        <a:latin typeface="Calibri"/>
                      </a:rPr>
                      <a:t>32%</a:t>
                    </a:r>
                  </a:p>
                </c:rich>
              </c:tx>
              <c:dLblPos val="ctr"/>
              <c:showLegendKey val="0"/>
              <c:showVal val="1"/>
              <c:showCatName val="0"/>
              <c:showSerName val="0"/>
              <c:showPercent val="0"/>
              <c:showBubbleSize val="0"/>
            </c:dLbl>
            <c:dLbl>
              <c:idx val="5"/>
              <c:tx>
                <c:rich>
                  <a:bodyPr/>
                  <a:lstStyle/>
                  <a:p>
                    <a:r>
                      <a:rPr sz="1100">
                        <a:solidFill>
                          <a:srgbClr val="FFFFFF"/>
                        </a:solidFill>
                        <a:latin typeface="Calibri"/>
                      </a:rPr>
                      <a:t>33%</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Middle East &amp; Africa  ·  15,718</c:v>
                </c:pt>
                <c:pt idx="1">
                  <c:v>Latin America  ·  16,618</c:v>
                </c:pt>
                <c:pt idx="2">
                  <c:v>South Asia &amp; Pacific  ·  32,687</c:v>
                </c:pt>
                <c:pt idx="3">
                  <c:v>Europe  ·  49,393</c:v>
                </c:pt>
                <c:pt idx="4">
                  <c:v>North America  ·  62,068</c:v>
                </c:pt>
                <c:pt idx="5">
                  <c:v>East Asia  ·  63,723</c:v>
                </c:pt>
              </c:strCache>
            </c:strRef>
          </c:cat>
          <c:val>
            <c:numRef>
              <c:f>Sheet1!$C$2:$C$7</c:f>
              <c:numCache>
                <c:formatCode>General</c:formatCode>
                <c:ptCount val="6"/>
                <c:pt idx="0">
                  <c:v>31.484498824911384</c:v>
                </c:pt>
                <c:pt idx="1">
                  <c:v>32.87611354879023</c:v>
                </c:pt>
                <c:pt idx="2">
                  <c:v>31.710836451387948</c:v>
                </c:pt>
                <c:pt idx="3">
                  <c:v>31.81624043235259</c:v>
                </c:pt>
                <c:pt idx="4">
                  <c:v>31.87255208724622</c:v>
                </c:pt>
                <c:pt idx="5">
                  <c:v>32.55404561175165</c:v>
                </c:pt>
              </c:numCache>
            </c:numRef>
          </c:val>
        </c:ser>
        <c:ser>
          <c:idx val="2"/>
          <c:order val="2"/>
          <c:tx>
            <c:strRef>
              <c:f>Sheet1!$D$1</c:f>
              <c:strCache>
                <c:ptCount val="1"/>
                <c:pt idx="0">
                  <c:v>High-Barrier Films</c:v>
                </c:pt>
              </c:strCache>
            </c:strRef>
          </c:tx>
          <c:spPr>
            <a:solidFill>
              <a:srgbClr val="008189"/>
            </a:solidFill>
            <a:ln>
              <a:noFill/>
            </a:ln>
          </c:spPr>
          <c:dLbls>
            <c:dLbl>
              <c:idx val="0"/>
              <c:tx>
                <c:rich>
                  <a:bodyPr/>
                  <a:lstStyle/>
                  <a:p>
                    <a:r>
                      <a:rPr sz="1100">
                        <a:solidFill>
                          <a:srgbClr val="FFFFFF"/>
                        </a:solidFill>
                        <a:latin typeface="Calibri"/>
                      </a:rPr>
                      <a:t>34%</a:t>
                    </a:r>
                  </a:p>
                </c:rich>
              </c:tx>
              <c:dLblPos val="ctr"/>
              <c:showLegendKey val="0"/>
              <c:showVal val="1"/>
              <c:showCatName val="0"/>
              <c:showSerName val="0"/>
              <c:showPercent val="0"/>
              <c:showBubbleSize val="0"/>
            </c:dLbl>
            <c:dLbl>
              <c:idx val="1"/>
              <c:tx>
                <c:rich>
                  <a:bodyPr/>
                  <a:lstStyle/>
                  <a:p>
                    <a:r>
                      <a:rPr sz="1100">
                        <a:solidFill>
                          <a:srgbClr val="FFFFFF"/>
                        </a:solidFill>
                        <a:latin typeface="Calibri"/>
                      </a:rPr>
                      <a:t>34%</a:t>
                    </a:r>
                  </a:p>
                </c:rich>
              </c:tx>
              <c:dLblPos val="ctr"/>
              <c:showLegendKey val="0"/>
              <c:showVal val="1"/>
              <c:showCatName val="0"/>
              <c:showSerName val="0"/>
              <c:showPercent val="0"/>
              <c:showBubbleSize val="0"/>
            </c:dLbl>
            <c:dLbl>
              <c:idx val="2"/>
              <c:tx>
                <c:rich>
                  <a:bodyPr/>
                  <a:lstStyle/>
                  <a:p>
                    <a:r>
                      <a:rPr sz="1100">
                        <a:solidFill>
                          <a:srgbClr val="FFFFFF"/>
                        </a:solidFill>
                        <a:latin typeface="Calibri"/>
                      </a:rPr>
                      <a:t>33%</a:t>
                    </a:r>
                  </a:p>
                </c:rich>
              </c:tx>
              <c:dLblPos val="ctr"/>
              <c:showLegendKey val="0"/>
              <c:showVal val="1"/>
              <c:showCatName val="0"/>
              <c:showSerName val="0"/>
              <c:showPercent val="0"/>
              <c:showBubbleSize val="0"/>
            </c:dLbl>
            <c:dLbl>
              <c:idx val="3"/>
              <c:tx>
                <c:rich>
                  <a:bodyPr/>
                  <a:lstStyle/>
                  <a:p>
                    <a:r>
                      <a:rPr sz="1100">
                        <a:solidFill>
                          <a:srgbClr val="FFFFFF"/>
                        </a:solidFill>
                        <a:latin typeface="Calibri"/>
                      </a:rPr>
                      <a:t>33%</a:t>
                    </a:r>
                  </a:p>
                </c:rich>
              </c:tx>
              <c:dLblPos val="ctr"/>
              <c:showLegendKey val="0"/>
              <c:showVal val="1"/>
              <c:showCatName val="0"/>
              <c:showSerName val="0"/>
              <c:showPercent val="0"/>
              <c:showBubbleSize val="0"/>
            </c:dLbl>
            <c:dLbl>
              <c:idx val="4"/>
              <c:tx>
                <c:rich>
                  <a:bodyPr/>
                  <a:lstStyle/>
                  <a:p>
                    <a:r>
                      <a:rPr sz="1100">
                        <a:solidFill>
                          <a:srgbClr val="FFFFFF"/>
                        </a:solidFill>
                        <a:latin typeface="Calibri"/>
                      </a:rPr>
                      <a:t>33%</a:t>
                    </a:r>
                  </a:p>
                </c:rich>
              </c:tx>
              <c:dLblPos val="ctr"/>
              <c:showLegendKey val="0"/>
              <c:showVal val="1"/>
              <c:showCatName val="0"/>
              <c:showSerName val="0"/>
              <c:showPercent val="0"/>
              <c:showBubbleSize val="0"/>
            </c:dLbl>
            <c:dLbl>
              <c:idx val="5"/>
              <c:tx>
                <c:rich>
                  <a:bodyPr/>
                  <a:lstStyle/>
                  <a:p>
                    <a:r>
                      <a:rPr sz="1100">
                        <a:solidFill>
                          <a:srgbClr val="FFFFFF"/>
                        </a:solidFill>
                        <a:latin typeface="Calibri"/>
                      </a:rPr>
                      <a:t>34%</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Middle East &amp; Africa  ·  15,718</c:v>
                </c:pt>
                <c:pt idx="1">
                  <c:v>Latin America  ·  16,618</c:v>
                </c:pt>
                <c:pt idx="2">
                  <c:v>South Asia &amp; Pacific  ·  32,687</c:v>
                </c:pt>
                <c:pt idx="3">
                  <c:v>Europe  ·  49,393</c:v>
                </c:pt>
                <c:pt idx="4">
                  <c:v>North America  ·  62,068</c:v>
                </c:pt>
                <c:pt idx="5">
                  <c:v>East Asia  ·  63,723</c:v>
                </c:pt>
              </c:strCache>
            </c:strRef>
          </c:cat>
          <c:val>
            <c:numRef>
              <c:f>Sheet1!$D$2:$D$7</c:f>
              <c:numCache>
                <c:formatCode>General</c:formatCode>
                <c:ptCount val="6"/>
                <c:pt idx="0">
                  <c:v>33.65180108470403</c:v>
                </c:pt>
                <c:pt idx="1">
                  <c:v>33.53568898223197</c:v>
                </c:pt>
                <c:pt idx="2">
                  <c:v>33.36733836963972</c:v>
                </c:pt>
                <c:pt idx="3">
                  <c:v>33.32977615055731</c:v>
                </c:pt>
                <c:pt idx="4">
                  <c:v>33.3801325963365</c:v>
                </c:pt>
                <c:pt idx="5">
                  <c:v>33.679266468299204</c:v>
                </c:pt>
              </c:numCache>
            </c:numRef>
          </c:val>
        </c:ser>
        <c:ser>
          <c:idx val="3"/>
          <c:order val="3"/>
          <c:tx>
            <c:strRef>
              <c:f>Sheet1!$E$1</c:f>
              <c:strCache>
                <c:ptCount val="1"/>
                <c:pt idx="0">
                  <c:v>Ultra-High-Barrier Films</c:v>
                </c:pt>
              </c:strCache>
            </c:strRef>
          </c:tx>
          <c:spPr>
            <a:solidFill>
              <a:srgbClr val="40315E"/>
            </a:solidFill>
            <a:ln>
              <a:noFill/>
            </a:ln>
          </c:spPr>
          <c:dLbls>
            <c:dLbl>
              <c:idx val="0"/>
              <c:tx>
                <c:rich>
                  <a:bodyPr/>
                  <a:lstStyle/>
                  <a:p>
                    <a:r>
                      <a:rPr sz="1100">
                        <a:solidFill>
                          <a:srgbClr val="FFFFFF"/>
                        </a:solidFill>
                        <a:latin typeface="Calibri"/>
                      </a:rPr>
                      <a:t>14%</a:t>
                    </a:r>
                  </a:p>
                </c:rich>
              </c:tx>
              <c:dLblPos val="ctr"/>
              <c:showLegendKey val="0"/>
              <c:showVal val="1"/>
              <c:showCatName val="0"/>
              <c:showSerName val="0"/>
              <c:showPercent val="0"/>
              <c:showBubbleSize val="0"/>
            </c:dLbl>
            <c:dLbl>
              <c:idx val="1"/>
              <c:tx>
                <c:rich>
                  <a:bodyPr/>
                  <a:lstStyle/>
                  <a:p>
                    <a:r>
                      <a:rPr sz="1100">
                        <a:solidFill>
                          <a:srgbClr val="FFFFFF"/>
                        </a:solidFill>
                        <a:latin typeface="Calibri"/>
                      </a:rPr>
                      <a:t>13%</a:t>
                    </a:r>
                  </a:p>
                </c:rich>
              </c:tx>
              <c:dLblPos val="ctr"/>
              <c:showLegendKey val="0"/>
              <c:showVal val="1"/>
              <c:showCatName val="0"/>
              <c:showSerName val="0"/>
              <c:showPercent val="0"/>
              <c:showBubbleSize val="0"/>
            </c:dLbl>
            <c:dLbl>
              <c:idx val="2"/>
              <c:tx>
                <c:rich>
                  <a:bodyPr/>
                  <a:lstStyle/>
                  <a:p>
                    <a:r>
                      <a:rPr sz="1100">
                        <a:solidFill>
                          <a:srgbClr val="FFFFFF"/>
                        </a:solidFill>
                        <a:latin typeface="Calibri"/>
                      </a:rPr>
                      <a:t>14%</a:t>
                    </a:r>
                  </a:p>
                </c:rich>
              </c:tx>
              <c:dLblPos val="ctr"/>
              <c:showLegendKey val="0"/>
              <c:showVal val="1"/>
              <c:showCatName val="0"/>
              <c:showSerName val="0"/>
              <c:showPercent val="0"/>
              <c:showBubbleSize val="0"/>
            </c:dLbl>
            <c:dLbl>
              <c:idx val="3"/>
              <c:tx>
                <c:rich>
                  <a:bodyPr/>
                  <a:lstStyle/>
                  <a:p>
                    <a:r>
                      <a:rPr sz="1100">
                        <a:solidFill>
                          <a:srgbClr val="FFFFFF"/>
                        </a:solidFill>
                        <a:latin typeface="Calibri"/>
                      </a:rPr>
                      <a:t>14%</a:t>
                    </a:r>
                  </a:p>
                </c:rich>
              </c:tx>
              <c:dLblPos val="ctr"/>
              <c:showLegendKey val="0"/>
              <c:showVal val="1"/>
              <c:showCatName val="0"/>
              <c:showSerName val="0"/>
              <c:showPercent val="0"/>
              <c:showBubbleSize val="0"/>
            </c:dLbl>
            <c:dLbl>
              <c:idx val="4"/>
              <c:tx>
                <c:rich>
                  <a:bodyPr/>
                  <a:lstStyle/>
                  <a:p>
                    <a:r>
                      <a:rPr sz="1100">
                        <a:solidFill>
                          <a:srgbClr val="FFFFFF"/>
                        </a:solidFill>
                        <a:latin typeface="Calibri"/>
                      </a:rPr>
                      <a:t>14%</a:t>
                    </a:r>
                  </a:p>
                </c:rich>
              </c:tx>
              <c:dLblPos val="ctr"/>
              <c:showLegendKey val="0"/>
              <c:showVal val="1"/>
              <c:showCatName val="0"/>
              <c:showSerName val="0"/>
              <c:showPercent val="0"/>
              <c:showBubbleSize val="0"/>
            </c:dLbl>
            <c:dLbl>
              <c:idx val="5"/>
              <c:tx>
                <c:rich>
                  <a:bodyPr/>
                  <a:lstStyle/>
                  <a:p>
                    <a:r>
                      <a:rPr sz="1100">
                        <a:solidFill>
                          <a:srgbClr val="FFFFFF"/>
                        </a:solidFill>
                        <a:latin typeface="Calibri"/>
                      </a:rPr>
                      <a:t>14%</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Middle East &amp; Africa  ·  15,718</c:v>
                </c:pt>
                <c:pt idx="1">
                  <c:v>Latin America  ·  16,618</c:v>
                </c:pt>
                <c:pt idx="2">
                  <c:v>South Asia &amp; Pacific  ·  32,687</c:v>
                </c:pt>
                <c:pt idx="3">
                  <c:v>Europe  ·  49,393</c:v>
                </c:pt>
                <c:pt idx="4">
                  <c:v>North America  ·  62,068</c:v>
                </c:pt>
                <c:pt idx="5">
                  <c:v>East Asia  ·  63,723</c:v>
                </c:pt>
              </c:strCache>
            </c:strRef>
          </c:cat>
          <c:val>
            <c:numRef>
              <c:f>Sheet1!$E$2:$E$7</c:f>
              <c:numCache>
                <c:formatCode>General</c:formatCode>
                <c:ptCount val="6"/>
                <c:pt idx="0">
                  <c:v>13.52114392893572</c:v>
                </c:pt>
                <c:pt idx="1">
                  <c:v>13.490017550567549</c:v>
                </c:pt>
                <c:pt idx="2">
                  <c:v>13.668412348949433</c:v>
                </c:pt>
                <c:pt idx="3">
                  <c:v>13.797127610338467</c:v>
                </c:pt>
                <c:pt idx="4">
                  <c:v>13.628465032239115</c:v>
                </c:pt>
                <c:pt idx="5">
                  <c:v>13.523281603063486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externalData r:id="rId1">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f>Sheet1!$B$1</c:f>
              <c:strCache>
                <c:ptCount val="1"/>
                <c:pt idx="0">
                  <c:v>Low-Barrier Films</c:v>
                </c:pt>
              </c:strCache>
            </c:strRef>
          </c:tx>
          <c:spPr>
            <a:solidFill>
              <a:srgbClr val="3D85C6"/>
            </a:solidFill>
          </c:spPr>
          <c:invertIfNegative val="0"/>
          <c:xVal>
            <c:numRef>
              <c:f>Sheet1!$A$2:$A$2</c:f>
              <c:numCache>
                <c:formatCode>General</c:formatCode>
                <c:ptCount val="1"/>
                <c:pt idx="0">
                  <c:v>98.46977429112921</c:v>
                </c:pt>
              </c:numCache>
            </c:numRef>
          </c:xVal>
          <c:yVal>
            <c:numRef>
              <c:f>Sheet1!$B$2:$B$2</c:f>
              <c:numCache>
                <c:formatCode>General</c:formatCode>
                <c:ptCount val="1"/>
                <c:pt idx="0">
                  <c:v>84.13306393668289</c:v>
                </c:pt>
              </c:numCache>
            </c:numRef>
          </c:yVal>
          <c:bubbleSize>
            <c:numRef>
              <c:f>Sheet1!$C$2:$C$2</c:f>
              <c:numCache>
                <c:formatCode>General</c:formatCode>
                <c:ptCount val="1"/>
                <c:pt idx="0">
                  <c:v>50050.302</c:v>
                </c:pt>
              </c:numCache>
            </c:numRef>
          </c:bubbleSize>
          <c:bubble3D val="0"/>
        </c:ser>
        <c:ser>
          <c:idx val="1"/>
          <c:order val="1"/>
          <c:tx>
            <c:strRef>
              <c:f>Sheet1!$B$4</c:f>
              <c:strCache>
                <c:ptCount val="1"/>
                <c:pt idx="0">
                  <c:v>Medium-Barrier Films</c:v>
                </c:pt>
              </c:strCache>
            </c:strRef>
          </c:tx>
          <c:spPr>
            <a:solidFill>
              <a:srgbClr val="9E7E0A"/>
            </a:solidFill>
          </c:spPr>
          <c:invertIfNegative val="0"/>
          <c:xVal>
            <c:numRef>
              <c:f>Sheet1!$A$5:$A$5</c:f>
              <c:numCache>
                <c:formatCode>General</c:formatCode>
                <c:ptCount val="1"/>
                <c:pt idx="0">
                  <c:v>93.77375460173579</c:v>
                </c:pt>
              </c:numCache>
            </c:numRef>
          </c:xVal>
          <c:yVal>
            <c:numRef>
              <c:f>Sheet1!$B$5:$B$5</c:f>
              <c:numCache>
                <c:formatCode>General</c:formatCode>
                <c:ptCount val="1"/>
                <c:pt idx="0">
                  <c:v>133.2702842563938</c:v>
                </c:pt>
              </c:numCache>
            </c:numRef>
          </c:yVal>
          <c:bubbleSize>
            <c:numRef>
              <c:f>Sheet1!$C$5:$C$5</c:f>
              <c:numCache>
                <c:formatCode>General</c:formatCode>
                <c:ptCount val="1"/>
                <c:pt idx="0">
                  <c:v>77019.931</c:v>
                </c:pt>
              </c:numCache>
            </c:numRef>
          </c:bubbleSize>
          <c:bubble3D val="0"/>
        </c:ser>
        <c:ser>
          <c:idx val="2"/>
          <c:order val="2"/>
          <c:tx>
            <c:strRef>
              <c:f>Sheet1!$B$7</c:f>
              <c:strCache>
                <c:ptCount val="1"/>
                <c:pt idx="0">
                  <c:v>High-Barrier Films</c:v>
                </c:pt>
              </c:strCache>
            </c:strRef>
          </c:tx>
          <c:spPr>
            <a:solidFill>
              <a:srgbClr val="008189"/>
            </a:solidFill>
          </c:spPr>
          <c:invertIfNegative val="0"/>
          <c:xVal>
            <c:numRef>
              <c:f>Sheet1!$A$8:$A$8</c:f>
              <c:numCache>
                <c:formatCode>General</c:formatCode>
                <c:ptCount val="1"/>
                <c:pt idx="0">
                  <c:v>106.7023344392416</c:v>
                </c:pt>
              </c:numCache>
            </c:numRef>
          </c:xVal>
          <c:yVal>
            <c:numRef>
              <c:f>Sheet1!$B$8:$B$8</c:f>
              <c:numCache>
                <c:formatCode>General</c:formatCode>
                <c:ptCount val="1"/>
                <c:pt idx="0">
                  <c:v>128.50841838357297</c:v>
                </c:pt>
              </c:numCache>
            </c:numRef>
          </c:yVal>
          <c:bubbleSize>
            <c:numRef>
              <c:f>Sheet1!$C$8:$C$8</c:f>
              <c:numCache>
                <c:formatCode>General</c:formatCode>
                <c:ptCount val="1"/>
                <c:pt idx="0">
                  <c:v>80412.003</c:v>
                </c:pt>
              </c:numCache>
            </c:numRef>
          </c:bubbleSize>
          <c:bubble3D val="0"/>
        </c:ser>
        <c:ser>
          <c:idx val="3"/>
          <c:order val="3"/>
          <c:tx>
            <c:strRef>
              <c:f>Sheet1!$B$10</c:f>
              <c:strCache>
                <c:ptCount val="1"/>
                <c:pt idx="0">
                  <c:v>Ultra-High-Barrier Films</c:v>
                </c:pt>
              </c:strCache>
            </c:strRef>
          </c:tx>
          <c:spPr>
            <a:solidFill>
              <a:srgbClr val="40315E"/>
            </a:solidFill>
          </c:spPr>
          <c:invertIfNegative val="0"/>
          <c:xVal>
            <c:numRef>
              <c:f>Sheet1!$A$11:$A$11</c:f>
              <c:numCache>
                <c:formatCode>General</c:formatCode>
                <c:ptCount val="1"/>
                <c:pt idx="0">
                  <c:v>101.2228476776815</c:v>
                </c:pt>
              </c:numCache>
            </c:numRef>
          </c:xVal>
          <c:yVal>
            <c:numRef>
              <c:f>Sheet1!$B$11:$B$11</c:f>
              <c:numCache>
                <c:formatCode>General</c:formatCode>
                <c:ptCount val="1"/>
                <c:pt idx="0">
                  <c:v>54.08823342335034</c:v>
                </c:pt>
              </c:numCache>
            </c:numRef>
          </c:yVal>
          <c:bubbleSize>
            <c:numRef>
              <c:f>Sheet1!$C$11:$C$11</c:f>
              <c:numCache>
                <c:formatCode>General</c:formatCode>
                <c:ptCount val="1"/>
                <c:pt idx="0">
                  <c:v>32726.177</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15.0"/>
          <c:min val="85.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75.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externalData r:id="rId1">
    <c:autoUpdate val="0"/>
  </c:externalData>
</c:chartSpace>
</file>

<file path=ppt/charts/chart6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0.0</c:v>
                </c:pt>
                <c:pt idx="1">
                  <c:v>26785.086</c:v>
                </c:pt>
                <c:pt idx="2">
                  <c:v>29904.147</c:v>
                </c:pt>
                <c:pt idx="3">
                  <c:v>33785.789</c:v>
                </c:pt>
                <c:pt idx="4">
                  <c:v>38491.357</c:v>
                </c:pt>
                <c:pt idx="5">
                  <c:v>43927.908</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26785.086</c:v>
                </c:pt>
                <c:pt idx="1">
                  <c:v>3119.0610000000015</c:v>
                </c:pt>
                <c:pt idx="2">
                  <c:v>3881.641999999996</c:v>
                </c:pt>
                <c:pt idx="3">
                  <c:v>4705.568000000007</c:v>
                </c:pt>
                <c:pt idx="4">
                  <c:v>5436.5509999999995</c:v>
                </c:pt>
                <c:pt idx="5">
                  <c:v>6122.394</c:v>
                </c:pt>
                <c:pt idx="6">
                  <c:v>50050.302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6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0.0</c:v>
                </c:pt>
                <c:pt idx="1">
                  <c:v>42428.694</c:v>
                </c:pt>
                <c:pt idx="2">
                  <c:v>47010.35</c:v>
                </c:pt>
                <c:pt idx="3">
                  <c:v>52714.371</c:v>
                </c:pt>
                <c:pt idx="4">
                  <c:v>59708.634</c:v>
                </c:pt>
                <c:pt idx="5">
                  <c:v>67856.172</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42428.694</c:v>
                </c:pt>
                <c:pt idx="1">
                  <c:v>4581.655999999995</c:v>
                </c:pt>
                <c:pt idx="2">
                  <c:v>5704.021000000001</c:v>
                </c:pt>
                <c:pt idx="3">
                  <c:v>6994.262999999999</c:v>
                </c:pt>
                <c:pt idx="4">
                  <c:v>8147.538000000008</c:v>
                </c:pt>
                <c:pt idx="5">
                  <c:v>9163.758999999991</c:v>
                </c:pt>
                <c:pt idx="6">
                  <c:v>77019.931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6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0.0</c:v>
                </c:pt>
                <c:pt idx="1">
                  <c:v>40912.679</c:v>
                </c:pt>
                <c:pt idx="2">
                  <c:v>46146.570999999996</c:v>
                </c:pt>
                <c:pt idx="3">
                  <c:v>52630.932</c:v>
                </c:pt>
                <c:pt idx="4">
                  <c:v>60525.149</c:v>
                </c:pt>
                <c:pt idx="5">
                  <c:v>69836.171</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40912.679</c:v>
                </c:pt>
                <c:pt idx="1">
                  <c:v>5233.892</c:v>
                </c:pt>
                <c:pt idx="2">
                  <c:v>6484.361000000004</c:v>
                </c:pt>
                <c:pt idx="3">
                  <c:v>7894.216999999997</c:v>
                </c:pt>
                <c:pt idx="4">
                  <c:v>9311.022000000004</c:v>
                </c:pt>
                <c:pt idx="5">
                  <c:v>10575.831999999995</c:v>
                </c:pt>
                <c:pt idx="6">
                  <c:v>80412.003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6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0.0</c:v>
                </c:pt>
                <c:pt idx="1">
                  <c:v>17219.841</c:v>
                </c:pt>
                <c:pt idx="2">
                  <c:v>19369.2</c:v>
                </c:pt>
                <c:pt idx="3">
                  <c:v>21928.445</c:v>
                </c:pt>
                <c:pt idx="4">
                  <c:v>25032.88</c:v>
                </c:pt>
                <c:pt idx="5">
                  <c:v>28645.157</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17219.841</c:v>
                </c:pt>
                <c:pt idx="1">
                  <c:v>2149.3590000000004</c:v>
                </c:pt>
                <c:pt idx="2">
                  <c:v>2559.244999999999</c:v>
                </c:pt>
                <c:pt idx="3">
                  <c:v>3104.4350000000013</c:v>
                </c:pt>
                <c:pt idx="4">
                  <c:v>3612.276999999998</c:v>
                </c:pt>
                <c:pt idx="5">
                  <c:v>4081.0200000000004</c:v>
                </c:pt>
                <c:pt idx="6">
                  <c:v>32726.177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6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High-Barrier Films</c:v>
                </c:pt>
              </c:strCache>
            </c:strRef>
          </c:tx>
          <c:spPr>
            <a:solidFill>
              <a:srgbClr val="3D85C6"/>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31.60645328619153</c:v>
                </c:pt>
                <c:pt idx="1">
                  <c:v>32.12710459589324</c:v>
                </c:pt>
                <c:pt idx="2">
                  <c:v>33.475931169821266</c:v>
                </c:pt>
              </c:numCache>
            </c:numRef>
          </c:val>
        </c:ser>
        <c:ser>
          <c:idx val="1"/>
          <c:order val="1"/>
          <c:tx>
            <c:strRef>
              <c:f>Sheet1!$C$1</c:f>
              <c:strCache>
                <c:ptCount val="1"/>
                <c:pt idx="0">
                  <c:v>Medium-Barrier Films</c:v>
                </c:pt>
              </c:strCache>
            </c:strRef>
          </c:tx>
          <c:spPr>
            <a:solidFill>
              <a:srgbClr val="9E7E0A"/>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34.08993043862955</c:v>
                </c:pt>
                <c:pt idx="1">
                  <c:v>33.31757106409845</c:v>
                </c:pt>
                <c:pt idx="2">
                  <c:v>32.06379411865146</c:v>
                </c:pt>
              </c:numCache>
            </c:numRef>
          </c:val>
        </c:ser>
        <c:ser>
          <c:idx val="2"/>
          <c:order val="2"/>
          <c:tx>
            <c:strRef>
              <c:f>Sheet1!$D$1</c:f>
              <c:strCache>
                <c:ptCount val="1"/>
                <c:pt idx="0">
                  <c:v>Low-Barrier Films</c:v>
                </c:pt>
              </c:strCache>
            </c:strRef>
          </c:tx>
          <c:spPr>
            <a:solidFill>
              <a:srgbClr val="008189"/>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21.15476054401025</c:v>
                </c:pt>
                <c:pt idx="1">
                  <c:v>21.033265984170722</c:v>
                </c:pt>
                <c:pt idx="2">
                  <c:v>20.836198605583395</c:v>
                </c:pt>
              </c:numCache>
            </c:numRef>
          </c:val>
        </c:ser>
        <c:ser>
          <c:idx val="3"/>
          <c:order val="3"/>
          <c:tx>
            <c:strRef>
              <c:f>Sheet1!$E$1</c:f>
              <c:strCache>
                <c:ptCount val="1"/>
                <c:pt idx="0">
                  <c:v>Ultra-High-Barrier Films</c:v>
                </c:pt>
              </c:strCache>
            </c:strRef>
          </c:tx>
          <c:spPr>
            <a:solidFill>
              <a:srgbClr val="40315E"/>
            </a:solidFill>
            <a:ln>
              <a:noFill/>
            </a:ln>
          </c:spPr>
          <c:dLbls>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13.148855731168657</c:v>
                </c:pt>
                <c:pt idx="1">
                  <c:v>13.522058355837585</c:v>
                </c:pt>
                <c:pt idx="2">
                  <c:v>13.624076105943884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65.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Barrier Casings</c:v>
                </c:pt>
              </c:strCache>
            </c:strRef>
          </c:tx>
          <c:spPr>
            <a:ln w="25400">
              <a:solidFill>
                <a:srgbClr val="C55A11"/>
              </a:solidFill>
            </a:ln>
          </c:spPr>
          <c:marker>
            <c:symbol val="none"/>
          </c:marker>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4360.0</c:v>
                </c:pt>
                <c:pt idx="1">
                  <c:v>4376.0</c:v>
                </c:pt>
                <c:pt idx="2">
                  <c:v>4392.0</c:v>
                </c:pt>
                <c:pt idx="3">
                  <c:v>4410.0</c:v>
                </c:pt>
                <c:pt idx="4">
                  <c:v>4437.0</c:v>
                </c:pt>
                <c:pt idx="5">
                  <c:v>4480.0</c:v>
                </c:pt>
                <c:pt idx="6">
                  <c:v>4528.0</c:v>
                </c:pt>
                <c:pt idx="7">
                  <c:v>4595.0</c:v>
                </c:pt>
                <c:pt idx="8">
                  <c:v>4679.0</c:v>
                </c:pt>
                <c:pt idx="9">
                  <c:v>4766.0</c:v>
                </c:pt>
                <c:pt idx="10">
                  <c:v>4844.0</c:v>
                </c:pt>
                <c:pt idx="11">
                  <c:v>4912.0</c:v>
                </c:pt>
                <c:pt idx="12">
                  <c:v>4965.0</c:v>
                </c:pt>
                <c:pt idx="13">
                  <c:v>5011.0</c:v>
                </c:pt>
                <c:pt idx="14">
                  <c:v>5051.0</c:v>
                </c:pt>
                <c:pt idx="15">
                  <c:v>5079.0</c:v>
                </c:pt>
              </c:numCache>
            </c:numRef>
          </c:val>
          <c:smooth val="0"/>
        </c:ser>
        <c:ser>
          <c:idx val="1"/>
          <c:order val="1"/>
          <c:tx>
            <c:strRef>
              <c:f>Sheet1!$C$1</c:f>
              <c:strCache>
                <c:ptCount val="1"/>
                <c:pt idx="0">
                  <c:v>Rollstock Films</c:v>
                </c:pt>
              </c:strCache>
            </c:strRef>
          </c:tx>
          <c:spPr>
            <a:ln w="25400">
              <a:solidFill>
                <a:srgbClr val="0B2E4A"/>
              </a:solidFill>
            </a:ln>
          </c:spPr>
          <c:marker>
            <c:symbol val="none"/>
          </c:marker>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Sheet1!$C$2:$C$17</c:f>
              <c:numCache>
                <c:formatCode>General</c:formatCode>
                <c:ptCount val="16"/>
                <c:pt idx="0">
                  <c:v>3051.0</c:v>
                </c:pt>
                <c:pt idx="1">
                  <c:v>3052.0</c:v>
                </c:pt>
                <c:pt idx="2">
                  <c:v>3059.0</c:v>
                </c:pt>
                <c:pt idx="3">
                  <c:v>3069.0</c:v>
                </c:pt>
                <c:pt idx="4">
                  <c:v>3085.0</c:v>
                </c:pt>
                <c:pt idx="5">
                  <c:v>3108.0</c:v>
                </c:pt>
                <c:pt idx="6">
                  <c:v>3131.0</c:v>
                </c:pt>
                <c:pt idx="7">
                  <c:v>3167.0</c:v>
                </c:pt>
                <c:pt idx="8">
                  <c:v>3216.0</c:v>
                </c:pt>
                <c:pt idx="9">
                  <c:v>3270.0</c:v>
                </c:pt>
                <c:pt idx="10">
                  <c:v>3324.0</c:v>
                </c:pt>
                <c:pt idx="11">
                  <c:v>3371.0</c:v>
                </c:pt>
                <c:pt idx="12">
                  <c:v>3410.0</c:v>
                </c:pt>
                <c:pt idx="13">
                  <c:v>3445.0</c:v>
                </c:pt>
                <c:pt idx="14">
                  <c:v>3474.0</c:v>
                </c:pt>
                <c:pt idx="15">
                  <c:v>3496.0</c:v>
                </c:pt>
              </c:numCache>
            </c:numRef>
          </c:val>
          <c:smooth val="0"/>
        </c:ser>
        <c:ser>
          <c:idx val="2"/>
          <c:order val="2"/>
          <c:tx>
            <c:strRef>
              <c:f>Sheet1!$D$1</c:f>
              <c:strCache>
                <c:ptCount val="1"/>
                <c:pt idx="0">
                  <c:v>Premade Pouches &amp; Bags</c:v>
                </c:pt>
              </c:strCache>
            </c:strRef>
          </c:tx>
          <c:spPr>
            <a:ln w="25400">
              <a:solidFill>
                <a:srgbClr val="7030A0"/>
              </a:solidFill>
            </a:ln>
          </c:spPr>
          <c:marker>
            <c:symbol val="none"/>
          </c:marker>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Sheet1!$D$2:$D$17</c:f>
              <c:numCache>
                <c:formatCode>General</c:formatCode>
                <c:ptCount val="16"/>
                <c:pt idx="0">
                  <c:v>2793.0</c:v>
                </c:pt>
                <c:pt idx="1">
                  <c:v>2807.0</c:v>
                </c:pt>
                <c:pt idx="2">
                  <c:v>2820.0</c:v>
                </c:pt>
                <c:pt idx="3">
                  <c:v>2833.0</c:v>
                </c:pt>
                <c:pt idx="4">
                  <c:v>2844.0</c:v>
                </c:pt>
                <c:pt idx="5">
                  <c:v>2855.0</c:v>
                </c:pt>
                <c:pt idx="6">
                  <c:v>2907.0</c:v>
                </c:pt>
                <c:pt idx="7">
                  <c:v>2954.0</c:v>
                </c:pt>
                <c:pt idx="8">
                  <c:v>2995.0</c:v>
                </c:pt>
                <c:pt idx="9">
                  <c:v>3033.0</c:v>
                </c:pt>
                <c:pt idx="10">
                  <c:v>3070.0</c:v>
                </c:pt>
                <c:pt idx="11">
                  <c:v>3110.0</c:v>
                </c:pt>
                <c:pt idx="12">
                  <c:v>3150.0</c:v>
                </c:pt>
                <c:pt idx="13">
                  <c:v>3186.0</c:v>
                </c:pt>
                <c:pt idx="14">
                  <c:v>3219.0</c:v>
                </c:pt>
                <c:pt idx="15">
                  <c:v>3248.0</c:v>
                </c:pt>
              </c:numCache>
            </c:numRef>
          </c:val>
          <c:smooth val="0"/>
        </c:ser>
        <c:ser>
          <c:idx val="3"/>
          <c:order val="3"/>
          <c:tx>
            <c:strRef>
              <c:f>Sheet1!$E$1</c:f>
              <c:strCache>
                <c:ptCount val="1"/>
                <c:pt idx="0">
                  <c:v>Sachets &amp; Stick Packs</c:v>
                </c:pt>
              </c:strCache>
            </c:strRef>
          </c:tx>
          <c:spPr>
            <a:ln w="25400">
              <a:solidFill>
                <a:srgbClr val="008189"/>
              </a:solidFill>
            </a:ln>
          </c:spPr>
          <c:marker>
            <c:symbol val="none"/>
          </c:marker>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Sheet1!$E$2:$E$17</c:f>
              <c:numCache>
                <c:formatCode>General</c:formatCode>
                <c:ptCount val="16"/>
                <c:pt idx="0">
                  <c:v>2631.0</c:v>
                </c:pt>
                <c:pt idx="1">
                  <c:v>2643.0</c:v>
                </c:pt>
                <c:pt idx="2">
                  <c:v>2654.0</c:v>
                </c:pt>
                <c:pt idx="3">
                  <c:v>2663.0</c:v>
                </c:pt>
                <c:pt idx="4">
                  <c:v>2672.0</c:v>
                </c:pt>
                <c:pt idx="5">
                  <c:v>2680.0</c:v>
                </c:pt>
                <c:pt idx="6">
                  <c:v>2712.0</c:v>
                </c:pt>
                <c:pt idx="7">
                  <c:v>2740.0</c:v>
                </c:pt>
                <c:pt idx="8">
                  <c:v>2768.0</c:v>
                </c:pt>
                <c:pt idx="9">
                  <c:v>2804.0</c:v>
                </c:pt>
                <c:pt idx="10">
                  <c:v>2842.0</c:v>
                </c:pt>
                <c:pt idx="11">
                  <c:v>2881.0</c:v>
                </c:pt>
                <c:pt idx="12">
                  <c:v>2919.0</c:v>
                </c:pt>
                <c:pt idx="13">
                  <c:v>2954.0</c:v>
                </c:pt>
                <c:pt idx="14">
                  <c:v>2986.0</c:v>
                </c:pt>
                <c:pt idx="15">
                  <c:v>3015.0</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a:solidFill>
              <a:srgbClr val="D9DEE4"/>
            </a:solidFill>
          </a:ln>
        </c:spPr>
        <c:txPr>
          <a:bodyPr/>
          <a:lstStyle/>
          <a:p>
            <a:pPr>
              <a:defRPr sz="900">
                <a:solidFill>
                  <a:srgbClr val="59636E"/>
                </a:solidFill>
                <a:latin typeface="Calibri"/>
              </a:defRPr>
            </a:pPr>
          </a:p>
        </c:txPr>
        <c:crossAx val="2140495176"/>
        <c:crosses val="autoZero"/>
        <c:auto val="1"/>
        <c:lblAlgn val="ctr"/>
        <c:lblOffset val="100"/>
        <c:noMultiLvlLbl val="0"/>
      </c:catAx>
      <c:valAx>
        <c:axId val="2140495176"/>
        <c:scaling>
          <c:max val="5500.0"/>
          <c:min val="2500.0"/>
        </c:scaling>
        <c:delete val="0"/>
        <c:axPos val="l"/>
        <c:majorGridlines>
          <c:spPr>
            <a:ln>
              <a:solidFill>
                <a:srgbClr val="D9DEE4"/>
              </a:solidFill>
            </a:ln>
          </c:spPr>
        </c:majorGridlines>
        <c:numFmt formatCode="#,##0" sourceLinked="0"/>
        <c:majorTickMark val="out"/>
        <c:minorTickMark val="none"/>
        <c:tickLblPos val="nextTo"/>
        <c:spPr>
          <a:ln>
            <a:noFill/>
          </a:ln>
        </c:spPr>
        <c:txPr>
          <a:bodyPr/>
          <a:lstStyle/>
          <a:p>
            <a:pPr>
              <a:defRPr sz="900">
                <a:solidFill>
                  <a:srgbClr val="59636E"/>
                </a:solidFill>
                <a:latin typeface="Calibri"/>
              </a:defRPr>
            </a:pPr>
          </a:p>
        </c:txPr>
        <c:crossAx val="2118791784"/>
        <c:crosses val="autoZero"/>
        <c:majorUnit val="500.0"/>
      </c:valAx>
    </c:plotArea>
    <c:legend>
      <c:legendPos val="b"/>
      <c:layout/>
      <c:overlay val="0"/>
      <c:txPr>
        <a:bodyPr/>
        <a:lstStyle/>
        <a:p>
          <a:pPr>
            <a:defRPr sz="900">
              <a:latin typeface="Calibri"/>
            </a:defRPr>
          </a:pPr>
        </a:p>
      </c:txPr>
    </c:legend>
    <c:plotVisOnly val="1"/>
    <c:dispBlanksAs val="gap"/>
    <c:showDLblsOverMax val="0"/>
  </c:chart>
  <c:txPr>
    <a:bodyPr/>
    <a:lstStyle/>
    <a:p>
      <a:pPr>
        <a:defRPr sz="1800"/>
      </a:pPr>
      <a:endParaRPr lang="en-US"/>
    </a:p>
  </c:txPr>
  <c:externalData r:id="rId1">
    <c:autoUpdate val="0"/>
  </c:externalData>
</c:chartSpace>
</file>

<file path=ppt/charts/chart6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Index</c:v>
                </c:pt>
              </c:strCache>
            </c:strRef>
          </c:tx>
          <c:dPt>
            <c:idx val="0"/>
            <c:spPr>
              <a:solidFill>
                <a:srgbClr val="5B7DB1"/>
              </a:solidFill>
            </c:spPr>
          </c:dPt>
          <c:dPt>
            <c:idx val="1"/>
            <c:spPr>
              <a:solidFill>
                <a:srgbClr val="5B7DB1"/>
              </a:solidFill>
            </c:spPr>
          </c:dPt>
          <c:dPt>
            <c:idx val="2"/>
            <c:spPr>
              <a:solidFill>
                <a:srgbClr val="C55A11"/>
              </a:solidFill>
            </c:spPr>
          </c:dPt>
          <c:dPt>
            <c:idx val="3"/>
            <c:spPr>
              <a:solidFill>
                <a:srgbClr val="C55A11"/>
              </a:solidFill>
            </c:spPr>
          </c:dPt>
          <c:cat>
            <c:strRef>
              <c:f>Sheet1!$A$2:$A$5</c:f>
              <c:strCache>
                <c:ptCount val="4"/>
                <c:pt idx="0">
                  <c:v>Sachets &amp; Stick Packs</c:v>
                </c:pt>
                <c:pt idx="1">
                  <c:v>Premade Pouches &amp; Bags</c:v>
                </c:pt>
                <c:pt idx="2">
                  <c:v>Rollstock Films</c:v>
                </c:pt>
                <c:pt idx="3">
                  <c:v>Barrier Casings</c:v>
                </c:pt>
              </c:strCache>
            </c:strRef>
          </c:cat>
          <c:val>
            <c:numRef>
              <c:f>Sheet1!$B$2:$B$5</c:f>
              <c:numCache>
                <c:formatCode>General</c:formatCode>
                <c:ptCount val="4"/>
                <c:pt idx="0">
                  <c:v>86.5</c:v>
                </c:pt>
                <c:pt idx="1">
                  <c:v>92.1</c:v>
                </c:pt>
                <c:pt idx="2">
                  <c:v>100.3</c:v>
                </c:pt>
                <c:pt idx="3">
                  <c:v>144.5</c:v>
                </c:pt>
              </c:numCache>
            </c:numRef>
          </c:val>
        </c:ser>
        <c:dLbls>
          <c:numFmt formatCode="0.0" sourceLinked="0"/>
          <c:txPr>
            <a:bodyPr/>
            <a:lstStyle/>
            <a:p>
              <a:pPr>
                <a:defRPr sz="900" b="1">
                  <a:solidFill>
                    <a:srgbClr val="1F1F1F"/>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D9DEE4"/>
            </a:solidFill>
          </a:ln>
        </c:spPr>
        <c:txPr>
          <a:bodyPr/>
          <a:lstStyle/>
          <a:p>
            <a:pPr>
              <a:defRPr sz="850">
                <a:solidFill>
                  <a:srgbClr val="1F1F1F"/>
                </a:solidFill>
                <a:latin typeface="Calibri"/>
              </a:defRPr>
            </a:pPr>
          </a:p>
        </c:txPr>
        <c:crossAx val="-2113994440"/>
        <c:crosses val="autoZero"/>
        <c:auto val="1"/>
        <c:lblAlgn val="ctr"/>
        <c:lblOffset val="100"/>
        <c:tickLblSkip val="1"/>
        <c:noMultiLvlLbl val="0"/>
      </c:catAx>
      <c:valAx>
        <c:axId val="-2113994440"/>
        <c:scaling>
          <c:max val="147.0"/>
          <c:min val="83.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6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noFill/>
          </c:spPr>
          <c:cat>
            <c:strRef>
              <c:f>Sheet1!$A$2:$A$7</c:f>
              <c:strCache>
                <c:ptCount val="6"/>
                <c:pt idx="0">
                  <c:v>North America</c:v>
                </c:pt>
                <c:pt idx="1">
                  <c:v>Europe</c:v>
                </c:pt>
                <c:pt idx="2">
                  <c:v>Middle East &amp; Africa</c:v>
                </c:pt>
                <c:pt idx="3">
                  <c:v>Latin America</c:v>
                </c:pt>
                <c:pt idx="4">
                  <c:v>East Asia</c:v>
                </c:pt>
                <c:pt idx="5">
                  <c:v>South Asia &amp; Pacific</c:v>
                </c:pt>
              </c:strCache>
            </c:strRef>
          </c:cat>
          <c:val>
            <c:numRef>
              <c:f>Sheet1!$B$2:$B$7</c:f>
              <c:numCache>
                <c:formatCode>General</c:formatCode>
                <c:ptCount val="6"/>
                <c:pt idx="0">
                  <c:v>97.1</c:v>
                </c:pt>
                <c:pt idx="1">
                  <c:v>93.0</c:v>
                </c:pt>
                <c:pt idx="2">
                  <c:v>83.0</c:v>
                </c:pt>
                <c:pt idx="3">
                  <c:v>81.6</c:v>
                </c:pt>
                <c:pt idx="4">
                  <c:v>78.5</c:v>
                </c:pt>
                <c:pt idx="5">
                  <c:v>78.3</c:v>
                </c:pt>
              </c:numCache>
            </c:numRef>
          </c:val>
        </c:ser>
        <c:ser>
          <c:idx val="1"/>
          <c:order val="1"/>
          <c:tx>
            <c:strRef>
              <c:f>Sheet1!$C$1</c:f>
              <c:strCache>
                <c:ptCount val="1"/>
                <c:pt idx="0">
                  <c:v>Range</c:v>
                </c:pt>
              </c:strCache>
            </c:strRef>
          </c:tx>
          <c:spPr>
            <a:solidFill>
              <a:srgbClr val="008189"/>
            </a:solidFill>
          </c:spPr>
          <c:dPt>
            <c:idx val="2"/>
            <c:spPr>
              <a:solidFill>
                <a:srgbClr val="5B7DB1"/>
              </a:solidFill>
            </c:spPr>
          </c:dPt>
          <c:dPt>
            <c:idx val="3"/>
            <c:spPr>
              <a:solidFill>
                <a:srgbClr val="5B7DB1"/>
              </a:solidFill>
            </c:spPr>
          </c:dPt>
          <c:dPt>
            <c:idx val="4"/>
            <c:spPr>
              <a:solidFill>
                <a:srgbClr val="5B7DB1"/>
              </a:solidFill>
            </c:spPr>
          </c:dPt>
          <c:dPt>
            <c:idx val="5"/>
            <c:spPr>
              <a:solidFill>
                <a:srgbClr val="5B7DB1"/>
              </a:solidFill>
            </c:spPr>
          </c:dPt>
          <c:cat>
            <c:strRef>
              <c:f>Sheet1!$A$2:$A$7</c:f>
              <c:strCache>
                <c:ptCount val="6"/>
                <c:pt idx="0">
                  <c:v>North America</c:v>
                </c:pt>
                <c:pt idx="1">
                  <c:v>Europe</c:v>
                </c:pt>
                <c:pt idx="2">
                  <c:v>Middle East &amp; Africa</c:v>
                </c:pt>
                <c:pt idx="3">
                  <c:v>Latin America</c:v>
                </c:pt>
                <c:pt idx="4">
                  <c:v>East Asia</c:v>
                </c:pt>
                <c:pt idx="5">
                  <c:v>South Asia &amp; Pacific</c:v>
                </c:pt>
              </c:strCache>
            </c:strRef>
          </c:cat>
          <c:val>
            <c:numRef>
              <c:f>Sheet1!$C$2:$C$7</c:f>
              <c:numCache>
                <c:formatCode>General</c:formatCode>
                <c:ptCount val="6"/>
                <c:pt idx="0">
                  <c:v>65.4</c:v>
                </c:pt>
                <c:pt idx="1">
                  <c:v>61.3</c:v>
                </c:pt>
                <c:pt idx="2">
                  <c:v>55.6</c:v>
                </c:pt>
                <c:pt idx="3">
                  <c:v>55.0</c:v>
                </c:pt>
                <c:pt idx="4">
                  <c:v>53.4</c:v>
                </c:pt>
                <c:pt idx="5">
                  <c:v>52.1</c:v>
                </c:pt>
              </c:numCache>
            </c:numRef>
          </c:val>
        </c:ser>
        <c:gapWidth val="40"/>
        <c:overlap val="100"/>
        <c:axId val="-2068027336"/>
        <c:axId val="-2113994440"/>
      </c:barChart>
      <c:catAx>
        <c:axId val="-2068027336"/>
        <c:scaling>
          <c:orientation val="minMax"/>
        </c:scaling>
        <c:delete val="0"/>
        <c:axPos val="b"/>
        <c:majorTickMark val="out"/>
        <c:minorTickMark val="none"/>
        <c:tickLblPos val="nextTo"/>
        <c:spPr>
          <a:ln>
            <a:solidFill>
              <a:srgbClr val="D9DEE4"/>
            </a:solidFill>
          </a:ln>
        </c:spPr>
        <c:txPr>
          <a:bodyPr/>
          <a:lstStyle/>
          <a:p>
            <a:pPr>
              <a:defRPr sz="850">
                <a:solidFill>
                  <a:srgbClr val="1F1F1F"/>
                </a:solidFill>
                <a:latin typeface="Calibri"/>
              </a:defRPr>
            </a:pPr>
          </a:p>
        </c:txPr>
        <c:crossAx val="-2113994440"/>
        <c:crosses val="autoZero"/>
        <c:auto val="1"/>
        <c:lblAlgn val="ctr"/>
        <c:lblOffset val="100"/>
        <c:tickLblSkip val="1"/>
        <c:noMultiLvlLbl val="0"/>
      </c:catAx>
      <c:valAx>
        <c:axId val="-2113994440"/>
        <c:scaling>
          <c:max val="165.0"/>
          <c:min val="75.0"/>
        </c:scaling>
        <c:delete val="0"/>
        <c:axPos val="l"/>
        <c:majorGridlines>
          <c:spPr>
            <a:ln>
              <a:solidFill>
                <a:srgbClr val="D9DEE4"/>
              </a:solidFill>
            </a:ln>
          </c:spPr>
        </c:majorGridlines>
        <c:numFmt formatCode="0" sourceLinked="0"/>
        <c:majorTickMark val="out"/>
        <c:minorTickMark val="none"/>
        <c:tickLblPos val="nextTo"/>
        <c:spPr>
          <a:ln>
            <a:noFill/>
          </a:ln>
        </c:spPr>
        <c:txPr>
          <a:bodyPr/>
          <a:lstStyle/>
          <a:p>
            <a:pPr>
              <a:defRPr sz="850">
                <a:solidFill>
                  <a:srgbClr val="59636E"/>
                </a:solidFill>
                <a:latin typeface="Calibri"/>
              </a:defRPr>
            </a:pPr>
          </a:p>
        </c:txPr>
        <c:crossAx val="-2068027336"/>
        <c:crosses val="autoZero"/>
        <c:majorUnit val="10.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Market Signals Market Signals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Overview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Market Taxonomy Geographic Coverage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Market Taxonomy Market Segments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Market Taxonomy Company Coverage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Global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Global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Global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Global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Global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Global Overview Country Outlook  (1/2)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Global Overview Country Outlook  (2/2)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Global Overview Market Overview (1/4)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Global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Global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Global Overview Scenario Outlook (4/4)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By Region Global Flexible Plastic Packaging – Regional Outlook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By Region Market Analysis By Region (1/2)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By Region Market Analysis By Region (2/2)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By Region Volume Share Analysis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By Region Value Share Analysis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By Region Market Trends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By Region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Product Type By Product Type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Product Type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Product Type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Product Type Market Volume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Product Type Market Volume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Product Type Market Value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Product Type Market Value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Product Type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Product Type YoY Analysis Volume  (1/2)</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Product Type YoY Analysis Volume  (2/2)</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Product Type YoY Analysis Value  (1/2)</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Product Type YoY Analysis Value  (2/2)</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Principal Material / Barrier Technology By Principal Material / Barrier Technology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Principal Material / Barrier Technology By Principal Material / Barrier Technology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Principal Material / Barrier Technology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Principal Material / Barrier Technology Absolute $ Analysis  (1/3)</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Principal Material / Barrier Technology Absolute $ Analysis  (2/3)</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Principal Material / Barrier Technology Absolute $ Analysis  (3/3)</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Principal Material / Barrier Technology Market Volume Analysis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Principal Material / Barrier Technology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Principal Material / Barrier Technology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Principal Material / Barrier Technology YoY Analysis Volume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Principal Material / Barrier Technology YoY Analysis Value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Material Structure By Material Structure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Material Structure By Material Structure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Material Structure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Material Structure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Material Structure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Material Structure Market Volume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Material Structure Market Volume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Material Structure Market Value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Material Structure Market Value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Material Structure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Material Structure YoY Analysis Volume  (1/2)</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Material Structure YoY Analysis Volume  (2/2)</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Material Structure YoY Analysis Value  (1/2)</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Material Structure YoY Analysis Value  (2/2)</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Barrier Level By Barrier Level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Barrier Level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Barrier Level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Barrier Level Market Volume Analysis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Barrier Level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Barrier Level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Barrier Level YoY Analysis Volume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Barrier Level YoY Analysis Value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Application By Application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Application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Application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Application Market Volume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Application Market Volume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Application Market Value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Application Market Value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Application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Application YoY Analysis Volume  (1/2)</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Application YoY Analysis Volume  (2/2)</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Application YoY Analysis Value  (1/2)</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Application YoY Analysis Value  (2/2)</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Barrier Level Vs Application By Barrier Level Vs Application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Barrier Level Vs Application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Barrier Level Vs Application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Barrier Level Vs Application Market Volume Analysis</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Barrier Level Vs Application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Barrier Level Vs Application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Barrier Level Vs Application YoY Analysis Volume  (1/2)</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Barrier Level Vs Application YoY Analysis Volume  (2/2)</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Barrier Level Vs Application YoY Analysis Value  (1/2)</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Barrier Level Vs Application YoY Analysis Value  (2/2)</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Pricing Assessment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Pricing Product Pricing &amp; Regional Price Index Trends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Pricing Global Pricing Assessment</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Pricing Global Pricing Assessment</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Pricing Price Positioning &amp; Key Findings</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Pricing Key Pricing Drivers</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Pricing Factors Impacting Pricing</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Pricing Regional Price Assessment</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Pricing Global Pricing Benchmarking</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Pricing Price Forecast &amp; Dynamics</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Supply Chain Analysis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Supply Chain Analysis Value Chain &amp; Stakeholder Mapping</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Supply Chain Analysis Operating Margin Analysis</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Supply Chain Analysis Buyers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Dynamics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Market Dynamics Market Dynamics &amp; Forces Market Dynamics by Geography</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Market Dynamics Market Dynamics &amp; Forces Driving Factors Supply Side (1/2)</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Market Dynamics Market Dynamics &amp; Forces Driving Factors Demand Side (2/2)</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Market Dynamics Market Dynamics &amp; Forces Market Restraints</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Market Dynamics Market Dynamics &amp; Forces Market Opportunities</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Market Dynamics Market Dynamics &amp; Forces Recent Developments &amp; Milestones</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Market Dynamics Market Dynamics &amp; Forces Five Forces Analysis</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Table of Contents  (1/6)</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Table of Contents  (2/6)</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Table of Contents  (3/6)</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Table of Contents  (4/6)</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Table of Contents  (5/6)</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Table of Contents  (6/6)</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List of Figures  (1/4)</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List of Figures  (2/4)</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List of Figures  (3/4)</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List of Figures  (4/4)</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List of Tables  (1/4)</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List of Tables  (2/4)</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List of Tables  (3/4)</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Flexible Plastic Packaging Market List of Tables  (4/4)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135.xml"/><Relationship Id="rId7" Type="http://schemas.openxmlformats.org/officeDocument/2006/relationships/slide" Target="slide144.xml"/><Relationship Id="rId8" Type="http://schemas.openxmlformats.org/officeDocument/2006/relationships/slide" Target="slide10.xml"/><Relationship Id="rId9" Type="http://schemas.openxmlformats.org/officeDocument/2006/relationships/slide" Target="slide11.xml"/><Relationship Id="rId10" Type="http://schemas.openxmlformats.org/officeDocument/2006/relationships/slide" Target="slide22.xml"/><Relationship Id="rId11" Type="http://schemas.openxmlformats.org/officeDocument/2006/relationships/slide" Target="slide30.xml"/><Relationship Id="rId12" Type="http://schemas.openxmlformats.org/officeDocument/2006/relationships/slide" Target="slide104.xml"/><Relationship Id="rId13" Type="http://schemas.openxmlformats.org/officeDocument/2006/relationships/slide" Target="slide105.xml"/><Relationship Id="rId14" Type="http://schemas.openxmlformats.org/officeDocument/2006/relationships/slide" Target="slide116.xml"/><Relationship Id="rId15" Type="http://schemas.openxmlformats.org/officeDocument/2006/relationships/slide" Target="slide120.xml"/><Relationship Id="rId16" Type="http://schemas.openxmlformats.org/officeDocument/2006/relationships/slide" Target="slide12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xml"/><Relationship Id="rId4" Type="http://schemas.openxmlformats.org/officeDocument/2006/relationships/chart" Target="../charts/chart4.xml"/><Relationship Id="rId5"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xml"/><Relationship Id="rId4" Type="http://schemas.openxmlformats.org/officeDocument/2006/relationships/chart" Target="../charts/chart6.xml"/><Relationship Id="rId5"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xml"/><Relationship Id="rId4" Type="http://schemas.openxmlformats.org/officeDocument/2006/relationships/chart" Target="../charts/chart8.xml"/><Relationship Id="rId5"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xml"/><Relationship Id="rId4"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xml"/><Relationship Id="rId4"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xml"/><Relationship Id="rId4"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xml"/><Relationship Id="rId4"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xml"/><Relationship Id="rId4" Type="http://schemas.openxmlformats.org/officeDocument/2006/relationships/chart" Target="../charts/chart14.xml"/><Relationship Id="rId5" Type="http://schemas.openxmlformats.org/officeDocument/2006/relationships/notesSlide" Target="../notesSlides/notesSlide2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xml"/><Relationship Id="rId4" Type="http://schemas.openxmlformats.org/officeDocument/2006/relationships/chart" Target="../charts/chart16.xml"/><Relationship Id="rId5"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7.xml"/><Relationship Id="rId4" Type="http://schemas.openxmlformats.org/officeDocument/2006/relationships/chart" Target="../charts/chart18.xml"/><Relationship Id="rId5" Type="http://schemas.openxmlformats.org/officeDocument/2006/relationships/chart" Target="../charts/chart19.xml"/><Relationship Id="rId6" Type="http://schemas.openxmlformats.org/officeDocument/2006/relationships/chart" Target="../charts/chart20.xml"/><Relationship Id="rId7" Type="http://schemas.openxmlformats.org/officeDocument/2006/relationships/notesSlide" Target="../notesSlides/notesSlide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1.xml"/><Relationship Id="rId4" Type="http://schemas.openxmlformats.org/officeDocument/2006/relationships/notesSlide" Target="../notesSlides/notesSlide3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2.xml"/><Relationship Id="rId4" Type="http://schemas.openxmlformats.org/officeDocument/2006/relationships/chart" Target="../charts/chart23.xml"/><Relationship Id="rId5" Type="http://schemas.openxmlformats.org/officeDocument/2006/relationships/notesSlide" Target="../notesSlides/notesSlide3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4.xml"/><Relationship Id="rId4" Type="http://schemas.openxmlformats.org/officeDocument/2006/relationships/chart" Target="../charts/chart25.xml"/><Relationship Id="rId5" Type="http://schemas.openxmlformats.org/officeDocument/2006/relationships/chart" Target="../charts/chart26.xml"/><Relationship Id="rId6" Type="http://schemas.openxmlformats.org/officeDocument/2006/relationships/chart" Target="../charts/chart27.xml"/><Relationship Id="rId7" Type="http://schemas.openxmlformats.org/officeDocument/2006/relationships/notesSlide" Target="../notesSlides/notesSlide3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8.xml"/><Relationship Id="rId4" Type="http://schemas.openxmlformats.org/officeDocument/2006/relationships/chart" Target="../charts/chart29.xml"/><Relationship Id="rId5" Type="http://schemas.openxmlformats.org/officeDocument/2006/relationships/chart" Target="../charts/chart30.xml"/><Relationship Id="rId6" Type="http://schemas.openxmlformats.org/officeDocument/2006/relationships/chart" Target="../charts/chart31.xml"/><Relationship Id="rId7" Type="http://schemas.openxmlformats.org/officeDocument/2006/relationships/notesSlide" Target="../notesSlides/notesSlide4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2.xml"/><Relationship Id="rId4" Type="http://schemas.openxmlformats.org/officeDocument/2006/relationships/chart" Target="../charts/chart33.xml"/><Relationship Id="rId5" Type="http://schemas.openxmlformats.org/officeDocument/2006/relationships/chart" Target="../charts/chart34.xml"/><Relationship Id="rId6" Type="http://schemas.openxmlformats.org/officeDocument/2006/relationships/notesSlide" Target="../notesSlides/notesSlide4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5.xml"/><Relationship Id="rId4" Type="http://schemas.openxmlformats.org/officeDocument/2006/relationships/notesSlide" Target="../notesSlides/notesSlide4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6.xml"/><Relationship Id="rId4" Type="http://schemas.openxmlformats.org/officeDocument/2006/relationships/chart" Target="../charts/chart37.xml"/><Relationship Id="rId5" Type="http://schemas.openxmlformats.org/officeDocument/2006/relationships/notesSlide" Target="../notesSlides/notesSlide4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8.xml"/><Relationship Id="rId4" Type="http://schemas.openxmlformats.org/officeDocument/2006/relationships/chart" Target="../charts/chart39.xml"/><Relationship Id="rId5" Type="http://schemas.openxmlformats.org/officeDocument/2006/relationships/chart" Target="../charts/chart40.xml"/><Relationship Id="rId6" Type="http://schemas.openxmlformats.org/officeDocument/2006/relationships/chart" Target="../charts/chart41.xml"/><Relationship Id="rId7" Type="http://schemas.openxmlformats.org/officeDocument/2006/relationships/notesSlide" Target="../notesSlides/notesSlide5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2.xml"/><Relationship Id="rId4" Type="http://schemas.openxmlformats.org/officeDocument/2006/relationships/chart" Target="../charts/chart43.xml"/><Relationship Id="rId5" Type="http://schemas.openxmlformats.org/officeDocument/2006/relationships/chart" Target="../charts/chart44.xml"/><Relationship Id="rId6" Type="http://schemas.openxmlformats.org/officeDocument/2006/relationships/notesSlide" Target="../notesSlides/notesSlide5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5.xml"/><Relationship Id="rId4" Type="http://schemas.openxmlformats.org/officeDocument/2006/relationships/notesSlide" Target="../notesSlides/notesSlide5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6.xml"/><Relationship Id="rId4" Type="http://schemas.openxmlformats.org/officeDocument/2006/relationships/chart" Target="../charts/chart47.xml"/><Relationship Id="rId5" Type="http://schemas.openxmlformats.org/officeDocument/2006/relationships/notesSlide" Target="../notesSlides/notesSlide6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8.xml"/><Relationship Id="rId4" Type="http://schemas.openxmlformats.org/officeDocument/2006/relationships/chart" Target="../charts/chart49.xml"/><Relationship Id="rId5" Type="http://schemas.openxmlformats.org/officeDocument/2006/relationships/chart" Target="../charts/chart50.xml"/><Relationship Id="rId6" Type="http://schemas.openxmlformats.org/officeDocument/2006/relationships/chart" Target="../charts/chart51.xml"/><Relationship Id="rId7" Type="http://schemas.openxmlformats.org/officeDocument/2006/relationships/notesSlide" Target="../notesSlides/notesSlide6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2.xml"/><Relationship Id="rId4" Type="http://schemas.openxmlformats.org/officeDocument/2006/relationships/notesSlide" Target="../notesSlides/notesSlide6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9.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3.xml"/><Relationship Id="rId4" Type="http://schemas.openxmlformats.org/officeDocument/2006/relationships/chart" Target="../charts/chart54.xml"/><Relationship Id="rId5" Type="http://schemas.openxmlformats.org/officeDocument/2006/relationships/notesSlide" Target="../notesSlides/notesSlide70.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5.xml"/><Relationship Id="rId4" Type="http://schemas.openxmlformats.org/officeDocument/2006/relationships/chart" Target="../charts/chart56.xml"/><Relationship Id="rId5" Type="http://schemas.openxmlformats.org/officeDocument/2006/relationships/notesSlide" Target="../notesSlides/notesSlide7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7.xml"/><Relationship Id="rId4" Type="http://schemas.openxmlformats.org/officeDocument/2006/relationships/notesSlide" Target="../notesSlides/notesSlide7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9.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0.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8.xml"/><Relationship Id="rId4" Type="http://schemas.openxmlformats.org/officeDocument/2006/relationships/chart" Target="../charts/chart59.xml"/><Relationship Id="rId5" Type="http://schemas.openxmlformats.org/officeDocument/2006/relationships/notesSlide" Target="../notesSlides/notesSlide8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0.xml"/><Relationship Id="rId4" Type="http://schemas.openxmlformats.org/officeDocument/2006/relationships/chart" Target="../charts/chart61.xml"/><Relationship Id="rId5" Type="http://schemas.openxmlformats.org/officeDocument/2006/relationships/chart" Target="../charts/chart62.xml"/><Relationship Id="rId6" Type="http://schemas.openxmlformats.org/officeDocument/2006/relationships/chart" Target="../charts/chart63.xml"/><Relationship Id="rId7" Type="http://schemas.openxmlformats.org/officeDocument/2006/relationships/notesSlide" Target="../notesSlides/notesSlide8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4.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4.xml"/><Relationship Id="rId4" Type="http://schemas.openxmlformats.org/officeDocument/2006/relationships/notesSlide" Target="../notesSlides/notesSlide8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8.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9.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0.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5.xml"/><Relationship Id="rId4" Type="http://schemas.openxmlformats.org/officeDocument/2006/relationships/chart" Target="../charts/chart66.xml"/><Relationship Id="rId5" Type="http://schemas.openxmlformats.org/officeDocument/2006/relationships/notesSlide" Target="../notesSlides/notesSlide9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7.xml"/><Relationship Id="rId4" Type="http://schemas.openxmlformats.org/officeDocument/2006/relationships/notesSlide" Target="../notesSlides/notesSlide94.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5.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6.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8.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9.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0.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4.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6.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8.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9.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0.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4.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5.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6.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8.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9.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0.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4.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5.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6.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905000" y="4476750"/>
            <a:ext cx="5334000" cy="5334000"/>
          </a:xfrm>
          <a:prstGeom prst="ellipse">
            <a:avLst/>
          </a:prstGeom>
          <a:solidFill>
            <a:srgbClr val="EAF6FB">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001000" y="-2000250"/>
            <a:ext cx="5334000" cy="5334000"/>
          </a:xfrm>
          <a:prstGeom prst="ellipse">
            <a:avLst/>
          </a:prstGeom>
          <a:noFill/>
          <a:ln w="19050">
            <a:solidFill>
              <a:srgbClr val="B2B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715375" y="-1285875"/>
            <a:ext cx="3905250" cy="3905250"/>
          </a:xfrm>
          <a:prstGeom prst="ellipse">
            <a:avLst/>
          </a:prstGeom>
          <a:noFill/>
          <a:ln w="19050">
            <a:solidFill>
              <a:srgbClr val="B2B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82125" y="-619125"/>
            <a:ext cx="2571750" cy="2571750"/>
          </a:xfrm>
          <a:prstGeom prst="ellipse">
            <a:avLst/>
          </a:prstGeom>
          <a:noFill/>
          <a:ln w="19050">
            <a:solidFill>
              <a:srgbClr val="B2B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096500" y="95250"/>
            <a:ext cx="1143000" cy="1143000"/>
          </a:xfrm>
          <a:prstGeom prst="ellipse">
            <a:avLst/>
          </a:prstGeom>
          <a:solidFill>
            <a:srgbClr val="EAF6FB">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010650" y="5848350"/>
            <a:ext cx="228600" cy="24765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391650" y="5676900"/>
            <a:ext cx="228600" cy="41910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772650" y="5772150"/>
            <a:ext cx="228600" cy="32385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153650" y="5524500"/>
            <a:ext cx="228600" cy="57150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534650" y="5314950"/>
            <a:ext cx="228600" cy="78105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915650" y="5600700"/>
            <a:ext cx="228600" cy="49530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1296650" y="5181600"/>
            <a:ext cx="228600" cy="91440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fmi_logo_template.png"/>
          <p:cNvPicPr>
            <a:picLocks noChangeAspect="1"/>
          </p:cNvPicPr>
          <p:nvPr/>
        </p:nvPicPr>
        <p:blipFill>
          <a:blip r:embed="rId2"/>
          <a:stretch>
            <a:fillRect/>
          </a:stretch>
        </p:blipFill>
        <p:spPr>
          <a:xfrm>
            <a:off x="914400" y="381000"/>
            <a:ext cx="1307592" cy="1325880"/>
          </a:xfrm>
          <a:prstGeom prst="rect">
            <a:avLst/>
          </a:prstGeom>
        </p:spPr>
      </p:pic>
      <p:sp>
        <p:nvSpPr>
          <p:cNvPr id="16" name="TextBox 15"/>
          <p:cNvSpPr txBox="1"/>
          <p:nvPr/>
        </p:nvSpPr>
        <p:spPr>
          <a:xfrm>
            <a:off x="1143000" y="2667000"/>
            <a:ext cx="9334500" cy="1809750"/>
          </a:xfrm>
          <a:prstGeom prst="rect">
            <a:avLst/>
          </a:prstGeom>
          <a:noFill/>
        </p:spPr>
        <p:txBody>
          <a:bodyPr wrap="square" lIns="28575" rIns="28575" tIns="9525" bIns="9525" anchor="ctr">
            <a:spAutoFit/>
          </a:bodyPr>
          <a:lstStyle/>
          <a:p>
            <a:pPr algn="l"/>
            <a:r>
              <a:rPr sz="3400" b="1">
                <a:solidFill>
                  <a:srgbClr val="0B2E4A"/>
                </a:solidFill>
                <a:latin typeface="Calibri"/>
              </a:rPr>
              <a:t>Global Flexible Plastic Packaging Market</a:t>
            </a:r>
          </a:p>
        </p:txBody>
      </p:sp>
      <p:sp>
        <p:nvSpPr>
          <p:cNvPr id="17" name="TextBox 16"/>
          <p:cNvSpPr txBox="1"/>
          <p:nvPr/>
        </p:nvSpPr>
        <p:spPr>
          <a:xfrm>
            <a:off x="1162050" y="4686300"/>
            <a:ext cx="9334500" cy="857250"/>
          </a:xfrm>
          <a:prstGeom prst="rect">
            <a:avLst/>
          </a:prstGeom>
          <a:noFill/>
        </p:spPr>
        <p:txBody>
          <a:bodyPr wrap="square" lIns="28575" rIns="28575" tIns="9525" bIns="9525">
            <a:spAutoFit/>
          </a:bodyPr>
          <a:lstStyle/>
          <a:p>
            <a:pPr algn="l"/>
            <a:r>
              <a:rPr sz="1600" b="0">
                <a:solidFill>
                  <a:srgbClr val="6C7A89"/>
                </a:solidFill>
                <a:latin typeface="Calibri"/>
              </a:rPr>
              <a:t>Value (US$ Mn) and Volume (Thousand MT) Analysis and Forecast, 2021–2036</a:t>
            </a:r>
          </a:p>
          <a:p>
            <a:pPr algn="l"/>
            <a:r>
              <a:rPr sz="1100" b="0">
                <a:solidFill>
                  <a:srgbClr val="8FCBE6"/>
                </a:solidFill>
                <a:latin typeface="Calibri"/>
              </a:rPr>
              <a:t>Region focus: Global   ·   Country focus: U.S.   ·   Generated 08 Oct 2026   ·   Source: FMI Analysis, 2026</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Agenda</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Storyline of the report by section · click a section card to jump to it</a:t>
            </a:r>
          </a:p>
        </p:txBody>
      </p:sp>
      <p:sp>
        <p:nvSpPr>
          <p:cNvPr id="10" name="Rounded Rectangle 9">
            <a:hlinkClick action="ppaction://hlinksldjump" r:id="rId3"/>
          </p:cNvPr>
          <p:cNvSpPr/>
          <p:nvPr/>
        </p:nvSpPr>
        <p:spPr>
          <a:xfrm>
            <a:off x="314325" y="1135037"/>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 Market Signals</a:t>
            </a:r>
          </a:p>
        </p:txBody>
      </p:sp>
      <p:sp>
        <p:nvSpPr>
          <p:cNvPr id="11" name="Rounded Rectangle 10">
            <a:hlinkClick action="ppaction://hlinksldjump" r:id="rId4"/>
          </p:cNvPr>
          <p:cNvSpPr/>
          <p:nvPr/>
        </p:nvSpPr>
        <p:spPr>
          <a:xfrm>
            <a:off x="142875" y="1719155"/>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Market Overview</a:t>
            </a:r>
          </a:p>
        </p:txBody>
      </p:sp>
      <p:sp>
        <p:nvSpPr>
          <p:cNvPr id="12" name="Rounded Rectangle 11">
            <a:hlinkClick action="ppaction://hlinksldjump" r:id="rId5"/>
          </p:cNvPr>
          <p:cNvSpPr/>
          <p:nvPr/>
        </p:nvSpPr>
        <p:spPr>
          <a:xfrm>
            <a:off x="314325" y="2285020"/>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2. Market Taxonomy</a:t>
            </a:r>
          </a:p>
        </p:txBody>
      </p:sp>
      <p:sp>
        <p:nvSpPr>
          <p:cNvPr id="13" name="Rounded Rectangle 12">
            <a:hlinkClick action="ppaction://hlinksldjump" r:id="rId6"/>
          </p:cNvPr>
          <p:cNvSpPr/>
          <p:nvPr/>
        </p:nvSpPr>
        <p:spPr>
          <a:xfrm>
            <a:off x="314325" y="2869138"/>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3. Table of Contents</a:t>
            </a:r>
          </a:p>
        </p:txBody>
      </p:sp>
      <p:sp>
        <p:nvSpPr>
          <p:cNvPr id="14" name="Rounded Rectangle 13">
            <a:hlinkClick action="ppaction://hlinksldjump" r:id="rId7"/>
          </p:cNvPr>
          <p:cNvSpPr/>
          <p:nvPr/>
        </p:nvSpPr>
        <p:spPr>
          <a:xfrm>
            <a:off x="314325" y="3453257"/>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4. List of Figures, List of Tables</a:t>
            </a:r>
          </a:p>
        </p:txBody>
      </p:sp>
      <p:sp>
        <p:nvSpPr>
          <p:cNvPr id="15" name="Rounded Rectangle 14">
            <a:hlinkClick action="ppaction://hlinksldjump" r:id="rId8"/>
          </p:cNvPr>
          <p:cNvSpPr/>
          <p:nvPr/>
        </p:nvSpPr>
        <p:spPr>
          <a:xfrm>
            <a:off x="6219825" y="1135037"/>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Global Market Outlook</a:t>
            </a:r>
          </a:p>
        </p:txBody>
      </p:sp>
      <p:sp>
        <p:nvSpPr>
          <p:cNvPr id="16" name="Rounded Rectangle 15">
            <a:hlinkClick action="ppaction://hlinksldjump" r:id="rId9"/>
          </p:cNvPr>
          <p:cNvSpPr/>
          <p:nvPr/>
        </p:nvSpPr>
        <p:spPr>
          <a:xfrm>
            <a:off x="6391275" y="1700902"/>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5. Flexible Plastic Packaging Market Global Overview</a:t>
            </a:r>
          </a:p>
        </p:txBody>
      </p:sp>
      <p:sp>
        <p:nvSpPr>
          <p:cNvPr id="17" name="Rounded Rectangle 16">
            <a:hlinkClick action="ppaction://hlinksldjump" r:id="rId10"/>
          </p:cNvPr>
          <p:cNvSpPr/>
          <p:nvPr/>
        </p:nvSpPr>
        <p:spPr>
          <a:xfrm>
            <a:off x="6391275" y="2285020"/>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6. Global Market Analysis By Region</a:t>
            </a:r>
          </a:p>
        </p:txBody>
      </p:sp>
      <p:sp>
        <p:nvSpPr>
          <p:cNvPr id="18" name="Rounded Rectangle 17">
            <a:hlinkClick action="ppaction://hlinksldjump" r:id="rId11"/>
          </p:cNvPr>
          <p:cNvSpPr/>
          <p:nvPr/>
        </p:nvSpPr>
        <p:spPr>
          <a:xfrm>
            <a:off x="6391275" y="2869138"/>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7. Global Market Analysis By Segments</a:t>
            </a:r>
          </a:p>
        </p:txBody>
      </p:sp>
      <p:sp>
        <p:nvSpPr>
          <p:cNvPr id="19" name="Rounded Rectangle 18">
            <a:hlinkClick action="ppaction://hlinksldjump" r:id="rId12"/>
          </p:cNvPr>
          <p:cNvSpPr/>
          <p:nvPr/>
        </p:nvSpPr>
        <p:spPr>
          <a:xfrm>
            <a:off x="6219825" y="3453257"/>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Pricing Assessment</a:t>
            </a:r>
          </a:p>
        </p:txBody>
      </p:sp>
      <p:sp>
        <p:nvSpPr>
          <p:cNvPr id="20" name="Rounded Rectangle 19">
            <a:hlinkClick action="ppaction://hlinksldjump" r:id="rId13"/>
          </p:cNvPr>
          <p:cNvSpPr/>
          <p:nvPr/>
        </p:nvSpPr>
        <p:spPr>
          <a:xfrm>
            <a:off x="6391275" y="4019121"/>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8. Flexible Plastic Packaging Market Pricing Analysis</a:t>
            </a:r>
          </a:p>
        </p:txBody>
      </p:sp>
      <p:sp>
        <p:nvSpPr>
          <p:cNvPr id="21" name="Rounded Rectangle 20">
            <a:hlinkClick action="ppaction://hlinksldjump" r:id="rId14"/>
          </p:cNvPr>
          <p:cNvSpPr/>
          <p:nvPr/>
        </p:nvSpPr>
        <p:spPr>
          <a:xfrm>
            <a:off x="6391275" y="4603240"/>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9. Supply Chain Analysis</a:t>
            </a:r>
          </a:p>
        </p:txBody>
      </p:sp>
      <p:sp>
        <p:nvSpPr>
          <p:cNvPr id="22" name="Rounded Rectangle 21">
            <a:hlinkClick action="ppaction://hlinksldjump" r:id="rId15"/>
          </p:cNvPr>
          <p:cNvSpPr/>
          <p:nvPr/>
        </p:nvSpPr>
        <p:spPr>
          <a:xfrm>
            <a:off x="6219825" y="5187358"/>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Market Dynamics</a:t>
            </a:r>
          </a:p>
        </p:txBody>
      </p:sp>
      <p:sp>
        <p:nvSpPr>
          <p:cNvPr id="23" name="Rounded Rectangle 22">
            <a:hlinkClick action="ppaction://hlinksldjump" r:id="rId16"/>
          </p:cNvPr>
          <p:cNvSpPr/>
          <p:nvPr/>
        </p:nvSpPr>
        <p:spPr>
          <a:xfrm>
            <a:off x="6391275" y="5753223"/>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10. Market Dynamics &amp; Forces</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3146425"/>
            <a:ext cx="8572500" cy="304800"/>
          </a:xfrm>
          <a:prstGeom prst="rect">
            <a:avLst/>
          </a:prstGeom>
          <a:noFill/>
        </p:spPr>
        <p:txBody>
          <a:bodyPr wrap="none" lIns="0" tIns="0">
            <a:spAutoFit/>
          </a:bodyPr>
          <a:lstStyle/>
          <a:p>
            <a:r>
              <a:rPr sz="1800" b="0">
                <a:solidFill>
                  <a:srgbClr val="0E72AE"/>
                </a:solidFill>
                <a:latin typeface="Calibri"/>
              </a:rPr>
              <a:t>Flexible Plastic Packaging Market</a:t>
            </a:r>
          </a:p>
        </p:txBody>
      </p:sp>
      <p:sp>
        <p:nvSpPr>
          <p:cNvPr id="10" name="FMI Section Title"/>
          <p:cNvSpPr txBox="1"/>
          <p:nvPr/>
        </p:nvSpPr>
        <p:spPr>
          <a:xfrm>
            <a:off x="914400" y="3489325"/>
            <a:ext cx="8572500" cy="514350"/>
          </a:xfrm>
          <a:prstGeom prst="rect">
            <a:avLst/>
          </a:prstGeom>
          <a:noFill/>
        </p:spPr>
        <p:txBody>
          <a:bodyPr wrap="square" lIns="0" rIns="0" tIns="0">
            <a:spAutoFit/>
          </a:bodyPr>
          <a:lstStyle/>
          <a:p>
            <a:r>
              <a:rPr sz="3000" b="1">
                <a:solidFill>
                  <a:srgbClr val="0B3C8C"/>
                </a:solidFill>
                <a:latin typeface="Calibri"/>
              </a:rPr>
              <a:t>Market Signals</a:t>
            </a:r>
          </a:p>
        </p:txBody>
      </p:sp>
      <p:sp>
        <p:nvSpPr>
          <p:cNvPr id="11" name="TextBox 10"/>
          <p:cNvSpPr txBox="1"/>
          <p:nvPr/>
        </p:nvSpPr>
        <p:spPr>
          <a:xfrm>
            <a:off x="914400" y="4175125"/>
            <a:ext cx="84582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Signals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Signals Reshaping Flexible Plastic Packaging Demand</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Signals reshaping Flexible Plastic Packaging demand, the evidence behind each and what it implies for the global market</a:t>
            </a:r>
          </a:p>
        </p:txBody>
      </p:sp>
      <p:graphicFrame>
        <p:nvGraphicFramePr>
          <p:cNvPr id="10" name="Table 9"/>
          <p:cNvGraphicFramePr>
            <a:graphicFrameLocks noGrp="1"/>
          </p:cNvGraphicFramePr>
          <p:nvPr/>
        </p:nvGraphicFramePr>
        <p:xfrm>
          <a:off x="142875" y="1062022"/>
          <a:ext cx="11906250" cy="5549125"/>
        </p:xfrm>
        <a:graphic>
          <a:graphicData uri="http://schemas.openxmlformats.org/drawingml/2006/table">
            <a:tbl>
              <a:tblPr>
                <a:tableStyleId>{5C22544A-7EE6-4342-B048-85BDC9FD1C3A}</a:tableStyleId>
              </a:tblPr>
              <a:tblGrid>
                <a:gridCol w="3571875"/>
                <a:gridCol w="5000625"/>
                <a:gridCol w="3333750"/>
              </a:tblGrid>
              <a:tr h="346820">
                <a:tc>
                  <a:txBody>
                    <a:bodyPr wrap="square"/>
                    <a:lstStyle/>
                    <a:p>
                      <a:pPr algn="l"/>
                      <a:r>
                        <a:rPr sz="1100" b="1">
                          <a:solidFill>
                            <a:srgbClr val="0B2E4A"/>
                          </a:solidFill>
                          <a:latin typeface="Calibri"/>
                        </a:rPr>
                        <a:t>QUESTIONS WE'RE HEARING</a:t>
                      </a:r>
                    </a:p>
                  </a:txBody>
                  <a:tcPr marL="70000" marR="70000" marT="45000" marB="45000" anchor="ctr">
                    <a:solidFill>
                      <a:srgbClr val="EAF1F8"/>
                    </a:solidFill>
                  </a:tcPr>
                </a:tc>
                <a:tc>
                  <a:txBody>
                    <a:bodyPr wrap="square"/>
                    <a:lstStyle/>
                    <a:p>
                      <a:pPr algn="l"/>
                      <a:r>
                        <a:rPr sz="1100" b="1">
                          <a:solidFill>
                            <a:srgbClr val="0B2E4A"/>
                          </a:solidFill>
                          <a:latin typeface="Calibri"/>
                        </a:rPr>
                        <a:t>WHAT WE'RE OBSERVING</a:t>
                      </a:r>
                    </a:p>
                  </a:txBody>
                  <a:tcPr marL="70000" marR="70000" marT="45000" marB="45000" anchor="ctr">
                    <a:solidFill>
                      <a:srgbClr val="EAF1F8"/>
                    </a:solidFill>
                  </a:tcPr>
                </a:tc>
                <a:tc>
                  <a:txBody>
                    <a:bodyPr wrap="square"/>
                    <a:lstStyle/>
                    <a:p>
                      <a:pPr algn="l"/>
                      <a:r>
                        <a:rPr sz="1100" b="1">
                          <a:solidFill>
                            <a:srgbClr val="0B2E4A"/>
                          </a:solidFill>
                          <a:latin typeface="Calibri"/>
                        </a:rPr>
                        <a:t>SELECT DATA POINTS</a:t>
                      </a:r>
                    </a:p>
                  </a:txBody>
                  <a:tcPr marL="70000" marR="70000" marT="45000" marB="45000" anchor="ctr">
                    <a:solidFill>
                      <a:srgbClr val="EAF1F8"/>
                    </a:solidFill>
                  </a:tcPr>
                </a:tc>
              </a:tr>
              <a:tr h="1040461">
                <a:tc>
                  <a:txBody>
                    <a:bodyPr wrap="square"/>
                    <a:lstStyle/>
                    <a:p>
                      <a:pPr algn="l"/>
                      <a:r>
                        <a:rPr sz="1100" b="1">
                          <a:solidFill>
                            <a:srgbClr val="0B2E4A"/>
                          </a:solidFill>
                          <a:latin typeface="Calibri"/>
                        </a:rPr>
                        <a:t>How fast is Flexible Plastic Packaging demand set to grow through 2036?</a:t>
                      </a:r>
                    </a:p>
                  </a:txBody>
                  <a:tcPr marL="70000" marR="70000" marT="45000" marB="45000" anchor="ctr">
                    <a:solidFill>
                      <a:srgbClr val="FFFFFF"/>
                    </a:solidFill>
                  </a:tcPr>
                </a:tc>
                <a:tc>
                  <a:txBody>
                    <a:bodyPr wrap="square"/>
                    <a:lstStyle/>
                    <a:p>
                      <a:pPr algn="l"/>
                      <a:r>
                        <a:rPr sz="1100" b="0">
                          <a:solidFill>
                            <a:srgbClr val="2E2E2E"/>
                          </a:solidFill>
                          <a:latin typeface="Calibri"/>
                        </a:rPr>
                        <a:t>Global demand expands at a 6.6% forecast CAGR (2026–2036), accelerating from 4.5% across 2021–2025.</a:t>
                      </a:r>
                    </a:p>
                  </a:txBody>
                  <a:tcPr marL="70000" marR="70000" marT="45000" marB="45000" anchor="ctr">
                    <a:solidFill>
                      <a:srgbClr val="FFFFFF"/>
                    </a:solidFill>
                  </a:tcPr>
                </a:tc>
                <a:tc>
                  <a:txBody>
                    <a:bodyPr wrap="square"/>
                    <a:lstStyle/>
                    <a:p>
                      <a:pPr algn="l"/>
                      <a:r>
                        <a:rPr sz="1100" b="0">
                          <a:solidFill>
                            <a:srgbClr val="2E2E2E"/>
                          </a:solidFill>
                          <a:latin typeface="Calibri"/>
                        </a:rPr>
                        <a:t>127,346 → 240,208 US$ Mn  ·  CAGR 6.6%</a:t>
                      </a:r>
                    </a:p>
                  </a:txBody>
                  <a:tcPr marL="70000" marR="70000" marT="45000" marB="45000" anchor="ctr">
                    <a:solidFill>
                      <a:srgbClr val="FFFFFF"/>
                    </a:solidFill>
                  </a:tcPr>
                </a:tc>
              </a:tr>
              <a:tr h="1040461">
                <a:tc>
                  <a:txBody>
                    <a:bodyPr wrap="square"/>
                    <a:lstStyle/>
                    <a:p>
                      <a:pPr algn="l"/>
                      <a:r>
                        <a:rPr sz="1100" b="1">
                          <a:solidFill>
                            <a:srgbClr val="0B2E4A"/>
                          </a:solidFill>
                          <a:latin typeface="Calibri"/>
                        </a:rPr>
                        <a:t>Which product type categories are buyers prioritising?</a:t>
                      </a:r>
                    </a:p>
                  </a:txBody>
                  <a:tcPr marL="70000" marR="70000" marT="45000" marB="45000" anchor="ctr">
                    <a:solidFill>
                      <a:srgbClr val="F6F9FC"/>
                    </a:solidFill>
                  </a:tcPr>
                </a:tc>
                <a:tc>
                  <a:txBody>
                    <a:bodyPr wrap="square"/>
                    <a:lstStyle/>
                    <a:p>
                      <a:pPr algn="l"/>
                      <a:r>
                        <a:rPr sz="1100" b="0">
                          <a:solidFill>
                            <a:srgbClr val="2E2E2E"/>
                          </a:solidFill>
                          <a:latin typeface="Calibri"/>
                        </a:rPr>
                        <a:t>Rollstock Films leads Product Type, at 53.6% of 2036 value, within a mix of 4 tracked categories.</a:t>
                      </a:r>
                    </a:p>
                  </a:txBody>
                  <a:tcPr marL="70000" marR="70000" marT="45000" marB="45000" anchor="ctr">
                    <a:solidFill>
                      <a:srgbClr val="F6F9FC"/>
                    </a:solidFill>
                  </a:tcPr>
                </a:tc>
                <a:tc>
                  <a:txBody>
                    <a:bodyPr wrap="square"/>
                    <a:lstStyle/>
                    <a:p>
                      <a:pPr algn="l"/>
                      <a:r>
                        <a:rPr sz="1100" b="0">
                          <a:solidFill>
                            <a:srgbClr val="2E2E2E"/>
                          </a:solidFill>
                          <a:latin typeface="Calibri"/>
                        </a:rPr>
                        <a:t>Lead: Rollstock Films  ·  53.6% share (2036)</a:t>
                      </a:r>
                    </a:p>
                  </a:txBody>
                  <a:tcPr marL="70000" marR="70000" marT="45000" marB="45000" anchor="ctr">
                    <a:solidFill>
                      <a:srgbClr val="F6F9FC"/>
                    </a:solidFill>
                  </a:tcPr>
                </a:tc>
              </a:tr>
              <a:tr h="1040461">
                <a:tc>
                  <a:txBody>
                    <a:bodyPr wrap="square"/>
                    <a:lstStyle/>
                    <a:p>
                      <a:pPr algn="l"/>
                      <a:r>
                        <a:rPr sz="1100" b="1">
                          <a:solidFill>
                            <a:srgbClr val="0B2E4A"/>
                          </a:solidFill>
                          <a:latin typeface="Calibri"/>
                        </a:rPr>
                        <a:t>Where is incremental demand concentrating?</a:t>
                      </a:r>
                    </a:p>
                  </a:txBody>
                  <a:tcPr marL="70000" marR="70000" marT="45000" marB="45000" anchor="ctr">
                    <a:solidFill>
                      <a:srgbClr val="FFFFFF"/>
                    </a:solidFill>
                  </a:tcPr>
                </a:tc>
                <a:tc>
                  <a:txBody>
                    <a:bodyPr wrap="square"/>
                    <a:lstStyle/>
                    <a:p>
                      <a:pPr algn="l"/>
                      <a:r>
                        <a:rPr sz="1100" b="0">
                          <a:solidFill>
                            <a:srgbClr val="2E2E2E"/>
                          </a:solidFill>
                          <a:latin typeface="Calibri"/>
                        </a:rPr>
                        <a:t>Food Packaging is the fastest-growing part of Application, at a 6.6% forecast CAGR outpacing the wider market.</a:t>
                      </a:r>
                    </a:p>
                  </a:txBody>
                  <a:tcPr marL="70000" marR="70000" marT="45000" marB="45000" anchor="ctr">
                    <a:solidFill>
                      <a:srgbClr val="FFFFFF"/>
                    </a:solidFill>
                  </a:tcPr>
                </a:tc>
                <a:tc>
                  <a:txBody>
                    <a:bodyPr wrap="square"/>
                    <a:lstStyle/>
                    <a:p>
                      <a:pPr algn="l"/>
                      <a:r>
                        <a:rPr sz="1100" b="0">
                          <a:solidFill>
                            <a:srgbClr val="2E2E2E"/>
                          </a:solidFill>
                          <a:latin typeface="Calibri"/>
                        </a:rPr>
                        <a:t>Fastest: Food Packaging  ·  6.6% F-CAGR</a:t>
                      </a:r>
                    </a:p>
                  </a:txBody>
                  <a:tcPr marL="70000" marR="70000" marT="45000" marB="45000" anchor="ctr">
                    <a:solidFill>
                      <a:srgbClr val="FFFFFF"/>
                    </a:solidFill>
                  </a:tcPr>
                </a:tc>
              </a:tr>
              <a:tr h="1040461">
                <a:tc>
                  <a:txBody>
                    <a:bodyPr wrap="square"/>
                    <a:lstStyle/>
                    <a:p>
                      <a:pPr algn="l"/>
                      <a:r>
                        <a:rPr sz="1100" b="1">
                          <a:solidFill>
                            <a:srgbClr val="0B2E4A"/>
                          </a:solidFill>
                          <a:latin typeface="Calibri"/>
                        </a:rPr>
                        <a:t>Which regions will drive the next wave of Flexible Plastic Packaging demand?</a:t>
                      </a:r>
                    </a:p>
                  </a:txBody>
                  <a:tcPr marL="70000" marR="70000" marT="45000" marB="45000" anchor="ctr">
                    <a:solidFill>
                      <a:srgbClr val="F6F9FC"/>
                    </a:solidFill>
                  </a:tcPr>
                </a:tc>
                <a:tc>
                  <a:txBody>
                    <a:bodyPr wrap="square"/>
                    <a:lstStyle/>
                    <a:p>
                      <a:pPr algn="l"/>
                      <a:r>
                        <a:rPr sz="1100" b="0">
                          <a:solidFill>
                            <a:srgbClr val="2E2E2E"/>
                          </a:solidFill>
                          <a:latin typeface="Calibri"/>
                        </a:rPr>
                        <a:t>East Asia is the largest regional market (26.5% of 2036 value), while Middle East &amp; Africa grows fastest at 8.3%.</a:t>
                      </a:r>
                    </a:p>
                  </a:txBody>
                  <a:tcPr marL="70000" marR="70000" marT="45000" marB="45000" anchor="ctr">
                    <a:solidFill>
                      <a:srgbClr val="F6F9FC"/>
                    </a:solidFill>
                  </a:tcPr>
                </a:tc>
                <a:tc>
                  <a:txBody>
                    <a:bodyPr wrap="square"/>
                    <a:lstStyle/>
                    <a:p>
                      <a:pPr algn="l"/>
                      <a:r>
                        <a:rPr sz="1100" b="0">
                          <a:solidFill>
                            <a:srgbClr val="2E2E2E"/>
                          </a:solidFill>
                          <a:latin typeface="Calibri"/>
                        </a:rPr>
                        <a:t>Largest: East Asia (26.5%)  ·  Fastest: Middle East &amp; Africa (8.3%)</a:t>
                      </a:r>
                    </a:p>
                  </a:txBody>
                  <a:tcPr marL="70000" marR="70000" marT="45000" marB="45000" anchor="ctr">
                    <a:solidFill>
                      <a:srgbClr val="F6F9FC"/>
                    </a:solidFill>
                  </a:tcPr>
                </a:tc>
              </a:tr>
              <a:tr h="1040461">
                <a:tc>
                  <a:txBody>
                    <a:bodyPr wrap="square"/>
                    <a:lstStyle/>
                    <a:p>
                      <a:pPr algn="l"/>
                      <a:r>
                        <a:rPr sz="1100" b="1">
                          <a:solidFill>
                            <a:srgbClr val="0B2E4A"/>
                          </a:solidFill>
                          <a:latin typeface="Calibri"/>
                        </a:rPr>
                        <a:t>Where should suppliers focus investment?</a:t>
                      </a:r>
                    </a:p>
                  </a:txBody>
                  <a:tcPr marL="70000" marR="70000" marT="45000" marB="45000" anchor="ctr">
                    <a:solidFill>
                      <a:srgbClr val="FFFFFF"/>
                    </a:solidFill>
                  </a:tcPr>
                </a:tc>
                <a:tc>
                  <a:txBody>
                    <a:bodyPr wrap="square"/>
                    <a:lstStyle/>
                    <a:p>
                      <a:pPr algn="l"/>
                      <a:r>
                        <a:rPr sz="1100" b="0">
                          <a:solidFill>
                            <a:srgbClr val="2E2E2E"/>
                          </a:solidFill>
                          <a:latin typeface="Calibri"/>
                        </a:rPr>
                        <a:t>An incremental 112,862 US$ Mn of demand is added between 2026 and 2036, front-loaded in the leading categories and regions above.</a:t>
                      </a:r>
                    </a:p>
                  </a:txBody>
                  <a:tcPr marL="70000" marR="70000" marT="45000" marB="45000" anchor="ctr">
                    <a:solidFill>
                      <a:srgbClr val="FFFFFF"/>
                    </a:solidFill>
                  </a:tcPr>
                </a:tc>
                <a:tc>
                  <a:txBody>
                    <a:bodyPr wrap="square"/>
                    <a:lstStyle/>
                    <a:p>
                      <a:pPr algn="l"/>
                      <a:r>
                        <a:rPr sz="1100" b="0">
                          <a:solidFill>
                            <a:srgbClr val="2E2E2E"/>
                          </a:solidFill>
                          <a:latin typeface="Calibri"/>
                        </a:rPr>
                        <a:t>$ opportunity 112,862 US$ Mn (2026–2036)  ·  44,547 by 2031</a:t>
                      </a:r>
                    </a:p>
                  </a:txBody>
                  <a:tcPr marL="70000" marR="70000" marT="45000" marB="45000" anchor="ctr">
                    <a:solidFill>
                      <a:srgbClr val="FFFFFF"/>
                    </a:solidFill>
                  </a:tcP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000375"/>
            <a:ext cx="7239000" cy="247650"/>
          </a:xfrm>
          <a:prstGeom prst="rect">
            <a:avLst/>
          </a:prstGeom>
          <a:noFill/>
        </p:spPr>
        <p:txBody>
          <a:bodyPr wrap="none" lIns="0" tIns="0">
            <a:spAutoFit/>
          </a:bodyPr>
          <a:lstStyle/>
          <a:p>
            <a:r>
              <a:rPr sz="1400" b="0">
                <a:solidFill>
                  <a:srgbClr val="8FC8F2"/>
                </a:solidFill>
                <a:latin typeface="Calibri"/>
              </a:rPr>
              <a:t>Flexible Plastic Packaging Market</a:t>
            </a:r>
          </a:p>
        </p:txBody>
      </p:sp>
      <p:sp>
        <p:nvSpPr>
          <p:cNvPr id="6" name="FMI Breaker Title"/>
          <p:cNvSpPr txBox="1"/>
          <p:nvPr/>
        </p:nvSpPr>
        <p:spPr>
          <a:xfrm>
            <a:off x="914400" y="3305175"/>
            <a:ext cx="7239000" cy="514350"/>
          </a:xfrm>
          <a:prstGeom prst="rect">
            <a:avLst/>
          </a:prstGeom>
          <a:noFill/>
        </p:spPr>
        <p:txBody>
          <a:bodyPr wrap="square" lIns="0" rIns="0" tIns="0">
            <a:spAutoFit/>
          </a:bodyPr>
          <a:lstStyle/>
          <a:p>
            <a:r>
              <a:rPr sz="3000" b="1" cap="all" spc="400">
                <a:solidFill>
                  <a:srgbClr val="FFFFFF"/>
                </a:solidFill>
                <a:latin typeface="Calibri"/>
              </a:rPr>
              <a:t>Market Overview</a:t>
            </a:r>
          </a:p>
        </p:txBody>
      </p:sp>
      <p:sp>
        <p:nvSpPr>
          <p:cNvPr id="7" name="TextBox 6"/>
          <p:cNvSpPr txBox="1"/>
          <p:nvPr/>
        </p:nvSpPr>
        <p:spPr>
          <a:xfrm>
            <a:off x="914400" y="4010025"/>
            <a:ext cx="71247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Taxonomy</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Table of Contents</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List of Figures, List of Tables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Flexible Plastic Packaging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Market Taxonomy</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Geographic Coverage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Segments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Coverage</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Taxonomy Regions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Geographic scope of the study: the global market broken into 6 regions and the countries assessed under each</a:t>
            </a:r>
          </a:p>
        </p:txBody>
      </p:sp>
      <p:cxnSp>
        <p:nvCxnSpPr>
          <p:cNvPr id="10" name="Connector 9"/>
          <p:cNvCxnSpPr/>
          <p:nvPr/>
        </p:nvCxnSpPr>
        <p:spPr>
          <a:xfrm>
            <a:off x="6096000" y="1682648"/>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85850" y="1846931"/>
            <a:ext cx="10010775" cy="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85850" y="1846931"/>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086100" y="1846931"/>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086350" y="1846931"/>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096125" y="1846931"/>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096375" y="1846931"/>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096625" y="1846931"/>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52525" y="231240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2525" y="275048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152775" y="231240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152775" y="275048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152775" y="3106436"/>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152775" y="3462383"/>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153025" y="231240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153025" y="2750489"/>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153025" y="309730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153025" y="3453257"/>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153025" y="3800077"/>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153025" y="4146897"/>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153025" y="4493717"/>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153025" y="4849664"/>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153025" y="5196485"/>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153025" y="5543305"/>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153025" y="5890125"/>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153025" y="6246072"/>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162800" y="231240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162800" y="275048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162800" y="3106436"/>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163050" y="231240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163050" y="275048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163050" y="3106436"/>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163050" y="3462383"/>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9163050" y="3818331"/>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9163050" y="4174278"/>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9163050" y="4530225"/>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9163050" y="4886172"/>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9163050" y="524211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1163300" y="231240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1163300" y="275048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1163300" y="3106436"/>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1163300" y="3462383"/>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1163300" y="3818331"/>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1163300" y="4174278"/>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1163300" y="4530225"/>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4667250" y="1080276"/>
            <a:ext cx="2857500" cy="602372"/>
          </a:xfrm>
          <a:prstGeom prst="roundRect">
            <a:avLst>
              <a:gd name="adj" fmla="val 10606"/>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500" b="1">
                <a:solidFill>
                  <a:srgbClr val="FFFFFF"/>
                </a:solidFill>
                <a:latin typeface="Calibri"/>
              </a:rPr>
              <a:t>Flexible Plastic Packaging Market</a:t>
            </a:r>
          </a:p>
        </p:txBody>
      </p:sp>
      <p:sp>
        <p:nvSpPr>
          <p:cNvPr id="56" name="Rounded Rectangle 55"/>
          <p:cNvSpPr/>
          <p:nvPr/>
        </p:nvSpPr>
        <p:spPr>
          <a:xfrm>
            <a:off x="142875" y="201121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North America</a:t>
            </a:r>
          </a:p>
        </p:txBody>
      </p:sp>
      <p:sp>
        <p:nvSpPr>
          <p:cNvPr id="57" name="Rounded Rectangle 56"/>
          <p:cNvSpPr/>
          <p:nvPr/>
        </p:nvSpPr>
        <p:spPr>
          <a:xfrm>
            <a:off x="276225" y="246755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U.S.</a:t>
            </a:r>
          </a:p>
        </p:txBody>
      </p:sp>
      <p:sp>
        <p:nvSpPr>
          <p:cNvPr id="58" name="Rounded Rectangle 57"/>
          <p:cNvSpPr/>
          <p:nvPr/>
        </p:nvSpPr>
        <p:spPr>
          <a:xfrm>
            <a:off x="276225" y="282350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Canada</a:t>
            </a:r>
          </a:p>
        </p:txBody>
      </p:sp>
      <p:sp>
        <p:nvSpPr>
          <p:cNvPr id="59" name="Rounded Rectangle 58"/>
          <p:cNvSpPr/>
          <p:nvPr/>
        </p:nvSpPr>
        <p:spPr>
          <a:xfrm>
            <a:off x="2143125" y="201121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Latin America</a:t>
            </a:r>
          </a:p>
        </p:txBody>
      </p:sp>
      <p:sp>
        <p:nvSpPr>
          <p:cNvPr id="60" name="Rounded Rectangle 59"/>
          <p:cNvSpPr/>
          <p:nvPr/>
        </p:nvSpPr>
        <p:spPr>
          <a:xfrm>
            <a:off x="2276475" y="246755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Brazil</a:t>
            </a:r>
          </a:p>
        </p:txBody>
      </p:sp>
      <p:sp>
        <p:nvSpPr>
          <p:cNvPr id="61" name="Rounded Rectangle 60"/>
          <p:cNvSpPr/>
          <p:nvPr/>
        </p:nvSpPr>
        <p:spPr>
          <a:xfrm>
            <a:off x="2276475" y="282350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Mexico</a:t>
            </a:r>
          </a:p>
        </p:txBody>
      </p:sp>
      <p:sp>
        <p:nvSpPr>
          <p:cNvPr id="62" name="Rounded Rectangle 61"/>
          <p:cNvSpPr/>
          <p:nvPr/>
        </p:nvSpPr>
        <p:spPr>
          <a:xfrm>
            <a:off x="2276475" y="3179451"/>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Colombia</a:t>
            </a:r>
          </a:p>
        </p:txBody>
      </p:sp>
      <p:sp>
        <p:nvSpPr>
          <p:cNvPr id="63" name="Rounded Rectangle 62"/>
          <p:cNvSpPr/>
          <p:nvPr/>
        </p:nvSpPr>
        <p:spPr>
          <a:xfrm>
            <a:off x="2276475" y="3535398"/>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Latin America</a:t>
            </a:r>
          </a:p>
        </p:txBody>
      </p:sp>
      <p:sp>
        <p:nvSpPr>
          <p:cNvPr id="64" name="Rounded Rectangle 63"/>
          <p:cNvSpPr/>
          <p:nvPr/>
        </p:nvSpPr>
        <p:spPr>
          <a:xfrm>
            <a:off x="4143375" y="201121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Europe</a:t>
            </a:r>
          </a:p>
        </p:txBody>
      </p:sp>
      <p:sp>
        <p:nvSpPr>
          <p:cNvPr id="65" name="Rounded Rectangle 64"/>
          <p:cNvSpPr/>
          <p:nvPr/>
        </p:nvSpPr>
        <p:spPr>
          <a:xfrm>
            <a:off x="4276725" y="246755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Germany</a:t>
            </a:r>
          </a:p>
        </p:txBody>
      </p:sp>
      <p:sp>
        <p:nvSpPr>
          <p:cNvPr id="66" name="Rounded Rectangle 65"/>
          <p:cNvSpPr/>
          <p:nvPr/>
        </p:nvSpPr>
        <p:spPr>
          <a:xfrm>
            <a:off x="4276725" y="281437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U.K.</a:t>
            </a:r>
          </a:p>
        </p:txBody>
      </p:sp>
      <p:sp>
        <p:nvSpPr>
          <p:cNvPr id="67" name="Rounded Rectangle 66"/>
          <p:cNvSpPr/>
          <p:nvPr/>
        </p:nvSpPr>
        <p:spPr>
          <a:xfrm>
            <a:off x="4276725" y="317032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France</a:t>
            </a:r>
          </a:p>
        </p:txBody>
      </p:sp>
      <p:sp>
        <p:nvSpPr>
          <p:cNvPr id="68" name="Rounded Rectangle 67"/>
          <p:cNvSpPr/>
          <p:nvPr/>
        </p:nvSpPr>
        <p:spPr>
          <a:xfrm>
            <a:off x="4276725" y="3517145"/>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Italy</a:t>
            </a:r>
          </a:p>
        </p:txBody>
      </p:sp>
      <p:sp>
        <p:nvSpPr>
          <p:cNvPr id="69" name="Rounded Rectangle 68"/>
          <p:cNvSpPr/>
          <p:nvPr/>
        </p:nvSpPr>
        <p:spPr>
          <a:xfrm>
            <a:off x="4276725" y="3863965"/>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Spain</a:t>
            </a:r>
          </a:p>
        </p:txBody>
      </p:sp>
      <p:sp>
        <p:nvSpPr>
          <p:cNvPr id="70" name="Rounded Rectangle 69"/>
          <p:cNvSpPr/>
          <p:nvPr/>
        </p:nvSpPr>
        <p:spPr>
          <a:xfrm>
            <a:off x="4276725" y="4210785"/>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Belgium</a:t>
            </a:r>
          </a:p>
        </p:txBody>
      </p:sp>
      <p:sp>
        <p:nvSpPr>
          <p:cNvPr id="71" name="Rounded Rectangle 70"/>
          <p:cNvSpPr/>
          <p:nvPr/>
        </p:nvSpPr>
        <p:spPr>
          <a:xfrm>
            <a:off x="4276725" y="4566732"/>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Netherlands</a:t>
            </a:r>
          </a:p>
        </p:txBody>
      </p:sp>
      <p:sp>
        <p:nvSpPr>
          <p:cNvPr id="72" name="Rounded Rectangle 71"/>
          <p:cNvSpPr/>
          <p:nvPr/>
        </p:nvSpPr>
        <p:spPr>
          <a:xfrm>
            <a:off x="4276725" y="4913552"/>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Nordic</a:t>
            </a:r>
          </a:p>
        </p:txBody>
      </p:sp>
      <p:sp>
        <p:nvSpPr>
          <p:cNvPr id="73" name="Rounded Rectangle 72"/>
          <p:cNvSpPr/>
          <p:nvPr/>
        </p:nvSpPr>
        <p:spPr>
          <a:xfrm>
            <a:off x="4276725" y="5260373"/>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Switzerland</a:t>
            </a:r>
          </a:p>
        </p:txBody>
      </p:sp>
      <p:sp>
        <p:nvSpPr>
          <p:cNvPr id="74" name="Rounded Rectangle 73"/>
          <p:cNvSpPr/>
          <p:nvPr/>
        </p:nvSpPr>
        <p:spPr>
          <a:xfrm>
            <a:off x="4276725" y="5607193"/>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Russia</a:t>
            </a:r>
          </a:p>
        </p:txBody>
      </p:sp>
      <p:sp>
        <p:nvSpPr>
          <p:cNvPr id="75" name="Rounded Rectangle 74"/>
          <p:cNvSpPr/>
          <p:nvPr/>
        </p:nvSpPr>
        <p:spPr>
          <a:xfrm>
            <a:off x="4276725" y="5963140"/>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Poland</a:t>
            </a:r>
          </a:p>
        </p:txBody>
      </p:sp>
      <p:sp>
        <p:nvSpPr>
          <p:cNvPr id="76" name="Rounded Rectangle 75"/>
          <p:cNvSpPr/>
          <p:nvPr/>
        </p:nvSpPr>
        <p:spPr>
          <a:xfrm>
            <a:off x="4276725" y="6309960"/>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Europe</a:t>
            </a:r>
          </a:p>
        </p:txBody>
      </p:sp>
      <p:sp>
        <p:nvSpPr>
          <p:cNvPr id="77" name="Rounded Rectangle 76"/>
          <p:cNvSpPr/>
          <p:nvPr/>
        </p:nvSpPr>
        <p:spPr>
          <a:xfrm>
            <a:off x="6153150" y="201121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East Asia</a:t>
            </a:r>
          </a:p>
        </p:txBody>
      </p:sp>
      <p:sp>
        <p:nvSpPr>
          <p:cNvPr id="78" name="Rounded Rectangle 77"/>
          <p:cNvSpPr/>
          <p:nvPr/>
        </p:nvSpPr>
        <p:spPr>
          <a:xfrm>
            <a:off x="6286500" y="246755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China</a:t>
            </a:r>
          </a:p>
        </p:txBody>
      </p:sp>
      <p:sp>
        <p:nvSpPr>
          <p:cNvPr id="79" name="Rounded Rectangle 78"/>
          <p:cNvSpPr/>
          <p:nvPr/>
        </p:nvSpPr>
        <p:spPr>
          <a:xfrm>
            <a:off x="6286500" y="282350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Japan</a:t>
            </a:r>
          </a:p>
        </p:txBody>
      </p:sp>
      <p:sp>
        <p:nvSpPr>
          <p:cNvPr id="80" name="Rounded Rectangle 79"/>
          <p:cNvSpPr/>
          <p:nvPr/>
        </p:nvSpPr>
        <p:spPr>
          <a:xfrm>
            <a:off x="6286500" y="3179451"/>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South Korea</a:t>
            </a:r>
          </a:p>
        </p:txBody>
      </p:sp>
      <p:sp>
        <p:nvSpPr>
          <p:cNvPr id="81" name="Rounded Rectangle 80"/>
          <p:cNvSpPr/>
          <p:nvPr/>
        </p:nvSpPr>
        <p:spPr>
          <a:xfrm>
            <a:off x="8153400" y="201121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South Asia &amp; Pacific</a:t>
            </a:r>
          </a:p>
        </p:txBody>
      </p:sp>
      <p:sp>
        <p:nvSpPr>
          <p:cNvPr id="82" name="Rounded Rectangle 81"/>
          <p:cNvSpPr/>
          <p:nvPr/>
        </p:nvSpPr>
        <p:spPr>
          <a:xfrm>
            <a:off x="8286750" y="246755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India</a:t>
            </a:r>
          </a:p>
        </p:txBody>
      </p:sp>
      <p:sp>
        <p:nvSpPr>
          <p:cNvPr id="83" name="Rounded Rectangle 82"/>
          <p:cNvSpPr/>
          <p:nvPr/>
        </p:nvSpPr>
        <p:spPr>
          <a:xfrm>
            <a:off x="8286750" y="282350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Thailand</a:t>
            </a:r>
          </a:p>
        </p:txBody>
      </p:sp>
      <p:sp>
        <p:nvSpPr>
          <p:cNvPr id="84" name="Rounded Rectangle 83"/>
          <p:cNvSpPr/>
          <p:nvPr/>
        </p:nvSpPr>
        <p:spPr>
          <a:xfrm>
            <a:off x="8286750" y="3179451"/>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Malaysia</a:t>
            </a:r>
          </a:p>
        </p:txBody>
      </p:sp>
      <p:sp>
        <p:nvSpPr>
          <p:cNvPr id="85" name="Rounded Rectangle 84"/>
          <p:cNvSpPr/>
          <p:nvPr/>
        </p:nvSpPr>
        <p:spPr>
          <a:xfrm>
            <a:off x="8286750" y="3535398"/>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Indonesia</a:t>
            </a:r>
          </a:p>
        </p:txBody>
      </p:sp>
      <p:sp>
        <p:nvSpPr>
          <p:cNvPr id="86" name="Rounded Rectangle 85"/>
          <p:cNvSpPr/>
          <p:nvPr/>
        </p:nvSpPr>
        <p:spPr>
          <a:xfrm>
            <a:off x="8286750" y="3891345"/>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Singapore</a:t>
            </a:r>
          </a:p>
        </p:txBody>
      </p:sp>
      <p:sp>
        <p:nvSpPr>
          <p:cNvPr id="87" name="Rounded Rectangle 86"/>
          <p:cNvSpPr/>
          <p:nvPr/>
        </p:nvSpPr>
        <p:spPr>
          <a:xfrm>
            <a:off x="8286750" y="4247292"/>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Philippines</a:t>
            </a:r>
          </a:p>
        </p:txBody>
      </p:sp>
      <p:sp>
        <p:nvSpPr>
          <p:cNvPr id="88" name="Rounded Rectangle 87"/>
          <p:cNvSpPr/>
          <p:nvPr/>
        </p:nvSpPr>
        <p:spPr>
          <a:xfrm>
            <a:off x="8286750" y="4603240"/>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Australia</a:t>
            </a:r>
          </a:p>
        </p:txBody>
      </p:sp>
      <p:sp>
        <p:nvSpPr>
          <p:cNvPr id="89" name="Rounded Rectangle 88"/>
          <p:cNvSpPr/>
          <p:nvPr/>
        </p:nvSpPr>
        <p:spPr>
          <a:xfrm>
            <a:off x="8286750" y="495918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New Zealand</a:t>
            </a:r>
          </a:p>
        </p:txBody>
      </p:sp>
      <p:sp>
        <p:nvSpPr>
          <p:cNvPr id="90" name="Rounded Rectangle 89"/>
          <p:cNvSpPr/>
          <p:nvPr/>
        </p:nvSpPr>
        <p:spPr>
          <a:xfrm>
            <a:off x="8286750" y="531513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South Asia</a:t>
            </a:r>
          </a:p>
        </p:txBody>
      </p:sp>
      <p:sp>
        <p:nvSpPr>
          <p:cNvPr id="91" name="Rounded Rectangle 90"/>
          <p:cNvSpPr/>
          <p:nvPr/>
        </p:nvSpPr>
        <p:spPr>
          <a:xfrm>
            <a:off x="10153650" y="201121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Middle East &amp; Africa</a:t>
            </a:r>
          </a:p>
        </p:txBody>
      </p:sp>
      <p:sp>
        <p:nvSpPr>
          <p:cNvPr id="92" name="Rounded Rectangle 91"/>
          <p:cNvSpPr/>
          <p:nvPr/>
        </p:nvSpPr>
        <p:spPr>
          <a:xfrm>
            <a:off x="10287000" y="246755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UAE</a:t>
            </a:r>
          </a:p>
        </p:txBody>
      </p:sp>
      <p:sp>
        <p:nvSpPr>
          <p:cNvPr id="93" name="Rounded Rectangle 92"/>
          <p:cNvSpPr/>
          <p:nvPr/>
        </p:nvSpPr>
        <p:spPr>
          <a:xfrm>
            <a:off x="10287000" y="282350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Saudi Arabia</a:t>
            </a:r>
          </a:p>
        </p:txBody>
      </p:sp>
      <p:sp>
        <p:nvSpPr>
          <p:cNvPr id="94" name="Rounded Rectangle 93"/>
          <p:cNvSpPr/>
          <p:nvPr/>
        </p:nvSpPr>
        <p:spPr>
          <a:xfrm>
            <a:off x="10287000" y="3179451"/>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Turkey</a:t>
            </a:r>
          </a:p>
        </p:txBody>
      </p:sp>
      <p:sp>
        <p:nvSpPr>
          <p:cNvPr id="95" name="Rounded Rectangle 94"/>
          <p:cNvSpPr/>
          <p:nvPr/>
        </p:nvSpPr>
        <p:spPr>
          <a:xfrm>
            <a:off x="10287000" y="3535398"/>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Israel</a:t>
            </a:r>
          </a:p>
        </p:txBody>
      </p:sp>
      <p:sp>
        <p:nvSpPr>
          <p:cNvPr id="96" name="Rounded Rectangle 95"/>
          <p:cNvSpPr/>
          <p:nvPr/>
        </p:nvSpPr>
        <p:spPr>
          <a:xfrm>
            <a:off x="10287000" y="3891345"/>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GCC</a:t>
            </a:r>
          </a:p>
        </p:txBody>
      </p:sp>
      <p:sp>
        <p:nvSpPr>
          <p:cNvPr id="97" name="Rounded Rectangle 96"/>
          <p:cNvSpPr/>
          <p:nvPr/>
        </p:nvSpPr>
        <p:spPr>
          <a:xfrm>
            <a:off x="10287000" y="4247292"/>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South Africa</a:t>
            </a:r>
          </a:p>
        </p:txBody>
      </p:sp>
      <p:sp>
        <p:nvSpPr>
          <p:cNvPr id="98" name="Rounded Rectangle 97"/>
          <p:cNvSpPr/>
          <p:nvPr/>
        </p:nvSpPr>
        <p:spPr>
          <a:xfrm>
            <a:off x="10287000" y="4603240"/>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MEA</a:t>
            </a:r>
          </a:p>
        </p:txBody>
      </p:sp>
      <p:sp>
        <p:nvSpPr>
          <p:cNvPr id="99" name="TextBox 9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Taxonomy Segments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Segmentation framework of the study: 6 axes and the sub-segments sized under each</a:t>
            </a:r>
          </a:p>
        </p:txBody>
      </p:sp>
      <p:sp>
        <p:nvSpPr>
          <p:cNvPr id="10" name="Rectangle 9"/>
          <p:cNvSpPr/>
          <p:nvPr/>
        </p:nvSpPr>
        <p:spPr>
          <a:xfrm>
            <a:off x="142875" y="1028700"/>
            <a:ext cx="2876550" cy="377190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28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90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Product Type</a:t>
            </a:r>
          </a:p>
        </p:txBody>
      </p:sp>
      <p:sp>
        <p:nvSpPr>
          <p:cNvPr id="13" name="TextBox 12"/>
          <p:cNvSpPr txBox="1"/>
          <p:nvPr/>
        </p:nvSpPr>
        <p:spPr>
          <a:xfrm>
            <a:off x="2000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 name="TextBox 13"/>
          <p:cNvSpPr txBox="1"/>
          <p:nvPr/>
        </p:nvSpPr>
        <p:spPr>
          <a:xfrm>
            <a:off x="390525" y="125730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Rollstock Films</a:t>
            </a:r>
          </a:p>
        </p:txBody>
      </p:sp>
      <p:cxnSp>
        <p:nvCxnSpPr>
          <p:cNvPr id="15" name="Connector 14"/>
          <p:cNvCxnSpPr/>
          <p:nvPr/>
        </p:nvCxnSpPr>
        <p:spPr>
          <a:xfrm>
            <a:off x="1524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7147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7" name="TextBox 16"/>
          <p:cNvSpPr txBox="1"/>
          <p:nvPr/>
        </p:nvSpPr>
        <p:spPr>
          <a:xfrm>
            <a:off x="561975" y="143446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Lidding &amp; Tray-Sealing Films</a:t>
            </a:r>
          </a:p>
        </p:txBody>
      </p:sp>
      <p:cxnSp>
        <p:nvCxnSpPr>
          <p:cNvPr id="18" name="Connector 17"/>
          <p:cNvCxnSpPr/>
          <p:nvPr/>
        </p:nvCxnSpPr>
        <p:spPr>
          <a:xfrm>
            <a:off x="1524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7147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0" name="TextBox 19"/>
          <p:cNvSpPr txBox="1"/>
          <p:nvPr/>
        </p:nvSpPr>
        <p:spPr>
          <a:xfrm>
            <a:off x="561975" y="161163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Thermoforming Films</a:t>
            </a:r>
          </a:p>
        </p:txBody>
      </p:sp>
      <p:cxnSp>
        <p:nvCxnSpPr>
          <p:cNvPr id="21" name="Connector 20"/>
          <p:cNvCxnSpPr/>
          <p:nvPr/>
        </p:nvCxnSpPr>
        <p:spPr>
          <a:xfrm>
            <a:off x="1524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7147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3" name="TextBox 22"/>
          <p:cNvSpPr txBox="1"/>
          <p:nvPr/>
        </p:nvSpPr>
        <p:spPr>
          <a:xfrm>
            <a:off x="561975" y="178879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Vacuum Skin Packaging Films</a:t>
            </a:r>
          </a:p>
        </p:txBody>
      </p:sp>
      <p:cxnSp>
        <p:nvCxnSpPr>
          <p:cNvPr id="24" name="Connector 23"/>
          <p:cNvCxnSpPr/>
          <p:nvPr/>
        </p:nvCxnSpPr>
        <p:spPr>
          <a:xfrm>
            <a:off x="1524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71475" y="19659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6" name="TextBox 25"/>
          <p:cNvSpPr txBox="1"/>
          <p:nvPr/>
        </p:nvSpPr>
        <p:spPr>
          <a:xfrm>
            <a:off x="561975" y="196596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HFFS / Flow-Pack Films</a:t>
            </a:r>
          </a:p>
        </p:txBody>
      </p:sp>
      <p:cxnSp>
        <p:nvCxnSpPr>
          <p:cNvPr id="27" name="Connector 26"/>
          <p:cNvCxnSpPr/>
          <p:nvPr/>
        </p:nvCxnSpPr>
        <p:spPr>
          <a:xfrm>
            <a:off x="1524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71475" y="21431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9" name="TextBox 28"/>
          <p:cNvSpPr txBox="1"/>
          <p:nvPr/>
        </p:nvSpPr>
        <p:spPr>
          <a:xfrm>
            <a:off x="561975" y="214312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VFFS Rollstock Films</a:t>
            </a:r>
          </a:p>
        </p:txBody>
      </p:sp>
      <p:cxnSp>
        <p:nvCxnSpPr>
          <p:cNvPr id="30" name="Connector 29"/>
          <p:cNvCxnSpPr/>
          <p:nvPr/>
        </p:nvCxnSpPr>
        <p:spPr>
          <a:xfrm>
            <a:off x="152400" y="23202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371475" y="23202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2" name="TextBox 31"/>
          <p:cNvSpPr txBox="1"/>
          <p:nvPr/>
        </p:nvSpPr>
        <p:spPr>
          <a:xfrm>
            <a:off x="561975" y="232029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Shrink &amp; Overwrap Films</a:t>
            </a:r>
          </a:p>
        </p:txBody>
      </p:sp>
      <p:cxnSp>
        <p:nvCxnSpPr>
          <p:cNvPr id="33" name="Connector 32"/>
          <p:cNvCxnSpPr/>
          <p:nvPr/>
        </p:nvCxnSpPr>
        <p:spPr>
          <a:xfrm>
            <a:off x="152400" y="24974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00025" y="24974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5" name="TextBox 34"/>
          <p:cNvSpPr txBox="1"/>
          <p:nvPr/>
        </p:nvSpPr>
        <p:spPr>
          <a:xfrm>
            <a:off x="390525" y="249745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Barrier Casings</a:t>
            </a:r>
          </a:p>
        </p:txBody>
      </p:sp>
      <p:cxnSp>
        <p:nvCxnSpPr>
          <p:cNvPr id="36" name="Connector 35"/>
          <p:cNvCxnSpPr/>
          <p:nvPr/>
        </p:nvCxnSpPr>
        <p:spPr>
          <a:xfrm>
            <a:off x="152400" y="26746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371475" y="26746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8" name="TextBox 37"/>
          <p:cNvSpPr txBox="1"/>
          <p:nvPr/>
        </p:nvSpPr>
        <p:spPr>
          <a:xfrm>
            <a:off x="561975" y="267462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Non-Shrink Casings</a:t>
            </a:r>
          </a:p>
        </p:txBody>
      </p:sp>
      <p:cxnSp>
        <p:nvCxnSpPr>
          <p:cNvPr id="39" name="Connector 38"/>
          <p:cNvCxnSpPr/>
          <p:nvPr/>
        </p:nvCxnSpPr>
        <p:spPr>
          <a:xfrm>
            <a:off x="152400" y="28517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371475" y="28517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1" name="TextBox 40"/>
          <p:cNvSpPr txBox="1"/>
          <p:nvPr/>
        </p:nvSpPr>
        <p:spPr>
          <a:xfrm>
            <a:off x="561975" y="285178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Shrink Casings</a:t>
            </a:r>
          </a:p>
        </p:txBody>
      </p:sp>
      <p:cxnSp>
        <p:nvCxnSpPr>
          <p:cNvPr id="42" name="Connector 41"/>
          <p:cNvCxnSpPr/>
          <p:nvPr/>
        </p:nvCxnSpPr>
        <p:spPr>
          <a:xfrm>
            <a:off x="152400" y="302895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371475" y="302895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4" name="TextBox 43"/>
          <p:cNvSpPr txBox="1"/>
          <p:nvPr/>
        </p:nvSpPr>
        <p:spPr>
          <a:xfrm>
            <a:off x="561975" y="302895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Other Specialty Casings</a:t>
            </a:r>
          </a:p>
        </p:txBody>
      </p:sp>
      <p:cxnSp>
        <p:nvCxnSpPr>
          <p:cNvPr id="45" name="Connector 44"/>
          <p:cNvCxnSpPr/>
          <p:nvPr/>
        </p:nvCxnSpPr>
        <p:spPr>
          <a:xfrm>
            <a:off x="152400" y="320611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200025" y="320611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7" name="TextBox 46"/>
          <p:cNvSpPr txBox="1"/>
          <p:nvPr/>
        </p:nvSpPr>
        <p:spPr>
          <a:xfrm>
            <a:off x="390525" y="320611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Premade Pouches &amp; Bags</a:t>
            </a:r>
          </a:p>
        </p:txBody>
      </p:sp>
      <p:cxnSp>
        <p:nvCxnSpPr>
          <p:cNvPr id="48" name="Connector 47"/>
          <p:cNvCxnSpPr/>
          <p:nvPr/>
        </p:nvCxnSpPr>
        <p:spPr>
          <a:xfrm>
            <a:off x="152400" y="338328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371475" y="338328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0" name="TextBox 49"/>
          <p:cNvSpPr txBox="1"/>
          <p:nvPr/>
        </p:nvSpPr>
        <p:spPr>
          <a:xfrm>
            <a:off x="561975" y="338328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Vacuum Pouches</a:t>
            </a:r>
          </a:p>
        </p:txBody>
      </p:sp>
      <p:cxnSp>
        <p:nvCxnSpPr>
          <p:cNvPr id="51" name="Connector 50"/>
          <p:cNvCxnSpPr/>
          <p:nvPr/>
        </p:nvCxnSpPr>
        <p:spPr>
          <a:xfrm>
            <a:off x="152400" y="356044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371475" y="356044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3" name="TextBox 52"/>
          <p:cNvSpPr txBox="1"/>
          <p:nvPr/>
        </p:nvSpPr>
        <p:spPr>
          <a:xfrm>
            <a:off x="561975" y="356044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Shrink Bags</a:t>
            </a:r>
          </a:p>
        </p:txBody>
      </p:sp>
      <p:cxnSp>
        <p:nvCxnSpPr>
          <p:cNvPr id="54" name="Connector 53"/>
          <p:cNvCxnSpPr/>
          <p:nvPr/>
        </p:nvCxnSpPr>
        <p:spPr>
          <a:xfrm>
            <a:off x="152400" y="373761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371475" y="373761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6" name="TextBox 55"/>
          <p:cNvSpPr txBox="1"/>
          <p:nvPr/>
        </p:nvSpPr>
        <p:spPr>
          <a:xfrm>
            <a:off x="561975" y="373761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Stand-Up Pouches</a:t>
            </a:r>
          </a:p>
        </p:txBody>
      </p:sp>
      <p:cxnSp>
        <p:nvCxnSpPr>
          <p:cNvPr id="57" name="Connector 56"/>
          <p:cNvCxnSpPr/>
          <p:nvPr/>
        </p:nvCxnSpPr>
        <p:spPr>
          <a:xfrm>
            <a:off x="152400" y="391477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371475" y="391477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9" name="TextBox 58"/>
          <p:cNvSpPr txBox="1"/>
          <p:nvPr/>
        </p:nvSpPr>
        <p:spPr>
          <a:xfrm>
            <a:off x="561975" y="391477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Flat Pouches</a:t>
            </a:r>
          </a:p>
        </p:txBody>
      </p:sp>
      <p:cxnSp>
        <p:nvCxnSpPr>
          <p:cNvPr id="60" name="Connector 59"/>
          <p:cNvCxnSpPr/>
          <p:nvPr/>
        </p:nvCxnSpPr>
        <p:spPr>
          <a:xfrm>
            <a:off x="152400" y="409194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371475" y="409194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2" name="TextBox 61"/>
          <p:cNvSpPr txBox="1"/>
          <p:nvPr/>
        </p:nvSpPr>
        <p:spPr>
          <a:xfrm>
            <a:off x="561975" y="409194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Retort Pouches</a:t>
            </a:r>
          </a:p>
        </p:txBody>
      </p:sp>
      <p:cxnSp>
        <p:nvCxnSpPr>
          <p:cNvPr id="63" name="Connector 62"/>
          <p:cNvCxnSpPr/>
          <p:nvPr/>
        </p:nvCxnSpPr>
        <p:spPr>
          <a:xfrm>
            <a:off x="152400" y="426910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200025" y="426910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5" name="TextBox 64"/>
          <p:cNvSpPr txBox="1"/>
          <p:nvPr/>
        </p:nvSpPr>
        <p:spPr>
          <a:xfrm>
            <a:off x="390525" y="426910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Sachets &amp; Stick Packs</a:t>
            </a:r>
          </a:p>
        </p:txBody>
      </p:sp>
      <p:cxnSp>
        <p:nvCxnSpPr>
          <p:cNvPr id="66" name="Connector 65"/>
          <p:cNvCxnSpPr/>
          <p:nvPr/>
        </p:nvCxnSpPr>
        <p:spPr>
          <a:xfrm>
            <a:off x="152400" y="444627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371475" y="444627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8" name="TextBox 67"/>
          <p:cNvSpPr txBox="1"/>
          <p:nvPr/>
        </p:nvSpPr>
        <p:spPr>
          <a:xfrm>
            <a:off x="561975" y="444627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Sachets</a:t>
            </a:r>
          </a:p>
        </p:txBody>
      </p:sp>
      <p:cxnSp>
        <p:nvCxnSpPr>
          <p:cNvPr id="69" name="Connector 68"/>
          <p:cNvCxnSpPr/>
          <p:nvPr/>
        </p:nvCxnSpPr>
        <p:spPr>
          <a:xfrm>
            <a:off x="152400" y="462343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371475" y="462343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1" name="TextBox 70"/>
          <p:cNvSpPr txBox="1"/>
          <p:nvPr/>
        </p:nvSpPr>
        <p:spPr>
          <a:xfrm>
            <a:off x="561975" y="462343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Stick Packs</a:t>
            </a:r>
          </a:p>
        </p:txBody>
      </p:sp>
      <p:sp>
        <p:nvSpPr>
          <p:cNvPr id="72" name="Rectangle 71"/>
          <p:cNvSpPr/>
          <p:nvPr/>
        </p:nvSpPr>
        <p:spPr>
          <a:xfrm>
            <a:off x="3152775" y="1028700"/>
            <a:ext cx="2876550" cy="236029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3152775" y="1028700"/>
            <a:ext cx="2876550" cy="41148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228975" y="1028700"/>
            <a:ext cx="2724150" cy="411480"/>
          </a:xfrm>
          <a:prstGeom prst="rect">
            <a:avLst/>
          </a:prstGeom>
          <a:noFill/>
        </p:spPr>
        <p:txBody>
          <a:bodyPr wrap="square" lIns="28575" rIns="28575" tIns="9525" bIns="9525" anchor="t">
            <a:spAutoFit/>
          </a:bodyPr>
          <a:lstStyle/>
          <a:p>
            <a:pPr algn="l">
              <a:lnSpc>
                <a:spcPct val="100000"/>
              </a:lnSpc>
            </a:pPr>
            <a:r>
              <a:rPr sz="1100" b="1">
                <a:solidFill>
                  <a:srgbClr val="FFFFFF"/>
                </a:solidFill>
                <a:latin typeface="Calibri"/>
              </a:rPr>
              <a:t>By Principal Material / Barrier Technology</a:t>
            </a:r>
          </a:p>
        </p:txBody>
      </p:sp>
      <p:sp>
        <p:nvSpPr>
          <p:cNvPr id="75" name="TextBox 74"/>
          <p:cNvSpPr txBox="1"/>
          <p:nvPr/>
        </p:nvSpPr>
        <p:spPr>
          <a:xfrm>
            <a:off x="3209925" y="144018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6" name="TextBox 75"/>
          <p:cNvSpPr txBox="1"/>
          <p:nvPr/>
        </p:nvSpPr>
        <p:spPr>
          <a:xfrm>
            <a:off x="3400425" y="144018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PE-Based</a:t>
            </a:r>
          </a:p>
        </p:txBody>
      </p:sp>
      <p:cxnSp>
        <p:nvCxnSpPr>
          <p:cNvPr id="77" name="Connector 76"/>
          <p:cNvCxnSpPr/>
          <p:nvPr/>
        </p:nvCxnSpPr>
        <p:spPr>
          <a:xfrm>
            <a:off x="3162300" y="161734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3209925" y="161734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9" name="TextBox 78"/>
          <p:cNvSpPr txBox="1"/>
          <p:nvPr/>
        </p:nvSpPr>
        <p:spPr>
          <a:xfrm>
            <a:off x="3400425" y="161734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PP-Based</a:t>
            </a:r>
          </a:p>
        </p:txBody>
      </p:sp>
      <p:cxnSp>
        <p:nvCxnSpPr>
          <p:cNvPr id="80" name="Connector 79"/>
          <p:cNvCxnSpPr/>
          <p:nvPr/>
        </p:nvCxnSpPr>
        <p:spPr>
          <a:xfrm>
            <a:off x="3162300" y="179451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3209925" y="179451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2" name="TextBox 81"/>
          <p:cNvSpPr txBox="1"/>
          <p:nvPr/>
        </p:nvSpPr>
        <p:spPr>
          <a:xfrm>
            <a:off x="3400425" y="179451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PET-Based</a:t>
            </a:r>
          </a:p>
        </p:txBody>
      </p:sp>
      <p:cxnSp>
        <p:nvCxnSpPr>
          <p:cNvPr id="83" name="Connector 82"/>
          <p:cNvCxnSpPr/>
          <p:nvPr/>
        </p:nvCxnSpPr>
        <p:spPr>
          <a:xfrm>
            <a:off x="3162300" y="197167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3209925" y="197167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5" name="TextBox 84"/>
          <p:cNvSpPr txBox="1"/>
          <p:nvPr/>
        </p:nvSpPr>
        <p:spPr>
          <a:xfrm>
            <a:off x="3400425" y="197167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PA-Based</a:t>
            </a:r>
          </a:p>
        </p:txBody>
      </p:sp>
      <p:cxnSp>
        <p:nvCxnSpPr>
          <p:cNvPr id="86" name="Connector 85"/>
          <p:cNvCxnSpPr/>
          <p:nvPr/>
        </p:nvCxnSpPr>
        <p:spPr>
          <a:xfrm>
            <a:off x="3162300" y="214884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3209925" y="214884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8" name="TextBox 87"/>
          <p:cNvSpPr txBox="1"/>
          <p:nvPr/>
        </p:nvSpPr>
        <p:spPr>
          <a:xfrm>
            <a:off x="3400425" y="214884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EVOH-Based</a:t>
            </a:r>
          </a:p>
        </p:txBody>
      </p:sp>
      <p:cxnSp>
        <p:nvCxnSpPr>
          <p:cNvPr id="89" name="Connector 88"/>
          <p:cNvCxnSpPr/>
          <p:nvPr/>
        </p:nvCxnSpPr>
        <p:spPr>
          <a:xfrm>
            <a:off x="3162300" y="232600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3209925" y="232600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1" name="TextBox 90"/>
          <p:cNvSpPr txBox="1"/>
          <p:nvPr/>
        </p:nvSpPr>
        <p:spPr>
          <a:xfrm>
            <a:off x="3400425" y="232600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PVDC-Based</a:t>
            </a:r>
          </a:p>
        </p:txBody>
      </p:sp>
      <p:cxnSp>
        <p:nvCxnSpPr>
          <p:cNvPr id="92" name="Connector 91"/>
          <p:cNvCxnSpPr/>
          <p:nvPr/>
        </p:nvCxnSpPr>
        <p:spPr>
          <a:xfrm>
            <a:off x="3162300" y="250317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3209925" y="250317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4" name="TextBox 93"/>
          <p:cNvSpPr txBox="1"/>
          <p:nvPr/>
        </p:nvSpPr>
        <p:spPr>
          <a:xfrm>
            <a:off x="3400425" y="250317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PVOH-Based</a:t>
            </a:r>
          </a:p>
        </p:txBody>
      </p:sp>
      <p:cxnSp>
        <p:nvCxnSpPr>
          <p:cNvPr id="95" name="Connector 94"/>
          <p:cNvCxnSpPr/>
          <p:nvPr/>
        </p:nvCxnSpPr>
        <p:spPr>
          <a:xfrm>
            <a:off x="3162300" y="268033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6" name="TextBox 95"/>
          <p:cNvSpPr txBox="1"/>
          <p:nvPr/>
        </p:nvSpPr>
        <p:spPr>
          <a:xfrm>
            <a:off x="3209925" y="268033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7" name="TextBox 96"/>
          <p:cNvSpPr txBox="1"/>
          <p:nvPr/>
        </p:nvSpPr>
        <p:spPr>
          <a:xfrm>
            <a:off x="3400425" y="268033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Metallized Barrier</a:t>
            </a:r>
          </a:p>
        </p:txBody>
      </p:sp>
      <p:cxnSp>
        <p:nvCxnSpPr>
          <p:cNvPr id="98" name="Connector 97"/>
          <p:cNvCxnSpPr/>
          <p:nvPr/>
        </p:nvCxnSpPr>
        <p:spPr>
          <a:xfrm>
            <a:off x="3162300" y="285750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3209925" y="28575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0" name="TextBox 99"/>
          <p:cNvSpPr txBox="1"/>
          <p:nvPr/>
        </p:nvSpPr>
        <p:spPr>
          <a:xfrm>
            <a:off x="3400425" y="285750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AlOx / SiOx-Coated</a:t>
            </a:r>
          </a:p>
        </p:txBody>
      </p:sp>
      <p:cxnSp>
        <p:nvCxnSpPr>
          <p:cNvPr id="101" name="Connector 100"/>
          <p:cNvCxnSpPr/>
          <p:nvPr/>
        </p:nvCxnSpPr>
        <p:spPr>
          <a:xfrm>
            <a:off x="3162300" y="30346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3209925" y="30346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3" name="TextBox 102"/>
          <p:cNvSpPr txBox="1"/>
          <p:nvPr/>
        </p:nvSpPr>
        <p:spPr>
          <a:xfrm>
            <a:off x="3400425" y="303466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Aluminum Foil-Based</a:t>
            </a:r>
          </a:p>
        </p:txBody>
      </p:sp>
      <p:cxnSp>
        <p:nvCxnSpPr>
          <p:cNvPr id="104" name="Connector 103"/>
          <p:cNvCxnSpPr/>
          <p:nvPr/>
        </p:nvCxnSpPr>
        <p:spPr>
          <a:xfrm>
            <a:off x="3162300" y="32118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5" name="TextBox 104"/>
          <p:cNvSpPr txBox="1"/>
          <p:nvPr/>
        </p:nvSpPr>
        <p:spPr>
          <a:xfrm>
            <a:off x="3209925" y="32118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6" name="TextBox 105"/>
          <p:cNvSpPr txBox="1"/>
          <p:nvPr/>
        </p:nvSpPr>
        <p:spPr>
          <a:xfrm>
            <a:off x="3400425" y="321183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Other Specialty Barrier Technologies</a:t>
            </a:r>
          </a:p>
        </p:txBody>
      </p:sp>
      <p:sp>
        <p:nvSpPr>
          <p:cNvPr id="107" name="Rectangle 106"/>
          <p:cNvSpPr/>
          <p:nvPr/>
        </p:nvSpPr>
        <p:spPr>
          <a:xfrm>
            <a:off x="3152775" y="3503295"/>
            <a:ext cx="2876550" cy="235458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3152775" y="3503295"/>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3228975" y="3503295"/>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Barrier Level Vs Application</a:t>
            </a:r>
          </a:p>
        </p:txBody>
      </p:sp>
      <p:sp>
        <p:nvSpPr>
          <p:cNvPr id="110" name="TextBox 109"/>
          <p:cNvSpPr txBox="1"/>
          <p:nvPr/>
        </p:nvSpPr>
        <p:spPr>
          <a:xfrm>
            <a:off x="3209925" y="37318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1" name="TextBox 110"/>
          <p:cNvSpPr txBox="1"/>
          <p:nvPr/>
        </p:nvSpPr>
        <p:spPr>
          <a:xfrm>
            <a:off x="3400425" y="373189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Low-Barrier Films</a:t>
            </a:r>
          </a:p>
        </p:txBody>
      </p:sp>
      <p:cxnSp>
        <p:nvCxnSpPr>
          <p:cNvPr id="112" name="Connector 111"/>
          <p:cNvCxnSpPr/>
          <p:nvPr/>
        </p:nvCxnSpPr>
        <p:spPr>
          <a:xfrm>
            <a:off x="3162300" y="39090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3381375" y="39090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4" name="TextBox 113"/>
          <p:cNvSpPr txBox="1"/>
          <p:nvPr/>
        </p:nvSpPr>
        <p:spPr>
          <a:xfrm>
            <a:off x="3571875" y="390906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Food Packaging</a:t>
            </a:r>
          </a:p>
        </p:txBody>
      </p:sp>
      <p:cxnSp>
        <p:nvCxnSpPr>
          <p:cNvPr id="115" name="Connector 114"/>
          <p:cNvCxnSpPr/>
          <p:nvPr/>
        </p:nvCxnSpPr>
        <p:spPr>
          <a:xfrm>
            <a:off x="3162300" y="40862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3381375" y="40862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7" name="TextBox 116"/>
          <p:cNvSpPr txBox="1"/>
          <p:nvPr/>
        </p:nvSpPr>
        <p:spPr>
          <a:xfrm>
            <a:off x="3571875" y="408622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Non-Food Packaging</a:t>
            </a:r>
          </a:p>
        </p:txBody>
      </p:sp>
      <p:cxnSp>
        <p:nvCxnSpPr>
          <p:cNvPr id="118" name="Connector 117"/>
          <p:cNvCxnSpPr/>
          <p:nvPr/>
        </p:nvCxnSpPr>
        <p:spPr>
          <a:xfrm>
            <a:off x="3162300" y="42633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3209925" y="42633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0" name="TextBox 119"/>
          <p:cNvSpPr txBox="1"/>
          <p:nvPr/>
        </p:nvSpPr>
        <p:spPr>
          <a:xfrm>
            <a:off x="3400425" y="426339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Medium-Barrier Films</a:t>
            </a:r>
          </a:p>
        </p:txBody>
      </p:sp>
      <p:cxnSp>
        <p:nvCxnSpPr>
          <p:cNvPr id="121" name="Connector 120"/>
          <p:cNvCxnSpPr/>
          <p:nvPr/>
        </p:nvCxnSpPr>
        <p:spPr>
          <a:xfrm>
            <a:off x="3162300" y="44405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3381375" y="44405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3" name="TextBox 122"/>
          <p:cNvSpPr txBox="1"/>
          <p:nvPr/>
        </p:nvSpPr>
        <p:spPr>
          <a:xfrm>
            <a:off x="3571875" y="444055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Food Packaging</a:t>
            </a:r>
          </a:p>
        </p:txBody>
      </p:sp>
      <p:cxnSp>
        <p:nvCxnSpPr>
          <p:cNvPr id="124" name="Connector 123"/>
          <p:cNvCxnSpPr/>
          <p:nvPr/>
        </p:nvCxnSpPr>
        <p:spPr>
          <a:xfrm>
            <a:off x="3162300" y="46177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3381375" y="46177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6" name="TextBox 125"/>
          <p:cNvSpPr txBox="1"/>
          <p:nvPr/>
        </p:nvSpPr>
        <p:spPr>
          <a:xfrm>
            <a:off x="3571875" y="461772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Non-Food Packaging</a:t>
            </a:r>
          </a:p>
        </p:txBody>
      </p:sp>
      <p:cxnSp>
        <p:nvCxnSpPr>
          <p:cNvPr id="127" name="Connector 126"/>
          <p:cNvCxnSpPr/>
          <p:nvPr/>
        </p:nvCxnSpPr>
        <p:spPr>
          <a:xfrm>
            <a:off x="3162300" y="47948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3209925" y="47948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9" name="TextBox 128"/>
          <p:cNvSpPr txBox="1"/>
          <p:nvPr/>
        </p:nvSpPr>
        <p:spPr>
          <a:xfrm>
            <a:off x="3400425" y="479488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High-Barrier Films</a:t>
            </a:r>
          </a:p>
        </p:txBody>
      </p:sp>
      <p:cxnSp>
        <p:nvCxnSpPr>
          <p:cNvPr id="130" name="Connector 129"/>
          <p:cNvCxnSpPr/>
          <p:nvPr/>
        </p:nvCxnSpPr>
        <p:spPr>
          <a:xfrm>
            <a:off x="3162300" y="497205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3381375" y="497205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32" name="TextBox 131"/>
          <p:cNvSpPr txBox="1"/>
          <p:nvPr/>
        </p:nvSpPr>
        <p:spPr>
          <a:xfrm>
            <a:off x="3571875" y="497205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Food Packaging</a:t>
            </a:r>
          </a:p>
        </p:txBody>
      </p:sp>
      <p:cxnSp>
        <p:nvCxnSpPr>
          <p:cNvPr id="133" name="Connector 132"/>
          <p:cNvCxnSpPr/>
          <p:nvPr/>
        </p:nvCxnSpPr>
        <p:spPr>
          <a:xfrm>
            <a:off x="3162300" y="514921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4" name="TextBox 133"/>
          <p:cNvSpPr txBox="1"/>
          <p:nvPr/>
        </p:nvSpPr>
        <p:spPr>
          <a:xfrm>
            <a:off x="3381375" y="514921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35" name="TextBox 134"/>
          <p:cNvSpPr txBox="1"/>
          <p:nvPr/>
        </p:nvSpPr>
        <p:spPr>
          <a:xfrm>
            <a:off x="3571875" y="514921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Non-Food Packaging</a:t>
            </a:r>
          </a:p>
        </p:txBody>
      </p:sp>
      <p:cxnSp>
        <p:nvCxnSpPr>
          <p:cNvPr id="136" name="Connector 135"/>
          <p:cNvCxnSpPr/>
          <p:nvPr/>
        </p:nvCxnSpPr>
        <p:spPr>
          <a:xfrm>
            <a:off x="3162300" y="532638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7" name="TextBox 136"/>
          <p:cNvSpPr txBox="1"/>
          <p:nvPr/>
        </p:nvSpPr>
        <p:spPr>
          <a:xfrm>
            <a:off x="3209925" y="532638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38" name="TextBox 137"/>
          <p:cNvSpPr txBox="1"/>
          <p:nvPr/>
        </p:nvSpPr>
        <p:spPr>
          <a:xfrm>
            <a:off x="3400425" y="532638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Ultra-High-Barrier Films</a:t>
            </a:r>
          </a:p>
        </p:txBody>
      </p:sp>
      <p:cxnSp>
        <p:nvCxnSpPr>
          <p:cNvPr id="139" name="Connector 138"/>
          <p:cNvCxnSpPr/>
          <p:nvPr/>
        </p:nvCxnSpPr>
        <p:spPr>
          <a:xfrm>
            <a:off x="3162300" y="550354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3381375" y="550354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1" name="TextBox 140"/>
          <p:cNvSpPr txBox="1"/>
          <p:nvPr/>
        </p:nvSpPr>
        <p:spPr>
          <a:xfrm>
            <a:off x="3571875" y="550354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Food Packaging</a:t>
            </a:r>
          </a:p>
        </p:txBody>
      </p:sp>
      <p:cxnSp>
        <p:nvCxnSpPr>
          <p:cNvPr id="142" name="Connector 141"/>
          <p:cNvCxnSpPr/>
          <p:nvPr/>
        </p:nvCxnSpPr>
        <p:spPr>
          <a:xfrm>
            <a:off x="3162300" y="568071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3381375" y="568071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4" name="TextBox 143"/>
          <p:cNvSpPr txBox="1"/>
          <p:nvPr/>
        </p:nvSpPr>
        <p:spPr>
          <a:xfrm>
            <a:off x="3571875" y="568071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Non-Food Packaging</a:t>
            </a:r>
          </a:p>
        </p:txBody>
      </p:sp>
      <p:sp>
        <p:nvSpPr>
          <p:cNvPr id="145" name="Rectangle 144"/>
          <p:cNvSpPr/>
          <p:nvPr/>
        </p:nvSpPr>
        <p:spPr>
          <a:xfrm>
            <a:off x="6162675" y="1028700"/>
            <a:ext cx="2876550" cy="306324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61626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62388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Material Structure</a:t>
            </a:r>
          </a:p>
        </p:txBody>
      </p:sp>
      <p:sp>
        <p:nvSpPr>
          <p:cNvPr id="148" name="TextBox 147"/>
          <p:cNvSpPr txBox="1"/>
          <p:nvPr/>
        </p:nvSpPr>
        <p:spPr>
          <a:xfrm>
            <a:off x="62198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9" name="TextBox 148"/>
          <p:cNvSpPr txBox="1"/>
          <p:nvPr/>
        </p:nvSpPr>
        <p:spPr>
          <a:xfrm>
            <a:off x="6410325" y="125730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Monolayer Films</a:t>
            </a:r>
          </a:p>
        </p:txBody>
      </p:sp>
      <p:cxnSp>
        <p:nvCxnSpPr>
          <p:cNvPr id="150" name="Connector 149"/>
          <p:cNvCxnSpPr/>
          <p:nvPr/>
        </p:nvCxnSpPr>
        <p:spPr>
          <a:xfrm>
            <a:off x="61722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51" name="TextBox 150"/>
          <p:cNvSpPr txBox="1"/>
          <p:nvPr/>
        </p:nvSpPr>
        <p:spPr>
          <a:xfrm>
            <a:off x="621982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52" name="TextBox 151"/>
          <p:cNvSpPr txBox="1"/>
          <p:nvPr/>
        </p:nvSpPr>
        <p:spPr>
          <a:xfrm>
            <a:off x="6410325" y="143446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Coextruded Multilayer Films</a:t>
            </a:r>
          </a:p>
        </p:txBody>
      </p:sp>
      <p:cxnSp>
        <p:nvCxnSpPr>
          <p:cNvPr id="153" name="Connector 152"/>
          <p:cNvCxnSpPr/>
          <p:nvPr/>
        </p:nvCxnSpPr>
        <p:spPr>
          <a:xfrm>
            <a:off x="61722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54" name="TextBox 153"/>
          <p:cNvSpPr txBox="1"/>
          <p:nvPr/>
        </p:nvSpPr>
        <p:spPr>
          <a:xfrm>
            <a:off x="639127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55" name="TextBox 154"/>
          <p:cNvSpPr txBox="1"/>
          <p:nvPr/>
        </p:nvSpPr>
        <p:spPr>
          <a:xfrm>
            <a:off x="6581775" y="161163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3–5 Layer</a:t>
            </a:r>
          </a:p>
        </p:txBody>
      </p:sp>
      <p:cxnSp>
        <p:nvCxnSpPr>
          <p:cNvPr id="156" name="Connector 155"/>
          <p:cNvCxnSpPr/>
          <p:nvPr/>
        </p:nvCxnSpPr>
        <p:spPr>
          <a:xfrm>
            <a:off x="61722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57" name="TextBox 156"/>
          <p:cNvSpPr txBox="1"/>
          <p:nvPr/>
        </p:nvSpPr>
        <p:spPr>
          <a:xfrm>
            <a:off x="639127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58" name="TextBox 157"/>
          <p:cNvSpPr txBox="1"/>
          <p:nvPr/>
        </p:nvSpPr>
        <p:spPr>
          <a:xfrm>
            <a:off x="6581775" y="178879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7 Layer</a:t>
            </a:r>
          </a:p>
        </p:txBody>
      </p:sp>
      <p:cxnSp>
        <p:nvCxnSpPr>
          <p:cNvPr id="159" name="Connector 158"/>
          <p:cNvCxnSpPr/>
          <p:nvPr/>
        </p:nvCxnSpPr>
        <p:spPr>
          <a:xfrm>
            <a:off x="61722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0" name="TextBox 159"/>
          <p:cNvSpPr txBox="1"/>
          <p:nvPr/>
        </p:nvSpPr>
        <p:spPr>
          <a:xfrm>
            <a:off x="6391275" y="19659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61" name="TextBox 160"/>
          <p:cNvSpPr txBox="1"/>
          <p:nvPr/>
        </p:nvSpPr>
        <p:spPr>
          <a:xfrm>
            <a:off x="6581775" y="196596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9 Layer and Above</a:t>
            </a:r>
          </a:p>
        </p:txBody>
      </p:sp>
      <p:cxnSp>
        <p:nvCxnSpPr>
          <p:cNvPr id="162" name="Connector 161"/>
          <p:cNvCxnSpPr/>
          <p:nvPr/>
        </p:nvCxnSpPr>
        <p:spPr>
          <a:xfrm>
            <a:off x="61722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3" name="TextBox 162"/>
          <p:cNvSpPr txBox="1"/>
          <p:nvPr/>
        </p:nvSpPr>
        <p:spPr>
          <a:xfrm>
            <a:off x="6219825" y="21431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64" name="TextBox 163"/>
          <p:cNvSpPr txBox="1"/>
          <p:nvPr/>
        </p:nvSpPr>
        <p:spPr>
          <a:xfrm>
            <a:off x="6410325" y="214312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Laminated Films</a:t>
            </a:r>
          </a:p>
        </p:txBody>
      </p:sp>
      <p:cxnSp>
        <p:nvCxnSpPr>
          <p:cNvPr id="165" name="Connector 164"/>
          <p:cNvCxnSpPr/>
          <p:nvPr/>
        </p:nvCxnSpPr>
        <p:spPr>
          <a:xfrm>
            <a:off x="6172200" y="23202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6" name="TextBox 165"/>
          <p:cNvSpPr txBox="1"/>
          <p:nvPr/>
        </p:nvSpPr>
        <p:spPr>
          <a:xfrm>
            <a:off x="6391275" y="23202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67" name="TextBox 166"/>
          <p:cNvSpPr txBox="1"/>
          <p:nvPr/>
        </p:nvSpPr>
        <p:spPr>
          <a:xfrm>
            <a:off x="6581775" y="232029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Duplex</a:t>
            </a:r>
          </a:p>
        </p:txBody>
      </p:sp>
      <p:cxnSp>
        <p:nvCxnSpPr>
          <p:cNvPr id="168" name="Connector 167"/>
          <p:cNvCxnSpPr/>
          <p:nvPr/>
        </p:nvCxnSpPr>
        <p:spPr>
          <a:xfrm>
            <a:off x="6172200" y="24974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9" name="TextBox 168"/>
          <p:cNvSpPr txBox="1"/>
          <p:nvPr/>
        </p:nvSpPr>
        <p:spPr>
          <a:xfrm>
            <a:off x="6391275" y="24974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70" name="TextBox 169"/>
          <p:cNvSpPr txBox="1"/>
          <p:nvPr/>
        </p:nvSpPr>
        <p:spPr>
          <a:xfrm>
            <a:off x="6581775" y="249745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Triplex</a:t>
            </a:r>
          </a:p>
        </p:txBody>
      </p:sp>
      <p:cxnSp>
        <p:nvCxnSpPr>
          <p:cNvPr id="171" name="Connector 170"/>
          <p:cNvCxnSpPr/>
          <p:nvPr/>
        </p:nvCxnSpPr>
        <p:spPr>
          <a:xfrm>
            <a:off x="6172200" y="26746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72" name="TextBox 171"/>
          <p:cNvSpPr txBox="1"/>
          <p:nvPr/>
        </p:nvSpPr>
        <p:spPr>
          <a:xfrm>
            <a:off x="6391275" y="26746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73" name="TextBox 172"/>
          <p:cNvSpPr txBox="1"/>
          <p:nvPr/>
        </p:nvSpPr>
        <p:spPr>
          <a:xfrm>
            <a:off x="6581775" y="267462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Multi-Ply</a:t>
            </a:r>
          </a:p>
        </p:txBody>
      </p:sp>
      <p:cxnSp>
        <p:nvCxnSpPr>
          <p:cNvPr id="174" name="Connector 173"/>
          <p:cNvCxnSpPr/>
          <p:nvPr/>
        </p:nvCxnSpPr>
        <p:spPr>
          <a:xfrm>
            <a:off x="6172200" y="28517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75" name="TextBox 174"/>
          <p:cNvSpPr txBox="1"/>
          <p:nvPr/>
        </p:nvSpPr>
        <p:spPr>
          <a:xfrm>
            <a:off x="6219825" y="28517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76" name="TextBox 175"/>
          <p:cNvSpPr txBox="1"/>
          <p:nvPr/>
        </p:nvSpPr>
        <p:spPr>
          <a:xfrm>
            <a:off x="6410325" y="285178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Coated Films</a:t>
            </a:r>
          </a:p>
        </p:txBody>
      </p:sp>
      <p:cxnSp>
        <p:nvCxnSpPr>
          <p:cNvPr id="177" name="Connector 176"/>
          <p:cNvCxnSpPr/>
          <p:nvPr/>
        </p:nvCxnSpPr>
        <p:spPr>
          <a:xfrm>
            <a:off x="6172200" y="302895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78" name="TextBox 177"/>
          <p:cNvSpPr txBox="1"/>
          <p:nvPr/>
        </p:nvSpPr>
        <p:spPr>
          <a:xfrm>
            <a:off x="6219825" y="302895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79" name="TextBox 178"/>
          <p:cNvSpPr txBox="1"/>
          <p:nvPr/>
        </p:nvSpPr>
        <p:spPr>
          <a:xfrm>
            <a:off x="6410325" y="302895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Metallized Films</a:t>
            </a:r>
          </a:p>
        </p:txBody>
      </p:sp>
      <p:cxnSp>
        <p:nvCxnSpPr>
          <p:cNvPr id="180" name="Connector 179"/>
          <p:cNvCxnSpPr/>
          <p:nvPr/>
        </p:nvCxnSpPr>
        <p:spPr>
          <a:xfrm>
            <a:off x="6172200" y="320611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81" name="TextBox 180"/>
          <p:cNvSpPr txBox="1"/>
          <p:nvPr/>
        </p:nvSpPr>
        <p:spPr>
          <a:xfrm>
            <a:off x="6219825" y="320611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82" name="TextBox 181"/>
          <p:cNvSpPr txBox="1"/>
          <p:nvPr/>
        </p:nvSpPr>
        <p:spPr>
          <a:xfrm>
            <a:off x="6410325" y="320611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Foil-Laminated Structures</a:t>
            </a:r>
          </a:p>
        </p:txBody>
      </p:sp>
      <p:cxnSp>
        <p:nvCxnSpPr>
          <p:cNvPr id="183" name="Connector 182"/>
          <p:cNvCxnSpPr/>
          <p:nvPr/>
        </p:nvCxnSpPr>
        <p:spPr>
          <a:xfrm>
            <a:off x="6172200" y="338328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84" name="TextBox 183"/>
          <p:cNvSpPr txBox="1"/>
          <p:nvPr/>
        </p:nvSpPr>
        <p:spPr>
          <a:xfrm>
            <a:off x="6219825" y="338328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85" name="TextBox 184"/>
          <p:cNvSpPr txBox="1"/>
          <p:nvPr/>
        </p:nvSpPr>
        <p:spPr>
          <a:xfrm>
            <a:off x="6410325" y="338328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Mono-Material Recyclable Structures</a:t>
            </a:r>
          </a:p>
        </p:txBody>
      </p:sp>
      <p:cxnSp>
        <p:nvCxnSpPr>
          <p:cNvPr id="186" name="Connector 185"/>
          <p:cNvCxnSpPr/>
          <p:nvPr/>
        </p:nvCxnSpPr>
        <p:spPr>
          <a:xfrm>
            <a:off x="6172200" y="356044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87" name="TextBox 186"/>
          <p:cNvSpPr txBox="1"/>
          <p:nvPr/>
        </p:nvSpPr>
        <p:spPr>
          <a:xfrm>
            <a:off x="6391275" y="356044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88" name="TextBox 187"/>
          <p:cNvSpPr txBox="1"/>
          <p:nvPr/>
        </p:nvSpPr>
        <p:spPr>
          <a:xfrm>
            <a:off x="6581775" y="356044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PE-Based</a:t>
            </a:r>
          </a:p>
        </p:txBody>
      </p:sp>
      <p:cxnSp>
        <p:nvCxnSpPr>
          <p:cNvPr id="189" name="Connector 188"/>
          <p:cNvCxnSpPr/>
          <p:nvPr/>
        </p:nvCxnSpPr>
        <p:spPr>
          <a:xfrm>
            <a:off x="6172200" y="373761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90" name="TextBox 189"/>
          <p:cNvSpPr txBox="1"/>
          <p:nvPr/>
        </p:nvSpPr>
        <p:spPr>
          <a:xfrm>
            <a:off x="6391275" y="373761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91" name="TextBox 190"/>
          <p:cNvSpPr txBox="1"/>
          <p:nvPr/>
        </p:nvSpPr>
        <p:spPr>
          <a:xfrm>
            <a:off x="6581775" y="373761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PP-Based</a:t>
            </a:r>
          </a:p>
        </p:txBody>
      </p:sp>
      <p:cxnSp>
        <p:nvCxnSpPr>
          <p:cNvPr id="192" name="Connector 191"/>
          <p:cNvCxnSpPr/>
          <p:nvPr/>
        </p:nvCxnSpPr>
        <p:spPr>
          <a:xfrm>
            <a:off x="6172200" y="391477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93" name="TextBox 192"/>
          <p:cNvSpPr txBox="1"/>
          <p:nvPr/>
        </p:nvSpPr>
        <p:spPr>
          <a:xfrm>
            <a:off x="6391275" y="391477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94" name="TextBox 193"/>
          <p:cNvSpPr txBox="1"/>
          <p:nvPr/>
        </p:nvSpPr>
        <p:spPr>
          <a:xfrm>
            <a:off x="6581775" y="391477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PET-Based</a:t>
            </a:r>
          </a:p>
        </p:txBody>
      </p:sp>
      <p:sp>
        <p:nvSpPr>
          <p:cNvPr id="195" name="Rectangle 194"/>
          <p:cNvSpPr/>
          <p:nvPr/>
        </p:nvSpPr>
        <p:spPr>
          <a:xfrm>
            <a:off x="9172575" y="1028700"/>
            <a:ext cx="2876550" cy="93726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91725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96"/>
          <p:cNvSpPr txBox="1"/>
          <p:nvPr/>
        </p:nvSpPr>
        <p:spPr>
          <a:xfrm>
            <a:off x="92487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Barrier Level</a:t>
            </a:r>
          </a:p>
        </p:txBody>
      </p:sp>
      <p:sp>
        <p:nvSpPr>
          <p:cNvPr id="198" name="TextBox 197"/>
          <p:cNvSpPr txBox="1"/>
          <p:nvPr/>
        </p:nvSpPr>
        <p:spPr>
          <a:xfrm>
            <a:off x="92297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99" name="TextBox 198"/>
          <p:cNvSpPr txBox="1"/>
          <p:nvPr/>
        </p:nvSpPr>
        <p:spPr>
          <a:xfrm>
            <a:off x="9420225" y="125730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Low-Barrier Films</a:t>
            </a:r>
          </a:p>
        </p:txBody>
      </p:sp>
      <p:cxnSp>
        <p:nvCxnSpPr>
          <p:cNvPr id="200" name="Connector 199"/>
          <p:cNvCxnSpPr/>
          <p:nvPr/>
        </p:nvCxnSpPr>
        <p:spPr>
          <a:xfrm>
            <a:off x="91821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01" name="TextBox 200"/>
          <p:cNvSpPr txBox="1"/>
          <p:nvPr/>
        </p:nvSpPr>
        <p:spPr>
          <a:xfrm>
            <a:off x="922972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02" name="TextBox 201"/>
          <p:cNvSpPr txBox="1"/>
          <p:nvPr/>
        </p:nvSpPr>
        <p:spPr>
          <a:xfrm>
            <a:off x="9420225" y="143446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Medium-Barrier Films</a:t>
            </a:r>
          </a:p>
        </p:txBody>
      </p:sp>
      <p:cxnSp>
        <p:nvCxnSpPr>
          <p:cNvPr id="203" name="Connector 202"/>
          <p:cNvCxnSpPr/>
          <p:nvPr/>
        </p:nvCxnSpPr>
        <p:spPr>
          <a:xfrm>
            <a:off x="91821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04" name="TextBox 203"/>
          <p:cNvSpPr txBox="1"/>
          <p:nvPr/>
        </p:nvSpPr>
        <p:spPr>
          <a:xfrm>
            <a:off x="922972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05" name="TextBox 204"/>
          <p:cNvSpPr txBox="1"/>
          <p:nvPr/>
        </p:nvSpPr>
        <p:spPr>
          <a:xfrm>
            <a:off x="9420225" y="161163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High-Barrier Films</a:t>
            </a:r>
          </a:p>
        </p:txBody>
      </p:sp>
      <p:cxnSp>
        <p:nvCxnSpPr>
          <p:cNvPr id="206" name="Connector 205"/>
          <p:cNvCxnSpPr/>
          <p:nvPr/>
        </p:nvCxnSpPr>
        <p:spPr>
          <a:xfrm>
            <a:off x="91821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07" name="TextBox 206"/>
          <p:cNvSpPr txBox="1"/>
          <p:nvPr/>
        </p:nvSpPr>
        <p:spPr>
          <a:xfrm>
            <a:off x="922972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08" name="TextBox 207"/>
          <p:cNvSpPr txBox="1"/>
          <p:nvPr/>
        </p:nvSpPr>
        <p:spPr>
          <a:xfrm>
            <a:off x="9420225" y="178879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Ultra-High-Barrier Films</a:t>
            </a:r>
          </a:p>
        </p:txBody>
      </p:sp>
      <p:sp>
        <p:nvSpPr>
          <p:cNvPr id="209" name="Rectangle 208"/>
          <p:cNvSpPr/>
          <p:nvPr/>
        </p:nvSpPr>
        <p:spPr>
          <a:xfrm>
            <a:off x="9172575" y="2080260"/>
            <a:ext cx="2876550" cy="341757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9172575" y="208026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9248775" y="208026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Application</a:t>
            </a:r>
          </a:p>
        </p:txBody>
      </p:sp>
      <p:sp>
        <p:nvSpPr>
          <p:cNvPr id="212" name="TextBox 211"/>
          <p:cNvSpPr txBox="1"/>
          <p:nvPr/>
        </p:nvSpPr>
        <p:spPr>
          <a:xfrm>
            <a:off x="9229725" y="23088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13" name="TextBox 212"/>
          <p:cNvSpPr txBox="1"/>
          <p:nvPr/>
        </p:nvSpPr>
        <p:spPr>
          <a:xfrm>
            <a:off x="9420225" y="230886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Food Packaging</a:t>
            </a:r>
          </a:p>
        </p:txBody>
      </p:sp>
      <p:cxnSp>
        <p:nvCxnSpPr>
          <p:cNvPr id="214" name="Connector 213"/>
          <p:cNvCxnSpPr/>
          <p:nvPr/>
        </p:nvCxnSpPr>
        <p:spPr>
          <a:xfrm>
            <a:off x="9182100" y="24860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15" name="TextBox 214"/>
          <p:cNvSpPr txBox="1"/>
          <p:nvPr/>
        </p:nvSpPr>
        <p:spPr>
          <a:xfrm>
            <a:off x="9401175" y="24860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16" name="TextBox 215"/>
          <p:cNvSpPr txBox="1"/>
          <p:nvPr/>
        </p:nvSpPr>
        <p:spPr>
          <a:xfrm>
            <a:off x="9591675" y="248602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Meat and Processed Meat</a:t>
            </a:r>
          </a:p>
        </p:txBody>
      </p:sp>
      <p:cxnSp>
        <p:nvCxnSpPr>
          <p:cNvPr id="217" name="Connector 216"/>
          <p:cNvCxnSpPr/>
          <p:nvPr/>
        </p:nvCxnSpPr>
        <p:spPr>
          <a:xfrm>
            <a:off x="9182100" y="26631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18" name="TextBox 217"/>
          <p:cNvSpPr txBox="1"/>
          <p:nvPr/>
        </p:nvSpPr>
        <p:spPr>
          <a:xfrm>
            <a:off x="9401175" y="26631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19" name="TextBox 218"/>
          <p:cNvSpPr txBox="1"/>
          <p:nvPr/>
        </p:nvSpPr>
        <p:spPr>
          <a:xfrm>
            <a:off x="9591675" y="266319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Poultry</a:t>
            </a:r>
          </a:p>
        </p:txBody>
      </p:sp>
      <p:cxnSp>
        <p:nvCxnSpPr>
          <p:cNvPr id="220" name="Connector 219"/>
          <p:cNvCxnSpPr/>
          <p:nvPr/>
        </p:nvCxnSpPr>
        <p:spPr>
          <a:xfrm>
            <a:off x="9182100" y="28403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21" name="TextBox 220"/>
          <p:cNvSpPr txBox="1"/>
          <p:nvPr/>
        </p:nvSpPr>
        <p:spPr>
          <a:xfrm>
            <a:off x="9401175" y="28403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22" name="TextBox 221"/>
          <p:cNvSpPr txBox="1"/>
          <p:nvPr/>
        </p:nvSpPr>
        <p:spPr>
          <a:xfrm>
            <a:off x="9591675" y="284035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Fish and Seafood</a:t>
            </a:r>
          </a:p>
        </p:txBody>
      </p:sp>
      <p:cxnSp>
        <p:nvCxnSpPr>
          <p:cNvPr id="223" name="Connector 222"/>
          <p:cNvCxnSpPr/>
          <p:nvPr/>
        </p:nvCxnSpPr>
        <p:spPr>
          <a:xfrm>
            <a:off x="9182100" y="30175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24" name="TextBox 223"/>
          <p:cNvSpPr txBox="1"/>
          <p:nvPr/>
        </p:nvSpPr>
        <p:spPr>
          <a:xfrm>
            <a:off x="9401175" y="30175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25" name="TextBox 224"/>
          <p:cNvSpPr txBox="1"/>
          <p:nvPr/>
        </p:nvSpPr>
        <p:spPr>
          <a:xfrm>
            <a:off x="9591675" y="301752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Dairy and Cheese</a:t>
            </a:r>
          </a:p>
        </p:txBody>
      </p:sp>
      <p:cxnSp>
        <p:nvCxnSpPr>
          <p:cNvPr id="226" name="Connector 225"/>
          <p:cNvCxnSpPr/>
          <p:nvPr/>
        </p:nvCxnSpPr>
        <p:spPr>
          <a:xfrm>
            <a:off x="9182100" y="31946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27" name="TextBox 226"/>
          <p:cNvSpPr txBox="1"/>
          <p:nvPr/>
        </p:nvSpPr>
        <p:spPr>
          <a:xfrm>
            <a:off x="9401175" y="31946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28" name="TextBox 227"/>
          <p:cNvSpPr txBox="1"/>
          <p:nvPr/>
        </p:nvSpPr>
        <p:spPr>
          <a:xfrm>
            <a:off x="9591675" y="319468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Ready Meals and Prepared Foods</a:t>
            </a:r>
          </a:p>
        </p:txBody>
      </p:sp>
      <p:cxnSp>
        <p:nvCxnSpPr>
          <p:cNvPr id="229" name="Connector 228"/>
          <p:cNvCxnSpPr/>
          <p:nvPr/>
        </p:nvCxnSpPr>
        <p:spPr>
          <a:xfrm>
            <a:off x="9182100" y="337185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30" name="TextBox 229"/>
          <p:cNvSpPr txBox="1"/>
          <p:nvPr/>
        </p:nvSpPr>
        <p:spPr>
          <a:xfrm>
            <a:off x="9401175" y="337185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31" name="TextBox 230"/>
          <p:cNvSpPr txBox="1"/>
          <p:nvPr/>
        </p:nvSpPr>
        <p:spPr>
          <a:xfrm>
            <a:off x="9591675" y="337185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Bakery, Confectionery and Snacks</a:t>
            </a:r>
          </a:p>
        </p:txBody>
      </p:sp>
      <p:cxnSp>
        <p:nvCxnSpPr>
          <p:cNvPr id="232" name="Connector 231"/>
          <p:cNvCxnSpPr/>
          <p:nvPr/>
        </p:nvCxnSpPr>
        <p:spPr>
          <a:xfrm>
            <a:off x="9182100" y="354901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33" name="TextBox 232"/>
          <p:cNvSpPr txBox="1"/>
          <p:nvPr/>
        </p:nvSpPr>
        <p:spPr>
          <a:xfrm>
            <a:off x="9401175" y="354901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34" name="TextBox 233"/>
          <p:cNvSpPr txBox="1"/>
          <p:nvPr/>
        </p:nvSpPr>
        <p:spPr>
          <a:xfrm>
            <a:off x="9591675" y="354901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Dry Foods and Powders</a:t>
            </a:r>
          </a:p>
        </p:txBody>
      </p:sp>
      <p:cxnSp>
        <p:nvCxnSpPr>
          <p:cNvPr id="235" name="Connector 234"/>
          <p:cNvCxnSpPr/>
          <p:nvPr/>
        </p:nvCxnSpPr>
        <p:spPr>
          <a:xfrm>
            <a:off x="9182100" y="372618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36" name="TextBox 235"/>
          <p:cNvSpPr txBox="1"/>
          <p:nvPr/>
        </p:nvSpPr>
        <p:spPr>
          <a:xfrm>
            <a:off x="9401175" y="372618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37" name="TextBox 236"/>
          <p:cNvSpPr txBox="1"/>
          <p:nvPr/>
        </p:nvSpPr>
        <p:spPr>
          <a:xfrm>
            <a:off x="9591675" y="372618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Pet Food</a:t>
            </a:r>
          </a:p>
        </p:txBody>
      </p:sp>
      <p:cxnSp>
        <p:nvCxnSpPr>
          <p:cNvPr id="238" name="Connector 237"/>
          <p:cNvCxnSpPr/>
          <p:nvPr/>
        </p:nvCxnSpPr>
        <p:spPr>
          <a:xfrm>
            <a:off x="9182100" y="390334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39" name="TextBox 238"/>
          <p:cNvSpPr txBox="1"/>
          <p:nvPr/>
        </p:nvSpPr>
        <p:spPr>
          <a:xfrm>
            <a:off x="9401175" y="390334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40" name="TextBox 239"/>
          <p:cNvSpPr txBox="1"/>
          <p:nvPr/>
        </p:nvSpPr>
        <p:spPr>
          <a:xfrm>
            <a:off x="9591675" y="3903345"/>
            <a:ext cx="2419350" cy="531495"/>
          </a:xfrm>
          <a:prstGeom prst="rect">
            <a:avLst/>
          </a:prstGeom>
          <a:noFill/>
        </p:spPr>
        <p:txBody>
          <a:bodyPr wrap="square" lIns="28575" rIns="28575" tIns="9525" bIns="9525" anchor="t">
            <a:spAutoFit/>
          </a:bodyPr>
          <a:lstStyle/>
          <a:p>
            <a:pPr algn="l">
              <a:lnSpc>
                <a:spcPct val="100000"/>
              </a:lnSpc>
            </a:pPr>
            <a:r>
              <a:rPr sz="1100" b="0">
                <a:solidFill>
                  <a:srgbClr val="2E2E2E"/>
                </a:solidFill>
                <a:latin typeface="Calibri"/>
              </a:rPr>
              <a:t>Other Food Products (Fresh Produce, Plant-Based Foods, Condiments and Dressings, Foodservice Products)</a:t>
            </a:r>
          </a:p>
        </p:txBody>
      </p:sp>
      <p:cxnSp>
        <p:nvCxnSpPr>
          <p:cNvPr id="241" name="Connector 240"/>
          <p:cNvCxnSpPr/>
          <p:nvPr/>
        </p:nvCxnSpPr>
        <p:spPr>
          <a:xfrm>
            <a:off x="9182100" y="443484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42" name="TextBox 241"/>
          <p:cNvSpPr txBox="1"/>
          <p:nvPr/>
        </p:nvSpPr>
        <p:spPr>
          <a:xfrm>
            <a:off x="9229725" y="443484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43" name="TextBox 242"/>
          <p:cNvSpPr txBox="1"/>
          <p:nvPr/>
        </p:nvSpPr>
        <p:spPr>
          <a:xfrm>
            <a:off x="9420225" y="443484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Non-Food Packaging</a:t>
            </a:r>
          </a:p>
        </p:txBody>
      </p:sp>
      <p:cxnSp>
        <p:nvCxnSpPr>
          <p:cNvPr id="244" name="Connector 243"/>
          <p:cNvCxnSpPr/>
          <p:nvPr/>
        </p:nvCxnSpPr>
        <p:spPr>
          <a:xfrm>
            <a:off x="9182100" y="461200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45" name="TextBox 244"/>
          <p:cNvSpPr txBox="1"/>
          <p:nvPr/>
        </p:nvSpPr>
        <p:spPr>
          <a:xfrm>
            <a:off x="9401175" y="461200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46" name="TextBox 245"/>
          <p:cNvSpPr txBox="1"/>
          <p:nvPr/>
        </p:nvSpPr>
        <p:spPr>
          <a:xfrm>
            <a:off x="9591675" y="461200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Pharmaceutical and Healthcare</a:t>
            </a:r>
          </a:p>
        </p:txBody>
      </p:sp>
      <p:cxnSp>
        <p:nvCxnSpPr>
          <p:cNvPr id="247" name="Connector 246"/>
          <p:cNvCxnSpPr/>
          <p:nvPr/>
        </p:nvCxnSpPr>
        <p:spPr>
          <a:xfrm>
            <a:off x="9182100" y="478917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48" name="TextBox 247"/>
          <p:cNvSpPr txBox="1"/>
          <p:nvPr/>
        </p:nvSpPr>
        <p:spPr>
          <a:xfrm>
            <a:off x="9401175" y="478917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49" name="TextBox 248"/>
          <p:cNvSpPr txBox="1"/>
          <p:nvPr/>
        </p:nvSpPr>
        <p:spPr>
          <a:xfrm>
            <a:off x="9591675" y="478917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Personal Care and Cosmetics</a:t>
            </a:r>
          </a:p>
        </p:txBody>
      </p:sp>
      <p:cxnSp>
        <p:nvCxnSpPr>
          <p:cNvPr id="250" name="Connector 249"/>
          <p:cNvCxnSpPr/>
          <p:nvPr/>
        </p:nvCxnSpPr>
        <p:spPr>
          <a:xfrm>
            <a:off x="9182100" y="496633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1" name="TextBox 250"/>
          <p:cNvSpPr txBox="1"/>
          <p:nvPr/>
        </p:nvSpPr>
        <p:spPr>
          <a:xfrm>
            <a:off x="9401175" y="496633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52" name="TextBox 251"/>
          <p:cNvSpPr txBox="1"/>
          <p:nvPr/>
        </p:nvSpPr>
        <p:spPr>
          <a:xfrm>
            <a:off x="9591675" y="496633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Household Care</a:t>
            </a:r>
          </a:p>
        </p:txBody>
      </p:sp>
      <p:cxnSp>
        <p:nvCxnSpPr>
          <p:cNvPr id="253" name="Connector 252"/>
          <p:cNvCxnSpPr/>
          <p:nvPr/>
        </p:nvCxnSpPr>
        <p:spPr>
          <a:xfrm>
            <a:off x="9182100" y="514350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4" name="TextBox 253"/>
          <p:cNvSpPr txBox="1"/>
          <p:nvPr/>
        </p:nvSpPr>
        <p:spPr>
          <a:xfrm>
            <a:off x="9401175" y="51435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55" name="TextBox 254"/>
          <p:cNvSpPr txBox="1"/>
          <p:nvPr/>
        </p:nvSpPr>
        <p:spPr>
          <a:xfrm>
            <a:off x="9591675" y="514350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Chemicals and Agrochemicals</a:t>
            </a:r>
          </a:p>
        </p:txBody>
      </p:sp>
      <p:cxnSp>
        <p:nvCxnSpPr>
          <p:cNvPr id="256" name="Connector 255"/>
          <p:cNvCxnSpPr/>
          <p:nvPr/>
        </p:nvCxnSpPr>
        <p:spPr>
          <a:xfrm>
            <a:off x="9182100" y="53206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7" name="TextBox 256"/>
          <p:cNvSpPr txBox="1"/>
          <p:nvPr/>
        </p:nvSpPr>
        <p:spPr>
          <a:xfrm>
            <a:off x="9401175" y="53206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58" name="TextBox 257"/>
          <p:cNvSpPr txBox="1"/>
          <p:nvPr/>
        </p:nvSpPr>
        <p:spPr>
          <a:xfrm>
            <a:off x="9591675" y="532066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Electronics and Technical Products</a:t>
            </a:r>
          </a:p>
        </p:txBody>
      </p:sp>
      <p:sp>
        <p:nvSpPr>
          <p:cNvPr id="259" name="TextBox 25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Flexible Plastic Packaging Market Company Coverage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Companies profiled and benchmarked across the competition assessment</a:t>
            </a:r>
          </a:p>
        </p:txBody>
      </p:sp>
      <p:sp>
        <p:nvSpPr>
          <p:cNvPr id="10" name="TextBox 9"/>
          <p:cNvSpPr txBox="1"/>
          <p:nvPr/>
        </p:nvSpPr>
        <p:spPr>
          <a:xfrm>
            <a:off x="142875" y="1007261"/>
            <a:ext cx="11906250" cy="182537"/>
          </a:xfrm>
          <a:prstGeom prst="rect">
            <a:avLst/>
          </a:prstGeom>
          <a:noFill/>
        </p:spPr>
        <p:txBody>
          <a:bodyPr wrap="square" lIns="28575" rIns="28575" tIns="9525" bIns="9525" anchor="ctr">
            <a:spAutoFit/>
          </a:bodyPr>
          <a:lstStyle/>
          <a:p>
            <a:pPr algn="l"/>
            <a:r>
              <a:rPr sz="1100" b="0">
                <a:solidFill>
                  <a:srgbClr val="6C7A89"/>
                </a:solidFill>
                <a:latin typeface="Calibri"/>
              </a:rPr>
              <a:t>Companies covered in this study of the Flexible Plastic Packaging Market profiled and benchmarked in the Competition Assessment section.</a:t>
            </a:r>
          </a:p>
        </p:txBody>
      </p:sp>
      <p:sp>
        <p:nvSpPr>
          <p:cNvPr id="11" name="Rectangle 10"/>
          <p:cNvSpPr/>
          <p:nvPr/>
        </p:nvSpPr>
        <p:spPr>
          <a:xfrm>
            <a:off x="142875" y="2796123"/>
            <a:ext cx="5857875" cy="217219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42875" y="2796123"/>
            <a:ext cx="5857875" cy="273805"/>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2875" y="2860011"/>
            <a:ext cx="5857875" cy="164283"/>
          </a:xfrm>
          <a:prstGeom prst="rect">
            <a:avLst/>
          </a:prstGeom>
          <a:noFill/>
        </p:spPr>
        <p:txBody>
          <a:bodyPr wrap="square" lIns="28575" rIns="28575" tIns="9525" bIns="9525" anchor="ctr">
            <a:spAutoFit/>
          </a:bodyPr>
          <a:lstStyle/>
          <a:p>
            <a:pPr algn="ctr"/>
            <a:r>
              <a:rPr sz="1100" b="1">
                <a:solidFill>
                  <a:srgbClr val="FFFFFF"/>
                </a:solidFill>
                <a:latin typeface="Calibri"/>
              </a:rPr>
              <a:t>List Companies</a:t>
            </a:r>
          </a:p>
        </p:txBody>
      </p:sp>
      <p:sp>
        <p:nvSpPr>
          <p:cNvPr id="14" name="TextBox 13"/>
          <p:cNvSpPr txBox="1"/>
          <p:nvPr/>
        </p:nvSpPr>
        <p:spPr>
          <a:xfrm>
            <a:off x="333375" y="3069929"/>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5" name="TextBox 14"/>
          <p:cNvSpPr txBox="1"/>
          <p:nvPr/>
        </p:nvSpPr>
        <p:spPr>
          <a:xfrm>
            <a:off x="581025" y="3069929"/>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Company A</a:t>
            </a:r>
          </a:p>
        </p:txBody>
      </p:sp>
      <p:sp>
        <p:nvSpPr>
          <p:cNvPr id="16" name="Rectangle 15"/>
          <p:cNvSpPr/>
          <p:nvPr/>
        </p:nvSpPr>
        <p:spPr>
          <a:xfrm>
            <a:off x="152400" y="3544525"/>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152400" y="354452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33375" y="3544525"/>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9" name="TextBox 18"/>
          <p:cNvSpPr txBox="1"/>
          <p:nvPr/>
        </p:nvSpPr>
        <p:spPr>
          <a:xfrm>
            <a:off x="581025" y="3544525"/>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Company B</a:t>
            </a:r>
          </a:p>
        </p:txBody>
      </p:sp>
      <p:cxnSp>
        <p:nvCxnSpPr>
          <p:cNvPr id="20" name="Connector 19"/>
          <p:cNvCxnSpPr/>
          <p:nvPr/>
        </p:nvCxnSpPr>
        <p:spPr>
          <a:xfrm>
            <a:off x="152400" y="4019121"/>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33375" y="4019121"/>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2" name="TextBox 21"/>
          <p:cNvSpPr txBox="1"/>
          <p:nvPr/>
        </p:nvSpPr>
        <p:spPr>
          <a:xfrm>
            <a:off x="581025" y="4019121"/>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Company C</a:t>
            </a:r>
          </a:p>
        </p:txBody>
      </p:sp>
      <p:sp>
        <p:nvSpPr>
          <p:cNvPr id="23" name="Rectangle 22"/>
          <p:cNvSpPr/>
          <p:nvPr/>
        </p:nvSpPr>
        <p:spPr>
          <a:xfrm>
            <a:off x="152400" y="4493717"/>
            <a:ext cx="5838825" cy="465469"/>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152400" y="449371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33375" y="4493717"/>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6" name="TextBox 25"/>
          <p:cNvSpPr txBox="1"/>
          <p:nvPr/>
        </p:nvSpPr>
        <p:spPr>
          <a:xfrm>
            <a:off x="581025" y="4493717"/>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Company D</a:t>
            </a:r>
          </a:p>
        </p:txBody>
      </p:sp>
      <p:sp>
        <p:nvSpPr>
          <p:cNvPr id="27" name="Rectangle 26"/>
          <p:cNvSpPr/>
          <p:nvPr/>
        </p:nvSpPr>
        <p:spPr>
          <a:xfrm>
            <a:off x="6191250" y="2796123"/>
            <a:ext cx="5857875" cy="217219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91250" y="2796123"/>
            <a:ext cx="5857875" cy="273805"/>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91250" y="2860011"/>
            <a:ext cx="5857875" cy="164283"/>
          </a:xfrm>
          <a:prstGeom prst="rect">
            <a:avLst/>
          </a:prstGeom>
          <a:noFill/>
        </p:spPr>
        <p:txBody>
          <a:bodyPr wrap="square" lIns="28575" rIns="28575" tIns="9525" bIns="9525" anchor="ctr">
            <a:spAutoFit/>
          </a:bodyPr>
          <a:lstStyle/>
          <a:p>
            <a:pPr algn="ctr"/>
            <a:r>
              <a:rPr sz="1100" b="1">
                <a:solidFill>
                  <a:srgbClr val="FFFFFF"/>
                </a:solidFill>
                <a:latin typeface="Calibri"/>
              </a:rPr>
              <a:t>List Companies</a:t>
            </a:r>
          </a:p>
        </p:txBody>
      </p:sp>
      <p:sp>
        <p:nvSpPr>
          <p:cNvPr id="30" name="TextBox 29"/>
          <p:cNvSpPr txBox="1"/>
          <p:nvPr/>
        </p:nvSpPr>
        <p:spPr>
          <a:xfrm>
            <a:off x="6381750" y="3069929"/>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31" name="TextBox 30"/>
          <p:cNvSpPr txBox="1"/>
          <p:nvPr/>
        </p:nvSpPr>
        <p:spPr>
          <a:xfrm>
            <a:off x="6629400" y="3069929"/>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Company E</a:t>
            </a:r>
          </a:p>
        </p:txBody>
      </p:sp>
      <p:sp>
        <p:nvSpPr>
          <p:cNvPr id="32" name="Rectangle 31"/>
          <p:cNvSpPr/>
          <p:nvPr/>
        </p:nvSpPr>
        <p:spPr>
          <a:xfrm>
            <a:off x="6200775" y="3544525"/>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a:off x="6200775" y="354452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381750" y="3544525"/>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35" name="TextBox 34"/>
          <p:cNvSpPr txBox="1"/>
          <p:nvPr/>
        </p:nvSpPr>
        <p:spPr>
          <a:xfrm>
            <a:off x="6629400" y="3544525"/>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Company F</a:t>
            </a:r>
          </a:p>
        </p:txBody>
      </p:sp>
      <p:cxnSp>
        <p:nvCxnSpPr>
          <p:cNvPr id="36" name="Connector 35"/>
          <p:cNvCxnSpPr/>
          <p:nvPr/>
        </p:nvCxnSpPr>
        <p:spPr>
          <a:xfrm>
            <a:off x="6200775" y="4019121"/>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381750" y="4019121"/>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38" name="TextBox 37"/>
          <p:cNvSpPr txBox="1"/>
          <p:nvPr/>
        </p:nvSpPr>
        <p:spPr>
          <a:xfrm>
            <a:off x="6629400" y="4019121"/>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Company G</a:t>
            </a:r>
          </a:p>
        </p:txBody>
      </p:sp>
      <p:sp>
        <p:nvSpPr>
          <p:cNvPr id="39" name="Rectangle 38"/>
          <p:cNvSpPr/>
          <p:nvPr/>
        </p:nvSpPr>
        <p:spPr>
          <a:xfrm>
            <a:off x="6200775" y="4493717"/>
            <a:ext cx="5838825" cy="465469"/>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Connector 39"/>
          <p:cNvCxnSpPr/>
          <p:nvPr/>
        </p:nvCxnSpPr>
        <p:spPr>
          <a:xfrm>
            <a:off x="6200775" y="449371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381750" y="4493717"/>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42" name="TextBox 41"/>
          <p:cNvSpPr txBox="1"/>
          <p:nvPr/>
        </p:nvSpPr>
        <p:spPr>
          <a:xfrm>
            <a:off x="6629400" y="4493717"/>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Company H</a:t>
            </a:r>
          </a:p>
        </p:txBody>
      </p:sp>
      <p:sp>
        <p:nvSpPr>
          <p:cNvPr id="43" name="TextBox 42"/>
          <p:cNvSpPr txBox="1"/>
          <p:nvPr/>
        </p:nvSpPr>
        <p:spPr>
          <a:xfrm>
            <a:off x="142875" y="6337341"/>
            <a:ext cx="11906250" cy="182537"/>
          </a:xfrm>
          <a:prstGeom prst="rect">
            <a:avLst/>
          </a:prstGeom>
          <a:noFill/>
        </p:spPr>
        <p:txBody>
          <a:bodyPr wrap="square" lIns="28575" rIns="28575" tIns="9525" bIns="9525" anchor="ctr">
            <a:spAutoFit/>
          </a:bodyPr>
          <a:lstStyle/>
          <a:p>
            <a:pPr algn="l"/>
            <a:r>
              <a:rPr sz="1100" b="1">
                <a:solidFill>
                  <a:srgbClr val="B06A2C"/>
                </a:solidFill>
                <a:latin typeface="Calibri"/>
              </a:rPr>
              <a:t>Note: the list of companies is indicative and can be customised on request.</a:t>
            </a:r>
          </a:p>
        </p:txBody>
      </p:sp>
      <p:sp>
        <p:nvSpPr>
          <p:cNvPr id="44" name="TextBox 4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2173605"/>
            <a:ext cx="7239000" cy="247650"/>
          </a:xfrm>
          <a:prstGeom prst="rect">
            <a:avLst/>
          </a:prstGeom>
          <a:noFill/>
        </p:spPr>
        <p:txBody>
          <a:bodyPr wrap="none" lIns="0" tIns="0">
            <a:spAutoFit/>
          </a:bodyPr>
          <a:lstStyle/>
          <a:p>
            <a:r>
              <a:rPr sz="1400" b="0">
                <a:solidFill>
                  <a:srgbClr val="8FC8F2"/>
                </a:solidFill>
                <a:latin typeface="Calibri"/>
              </a:rPr>
              <a:t>Flexible Plastic Packaging Market</a:t>
            </a:r>
          </a:p>
        </p:txBody>
      </p:sp>
      <p:sp>
        <p:nvSpPr>
          <p:cNvPr id="6" name="FMI Breaker Title"/>
          <p:cNvSpPr txBox="1"/>
          <p:nvPr/>
        </p:nvSpPr>
        <p:spPr>
          <a:xfrm>
            <a:off x="914400" y="2478405"/>
            <a:ext cx="7239000" cy="514350"/>
          </a:xfrm>
          <a:prstGeom prst="rect">
            <a:avLst/>
          </a:prstGeom>
          <a:noFill/>
        </p:spPr>
        <p:txBody>
          <a:bodyPr wrap="square" lIns="0" rIns="0" tIns="0">
            <a:spAutoFit/>
          </a:bodyPr>
          <a:lstStyle/>
          <a:p>
            <a:r>
              <a:rPr sz="3000" b="1" cap="all" spc="400">
                <a:solidFill>
                  <a:srgbClr val="FFFFFF"/>
                </a:solidFill>
                <a:latin typeface="Calibri"/>
              </a:rPr>
              <a:t>Global Market Outlook</a:t>
            </a:r>
          </a:p>
        </p:txBody>
      </p:sp>
      <p:sp>
        <p:nvSpPr>
          <p:cNvPr id="7" name="TextBox 6"/>
          <p:cNvSpPr txBox="1"/>
          <p:nvPr/>
        </p:nvSpPr>
        <p:spPr>
          <a:xfrm>
            <a:off x="914400" y="3183255"/>
            <a:ext cx="7124700" cy="292989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Overview</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Market Analysis By Region</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Market Analysis By Segments</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Product Type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Principal Material / Barrier Technology</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Material Structure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Barrier Level</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Application</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Barrier Level Vs Application</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Flexible Plastic Packaging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Global Overview</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Pricing &amp; Price Index</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Volume &amp; Value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Country Outlook</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Flexible Plastic Packaging Market Summary, By Volume (Thousand MT)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global market volume growth, incremental opportunity and the geographies driving it, 2021–2036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(THOUSAND MT)</a:t>
            </a:r>
          </a:p>
          <a:p>
            <a:pPr algn="ctr">
              <a:lnSpc>
                <a:spcPct val="95000"/>
              </a:lnSpc>
            </a:pPr>
            <a:r>
              <a:rPr sz="1500" b="1">
                <a:solidFill>
                  <a:srgbClr val="0E72AE"/>
                </a:solidFill>
                <a:latin typeface="Calibri"/>
              </a:rPr>
              <a:t>41,083</a:t>
            </a:r>
          </a:p>
        </p:txBody>
      </p:sp>
      <p:sp>
        <p:nvSpPr>
          <p:cNvPr id="12" name="Rounded Rectangle 11"/>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(THOUSAND MT)</a:t>
            </a:r>
          </a:p>
          <a:p>
            <a:pPr algn="ctr">
              <a:lnSpc>
                <a:spcPct val="95000"/>
              </a:lnSpc>
            </a:pPr>
            <a:r>
              <a:rPr sz="1500" b="1">
                <a:solidFill>
                  <a:srgbClr val="0E72AE"/>
                </a:solidFill>
                <a:latin typeface="Calibri"/>
              </a:rPr>
              <a:t>68,611</a:t>
            </a:r>
          </a:p>
        </p:txBody>
      </p:sp>
      <p:sp>
        <p:nvSpPr>
          <p:cNvPr id="13" name="Rounded Rectangle 12"/>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4.2%</a:t>
            </a:r>
          </a:p>
        </p:txBody>
      </p:sp>
      <p:sp>
        <p:nvSpPr>
          <p:cNvPr id="14" name="Rounded Rectangle 13"/>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5.3%</a:t>
            </a:r>
          </a:p>
        </p:txBody>
      </p:sp>
      <p:sp>
        <p:nvSpPr>
          <p:cNvPr id="15" name="Rounded Rectangle 14"/>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7" name="Chart 16"/>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8" name="Rounded Rectangle 17"/>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(Thousand MT)</a:t>
            </a:r>
          </a:p>
        </p:txBody>
      </p:sp>
      <p:graphicFrame>
        <p:nvGraphicFramePr>
          <p:cNvPr id="20" name="Chart 19"/>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1" name="Rounded Rectangle 20"/>
          <p:cNvSpPr/>
          <p:nvPr/>
        </p:nvSpPr>
        <p:spPr>
          <a:xfrm>
            <a:off x="7915275" y="1627887"/>
            <a:ext cx="41338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3" name="Rectangle 22"/>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E2E2E"/>
                </a:solidFill>
                <a:latin typeface="Calibri"/>
              </a:rPr>
              <a:t>Global flexible plastic packaging market is projected to register 1.7X increase in volume by the end of forecast period, 2036. Global flexible plastic packaging market volume stood at 39,304 Thousand MT in 2025 and is expected to reach 68,611 Thousand MT by 2036 end, at a CAGR of 5.3%.</a:t>
            </a:r>
          </a:p>
          <a:p>
            <a:pPr algn="l">
              <a:lnSpc>
                <a:spcPct val="110000"/>
              </a:lnSpc>
              <a:spcBef>
                <a:spcPts val="0"/>
              </a:spcBef>
              <a:spcAft>
                <a:spcPts val="500"/>
              </a:spcAft>
            </a:pPr>
            <a:r>
              <a:rPr sz="1100" b="0">
                <a:solidFill>
                  <a:srgbClr val="2E2E2E"/>
                </a:solidFill>
                <a:latin typeface="Calibri"/>
              </a:rPr>
              <a:t>Value is projected to grow faster than volume over the forecast period, owing to an increase in average selling price.</a:t>
            </a:r>
          </a:p>
        </p:txBody>
      </p:sp>
      <p:sp>
        <p:nvSpPr>
          <p:cNvPr id="25" name="Rounded Rectangle 24"/>
          <p:cNvSpPr/>
          <p:nvPr/>
        </p:nvSpPr>
        <p:spPr>
          <a:xfrm>
            <a:off x="7915275" y="4037375"/>
            <a:ext cx="413385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7" name="Rectangle 26"/>
          <p:cNvSpPr/>
          <p:nvPr/>
        </p:nvSpPr>
        <p:spPr>
          <a:xfrm>
            <a:off x="8048625" y="436122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'Middle East &amp; Africa' leads regional growth at 6.9% CAGR.</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Demand concentrates in 'Rollstock Films' within Product Type.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Product innovation and premiumisation lifting value.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Expanding end-use applications and access.</a:t>
            </a:r>
          </a:p>
        </p:txBody>
      </p:sp>
      <p:sp>
        <p:nvSpPr>
          <p:cNvPr id="29" name="TextBox 2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Flexible Plastic Packaging Market Pricing &amp; Regional Price Index</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average price by sub-segment and price variation by region, highlighting where pricing power sits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1052895"/>
            <a:ext cx="7696200" cy="2665040"/>
          </a:xfrm>
          <a:prstGeom prst="roundRect">
            <a:avLst>
              <a:gd name="adj" fmla="val 28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11004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by Product Type  ·  range across 2021–2036 (US$/MT)</a:t>
            </a:r>
          </a:p>
        </p:txBody>
      </p:sp>
      <p:cxnSp>
        <p:nvCxnSpPr>
          <p:cNvPr id="13" name="Connector 12"/>
          <p:cNvCxnSpPr/>
          <p:nvPr/>
        </p:nvCxnSpPr>
        <p:spPr>
          <a:xfrm>
            <a:off x="657225" y="333693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286593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7225" y="239494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7225" y="192394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57225" y="1452945"/>
            <a:ext cx="0" cy="188399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333693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8650" y="286593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28650" y="239494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28650" y="192394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28650" y="145294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24" name="FMI Scale tick"/>
          <p:cNvSpPr txBox="1"/>
          <p:nvPr/>
        </p:nvSpPr>
        <p:spPr>
          <a:xfrm>
            <a:off x="219075" y="327026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2,263</a:t>
            </a:r>
          </a:p>
        </p:txBody>
      </p:sp>
      <p:sp>
        <p:nvSpPr>
          <p:cNvPr id="25" name="FMI Scale tick"/>
          <p:cNvSpPr txBox="1"/>
          <p:nvPr/>
        </p:nvSpPr>
        <p:spPr>
          <a:xfrm>
            <a:off x="219075" y="2328265"/>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3,855</a:t>
            </a:r>
          </a:p>
        </p:txBody>
      </p:sp>
      <p:sp>
        <p:nvSpPr>
          <p:cNvPr id="26" name="FMI Scale tick"/>
          <p:cNvSpPr txBox="1"/>
          <p:nvPr/>
        </p:nvSpPr>
        <p:spPr>
          <a:xfrm>
            <a:off x="219075" y="138627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5,446</a:t>
            </a:r>
          </a:p>
        </p:txBody>
      </p:sp>
      <p:cxnSp>
        <p:nvCxnSpPr>
          <p:cNvPr id="27" name="Connector 26"/>
          <p:cNvCxnSpPr/>
          <p:nvPr/>
        </p:nvCxnSpPr>
        <p:spPr>
          <a:xfrm flipV="1">
            <a:off x="1533525" y="2607510"/>
            <a:ext cx="0" cy="263391"/>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402080" y="2870901"/>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402080" y="2607510"/>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1314450" y="2714922"/>
            <a:ext cx="438150" cy="137009"/>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1314450" y="2796081"/>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57225" y="2455110"/>
            <a:ext cx="1752600" cy="133350"/>
          </a:xfrm>
          <a:prstGeom prst="rect">
            <a:avLst/>
          </a:prstGeom>
          <a:noFill/>
        </p:spPr>
        <p:txBody>
          <a:bodyPr wrap="square" lIns="28575" rIns="28575" tIns="9525" bIns="9525">
            <a:spAutoFit/>
          </a:bodyPr>
          <a:lstStyle/>
          <a:p>
            <a:pPr algn="ctr"/>
            <a:r>
              <a:rPr sz="1100" b="1">
                <a:solidFill>
                  <a:srgbClr val="0B2E4A"/>
                </a:solidFill>
                <a:latin typeface="Calibri"/>
              </a:rPr>
              <a:t>3,177</a:t>
            </a:r>
          </a:p>
        </p:txBody>
      </p:sp>
      <p:cxnSp>
        <p:nvCxnSpPr>
          <p:cNvPr id="33" name="Connector 32"/>
          <p:cNvCxnSpPr/>
          <p:nvPr/>
        </p:nvCxnSpPr>
        <p:spPr>
          <a:xfrm flipV="1">
            <a:off x="3286125" y="1670329"/>
            <a:ext cx="0" cy="425701"/>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3154680" y="2096030"/>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154680" y="167032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3067050" y="1834937"/>
            <a:ext cx="438150" cy="215820"/>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Connector 36"/>
          <p:cNvCxnSpPr/>
          <p:nvPr/>
        </p:nvCxnSpPr>
        <p:spPr>
          <a:xfrm>
            <a:off x="3067050" y="1959251"/>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409825" y="1517929"/>
            <a:ext cx="1752600" cy="133350"/>
          </a:xfrm>
          <a:prstGeom prst="rect">
            <a:avLst/>
          </a:prstGeom>
          <a:noFill/>
        </p:spPr>
        <p:txBody>
          <a:bodyPr wrap="square" lIns="28575" rIns="28575" tIns="9525" bIns="9525">
            <a:spAutoFit/>
          </a:bodyPr>
          <a:lstStyle/>
          <a:p>
            <a:pPr algn="ctr"/>
            <a:r>
              <a:rPr sz="1100" b="1">
                <a:solidFill>
                  <a:srgbClr val="0B2E4A"/>
                </a:solidFill>
                <a:latin typeface="Calibri"/>
              </a:rPr>
              <a:t>4,591</a:t>
            </a:r>
          </a:p>
        </p:txBody>
      </p:sp>
      <p:cxnSp>
        <p:nvCxnSpPr>
          <p:cNvPr id="39" name="Connector 38"/>
          <p:cNvCxnSpPr/>
          <p:nvPr/>
        </p:nvCxnSpPr>
        <p:spPr>
          <a:xfrm flipV="1">
            <a:off x="5038725" y="2754018"/>
            <a:ext cx="0" cy="269385"/>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4907280" y="302340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4907280" y="275401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4819650" y="2862805"/>
            <a:ext cx="438150" cy="139536"/>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4819650" y="2945303"/>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4162425" y="2601618"/>
            <a:ext cx="1752600" cy="133350"/>
          </a:xfrm>
          <a:prstGeom prst="rect">
            <a:avLst/>
          </a:prstGeom>
          <a:noFill/>
        </p:spPr>
        <p:txBody>
          <a:bodyPr wrap="square" lIns="28575" rIns="28575" tIns="9525" bIns="9525">
            <a:spAutoFit/>
          </a:bodyPr>
          <a:lstStyle/>
          <a:p>
            <a:pPr algn="ctr"/>
            <a:r>
              <a:rPr sz="1100" b="1">
                <a:solidFill>
                  <a:srgbClr val="0B2E4A"/>
                </a:solidFill>
                <a:latin typeface="Calibri"/>
              </a:rPr>
              <a:t>2,925</a:t>
            </a:r>
          </a:p>
        </p:txBody>
      </p:sp>
      <p:cxnSp>
        <p:nvCxnSpPr>
          <p:cNvPr id="45" name="Connector 44"/>
          <p:cNvCxnSpPr/>
          <p:nvPr/>
        </p:nvCxnSpPr>
        <p:spPr>
          <a:xfrm flipV="1">
            <a:off x="6791325" y="2892072"/>
            <a:ext cx="0" cy="22748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659880" y="3119552"/>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6659880" y="2892072"/>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6572250" y="2985704"/>
            <a:ext cx="438150" cy="117214"/>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9" name="Connector 48"/>
          <p:cNvCxnSpPr/>
          <p:nvPr/>
        </p:nvCxnSpPr>
        <p:spPr>
          <a:xfrm>
            <a:off x="6572250" y="3055298"/>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915025" y="2739672"/>
            <a:ext cx="1752600" cy="133350"/>
          </a:xfrm>
          <a:prstGeom prst="rect">
            <a:avLst/>
          </a:prstGeom>
          <a:noFill/>
        </p:spPr>
        <p:txBody>
          <a:bodyPr wrap="square" lIns="28575" rIns="28575" tIns="9525" bIns="9525">
            <a:spAutoFit/>
          </a:bodyPr>
          <a:lstStyle/>
          <a:p>
            <a:pPr algn="ctr"/>
            <a:r>
              <a:rPr sz="1100" b="1">
                <a:solidFill>
                  <a:srgbClr val="0B2E4A"/>
                </a:solidFill>
                <a:latin typeface="Calibri"/>
              </a:rPr>
              <a:t>2,739</a:t>
            </a:r>
          </a:p>
        </p:txBody>
      </p:sp>
      <p:sp>
        <p:nvSpPr>
          <p:cNvPr id="51" name="TextBox 50"/>
          <p:cNvSpPr txBox="1"/>
          <p:nvPr/>
        </p:nvSpPr>
        <p:spPr>
          <a:xfrm>
            <a:off x="657225" y="3365510"/>
            <a:ext cx="1752600" cy="285750"/>
          </a:xfrm>
          <a:prstGeom prst="rect">
            <a:avLst/>
          </a:prstGeom>
          <a:noFill/>
        </p:spPr>
        <p:txBody>
          <a:bodyPr wrap="square" lIns="28575" rIns="28575" tIns="9525" bIns="9525">
            <a:spAutoFit/>
          </a:bodyPr>
          <a:lstStyle/>
          <a:p>
            <a:pPr algn="ctr"/>
            <a:r>
              <a:rPr sz="1100" b="0">
                <a:solidFill>
                  <a:srgbClr val="2E2E2E"/>
                </a:solidFill>
                <a:latin typeface="Calibri"/>
              </a:rPr>
              <a:t>Rollstock Films</a:t>
            </a:r>
          </a:p>
        </p:txBody>
      </p:sp>
      <p:sp>
        <p:nvSpPr>
          <p:cNvPr id="52" name="TextBox 51"/>
          <p:cNvSpPr txBox="1"/>
          <p:nvPr/>
        </p:nvSpPr>
        <p:spPr>
          <a:xfrm>
            <a:off x="2409825" y="3365510"/>
            <a:ext cx="1752600" cy="285750"/>
          </a:xfrm>
          <a:prstGeom prst="rect">
            <a:avLst/>
          </a:prstGeom>
          <a:noFill/>
        </p:spPr>
        <p:txBody>
          <a:bodyPr wrap="square" lIns="28575" rIns="28575" tIns="9525" bIns="9525">
            <a:spAutoFit/>
          </a:bodyPr>
          <a:lstStyle/>
          <a:p>
            <a:pPr algn="ctr"/>
            <a:r>
              <a:rPr sz="1100" b="0">
                <a:solidFill>
                  <a:srgbClr val="2E2E2E"/>
                </a:solidFill>
                <a:latin typeface="Calibri"/>
              </a:rPr>
              <a:t>Barrier Casings</a:t>
            </a:r>
          </a:p>
        </p:txBody>
      </p:sp>
      <p:sp>
        <p:nvSpPr>
          <p:cNvPr id="53" name="TextBox 52"/>
          <p:cNvSpPr txBox="1"/>
          <p:nvPr/>
        </p:nvSpPr>
        <p:spPr>
          <a:xfrm>
            <a:off x="4162425" y="3365510"/>
            <a:ext cx="1752600" cy="285750"/>
          </a:xfrm>
          <a:prstGeom prst="rect">
            <a:avLst/>
          </a:prstGeom>
          <a:noFill/>
        </p:spPr>
        <p:txBody>
          <a:bodyPr wrap="square" lIns="28575" rIns="28575" tIns="9525" bIns="9525">
            <a:spAutoFit/>
          </a:bodyPr>
          <a:lstStyle/>
          <a:p>
            <a:pPr algn="ctr"/>
            <a:r>
              <a:rPr sz="1100" b="0">
                <a:solidFill>
                  <a:srgbClr val="2E2E2E"/>
                </a:solidFill>
                <a:latin typeface="Calibri"/>
              </a:rPr>
              <a:t>Premade Pouches &amp; Bags</a:t>
            </a:r>
          </a:p>
        </p:txBody>
      </p:sp>
      <p:sp>
        <p:nvSpPr>
          <p:cNvPr id="54" name="TextBox 53"/>
          <p:cNvSpPr txBox="1"/>
          <p:nvPr/>
        </p:nvSpPr>
        <p:spPr>
          <a:xfrm>
            <a:off x="5915025" y="3365510"/>
            <a:ext cx="1752600" cy="285750"/>
          </a:xfrm>
          <a:prstGeom prst="rect">
            <a:avLst/>
          </a:prstGeom>
          <a:noFill/>
        </p:spPr>
        <p:txBody>
          <a:bodyPr wrap="square" lIns="28575" rIns="28575" tIns="9525" bIns="9525">
            <a:spAutoFit/>
          </a:bodyPr>
          <a:lstStyle/>
          <a:p>
            <a:pPr algn="ctr"/>
            <a:r>
              <a:rPr sz="1100" b="0">
                <a:solidFill>
                  <a:srgbClr val="2E2E2E"/>
                </a:solidFill>
                <a:latin typeface="Calibri"/>
              </a:rPr>
              <a:t>Sachets &amp; Stick Packs</a:t>
            </a:r>
          </a:p>
        </p:txBody>
      </p:sp>
      <p:sp>
        <p:nvSpPr>
          <p:cNvPr id="55" name="Rounded Rectangle 54"/>
          <p:cNvSpPr/>
          <p:nvPr/>
        </p:nvSpPr>
        <p:spPr>
          <a:xfrm>
            <a:off x="142875" y="3772696"/>
            <a:ext cx="7696200" cy="2783689"/>
          </a:xfrm>
          <a:prstGeom prst="roundRect">
            <a:avLst>
              <a:gd name="adj" fmla="val 27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38125" y="3829846"/>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Region vs Global  ·  2026–2036</a:t>
            </a:r>
          </a:p>
        </p:txBody>
      </p:sp>
      <p:cxnSp>
        <p:nvCxnSpPr>
          <p:cNvPr id="57" name="Connector 56"/>
          <p:cNvCxnSpPr/>
          <p:nvPr/>
        </p:nvCxnSpPr>
        <p:spPr>
          <a:xfrm>
            <a:off x="619125" y="4320442"/>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619125" y="4730109"/>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619125" y="513977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619125" y="5549443"/>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619125" y="5959109"/>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619125" y="4320442"/>
            <a:ext cx="0" cy="1638667"/>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590550" y="4320442"/>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590550" y="4730109"/>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590550" y="513977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590550" y="554944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590550" y="5959109"/>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68" name="FMI Scale tick"/>
          <p:cNvSpPr txBox="1"/>
          <p:nvPr/>
        </p:nvSpPr>
        <p:spPr>
          <a:xfrm>
            <a:off x="219075" y="4253767"/>
            <a:ext cx="361950" cy="133350"/>
          </a:xfrm>
          <a:prstGeom prst="rect">
            <a:avLst/>
          </a:prstGeom>
          <a:noFill/>
        </p:spPr>
        <p:txBody>
          <a:bodyPr wrap="none" lIns="0" rIns="0" tIns="0" bIns="0" anchor="ctr">
            <a:spAutoFit/>
          </a:bodyPr>
          <a:lstStyle/>
          <a:p>
            <a:pPr algn="r"/>
            <a:r>
              <a:rPr sz="1100" b="0">
                <a:solidFill>
                  <a:srgbClr val="6C7A89"/>
                </a:solidFill>
                <a:latin typeface="Calibri"/>
              </a:rPr>
              <a:t>+15%</a:t>
            </a:r>
          </a:p>
        </p:txBody>
      </p:sp>
      <p:sp>
        <p:nvSpPr>
          <p:cNvPr id="69" name="FMI Scale tick"/>
          <p:cNvSpPr txBox="1"/>
          <p:nvPr/>
        </p:nvSpPr>
        <p:spPr>
          <a:xfrm>
            <a:off x="219075" y="4663434"/>
            <a:ext cx="361950" cy="133350"/>
          </a:xfrm>
          <a:prstGeom prst="rect">
            <a:avLst/>
          </a:prstGeom>
          <a:noFill/>
        </p:spPr>
        <p:txBody>
          <a:bodyPr wrap="none" lIns="0" rIns="0" tIns="0" bIns="0" anchor="ctr">
            <a:spAutoFit/>
          </a:bodyPr>
          <a:lstStyle/>
          <a:p>
            <a:pPr algn="r"/>
            <a:r>
              <a:rPr sz="1100" b="0">
                <a:solidFill>
                  <a:srgbClr val="6C7A89"/>
                </a:solidFill>
                <a:latin typeface="Calibri"/>
              </a:rPr>
              <a:t>+7%</a:t>
            </a:r>
          </a:p>
        </p:txBody>
      </p:sp>
      <p:sp>
        <p:nvSpPr>
          <p:cNvPr id="70" name="FMI Scale tick"/>
          <p:cNvSpPr txBox="1"/>
          <p:nvPr/>
        </p:nvSpPr>
        <p:spPr>
          <a:xfrm>
            <a:off x="107156" y="5073101"/>
            <a:ext cx="473869" cy="133350"/>
          </a:xfrm>
          <a:prstGeom prst="rect">
            <a:avLst/>
          </a:prstGeom>
          <a:noFill/>
        </p:spPr>
        <p:txBody>
          <a:bodyPr wrap="square" lIns="28575" rIns="28575" tIns="9525" bIns="9525" anchor="ctr">
            <a:spAutoFit/>
          </a:bodyPr>
          <a:lstStyle/>
          <a:p>
            <a:pPr algn="r"/>
            <a:r>
              <a:rPr sz="1100" b="1">
                <a:solidFill>
                  <a:srgbClr val="6C7A89"/>
                </a:solidFill>
                <a:latin typeface="Calibri"/>
              </a:rPr>
              <a:t>Global</a:t>
            </a:r>
          </a:p>
        </p:txBody>
      </p:sp>
      <p:sp>
        <p:nvSpPr>
          <p:cNvPr id="71" name="FMI Scale tick"/>
          <p:cNvSpPr txBox="1"/>
          <p:nvPr/>
        </p:nvSpPr>
        <p:spPr>
          <a:xfrm>
            <a:off x="219075" y="5482768"/>
            <a:ext cx="361950" cy="133350"/>
          </a:xfrm>
          <a:prstGeom prst="rect">
            <a:avLst/>
          </a:prstGeom>
          <a:noFill/>
        </p:spPr>
        <p:txBody>
          <a:bodyPr wrap="none" lIns="0" rIns="0" tIns="0" bIns="0" anchor="ctr">
            <a:spAutoFit/>
          </a:bodyPr>
          <a:lstStyle/>
          <a:p>
            <a:pPr algn="r"/>
            <a:r>
              <a:rPr sz="1100" b="0">
                <a:solidFill>
                  <a:srgbClr val="6C7A89"/>
                </a:solidFill>
                <a:latin typeface="Calibri"/>
              </a:rPr>
              <a:t>-7%</a:t>
            </a:r>
          </a:p>
        </p:txBody>
      </p:sp>
      <p:sp>
        <p:nvSpPr>
          <p:cNvPr id="72" name="FMI Scale tick"/>
          <p:cNvSpPr txBox="1"/>
          <p:nvPr/>
        </p:nvSpPr>
        <p:spPr>
          <a:xfrm>
            <a:off x="219075" y="5892434"/>
            <a:ext cx="361950" cy="133350"/>
          </a:xfrm>
          <a:prstGeom prst="rect">
            <a:avLst/>
          </a:prstGeom>
          <a:noFill/>
        </p:spPr>
        <p:txBody>
          <a:bodyPr wrap="none" lIns="0" rIns="0" tIns="0" bIns="0" anchor="ctr">
            <a:spAutoFit/>
          </a:bodyPr>
          <a:lstStyle/>
          <a:p>
            <a:pPr algn="r"/>
            <a:r>
              <a:rPr sz="1100" b="0">
                <a:solidFill>
                  <a:srgbClr val="6C7A89"/>
                </a:solidFill>
                <a:latin typeface="Calibri"/>
              </a:rPr>
              <a:t>-15%</a:t>
            </a:r>
          </a:p>
        </p:txBody>
      </p:sp>
      <p:cxnSp>
        <p:nvCxnSpPr>
          <p:cNvPr id="73" name="Connector 72"/>
          <p:cNvCxnSpPr/>
          <p:nvPr/>
        </p:nvCxnSpPr>
        <p:spPr>
          <a:xfrm>
            <a:off x="619125" y="5139776"/>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74" name="Rectangle 73"/>
          <p:cNvSpPr/>
          <p:nvPr/>
        </p:nvSpPr>
        <p:spPr>
          <a:xfrm>
            <a:off x="977900" y="4423458"/>
            <a:ext cx="457200" cy="716318"/>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FMI Data Label"/>
          <p:cNvSpPr txBox="1"/>
          <p:nvPr/>
        </p:nvSpPr>
        <p:spPr>
          <a:xfrm>
            <a:off x="619125" y="4280583"/>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+12.8%</a:t>
            </a:r>
          </a:p>
        </p:txBody>
      </p:sp>
      <p:sp>
        <p:nvSpPr>
          <p:cNvPr id="76" name="Rectangle 75"/>
          <p:cNvSpPr/>
          <p:nvPr/>
        </p:nvSpPr>
        <p:spPr>
          <a:xfrm>
            <a:off x="2152650" y="5139776"/>
            <a:ext cx="457200" cy="259976"/>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FMI Data Label"/>
          <p:cNvSpPr txBox="1"/>
          <p:nvPr/>
        </p:nvSpPr>
        <p:spPr>
          <a:xfrm>
            <a:off x="1793875" y="5409277"/>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-4.6%</a:t>
            </a:r>
          </a:p>
        </p:txBody>
      </p:sp>
      <p:sp>
        <p:nvSpPr>
          <p:cNvPr id="78" name="Rectangle 77"/>
          <p:cNvSpPr/>
          <p:nvPr/>
        </p:nvSpPr>
        <p:spPr>
          <a:xfrm>
            <a:off x="3327400" y="4730578"/>
            <a:ext cx="457200" cy="409198"/>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FMI Data Label"/>
          <p:cNvSpPr txBox="1"/>
          <p:nvPr/>
        </p:nvSpPr>
        <p:spPr>
          <a:xfrm>
            <a:off x="2968625" y="4587703"/>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+7.3%</a:t>
            </a:r>
          </a:p>
        </p:txBody>
      </p:sp>
      <p:sp>
        <p:nvSpPr>
          <p:cNvPr id="80" name="Rectangle 79"/>
          <p:cNvSpPr/>
          <p:nvPr/>
        </p:nvSpPr>
        <p:spPr>
          <a:xfrm>
            <a:off x="4502150" y="5139776"/>
            <a:ext cx="457200" cy="484520"/>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FMI Data Label"/>
          <p:cNvSpPr txBox="1"/>
          <p:nvPr/>
        </p:nvSpPr>
        <p:spPr>
          <a:xfrm>
            <a:off x="4143375" y="5633820"/>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-8.6%</a:t>
            </a:r>
          </a:p>
        </p:txBody>
      </p:sp>
      <p:sp>
        <p:nvSpPr>
          <p:cNvPr id="82" name="Rectangle 81"/>
          <p:cNvSpPr/>
          <p:nvPr/>
        </p:nvSpPr>
        <p:spPr>
          <a:xfrm>
            <a:off x="5676900" y="5139776"/>
            <a:ext cx="457200" cy="544026"/>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FMI Data Label"/>
          <p:cNvSpPr txBox="1"/>
          <p:nvPr/>
        </p:nvSpPr>
        <p:spPr>
          <a:xfrm>
            <a:off x="5318125" y="5693326"/>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-9.7%</a:t>
            </a:r>
          </a:p>
        </p:txBody>
      </p:sp>
      <p:sp>
        <p:nvSpPr>
          <p:cNvPr id="84" name="Rectangle 83"/>
          <p:cNvSpPr/>
          <p:nvPr/>
        </p:nvSpPr>
        <p:spPr>
          <a:xfrm>
            <a:off x="6851650" y="5139776"/>
            <a:ext cx="457200" cy="171399"/>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MI Data Label"/>
          <p:cNvSpPr txBox="1"/>
          <p:nvPr/>
        </p:nvSpPr>
        <p:spPr>
          <a:xfrm>
            <a:off x="6492875" y="5320700"/>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-3.1%</a:t>
            </a:r>
          </a:p>
        </p:txBody>
      </p:sp>
      <p:sp>
        <p:nvSpPr>
          <p:cNvPr id="86" name="TextBox 85"/>
          <p:cNvSpPr txBox="1"/>
          <p:nvPr/>
        </p:nvSpPr>
        <p:spPr>
          <a:xfrm>
            <a:off x="619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North America</a:t>
            </a:r>
          </a:p>
        </p:txBody>
      </p:sp>
      <p:sp>
        <p:nvSpPr>
          <p:cNvPr id="87" name="TextBox 86"/>
          <p:cNvSpPr txBox="1"/>
          <p:nvPr/>
        </p:nvSpPr>
        <p:spPr>
          <a:xfrm>
            <a:off x="1793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Latin America</a:t>
            </a:r>
          </a:p>
        </p:txBody>
      </p:sp>
      <p:sp>
        <p:nvSpPr>
          <p:cNvPr id="88" name="TextBox 87"/>
          <p:cNvSpPr txBox="1"/>
          <p:nvPr/>
        </p:nvSpPr>
        <p:spPr>
          <a:xfrm>
            <a:off x="29686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Europe</a:t>
            </a:r>
          </a:p>
        </p:txBody>
      </p:sp>
      <p:sp>
        <p:nvSpPr>
          <p:cNvPr id="89" name="TextBox 88"/>
          <p:cNvSpPr txBox="1"/>
          <p:nvPr/>
        </p:nvSpPr>
        <p:spPr>
          <a:xfrm>
            <a:off x="41433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East Asia</a:t>
            </a:r>
          </a:p>
        </p:txBody>
      </p:sp>
      <p:sp>
        <p:nvSpPr>
          <p:cNvPr id="90" name="TextBox 89"/>
          <p:cNvSpPr txBox="1"/>
          <p:nvPr/>
        </p:nvSpPr>
        <p:spPr>
          <a:xfrm>
            <a:off x="5318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South Asia &amp; Pacific</a:t>
            </a:r>
          </a:p>
        </p:txBody>
      </p:sp>
      <p:sp>
        <p:nvSpPr>
          <p:cNvPr id="91" name="TextBox 90"/>
          <p:cNvSpPr txBox="1"/>
          <p:nvPr/>
        </p:nvSpPr>
        <p:spPr>
          <a:xfrm>
            <a:off x="6492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Middle East &amp; Africa</a:t>
            </a:r>
          </a:p>
        </p:txBody>
      </p:sp>
      <p:sp>
        <p:nvSpPr>
          <p:cNvPr id="92" name="Rounded Rectangle 91"/>
          <p:cNvSpPr/>
          <p:nvPr/>
        </p:nvSpPr>
        <p:spPr>
          <a:xfrm>
            <a:off x="7915275" y="1052895"/>
            <a:ext cx="4133850" cy="5503490"/>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8048625" y="1138620"/>
            <a:ext cx="38671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94" name="Rectangle 93"/>
          <p:cNvSpPr/>
          <p:nvPr/>
        </p:nvSpPr>
        <p:spPr>
          <a:xfrm>
            <a:off x="8048625" y="137674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8048625" y="1462470"/>
            <a:ext cx="3867150" cy="501771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Barrier casings segment is expected to command the highest average price of US$ 5,079 per MT in 2036. Average selling price of flexible plastic packaging is estimated at US$ 3,076 per MT in 2025 and is projected to increase to US$ 3,501 per MT by 2036. North America is the highest-priced region, while South Asia &amp; Pacific is the most price-competitive market.</a:t>
            </a:r>
          </a:p>
          <a:p>
            <a:pPr algn="l">
              <a:lnSpc>
                <a:spcPct val="110000"/>
              </a:lnSpc>
              <a:spcBef>
                <a:spcPts val="0"/>
              </a:spcBef>
              <a:spcAft>
                <a:spcPts val="500"/>
              </a:spcAft>
            </a:pPr>
            <a:r>
              <a:rPr sz="1150" b="0">
                <a:solidFill>
                  <a:srgbClr val="2E2E2E"/>
                </a:solidFill>
                <a:latin typeface="Calibri"/>
              </a:rPr>
              <a:t>Against the global price of 3,297 US$/MT, 2 of 6 regions price above and 4 below. 'North America' is the dearest at +12.8% versus Global, 'South Asia &amp; Pacific' the cheapest at -9.7% pointing to premiumisation headroom in the lower-priced regions.</a:t>
            </a:r>
          </a:p>
          <a:p>
            <a:pPr algn="l">
              <a:lnSpc>
                <a:spcPct val="110000"/>
              </a:lnSpc>
              <a:spcBef>
                <a:spcPts val="0"/>
              </a:spcBef>
              <a:spcAft>
                <a:spcPts val="500"/>
              </a:spcAft>
            </a:pPr>
            <a:r>
              <a:rPr sz="1150" b="0">
                <a:solidFill>
                  <a:srgbClr val="2E2E2E"/>
                </a:solidFill>
                <a:latin typeface="Calibri"/>
              </a:rPr>
              <a:t>Value is set to compound at 6.6% against 5.3% for volume, so average price climbs from US$ 3,100 per MT in 2026 to US$ 3,501 per MT in 2036. The gap reflects a richer mix as high-barrier, mono-material and specialty-coated structures replace commodity film, plus the cost of recycled-content resin and extended producer responsibility compliance. Premium formats keep lifting the average.</a:t>
            </a:r>
          </a:p>
        </p:txBody>
      </p:sp>
      <p:sp>
        <p:nvSpPr>
          <p:cNvPr id="96" name="TextBox 9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Flexible Plastic Packaging Market Summary, By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global market value growth, incremental opportunity and the geographies driving it, 2021–2036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(US$ MN)</a:t>
            </a:r>
          </a:p>
          <a:p>
            <a:pPr algn="ctr">
              <a:lnSpc>
                <a:spcPct val="95000"/>
              </a:lnSpc>
            </a:pPr>
            <a:r>
              <a:rPr sz="1500" b="1">
                <a:solidFill>
                  <a:srgbClr val="0E72AE"/>
                </a:solidFill>
                <a:latin typeface="Calibri"/>
              </a:rPr>
              <a:t>127,346</a:t>
            </a:r>
          </a:p>
        </p:txBody>
      </p:sp>
      <p:sp>
        <p:nvSpPr>
          <p:cNvPr id="12" name="Rounded Rectangle 11"/>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0E72AE"/>
                </a:solidFill>
                <a:latin typeface="Calibri"/>
              </a:rPr>
              <a:t>240,208</a:t>
            </a:r>
          </a:p>
        </p:txBody>
      </p:sp>
      <p:sp>
        <p:nvSpPr>
          <p:cNvPr id="13" name="Rounded Rectangle 12"/>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4.5%</a:t>
            </a:r>
          </a:p>
        </p:txBody>
      </p:sp>
      <p:sp>
        <p:nvSpPr>
          <p:cNvPr id="14" name="Rounded Rectangle 13"/>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6.6%</a:t>
            </a:r>
          </a:p>
        </p:txBody>
      </p:sp>
      <p:sp>
        <p:nvSpPr>
          <p:cNvPr id="15" name="Rounded Rectangle 14"/>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7" name="Chart 16"/>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8" name="Rounded Rectangle 17"/>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(US$ Mn)</a:t>
            </a:r>
          </a:p>
        </p:txBody>
      </p:sp>
      <p:graphicFrame>
        <p:nvGraphicFramePr>
          <p:cNvPr id="20" name="Chart 19"/>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1" name="Rounded Rectangle 20"/>
          <p:cNvSpPr/>
          <p:nvPr/>
        </p:nvSpPr>
        <p:spPr>
          <a:xfrm>
            <a:off x="7915275" y="1627887"/>
            <a:ext cx="41338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3" name="Rectangle 22"/>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E2E2E"/>
                </a:solidFill>
                <a:latin typeface="Calibri"/>
              </a:rPr>
              <a:t>Flexible plastic packaging market is projected to register 2.0X increase in its revenue by the end of forecast period, 2036. Global flexible plastic packaging market is expected to be valued at US$ 240,208 Mn by 2036 end.</a:t>
            </a:r>
          </a:p>
          <a:p>
            <a:pPr algn="l">
              <a:lnSpc>
                <a:spcPct val="110000"/>
              </a:lnSpc>
              <a:spcBef>
                <a:spcPts val="0"/>
              </a:spcBef>
              <a:spcAft>
                <a:spcPts val="500"/>
              </a:spcAft>
            </a:pPr>
            <a:r>
              <a:rPr sz="1100" b="0">
                <a:solidFill>
                  <a:srgbClr val="2E2E2E"/>
                </a:solidFill>
                <a:latin typeface="Calibri"/>
              </a:rPr>
              <a:t>It is projected to create overall incremental opportunity of US$ 119,308 Mn from 2025 to 2036. Rising disposable income along with product innovation is fuelling demand for flexible plastic packaging.</a:t>
            </a:r>
          </a:p>
        </p:txBody>
      </p:sp>
      <p:sp>
        <p:nvSpPr>
          <p:cNvPr id="25" name="Rounded Rectangle 24"/>
          <p:cNvSpPr/>
          <p:nvPr/>
        </p:nvSpPr>
        <p:spPr>
          <a:xfrm>
            <a:off x="7915275" y="4037375"/>
            <a:ext cx="413385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7" name="Rectangle 26"/>
          <p:cNvSpPr/>
          <p:nvPr/>
        </p:nvSpPr>
        <p:spPr>
          <a:xfrm>
            <a:off x="8048625" y="436122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'Middle East &amp; Africa' leads regional growth at 8.3% CAGR.</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Demand concentrates in 'Rollstock Films' within Product Type.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Product innovation and premiumisation lifting value.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Expanding end-use applications and access.</a:t>
            </a:r>
          </a:p>
        </p:txBody>
      </p:sp>
      <p:sp>
        <p:nvSpPr>
          <p:cNvPr id="29" name="TextBox 2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Flexible Plastic Packaging Market Volume &amp; Value Analysis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and value growth of the global market and the incremental $ opportunity it creates, 2021–2036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4695825" cy="2400300"/>
          </a:xfrm>
          <a:prstGeom prst="roundRect">
            <a:avLst>
              <a:gd name="adj" fmla="val 317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2021–2025 (Historical)</a:t>
            </a:r>
          </a:p>
        </p:txBody>
      </p:sp>
      <p:graphicFrame>
        <p:nvGraphicFramePr>
          <p:cNvPr id="13" name="Chart 12"/>
          <p:cNvGraphicFramePr>
            <a:graphicFrameLocks noGrp="1"/>
          </p:cNvGraphicFramePr>
          <p:nvPr/>
        </p:nvGraphicFramePr>
        <p:xfrm>
          <a:off x="238125" y="1266825"/>
          <a:ext cx="4505325" cy="2057400"/>
        </p:xfrm>
        <a:graphic>
          <a:graphicData uri="http://schemas.openxmlformats.org/drawingml/2006/chart">
            <c:chart xmlns:c="http://schemas.openxmlformats.org/drawingml/2006/chart" r:id="rId3"/>
          </a:graphicData>
        </a:graphic>
      </p:graphicFrame>
      <p:sp>
        <p:nvSpPr>
          <p:cNvPr id="14" name="Rounded Rectangle 13"/>
          <p:cNvSpPr/>
          <p:nvPr/>
        </p:nvSpPr>
        <p:spPr>
          <a:xfrm>
            <a:off x="4991100" y="981075"/>
            <a:ext cx="7048500" cy="2400300"/>
          </a:xfrm>
          <a:prstGeom prst="roundRect">
            <a:avLst>
              <a:gd name="adj" fmla="val 317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86350" y="10382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2026–2036 (Forecast)</a:t>
            </a:r>
          </a:p>
        </p:txBody>
      </p:sp>
      <p:graphicFrame>
        <p:nvGraphicFramePr>
          <p:cNvPr id="16" name="Chart 15"/>
          <p:cNvGraphicFramePr>
            <a:graphicFrameLocks noGrp="1"/>
          </p:cNvGraphicFramePr>
          <p:nvPr/>
        </p:nvGraphicFramePr>
        <p:xfrm>
          <a:off x="5086350" y="1266825"/>
          <a:ext cx="6858000" cy="205740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514725"/>
            <a:ext cx="2514600" cy="5619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2021–2025</a:t>
            </a:r>
          </a:p>
          <a:p>
            <a:pPr algn="ctr">
              <a:lnSpc>
                <a:spcPct val="95000"/>
              </a:lnSpc>
            </a:pPr>
            <a:r>
              <a:rPr sz="1500" b="1">
                <a:solidFill>
                  <a:srgbClr val="0E72AE"/>
                </a:solidFill>
                <a:latin typeface="Calibri"/>
              </a:rPr>
              <a:t>4.5%</a:t>
            </a:r>
          </a:p>
        </p:txBody>
      </p:sp>
      <p:sp>
        <p:nvSpPr>
          <p:cNvPr id="18" name="Rounded Rectangle 17"/>
          <p:cNvSpPr/>
          <p:nvPr/>
        </p:nvSpPr>
        <p:spPr>
          <a:xfrm>
            <a:off x="2809875" y="3514725"/>
            <a:ext cx="2514600" cy="5619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2026–2036</a:t>
            </a:r>
          </a:p>
          <a:p>
            <a:pPr algn="ctr">
              <a:lnSpc>
                <a:spcPct val="95000"/>
              </a:lnSpc>
            </a:pPr>
            <a:r>
              <a:rPr sz="1500" b="1">
                <a:solidFill>
                  <a:srgbClr val="0E72AE"/>
                </a:solidFill>
                <a:latin typeface="Calibri"/>
              </a:rPr>
              <a:t>6.6%</a:t>
            </a:r>
          </a:p>
        </p:txBody>
      </p:sp>
      <p:sp>
        <p:nvSpPr>
          <p:cNvPr id="19" name="Rounded Rectangle 18"/>
          <p:cNvSpPr/>
          <p:nvPr/>
        </p:nvSpPr>
        <p:spPr>
          <a:xfrm>
            <a:off x="5476875" y="3514725"/>
            <a:ext cx="3200400" cy="5619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2026–2031</a:t>
            </a:r>
          </a:p>
          <a:p>
            <a:pPr algn="ctr">
              <a:lnSpc>
                <a:spcPct val="95000"/>
              </a:lnSpc>
            </a:pPr>
            <a:r>
              <a:rPr sz="1500" b="1">
                <a:solidFill>
                  <a:srgbClr val="0E72AE"/>
                </a:solidFill>
                <a:latin typeface="Calibri"/>
              </a:rPr>
              <a:t>44,547 US$ Mn</a:t>
            </a:r>
          </a:p>
        </p:txBody>
      </p:sp>
      <p:sp>
        <p:nvSpPr>
          <p:cNvPr id="20" name="Rounded Rectangle 19"/>
          <p:cNvSpPr/>
          <p:nvPr/>
        </p:nvSpPr>
        <p:spPr>
          <a:xfrm>
            <a:off x="8829675" y="3514725"/>
            <a:ext cx="3200400" cy="5619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2026–2036</a:t>
            </a:r>
          </a:p>
          <a:p>
            <a:pPr algn="ctr">
              <a:lnSpc>
                <a:spcPct val="95000"/>
              </a:lnSpc>
            </a:pPr>
            <a:r>
              <a:rPr sz="1500" b="1">
                <a:solidFill>
                  <a:srgbClr val="0E72AE"/>
                </a:solidFill>
                <a:latin typeface="Calibri"/>
              </a:rPr>
              <a:t>112,862 US$ Mn</a:t>
            </a:r>
          </a:p>
        </p:txBody>
      </p:sp>
      <p:sp>
        <p:nvSpPr>
          <p:cNvPr id="21" name="Rounded Rectangle 20"/>
          <p:cNvSpPr/>
          <p:nvPr/>
        </p:nvSpPr>
        <p:spPr>
          <a:xfrm>
            <a:off x="142875" y="4210050"/>
            <a:ext cx="11906250" cy="2400300"/>
          </a:xfrm>
          <a:prstGeom prst="roundRect">
            <a:avLst>
              <a:gd name="adj" fmla="val 317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429577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Volume &amp; Value Analysis</a:t>
            </a:r>
          </a:p>
        </p:txBody>
      </p:sp>
      <p:sp>
        <p:nvSpPr>
          <p:cNvPr id="23" name="Rectangle 22"/>
          <p:cNvSpPr/>
          <p:nvPr/>
        </p:nvSpPr>
        <p:spPr>
          <a:xfrm>
            <a:off x="276225" y="45339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6225" y="4619625"/>
            <a:ext cx="11639550" cy="19145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E2E2E"/>
                </a:solidFill>
                <a:latin typeface="Calibri"/>
              </a:rPr>
              <a:t>Flexible plastic packaging market is projected to register 2.0X increase in its revenue by the end of forecast period, 2036. Global flexible plastic packaging market is expected to be valued at US$ 240,208 Mn by 2036 end. It is projected to create overall incremental opportunity of US$ 119,308 Mn from 2025 to 2036. Rising disposable income along with product innovation is fuelling demand for flexible plastic packaging.</a:t>
            </a:r>
          </a:p>
          <a:p>
            <a:pPr algn="l">
              <a:lnSpc>
                <a:spcPct val="110000"/>
              </a:lnSpc>
              <a:spcBef>
                <a:spcPts val="0"/>
              </a:spcBef>
              <a:spcAft>
                <a:spcPts val="500"/>
              </a:spcAft>
            </a:pPr>
            <a:r>
              <a:rPr sz="1100" b="0">
                <a:solidFill>
                  <a:srgbClr val="2E2E2E"/>
                </a:solidFill>
                <a:latin typeface="Calibri"/>
              </a:rPr>
              <a:t>Global flexible plastic packaging market is projected to register 1.7X increase in volume by the end of forecast period, 2036. Global flexible plastic packaging market volume stood at 39,304 Thousand MT in 2025 and is expected to reach 68,611 Thousand MT by 2036 end, at a CAGR of 5.3%. Value is projected to grow faster than volume over the forecast period, owing to an increase in average selling price.</a:t>
            </a:r>
          </a:p>
          <a:p>
            <a:pPr algn="l">
              <a:lnSpc>
                <a:spcPct val="110000"/>
              </a:lnSpc>
              <a:spcBef>
                <a:spcPts val="0"/>
              </a:spcBef>
              <a:spcAft>
                <a:spcPts val="500"/>
              </a:spcAft>
            </a:pPr>
            <a:r>
              <a:rPr sz="1100" b="0">
                <a:solidFill>
                  <a:srgbClr val="2E2E2E"/>
                </a:solidFill>
                <a:latin typeface="Calibri"/>
              </a:rPr>
              <a:t>The global market grows at 6.6% in value and 5.3% in volume, a step up from 4.5% value growth in 2021-25, driven by e-commerce, food delivery, rising packaged-food consumption in emerging markets and shelf-life demand. The gap between value and volume reflects price and mix, with the average price rising from US$3,100 to US$3,501 per MT as higher-barrier and recyclable structures replace commodity films.</a:t>
            </a:r>
          </a:p>
        </p:txBody>
      </p:sp>
      <p:sp>
        <p:nvSpPr>
          <p:cNvPr id="25" name="TextBox 2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Flexible Plastic Packaging Market Summary Country Indices (Value)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10" name="Rounded Rectangle 9"/>
          <p:cNvSpPr/>
          <p:nvPr/>
        </p:nvSpPr>
        <p:spPr>
          <a:xfrm>
            <a:off x="142875" y="1007261"/>
            <a:ext cx="3933825" cy="2445995"/>
          </a:xfrm>
          <a:prstGeom prst="roundRect">
            <a:avLst>
              <a:gd name="adj" fmla="val 311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CAGR Index</a:t>
            </a:r>
          </a:p>
        </p:txBody>
      </p:sp>
      <p:graphicFrame>
        <p:nvGraphicFramePr>
          <p:cNvPr id="12" name="Chart 11"/>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489764"/>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Table 13"/>
          <p:cNvGraphicFramePr>
            <a:graphicFrameLocks noGrp="1"/>
          </p:cNvGraphicFramePr>
          <p:nvPr/>
        </p:nvGraphicFramePr>
        <p:xfrm>
          <a:off x="152400" y="3565964"/>
          <a:ext cx="3914776" cy="2132070"/>
        </p:xfrm>
        <a:graphic>
          <a:graphicData uri="http://schemas.openxmlformats.org/drawingml/2006/table">
            <a:tbl>
              <a:tblPr>
                <a:tableStyleId>{5C22544A-7EE6-4342-B048-85BDC9FD1C3A}</a:tableStyleId>
              </a:tblPr>
              <a:tblGrid>
                <a:gridCol w="1026891"/>
                <a:gridCol w="965533"/>
                <a:gridCol w="658971"/>
                <a:gridCol w="1263381"/>
              </a:tblGrid>
              <a:tr h="215265">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CAGR Index</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 Opp (US$ Mn)</a:t>
                      </a:r>
                      <a:endParaRPr sz="1100"/>
                    </a:p>
                  </a:txBody>
                  <a:tcPr marL="47625" marR="38100" marT="19050" marB="19050" anchor="ctr">
                    <a:solidFill>
                      <a:srgbClr val="E0E8EF"/>
                    </a:solidFill>
                  </a:tcPr>
                </a:tc>
              </a:tr>
              <a:tr h="383361">
                <a:tc>
                  <a:txBody>
                    <a:bodyPr wrap="none"/>
                    <a:lstStyle/>
                    <a:p>
                      <a:pPr algn="l"/>
                      <a:r>
                        <a:rPr sz="1100" b="1">
                          <a:solidFill>
                            <a:srgbClr val="2E2E2E"/>
                          </a:solidFill>
                          <a:latin typeface="Calibri"/>
                        </a:rPr>
                        <a:t>Saudi Arabia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1,832</a:t>
                      </a:r>
                      <a:endParaRPr sz="1100"/>
                    </a:p>
                  </a:txBody>
                  <a:tcPr marL="47625" marR="38100" marT="19050" marB="19050" anchor="ctr">
                    <a:solidFill>
                      <a:srgbClr val="FFFFFF"/>
                    </a:solidFill>
                  </a:tcPr>
                </a:tc>
              </a:tr>
              <a:tr h="383361">
                <a:tc>
                  <a:txBody>
                    <a:bodyPr wrap="none"/>
                    <a:lstStyle/>
                    <a:p>
                      <a:pPr algn="l"/>
                      <a:r>
                        <a:rPr sz="1100" b="1">
                          <a:solidFill>
                            <a:srgbClr val="2E2E2E"/>
                          </a:solidFill>
                          <a:latin typeface="Calibri"/>
                        </a:rPr>
                        <a:t>Indonesia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2,448</a:t>
                      </a:r>
                      <a:endParaRPr sz="1100"/>
                    </a:p>
                  </a:txBody>
                  <a:tcPr marL="47625" marR="38100" marT="19050" marB="19050" anchor="ctr">
                    <a:solidFill>
                      <a:srgbClr val="F5F8FA"/>
                    </a:solidFill>
                  </a:tcPr>
                </a:tc>
              </a:tr>
              <a:tr h="383361">
                <a:tc>
                  <a:txBody>
                    <a:bodyPr wrap="none"/>
                    <a:lstStyle/>
                    <a:p>
                      <a:pPr algn="l"/>
                      <a:r>
                        <a:rPr sz="1100" b="1">
                          <a:solidFill>
                            <a:srgbClr val="2E2E2E"/>
                          </a:solidFill>
                          <a:latin typeface="Calibri"/>
                        </a:rPr>
                        <a:t>Turkey</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2,064</a:t>
                      </a:r>
                      <a:endParaRPr sz="1100"/>
                    </a:p>
                  </a:txBody>
                  <a:tcPr marL="47625" marR="38100" marT="19050" marB="19050" anchor="ctr">
                    <a:solidFill>
                      <a:srgbClr val="FFFFFF"/>
                    </a:solidFill>
                  </a:tcPr>
                </a:tc>
              </a:tr>
              <a:tr h="383361">
                <a:tc>
                  <a:txBody>
                    <a:bodyPr wrap="none"/>
                    <a:lstStyle/>
                    <a:p>
                      <a:pPr algn="l"/>
                      <a:r>
                        <a:rPr sz="1100" b="1">
                          <a:solidFill>
                            <a:srgbClr val="2E2E2E"/>
                          </a:solidFill>
                          <a:latin typeface="Calibri"/>
                        </a:rPr>
                        <a:t>Spain</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2,445</a:t>
                      </a:r>
                      <a:endParaRPr sz="1100"/>
                    </a:p>
                  </a:txBody>
                  <a:tcPr marL="47625" marR="38100" marT="19050" marB="19050" anchor="ctr">
                    <a:solidFill>
                      <a:srgbClr val="F5F8FA"/>
                    </a:solidFill>
                  </a:tcPr>
                </a:tc>
              </a:tr>
              <a:tr h="383361">
                <a:tc>
                  <a:txBody>
                    <a:bodyPr wrap="none"/>
                    <a:lstStyle/>
                    <a:p>
                      <a:pPr algn="l"/>
                      <a:r>
                        <a:rPr sz="1100" b="1">
                          <a:solidFill>
                            <a:srgbClr val="2E2E2E"/>
                          </a:solidFill>
                          <a:latin typeface="Calibri"/>
                        </a:rPr>
                        <a:t>India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5,698</a:t>
                      </a:r>
                      <a:endParaRPr sz="1100"/>
                    </a:p>
                  </a:txBody>
                  <a:tcPr marL="47625" marR="38100" marT="19050" marB="19050" anchor="ctr">
                    <a:solidFill>
                      <a:srgbClr val="FFFFFF"/>
                    </a:solidFill>
                  </a:tcPr>
                </a:tc>
              </a:tr>
            </a:tbl>
          </a:graphicData>
        </a:graphic>
      </p:graphicFrame>
      <p:sp>
        <p:nvSpPr>
          <p:cNvPr id="15" name="TextBox 14"/>
          <p:cNvSpPr txBox="1"/>
          <p:nvPr/>
        </p:nvSpPr>
        <p:spPr>
          <a:xfrm>
            <a:off x="219075" y="5707558"/>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6" name="Rounded Rectangle 15"/>
          <p:cNvSpPr/>
          <p:nvPr/>
        </p:nvSpPr>
        <p:spPr>
          <a:xfrm>
            <a:off x="4114800" y="1007261"/>
            <a:ext cx="3933825" cy="4928498"/>
          </a:xfrm>
          <a:prstGeom prst="roundRect">
            <a:avLst>
              <a:gd name="adj" fmla="val 19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0050"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2036 Market By Country (US$ Mn)  ·  Top 10</a:t>
            </a:r>
          </a:p>
        </p:txBody>
      </p:sp>
      <p:sp>
        <p:nvSpPr>
          <p:cNvPr id="18" name="Rectangle 17"/>
          <p:cNvSpPr/>
          <p:nvPr/>
        </p:nvSpPr>
        <p:spPr>
          <a:xfrm>
            <a:off x="4210050" y="1293011"/>
            <a:ext cx="2128045" cy="2780349"/>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56,021</a:t>
            </a:r>
          </a:p>
        </p:txBody>
      </p:sp>
      <p:sp>
        <p:nvSpPr>
          <p:cNvPr id="19" name="Rectangle 18"/>
          <p:cNvSpPr/>
          <p:nvPr/>
        </p:nvSpPr>
        <p:spPr>
          <a:xfrm>
            <a:off x="6338095" y="1293011"/>
            <a:ext cx="1615280" cy="2780349"/>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China</a:t>
            </a:r>
          </a:p>
          <a:p>
            <a:pPr algn="ctr"/>
            <a:r>
              <a:rPr sz="1100" b="0">
                <a:solidFill>
                  <a:srgbClr val="FFFFFF"/>
                </a:solidFill>
                <a:latin typeface="Calibri"/>
              </a:rPr>
              <a:t>42,522</a:t>
            </a:r>
          </a:p>
        </p:txBody>
      </p:sp>
      <p:sp>
        <p:nvSpPr>
          <p:cNvPr id="20" name="Rectangle 19"/>
          <p:cNvSpPr/>
          <p:nvPr/>
        </p:nvSpPr>
        <p:spPr>
          <a:xfrm>
            <a:off x="4210050" y="4073360"/>
            <a:ext cx="1386053" cy="998373"/>
          </a:xfrm>
          <a:prstGeom prst="rect">
            <a:avLst/>
          </a:prstGeom>
          <a:solidFill>
            <a:srgbClr val="0081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Japan</a:t>
            </a:r>
          </a:p>
          <a:p>
            <a:pPr algn="ctr"/>
            <a:r>
              <a:rPr sz="1100" b="0">
                <a:solidFill>
                  <a:srgbClr val="FFFFFF"/>
                </a:solidFill>
                <a:latin typeface="Calibri"/>
              </a:rPr>
              <a:t>13,102</a:t>
            </a:r>
          </a:p>
        </p:txBody>
      </p:sp>
      <p:sp>
        <p:nvSpPr>
          <p:cNvPr id="21" name="Rectangle 20"/>
          <p:cNvSpPr/>
          <p:nvPr/>
        </p:nvSpPr>
        <p:spPr>
          <a:xfrm>
            <a:off x="4210050" y="5071733"/>
            <a:ext cx="1386053" cy="806876"/>
          </a:xfrm>
          <a:prstGeom prst="rect">
            <a:avLst/>
          </a:prstGeom>
          <a:solidFill>
            <a:srgbClr val="40315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India</a:t>
            </a:r>
          </a:p>
          <a:p>
            <a:pPr algn="ctr"/>
            <a:r>
              <a:rPr sz="1100" b="0">
                <a:solidFill>
                  <a:srgbClr val="FFFFFF"/>
                </a:solidFill>
                <a:latin typeface="Calibri"/>
              </a:rPr>
              <a:t>10,589</a:t>
            </a:r>
          </a:p>
        </p:txBody>
      </p:sp>
      <p:sp>
        <p:nvSpPr>
          <p:cNvPr id="22" name="Rectangle 21"/>
          <p:cNvSpPr/>
          <p:nvPr/>
        </p:nvSpPr>
        <p:spPr>
          <a:xfrm>
            <a:off x="5596103" y="4073360"/>
            <a:ext cx="915368" cy="934516"/>
          </a:xfrm>
          <a:prstGeom prst="rect">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South Korea</a:t>
            </a:r>
          </a:p>
          <a:p>
            <a:pPr algn="ctr"/>
            <a:r>
              <a:rPr sz="1100" b="0">
                <a:solidFill>
                  <a:srgbClr val="FFFFFF"/>
                </a:solidFill>
                <a:latin typeface="Calibri"/>
              </a:rPr>
              <a:t>8,099</a:t>
            </a:r>
          </a:p>
        </p:txBody>
      </p:sp>
      <p:sp>
        <p:nvSpPr>
          <p:cNvPr id="23" name="Rectangle 22"/>
          <p:cNvSpPr/>
          <p:nvPr/>
        </p:nvSpPr>
        <p:spPr>
          <a:xfrm>
            <a:off x="5596103" y="5007876"/>
            <a:ext cx="915368" cy="870733"/>
          </a:xfrm>
          <a:prstGeom prst="rect">
            <a:avLst/>
          </a:prstGeom>
          <a:solidFill>
            <a:srgbClr val="80808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Germany</a:t>
            </a:r>
          </a:p>
          <a:p>
            <a:pPr algn="ctr"/>
            <a:r>
              <a:rPr sz="1100" b="0">
                <a:solidFill>
                  <a:srgbClr val="FFFFFF"/>
                </a:solidFill>
                <a:latin typeface="Calibri"/>
              </a:rPr>
              <a:t>7,547</a:t>
            </a:r>
          </a:p>
        </p:txBody>
      </p:sp>
      <p:sp>
        <p:nvSpPr>
          <p:cNvPr id="24" name="Rectangle 23"/>
          <p:cNvSpPr/>
          <p:nvPr/>
        </p:nvSpPr>
        <p:spPr>
          <a:xfrm>
            <a:off x="6511472" y="4073360"/>
            <a:ext cx="765472" cy="944220"/>
          </a:xfrm>
          <a:prstGeom prst="rect">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U.K.</a:t>
            </a:r>
          </a:p>
          <a:p>
            <a:pPr algn="ctr"/>
            <a:r>
              <a:rPr sz="1100" b="0">
                <a:solidFill>
                  <a:srgbClr val="FFFFFF"/>
                </a:solidFill>
                <a:latin typeface="Calibri"/>
              </a:rPr>
              <a:t>6,843</a:t>
            </a:r>
          </a:p>
        </p:txBody>
      </p:sp>
      <p:sp>
        <p:nvSpPr>
          <p:cNvPr id="25" name="Rectangle 24"/>
          <p:cNvSpPr/>
          <p:nvPr/>
        </p:nvSpPr>
        <p:spPr>
          <a:xfrm>
            <a:off x="7276944" y="4073360"/>
            <a:ext cx="676431" cy="944220"/>
          </a:xfrm>
          <a:prstGeom prst="rect">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6,047</a:t>
            </a:r>
          </a:p>
        </p:txBody>
      </p:sp>
      <p:sp>
        <p:nvSpPr>
          <p:cNvPr id="26" name="Rectangle 25"/>
          <p:cNvSpPr/>
          <p:nvPr/>
        </p:nvSpPr>
        <p:spPr>
          <a:xfrm>
            <a:off x="6511472" y="5017581"/>
            <a:ext cx="730489" cy="861029"/>
          </a:xfrm>
          <a:prstGeom prst="rect">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Brazil</a:t>
            </a:r>
          </a:p>
          <a:p>
            <a:pPr algn="ctr"/>
            <a:r>
              <a:rPr sz="1100" b="0">
                <a:solidFill>
                  <a:srgbClr val="FFFFFF"/>
                </a:solidFill>
                <a:latin typeface="Calibri"/>
              </a:rPr>
              <a:t>5,955</a:t>
            </a:r>
          </a:p>
        </p:txBody>
      </p:sp>
      <p:sp>
        <p:nvSpPr>
          <p:cNvPr id="27" name="Rectangle 26"/>
          <p:cNvSpPr/>
          <p:nvPr/>
        </p:nvSpPr>
        <p:spPr>
          <a:xfrm>
            <a:off x="7241960" y="5017581"/>
            <a:ext cx="711415" cy="861029"/>
          </a:xfrm>
          <a:prstGeom prst="rect">
            <a:avLst/>
          </a:prstGeom>
          <a:solidFill>
            <a:srgbClr val="6C7A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France</a:t>
            </a:r>
          </a:p>
          <a:p>
            <a:pPr algn="ctr"/>
            <a:r>
              <a:rPr sz="1100" b="0">
                <a:solidFill>
                  <a:srgbClr val="FFFFFF"/>
                </a:solidFill>
                <a:latin typeface="Calibri"/>
              </a:rPr>
              <a:t>5,800</a:t>
            </a:r>
          </a:p>
        </p:txBody>
      </p:sp>
      <p:sp>
        <p:nvSpPr>
          <p:cNvPr id="28" name="Rounded Rectangle 27"/>
          <p:cNvSpPr/>
          <p:nvPr/>
        </p:nvSpPr>
        <p:spPr>
          <a:xfrm>
            <a:off x="8086725" y="1007261"/>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8197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Absolute Index</a:t>
            </a:r>
          </a:p>
        </p:txBody>
      </p:sp>
      <p:graphicFrame>
        <p:nvGraphicFramePr>
          <p:cNvPr id="30" name="Chart 29"/>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r:id="rId4"/>
          </a:graphicData>
        </a:graphic>
      </p:graphicFrame>
      <p:sp>
        <p:nvSpPr>
          <p:cNvPr id="31" name="Rounded Rectangle 30"/>
          <p:cNvSpPr/>
          <p:nvPr/>
        </p:nvSpPr>
        <p:spPr>
          <a:xfrm>
            <a:off x="8086725" y="3471510"/>
            <a:ext cx="3933825" cy="2464249"/>
          </a:xfrm>
          <a:prstGeom prst="roundRect">
            <a:avLst>
              <a:gd name="adj" fmla="val 30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32" name="Table 31"/>
          <p:cNvGraphicFramePr>
            <a:graphicFrameLocks noGrp="1"/>
          </p:cNvGraphicFramePr>
          <p:nvPr/>
        </p:nvGraphicFramePr>
        <p:xfrm>
          <a:off x="8096250" y="3547710"/>
          <a:ext cx="3914775" cy="2159450"/>
        </p:xfrm>
        <a:graphic>
          <a:graphicData uri="http://schemas.openxmlformats.org/drawingml/2006/table">
            <a:tbl>
              <a:tblPr>
                <a:tableStyleId>{5C22544A-7EE6-4342-B048-85BDC9FD1C3A}</a:tableStyleId>
              </a:tblPr>
              <a:tblGrid>
                <a:gridCol w="951003"/>
                <a:gridCol w="1141964"/>
                <a:gridCol w="624505"/>
                <a:gridCol w="1197303"/>
              </a:tblGrid>
              <a:tr h="215265">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Absolute Index</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 Opp (US$ Mn)</a:t>
                      </a:r>
                      <a:endParaRPr sz="1100"/>
                    </a:p>
                  </a:txBody>
                  <a:tcPr marL="47625" marR="38100" marT="19050" marB="19050" anchor="ctr">
                    <a:solidFill>
                      <a:srgbClr val="E0E8EF"/>
                    </a:solidFill>
                  </a:tcPr>
                </a:tc>
              </a:tr>
              <a:tr h="388837">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23,237</a:t>
                      </a:r>
                      <a:endParaRPr sz="1100"/>
                    </a:p>
                  </a:txBody>
                  <a:tcPr marL="47625" marR="38100" marT="19050" marB="19050" anchor="ctr">
                    <a:solidFill>
                      <a:srgbClr val="FFFFFF"/>
                    </a:solidFill>
                  </a:tcPr>
                </a:tc>
              </a:tr>
              <a:tr h="388837">
                <a:tc>
                  <a:txBody>
                    <a:bodyPr wrap="none"/>
                    <a:lstStyle/>
                    <a:p>
                      <a:pPr algn="l"/>
                      <a:r>
                        <a:rPr sz="1100" b="1">
                          <a:solidFill>
                            <a:srgbClr val="2E2E2E"/>
                          </a:solidFill>
                          <a:latin typeface="Calibri"/>
                        </a:rPr>
                        <a:t>China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19,845</a:t>
                      </a:r>
                      <a:endParaRPr sz="1100"/>
                    </a:p>
                  </a:txBody>
                  <a:tcPr marL="47625" marR="38100" marT="19050" marB="19050" anchor="ctr">
                    <a:solidFill>
                      <a:srgbClr val="F5F8FA"/>
                    </a:solidFill>
                  </a:tcPr>
                </a:tc>
              </a:tr>
              <a:tr h="388837">
                <a:tc>
                  <a:txBody>
                    <a:bodyPr wrap="none"/>
                    <a:lstStyle/>
                    <a:p>
                      <a:pPr algn="l"/>
                      <a:r>
                        <a:rPr sz="1100" b="1">
                          <a:solidFill>
                            <a:srgbClr val="2E2E2E"/>
                          </a:solidFill>
                          <a:latin typeface="Calibri"/>
                        </a:rPr>
                        <a:t>India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5,698</a:t>
                      </a:r>
                      <a:endParaRPr sz="1100"/>
                    </a:p>
                  </a:txBody>
                  <a:tcPr marL="47625" marR="38100" marT="19050" marB="19050" anchor="ctr">
                    <a:solidFill>
                      <a:srgbClr val="FFFFFF"/>
                    </a:solidFill>
                  </a:tcPr>
                </a:tc>
              </a:tr>
              <a:tr h="388837">
                <a:tc>
                  <a:txBody>
                    <a:bodyPr wrap="none"/>
                    <a:lstStyle/>
                    <a:p>
                      <a:pPr algn="l"/>
                      <a:r>
                        <a:rPr sz="1100" b="1">
                          <a:solidFill>
                            <a:srgbClr val="2E2E2E"/>
                          </a:solidFill>
                          <a:latin typeface="Calibri"/>
                        </a:rPr>
                        <a:t>Japan</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5,433</a:t>
                      </a:r>
                      <a:endParaRPr sz="1100"/>
                    </a:p>
                  </a:txBody>
                  <a:tcPr marL="47625" marR="38100" marT="19050" marB="19050" anchor="ctr">
                    <a:solidFill>
                      <a:srgbClr val="F5F8FA"/>
                    </a:solidFill>
                  </a:tcPr>
                </a:tc>
              </a:tr>
              <a:tr h="388837">
                <a:tc>
                  <a:txBody>
                    <a:bodyPr wrap="none"/>
                    <a:lstStyle/>
                    <a:p>
                      <a:pPr algn="l"/>
                      <a:r>
                        <a:rPr sz="1100" b="1">
                          <a:solidFill>
                            <a:srgbClr val="2E2E2E"/>
                          </a:solidFill>
                          <a:latin typeface="Calibri"/>
                        </a:rPr>
                        <a:t>South Korea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4,111</a:t>
                      </a:r>
                      <a:endParaRPr sz="1100"/>
                    </a:p>
                  </a:txBody>
                  <a:tcPr marL="47625" marR="38100" marT="19050" marB="19050" anchor="ctr">
                    <a:solidFill>
                      <a:srgbClr val="FFFFFF"/>
                    </a:solidFill>
                  </a:tcPr>
                </a:tc>
              </a:tr>
            </a:tbl>
          </a:graphicData>
        </a:graphic>
      </p:graphicFrame>
      <p:sp>
        <p:nvSpPr>
          <p:cNvPr id="33" name="TextBox 32"/>
          <p:cNvSpPr txBox="1"/>
          <p:nvPr/>
        </p:nvSpPr>
        <p:spPr>
          <a:xfrm>
            <a:off x="8162925" y="5716684"/>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34" name="Rounded Rectangle 33"/>
          <p:cNvSpPr/>
          <p:nvPr/>
        </p:nvSpPr>
        <p:spPr>
          <a:xfrm>
            <a:off x="142875" y="6027028"/>
            <a:ext cx="10858500" cy="602372"/>
          </a:xfrm>
          <a:prstGeom prst="roundRect">
            <a:avLst>
              <a:gd name="adj" fmla="val 126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The U.S. flexible plastic packaging market is projected to register 1.3X higher value than China in 2036. Philippines posts the highest CAGR Index (142), growing at 9.3% against the global benchmark, while U.S. offers the largest absolute opportunity 23,237 US$ Mn of incremental market between 2026 and 2036 (21% of the global increment).</a:t>
            </a:r>
          </a:p>
        </p:txBody>
      </p:sp>
      <p:sp>
        <p:nvSpPr>
          <p:cNvPr id="35" name="TextBox 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Flexible Plastic Packaging Market Summary Country Indices (Value)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10" name="Rounded Rectangle 9"/>
          <p:cNvSpPr/>
          <p:nvPr/>
        </p:nvSpPr>
        <p:spPr>
          <a:xfrm>
            <a:off x="142875" y="981075"/>
            <a:ext cx="11906250" cy="1600200"/>
          </a:xfrm>
          <a:prstGeom prst="roundRect">
            <a:avLst>
              <a:gd name="adj" fmla="val 476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152400" y="1057275"/>
          <a:ext cx="11887199" cy="1295400"/>
        </p:xfrm>
        <a:graphic>
          <a:graphicData uri="http://schemas.openxmlformats.org/drawingml/2006/table">
            <a:tbl>
              <a:tblPr>
                <a:tableStyleId>{5C22544A-7EE6-4342-B048-85BDC9FD1C3A}</a:tableStyleId>
              </a:tblPr>
              <a:tblGrid>
                <a:gridCol w="2488439"/>
                <a:gridCol w="3132920"/>
                <a:gridCol w="3132920"/>
                <a:gridCol w="3132920"/>
              </a:tblGrid>
              <a:tr h="215265">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CAGR Index</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 Opp (US$ Mn)</a:t>
                      </a:r>
                      <a:endParaRPr sz="1100"/>
                    </a:p>
                  </a:txBody>
                  <a:tcPr marL="47625" marR="38100" marT="19050" marB="19050" anchor="ctr">
                    <a:solidFill>
                      <a:srgbClr val="E0E8EF"/>
                    </a:solidFill>
                  </a:tcPr>
                </a:tc>
              </a:tr>
              <a:tr h="216027">
                <a:tc>
                  <a:txBody>
                    <a:bodyPr wrap="none"/>
                    <a:lstStyle/>
                    <a:p>
                      <a:pPr algn="l"/>
                      <a:r>
                        <a:rPr sz="1100" b="1">
                          <a:solidFill>
                            <a:srgbClr val="2E2E2E"/>
                          </a:solidFill>
                          <a:latin typeface="Calibri"/>
                        </a:rPr>
                        <a:t>Mexico</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2,956</a:t>
                      </a:r>
                      <a:endParaRPr sz="1100"/>
                    </a:p>
                  </a:txBody>
                  <a:tcPr marL="47625" marR="38100" marT="19050" marB="19050" anchor="ctr">
                    <a:solidFill>
                      <a:srgbClr val="FFFFFF"/>
                    </a:solidFill>
                  </a:tcPr>
                </a:tc>
              </a:tr>
              <a:tr h="216027">
                <a:tc>
                  <a:txBody>
                    <a:bodyPr wrap="none"/>
                    <a:lstStyle/>
                    <a:p>
                      <a:pPr algn="l"/>
                      <a:r>
                        <a:rPr sz="1100" b="1">
                          <a:solidFill>
                            <a:srgbClr val="2E2E2E"/>
                          </a:solidFill>
                          <a:latin typeface="Calibri"/>
                        </a:rPr>
                        <a:t>Italy</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2,643</a:t>
                      </a:r>
                      <a:endParaRPr sz="1100"/>
                    </a:p>
                  </a:txBody>
                  <a:tcPr marL="47625" marR="38100" marT="19050" marB="19050" anchor="ctr">
                    <a:solidFill>
                      <a:srgbClr val="F5F8FA"/>
                    </a:solidFill>
                  </a:tcPr>
                </a:tc>
              </a:tr>
              <a:tr h="216027">
                <a:tc>
                  <a:txBody>
                    <a:bodyPr wrap="none"/>
                    <a:lstStyle/>
                    <a:p>
                      <a:pPr algn="l"/>
                      <a:r>
                        <a:rPr sz="1100" b="1">
                          <a:solidFill>
                            <a:srgbClr val="2E2E2E"/>
                          </a:solidFill>
                          <a:latin typeface="Calibri"/>
                        </a:rPr>
                        <a:t>South Korea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4,111</a:t>
                      </a:r>
                      <a:endParaRPr sz="1100"/>
                    </a:p>
                  </a:txBody>
                  <a:tcPr marL="47625" marR="38100" marT="19050" marB="19050" anchor="ctr">
                    <a:solidFill>
                      <a:srgbClr val="FFFFFF"/>
                    </a:solidFill>
                  </a:tcPr>
                </a:tc>
              </a:tr>
              <a:tr h="216027">
                <a:tc>
                  <a:txBody>
                    <a:bodyPr wrap="none"/>
                    <a:lstStyle/>
                    <a:p>
                      <a:pPr algn="l"/>
                      <a:r>
                        <a:rPr sz="1100" b="1">
                          <a:solidFill>
                            <a:srgbClr val="2E2E2E"/>
                          </a:solidFill>
                          <a:latin typeface="Calibri"/>
                        </a:rPr>
                        <a:t>Thailand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1,426</a:t>
                      </a:r>
                      <a:endParaRPr sz="1100"/>
                    </a:p>
                  </a:txBody>
                  <a:tcPr marL="47625" marR="38100" marT="19050" marB="19050" anchor="ctr">
                    <a:solidFill>
                      <a:srgbClr val="F5F8FA"/>
                    </a:solidFill>
                  </a:tcPr>
                </a:tc>
              </a:tr>
              <a:tr h="216027">
                <a:tc>
                  <a:txBody>
                    <a:bodyPr wrap="none"/>
                    <a:lstStyle/>
                    <a:p>
                      <a:pPr algn="l"/>
                      <a:r>
                        <a:rPr sz="1100" b="1">
                          <a:solidFill>
                            <a:srgbClr val="2E2E2E"/>
                          </a:solidFill>
                          <a:latin typeface="Calibri"/>
                        </a:rPr>
                        <a:t>Nordic</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1,590</a:t>
                      </a:r>
                      <a:endParaRPr sz="1100"/>
                    </a:p>
                  </a:txBody>
                  <a:tcPr marL="47625" marR="38100" marT="19050" marB="19050" anchor="ctr">
                    <a:solidFill>
                      <a:srgbClr val="FFFFFF"/>
                    </a:solidFill>
                  </a:tcPr>
                </a:tc>
              </a:tr>
            </a:tbl>
          </a:graphicData>
        </a:graphic>
      </p:graphicFrame>
      <p:sp>
        <p:nvSpPr>
          <p:cNvPr id="12" name="TextBox 11"/>
          <p:cNvSpPr txBox="1"/>
          <p:nvPr/>
        </p:nvSpPr>
        <p:spPr>
          <a:xfrm>
            <a:off x="219075" y="23622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3" name="Rounded Rectangle 12"/>
          <p:cNvSpPr/>
          <p:nvPr/>
        </p:nvSpPr>
        <p:spPr>
          <a:xfrm>
            <a:off x="142875" y="2714625"/>
            <a:ext cx="11906250" cy="1600200"/>
          </a:xfrm>
          <a:prstGeom prst="roundRect">
            <a:avLst>
              <a:gd name="adj" fmla="val 476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Table 13"/>
          <p:cNvGraphicFramePr>
            <a:graphicFrameLocks noGrp="1"/>
          </p:cNvGraphicFramePr>
          <p:nvPr/>
        </p:nvGraphicFramePr>
        <p:xfrm>
          <a:off x="152400" y="2790825"/>
          <a:ext cx="11887199" cy="1295400"/>
        </p:xfrm>
        <a:graphic>
          <a:graphicData uri="http://schemas.openxmlformats.org/drawingml/2006/table">
            <a:tbl>
              <a:tblPr>
                <a:tableStyleId>{5C22544A-7EE6-4342-B048-85BDC9FD1C3A}</a:tableStyleId>
              </a:tblPr>
              <a:tblGrid>
                <a:gridCol w="2038652"/>
                <a:gridCol w="3282849"/>
                <a:gridCol w="3282849"/>
                <a:gridCol w="3282849"/>
              </a:tblGrid>
              <a:tr h="215265">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Absolute Index</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 Opp (US$ Mn)</a:t>
                      </a:r>
                      <a:endParaRPr sz="1100"/>
                    </a:p>
                  </a:txBody>
                  <a:tcPr marL="47625" marR="38100" marT="19050" marB="19050" anchor="ctr">
                    <a:solidFill>
                      <a:srgbClr val="E0E8EF"/>
                    </a:solidFill>
                  </a:tcPr>
                </a:tc>
              </a:tr>
              <a:tr h="216027">
                <a:tc>
                  <a:txBody>
                    <a:bodyPr wrap="none"/>
                    <a:lstStyle/>
                    <a:p>
                      <a:pPr algn="l"/>
                      <a:r>
                        <a:rPr sz="1100" b="1">
                          <a:solidFill>
                            <a:srgbClr val="2E2E2E"/>
                          </a:solidFill>
                          <a:latin typeface="Calibri"/>
                        </a:rPr>
                        <a:t>U.K.</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3,131</a:t>
                      </a:r>
                      <a:endParaRPr sz="1100"/>
                    </a:p>
                  </a:txBody>
                  <a:tcPr marL="47625" marR="38100" marT="19050" marB="19050" anchor="ctr">
                    <a:solidFill>
                      <a:srgbClr val="FFFFFF"/>
                    </a:solidFill>
                  </a:tcPr>
                </a:tc>
              </a:tr>
              <a:tr h="216027">
                <a:tc>
                  <a:txBody>
                    <a:bodyPr wrap="none"/>
                    <a:lstStyle/>
                    <a:p>
                      <a:pPr algn="l"/>
                      <a:r>
                        <a:rPr sz="1100" b="1">
                          <a:solidFill>
                            <a:srgbClr val="2E2E2E"/>
                          </a:solidFill>
                          <a:latin typeface="Calibri"/>
                        </a:rPr>
                        <a:t>Germany</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3,067</a:t>
                      </a:r>
                      <a:endParaRPr sz="1100"/>
                    </a:p>
                  </a:txBody>
                  <a:tcPr marL="47625" marR="38100" marT="19050" marB="19050" anchor="ctr">
                    <a:solidFill>
                      <a:srgbClr val="F5F8FA"/>
                    </a:solidFill>
                  </a:tcPr>
                </a:tc>
              </a:tr>
              <a:tr h="216027">
                <a:tc>
                  <a:txBody>
                    <a:bodyPr wrap="none"/>
                    <a:lstStyle/>
                    <a:p>
                      <a:pPr algn="l"/>
                      <a:r>
                        <a:rPr sz="1100" b="1">
                          <a:solidFill>
                            <a:srgbClr val="2E2E2E"/>
                          </a:solidFill>
                          <a:latin typeface="Calibri"/>
                        </a:rPr>
                        <a:t>Mexico</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2,956</a:t>
                      </a:r>
                      <a:endParaRPr sz="1100"/>
                    </a:p>
                  </a:txBody>
                  <a:tcPr marL="47625" marR="38100" marT="19050" marB="19050" anchor="ctr">
                    <a:solidFill>
                      <a:srgbClr val="FFFFFF"/>
                    </a:solidFill>
                  </a:tcPr>
                </a:tc>
              </a:tr>
              <a:tr h="216027">
                <a:tc>
                  <a:txBody>
                    <a:bodyPr wrap="none"/>
                    <a:lstStyle/>
                    <a:p>
                      <a:pPr algn="l"/>
                      <a:r>
                        <a:rPr sz="1100" b="1">
                          <a:solidFill>
                            <a:srgbClr val="2E2E2E"/>
                          </a:solidFill>
                          <a:latin typeface="Calibri"/>
                        </a:rPr>
                        <a:t>Canada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2,853</a:t>
                      </a:r>
                      <a:endParaRPr sz="1100"/>
                    </a:p>
                  </a:txBody>
                  <a:tcPr marL="47625" marR="38100" marT="19050" marB="19050" anchor="ctr">
                    <a:solidFill>
                      <a:srgbClr val="F5F8FA"/>
                    </a:solidFill>
                  </a:tcPr>
                </a:tc>
              </a:tr>
              <a:tr h="216027">
                <a:tc>
                  <a:txBody>
                    <a:bodyPr wrap="none"/>
                    <a:lstStyle/>
                    <a:p>
                      <a:pPr algn="l"/>
                      <a:r>
                        <a:rPr sz="1100" b="1">
                          <a:solidFill>
                            <a:srgbClr val="2E2E2E"/>
                          </a:solidFill>
                          <a:latin typeface="Calibri"/>
                        </a:rPr>
                        <a:t>Brazil</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2,710</a:t>
                      </a:r>
                      <a:endParaRPr sz="1100"/>
                    </a:p>
                  </a:txBody>
                  <a:tcPr marL="47625" marR="38100" marT="19050" marB="19050" anchor="ctr">
                    <a:solidFill>
                      <a:srgbClr val="FFFFFF"/>
                    </a:solidFill>
                  </a:tcPr>
                </a:tc>
              </a:tr>
            </a:tbl>
          </a:graphicData>
        </a:graphic>
      </p:graphicFrame>
      <p:sp>
        <p:nvSpPr>
          <p:cNvPr id="15" name="TextBox 14"/>
          <p:cNvSpPr txBox="1"/>
          <p:nvPr/>
        </p:nvSpPr>
        <p:spPr>
          <a:xfrm>
            <a:off x="219075" y="40957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Overview (1/4)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market size, competitive landscape and the drivers, restraints and trends shaping demand</a:t>
            </a:r>
          </a:p>
        </p:txBody>
      </p:sp>
      <p:sp>
        <p:nvSpPr>
          <p:cNvPr id="10" name="Rounded Rectangle 9"/>
          <p:cNvSpPr/>
          <p:nvPr/>
        </p:nvSpPr>
        <p:spPr>
          <a:xfrm>
            <a:off x="142875" y="981075"/>
            <a:ext cx="11906250" cy="1876425"/>
          </a:xfrm>
          <a:prstGeom prst="roundRect">
            <a:avLst>
              <a:gd name="adj" fmla="val 406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11639550" cy="209550"/>
          </a:xfrm>
          <a:prstGeom prst="rect">
            <a:avLst/>
          </a:prstGeom>
          <a:noFill/>
        </p:spPr>
        <p:txBody>
          <a:bodyPr wrap="square" lIns="0" rIns="19050" tIns="9525" bIns="9525">
            <a:spAutoFit/>
          </a:bodyPr>
          <a:lstStyle/>
          <a:p>
            <a:pPr algn="l"/>
            <a:r>
              <a:rPr sz="1300" b="1">
                <a:solidFill>
                  <a:srgbClr val="0B2E4A"/>
                </a:solidFill>
                <a:latin typeface="Calibri"/>
              </a:rPr>
              <a:t>Market Overview</a:t>
            </a:r>
          </a:p>
        </p:txBody>
      </p:sp>
      <p:sp>
        <p:nvSpPr>
          <p:cNvPr id="12" name="Rectangle 11"/>
          <p:cNvSpPr/>
          <p:nvPr/>
        </p:nvSpPr>
        <p:spPr>
          <a:xfrm>
            <a:off x="276225" y="13049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11639550" cy="13906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Global flexible plastic packaging market is expected to witness 2.0X increase in revenue by 2036 end. Global flexible plastic packaging market accounted for US$ 120,900 Mn in 2025, which is expected to increase to US$ 240,208 Mn in 2036 at a CAGR of 6.6%.</a:t>
            </a:r>
          </a:p>
          <a:p>
            <a:pPr algn="l">
              <a:lnSpc>
                <a:spcPct val="110000"/>
              </a:lnSpc>
              <a:spcBef>
                <a:spcPts val="0"/>
              </a:spcBef>
              <a:spcAft>
                <a:spcPts val="500"/>
              </a:spcAft>
            </a:pPr>
            <a:r>
              <a:rPr sz="1150" b="0">
                <a:solidFill>
                  <a:srgbClr val="2E2E2E"/>
                </a:solidFill>
                <a:latin typeface="Calibri"/>
              </a:rPr>
              <a:t>The global flexible plastic packaging market has been analysed on the basis of product type, principal material / barrier technology, material structure and barrier level across the globe. East Asia is expected to remain the largest market for flexible plastic packaging, while demand in Middle East &amp; Africa is projected to increase at the highest CAGR of 8.3% throughout the forecast period.</a:t>
            </a:r>
          </a:p>
        </p:txBody>
      </p:sp>
      <p:sp>
        <p:nvSpPr>
          <p:cNvPr id="14" name="Rounded Rectangle 13"/>
          <p:cNvSpPr/>
          <p:nvPr/>
        </p:nvSpPr>
        <p:spPr>
          <a:xfrm>
            <a:off x="142875" y="2990850"/>
            <a:ext cx="11906250" cy="1571625"/>
          </a:xfrm>
          <a:prstGeom prst="roundRect">
            <a:avLst>
              <a:gd name="adj" fmla="val 484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07657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Competitive Landscape</a:t>
            </a:r>
          </a:p>
        </p:txBody>
      </p:sp>
      <p:sp>
        <p:nvSpPr>
          <p:cNvPr id="16" name="Rectangle 15"/>
          <p:cNvSpPr/>
          <p:nvPr/>
        </p:nvSpPr>
        <p:spPr>
          <a:xfrm>
            <a:off x="276225" y="33147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400425"/>
            <a:ext cx="11639550" cy="10858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The market is consolidated: the leading product type category 'Rollstock Films' holds 53.6% of 2036 value.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Demand spans 6 regions and 6 segmentation lenses (4 product type categories).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East Asia is the largest regional market at 26.5% of 2036 value.</a:t>
            </a:r>
          </a:p>
        </p:txBody>
      </p:sp>
      <p:sp>
        <p:nvSpPr>
          <p:cNvPr id="18" name="Rounded Rectangle 17"/>
          <p:cNvSpPr/>
          <p:nvPr/>
        </p:nvSpPr>
        <p:spPr>
          <a:xfrm>
            <a:off x="142875" y="4695825"/>
            <a:ext cx="3943350" cy="1933575"/>
          </a:xfrm>
          <a:prstGeom prst="roundRect">
            <a:avLst>
              <a:gd name="adj" fmla="val 39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781550"/>
            <a:ext cx="3676650" cy="209550"/>
          </a:xfrm>
          <a:prstGeom prst="rect">
            <a:avLst/>
          </a:prstGeom>
          <a:noFill/>
        </p:spPr>
        <p:txBody>
          <a:bodyPr wrap="square" lIns="0" rIns="19050" tIns="9525" bIns="9525">
            <a:spAutoFit/>
          </a:bodyPr>
          <a:lstStyle/>
          <a:p>
            <a:pPr algn="l"/>
            <a:r>
              <a:rPr sz="1300" b="1">
                <a:solidFill>
                  <a:srgbClr val="0B2E4A"/>
                </a:solidFill>
                <a:latin typeface="Calibri"/>
              </a:rPr>
              <a:t>Drivers</a:t>
            </a:r>
          </a:p>
        </p:txBody>
      </p:sp>
      <p:sp>
        <p:nvSpPr>
          <p:cNvPr id="20" name="Rectangle 19"/>
          <p:cNvSpPr/>
          <p:nvPr/>
        </p:nvSpPr>
        <p:spPr>
          <a:xfrm>
            <a:off x="276225" y="5019675"/>
            <a:ext cx="3676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5105400"/>
            <a:ext cx="3676650" cy="14478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Accelerating uptake of 'Premade Pouches &amp; Bags' (6.7% CAGR).</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Fast-growing demand in Middle East &amp; Africa (8.3%).</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Momentum in Food Packaging within application (6.6%).</a:t>
            </a:r>
          </a:p>
        </p:txBody>
      </p:sp>
      <p:sp>
        <p:nvSpPr>
          <p:cNvPr id="22" name="Rounded Rectangle 21"/>
          <p:cNvSpPr/>
          <p:nvPr/>
        </p:nvSpPr>
        <p:spPr>
          <a:xfrm>
            <a:off x="4238625" y="4695825"/>
            <a:ext cx="3819525" cy="1933575"/>
          </a:xfrm>
          <a:prstGeom prst="roundRect">
            <a:avLst>
              <a:gd name="adj" fmla="val 39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71975" y="4781550"/>
            <a:ext cx="3552825" cy="209550"/>
          </a:xfrm>
          <a:prstGeom prst="rect">
            <a:avLst/>
          </a:prstGeom>
          <a:noFill/>
        </p:spPr>
        <p:txBody>
          <a:bodyPr wrap="square" lIns="0" rIns="19050" tIns="9525" bIns="9525">
            <a:spAutoFit/>
          </a:bodyPr>
          <a:lstStyle/>
          <a:p>
            <a:pPr algn="l"/>
            <a:r>
              <a:rPr sz="1300" b="1">
                <a:solidFill>
                  <a:srgbClr val="0B2E4A"/>
                </a:solidFill>
                <a:latin typeface="Calibri"/>
              </a:rPr>
              <a:t>Restraints</a:t>
            </a:r>
          </a:p>
        </p:txBody>
      </p:sp>
      <p:sp>
        <p:nvSpPr>
          <p:cNvPr id="24" name="Rectangle 23"/>
          <p:cNvSpPr/>
          <p:nvPr/>
        </p:nvSpPr>
        <p:spPr>
          <a:xfrm>
            <a:off x="4371975" y="50196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71975" y="5105400"/>
            <a:ext cx="3552825" cy="14478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Slower momentum in 'Sachets &amp; Stick Packs' (6.3%).</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Maturing demand in established categories caps the blended 6.6% CAGR.</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Value concentration in 'Rollstock Films' raises barriers for new entrants.</a:t>
            </a:r>
          </a:p>
        </p:txBody>
      </p:sp>
      <p:sp>
        <p:nvSpPr>
          <p:cNvPr id="26" name="Rounded Rectangle 25"/>
          <p:cNvSpPr/>
          <p:nvPr/>
        </p:nvSpPr>
        <p:spPr>
          <a:xfrm>
            <a:off x="8210550" y="4695825"/>
            <a:ext cx="3819525" cy="1933575"/>
          </a:xfrm>
          <a:prstGeom prst="roundRect">
            <a:avLst>
              <a:gd name="adj" fmla="val 39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43900" y="4781550"/>
            <a:ext cx="3552825" cy="209550"/>
          </a:xfrm>
          <a:prstGeom prst="rect">
            <a:avLst/>
          </a:prstGeom>
          <a:noFill/>
        </p:spPr>
        <p:txBody>
          <a:bodyPr wrap="square" lIns="0" rIns="19050" tIns="9525" bIns="9525">
            <a:spAutoFit/>
          </a:bodyPr>
          <a:lstStyle/>
          <a:p>
            <a:pPr algn="l"/>
            <a:r>
              <a:rPr sz="1300" b="1">
                <a:solidFill>
                  <a:srgbClr val="0B2E4A"/>
                </a:solidFill>
                <a:latin typeface="Calibri"/>
              </a:rPr>
              <a:t>Trends</a:t>
            </a:r>
          </a:p>
        </p:txBody>
      </p:sp>
      <p:sp>
        <p:nvSpPr>
          <p:cNvPr id="28" name="Rectangle 27"/>
          <p:cNvSpPr/>
          <p:nvPr/>
        </p:nvSpPr>
        <p:spPr>
          <a:xfrm>
            <a:off x="8343900" y="50196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43900" y="5105400"/>
            <a:ext cx="3552825" cy="14478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Mix shifting toward 'Premade Pouches &amp; Bags' and higher-growth tiers.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Middle East &amp; Africa outpacing the global average.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Demand broadening across 4 product type categories.</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Supply Side Trends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recent developments, investments and R&amp;D activity shaping the supply side of the market</a:t>
            </a:r>
          </a:p>
        </p:txBody>
      </p:sp>
      <p:sp>
        <p:nvSpPr>
          <p:cNvPr id="10" name="Rounded Rectangle 9"/>
          <p:cNvSpPr/>
          <p:nvPr/>
        </p:nvSpPr>
        <p:spPr>
          <a:xfrm>
            <a:off x="142875" y="981075"/>
            <a:ext cx="58769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Recent Developments &amp; Key Industry Activities</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Capacity and product development are concentrating in 'Premade Pouches &amp; Bags' and Middle East &amp; Africa.</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Portfolio expansion tracks the shift toward higher-growth product type categories.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Commercial focus is intensifying across East Asia and Middle East &amp; Africa.</a:t>
            </a:r>
          </a:p>
        </p:txBody>
      </p:sp>
      <p:sp>
        <p:nvSpPr>
          <p:cNvPr id="14" name="Rounded Rectangle 13"/>
          <p:cNvSpPr/>
          <p:nvPr/>
        </p:nvSpPr>
        <p:spPr>
          <a:xfrm>
            <a:off x="6172200" y="981075"/>
            <a:ext cx="58769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00" b="0">
                <a:solidFill>
                  <a:srgbClr val="2E2E2E"/>
                </a:solidFill>
                <a:latin typeface="Calibri"/>
              </a:rPr>
              <a:t>2026 size 127,346 US$ Mn; 2036 240,208 US$ Mn.</a:t>
            </a:r>
          </a:p>
          <a:p>
            <a:pPr algn="l">
              <a:lnSpc>
                <a:spcPct val="110000"/>
              </a:lnSpc>
              <a:spcBef>
                <a:spcPts val="0"/>
              </a:spcBef>
              <a:spcAft>
                <a:spcPts val="500"/>
              </a:spcAft>
            </a:pPr>
            <a:r>
              <a:rPr sz="1100" b="0">
                <a:solidFill>
                  <a:srgbClr val="0E72AE"/>
                </a:solidFill>
                <a:latin typeface="Calibri"/>
              </a:rPr>
              <a:t>▪  </a:t>
            </a:r>
            <a:r>
              <a:rPr sz="1100" b="0">
                <a:solidFill>
                  <a:srgbClr val="2E2E2E"/>
                </a:solidFill>
                <a:latin typeface="Calibri"/>
              </a:rPr>
              <a:t>Forecast CAGR 6.6% (2026–2036).</a:t>
            </a:r>
          </a:p>
          <a:p>
            <a:pPr algn="l">
              <a:lnSpc>
                <a:spcPct val="110000"/>
              </a:lnSpc>
              <a:spcBef>
                <a:spcPts val="0"/>
              </a:spcBef>
              <a:spcAft>
                <a:spcPts val="500"/>
              </a:spcAft>
            </a:pPr>
            <a:r>
              <a:rPr sz="1100" b="0">
                <a:solidFill>
                  <a:srgbClr val="0E72AE"/>
                </a:solidFill>
                <a:latin typeface="Calibri"/>
              </a:rPr>
              <a:t>▪  </a:t>
            </a:r>
            <a:r>
              <a:rPr sz="1100" b="0">
                <a:solidFill>
                  <a:srgbClr val="2E2E2E"/>
                </a:solidFill>
                <a:latin typeface="Calibri"/>
              </a:rPr>
              <a:t>Lead category 'Rollstock Films' 53.6% of 2036.</a:t>
            </a:r>
          </a:p>
          <a:p>
            <a:pPr algn="l">
              <a:lnSpc>
                <a:spcPct val="110000"/>
              </a:lnSpc>
              <a:spcBef>
                <a:spcPts val="0"/>
              </a:spcBef>
              <a:spcAft>
                <a:spcPts val="500"/>
              </a:spcAft>
            </a:pPr>
            <a:r>
              <a:rPr sz="1100" b="0">
                <a:solidFill>
                  <a:srgbClr val="0E72AE"/>
                </a:solidFill>
                <a:latin typeface="Calibri"/>
              </a:rPr>
              <a:t>▪  </a:t>
            </a:r>
            <a:r>
              <a:rPr sz="1100" b="0">
                <a:solidFill>
                  <a:srgbClr val="2E2E2E"/>
                </a:solidFill>
                <a:latin typeface="Calibri"/>
              </a:rPr>
              <a:t>Lead region East Asia 26.5%.</a:t>
            </a:r>
          </a:p>
          <a:p>
            <a:pPr algn="l">
              <a:lnSpc>
                <a:spcPct val="110000"/>
              </a:lnSpc>
              <a:spcBef>
                <a:spcPts val="0"/>
              </a:spcBef>
              <a:spcAft>
                <a:spcPts val="500"/>
              </a:spcAft>
            </a:pPr>
            <a:r>
              <a:rPr sz="1100" b="0">
                <a:solidFill>
                  <a:srgbClr val="0E72AE"/>
                </a:solidFill>
                <a:latin typeface="Calibri"/>
              </a:rPr>
              <a:t>▪  </a:t>
            </a:r>
            <a:r>
              <a:rPr sz="1100" b="0">
                <a:solidFill>
                  <a:srgbClr val="2E2E2E"/>
                </a:solidFill>
                <a:latin typeface="Calibri"/>
              </a:rPr>
              <a:t>Incremental opportunity 112,862 US$ Mn.</a:t>
            </a:r>
          </a:p>
        </p:txBody>
      </p:sp>
      <p:sp>
        <p:nvSpPr>
          <p:cNvPr id="18" name="Rounded Rectangle 17"/>
          <p:cNvSpPr/>
          <p:nvPr/>
        </p:nvSpPr>
        <p:spPr>
          <a:xfrm>
            <a:off x="142875" y="2895600"/>
            <a:ext cx="5876925" cy="1285875"/>
          </a:xfrm>
          <a:prstGeom prst="roundRect">
            <a:avLst>
              <a:gd name="adj" fmla="val 59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981325"/>
            <a:ext cx="5610225" cy="209550"/>
          </a:xfrm>
          <a:prstGeom prst="rect">
            <a:avLst/>
          </a:prstGeom>
          <a:noFill/>
        </p:spPr>
        <p:txBody>
          <a:bodyPr wrap="square" lIns="0" rIns="19050" tIns="9525" bIns="9525">
            <a:spAutoFit/>
          </a:bodyPr>
          <a:lstStyle/>
          <a:p>
            <a:pPr algn="l"/>
            <a:r>
              <a:rPr sz="1300" b="1">
                <a:solidFill>
                  <a:srgbClr val="0B2E4A"/>
                </a:solidFill>
                <a:latin typeface="Calibri"/>
              </a:rPr>
              <a:t>Strategic Acquisitions &amp; New Investments</a:t>
            </a:r>
          </a:p>
        </p:txBody>
      </p:sp>
      <p:sp>
        <p:nvSpPr>
          <p:cNvPr id="20" name="Rectangle 19"/>
          <p:cNvSpPr/>
          <p:nvPr/>
        </p:nvSpPr>
        <p:spPr>
          <a:xfrm>
            <a:off x="276225" y="32194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305175"/>
            <a:ext cx="5610225" cy="800100"/>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Investment is flowing toward the fastest-growing tier 'Premade Pouches &amp; Bags' (6.7%).</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Middle East &amp; Africa (8.3%) is a priority region for new capacity.</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Scale players anchor around 'Rollstock Films' (53.6% share).</a:t>
            </a:r>
          </a:p>
        </p:txBody>
      </p:sp>
      <p:sp>
        <p:nvSpPr>
          <p:cNvPr id="22" name="Rounded Rectangle 21"/>
          <p:cNvSpPr/>
          <p:nvPr/>
        </p:nvSpPr>
        <p:spPr>
          <a:xfrm>
            <a:off x="6172200" y="2895600"/>
            <a:ext cx="5876925" cy="1285875"/>
          </a:xfrm>
          <a:prstGeom prst="roundRect">
            <a:avLst>
              <a:gd name="adj" fmla="val 59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2981325"/>
            <a:ext cx="5610225" cy="209550"/>
          </a:xfrm>
          <a:prstGeom prst="rect">
            <a:avLst/>
          </a:prstGeom>
          <a:noFill/>
        </p:spPr>
        <p:txBody>
          <a:bodyPr wrap="square" lIns="0" rIns="19050" tIns="9525" bIns="9525">
            <a:spAutoFit/>
          </a:bodyPr>
          <a:lstStyle/>
          <a:p>
            <a:pPr algn="l"/>
            <a:r>
              <a:rPr sz="1300" b="1">
                <a:solidFill>
                  <a:srgbClr val="0B2E4A"/>
                </a:solidFill>
                <a:latin typeface="Calibri"/>
              </a:rPr>
              <a:t>Substantial Investment in R&amp;D</a:t>
            </a:r>
          </a:p>
        </p:txBody>
      </p:sp>
      <p:sp>
        <p:nvSpPr>
          <p:cNvPr id="24" name="Rectangle 23"/>
          <p:cNvSpPr/>
          <p:nvPr/>
        </p:nvSpPr>
        <p:spPr>
          <a:xfrm>
            <a:off x="6305550" y="32194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305175"/>
            <a:ext cx="5610225" cy="800100"/>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R&amp;D aligns with the migration to 'Premade Pouches &amp; Bags' and adjacent premium tiers.</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Development spend targets product type categories gaining share to 2036.</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Innovation underpins the 6.6% forecast CAGR.</a:t>
            </a:r>
          </a:p>
        </p:txBody>
      </p:sp>
      <p:sp>
        <p:nvSpPr>
          <p:cNvPr id="26" name="Rounded Rectangle 25"/>
          <p:cNvSpPr/>
          <p:nvPr/>
        </p:nvSpPr>
        <p:spPr>
          <a:xfrm>
            <a:off x="142875" y="4314825"/>
            <a:ext cx="11906250" cy="2295525"/>
          </a:xfrm>
          <a:prstGeom prst="roundRect">
            <a:avLst>
              <a:gd name="adj" fmla="val 33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38125" y="43719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structure product type share (2036)</a:t>
            </a:r>
          </a:p>
        </p:txBody>
      </p:sp>
      <p:graphicFrame>
        <p:nvGraphicFramePr>
          <p:cNvPr id="28" name="Chart 27"/>
          <p:cNvGraphicFramePr>
            <a:graphicFrameLocks noGrp="1"/>
          </p:cNvGraphicFramePr>
          <p:nvPr/>
        </p:nvGraphicFramePr>
        <p:xfrm>
          <a:off x="238125" y="4600575"/>
          <a:ext cx="11715750" cy="1952625"/>
        </p:xfrm>
        <a:graphic>
          <a:graphicData uri="http://schemas.openxmlformats.org/drawingml/2006/chart">
            <c:chart xmlns:c="http://schemas.openxmlformats.org/drawingml/2006/chart" r:id="rId3"/>
          </a:graphicData>
        </a:graphic>
      </p:graphicFrame>
      <p:sp>
        <p:nvSpPr>
          <p:cNvPr id="29" name="TextBox 28"/>
          <p:cNvSpPr txBox="1"/>
          <p:nvPr/>
        </p:nvSpPr>
        <p:spPr>
          <a:xfrm>
            <a:off x="3871570" y="5462588"/>
            <a:ext cx="934136" cy="228600"/>
          </a:xfrm>
          <a:prstGeom prst="rect">
            <a:avLst/>
          </a:prstGeom>
          <a:noFill/>
        </p:spPr>
        <p:txBody>
          <a:bodyPr wrap="square" lIns="28575" rIns="28575" tIns="9525" bIns="9525" anchor="ctr">
            <a:spAutoFit/>
          </a:bodyPr>
          <a:lstStyle/>
          <a:p>
            <a:pPr algn="ctr"/>
            <a:r>
              <a:rPr sz="1300" b="1">
                <a:solidFill>
                  <a:srgbClr val="2E2E2E"/>
                </a:solidFill>
                <a:latin typeface="Calibri"/>
              </a:rPr>
              <a:t>2036</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Analysis and Recommendation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the market approach, differentiating strategy and FMI's analysis and recommendation</a:t>
            </a:r>
          </a:p>
        </p:txBody>
      </p:sp>
      <p:sp>
        <p:nvSpPr>
          <p:cNvPr id="10" name="Rounded Rectangle 9"/>
          <p:cNvSpPr/>
          <p:nvPr/>
        </p:nvSpPr>
        <p:spPr>
          <a:xfrm>
            <a:off x="142875" y="981075"/>
            <a:ext cx="5876925" cy="1743075"/>
          </a:xfrm>
          <a:prstGeom prst="roundRect">
            <a:avLst>
              <a:gd name="adj" fmla="val 4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Overall Market Approach</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Balance scale in 'Rollstock Films' with targeted growth in 'Premade Pouches &amp; Bags', pursuing the 6.6% CAGR trajectory to 2036.</a:t>
            </a:r>
          </a:p>
        </p:txBody>
      </p:sp>
      <p:sp>
        <p:nvSpPr>
          <p:cNvPr id="14" name="Rounded Rectangle 13"/>
          <p:cNvSpPr/>
          <p:nvPr/>
        </p:nvSpPr>
        <p:spPr>
          <a:xfrm>
            <a:off x="6172200" y="981075"/>
            <a:ext cx="5876925" cy="1743075"/>
          </a:xfrm>
          <a:prstGeom prst="roundRect">
            <a:avLst>
              <a:gd name="adj" fmla="val 4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Differentiating Strategy</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Differentiate through the high-growth 'Premade Pouches &amp; Bags' tier and Food Packaging within application.</a:t>
            </a:r>
          </a:p>
        </p:txBody>
      </p:sp>
      <p:sp>
        <p:nvSpPr>
          <p:cNvPr id="18" name="Rounded Rectangle 17"/>
          <p:cNvSpPr/>
          <p:nvPr/>
        </p:nvSpPr>
        <p:spPr>
          <a:xfrm>
            <a:off x="142875" y="2857500"/>
            <a:ext cx="5876925" cy="1562100"/>
          </a:xfrm>
          <a:prstGeom prst="roundRect">
            <a:avLst>
              <a:gd name="adj" fmla="val 48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943225"/>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Segment</a:t>
            </a:r>
          </a:p>
        </p:txBody>
      </p:sp>
      <p:sp>
        <p:nvSpPr>
          <p:cNvPr id="20" name="Rectangle 19"/>
          <p:cNvSpPr/>
          <p:nvPr/>
        </p:nvSpPr>
        <p:spPr>
          <a:xfrm>
            <a:off x="276225" y="31813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267075"/>
            <a:ext cx="5610225" cy="10763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Prioritise 'Premade Pouches &amp; Bags' (6.7%); 'Rollstock Films' anchors 53.6% of value.</a:t>
            </a:r>
          </a:p>
        </p:txBody>
      </p:sp>
      <p:sp>
        <p:nvSpPr>
          <p:cNvPr id="22" name="Rounded Rectangle 21"/>
          <p:cNvSpPr/>
          <p:nvPr/>
        </p:nvSpPr>
        <p:spPr>
          <a:xfrm>
            <a:off x="6172200" y="2857500"/>
            <a:ext cx="5876925" cy="1562100"/>
          </a:xfrm>
          <a:prstGeom prst="roundRect">
            <a:avLst>
              <a:gd name="adj" fmla="val 48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2943225"/>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Region</a:t>
            </a:r>
          </a:p>
        </p:txBody>
      </p:sp>
      <p:sp>
        <p:nvSpPr>
          <p:cNvPr id="24" name="Rectangle 23"/>
          <p:cNvSpPr/>
          <p:nvPr/>
        </p:nvSpPr>
        <p:spPr>
          <a:xfrm>
            <a:off x="6305550" y="31813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267075"/>
            <a:ext cx="5610225" cy="10763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Lead with East Asia (26.5%); capture upside in Middle East &amp; Africa (8.3%).</a:t>
            </a:r>
          </a:p>
        </p:txBody>
      </p:sp>
      <p:sp>
        <p:nvSpPr>
          <p:cNvPr id="26" name="Rounded Rectangle 25"/>
          <p:cNvSpPr/>
          <p:nvPr/>
        </p:nvSpPr>
        <p:spPr>
          <a:xfrm>
            <a:off x="142875" y="4552950"/>
            <a:ext cx="11906250" cy="2057400"/>
          </a:xfrm>
          <a:prstGeom prst="roundRect">
            <a:avLst>
              <a:gd name="adj" fmla="val 370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4638675"/>
            <a:ext cx="11639550" cy="209550"/>
          </a:xfrm>
          <a:prstGeom prst="rect">
            <a:avLst/>
          </a:prstGeom>
          <a:noFill/>
        </p:spPr>
        <p:txBody>
          <a:bodyPr wrap="square" lIns="0" rIns="19050" tIns="9525" bIns="9525">
            <a:spAutoFit/>
          </a:bodyPr>
          <a:lstStyle/>
          <a:p>
            <a:pPr algn="l"/>
            <a:r>
              <a:rPr sz="1300" b="1">
                <a:solidFill>
                  <a:srgbClr val="0B2E4A"/>
                </a:solidFill>
                <a:latin typeface="Calibri"/>
              </a:rPr>
              <a:t>Fact.MR Analysis &amp; Recommendation</a:t>
            </a:r>
          </a:p>
        </p:txBody>
      </p:sp>
      <p:sp>
        <p:nvSpPr>
          <p:cNvPr id="28" name="Rectangle 27"/>
          <p:cNvSpPr/>
          <p:nvPr/>
        </p:nvSpPr>
        <p:spPr>
          <a:xfrm>
            <a:off x="276225" y="48768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6225" y="4962525"/>
            <a:ext cx="116395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Flexible Plastic Packaging adds 112,862 US$ Mn of demand to 2036 a 1.9× expansion.</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Concentrate resources on the leading segment/region while seeding the fastest-growing pockets early.</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Defend share in 'Rollstock Films' as the value anchor of the portfolio.</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Scenario Outlook (4/4)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Scenario outlook comparing optimistic, likely and conservative outcomes for 2036 and the CAGR behind each</a:t>
            </a:r>
          </a:p>
        </p:txBody>
      </p:sp>
      <p:sp>
        <p:nvSpPr>
          <p:cNvPr id="10" name="Rounded Rectangle 9"/>
          <p:cNvSpPr/>
          <p:nvPr/>
        </p:nvSpPr>
        <p:spPr>
          <a:xfrm>
            <a:off x="142875" y="981075"/>
            <a:ext cx="3943350"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OPTIMISTIC (2036)</a:t>
            </a:r>
          </a:p>
          <a:p>
            <a:pPr algn="ctr">
              <a:lnSpc>
                <a:spcPct val="95000"/>
              </a:lnSpc>
            </a:pPr>
            <a:r>
              <a:rPr sz="1500" b="1">
                <a:solidFill>
                  <a:srgbClr val="0E72AE"/>
                </a:solidFill>
                <a:latin typeface="Calibri"/>
              </a:rPr>
              <a:t>283,328 US$ Mn</a:t>
            </a:r>
          </a:p>
          <a:p>
            <a:pPr algn="ctr">
              <a:lnSpc>
                <a:spcPct val="95000"/>
              </a:lnSpc>
            </a:pPr>
            <a:r>
              <a:rPr sz="1100" b="0">
                <a:solidFill>
                  <a:srgbClr val="6C7A89"/>
                </a:solidFill>
                <a:latin typeface="Calibri"/>
              </a:rPr>
              <a:t>CAGR 8.1%</a:t>
            </a:r>
          </a:p>
        </p:txBody>
      </p:sp>
      <p:sp>
        <p:nvSpPr>
          <p:cNvPr id="11" name="Rounded Rectangle 10"/>
          <p:cNvSpPr/>
          <p:nvPr/>
        </p:nvSpPr>
        <p:spPr>
          <a:xfrm>
            <a:off x="4238625" y="981075"/>
            <a:ext cx="3819525"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LIKELY (2036)</a:t>
            </a:r>
          </a:p>
          <a:p>
            <a:pPr algn="ctr">
              <a:lnSpc>
                <a:spcPct val="95000"/>
              </a:lnSpc>
            </a:pPr>
            <a:r>
              <a:rPr sz="1500" b="1">
                <a:solidFill>
                  <a:srgbClr val="0E72AE"/>
                </a:solidFill>
                <a:latin typeface="Calibri"/>
              </a:rPr>
              <a:t>240,208 US$ Mn</a:t>
            </a:r>
          </a:p>
          <a:p>
            <a:pPr algn="ctr">
              <a:lnSpc>
                <a:spcPct val="95000"/>
              </a:lnSpc>
            </a:pPr>
            <a:r>
              <a:rPr sz="1100" b="0">
                <a:solidFill>
                  <a:srgbClr val="6C7A89"/>
                </a:solidFill>
                <a:latin typeface="Calibri"/>
              </a:rPr>
              <a:t>CAGR 6.6%</a:t>
            </a:r>
          </a:p>
        </p:txBody>
      </p:sp>
      <p:sp>
        <p:nvSpPr>
          <p:cNvPr id="12" name="Rounded Rectangle 11"/>
          <p:cNvSpPr/>
          <p:nvPr/>
        </p:nvSpPr>
        <p:spPr>
          <a:xfrm>
            <a:off x="8210550" y="981075"/>
            <a:ext cx="3819525"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CONSERVATIVE (2036)</a:t>
            </a:r>
          </a:p>
          <a:p>
            <a:pPr algn="ctr">
              <a:lnSpc>
                <a:spcPct val="95000"/>
              </a:lnSpc>
            </a:pPr>
            <a:r>
              <a:rPr sz="1500" b="1">
                <a:solidFill>
                  <a:srgbClr val="0E72AE"/>
                </a:solidFill>
                <a:latin typeface="Calibri"/>
              </a:rPr>
              <a:t>203,136 US$ Mn</a:t>
            </a:r>
          </a:p>
          <a:p>
            <a:pPr algn="ctr">
              <a:lnSpc>
                <a:spcPct val="95000"/>
              </a:lnSpc>
            </a:pPr>
            <a:r>
              <a:rPr sz="1100" b="0">
                <a:solidFill>
                  <a:srgbClr val="6C7A89"/>
                </a:solidFill>
                <a:latin typeface="Calibri"/>
              </a:rPr>
              <a:t>CAGR 4.9%</a:t>
            </a:r>
          </a:p>
        </p:txBody>
      </p:sp>
      <p:sp>
        <p:nvSpPr>
          <p:cNvPr id="13" name="Rounded Rectangle 12"/>
          <p:cNvSpPr/>
          <p:nvPr/>
        </p:nvSpPr>
        <p:spPr>
          <a:xfrm>
            <a:off x="142875" y="1809750"/>
            <a:ext cx="5876925" cy="3009900"/>
          </a:xfrm>
          <a:prstGeom prst="roundRect">
            <a:avLst>
              <a:gd name="adj" fmla="val 25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669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Flexible Plastic Packaging Market Value (US$ Mn) Scenario Forecast, 2025 &amp; 2036</a:t>
            </a:r>
          </a:p>
        </p:txBody>
      </p:sp>
      <p:cxnSp>
        <p:nvCxnSpPr>
          <p:cNvPr id="15" name="Connector 14"/>
          <p:cNvCxnSpPr/>
          <p:nvPr/>
        </p:nvCxnSpPr>
        <p:spPr>
          <a:xfrm>
            <a:off x="238125" y="4305300"/>
            <a:ext cx="568642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706342" y="3579796"/>
            <a:ext cx="635826" cy="725504"/>
          </a:xfrm>
          <a:prstGeom prst="rect">
            <a:avLst/>
          </a:prstGeom>
          <a:solidFill>
            <a:srgbClr val="403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043936" y="3086311"/>
            <a:ext cx="635826" cy="1218989"/>
          </a:xfrm>
          <a:prstGeom prst="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25725" y="2863843"/>
            <a:ext cx="635826" cy="1441457"/>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07515" y="2605088"/>
            <a:ext cx="635826" cy="1700212"/>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1456468" y="2952961"/>
            <a:ext cx="1568418" cy="0"/>
          </a:xfrm>
          <a:prstGeom prst="line">
            <a:avLst/>
          </a:prstGeom>
          <a:ln w="15875">
            <a:solidFill>
              <a:srgbClr val="92D05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570768" y="2848186"/>
            <a:ext cx="1358868" cy="209550"/>
          </a:xfrm>
          <a:prstGeom prst="round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CAGR: 4.9%</a:t>
            </a:r>
          </a:p>
        </p:txBody>
      </p:sp>
      <p:cxnSp>
        <p:nvCxnSpPr>
          <p:cNvPr id="22" name="Connector 21"/>
          <p:cNvCxnSpPr/>
          <p:nvPr/>
        </p:nvCxnSpPr>
        <p:spPr>
          <a:xfrm>
            <a:off x="1456468" y="2695786"/>
            <a:ext cx="2550207" cy="0"/>
          </a:xfrm>
          <a:prstGeom prst="line">
            <a:avLst/>
          </a:prstGeom>
          <a:ln w="15875">
            <a:solidFill>
              <a:srgbClr val="0078D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570768" y="2591011"/>
            <a:ext cx="1358868" cy="20955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CAGR: 6.6%</a:t>
            </a:r>
          </a:p>
        </p:txBody>
      </p:sp>
      <p:cxnSp>
        <p:nvCxnSpPr>
          <p:cNvPr id="24" name="Connector 23"/>
          <p:cNvCxnSpPr/>
          <p:nvPr/>
        </p:nvCxnSpPr>
        <p:spPr>
          <a:xfrm>
            <a:off x="1456468" y="2438611"/>
            <a:ext cx="3531997" cy="0"/>
          </a:xfrm>
          <a:prstGeom prst="line">
            <a:avLst/>
          </a:prstGeom>
          <a:ln w="15875">
            <a:solidFill>
              <a:srgbClr val="80808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570768" y="2333836"/>
            <a:ext cx="1358868" cy="209550"/>
          </a:xfrm>
          <a:prstGeom prst="round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CAGR: 8.1%</a:t>
            </a:r>
          </a:p>
        </p:txBody>
      </p:sp>
      <p:sp>
        <p:nvSpPr>
          <p:cNvPr id="26" name="TextBox 25"/>
          <p:cNvSpPr txBox="1"/>
          <p:nvPr/>
        </p:nvSpPr>
        <p:spPr>
          <a:xfrm>
            <a:off x="643255"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2025</a:t>
            </a:r>
          </a:p>
        </p:txBody>
      </p:sp>
      <p:sp>
        <p:nvSpPr>
          <p:cNvPr id="27" name="TextBox 26"/>
          <p:cNvSpPr txBox="1"/>
          <p:nvPr/>
        </p:nvSpPr>
        <p:spPr>
          <a:xfrm>
            <a:off x="3962638"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2036</a:t>
            </a:r>
          </a:p>
        </p:txBody>
      </p:sp>
      <p:sp>
        <p:nvSpPr>
          <p:cNvPr id="28" name="Oval 27"/>
          <p:cNvSpPr/>
          <p:nvPr/>
        </p:nvSpPr>
        <p:spPr>
          <a:xfrm>
            <a:off x="304800" y="4572000"/>
            <a:ext cx="133350" cy="13335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577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Conservative Scenario</a:t>
            </a:r>
          </a:p>
        </p:txBody>
      </p:sp>
      <p:sp>
        <p:nvSpPr>
          <p:cNvPr id="30" name="Oval 29"/>
          <p:cNvSpPr/>
          <p:nvPr/>
        </p:nvSpPr>
        <p:spPr>
          <a:xfrm>
            <a:off x="2200275" y="4572000"/>
            <a:ext cx="133350" cy="13335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0"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Likely Scenario</a:t>
            </a:r>
          </a:p>
        </p:txBody>
      </p:sp>
      <p:sp>
        <p:nvSpPr>
          <p:cNvPr id="32" name="Oval 31"/>
          <p:cNvSpPr/>
          <p:nvPr/>
        </p:nvSpPr>
        <p:spPr>
          <a:xfrm>
            <a:off x="4095750" y="4572000"/>
            <a:ext cx="133350" cy="133350"/>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7672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Optimistic Scenario</a:t>
            </a:r>
          </a:p>
        </p:txBody>
      </p:sp>
      <p:sp>
        <p:nvSpPr>
          <p:cNvPr id="34" name="Rounded Rectangle 33"/>
          <p:cNvSpPr/>
          <p:nvPr/>
        </p:nvSpPr>
        <p:spPr>
          <a:xfrm>
            <a:off x="6172200" y="1809750"/>
            <a:ext cx="5876925" cy="3009900"/>
          </a:xfrm>
          <a:prstGeom prst="roundRect">
            <a:avLst>
              <a:gd name="adj" fmla="val 25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67450" y="18669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Flexible Plastic Packaging Market Attractiveness Analysis By Region, 2026–2036</a:t>
            </a:r>
          </a:p>
        </p:txBody>
      </p:sp>
      <p:graphicFrame>
        <p:nvGraphicFramePr>
          <p:cNvPr id="36" name="Chart 35"/>
          <p:cNvGraphicFramePr>
            <a:graphicFrameLocks noGrp="1"/>
          </p:cNvGraphicFramePr>
          <p:nvPr/>
        </p:nvGraphicFramePr>
        <p:xfrm>
          <a:off x="6267450" y="2266950"/>
          <a:ext cx="5686425" cy="2495550"/>
        </p:xfrm>
        <a:graphic>
          <a:graphicData uri="http://schemas.openxmlformats.org/drawingml/2006/chart">
            <c:chart xmlns:c="http://schemas.openxmlformats.org/drawingml/2006/chart" r:id="rId3"/>
          </a:graphicData>
        </a:graphic>
      </p:graphicFrame>
      <p:sp>
        <p:nvSpPr>
          <p:cNvPr id="37" name="Rounded Rectangle 36"/>
          <p:cNvSpPr/>
          <p:nvPr/>
        </p:nvSpPr>
        <p:spPr>
          <a:xfrm>
            <a:off x="142875" y="4953000"/>
            <a:ext cx="11906250" cy="1676400"/>
          </a:xfrm>
          <a:prstGeom prst="roundRect">
            <a:avLst>
              <a:gd name="adj" fmla="val 45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6225" y="5038725"/>
            <a:ext cx="11639550" cy="209550"/>
          </a:xfrm>
          <a:prstGeom prst="rect">
            <a:avLst/>
          </a:prstGeom>
          <a:noFill/>
        </p:spPr>
        <p:txBody>
          <a:bodyPr wrap="square" lIns="0" rIns="19050" tIns="9525" bIns="9525">
            <a:spAutoFit/>
          </a:bodyPr>
          <a:lstStyle/>
          <a:p>
            <a:pPr algn="l"/>
            <a:r>
              <a:rPr sz="1300" b="1">
                <a:solidFill>
                  <a:srgbClr val="0B2E4A"/>
                </a:solidFill>
                <a:latin typeface="Calibri"/>
              </a:rPr>
              <a:t>Scenario Assumptions &amp; Outlook</a:t>
            </a:r>
          </a:p>
        </p:txBody>
      </p:sp>
      <p:sp>
        <p:nvSpPr>
          <p:cNvPr id="39" name="Rectangle 38"/>
          <p:cNvSpPr/>
          <p:nvPr/>
        </p:nvSpPr>
        <p:spPr>
          <a:xfrm>
            <a:off x="276225" y="52768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6225" y="5362575"/>
            <a:ext cx="11639550" cy="1190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Optimistic: 283,328 US$ Mn by 2036 at 8.1% CAGR.</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Likely (base forecast): 240,208 US$ Mn at 6.6% CAGR.</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Conservative: 203,136 US$ Mn at 4.9% CAGR.</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Scenarios flex the base forecast's year-on-year growth by ±25% across the 2026–2036 horizon.</a:t>
            </a:r>
          </a:p>
        </p:txBody>
      </p:sp>
      <p:sp>
        <p:nvSpPr>
          <p:cNvPr id="41" name="TextBox 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0E72AE"/>
                </a:solidFill>
                <a:latin typeface="Calibri"/>
              </a:rPr>
              <a:t>Flexible Plastic Packaging Market</a:t>
            </a:r>
          </a:p>
        </p:txBody>
      </p:sp>
      <p:sp>
        <p:nvSpPr>
          <p:cNvPr id="10" name="FMI Section Title"/>
          <p:cNvSpPr txBox="1"/>
          <p:nvPr/>
        </p:nvSpPr>
        <p:spPr>
          <a:xfrm>
            <a:off x="914400" y="2898775"/>
            <a:ext cx="8572500" cy="514350"/>
          </a:xfrm>
          <a:prstGeom prst="rect">
            <a:avLst/>
          </a:prstGeom>
          <a:noFill/>
        </p:spPr>
        <p:txBody>
          <a:bodyPr wrap="square" lIns="0" rIns="0" tIns="0">
            <a:spAutoFit/>
          </a:bodyPr>
          <a:lstStyle/>
          <a:p>
            <a:r>
              <a:rPr sz="3000" b="1">
                <a:solidFill>
                  <a:srgbClr val="0B3C8C"/>
                </a:solidFill>
                <a:latin typeface="Calibri"/>
              </a:rPr>
              <a:t>Global Market Analysis By Region</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Global Flexible Plastic Packaging – Regional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Analysis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Share Analysis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Share Analysis By Region</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Flexible Plastic Packaging – Regional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analysis of size, growth and share across 6 regions, highlighting where value concentrates,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TextBox 10"/>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By Region view breaks the Global market down geographically. Each region is evaluated on market size, growth outlook and adoption trends across the forecast period.</a:t>
            </a:r>
          </a:p>
        </p:txBody>
      </p:sp>
      <p:sp>
        <p:nvSpPr>
          <p:cNvPr id="12" name="Rectangle 11"/>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Region</a:t>
            </a:r>
          </a:p>
        </p:txBody>
      </p:sp>
      <p:sp>
        <p:nvSpPr>
          <p:cNvPr id="14" name="Rectangle 13"/>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6" name="Rectangle 15"/>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8" name="Rectangle 17"/>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20" name="Rounded Rectangle 19"/>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North America</a:t>
            </a:r>
          </a:p>
        </p:txBody>
      </p:sp>
      <p:sp>
        <p:nvSpPr>
          <p:cNvPr id="23" name="Rectangle 22"/>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35,977</a:t>
            </a:r>
          </a:p>
        </p:txBody>
      </p:sp>
      <p:sp>
        <p:nvSpPr>
          <p:cNvPr id="24" name="Rectangle 23"/>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62,068</a:t>
            </a:r>
          </a:p>
        </p:txBody>
      </p:sp>
      <p:sp>
        <p:nvSpPr>
          <p:cNvPr id="25" name="Rectangle 24"/>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5.6%</a:t>
            </a:r>
          </a:p>
        </p:txBody>
      </p:sp>
      <p:sp>
        <p:nvSpPr>
          <p:cNvPr id="26" name="Oval 25"/>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East Asia</a:t>
            </a:r>
          </a:p>
        </p:txBody>
      </p:sp>
      <p:sp>
        <p:nvSpPr>
          <p:cNvPr id="30" name="Rectangle 29"/>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34,334</a:t>
            </a:r>
          </a:p>
        </p:txBody>
      </p:sp>
      <p:sp>
        <p:nvSpPr>
          <p:cNvPr id="31" name="Rectangle 30"/>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63,723</a:t>
            </a:r>
          </a:p>
        </p:txBody>
      </p:sp>
      <p:sp>
        <p:nvSpPr>
          <p:cNvPr id="32" name="Rectangle 31"/>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6.4%</a:t>
            </a:r>
          </a:p>
        </p:txBody>
      </p:sp>
      <p:sp>
        <p:nvSpPr>
          <p:cNvPr id="33" name="Oval 32"/>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Europe</a:t>
            </a:r>
          </a:p>
        </p:txBody>
      </p:sp>
      <p:sp>
        <p:nvSpPr>
          <p:cNvPr id="37" name="Rectangle 36"/>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26,141</a:t>
            </a:r>
          </a:p>
        </p:txBody>
      </p:sp>
      <p:sp>
        <p:nvSpPr>
          <p:cNvPr id="38" name="Rectangle 37"/>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49,393</a:t>
            </a:r>
          </a:p>
        </p:txBody>
      </p:sp>
      <p:sp>
        <p:nvSpPr>
          <p:cNvPr id="39" name="Rectangle 38"/>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6.6%</a:t>
            </a:r>
          </a:p>
        </p:txBody>
      </p:sp>
      <p:sp>
        <p:nvSpPr>
          <p:cNvPr id="40" name="Oval 39"/>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1" name="Rounded Rectangle 40"/>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South Asia &amp; Pacific</a:t>
            </a:r>
          </a:p>
        </p:txBody>
      </p:sp>
      <p:sp>
        <p:nvSpPr>
          <p:cNvPr id="44" name="Rectangle 43"/>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15,462</a:t>
            </a:r>
          </a:p>
        </p:txBody>
      </p:sp>
      <p:sp>
        <p:nvSpPr>
          <p:cNvPr id="45" name="Rectangle 44"/>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32,687</a:t>
            </a:r>
          </a:p>
        </p:txBody>
      </p:sp>
      <p:sp>
        <p:nvSpPr>
          <p:cNvPr id="46" name="Rectangle 45"/>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7.8%</a:t>
            </a:r>
          </a:p>
        </p:txBody>
      </p:sp>
      <p:sp>
        <p:nvSpPr>
          <p:cNvPr id="47" name="Oval 46"/>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8" name="Rounded Rectangle 47"/>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Latin America</a:t>
            </a:r>
          </a:p>
        </p:txBody>
      </p:sp>
      <p:sp>
        <p:nvSpPr>
          <p:cNvPr id="51" name="Rectangle 50"/>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8,324</a:t>
            </a:r>
          </a:p>
        </p:txBody>
      </p:sp>
      <p:sp>
        <p:nvSpPr>
          <p:cNvPr id="52" name="Rectangle 51"/>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16,618</a:t>
            </a:r>
          </a:p>
        </p:txBody>
      </p:sp>
      <p:sp>
        <p:nvSpPr>
          <p:cNvPr id="53" name="Rectangle 52"/>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7.2%</a:t>
            </a:r>
          </a:p>
        </p:txBody>
      </p:sp>
      <p:sp>
        <p:nvSpPr>
          <p:cNvPr id="54" name="Oval 53"/>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5" name="Rounded Rectangle 54"/>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Middle East &amp; Africa</a:t>
            </a:r>
          </a:p>
        </p:txBody>
      </p:sp>
      <p:sp>
        <p:nvSpPr>
          <p:cNvPr id="58" name="Rectangle 57"/>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7,108</a:t>
            </a:r>
          </a:p>
        </p:txBody>
      </p:sp>
      <p:sp>
        <p:nvSpPr>
          <p:cNvPr id="59" name="Rectangle 58"/>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15,718</a:t>
            </a:r>
          </a:p>
        </p:txBody>
      </p:sp>
      <p:sp>
        <p:nvSpPr>
          <p:cNvPr id="60" name="Rectangle 59"/>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8.3%</a:t>
            </a:r>
          </a:p>
        </p:txBody>
      </p:sp>
      <p:sp>
        <p:nvSpPr>
          <p:cNvPr id="61" name="Oval 60"/>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62" name="Rounded Rectangle 61"/>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4" name="Rectangle 63"/>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0E72AE"/>
                </a:solidFill>
                <a:latin typeface="Calibri"/>
              </a:rPr>
              <a:t>▪  </a:t>
            </a:r>
            <a:r>
              <a:rPr sz="1100" b="0">
                <a:solidFill>
                  <a:srgbClr val="2E2E2E"/>
                </a:solidFill>
                <a:latin typeface="Calibri"/>
              </a:rPr>
              <a:t>¶ East Asia flexible plastic packaging market is projected to register 1.0X higher value than North America in 2036. Among flexible plastic packaging by region, Middle East &amp; Africa is expected to witness the highest CAGR of 8.3% over the forecast period.</a:t>
            </a:r>
          </a:p>
          <a:p>
            <a:pPr algn="l">
              <a:lnSpc>
                <a:spcPct val="105000"/>
              </a:lnSpc>
              <a:spcBef>
                <a:spcPts val="0"/>
              </a:spcBef>
              <a:spcAft>
                <a:spcPts val="300"/>
              </a:spcAft>
            </a:pPr>
            <a:r>
              <a:rPr sz="1100" b="0">
                <a:solidFill>
                  <a:srgbClr val="0E72AE"/>
                </a:solidFill>
                <a:latin typeface="Calibri"/>
              </a:rPr>
              <a:t>▪  </a:t>
            </a:r>
            <a:r>
              <a:rPr sz="1100" b="0">
                <a:solidFill>
                  <a:srgbClr val="2E2E2E"/>
                </a:solidFill>
                <a:latin typeface="Calibri"/>
              </a:rPr>
              <a:t>¶ In terms of value share by region, East Asia is expected to dominate the market, losing 43 BPS and accounting for 26.5% share by 2036. North America is expected to lose 241 BPS over the forecast period to account for 25.8% share by 2036.</a:t>
            </a:r>
          </a:p>
        </p:txBody>
      </p:sp>
      <p:sp>
        <p:nvSpPr>
          <p:cNvPr id="66" name="Rounded Rectangle 65"/>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8" name="Rectangle 67"/>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t>
            </a:r>
            <a:r>
              <a:rPr sz="1100" b="1">
                <a:solidFill>
                  <a:srgbClr val="0B2E4A"/>
                </a:solidFill>
                <a:latin typeface="Calibri"/>
              </a:rPr>
              <a:t>North America: </a:t>
            </a:r>
            <a:r>
              <a:rPr sz="1100" b="0">
                <a:solidFill>
                  <a:srgbClr val="2E2E2E"/>
                </a:solidFill>
                <a:latin typeface="Calibri"/>
              </a:rPr>
              <a:t>28% of 2026 value · 5.6% CAGR leads the market.</a:t>
            </a:r>
          </a:p>
          <a:p>
            <a:pPr algn="l">
              <a:lnSpc>
                <a:spcPct val="110000"/>
              </a:lnSpc>
              <a:spcBef>
                <a:spcPts val="0"/>
              </a:spcBef>
              <a:spcAft>
                <a:spcPts val="500"/>
              </a:spcAft>
            </a:pPr>
            <a:r>
              <a:rPr sz="1100" b="0">
                <a:solidFill>
                  <a:srgbClr val="0E72AE"/>
                </a:solidFill>
                <a:latin typeface="Calibri"/>
              </a:rPr>
              <a:t>●  </a:t>
            </a:r>
            <a:r>
              <a:rPr sz="1100" b="1">
                <a:solidFill>
                  <a:srgbClr val="0E72AE"/>
                </a:solidFill>
                <a:latin typeface="Calibri"/>
              </a:rPr>
              <a:t>East Asia: </a:t>
            </a:r>
            <a:r>
              <a:rPr sz="1100" b="0">
                <a:solidFill>
                  <a:srgbClr val="2E2E2E"/>
                </a:solidFill>
                <a:latin typeface="Calibri"/>
              </a:rPr>
              <a:t>27% of 2026 value · 6.4% CAGR a smaller market.</a:t>
            </a:r>
          </a:p>
          <a:p>
            <a:pPr algn="l">
              <a:lnSpc>
                <a:spcPct val="110000"/>
              </a:lnSpc>
              <a:spcBef>
                <a:spcPts val="0"/>
              </a:spcBef>
              <a:spcAft>
                <a:spcPts val="500"/>
              </a:spcAft>
            </a:pPr>
            <a:r>
              <a:rPr sz="1100" b="0">
                <a:solidFill>
                  <a:srgbClr val="008189"/>
                </a:solidFill>
                <a:latin typeface="Calibri"/>
              </a:rPr>
              <a:t>●  </a:t>
            </a:r>
            <a:r>
              <a:rPr sz="1100" b="1">
                <a:solidFill>
                  <a:srgbClr val="008189"/>
                </a:solidFill>
                <a:latin typeface="Calibri"/>
              </a:rPr>
              <a:t>Europe: </a:t>
            </a:r>
            <a:r>
              <a:rPr sz="1100" b="0">
                <a:solidFill>
                  <a:srgbClr val="2E2E2E"/>
                </a:solidFill>
                <a:latin typeface="Calibri"/>
              </a:rPr>
              <a:t>21% of 2026 value · 6.6% CAGR a smaller market.</a:t>
            </a:r>
          </a:p>
          <a:p>
            <a:pPr algn="l">
              <a:lnSpc>
                <a:spcPct val="110000"/>
              </a:lnSpc>
              <a:spcBef>
                <a:spcPts val="0"/>
              </a:spcBef>
              <a:spcAft>
                <a:spcPts val="500"/>
              </a:spcAft>
            </a:pPr>
            <a:r>
              <a:rPr sz="1100" b="0">
                <a:solidFill>
                  <a:srgbClr val="6F3CC2"/>
                </a:solidFill>
                <a:latin typeface="Calibri"/>
              </a:rPr>
              <a:t>●  </a:t>
            </a:r>
            <a:r>
              <a:rPr sz="1100" b="1">
                <a:solidFill>
                  <a:srgbClr val="6F3CC2"/>
                </a:solidFill>
                <a:latin typeface="Calibri"/>
              </a:rPr>
              <a:t>South Asia &amp; Pacific: </a:t>
            </a:r>
            <a:r>
              <a:rPr sz="1100" b="0">
                <a:solidFill>
                  <a:srgbClr val="2E2E2E"/>
                </a:solidFill>
                <a:latin typeface="Calibri"/>
              </a:rPr>
              <a:t>12% of 2026 value · 7.8% CAGR a smaller market.</a:t>
            </a:r>
          </a:p>
          <a:p>
            <a:pPr algn="l">
              <a:lnSpc>
                <a:spcPct val="110000"/>
              </a:lnSpc>
              <a:spcBef>
                <a:spcPts val="0"/>
              </a:spcBef>
              <a:spcAft>
                <a:spcPts val="500"/>
              </a:spcAft>
            </a:pPr>
            <a:r>
              <a:rPr sz="1100" b="0">
                <a:solidFill>
                  <a:srgbClr val="A86F00"/>
                </a:solidFill>
                <a:latin typeface="Calibri"/>
              </a:rPr>
              <a:t>●  </a:t>
            </a:r>
            <a:r>
              <a:rPr sz="1100" b="1">
                <a:solidFill>
                  <a:srgbClr val="A86F00"/>
                </a:solidFill>
                <a:latin typeface="Calibri"/>
              </a:rPr>
              <a:t>Latin America: </a:t>
            </a:r>
            <a:r>
              <a:rPr sz="1100" b="0">
                <a:solidFill>
                  <a:srgbClr val="2E2E2E"/>
                </a:solidFill>
                <a:latin typeface="Calibri"/>
              </a:rPr>
              <a:t>7% of 2026 value · 7.2% CAGR a smaller market.</a:t>
            </a:r>
          </a:p>
          <a:p>
            <a:pPr algn="l">
              <a:lnSpc>
                <a:spcPct val="110000"/>
              </a:lnSpc>
              <a:spcBef>
                <a:spcPts val="0"/>
              </a:spcBef>
              <a:spcAft>
                <a:spcPts val="500"/>
              </a:spcAft>
            </a:pPr>
            <a:r>
              <a:rPr sz="1100" b="0">
                <a:solidFill>
                  <a:srgbClr val="A35313"/>
                </a:solidFill>
                <a:latin typeface="Calibri"/>
              </a:rPr>
              <a:t>●  </a:t>
            </a:r>
            <a:r>
              <a:rPr sz="1100" b="1">
                <a:solidFill>
                  <a:srgbClr val="A35313"/>
                </a:solidFill>
                <a:latin typeface="Calibri"/>
              </a:rPr>
              <a:t>Middle East &amp; Africa: </a:t>
            </a:r>
            <a:r>
              <a:rPr sz="1100" b="0">
                <a:solidFill>
                  <a:srgbClr val="2E2E2E"/>
                </a:solidFill>
                <a:latin typeface="Calibri"/>
              </a:rPr>
              <a:t>6% of 2026 value · 8.3% CAGR grows fastest.</a:t>
            </a:r>
          </a:p>
        </p:txBody>
      </p:sp>
      <p:sp>
        <p:nvSpPr>
          <p:cNvPr id="70" name="Rounded Rectangle 69"/>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72" name="Rectangle 71"/>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By Region split shows where market value concentrates and where growth is fastest.</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demand and access dynamics are rebalancing the geographic mix through 2036.</a:t>
            </a:r>
          </a:p>
        </p:txBody>
      </p:sp>
      <p:sp>
        <p:nvSpPr>
          <p:cNvPr id="74" name="Rectangle 73"/>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The Global market is projected to grow at a CAGR of 6.6% from 2026 to 2036.</a:t>
            </a:r>
          </a:p>
        </p:txBody>
      </p:sp>
      <p:sp>
        <p:nvSpPr>
          <p:cNvPr id="76" name="TextBox 75"/>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7" name="TextBox 7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Flexible Plastic Packaging Market Analysis, By Region Volume (Thousand MT)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share by region in 2026 and 2036, highlighting share gains and losses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Region, 2026 &amp; 2036</a:t>
            </a:r>
          </a:p>
        </p:txBody>
      </p:sp>
      <p:graphicFrame>
        <p:nvGraphicFramePr>
          <p:cNvPr id="13" name="Chart 12"/>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4" name="TextBox 13"/>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5" name="FMI Lock Anchor"/>
          <p:cNvSpPr txBox="1"/>
          <p:nvPr/>
        </p:nvSpPr>
        <p:spPr>
          <a:xfrm>
            <a:off x="2489835" y="3352800"/>
            <a:ext cx="38100" cy="38100"/>
          </a:xfrm>
          <a:prstGeom prst="rect">
            <a:avLst/>
          </a:prstGeom>
          <a:noFill/>
        </p:spPr>
        <p:txBody>
          <a:bodyPr wrap="none">
            <a:spAutoFit/>
          </a:bodyPr>
          <a:lstStyle/>
          <a:p/>
        </p:txBody>
      </p:sp>
      <p:sp>
        <p:nvSpPr>
          <p:cNvPr id="16" name="FMI Legend Chip"/>
          <p:cNvSpPr/>
          <p:nvPr/>
        </p:nvSpPr>
        <p:spPr>
          <a:xfrm>
            <a:off x="4551045" y="1585860"/>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4712970" y="158109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4855845" y="1504897"/>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Middle East &amp; Africa</a:t>
            </a:r>
          </a:p>
        </p:txBody>
      </p:sp>
      <p:sp>
        <p:nvSpPr>
          <p:cNvPr id="19" name="BPS Value 1"/>
          <p:cNvSpPr txBox="1"/>
          <p:nvPr/>
        </p:nvSpPr>
        <p:spPr>
          <a:xfrm>
            <a:off x="6305550" y="1566810"/>
            <a:ext cx="514350" cy="123825"/>
          </a:xfrm>
          <a:prstGeom prst="rect">
            <a:avLst/>
          </a:prstGeom>
          <a:noFill/>
        </p:spPr>
        <p:txBody>
          <a:bodyPr wrap="none" lIns="0" rIns="0" tIns="0" bIns="0" anchor="ctr">
            <a:spAutoFit/>
          </a:bodyPr>
          <a:lstStyle/>
          <a:p>
            <a:pPr algn="r"/>
            <a:r>
              <a:rPr sz="900" b="1">
                <a:solidFill>
                  <a:srgbClr val="2E7D32"/>
                </a:solidFill>
                <a:latin typeface="Calibri"/>
              </a:rPr>
              <a:t>+96</a:t>
            </a:r>
          </a:p>
        </p:txBody>
      </p:sp>
      <p:sp>
        <p:nvSpPr>
          <p:cNvPr id="20" name="FMI Legend Chip"/>
          <p:cNvSpPr/>
          <p:nvPr/>
        </p:nvSpPr>
        <p:spPr>
          <a:xfrm>
            <a:off x="4551045" y="1842059"/>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a:off x="4712970" y="183729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4855845" y="1761096"/>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Latin America</a:t>
            </a:r>
          </a:p>
        </p:txBody>
      </p:sp>
      <p:sp>
        <p:nvSpPr>
          <p:cNvPr id="23" name="BPS Value 2"/>
          <p:cNvSpPr txBox="1"/>
          <p:nvPr/>
        </p:nvSpPr>
        <p:spPr>
          <a:xfrm>
            <a:off x="6305550" y="1823009"/>
            <a:ext cx="514350" cy="123825"/>
          </a:xfrm>
          <a:prstGeom prst="rect">
            <a:avLst/>
          </a:prstGeom>
          <a:noFill/>
        </p:spPr>
        <p:txBody>
          <a:bodyPr wrap="none" lIns="0" rIns="0" tIns="0" bIns="0" anchor="ctr">
            <a:spAutoFit/>
          </a:bodyPr>
          <a:lstStyle/>
          <a:p>
            <a:pPr algn="r"/>
            <a:r>
              <a:rPr sz="900" b="1">
                <a:solidFill>
                  <a:srgbClr val="2E7D32"/>
                </a:solidFill>
                <a:latin typeface="Calibri"/>
              </a:rPr>
              <a:t>+33</a:t>
            </a:r>
          </a:p>
        </p:txBody>
      </p:sp>
      <p:sp>
        <p:nvSpPr>
          <p:cNvPr id="24" name="FMI Legend Chip"/>
          <p:cNvSpPr/>
          <p:nvPr/>
        </p:nvSpPr>
        <p:spPr>
          <a:xfrm>
            <a:off x="4551045" y="2252123"/>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4712970" y="224736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3"/>
          <p:cNvSpPr txBox="1"/>
          <p:nvPr/>
        </p:nvSpPr>
        <p:spPr>
          <a:xfrm>
            <a:off x="4855845" y="2171160"/>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South Asia &amp; Pacific</a:t>
            </a:r>
          </a:p>
        </p:txBody>
      </p:sp>
      <p:sp>
        <p:nvSpPr>
          <p:cNvPr id="27" name="BPS Value 3"/>
          <p:cNvSpPr txBox="1"/>
          <p:nvPr/>
        </p:nvSpPr>
        <p:spPr>
          <a:xfrm>
            <a:off x="6305550" y="2233073"/>
            <a:ext cx="514350" cy="123825"/>
          </a:xfrm>
          <a:prstGeom prst="rect">
            <a:avLst/>
          </a:prstGeom>
          <a:noFill/>
        </p:spPr>
        <p:txBody>
          <a:bodyPr wrap="none" lIns="0" rIns="0" tIns="0" bIns="0" anchor="ctr">
            <a:spAutoFit/>
          </a:bodyPr>
          <a:lstStyle/>
          <a:p>
            <a:pPr algn="r"/>
            <a:r>
              <a:rPr sz="900" b="1">
                <a:solidFill>
                  <a:srgbClr val="2E7D32"/>
                </a:solidFill>
                <a:latin typeface="Calibri"/>
              </a:rPr>
              <a:t>+173</a:t>
            </a:r>
          </a:p>
        </p:txBody>
      </p:sp>
      <p:sp>
        <p:nvSpPr>
          <p:cNvPr id="28" name="FMI Legend Chip"/>
          <p:cNvSpPr/>
          <p:nvPr/>
        </p:nvSpPr>
        <p:spPr>
          <a:xfrm>
            <a:off x="4551045" y="2880615"/>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rot="10800000">
            <a:off x="4712970" y="287585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4"/>
          <p:cNvSpPr txBox="1"/>
          <p:nvPr/>
        </p:nvSpPr>
        <p:spPr>
          <a:xfrm>
            <a:off x="4855845" y="2799652"/>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Europe</a:t>
            </a:r>
          </a:p>
        </p:txBody>
      </p:sp>
      <p:sp>
        <p:nvSpPr>
          <p:cNvPr id="31" name="BPS Value 4"/>
          <p:cNvSpPr txBox="1"/>
          <p:nvPr/>
        </p:nvSpPr>
        <p:spPr>
          <a:xfrm>
            <a:off x="6305550" y="2861565"/>
            <a:ext cx="514350" cy="123825"/>
          </a:xfrm>
          <a:prstGeom prst="rect">
            <a:avLst/>
          </a:prstGeom>
          <a:noFill/>
        </p:spPr>
        <p:txBody>
          <a:bodyPr wrap="none" lIns="0" rIns="0" tIns="0" bIns="0" anchor="ctr">
            <a:spAutoFit/>
          </a:bodyPr>
          <a:lstStyle/>
          <a:p>
            <a:pPr algn="r"/>
            <a:r>
              <a:rPr sz="900" b="1">
                <a:solidFill>
                  <a:srgbClr val="E44D3A"/>
                </a:solidFill>
                <a:latin typeface="Calibri"/>
              </a:rPr>
              <a:t>-4</a:t>
            </a:r>
          </a:p>
        </p:txBody>
      </p:sp>
      <p:sp>
        <p:nvSpPr>
          <p:cNvPr id="32" name="FMI Legend Chip"/>
          <p:cNvSpPr/>
          <p:nvPr/>
        </p:nvSpPr>
        <p:spPr>
          <a:xfrm>
            <a:off x="4551045" y="3649960"/>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rot="10800000">
            <a:off x="4712970" y="364519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5"/>
          <p:cNvSpPr txBox="1"/>
          <p:nvPr/>
        </p:nvSpPr>
        <p:spPr>
          <a:xfrm>
            <a:off x="4855845" y="3568997"/>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North America</a:t>
            </a:r>
          </a:p>
        </p:txBody>
      </p:sp>
      <p:sp>
        <p:nvSpPr>
          <p:cNvPr id="35" name="BPS Value 5"/>
          <p:cNvSpPr txBox="1"/>
          <p:nvPr/>
        </p:nvSpPr>
        <p:spPr>
          <a:xfrm>
            <a:off x="6305550" y="3630910"/>
            <a:ext cx="514350" cy="123825"/>
          </a:xfrm>
          <a:prstGeom prst="rect">
            <a:avLst/>
          </a:prstGeom>
          <a:noFill/>
        </p:spPr>
        <p:txBody>
          <a:bodyPr wrap="none" lIns="0" rIns="0" tIns="0" bIns="0" anchor="ctr">
            <a:spAutoFit/>
          </a:bodyPr>
          <a:lstStyle/>
          <a:p>
            <a:pPr algn="r"/>
            <a:r>
              <a:rPr sz="900" b="1">
                <a:solidFill>
                  <a:srgbClr val="E44D3A"/>
                </a:solidFill>
                <a:latin typeface="Calibri"/>
              </a:rPr>
              <a:t>-229</a:t>
            </a:r>
          </a:p>
        </p:txBody>
      </p:sp>
      <p:sp>
        <p:nvSpPr>
          <p:cNvPr id="36" name="FMI Legend Chip"/>
          <p:cNvSpPr/>
          <p:nvPr/>
        </p:nvSpPr>
        <p:spPr>
          <a:xfrm>
            <a:off x="4551045" y="4598831"/>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Isosceles Triangle 36"/>
          <p:cNvSpPr/>
          <p:nvPr/>
        </p:nvSpPr>
        <p:spPr>
          <a:xfrm rot="10800000">
            <a:off x="4712970" y="459406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PS Name 6"/>
          <p:cNvSpPr txBox="1"/>
          <p:nvPr/>
        </p:nvSpPr>
        <p:spPr>
          <a:xfrm>
            <a:off x="4855845" y="4517868"/>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East Asia</a:t>
            </a:r>
          </a:p>
        </p:txBody>
      </p:sp>
      <p:sp>
        <p:nvSpPr>
          <p:cNvPr id="39" name="BPS Value 6"/>
          <p:cNvSpPr txBox="1"/>
          <p:nvPr/>
        </p:nvSpPr>
        <p:spPr>
          <a:xfrm>
            <a:off x="6305550" y="4579781"/>
            <a:ext cx="514350" cy="123825"/>
          </a:xfrm>
          <a:prstGeom prst="rect">
            <a:avLst/>
          </a:prstGeom>
          <a:noFill/>
        </p:spPr>
        <p:txBody>
          <a:bodyPr wrap="none" lIns="0" rIns="0" tIns="0" bIns="0" anchor="ctr">
            <a:spAutoFit/>
          </a:bodyPr>
          <a:lstStyle/>
          <a:p>
            <a:pPr algn="r"/>
            <a:r>
              <a:rPr sz="900" b="1">
                <a:solidFill>
                  <a:srgbClr val="E44D3A"/>
                </a:solidFill>
                <a:latin typeface="Calibri"/>
              </a:rPr>
              <a:t>-68</a:t>
            </a:r>
          </a:p>
        </p:txBody>
      </p:sp>
      <p:sp>
        <p:nvSpPr>
          <p:cNvPr id="40" name="Rounded Rectangle 39"/>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42" name="Rectangle 41"/>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East Asia flexible plastic packaging market is projected to register 1.3X higher volume than North America in 2036. Among flexible plastic packaging by region, Middle East &amp; Africa is expected to witness the highest CAGR of 6.9% over the forecast period.</a:t>
            </a:r>
          </a:p>
          <a:p>
            <a:pPr algn="l">
              <a:lnSpc>
                <a:spcPct val="110000"/>
              </a:lnSpc>
              <a:spcBef>
                <a:spcPts val="0"/>
              </a:spcBef>
              <a:spcAft>
                <a:spcPts val="500"/>
              </a:spcAft>
            </a:pPr>
            <a:r>
              <a:rPr sz="1150" b="0">
                <a:solidFill>
                  <a:srgbClr val="2E2E2E"/>
                </a:solidFill>
                <a:latin typeface="Calibri"/>
              </a:rPr>
              <a:t>In terms of volume share by region, East Asia is expected to dominate the market, losing 68 BPS and accounting for 28.9% share by 2036. North America is expected to lose 229 BPS over the forecast period to account for 22.8% share by 2036.</a:t>
            </a:r>
          </a:p>
          <a:p>
            <a:pPr algn="l">
              <a:lnSpc>
                <a:spcPct val="110000"/>
              </a:lnSpc>
              <a:spcBef>
                <a:spcPts val="0"/>
              </a:spcBef>
              <a:spcAft>
                <a:spcPts val="500"/>
              </a:spcAft>
            </a:pPr>
            <a:r>
              <a:rPr sz="1150" b="0">
                <a:solidFill>
                  <a:srgbClr val="2E2E2E"/>
                </a:solidFill>
                <a:latin typeface="Calibri"/>
              </a:rPr>
              <a:t>Middle East &amp; Africa leads volume growth at 6.9% because rising incomes, urbanisation and fast-expanding modern retail are pulling packaged food into markets that were previously served by loose or rigid formats. South Asia &amp; Pacific follows at 6.5%, powered by dense populations, growing food delivery and sachet-led consumption. North America, at 4.3%, is a mature, saturated base, so it cedes 229 BPS of share.</a:t>
            </a:r>
          </a:p>
        </p:txBody>
      </p:sp>
      <p:sp>
        <p:nvSpPr>
          <p:cNvPr id="44" name="Rounded Rectangle 43"/>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(THOUSAND MT)</a:t>
            </a:r>
          </a:p>
          <a:p>
            <a:pPr algn="ctr">
              <a:lnSpc>
                <a:spcPct val="95000"/>
              </a:lnSpc>
            </a:pPr>
            <a:r>
              <a:rPr sz="2000" b="1">
                <a:solidFill>
                  <a:srgbClr val="0E72AE"/>
                </a:solidFill>
                <a:latin typeface="Calibri"/>
              </a:rPr>
              <a:t>41,083</a:t>
            </a:r>
          </a:p>
        </p:txBody>
      </p:sp>
      <p:sp>
        <p:nvSpPr>
          <p:cNvPr id="45" name="Rounded Rectangle 44"/>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(THOUSAND MT)</a:t>
            </a:r>
          </a:p>
          <a:p>
            <a:pPr algn="ctr">
              <a:lnSpc>
                <a:spcPct val="95000"/>
              </a:lnSpc>
            </a:pPr>
            <a:r>
              <a:rPr sz="2000" b="1">
                <a:solidFill>
                  <a:srgbClr val="0E72AE"/>
                </a:solidFill>
                <a:latin typeface="Calibri"/>
              </a:rPr>
              <a:t>68,611</a:t>
            </a:r>
          </a:p>
        </p:txBody>
      </p:sp>
      <p:sp>
        <p:nvSpPr>
          <p:cNvPr id="46" name="Rounded Rectangle 45"/>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5.3%</a:t>
            </a:r>
          </a:p>
        </p:txBody>
      </p:sp>
      <p:sp>
        <p:nvSpPr>
          <p:cNvPr id="47" name="TextBox 4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Flexible Plastic Packaging Market Analysis, By Region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region in 2026 and 2036, highlighting share gains and losses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Region, 2026 &amp; 2036</a:t>
            </a:r>
          </a:p>
        </p:txBody>
      </p:sp>
      <p:graphicFrame>
        <p:nvGraphicFramePr>
          <p:cNvPr id="13" name="Chart 12"/>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4" name="TextBox 13"/>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5" name="FMI Lock Anchor"/>
          <p:cNvSpPr txBox="1"/>
          <p:nvPr/>
        </p:nvSpPr>
        <p:spPr>
          <a:xfrm>
            <a:off x="2489835" y="3352800"/>
            <a:ext cx="38100" cy="38100"/>
          </a:xfrm>
          <a:prstGeom prst="rect">
            <a:avLst/>
          </a:prstGeom>
          <a:noFill/>
        </p:spPr>
        <p:txBody>
          <a:bodyPr wrap="none">
            <a:spAutoFit/>
          </a:bodyPr>
          <a:lstStyle/>
          <a:p/>
        </p:txBody>
      </p:sp>
      <p:sp>
        <p:nvSpPr>
          <p:cNvPr id="16" name="FMI Legend Chip"/>
          <p:cNvSpPr/>
          <p:nvPr/>
        </p:nvSpPr>
        <p:spPr>
          <a:xfrm>
            <a:off x="4551045" y="1582069"/>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4712970" y="157730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4855845" y="1501107"/>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Middle East &amp; Africa</a:t>
            </a:r>
          </a:p>
        </p:txBody>
      </p:sp>
      <p:sp>
        <p:nvSpPr>
          <p:cNvPr id="19" name="BPS Value 1"/>
          <p:cNvSpPr txBox="1"/>
          <p:nvPr/>
        </p:nvSpPr>
        <p:spPr>
          <a:xfrm>
            <a:off x="6305550" y="1563019"/>
            <a:ext cx="514350" cy="123825"/>
          </a:xfrm>
          <a:prstGeom prst="rect">
            <a:avLst/>
          </a:prstGeom>
          <a:noFill/>
        </p:spPr>
        <p:txBody>
          <a:bodyPr wrap="none" lIns="0" rIns="0" tIns="0" bIns="0" anchor="ctr">
            <a:spAutoFit/>
          </a:bodyPr>
          <a:lstStyle/>
          <a:p>
            <a:pPr algn="r"/>
            <a:r>
              <a:rPr sz="900" b="1">
                <a:solidFill>
                  <a:srgbClr val="2E7D32"/>
                </a:solidFill>
                <a:latin typeface="Calibri"/>
              </a:rPr>
              <a:t>+96</a:t>
            </a:r>
          </a:p>
        </p:txBody>
      </p:sp>
      <p:sp>
        <p:nvSpPr>
          <p:cNvPr id="20" name="FMI Legend Chip"/>
          <p:cNvSpPr/>
          <p:nvPr/>
        </p:nvSpPr>
        <p:spPr>
          <a:xfrm>
            <a:off x="4551045" y="1828902"/>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a:off x="4712970" y="182413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4855845" y="1747939"/>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Latin America</a:t>
            </a:r>
          </a:p>
        </p:txBody>
      </p:sp>
      <p:sp>
        <p:nvSpPr>
          <p:cNvPr id="23" name="BPS Value 2"/>
          <p:cNvSpPr txBox="1"/>
          <p:nvPr/>
        </p:nvSpPr>
        <p:spPr>
          <a:xfrm>
            <a:off x="6305550" y="1809852"/>
            <a:ext cx="514350" cy="123825"/>
          </a:xfrm>
          <a:prstGeom prst="rect">
            <a:avLst/>
          </a:prstGeom>
          <a:noFill/>
        </p:spPr>
        <p:txBody>
          <a:bodyPr wrap="none" lIns="0" rIns="0" tIns="0" bIns="0" anchor="ctr">
            <a:spAutoFit/>
          </a:bodyPr>
          <a:lstStyle/>
          <a:p>
            <a:pPr algn="r"/>
            <a:r>
              <a:rPr sz="900" b="1">
                <a:solidFill>
                  <a:srgbClr val="2E7D32"/>
                </a:solidFill>
                <a:latin typeface="Calibri"/>
              </a:rPr>
              <a:t>+38</a:t>
            </a:r>
          </a:p>
        </p:txBody>
      </p:sp>
      <p:sp>
        <p:nvSpPr>
          <p:cNvPr id="24" name="FMI Legend Chip"/>
          <p:cNvSpPr/>
          <p:nvPr/>
        </p:nvSpPr>
        <p:spPr>
          <a:xfrm>
            <a:off x="4551045" y="2205262"/>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4712970" y="220050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3"/>
          <p:cNvSpPr txBox="1"/>
          <p:nvPr/>
        </p:nvSpPr>
        <p:spPr>
          <a:xfrm>
            <a:off x="4855845" y="2124300"/>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South Asia &amp; Pacific</a:t>
            </a:r>
          </a:p>
        </p:txBody>
      </p:sp>
      <p:sp>
        <p:nvSpPr>
          <p:cNvPr id="27" name="BPS Value 3"/>
          <p:cNvSpPr txBox="1"/>
          <p:nvPr/>
        </p:nvSpPr>
        <p:spPr>
          <a:xfrm>
            <a:off x="6305550" y="2186212"/>
            <a:ext cx="514350" cy="123825"/>
          </a:xfrm>
          <a:prstGeom prst="rect">
            <a:avLst/>
          </a:prstGeom>
          <a:noFill/>
        </p:spPr>
        <p:txBody>
          <a:bodyPr wrap="none" lIns="0" rIns="0" tIns="0" bIns="0" anchor="ctr">
            <a:spAutoFit/>
          </a:bodyPr>
          <a:lstStyle/>
          <a:p>
            <a:pPr algn="r"/>
            <a:r>
              <a:rPr sz="900" b="1">
                <a:solidFill>
                  <a:srgbClr val="2E7D32"/>
                </a:solidFill>
                <a:latin typeface="Calibri"/>
              </a:rPr>
              <a:t>+147</a:t>
            </a:r>
          </a:p>
        </p:txBody>
      </p:sp>
      <p:sp>
        <p:nvSpPr>
          <p:cNvPr id="28" name="FMI Legend Chip"/>
          <p:cNvSpPr/>
          <p:nvPr/>
        </p:nvSpPr>
        <p:spPr>
          <a:xfrm>
            <a:off x="4551045" y="2831799"/>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a:off x="4712970" y="282703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4"/>
          <p:cNvSpPr txBox="1"/>
          <p:nvPr/>
        </p:nvSpPr>
        <p:spPr>
          <a:xfrm>
            <a:off x="4855845" y="2750836"/>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Europe</a:t>
            </a:r>
          </a:p>
        </p:txBody>
      </p:sp>
      <p:sp>
        <p:nvSpPr>
          <p:cNvPr id="31" name="BPS Value 4"/>
          <p:cNvSpPr txBox="1"/>
          <p:nvPr/>
        </p:nvSpPr>
        <p:spPr>
          <a:xfrm>
            <a:off x="6305550" y="2812749"/>
            <a:ext cx="514350" cy="123825"/>
          </a:xfrm>
          <a:prstGeom prst="rect">
            <a:avLst/>
          </a:prstGeom>
          <a:noFill/>
        </p:spPr>
        <p:txBody>
          <a:bodyPr wrap="none" lIns="0" rIns="0" tIns="0" bIns="0" anchor="ctr">
            <a:spAutoFit/>
          </a:bodyPr>
          <a:lstStyle/>
          <a:p>
            <a:pPr algn="r"/>
            <a:r>
              <a:rPr sz="900" b="1">
                <a:solidFill>
                  <a:srgbClr val="2E7D32"/>
                </a:solidFill>
                <a:latin typeface="Calibri"/>
              </a:rPr>
              <a:t>+4</a:t>
            </a:r>
          </a:p>
        </p:txBody>
      </p:sp>
      <p:sp>
        <p:nvSpPr>
          <p:cNvPr id="32" name="FMI Legend Chip"/>
          <p:cNvSpPr/>
          <p:nvPr/>
        </p:nvSpPr>
        <p:spPr>
          <a:xfrm>
            <a:off x="4551045" y="3682604"/>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rot="10800000">
            <a:off x="4712970" y="367784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5"/>
          <p:cNvSpPr txBox="1"/>
          <p:nvPr/>
        </p:nvSpPr>
        <p:spPr>
          <a:xfrm>
            <a:off x="4855845" y="3601642"/>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North America</a:t>
            </a:r>
          </a:p>
        </p:txBody>
      </p:sp>
      <p:sp>
        <p:nvSpPr>
          <p:cNvPr id="35" name="BPS Value 5"/>
          <p:cNvSpPr txBox="1"/>
          <p:nvPr/>
        </p:nvSpPr>
        <p:spPr>
          <a:xfrm>
            <a:off x="6305550" y="3663554"/>
            <a:ext cx="514350" cy="123825"/>
          </a:xfrm>
          <a:prstGeom prst="rect">
            <a:avLst/>
          </a:prstGeom>
          <a:noFill/>
        </p:spPr>
        <p:txBody>
          <a:bodyPr wrap="none" lIns="0" rIns="0" tIns="0" bIns="0" anchor="ctr">
            <a:spAutoFit/>
          </a:bodyPr>
          <a:lstStyle/>
          <a:p>
            <a:pPr algn="r"/>
            <a:r>
              <a:rPr sz="900" b="1">
                <a:solidFill>
                  <a:srgbClr val="E44D3A"/>
                </a:solidFill>
                <a:latin typeface="Calibri"/>
              </a:rPr>
              <a:t>-241</a:t>
            </a:r>
          </a:p>
        </p:txBody>
      </p:sp>
      <p:sp>
        <p:nvSpPr>
          <p:cNvPr id="36" name="FMI Legend Chip"/>
          <p:cNvSpPr/>
          <p:nvPr/>
        </p:nvSpPr>
        <p:spPr>
          <a:xfrm>
            <a:off x="4551045" y="4642797"/>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Isosceles Triangle 36"/>
          <p:cNvSpPr/>
          <p:nvPr/>
        </p:nvSpPr>
        <p:spPr>
          <a:xfrm rot="10800000">
            <a:off x="4712970" y="463803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PS Name 6"/>
          <p:cNvSpPr txBox="1"/>
          <p:nvPr/>
        </p:nvSpPr>
        <p:spPr>
          <a:xfrm>
            <a:off x="4855845" y="4561835"/>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East Asia</a:t>
            </a:r>
          </a:p>
        </p:txBody>
      </p:sp>
      <p:sp>
        <p:nvSpPr>
          <p:cNvPr id="39" name="BPS Value 6"/>
          <p:cNvSpPr txBox="1"/>
          <p:nvPr/>
        </p:nvSpPr>
        <p:spPr>
          <a:xfrm>
            <a:off x="6305550" y="4623747"/>
            <a:ext cx="514350" cy="123825"/>
          </a:xfrm>
          <a:prstGeom prst="rect">
            <a:avLst/>
          </a:prstGeom>
          <a:noFill/>
        </p:spPr>
        <p:txBody>
          <a:bodyPr wrap="none" lIns="0" rIns="0" tIns="0" bIns="0" anchor="ctr">
            <a:spAutoFit/>
          </a:bodyPr>
          <a:lstStyle/>
          <a:p>
            <a:pPr algn="r"/>
            <a:r>
              <a:rPr sz="900" b="1">
                <a:solidFill>
                  <a:srgbClr val="E44D3A"/>
                </a:solidFill>
                <a:latin typeface="Calibri"/>
              </a:rPr>
              <a:t>-43</a:t>
            </a:r>
          </a:p>
        </p:txBody>
      </p:sp>
      <p:sp>
        <p:nvSpPr>
          <p:cNvPr id="40" name="Rounded Rectangle 39"/>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42" name="Rectangle 41"/>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East Asia flexible plastic packaging market is projected to register 1.0X higher value than North America in 2036. Among flexible plastic packaging by region, Middle East &amp; Africa is expected to witness the highest CAGR of 8.3% over the forecast period.</a:t>
            </a:r>
          </a:p>
          <a:p>
            <a:pPr algn="l">
              <a:lnSpc>
                <a:spcPct val="110000"/>
              </a:lnSpc>
              <a:spcBef>
                <a:spcPts val="0"/>
              </a:spcBef>
              <a:spcAft>
                <a:spcPts val="500"/>
              </a:spcAft>
            </a:pPr>
            <a:r>
              <a:rPr sz="1150" b="0">
                <a:solidFill>
                  <a:srgbClr val="2E2E2E"/>
                </a:solidFill>
                <a:latin typeface="Calibri"/>
              </a:rPr>
              <a:t>In terms of value share by region, East Asia is expected to dominate the market, losing 43 BPS and accounting for 26.5% share by 2036. North America is expected to lose 241 BPS over the forecast period to account for 25.8% share by 2036.</a:t>
            </a:r>
          </a:p>
          <a:p>
            <a:pPr algn="l">
              <a:lnSpc>
                <a:spcPct val="110000"/>
              </a:lnSpc>
              <a:spcBef>
                <a:spcPts val="0"/>
              </a:spcBef>
              <a:spcAft>
                <a:spcPts val="500"/>
              </a:spcAft>
            </a:pPr>
            <a:r>
              <a:rPr sz="1150" b="0">
                <a:solidFill>
                  <a:srgbClr val="2E2E2E"/>
                </a:solidFill>
                <a:latin typeface="Calibri"/>
              </a:rPr>
              <a:t>Middle East &amp; Africa grows fastest at 8.3%, ahead of 6.6% for the market, as population growth, urbanisation and the spread of modern retail raise packaged-food consumption from a low base, while hot climates and import-dependent food chains demand better barrier. South Asia &amp; Pacific at 7.8% gains most share, while North America, at 5.6%, loses 241 BPS as a mature market.</a:t>
            </a:r>
          </a:p>
        </p:txBody>
      </p:sp>
      <p:sp>
        <p:nvSpPr>
          <p:cNvPr id="44" name="Rounded Rectangle 43"/>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(US$ MN)</a:t>
            </a:r>
          </a:p>
          <a:p>
            <a:pPr algn="ctr">
              <a:lnSpc>
                <a:spcPct val="95000"/>
              </a:lnSpc>
            </a:pPr>
            <a:r>
              <a:rPr sz="2000" b="1">
                <a:solidFill>
                  <a:srgbClr val="0E72AE"/>
                </a:solidFill>
                <a:latin typeface="Calibri"/>
              </a:rPr>
              <a:t>127,346</a:t>
            </a:r>
          </a:p>
        </p:txBody>
      </p:sp>
      <p:sp>
        <p:nvSpPr>
          <p:cNvPr id="45" name="Rounded Rectangle 44"/>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(US$ MN)</a:t>
            </a:r>
          </a:p>
          <a:p>
            <a:pPr algn="ctr">
              <a:lnSpc>
                <a:spcPct val="95000"/>
              </a:lnSpc>
            </a:pPr>
            <a:r>
              <a:rPr sz="2000" b="1">
                <a:solidFill>
                  <a:srgbClr val="0E72AE"/>
                </a:solidFill>
                <a:latin typeface="Calibri"/>
              </a:rPr>
              <a:t>240,208</a:t>
            </a:r>
          </a:p>
        </p:txBody>
      </p:sp>
      <p:sp>
        <p:nvSpPr>
          <p:cNvPr id="46" name="Rounded Rectangle 45"/>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6.6%</a:t>
            </a:r>
          </a:p>
        </p:txBody>
      </p:sp>
      <p:sp>
        <p:nvSpPr>
          <p:cNvPr id="47" name="TextBox 4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Flexible Plastic Packaging Market Share Analysis, By Region Volume (Thousand MT)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share by region, 2021–2036, highlighting the geographies gaining and ceding ground</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Size, By Region (Thousand MT)</a:t>
            </a:r>
          </a:p>
        </p:txBody>
      </p:sp>
      <p:graphicFrame>
        <p:nvGraphicFramePr>
          <p:cNvPr id="13" name="Table 12"/>
          <p:cNvGraphicFramePr>
            <a:graphicFrameLocks noGrp="1"/>
          </p:cNvGraphicFramePr>
          <p:nvPr/>
        </p:nvGraphicFramePr>
        <p:xfrm>
          <a:off x="152400" y="1238250"/>
          <a:ext cx="11887195" cy="1724024"/>
        </p:xfrm>
        <a:graphic>
          <a:graphicData uri="http://schemas.openxmlformats.org/drawingml/2006/table">
            <a:tbl>
              <a:tblPr>
                <a:tableStyleId>{5C22544A-7EE6-4342-B048-85BDC9FD1C3A}</a:tableStyleId>
              </a:tblPr>
              <a:tblGrid>
                <a:gridCol w="1475375"/>
                <a:gridCol w="612460"/>
                <a:gridCol w="612460"/>
                <a:gridCol w="612460"/>
                <a:gridCol w="612460"/>
                <a:gridCol w="612460"/>
                <a:gridCol w="612460"/>
                <a:gridCol w="612460"/>
                <a:gridCol w="612460"/>
                <a:gridCol w="612460"/>
                <a:gridCol w="612460"/>
                <a:gridCol w="612460"/>
                <a:gridCol w="612460"/>
                <a:gridCol w="612460"/>
                <a:gridCol w="612460"/>
                <a:gridCol w="612460"/>
                <a:gridCol w="612460"/>
                <a:gridCol w="612460"/>
              </a:tblGrid>
              <a:tr h="215265">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F-CAGR</a:t>
                      </a:r>
                      <a:endParaRPr sz="1100"/>
                    </a:p>
                  </a:txBody>
                  <a:tcPr marL="47625" marR="38100" marT="19050" marB="19050" anchor="ctr">
                    <a:solidFill>
                      <a:srgbClr val="E0E8EF"/>
                    </a:solidFill>
                  </a:tcPr>
                </a:tc>
              </a:tr>
              <a:tr h="215537">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8,756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9,039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9,335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9,643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9,968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10,320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10,702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11,118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11,571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12,069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12,607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13,183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13,783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14,400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15,026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15,660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4.3%</a:t>
                      </a:r>
                      <a:endParaRPr sz="1100"/>
                    </a:p>
                  </a:txBody>
                  <a:tcPr marL="47625" marR="38100" marT="19050" marB="19050" anchor="ctr">
                    <a:solidFill>
                      <a:srgbClr val="FFFFFF"/>
                    </a:solidFill>
                  </a:tcPr>
                </a:tc>
              </a:tr>
              <a:tr h="215537">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2,237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2,343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2,455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2,573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2,698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2,834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2,981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3,142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3,318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3,511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3,721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3,946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4,184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4,434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4,691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4,955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5.7%</a:t>
                      </a:r>
                      <a:endParaRPr sz="1100"/>
                    </a:p>
                  </a:txBody>
                  <a:tcPr marL="47625" marR="38100" marT="19050" marB="19050" anchor="ctr">
                    <a:solidFill>
                      <a:srgbClr val="F5F8FA"/>
                    </a:solidFill>
                  </a:tcPr>
                </a:tc>
              </a:tr>
              <a:tr h="215537">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6,355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6,625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6,909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7,210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7,530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7,878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8,254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8,664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9,111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9,597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10,120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10,677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11,262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11,870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12,492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13,129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5.2%</a:t>
                      </a:r>
                      <a:endParaRPr sz="1100"/>
                    </a:p>
                  </a:txBody>
                  <a:tcPr marL="47625" marR="38100" marT="19050" marB="19050" anchor="ctr">
                    <a:solidFill>
                      <a:srgbClr val="FFFFFF"/>
                    </a:solidFill>
                  </a:tcPr>
                </a:tc>
              </a:tr>
              <a:tr h="215537">
                <a:tc>
                  <a:txBody>
                    <a:bodyPr wrap="none"/>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9,964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10,349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10,757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11,191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11,656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12,163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12,715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13,315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13,965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14,672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15,436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16,254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17,113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18,006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18,917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19,847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5.0%</a:t>
                      </a:r>
                      <a:endParaRPr sz="1100"/>
                    </a:p>
                  </a:txBody>
                  <a:tcPr marL="47625" marR="38100" marT="19050" marB="19050" anchor="ctr">
                    <a:solidFill>
                      <a:srgbClr val="F5F8FA"/>
                    </a:solidFill>
                  </a:tcPr>
                </a:tc>
              </a:tr>
              <a:tr h="215537">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4,222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4,443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4,680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4,935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5,209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5,512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5,844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6,209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6,611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7,053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7,533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8,050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8,598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9,174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9,772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10,389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6.5%</a:t>
                      </a:r>
                      <a:endParaRPr sz="1100"/>
                    </a:p>
                  </a:txBody>
                  <a:tcPr marL="47625" marR="38100" marT="19050" marB="19050" anchor="ctr">
                    <a:solidFill>
                      <a:srgbClr val="FFFFFF"/>
                    </a:solidFill>
                  </a:tcPr>
                </a:tc>
              </a:tr>
              <a:tr h="215537">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1,804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1,902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2,007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2,120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2,242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2,377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2,526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2,692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2,875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3,078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3,299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3,539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3,793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4,062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4,342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4,631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6.9%</a:t>
                      </a:r>
                      <a:endParaRPr sz="1100"/>
                    </a:p>
                  </a:txBody>
                  <a:tcPr marL="47625" marR="38100" marT="19050" marB="19050" anchor="ctr">
                    <a:solidFill>
                      <a:srgbClr val="F5F8FA"/>
                    </a:solidFill>
                  </a:tcPr>
                </a:tc>
              </a:tr>
              <a:tr h="21553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33,337</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34,702</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36,143</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37,672</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39,304</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41,083</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43,022</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45,139</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47,452</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49,980</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52,717</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55,648</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58,734</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61,946</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65,241</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68,611</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5.3%</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305175"/>
            <a:ext cx="11906250" cy="3324225"/>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339090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Volume Share Read-out, By Region</a:t>
            </a:r>
          </a:p>
        </p:txBody>
      </p:sp>
      <p:sp>
        <p:nvSpPr>
          <p:cNvPr id="17" name="Rectangle 16"/>
          <p:cNvSpPr/>
          <p:nvPr/>
        </p:nvSpPr>
        <p:spPr>
          <a:xfrm>
            <a:off x="276225" y="36290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3714750"/>
            <a:ext cx="11639550" cy="28384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East Asia flexible plastic packaging market is projected to register 1.3X higher volume than North America in 2036. Among flexible plastic packaging by region, Middle East &amp; Africa is expected to witness the highest CAGR of 6.9% over the forecast period.</a:t>
            </a:r>
          </a:p>
          <a:p>
            <a:pPr algn="l">
              <a:lnSpc>
                <a:spcPct val="110000"/>
              </a:lnSpc>
              <a:spcBef>
                <a:spcPts val="0"/>
              </a:spcBef>
              <a:spcAft>
                <a:spcPts val="500"/>
              </a:spcAft>
            </a:pPr>
            <a:r>
              <a:rPr sz="1150" b="0">
                <a:solidFill>
                  <a:srgbClr val="2E2E2E"/>
                </a:solidFill>
                <a:latin typeface="Calibri"/>
              </a:rPr>
              <a:t>In terms of volume share by region, East Asia is expected to dominate the market, losing 68 BPS and accounting for 28.9% share by 2036. North America is expected to lose 229 BPS over the forecast period to account for 22.8% share by 2036.</a:t>
            </a:r>
          </a:p>
          <a:p>
            <a:pPr algn="l">
              <a:lnSpc>
                <a:spcPct val="110000"/>
              </a:lnSpc>
              <a:spcBef>
                <a:spcPts val="0"/>
              </a:spcBef>
              <a:spcAft>
                <a:spcPts val="500"/>
              </a:spcAft>
            </a:pPr>
            <a:r>
              <a:rPr sz="1150" b="0">
                <a:solidFill>
                  <a:srgbClr val="2E2E2E"/>
                </a:solidFill>
                <a:latin typeface="Calibri"/>
              </a:rPr>
              <a:t>South Asia &amp; Pacific gains the most share because rising incomes, retail modernisation and packaged-food and e-commerce uptake push its volume at 6.5% against 5.3% globally. Middle East &amp; Africa grows faster still at 6.9%, but from a smaller base. North America cedes the most share, losing 229 BPS, as its mature food and beverage base expands at only 4.3%, and East Asia drifts lower at 5.0% as China matures.</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Flexible Plastic Packaging Market Share Analysis, By Region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and share by region, 2021–2036, highlighting the geographies gaining and ceding ground</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Size, By Region (US$ Mn)</a:t>
            </a:r>
          </a:p>
        </p:txBody>
      </p:sp>
      <p:graphicFrame>
        <p:nvGraphicFramePr>
          <p:cNvPr id="13" name="Table 12"/>
          <p:cNvGraphicFramePr>
            <a:graphicFrameLocks noGrp="1"/>
          </p:cNvGraphicFramePr>
          <p:nvPr/>
        </p:nvGraphicFramePr>
        <p:xfrm>
          <a:off x="152400" y="1238250"/>
          <a:ext cx="11887204" cy="1724024"/>
        </p:xfrm>
        <a:graphic>
          <a:graphicData uri="http://schemas.openxmlformats.org/drawingml/2006/table">
            <a:tbl>
              <a:tblPr>
                <a:tableStyleId>{5C22544A-7EE6-4342-B048-85BDC9FD1C3A}</a:tableStyleId>
              </a:tblPr>
              <a:tblGrid>
                <a:gridCol w="1409645"/>
                <a:gridCol w="616327"/>
                <a:gridCol w="616327"/>
                <a:gridCol w="616327"/>
                <a:gridCol w="616327"/>
                <a:gridCol w="616327"/>
                <a:gridCol w="616327"/>
                <a:gridCol w="616327"/>
                <a:gridCol w="616327"/>
                <a:gridCol w="616327"/>
                <a:gridCol w="616327"/>
                <a:gridCol w="616327"/>
                <a:gridCol w="616327"/>
                <a:gridCol w="616327"/>
                <a:gridCol w="616327"/>
                <a:gridCol w="616327"/>
                <a:gridCol w="616327"/>
                <a:gridCol w="616327"/>
              </a:tblGrid>
              <a:tr h="215265">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F-CAGR</a:t>
                      </a:r>
                      <a:endParaRPr sz="1100"/>
                    </a:p>
                  </a:txBody>
                  <a:tcPr marL="47625" marR="38100" marT="19050" marB="19050" anchor="ctr">
                    <a:solidFill>
                      <a:srgbClr val="E0E8EF"/>
                    </a:solidFill>
                  </a:tcPr>
                </a:tc>
              </a:tr>
              <a:tr h="215537">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29,774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30,844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31,971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33,178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34,457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35,977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37,658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39,516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41,575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43,865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46,394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49,160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52,123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55,271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58,587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62,068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5.6%</a:t>
                      </a:r>
                      <a:endParaRPr sz="1100"/>
                    </a:p>
                  </a:txBody>
                  <a:tcPr marL="47625" marR="38100" marT="19050" marB="19050" anchor="ctr">
                    <a:solidFill>
                      <a:srgbClr val="FFFFFF"/>
                    </a:solidFill>
                  </a:tcPr>
                </a:tc>
              </a:tr>
              <a:tr h="215537">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6,419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6,744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7,089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7,461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7,859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8,324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8,838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9,412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10,051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10,763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11,552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12,420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13,364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14,380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15,464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16,618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7.2%</a:t>
                      </a:r>
                      <a:endParaRPr sz="1100"/>
                    </a:p>
                  </a:txBody>
                  <a:tcPr marL="47625" marR="38100" marT="19050" marB="19050" anchor="ctr">
                    <a:solidFill>
                      <a:srgbClr val="F5F8FA"/>
                    </a:solidFill>
                  </a:tcPr>
                </a:tc>
              </a:tr>
              <a:tr h="215537">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20,623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21,559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22,555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23,631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24,784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26,141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27,637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29,294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31,129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33,165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35,400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37,838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40,462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43,268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46,245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49,393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6.6%</a:t>
                      </a:r>
                      <a:endParaRPr sz="1100"/>
                    </a:p>
                  </a:txBody>
                  <a:tcPr marL="47625" marR="38100" marT="19050" marB="19050" anchor="ctr">
                    <a:solidFill>
                      <a:srgbClr val="FFFFFF"/>
                    </a:solidFill>
                  </a:tcPr>
                </a:tc>
              </a:tr>
              <a:tr h="215537">
                <a:tc>
                  <a:txBody>
                    <a:bodyPr wrap="none"/>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27,547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28,682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29,896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31,216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32,643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34,334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36,209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38,290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40,592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43,149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45,971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49,059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52,390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55,955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59,732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63,723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6.4%</a:t>
                      </a:r>
                      <a:endParaRPr sz="1100"/>
                    </a:p>
                  </a:txBody>
                  <a:tcPr marL="47625" marR="38100" marT="19050" marB="19050" anchor="ctr">
                    <a:solidFill>
                      <a:srgbClr val="F5F8FA"/>
                    </a:solidFill>
                  </a:tcPr>
                </a:tc>
              </a:tr>
              <a:tr h="215537">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11,621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12,258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12,944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13,693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14,508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15,462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16,526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17,715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19,043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20,526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22,168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23,972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25,928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28,035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30,288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32,687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7.8%</a:t>
                      </a:r>
                      <a:endParaRPr sz="1100"/>
                    </a:p>
                  </a:txBody>
                  <a:tcPr marL="47625" marR="38100" marT="19050" marB="19050" anchor="ctr">
                    <a:solidFill>
                      <a:srgbClr val="FFFFFF"/>
                    </a:solidFill>
                  </a:tcPr>
                </a:tc>
              </a:tr>
              <a:tr h="215537">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5,273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5,576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5,903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6,260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6,650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7,108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7,623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8,204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8,856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9,591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10,408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11,309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12,292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13,356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14,498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15,718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8.3%</a:t>
                      </a:r>
                      <a:endParaRPr sz="1100"/>
                    </a:p>
                  </a:txBody>
                  <a:tcPr marL="47625" marR="38100" marT="19050" marB="19050" anchor="ctr">
                    <a:solidFill>
                      <a:srgbClr val="F5F8FA"/>
                    </a:solidFill>
                  </a:tcPr>
                </a:tc>
              </a:tr>
              <a:tr h="21553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101,257</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105,663</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110,360</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115,439</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120,900</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127,346</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134,491</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142,430</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151,246</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161,060</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171,894</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183,758</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196,559</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210,265</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224,814</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240,208</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6.6%</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305175"/>
            <a:ext cx="11906250" cy="3324225"/>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339090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Share Read-out, By Region</a:t>
            </a:r>
          </a:p>
        </p:txBody>
      </p:sp>
      <p:sp>
        <p:nvSpPr>
          <p:cNvPr id="17" name="Rectangle 16"/>
          <p:cNvSpPr/>
          <p:nvPr/>
        </p:nvSpPr>
        <p:spPr>
          <a:xfrm>
            <a:off x="276225" y="36290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3714750"/>
            <a:ext cx="11639550" cy="28384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East Asia flexible plastic packaging market is projected to register 1.0X higher value than North America in 2036. Among flexible plastic packaging by region, Middle East &amp; Africa is expected to witness the highest CAGR of 8.3% over the forecast period.</a:t>
            </a:r>
          </a:p>
          <a:p>
            <a:pPr algn="l">
              <a:lnSpc>
                <a:spcPct val="110000"/>
              </a:lnSpc>
              <a:spcBef>
                <a:spcPts val="0"/>
              </a:spcBef>
              <a:spcAft>
                <a:spcPts val="500"/>
              </a:spcAft>
            </a:pPr>
            <a:r>
              <a:rPr sz="1150" b="0">
                <a:solidFill>
                  <a:srgbClr val="2E2E2E"/>
                </a:solidFill>
                <a:latin typeface="Calibri"/>
              </a:rPr>
              <a:t>In terms of value share by region, East Asia is expected to dominate the market, losing 43 BPS and accounting for 26.5% share by 2036. North America is expected to lose 241 BPS over the forecast period to account for 25.8% share by 2036.</a:t>
            </a:r>
          </a:p>
          <a:p>
            <a:pPr algn="l">
              <a:lnSpc>
                <a:spcPct val="110000"/>
              </a:lnSpc>
              <a:spcBef>
                <a:spcPts val="0"/>
              </a:spcBef>
              <a:spcAft>
                <a:spcPts val="500"/>
              </a:spcAft>
            </a:pPr>
            <a:r>
              <a:rPr sz="1150" b="0">
                <a:solidFill>
                  <a:srgbClr val="2E2E2E"/>
                </a:solidFill>
                <a:latin typeface="Calibri"/>
              </a:rPr>
              <a:t>South Asia &amp; Pacific gains 147 BPS of value share at 7.8% growth as rising incomes, organised retail, e-commerce and packaged-food adoption lift consumption from a lower base, with Middle East &amp; Africa the fastest at 8.3%. North America gives up 241 BPS because a mature, highly penetrated market grows at only 5.6% against the 6.6% global rate, and East Asia edges down as faster neighbours dilute its scale.</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Flexible Plastic Packaging Market Trends, By Region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regional volume and value shares shift over 2021–2036, highlighting who gains ground</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By Region (Thousand MT)</a:t>
            </a:r>
          </a:p>
        </p:txBody>
      </p:sp>
      <p:graphicFrame>
        <p:nvGraphicFramePr>
          <p:cNvPr id="13" name="Chart 12"/>
          <p:cNvGraphicFramePr>
            <a:graphicFrameLocks noGrp="1"/>
          </p:cNvGraphicFramePr>
          <p:nvPr/>
        </p:nvGraphicFramePr>
        <p:xfrm>
          <a:off x="238125" y="1266825"/>
          <a:ext cx="9448800" cy="2409825"/>
        </p:xfrm>
        <a:graphic>
          <a:graphicData uri="http://schemas.openxmlformats.org/drawingml/2006/chart">
            <c:chart xmlns:c="http://schemas.openxmlformats.org/drawingml/2006/chart" r:id="rId3"/>
          </a:graphicData>
        </a:graphic>
      </p:graphicFrame>
      <p:sp>
        <p:nvSpPr>
          <p:cNvPr id="14" name="Rounded Rectangle 13"/>
          <p:cNvSpPr/>
          <p:nvPr/>
        </p:nvSpPr>
        <p:spPr>
          <a:xfrm>
            <a:off x="9763125" y="1304925"/>
            <a:ext cx="2190750" cy="2333625"/>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MI Dense Legend"/>
          <p:cNvSpPr txBox="1"/>
          <p:nvPr/>
        </p:nvSpPr>
        <p:spPr>
          <a:xfrm>
            <a:off x="9839325" y="1362075"/>
            <a:ext cx="2057400" cy="171450"/>
          </a:xfrm>
          <a:prstGeom prst="rect">
            <a:avLst/>
          </a:prstGeom>
          <a:noFill/>
        </p:spPr>
        <p:txBody>
          <a:bodyPr wrap="none">
            <a:spAutoFit/>
          </a:bodyPr>
          <a:lstStyle/>
          <a:p>
            <a:r>
              <a:rPr sz="850" b="1">
                <a:solidFill>
                  <a:srgbClr val="6C7A89"/>
                </a:solidFill>
                <a:latin typeface="Calibri"/>
              </a:rPr>
              <a:t>By segment</a:t>
            </a:r>
          </a:p>
        </p:txBody>
      </p:sp>
      <p:sp>
        <p:nvSpPr>
          <p:cNvPr id="16" name="FMI Dense Legend"/>
          <p:cNvSpPr txBox="1"/>
          <p:nvPr/>
        </p:nvSpPr>
        <p:spPr>
          <a:xfrm>
            <a:off x="9839325" y="1533525"/>
            <a:ext cx="2057400" cy="2047875"/>
          </a:xfrm>
          <a:prstGeom prst="rect">
            <a:avLst/>
          </a:prstGeom>
          <a:noFill/>
        </p:spPr>
        <p:txBody>
          <a:bodyPr wrap="square">
            <a:spAutoFit/>
          </a:bodyPr>
          <a:lstStyle/>
          <a:p>
            <a:pPr>
              <a:spcBef>
                <a:spcPts val="500"/>
              </a:spcBef>
            </a:pPr>
            <a:r>
              <a:rPr sz="900">
                <a:solidFill>
                  <a:srgbClr val="3D85C6"/>
                </a:solidFill>
                <a:latin typeface="Calibri"/>
              </a:rPr>
              <a:t>■  </a:t>
            </a:r>
            <a:r>
              <a:rPr sz="750">
                <a:solidFill>
                  <a:srgbClr val="2E2E2E"/>
                </a:solidFill>
                <a:latin typeface="Calibri"/>
              </a:rPr>
              <a:t>   East Asia</a:t>
            </a:r>
          </a:p>
          <a:p>
            <a:pPr>
              <a:spcBef>
                <a:spcPts val="500"/>
              </a:spcBef>
            </a:pPr>
            <a:r>
              <a:rPr sz="900">
                <a:solidFill>
                  <a:srgbClr val="9E7E0A"/>
                </a:solidFill>
                <a:latin typeface="Calibri"/>
              </a:rPr>
              <a:t>■  </a:t>
            </a:r>
            <a:r>
              <a:rPr sz="750">
                <a:solidFill>
                  <a:srgbClr val="2E2E2E"/>
                </a:solidFill>
                <a:latin typeface="Calibri"/>
              </a:rPr>
              <a:t>   North America</a:t>
            </a:r>
          </a:p>
          <a:p>
            <a:pPr>
              <a:spcBef>
                <a:spcPts val="500"/>
              </a:spcBef>
            </a:pPr>
            <a:r>
              <a:rPr sz="900">
                <a:solidFill>
                  <a:srgbClr val="008189"/>
                </a:solidFill>
                <a:latin typeface="Calibri"/>
              </a:rPr>
              <a:t>■  </a:t>
            </a:r>
            <a:r>
              <a:rPr sz="750">
                <a:solidFill>
                  <a:srgbClr val="2E2E2E"/>
                </a:solidFill>
                <a:latin typeface="Calibri"/>
              </a:rPr>
              <a:t>   Europe</a:t>
            </a:r>
          </a:p>
          <a:p>
            <a:pPr>
              <a:spcBef>
                <a:spcPts val="500"/>
              </a:spcBef>
            </a:pPr>
            <a:r>
              <a:rPr sz="900">
                <a:solidFill>
                  <a:srgbClr val="40315E"/>
                </a:solidFill>
                <a:latin typeface="Calibri"/>
              </a:rPr>
              <a:t>■  </a:t>
            </a:r>
            <a:r>
              <a:rPr sz="750">
                <a:solidFill>
                  <a:srgbClr val="2E2E2E"/>
                </a:solidFill>
                <a:latin typeface="Calibri"/>
              </a:rPr>
              <a:t>   South Asia &amp; Pacific</a:t>
            </a:r>
          </a:p>
          <a:p>
            <a:pPr>
              <a:spcBef>
                <a:spcPts val="500"/>
              </a:spcBef>
            </a:pPr>
            <a:r>
              <a:rPr sz="900">
                <a:solidFill>
                  <a:srgbClr val="A35313"/>
                </a:solidFill>
                <a:latin typeface="Calibri"/>
              </a:rPr>
              <a:t>■  </a:t>
            </a:r>
            <a:r>
              <a:rPr sz="750">
                <a:solidFill>
                  <a:srgbClr val="2E2E2E"/>
                </a:solidFill>
                <a:latin typeface="Calibri"/>
              </a:rPr>
              <a:t>   Latin America</a:t>
            </a:r>
          </a:p>
          <a:p>
            <a:pPr>
              <a:spcBef>
                <a:spcPts val="500"/>
              </a:spcBef>
            </a:pPr>
            <a:r>
              <a:rPr sz="900">
                <a:solidFill>
                  <a:srgbClr val="808080"/>
                </a:solidFill>
                <a:latin typeface="Calibri"/>
              </a:rPr>
              <a:t>■  </a:t>
            </a:r>
            <a:r>
              <a:rPr sz="750">
                <a:solidFill>
                  <a:srgbClr val="2E2E2E"/>
                </a:solidFill>
                <a:latin typeface="Calibri"/>
              </a:rPr>
              <a:t>   Middle East &amp; Africa</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Region (US$ Mn)</a:t>
            </a:r>
          </a:p>
        </p:txBody>
      </p:sp>
      <p:graphicFrame>
        <p:nvGraphicFramePr>
          <p:cNvPr id="19" name="Chart 18"/>
          <p:cNvGraphicFramePr>
            <a:graphicFrameLocks noGrp="1"/>
          </p:cNvGraphicFramePr>
          <p:nvPr/>
        </p:nvGraphicFramePr>
        <p:xfrm>
          <a:off x="238125" y="4152900"/>
          <a:ext cx="9448800" cy="2409825"/>
        </p:xfrm>
        <a:graphic>
          <a:graphicData uri="http://schemas.openxmlformats.org/drawingml/2006/chart">
            <c:chart xmlns:c="http://schemas.openxmlformats.org/drawingml/2006/chart" r:id="rId4"/>
          </a:graphicData>
        </a:graphic>
      </p:graphicFrame>
      <p:sp>
        <p:nvSpPr>
          <p:cNvPr id="20" name="Rounded Rectangle 19"/>
          <p:cNvSpPr/>
          <p:nvPr/>
        </p:nvSpPr>
        <p:spPr>
          <a:xfrm>
            <a:off x="9763125" y="4191000"/>
            <a:ext cx="2190750" cy="2333625"/>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MI Dense Legend"/>
          <p:cNvSpPr txBox="1"/>
          <p:nvPr/>
        </p:nvSpPr>
        <p:spPr>
          <a:xfrm>
            <a:off x="9839325" y="4248150"/>
            <a:ext cx="2057400" cy="171450"/>
          </a:xfrm>
          <a:prstGeom prst="rect">
            <a:avLst/>
          </a:prstGeom>
          <a:noFill/>
        </p:spPr>
        <p:txBody>
          <a:bodyPr wrap="none">
            <a:spAutoFit/>
          </a:bodyPr>
          <a:lstStyle/>
          <a:p>
            <a:r>
              <a:rPr sz="850" b="1">
                <a:solidFill>
                  <a:srgbClr val="6C7A89"/>
                </a:solidFill>
                <a:latin typeface="Calibri"/>
              </a:rPr>
              <a:t>By segment</a:t>
            </a:r>
          </a:p>
        </p:txBody>
      </p:sp>
      <p:sp>
        <p:nvSpPr>
          <p:cNvPr id="22" name="FMI Dense Legend"/>
          <p:cNvSpPr txBox="1"/>
          <p:nvPr/>
        </p:nvSpPr>
        <p:spPr>
          <a:xfrm>
            <a:off x="9839325" y="4419600"/>
            <a:ext cx="2057400" cy="2047875"/>
          </a:xfrm>
          <a:prstGeom prst="rect">
            <a:avLst/>
          </a:prstGeom>
          <a:noFill/>
        </p:spPr>
        <p:txBody>
          <a:bodyPr wrap="square">
            <a:spAutoFit/>
          </a:bodyPr>
          <a:lstStyle/>
          <a:p>
            <a:pPr>
              <a:spcBef>
                <a:spcPts val="500"/>
              </a:spcBef>
            </a:pPr>
            <a:r>
              <a:rPr sz="900">
                <a:solidFill>
                  <a:srgbClr val="9E7E0A"/>
                </a:solidFill>
                <a:latin typeface="Calibri"/>
              </a:rPr>
              <a:t>■  </a:t>
            </a:r>
            <a:r>
              <a:rPr sz="750">
                <a:solidFill>
                  <a:srgbClr val="2E2E2E"/>
                </a:solidFill>
                <a:latin typeface="Calibri"/>
              </a:rPr>
              <a:t>   East Asia</a:t>
            </a:r>
          </a:p>
          <a:p>
            <a:pPr>
              <a:spcBef>
                <a:spcPts val="500"/>
              </a:spcBef>
            </a:pPr>
            <a:r>
              <a:rPr sz="900">
                <a:solidFill>
                  <a:srgbClr val="3D85C6"/>
                </a:solidFill>
                <a:latin typeface="Calibri"/>
              </a:rPr>
              <a:t>■  </a:t>
            </a:r>
            <a:r>
              <a:rPr sz="750">
                <a:solidFill>
                  <a:srgbClr val="2E2E2E"/>
                </a:solidFill>
                <a:latin typeface="Calibri"/>
              </a:rPr>
              <a:t>   North America</a:t>
            </a:r>
          </a:p>
          <a:p>
            <a:pPr>
              <a:spcBef>
                <a:spcPts val="500"/>
              </a:spcBef>
            </a:pPr>
            <a:r>
              <a:rPr sz="900">
                <a:solidFill>
                  <a:srgbClr val="008189"/>
                </a:solidFill>
                <a:latin typeface="Calibri"/>
              </a:rPr>
              <a:t>■  </a:t>
            </a:r>
            <a:r>
              <a:rPr sz="750">
                <a:solidFill>
                  <a:srgbClr val="2E2E2E"/>
                </a:solidFill>
                <a:latin typeface="Calibri"/>
              </a:rPr>
              <a:t>   Europe</a:t>
            </a:r>
          </a:p>
          <a:p>
            <a:pPr>
              <a:spcBef>
                <a:spcPts val="500"/>
              </a:spcBef>
            </a:pPr>
            <a:r>
              <a:rPr sz="900">
                <a:solidFill>
                  <a:srgbClr val="40315E"/>
                </a:solidFill>
                <a:latin typeface="Calibri"/>
              </a:rPr>
              <a:t>■  </a:t>
            </a:r>
            <a:r>
              <a:rPr sz="750">
                <a:solidFill>
                  <a:srgbClr val="2E2E2E"/>
                </a:solidFill>
                <a:latin typeface="Calibri"/>
              </a:rPr>
              <a:t>   South Asia &amp; Pacific</a:t>
            </a:r>
          </a:p>
          <a:p>
            <a:pPr>
              <a:spcBef>
                <a:spcPts val="500"/>
              </a:spcBef>
            </a:pPr>
            <a:r>
              <a:rPr sz="900">
                <a:solidFill>
                  <a:srgbClr val="A35313"/>
                </a:solidFill>
                <a:latin typeface="Calibri"/>
              </a:rPr>
              <a:t>■  </a:t>
            </a:r>
            <a:r>
              <a:rPr sz="750">
                <a:solidFill>
                  <a:srgbClr val="2E2E2E"/>
                </a:solidFill>
                <a:latin typeface="Calibri"/>
              </a:rPr>
              <a:t>   Latin America</a:t>
            </a:r>
          </a:p>
          <a:p>
            <a:pPr>
              <a:spcBef>
                <a:spcPts val="500"/>
              </a:spcBef>
            </a:pPr>
            <a:r>
              <a:rPr sz="900">
                <a:solidFill>
                  <a:srgbClr val="808080"/>
                </a:solidFill>
                <a:latin typeface="Calibri"/>
              </a:rPr>
              <a:t>■  </a:t>
            </a:r>
            <a:r>
              <a:rPr sz="750">
                <a:solidFill>
                  <a:srgbClr val="2E2E2E"/>
                </a:solidFill>
                <a:latin typeface="Calibri"/>
              </a:rPr>
              <a:t>   Middle East &amp; Africa</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Flexible Plastic Packaging Market Top 10 Countries (2036)</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hierarchy of the global market in 2036, highlighting the leading countries within each region by value</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by country  ·  2036 (US$ Mn)  ·  tile size = market value</a:t>
            </a:r>
          </a:p>
        </p:txBody>
      </p:sp>
      <p:sp>
        <p:nvSpPr>
          <p:cNvPr id="13" name="Rectangle 12"/>
          <p:cNvSpPr/>
          <p:nvPr/>
        </p:nvSpPr>
        <p:spPr>
          <a:xfrm>
            <a:off x="238125" y="1266825"/>
            <a:ext cx="4038284" cy="5305425"/>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56,021</a:t>
            </a:r>
          </a:p>
        </p:txBody>
      </p:sp>
      <p:sp>
        <p:nvSpPr>
          <p:cNvPr id="14" name="Rectangle 13"/>
          <p:cNvSpPr/>
          <p:nvPr/>
        </p:nvSpPr>
        <p:spPr>
          <a:xfrm>
            <a:off x="4276409" y="1266825"/>
            <a:ext cx="3065234" cy="5305425"/>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China</a:t>
            </a:r>
          </a:p>
          <a:p>
            <a:pPr algn="ctr"/>
            <a:r>
              <a:rPr sz="1100" b="0">
                <a:solidFill>
                  <a:srgbClr val="FFFFFF"/>
                </a:solidFill>
                <a:latin typeface="Calibri"/>
              </a:rPr>
              <a:t>42,522</a:t>
            </a:r>
          </a:p>
        </p:txBody>
      </p:sp>
      <p:sp>
        <p:nvSpPr>
          <p:cNvPr id="15" name="Rectangle 14"/>
          <p:cNvSpPr/>
          <p:nvPr/>
        </p:nvSpPr>
        <p:spPr>
          <a:xfrm>
            <a:off x="7341642" y="1266825"/>
            <a:ext cx="2550744" cy="1964457"/>
          </a:xfrm>
          <a:prstGeom prst="rect">
            <a:avLst/>
          </a:prstGeom>
          <a:solidFill>
            <a:srgbClr val="0081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Japan</a:t>
            </a:r>
          </a:p>
          <a:p>
            <a:pPr algn="ctr"/>
            <a:r>
              <a:rPr sz="1100" b="0">
                <a:solidFill>
                  <a:srgbClr val="FFFFFF"/>
                </a:solidFill>
                <a:latin typeface="Calibri"/>
              </a:rPr>
              <a:t>13,102</a:t>
            </a:r>
          </a:p>
        </p:txBody>
      </p:sp>
      <p:sp>
        <p:nvSpPr>
          <p:cNvPr id="16" name="Rectangle 15"/>
          <p:cNvSpPr/>
          <p:nvPr/>
        </p:nvSpPr>
        <p:spPr>
          <a:xfrm>
            <a:off x="9892386" y="1266825"/>
            <a:ext cx="2061489" cy="1964457"/>
          </a:xfrm>
          <a:prstGeom prst="rect">
            <a:avLst/>
          </a:prstGeom>
          <a:solidFill>
            <a:srgbClr val="40315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India</a:t>
            </a:r>
          </a:p>
          <a:p>
            <a:pPr algn="ctr"/>
            <a:r>
              <a:rPr sz="1100" b="0">
                <a:solidFill>
                  <a:srgbClr val="FFFFFF"/>
                </a:solidFill>
                <a:latin typeface="Calibri"/>
              </a:rPr>
              <a:t>10,589</a:t>
            </a:r>
          </a:p>
        </p:txBody>
      </p:sp>
      <p:sp>
        <p:nvSpPr>
          <p:cNvPr id="17" name="Rectangle 16"/>
          <p:cNvSpPr/>
          <p:nvPr/>
        </p:nvSpPr>
        <p:spPr>
          <a:xfrm>
            <a:off x="7341642" y="3231282"/>
            <a:ext cx="1791008" cy="1729505"/>
          </a:xfrm>
          <a:prstGeom prst="rect">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South Korea</a:t>
            </a:r>
          </a:p>
          <a:p>
            <a:pPr algn="ctr"/>
            <a:r>
              <a:rPr sz="1100" b="0">
                <a:solidFill>
                  <a:srgbClr val="FFFFFF"/>
                </a:solidFill>
                <a:latin typeface="Calibri"/>
              </a:rPr>
              <a:t>8,099</a:t>
            </a:r>
          </a:p>
        </p:txBody>
      </p:sp>
      <p:sp>
        <p:nvSpPr>
          <p:cNvPr id="18" name="Rectangle 17"/>
          <p:cNvSpPr/>
          <p:nvPr/>
        </p:nvSpPr>
        <p:spPr>
          <a:xfrm>
            <a:off x="7341642" y="4960787"/>
            <a:ext cx="1791008" cy="1611463"/>
          </a:xfrm>
          <a:prstGeom prst="rect">
            <a:avLst/>
          </a:prstGeom>
          <a:solidFill>
            <a:srgbClr val="80808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Germany</a:t>
            </a:r>
          </a:p>
          <a:p>
            <a:pPr algn="ctr"/>
            <a:r>
              <a:rPr sz="1100" b="0">
                <a:solidFill>
                  <a:srgbClr val="FFFFFF"/>
                </a:solidFill>
                <a:latin typeface="Calibri"/>
              </a:rPr>
              <a:t>7,547</a:t>
            </a:r>
          </a:p>
        </p:txBody>
      </p:sp>
      <p:sp>
        <p:nvSpPr>
          <p:cNvPr id="19" name="Rectangle 18"/>
          <p:cNvSpPr/>
          <p:nvPr/>
        </p:nvSpPr>
        <p:spPr>
          <a:xfrm>
            <a:off x="9132650" y="3231282"/>
            <a:ext cx="1497721" cy="1747466"/>
          </a:xfrm>
          <a:prstGeom prst="rect">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U.K.</a:t>
            </a:r>
          </a:p>
          <a:p>
            <a:pPr algn="ctr"/>
            <a:r>
              <a:rPr sz="1100" b="0">
                <a:solidFill>
                  <a:srgbClr val="FFFFFF"/>
                </a:solidFill>
                <a:latin typeface="Calibri"/>
              </a:rPr>
              <a:t>6,843</a:t>
            </a:r>
          </a:p>
        </p:txBody>
      </p:sp>
      <p:sp>
        <p:nvSpPr>
          <p:cNvPr id="20" name="Rectangle 19"/>
          <p:cNvSpPr/>
          <p:nvPr/>
        </p:nvSpPr>
        <p:spPr>
          <a:xfrm>
            <a:off x="10630371" y="3231282"/>
            <a:ext cx="1323504" cy="1747466"/>
          </a:xfrm>
          <a:prstGeom prst="rect">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6,047</a:t>
            </a:r>
          </a:p>
        </p:txBody>
      </p:sp>
      <p:sp>
        <p:nvSpPr>
          <p:cNvPr id="21" name="Rectangle 20"/>
          <p:cNvSpPr/>
          <p:nvPr/>
        </p:nvSpPr>
        <p:spPr>
          <a:xfrm>
            <a:off x="9132650" y="4978748"/>
            <a:ext cx="1429273" cy="1593502"/>
          </a:xfrm>
          <a:prstGeom prst="rect">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Brazil</a:t>
            </a:r>
          </a:p>
          <a:p>
            <a:pPr algn="ctr"/>
            <a:r>
              <a:rPr sz="1100" b="0">
                <a:solidFill>
                  <a:srgbClr val="FFFFFF"/>
                </a:solidFill>
                <a:latin typeface="Calibri"/>
              </a:rPr>
              <a:t>5,955</a:t>
            </a:r>
          </a:p>
        </p:txBody>
      </p:sp>
      <p:sp>
        <p:nvSpPr>
          <p:cNvPr id="22" name="Rectangle 21"/>
          <p:cNvSpPr/>
          <p:nvPr/>
        </p:nvSpPr>
        <p:spPr>
          <a:xfrm>
            <a:off x="10561924" y="4978748"/>
            <a:ext cx="1391951" cy="1593502"/>
          </a:xfrm>
          <a:prstGeom prst="rect">
            <a:avLst/>
          </a:prstGeom>
          <a:solidFill>
            <a:srgbClr val="6C7A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France</a:t>
            </a:r>
          </a:p>
          <a:p>
            <a:pPr algn="ctr"/>
            <a:r>
              <a:rPr sz="1100" b="0">
                <a:solidFill>
                  <a:srgbClr val="FFFFFF"/>
                </a:solidFill>
                <a:latin typeface="Calibri"/>
              </a:rPr>
              <a:t>5,800</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162175"/>
            <a:ext cx="8572500" cy="304800"/>
          </a:xfrm>
          <a:prstGeom prst="rect">
            <a:avLst/>
          </a:prstGeom>
          <a:noFill/>
        </p:spPr>
        <p:txBody>
          <a:bodyPr wrap="none" lIns="0" tIns="0">
            <a:spAutoFit/>
          </a:bodyPr>
          <a:lstStyle/>
          <a:p>
            <a:r>
              <a:rPr sz="1800" b="0">
                <a:solidFill>
                  <a:srgbClr val="0E72AE"/>
                </a:solidFill>
                <a:latin typeface="Calibri"/>
              </a:rPr>
              <a:t>Flexible Plastic Packaging Market</a:t>
            </a:r>
          </a:p>
        </p:txBody>
      </p:sp>
      <p:sp>
        <p:nvSpPr>
          <p:cNvPr id="10" name="FMI Section Title"/>
          <p:cNvSpPr txBox="1"/>
          <p:nvPr/>
        </p:nvSpPr>
        <p:spPr>
          <a:xfrm>
            <a:off x="914400" y="2505075"/>
            <a:ext cx="8572500" cy="514350"/>
          </a:xfrm>
          <a:prstGeom prst="rect">
            <a:avLst/>
          </a:prstGeom>
          <a:noFill/>
        </p:spPr>
        <p:txBody>
          <a:bodyPr wrap="square" lIns="0" rIns="0" tIns="0">
            <a:spAutoFit/>
          </a:bodyPr>
          <a:lstStyle/>
          <a:p>
            <a:r>
              <a:rPr sz="3000" b="1">
                <a:solidFill>
                  <a:srgbClr val="0B3C8C"/>
                </a:solidFill>
                <a:latin typeface="Calibri"/>
              </a:rPr>
              <a:t>Global Market Analysis By Segments</a:t>
            </a:r>
          </a:p>
        </p:txBody>
      </p:sp>
      <p:sp>
        <p:nvSpPr>
          <p:cNvPr id="11" name="TextBox 10"/>
          <p:cNvSpPr txBox="1"/>
          <p:nvPr/>
        </p:nvSpPr>
        <p:spPr>
          <a:xfrm>
            <a:off x="914400" y="3190875"/>
            <a:ext cx="8458200" cy="24574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Principal Material / Barrier Technology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Material Structure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Barrier Level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Application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Barrier Level Vs Application</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Flexible Plastic Packaging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Product Type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Type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Volume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Product Type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4 sub-segments of Product Type,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TextBox 10"/>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Product Type segment categorizes the market by product type. Each sub-category is evaluated on market size, growth outlook and adoption trends across the forecast period.</a:t>
            </a:r>
          </a:p>
        </p:txBody>
      </p:sp>
      <p:sp>
        <p:nvSpPr>
          <p:cNvPr id="12" name="Rectangle 11"/>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4" name="Rectangle 13"/>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6" name="Rectangle 15"/>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8" name="Rectangle 17"/>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20" name="Rounded Rectangle 19"/>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Rollstock Films</a:t>
            </a:r>
          </a:p>
        </p:txBody>
      </p:sp>
      <p:sp>
        <p:nvSpPr>
          <p:cNvPr id="23" name="Rectangle 22"/>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68,531</a:t>
            </a:r>
          </a:p>
        </p:txBody>
      </p:sp>
      <p:sp>
        <p:nvSpPr>
          <p:cNvPr id="24" name="Rectangle 23"/>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128,658</a:t>
            </a:r>
          </a:p>
        </p:txBody>
      </p:sp>
      <p:sp>
        <p:nvSpPr>
          <p:cNvPr id="25" name="Rectangle 24"/>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6.5%</a:t>
            </a:r>
          </a:p>
        </p:txBody>
      </p:sp>
      <p:sp>
        <p:nvSpPr>
          <p:cNvPr id="26" name="Oval 25"/>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Premade Pouches &amp; Bags</a:t>
            </a:r>
          </a:p>
        </p:txBody>
      </p:sp>
      <p:sp>
        <p:nvSpPr>
          <p:cNvPr id="30" name="Rectangle 29"/>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35,979</a:t>
            </a:r>
          </a:p>
        </p:txBody>
      </p:sp>
      <p:sp>
        <p:nvSpPr>
          <p:cNvPr id="31" name="Rectangle 30"/>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68,738</a:t>
            </a:r>
          </a:p>
        </p:txBody>
      </p:sp>
      <p:sp>
        <p:nvSpPr>
          <p:cNvPr id="32" name="Rectangle 31"/>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6.7%</a:t>
            </a:r>
          </a:p>
        </p:txBody>
      </p:sp>
      <p:sp>
        <p:nvSpPr>
          <p:cNvPr id="33" name="Oval 32"/>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Barrier Casings</a:t>
            </a:r>
          </a:p>
        </p:txBody>
      </p:sp>
      <p:sp>
        <p:nvSpPr>
          <p:cNvPr id="37" name="Rectangle 36"/>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13,942</a:t>
            </a:r>
          </a:p>
        </p:txBody>
      </p:sp>
      <p:sp>
        <p:nvSpPr>
          <p:cNvPr id="38" name="Rectangle 37"/>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26,386</a:t>
            </a:r>
          </a:p>
        </p:txBody>
      </p:sp>
      <p:sp>
        <p:nvSpPr>
          <p:cNvPr id="39" name="Rectangle 38"/>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6.6%</a:t>
            </a:r>
          </a:p>
        </p:txBody>
      </p:sp>
      <p:sp>
        <p:nvSpPr>
          <p:cNvPr id="40" name="Oval 39"/>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1" name="Rounded Rectangle 40"/>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Sachets &amp; Stick Packs</a:t>
            </a:r>
          </a:p>
        </p:txBody>
      </p:sp>
      <p:sp>
        <p:nvSpPr>
          <p:cNvPr id="44" name="Rectangle 43"/>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8,895</a:t>
            </a:r>
          </a:p>
        </p:txBody>
      </p:sp>
      <p:sp>
        <p:nvSpPr>
          <p:cNvPr id="45" name="Rectangle 44"/>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16,426</a:t>
            </a:r>
          </a:p>
        </p:txBody>
      </p:sp>
      <p:sp>
        <p:nvSpPr>
          <p:cNvPr id="46" name="Rectangle 45"/>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6.3%</a:t>
            </a:r>
          </a:p>
        </p:txBody>
      </p:sp>
      <p:sp>
        <p:nvSpPr>
          <p:cNvPr id="47" name="Oval 46"/>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8" name="Rounded Rectangle 47"/>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50" name="Rectangle 49"/>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72AE"/>
                </a:solidFill>
                <a:latin typeface="Calibri"/>
              </a:rPr>
              <a:t>▪  </a:t>
            </a:r>
            <a:r>
              <a:rPr sz="1100" b="0">
                <a:solidFill>
                  <a:srgbClr val="2E2E2E"/>
                </a:solidFill>
                <a:latin typeface="Calibri"/>
              </a:rPr>
              <a:t>¶ Among flexible plastic packaging by product type, premade pouches &amp; bags segment is expected to witness the highest CAGR of 6.7% over the forecast period. In terms of value share by product type, the rollstock films segment is expected to dominate the market, losing 25 BPS and accounting for 53.6% share by 2036.</a:t>
            </a:r>
          </a:p>
          <a:p>
            <a:pPr algn="l">
              <a:lnSpc>
                <a:spcPct val="110000"/>
              </a:lnSpc>
              <a:spcBef>
                <a:spcPts val="0"/>
              </a:spcBef>
              <a:spcAft>
                <a:spcPts val="500"/>
              </a:spcAft>
            </a:pPr>
            <a:r>
              <a:rPr sz="1100" b="0">
                <a:solidFill>
                  <a:srgbClr val="0E72AE"/>
                </a:solidFill>
                <a:latin typeface="Calibri"/>
              </a:rPr>
              <a:t>▪  </a:t>
            </a:r>
            <a:r>
              <a:rPr sz="1100" b="0">
                <a:solidFill>
                  <a:srgbClr val="2E2E2E"/>
                </a:solidFill>
                <a:latin typeface="Calibri"/>
              </a:rPr>
              <a:t>¶ Rollstock films segment is projected to register 1.9X higher value than premade pouches &amp; bags segment in 2036.</a:t>
            </a:r>
          </a:p>
        </p:txBody>
      </p:sp>
      <p:sp>
        <p:nvSpPr>
          <p:cNvPr id="52" name="Rounded Rectangle 51"/>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4" name="Rectangle 53"/>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t>
            </a:r>
            <a:r>
              <a:rPr sz="1100" b="1">
                <a:solidFill>
                  <a:srgbClr val="0B2E4A"/>
                </a:solidFill>
                <a:latin typeface="Calibri"/>
              </a:rPr>
              <a:t>Rollstock Films: </a:t>
            </a:r>
            <a:r>
              <a:rPr sz="1100" b="0">
                <a:solidFill>
                  <a:srgbClr val="2E2E2E"/>
                </a:solidFill>
                <a:latin typeface="Calibri"/>
              </a:rPr>
              <a:t>54% of 2026 value · 6.5% CAGR leads the segment.</a:t>
            </a:r>
          </a:p>
          <a:p>
            <a:pPr algn="l">
              <a:lnSpc>
                <a:spcPct val="110000"/>
              </a:lnSpc>
              <a:spcBef>
                <a:spcPts val="0"/>
              </a:spcBef>
              <a:spcAft>
                <a:spcPts val="500"/>
              </a:spcAft>
            </a:pPr>
            <a:r>
              <a:rPr sz="1100" b="0">
                <a:solidFill>
                  <a:srgbClr val="0E72AE"/>
                </a:solidFill>
                <a:latin typeface="Calibri"/>
              </a:rPr>
              <a:t>●  </a:t>
            </a:r>
            <a:r>
              <a:rPr sz="1100" b="1">
                <a:solidFill>
                  <a:srgbClr val="0E72AE"/>
                </a:solidFill>
                <a:latin typeface="Calibri"/>
              </a:rPr>
              <a:t>Premade Pouches &amp; Bags: </a:t>
            </a:r>
            <a:r>
              <a:rPr sz="1100" b="0">
                <a:solidFill>
                  <a:srgbClr val="2E2E2E"/>
                </a:solidFill>
                <a:latin typeface="Calibri"/>
              </a:rPr>
              <a:t>28% of 2026 value · 6.7% CAGR grows fastest.</a:t>
            </a:r>
          </a:p>
          <a:p>
            <a:pPr algn="l">
              <a:lnSpc>
                <a:spcPct val="110000"/>
              </a:lnSpc>
              <a:spcBef>
                <a:spcPts val="0"/>
              </a:spcBef>
              <a:spcAft>
                <a:spcPts val="500"/>
              </a:spcAft>
            </a:pPr>
            <a:r>
              <a:rPr sz="1100" b="0">
                <a:solidFill>
                  <a:srgbClr val="008189"/>
                </a:solidFill>
                <a:latin typeface="Calibri"/>
              </a:rPr>
              <a:t>●  </a:t>
            </a:r>
            <a:r>
              <a:rPr sz="1100" b="1">
                <a:solidFill>
                  <a:srgbClr val="008189"/>
                </a:solidFill>
                <a:latin typeface="Calibri"/>
              </a:rPr>
              <a:t>Barrier Casings: </a:t>
            </a:r>
            <a:r>
              <a:rPr sz="1100" b="0">
                <a:solidFill>
                  <a:srgbClr val="2E2E2E"/>
                </a:solidFill>
                <a:latin typeface="Calibri"/>
              </a:rPr>
              <a:t>11% of 2026 value · 6.6% CAGR serves a niche.</a:t>
            </a:r>
          </a:p>
          <a:p>
            <a:pPr algn="l">
              <a:lnSpc>
                <a:spcPct val="110000"/>
              </a:lnSpc>
              <a:spcBef>
                <a:spcPts val="0"/>
              </a:spcBef>
              <a:spcAft>
                <a:spcPts val="500"/>
              </a:spcAft>
            </a:pPr>
            <a:r>
              <a:rPr sz="1100" b="0">
                <a:solidFill>
                  <a:srgbClr val="6F3CC2"/>
                </a:solidFill>
                <a:latin typeface="Calibri"/>
              </a:rPr>
              <a:t>●  </a:t>
            </a:r>
            <a:r>
              <a:rPr sz="1100" b="1">
                <a:solidFill>
                  <a:srgbClr val="6F3CC2"/>
                </a:solidFill>
                <a:latin typeface="Calibri"/>
              </a:rPr>
              <a:t>Sachets &amp; Stick Packs: </a:t>
            </a:r>
            <a:r>
              <a:rPr sz="1100" b="0">
                <a:solidFill>
                  <a:srgbClr val="2E2E2E"/>
                </a:solidFill>
                <a:latin typeface="Calibri"/>
              </a:rPr>
              <a:t>7% of 2026 value · 6.3% CAGR serves a niche.</a:t>
            </a:r>
          </a:p>
        </p:txBody>
      </p:sp>
      <p:sp>
        <p:nvSpPr>
          <p:cNvPr id="56" name="Rounded Rectangle 55"/>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8" name="Rectangle 57"/>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Product Type split shows how demand is distributed across product type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60" name="Rectangle 59"/>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The Product Type segment is projected to grow at a CAGR of 6.6% from 2026 to 2036.</a:t>
            </a:r>
          </a:p>
        </p:txBody>
      </p:sp>
      <p:sp>
        <p:nvSpPr>
          <p:cNvPr id="62" name="TextBox 61"/>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3" name="TextBox 6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Product Type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Product Type mix within each region and the attractiveness of each sub-segment on growth and size</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6343650" cy="4191000"/>
          </a:xfrm>
          <a:prstGeom prst="roundRect">
            <a:avLst>
              <a:gd name="adj" fmla="val 18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Product Type mix within each region (share of 2036 value) · row label = region size (US$ Mn), largest first</a:t>
            </a:r>
          </a:p>
        </p:txBody>
      </p:sp>
      <p:graphicFrame>
        <p:nvGraphicFramePr>
          <p:cNvPr id="13" name="Chart 12"/>
          <p:cNvGraphicFramePr>
            <a:graphicFrameLocks noGrp="1"/>
          </p:cNvGraphicFramePr>
          <p:nvPr/>
        </p:nvGraphicFramePr>
        <p:xfrm>
          <a:off x="238125" y="1438275"/>
          <a:ext cx="6153150" cy="3676650"/>
        </p:xfrm>
        <a:graphic>
          <a:graphicData uri="http://schemas.openxmlformats.org/drawingml/2006/chart">
            <c:chart xmlns:c="http://schemas.openxmlformats.org/drawingml/2006/chart" r:id="rId3"/>
          </a:graphicData>
        </a:graphic>
      </p:graphicFrame>
      <p:sp>
        <p:nvSpPr>
          <p:cNvPr id="14" name="Rounded Rectangle 13"/>
          <p:cNvSpPr/>
          <p:nvPr/>
        </p:nvSpPr>
        <p:spPr>
          <a:xfrm>
            <a:off x="6638925" y="981075"/>
            <a:ext cx="5400675" cy="4191000"/>
          </a:xfrm>
          <a:prstGeom prst="roundRect">
            <a:avLst>
              <a:gd name="adj" fmla="val 18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Product Type · Bubble size represents 2036 value</a:t>
            </a:r>
          </a:p>
        </p:txBody>
      </p:sp>
      <p:graphicFrame>
        <p:nvGraphicFramePr>
          <p:cNvPr id="16" name="Chart 15"/>
          <p:cNvGraphicFramePr>
            <a:graphicFrameLocks noGrp="1"/>
          </p:cNvGraphicFramePr>
          <p:nvPr/>
        </p:nvGraphicFramePr>
        <p:xfrm>
          <a:off x="6734175" y="1438275"/>
          <a:ext cx="5210175" cy="367665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5305425"/>
            <a:ext cx="11906250" cy="1323975"/>
          </a:xfrm>
          <a:prstGeom prst="roundRect">
            <a:avLst>
              <a:gd name="adj" fmla="val 57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Rollstock films followed by premade pouches &amp; bags are expected to be the two most attractive product type segments in the global flexible plastic packaging market in terms of value over the forecast period. Rollstock films and premade pouches &amp; bags exhibit a CAGR index of 99 and 102 and a market share index of 215 and 113 respectively, against the segment average of 100. The sachets &amp; stick packs segment is expected to be less attractive as compared to other segments over the forecast period, owing to its lower CAGR and incremental opportunity. Premade Pouches &amp; Bags rank most attractive because they combine the fastest growth at 6.7% with a sizeable 28.3% base, supported by stand-up pouch demand from e-commerce, ready meals, pet food and household products. Rollstock Films remain the anchor at 53.8% share, since high-speed form-fill-seal lines in food keep them essential, but their 6.5% growth trails pouches slightly. Sachets &amp; Stick Packs are the smallest and slowest at 6.3%. Bubbles right of the CAGR-Index line grow faster than the segment average.</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Product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Product Type and the absolute $ opportunity each sub-segment adds,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Rollstock Films</a:t>
            </a:r>
          </a:p>
        </p:txBody>
      </p:sp>
      <p:graphicFrame>
        <p:nvGraphicFramePr>
          <p:cNvPr id="13" name="Chart 12"/>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Barrier Casings</a:t>
            </a:r>
          </a:p>
        </p:txBody>
      </p:sp>
      <p:graphicFrame>
        <p:nvGraphicFramePr>
          <p:cNvPr id="16" name="Chart 15"/>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Premade Pouches &amp; Bags</a:t>
            </a:r>
          </a:p>
        </p:txBody>
      </p:sp>
      <p:graphicFrame>
        <p:nvGraphicFramePr>
          <p:cNvPr id="19" name="Chart 18"/>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20" name="Rounded Rectangle 19"/>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Sachets &amp; Stick Packs</a:t>
            </a:r>
          </a:p>
        </p:txBody>
      </p:sp>
      <p:graphicFrame>
        <p:nvGraphicFramePr>
          <p:cNvPr id="22" name="Chart 21"/>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Volume Analysis, By Product Type (Thousand MT)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by Product Type,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3914775"/>
          </a:xfrm>
          <a:prstGeom prst="roundRect">
            <a:avLst>
              <a:gd name="adj" fmla="val 194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By Product Type (Thousand MT)</a:t>
            </a:r>
          </a:p>
        </p:txBody>
      </p:sp>
      <p:graphicFrame>
        <p:nvGraphicFramePr>
          <p:cNvPr id="13" name="Table 12"/>
          <p:cNvGraphicFramePr>
            <a:graphicFrameLocks noGrp="1"/>
          </p:cNvGraphicFramePr>
          <p:nvPr/>
        </p:nvGraphicFramePr>
        <p:xfrm>
          <a:off x="152400" y="1238250"/>
          <a:ext cx="11887205" cy="3448050"/>
        </p:xfrm>
        <a:graphic>
          <a:graphicData uri="http://schemas.openxmlformats.org/drawingml/2006/table">
            <a:tbl>
              <a:tblPr>
                <a:tableStyleId>{5C22544A-7EE6-4342-B048-85BDC9FD1C3A}</a:tableStyleId>
              </a:tblPr>
              <a:tblGrid>
                <a:gridCol w="2046024"/>
                <a:gridCol w="578893"/>
                <a:gridCol w="578893"/>
                <a:gridCol w="578893"/>
                <a:gridCol w="578893"/>
                <a:gridCol w="578893"/>
                <a:gridCol w="578893"/>
                <a:gridCol w="578893"/>
                <a:gridCol w="578893"/>
                <a:gridCol w="578893"/>
                <a:gridCol w="578893"/>
                <a:gridCol w="578893"/>
                <a:gridCol w="578893"/>
                <a:gridCol w="578893"/>
                <a:gridCol w="578893"/>
                <a:gridCol w="578893"/>
                <a:gridCol w="578893"/>
                <a:gridCol w="578893"/>
              </a:tblGrid>
              <a:tr h="215265">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F-CAGR</a:t>
                      </a:r>
                      <a:endParaRPr sz="1100"/>
                    </a:p>
                  </a:txBody>
                  <a:tcPr marL="47625" marR="38100" marT="19050" marB="19050" anchor="ctr">
                    <a:solidFill>
                      <a:srgbClr val="E0E8EF"/>
                    </a:solidFill>
                  </a:tcPr>
                </a:tc>
              </a:tr>
              <a:tr h="215519">
                <a:tc>
                  <a:txBody>
                    <a:bodyPr wrap="none"/>
                    <a:lstStyle/>
                    <a:p>
                      <a:pPr algn="l"/>
                      <a:r>
                        <a:rPr sz="1100" b="1">
                          <a:solidFill>
                            <a:srgbClr val="2E2E2E"/>
                          </a:solidFill>
                          <a:latin typeface="Calibri"/>
                        </a:rPr>
                        <a:t>Rollstock Films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17,904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18,635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19,405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20,222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21,095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22,049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23,089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24,226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25,466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26,821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28,287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29,859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31,512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33,234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34,999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36,805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5.3%</a:t>
                      </a:r>
                      <a:endParaRPr sz="1100"/>
                    </a:p>
                  </a:txBody>
                  <a:tcPr marL="47625" marR="38100" marT="19050" marB="19050" anchor="ctr">
                    <a:solidFill>
                      <a:srgbClr val="FFFFFF"/>
                    </a:solidFill>
                  </a:tcPr>
                </a:tc>
              </a:tr>
              <a:tr h="215519">
                <a:tc>
                  <a:txBody>
                    <a:bodyPr wrap="none"/>
                    <a:lstStyle/>
                    <a:p>
                      <a:pPr algn="l"/>
                      <a:r>
                        <a:rPr sz="1100" b="1">
                          <a:solidFill>
                            <a:srgbClr val="2E2E2E"/>
                          </a:solidFill>
                          <a:latin typeface="Calibri"/>
                        </a:rPr>
                        <a:t>– Lidding &amp; Tray-Sealing Films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3,551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3,699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3,854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4,019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4,195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4,385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4,589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4,809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5,046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5,303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5,580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5,877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6,188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6,511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6,842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7,179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5.1%</a:t>
                      </a:r>
                      <a:endParaRPr sz="1100"/>
                    </a:p>
                  </a:txBody>
                  <a:tcPr marL="47625" marR="38100" marT="19050" marB="19050" anchor="ctr">
                    <a:solidFill>
                      <a:srgbClr val="F5F8FA"/>
                    </a:solidFill>
                  </a:tcPr>
                </a:tc>
              </a:tr>
              <a:tr h="215519">
                <a:tc>
                  <a:txBody>
                    <a:bodyPr wrap="none"/>
                    <a:lstStyle/>
                    <a:p>
                      <a:pPr algn="l"/>
                      <a:r>
                        <a:rPr sz="1100" b="1">
                          <a:solidFill>
                            <a:srgbClr val="2E2E2E"/>
                          </a:solidFill>
                          <a:latin typeface="Calibri"/>
                        </a:rPr>
                        <a:t>– Thermoforming Films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3,476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3,622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3,776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3,937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4,108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4,296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4,502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4,728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4,977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5,252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5,552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5,876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6,220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6,578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6,947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7,326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5.5%</a:t>
                      </a:r>
                      <a:endParaRPr sz="1100"/>
                    </a:p>
                  </a:txBody>
                  <a:tcPr marL="47625" marR="38100" marT="19050" marB="19050" anchor="ctr">
                    <a:solidFill>
                      <a:srgbClr val="FFFFFF"/>
                    </a:solidFill>
                  </a:tcPr>
                </a:tc>
              </a:tr>
              <a:tr h="215519">
                <a:tc>
                  <a:txBody>
                    <a:bodyPr wrap="none"/>
                    <a:lstStyle/>
                    <a:p>
                      <a:pPr algn="l"/>
                      <a:r>
                        <a:rPr sz="1100" b="1">
                          <a:solidFill>
                            <a:srgbClr val="2E2E2E"/>
                          </a:solidFill>
                          <a:latin typeface="Calibri"/>
                        </a:rPr>
                        <a:t>– Vacuum Skin Packaging Films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1,407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1,458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1,513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1,573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1,638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1,711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1,791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1,880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1,978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2,083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2,196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2,316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2,441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2,571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2,704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2,840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5.2%</a:t>
                      </a:r>
                      <a:endParaRPr sz="1100"/>
                    </a:p>
                  </a:txBody>
                  <a:tcPr marL="47625" marR="38100" marT="19050" marB="19050" anchor="ctr">
                    <a:solidFill>
                      <a:srgbClr val="F5F8FA"/>
                    </a:solidFill>
                  </a:tcPr>
                </a:tc>
              </a:tr>
              <a:tr h="215519">
                <a:tc>
                  <a:txBody>
                    <a:bodyPr wrap="none"/>
                    <a:lstStyle/>
                    <a:p>
                      <a:pPr algn="l"/>
                      <a:r>
                        <a:rPr sz="1100" b="1">
                          <a:solidFill>
                            <a:srgbClr val="2E2E2E"/>
                          </a:solidFill>
                          <a:latin typeface="Calibri"/>
                        </a:rPr>
                        <a:t>– HFFS / Flow-Pack Films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3,639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3,793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3,957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4,131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4,318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4,522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4,744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4,985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5,250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5,540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5,857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6,199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6,561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6,939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7,328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7,726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5.5%</a:t>
                      </a:r>
                      <a:endParaRPr sz="1100"/>
                    </a:p>
                  </a:txBody>
                  <a:tcPr marL="47625" marR="38100" marT="19050" marB="19050" anchor="ctr">
                    <a:solidFill>
                      <a:srgbClr val="FFFFFF"/>
                    </a:solidFill>
                  </a:tcPr>
                </a:tc>
              </a:tr>
              <a:tr h="215519">
                <a:tc>
                  <a:txBody>
                    <a:bodyPr wrap="none"/>
                    <a:lstStyle/>
                    <a:p>
                      <a:pPr algn="l"/>
                      <a:r>
                        <a:rPr sz="1100" b="1">
                          <a:solidFill>
                            <a:srgbClr val="2E2E2E"/>
                          </a:solidFill>
                          <a:latin typeface="Calibri"/>
                        </a:rPr>
                        <a:t>– VFFS Rollstock Films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4,010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4,168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4,333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4,509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4,695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4,898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5,118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5,358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5,620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5,904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6,210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6,535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6,874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7,226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7,586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7,953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5.0%</a:t>
                      </a:r>
                      <a:endParaRPr sz="1100"/>
                    </a:p>
                  </a:txBody>
                  <a:tcPr marL="47625" marR="38100" marT="19050" marB="19050" anchor="ctr">
                    <a:solidFill>
                      <a:srgbClr val="F5F8FA"/>
                    </a:solidFill>
                  </a:tcPr>
                </a:tc>
              </a:tr>
              <a:tr h="215519">
                <a:tc>
                  <a:txBody>
                    <a:bodyPr wrap="none"/>
                    <a:lstStyle/>
                    <a:p>
                      <a:pPr algn="l"/>
                      <a:r>
                        <a:rPr sz="1100" b="1">
                          <a:solidFill>
                            <a:srgbClr val="2E2E2E"/>
                          </a:solidFill>
                          <a:latin typeface="Calibri"/>
                        </a:rPr>
                        <a:t>– Shrink &amp; Overwrap Films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1,821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1,894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1,971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2,053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2,141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2,238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2,346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2,465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2,597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2,739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2,893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3,056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3,228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3,408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3,592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3,781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5.4%</a:t>
                      </a:r>
                      <a:endParaRPr sz="1100"/>
                    </a:p>
                  </a:txBody>
                  <a:tcPr marL="47625" marR="38100" marT="19050" marB="19050" anchor="ctr">
                    <a:solidFill>
                      <a:srgbClr val="FFFFFF"/>
                    </a:solidFill>
                  </a:tcPr>
                </a:tc>
              </a:tr>
              <a:tr h="215519">
                <a:tc>
                  <a:txBody>
                    <a:bodyPr wrap="none"/>
                    <a:lstStyle/>
                    <a:p>
                      <a:pPr algn="l"/>
                      <a:r>
                        <a:rPr sz="1100" b="1">
                          <a:solidFill>
                            <a:srgbClr val="2E2E2E"/>
                          </a:solidFill>
                          <a:latin typeface="Calibri"/>
                        </a:rPr>
                        <a:t>Barrier Casings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2,537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2,636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2,742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2,856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2,979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3,112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3,257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3,415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3,588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3,778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3,987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4,211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4,446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4,690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4,940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5,195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5.3%</a:t>
                      </a:r>
                      <a:endParaRPr sz="1100"/>
                    </a:p>
                  </a:txBody>
                  <a:tcPr marL="47625" marR="38100" marT="19050" marB="19050" anchor="ctr">
                    <a:solidFill>
                      <a:srgbClr val="F5F8FA"/>
                    </a:solidFill>
                  </a:tcPr>
                </a:tc>
              </a:tr>
              <a:tr h="215519">
                <a:tc>
                  <a:txBody>
                    <a:bodyPr wrap="none"/>
                    <a:lstStyle/>
                    <a:p>
                      <a:pPr algn="l"/>
                      <a:r>
                        <a:rPr sz="1100" b="1">
                          <a:solidFill>
                            <a:srgbClr val="2E2E2E"/>
                          </a:solidFill>
                          <a:latin typeface="Calibri"/>
                        </a:rPr>
                        <a:t>– Non-Shrink Casings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1,231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1,273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1,318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1,367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1,420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1,478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1,540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1,607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1,681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1,764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1,854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1,950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2,050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2,153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2,258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2,365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4.8%</a:t>
                      </a:r>
                      <a:endParaRPr sz="1100"/>
                    </a:p>
                  </a:txBody>
                  <a:tcPr marL="47625" marR="38100" marT="19050" marB="19050" anchor="ctr">
                    <a:solidFill>
                      <a:srgbClr val="FFFFFF"/>
                    </a:solidFill>
                  </a:tcPr>
                </a:tc>
              </a:tr>
              <a:tr h="215519">
                <a:tc>
                  <a:txBody>
                    <a:bodyPr wrap="none"/>
                    <a:lstStyle/>
                    <a:p>
                      <a:pPr algn="l"/>
                      <a:r>
                        <a:rPr sz="1100" b="1">
                          <a:solidFill>
                            <a:srgbClr val="2E2E2E"/>
                          </a:solidFill>
                          <a:latin typeface="Calibri"/>
                        </a:rPr>
                        <a:t>– Shrink Casings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966.6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1,006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1,048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1,093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1,142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1,195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1,254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1,319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1,390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1,469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1,557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1,651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1,751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1,856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1,963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2,073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5.7%</a:t>
                      </a:r>
                      <a:endParaRPr sz="1100"/>
                    </a:p>
                  </a:txBody>
                  <a:tcPr marL="47625" marR="38100" marT="19050" marB="19050" anchor="ctr">
                    <a:solidFill>
                      <a:srgbClr val="F5F8FA"/>
                    </a:solidFill>
                  </a:tcPr>
                </a:tc>
              </a:tr>
              <a:tr h="215519">
                <a:tc>
                  <a:txBody>
                    <a:bodyPr wrap="none"/>
                    <a:lstStyle/>
                    <a:p>
                      <a:pPr algn="l"/>
                      <a:r>
                        <a:rPr sz="1100" b="1">
                          <a:solidFill>
                            <a:srgbClr val="2E2E2E"/>
                          </a:solidFill>
                          <a:latin typeface="Calibri"/>
                        </a:rPr>
                        <a:t>– Other Specialty Casings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339.0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356.8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375.6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395.5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416.7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439.4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463.4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488.9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516.1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545.3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576.6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610.1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645.1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681.4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718.7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757.1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5.6%</a:t>
                      </a:r>
                      <a:endParaRPr sz="1100"/>
                    </a:p>
                  </a:txBody>
                  <a:tcPr marL="47625" marR="38100" marT="19050" marB="19050" anchor="ctr">
                    <a:solidFill>
                      <a:srgbClr val="FFFFFF"/>
                    </a:solidFill>
                  </a:tcPr>
                </a:tc>
              </a:tr>
              <a:tr h="215519">
                <a:tc>
                  <a:txBody>
                    <a:bodyPr wrap="none"/>
                    <a:lstStyle/>
                    <a:p>
                      <a:pPr algn="l"/>
                      <a:r>
                        <a:rPr sz="1100" b="1">
                          <a:solidFill>
                            <a:srgbClr val="2E2E2E"/>
                          </a:solidFill>
                          <a:latin typeface="Calibri"/>
                        </a:rPr>
                        <a:t>Premade Pouches &amp; Bags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10,173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10,601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11,053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11,534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12,046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12,604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13,209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13,869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14,587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15,372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16,222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17,132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18,091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19,089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20,114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21,162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5.3%</a:t>
                      </a:r>
                      <a:endParaRPr sz="1100"/>
                    </a:p>
                  </a:txBody>
                  <a:tcPr marL="47625" marR="38100" marT="19050" marB="19050" anchor="ctr">
                    <a:solidFill>
                      <a:srgbClr val="F5F8FA"/>
                    </a:solidFill>
                  </a:tcPr>
                </a:tc>
              </a:tr>
              <a:tr h="215519">
                <a:tc>
                  <a:txBody>
                    <a:bodyPr wrap="none"/>
                    <a:lstStyle/>
                    <a:p>
                      <a:pPr algn="l"/>
                      <a:r>
                        <a:rPr sz="1100" b="1">
                          <a:solidFill>
                            <a:srgbClr val="2E2E2E"/>
                          </a:solidFill>
                          <a:latin typeface="Calibri"/>
                        </a:rPr>
                        <a:t>– Vacuum Pouches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1,697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1,764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1,835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1,910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1,990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2,079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2,175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2,282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2,399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2,527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2,668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2,819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2,979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3,146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3,317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3,491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5.3%</a:t>
                      </a:r>
                      <a:endParaRPr sz="1100"/>
                    </a:p>
                  </a:txBody>
                  <a:tcPr marL="47625" marR="38100" marT="19050" marB="19050" anchor="ctr">
                    <a:solidFill>
                      <a:srgbClr val="FFFFFF"/>
                    </a:solidFill>
                  </a:tcPr>
                </a:tc>
              </a:tr>
              <a:tr h="215519">
                <a:tc>
                  <a:txBody>
                    <a:bodyPr wrap="none"/>
                    <a:lstStyle/>
                    <a:p>
                      <a:pPr algn="l"/>
                      <a:r>
                        <a:rPr sz="1100" b="1">
                          <a:solidFill>
                            <a:srgbClr val="2E2E2E"/>
                          </a:solidFill>
                          <a:latin typeface="Calibri"/>
                        </a:rPr>
                        <a:t>– Shrink Bags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1,370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1,428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1,489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1,554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1,623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1,699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1,783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1,876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1,980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2,095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2,219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2,352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2,494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2,643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2,796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2,954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5.7%</a:t>
                      </a:r>
                      <a:endParaRPr sz="1100"/>
                    </a:p>
                  </a:txBody>
                  <a:tcPr marL="47625" marR="38100" marT="19050" marB="19050" anchor="ctr">
                    <a:solidFill>
                      <a:srgbClr val="F5F8FA"/>
                    </a:solidFill>
                  </a:tcPr>
                </a:tc>
              </a:tr>
              <a:tr h="215519">
                <a:tc>
                  <a:txBody>
                    <a:bodyPr wrap="none"/>
                    <a:lstStyle/>
                    <a:p>
                      <a:pPr algn="l"/>
                      <a:r>
                        <a:rPr sz="1100" b="1">
                          <a:solidFill>
                            <a:srgbClr val="2E2E2E"/>
                          </a:solidFill>
                          <a:latin typeface="Calibri"/>
                        </a:rPr>
                        <a:t>– Stand-Up Pouches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3,821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3,978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4,143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4,319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4,506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4,709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4,929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5,167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5,424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5,704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6,005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6,327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6,664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7,014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7,372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7,739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5.1%</a:t>
                      </a:r>
                      <a:endParaRPr sz="1100"/>
                    </a:p>
                  </a:txBody>
                  <a:tcPr marL="47625" marR="38100" marT="19050" marB="19050" anchor="ctr">
                    <a:solidFill>
                      <a:srgbClr val="FFFFFF"/>
                    </a:solidFill>
                  </a:tcPr>
                </a:tc>
              </a:tr>
            </a:tbl>
          </a:graphicData>
        </a:graphic>
      </p:graphicFrame>
      <p:sp>
        <p:nvSpPr>
          <p:cNvPr id="14" name="TextBox 13"/>
          <p:cNvSpPr txBox="1"/>
          <p:nvPr/>
        </p:nvSpPr>
        <p:spPr>
          <a:xfrm>
            <a:off x="219075" y="46958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Volume Analysis, By Product Type (Thousand MT)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by Product Type, 2021–2036, highlighting the sub-segments driving growth</a:t>
            </a:r>
          </a:p>
        </p:txBody>
      </p:sp>
      <p:sp>
        <p:nvSpPr>
          <p:cNvPr id="10" name="Rounded Rectangle 9"/>
          <p:cNvSpPr/>
          <p:nvPr/>
        </p:nvSpPr>
        <p:spPr>
          <a:xfrm>
            <a:off x="142875" y="981075"/>
            <a:ext cx="11906250" cy="1981200"/>
          </a:xfrm>
          <a:prstGeom prst="roundRect">
            <a:avLst>
              <a:gd name="adj" fmla="val 384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By Product Type (Thousand MT)</a:t>
            </a:r>
          </a:p>
        </p:txBody>
      </p:sp>
      <p:graphicFrame>
        <p:nvGraphicFramePr>
          <p:cNvPr id="12" name="Table 11"/>
          <p:cNvGraphicFramePr>
            <a:graphicFrameLocks noGrp="1"/>
          </p:cNvGraphicFramePr>
          <p:nvPr/>
        </p:nvGraphicFramePr>
        <p:xfrm>
          <a:off x="152400" y="1238250"/>
          <a:ext cx="11887207" cy="1514475"/>
        </p:xfrm>
        <a:graphic>
          <a:graphicData uri="http://schemas.openxmlformats.org/drawingml/2006/table">
            <a:tbl>
              <a:tblPr>
                <a:tableStyleId>{5C22544A-7EE6-4342-B048-85BDC9FD1C3A}</a:tableStyleId>
              </a:tblPr>
              <a:tblGrid>
                <a:gridCol w="1522732"/>
                <a:gridCol w="609675"/>
                <a:gridCol w="609675"/>
                <a:gridCol w="609675"/>
                <a:gridCol w="609675"/>
                <a:gridCol w="609675"/>
                <a:gridCol w="609675"/>
                <a:gridCol w="609675"/>
                <a:gridCol w="609675"/>
                <a:gridCol w="609675"/>
                <a:gridCol w="609675"/>
                <a:gridCol w="609675"/>
                <a:gridCol w="609675"/>
                <a:gridCol w="609675"/>
                <a:gridCol w="609675"/>
                <a:gridCol w="609675"/>
                <a:gridCol w="609675"/>
                <a:gridCol w="609675"/>
              </a:tblGrid>
              <a:tr h="215265">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F-CAGR</a:t>
                      </a:r>
                      <a:endParaRPr sz="1100"/>
                    </a:p>
                  </a:txBody>
                  <a:tcPr marL="47625" marR="38100" marT="19050" marB="19050" anchor="ctr">
                    <a:solidFill>
                      <a:srgbClr val="E0E8EF"/>
                    </a:solidFill>
                  </a:tcPr>
                </a:tc>
              </a:tr>
              <a:tr h="216535">
                <a:tc>
                  <a:txBody>
                    <a:bodyPr wrap="none"/>
                    <a:lstStyle/>
                    <a:p>
                      <a:pPr algn="l"/>
                      <a:r>
                        <a:rPr sz="1100" b="1">
                          <a:solidFill>
                            <a:srgbClr val="2E2E2E"/>
                          </a:solidFill>
                          <a:latin typeface="Calibri"/>
                        </a:rPr>
                        <a:t>– Flat Pouches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2,359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2,465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2,578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2,697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2,824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2,961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3,110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3,271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3,445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3,636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3,843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4,066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4,300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4,545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4,797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5,054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5.5%</a:t>
                      </a:r>
                      <a:endParaRPr sz="1100"/>
                    </a:p>
                  </a:txBody>
                  <a:tcPr marL="47625" marR="38100" marT="19050" marB="19050" anchor="ctr">
                    <a:solidFill>
                      <a:srgbClr val="FFFFFF"/>
                    </a:solidFill>
                  </a:tcPr>
                </a:tc>
              </a:tr>
              <a:tr h="216535">
                <a:tc>
                  <a:txBody>
                    <a:bodyPr wrap="none"/>
                    <a:lstStyle/>
                    <a:p>
                      <a:pPr algn="l"/>
                      <a:r>
                        <a:rPr sz="1100" b="1">
                          <a:solidFill>
                            <a:srgbClr val="2E2E2E"/>
                          </a:solidFill>
                          <a:latin typeface="Calibri"/>
                        </a:rPr>
                        <a:t>– Retort Pouches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926.5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966.6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1,009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1,055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1,104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1,156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1,213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1,274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1,339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1,410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1,487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1,568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1,653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1,742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1,832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1,924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5.2%</a:t>
                      </a:r>
                      <a:endParaRPr sz="1100"/>
                    </a:p>
                  </a:txBody>
                  <a:tcPr marL="47625" marR="38100" marT="19050" marB="19050" anchor="ctr">
                    <a:solidFill>
                      <a:srgbClr val="F5F8FA"/>
                    </a:solidFill>
                  </a:tcPr>
                </a:tc>
              </a:tr>
              <a:tr h="216535">
                <a:tc>
                  <a:txBody>
                    <a:bodyPr wrap="none"/>
                    <a:lstStyle/>
                    <a:p>
                      <a:pPr algn="l"/>
                      <a:r>
                        <a:rPr sz="1100" b="1">
                          <a:solidFill>
                            <a:srgbClr val="2E2E2E"/>
                          </a:solidFill>
                          <a:latin typeface="Calibri"/>
                        </a:rPr>
                        <a:t>Sachets &amp; Stick Packs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2,723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2,830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2,943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3,060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3,184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3,318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3,466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3,630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3,811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4,009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4,221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4,447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4,685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4,933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5,188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5,448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5.1%</a:t>
                      </a:r>
                      <a:endParaRPr sz="1100"/>
                    </a:p>
                  </a:txBody>
                  <a:tcPr marL="47625" marR="38100" marT="19050" marB="19050" anchor="ctr">
                    <a:solidFill>
                      <a:srgbClr val="FFFFFF"/>
                    </a:solidFill>
                  </a:tcPr>
                </a:tc>
              </a:tr>
              <a:tr h="216535">
                <a:tc>
                  <a:txBody>
                    <a:bodyPr wrap="none"/>
                    <a:lstStyle/>
                    <a:p>
                      <a:pPr algn="l"/>
                      <a:r>
                        <a:rPr sz="1100" b="1">
                          <a:solidFill>
                            <a:srgbClr val="2E2E2E"/>
                          </a:solidFill>
                          <a:latin typeface="Calibri"/>
                        </a:rPr>
                        <a:t>– Sachets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2,285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2,376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2,471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2,570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2,675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2,790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2,915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3,054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3,207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3,374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3,555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3,747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3,949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4,160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4,376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4,597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5.1%</a:t>
                      </a:r>
                      <a:endParaRPr sz="1100"/>
                    </a:p>
                  </a:txBody>
                  <a:tcPr marL="47625" marR="38100" marT="19050" marB="19050" anchor="ctr">
                    <a:solidFill>
                      <a:srgbClr val="F5F8FA"/>
                    </a:solidFill>
                  </a:tcPr>
                </a:tc>
              </a:tr>
              <a:tr h="216535">
                <a:tc>
                  <a:txBody>
                    <a:bodyPr wrap="none"/>
                    <a:lstStyle/>
                    <a:p>
                      <a:pPr algn="l"/>
                      <a:r>
                        <a:rPr sz="1100" b="1">
                          <a:solidFill>
                            <a:srgbClr val="2E2E2E"/>
                          </a:solidFill>
                          <a:latin typeface="Calibri"/>
                        </a:rPr>
                        <a:t>– Stick Packs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438.4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454.9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471.9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489.7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508.3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528.6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551.1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576.1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604.0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634.1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666.2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700.1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736.1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773.5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811.9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851.1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4.9%</a:t>
                      </a:r>
                      <a:endParaRPr sz="1100"/>
                    </a:p>
                  </a:txBody>
                  <a:tcPr marL="47625" marR="38100" marT="19050" marB="19050" anchor="ctr">
                    <a:solidFill>
                      <a:srgbClr val="FFFFFF"/>
                    </a:solidFill>
                  </a:tcPr>
                </a:tc>
              </a:tr>
              <a:tr h="216535">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33,337</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34,702</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36,143</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37,672</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39,304</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41,083</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43,022</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45,139</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47,452</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49,980</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52,717</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55,648</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58,734</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61,946</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65,241</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68,611</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5.3%</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7622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095625"/>
            <a:ext cx="11906250" cy="3533775"/>
          </a:xfrm>
          <a:prstGeom prst="roundRect">
            <a:avLst>
              <a:gd name="adj" fmla="val 215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1813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Volume Analysis, By Product Type</a:t>
            </a:r>
          </a:p>
        </p:txBody>
      </p:sp>
      <p:sp>
        <p:nvSpPr>
          <p:cNvPr id="16" name="Rectangle 15"/>
          <p:cNvSpPr/>
          <p:nvPr/>
        </p:nvSpPr>
        <p:spPr>
          <a:xfrm>
            <a:off x="276225" y="34194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505200"/>
            <a:ext cx="11639550" cy="30480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Rollstock films segment is projected to register 1.7X higher volume than premade pouches &amp; bags segment in 2036. Among flexible plastic packaging by product type, premade pouches &amp; bags segment is expected to witness the highest CAGR of 5.3% over the forecast period.</a:t>
            </a:r>
          </a:p>
          <a:p>
            <a:pPr algn="l">
              <a:lnSpc>
                <a:spcPct val="110000"/>
              </a:lnSpc>
              <a:spcBef>
                <a:spcPts val="0"/>
              </a:spcBef>
              <a:spcAft>
                <a:spcPts val="500"/>
              </a:spcAft>
            </a:pPr>
            <a:r>
              <a:rPr sz="1150" b="0">
                <a:solidFill>
                  <a:srgbClr val="2E2E2E"/>
                </a:solidFill>
                <a:latin typeface="Calibri"/>
              </a:rPr>
              <a:t>In terms of volume share by product type, the rollstock films segment is expected to dominate the market, maintaining its share and accounting for 53.6% share by 2036. The sachets &amp; stick packs segment is expected to lose 14 BPS over the forecast period to account for 7.9% share by 2036.</a:t>
            </a:r>
          </a:p>
          <a:p>
            <a:pPr algn="l">
              <a:lnSpc>
                <a:spcPct val="110000"/>
              </a:lnSpc>
              <a:spcBef>
                <a:spcPts val="0"/>
              </a:spcBef>
              <a:spcAft>
                <a:spcPts val="500"/>
              </a:spcAft>
            </a:pPr>
            <a:r>
              <a:rPr sz="1150" b="0">
                <a:solidFill>
                  <a:srgbClr val="2E2E2E"/>
                </a:solidFill>
                <a:latin typeface="Calibri"/>
              </a:rPr>
              <a:t>Premade Pouches &amp; Bags edge ahead because stand-up and zipper formats suit e-commerce, ready meals, pet food and snacks, where brands want shelf appeal and reclosability. Sachets &amp; Stick Packs slip 14 BPS, growing at 5.1% against 5.3% overall, as single-serve demand is concentrated in a few categories and is being absorbed by larger pouches. Rollstock Films and Barrier Casings hold steady with the market, reflecting entrenched form-fill-seal lines.</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Product Type (US$ Mn)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Product Type,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3914775"/>
          </a:xfrm>
          <a:prstGeom prst="roundRect">
            <a:avLst>
              <a:gd name="adj" fmla="val 194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Product Type (US$ Mn)</a:t>
            </a:r>
          </a:p>
        </p:txBody>
      </p:sp>
      <p:graphicFrame>
        <p:nvGraphicFramePr>
          <p:cNvPr id="13" name="Table 12"/>
          <p:cNvGraphicFramePr>
            <a:graphicFrameLocks noGrp="1"/>
          </p:cNvGraphicFramePr>
          <p:nvPr/>
        </p:nvGraphicFramePr>
        <p:xfrm>
          <a:off x="152400" y="1238250"/>
          <a:ext cx="11887196" cy="3448050"/>
        </p:xfrm>
        <a:graphic>
          <a:graphicData uri="http://schemas.openxmlformats.org/drawingml/2006/table">
            <a:tbl>
              <a:tblPr>
                <a:tableStyleId>{5C22544A-7EE6-4342-B048-85BDC9FD1C3A}</a:tableStyleId>
              </a:tblPr>
              <a:tblGrid>
                <a:gridCol w="1959655"/>
                <a:gridCol w="583973"/>
                <a:gridCol w="583973"/>
                <a:gridCol w="583973"/>
                <a:gridCol w="583973"/>
                <a:gridCol w="583973"/>
                <a:gridCol w="583973"/>
                <a:gridCol w="583973"/>
                <a:gridCol w="583973"/>
                <a:gridCol w="583973"/>
                <a:gridCol w="583973"/>
                <a:gridCol w="583973"/>
                <a:gridCol w="583973"/>
                <a:gridCol w="583973"/>
                <a:gridCol w="583973"/>
                <a:gridCol w="583973"/>
                <a:gridCol w="583973"/>
                <a:gridCol w="583973"/>
              </a:tblGrid>
              <a:tr h="215265">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F-CAGR</a:t>
                      </a:r>
                      <a:endParaRPr sz="1100"/>
                    </a:p>
                  </a:txBody>
                  <a:tcPr marL="47625" marR="38100" marT="19050" marB="19050" anchor="ctr">
                    <a:solidFill>
                      <a:srgbClr val="E0E8EF"/>
                    </a:solidFill>
                  </a:tcPr>
                </a:tc>
              </a:tr>
              <a:tr h="215519">
                <a:tc>
                  <a:txBody>
                    <a:bodyPr wrap="none"/>
                    <a:lstStyle/>
                    <a:p>
                      <a:pPr algn="l"/>
                      <a:r>
                        <a:rPr sz="1100" b="1">
                          <a:solidFill>
                            <a:srgbClr val="2E2E2E"/>
                          </a:solidFill>
                          <a:latin typeface="Calibri"/>
                        </a:rPr>
                        <a:t>Rollstock Films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54,620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56,970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59,472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62,176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65,088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68,531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72,352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76,594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81,301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86,535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92,311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98,636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105,456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112,751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120,483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128,658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6.5%</a:t>
                      </a:r>
                      <a:endParaRPr sz="1100"/>
                    </a:p>
                  </a:txBody>
                  <a:tcPr marL="47625" marR="38100" marT="19050" marB="19050" anchor="ctr">
                    <a:solidFill>
                      <a:srgbClr val="FFFFFF"/>
                    </a:solidFill>
                  </a:tcPr>
                </a:tc>
              </a:tr>
              <a:tr h="215519">
                <a:tc>
                  <a:txBody>
                    <a:bodyPr wrap="none"/>
                    <a:lstStyle/>
                    <a:p>
                      <a:pPr algn="l"/>
                      <a:r>
                        <a:rPr sz="1100" b="1">
                          <a:solidFill>
                            <a:srgbClr val="2E2E2E"/>
                          </a:solidFill>
                          <a:latin typeface="Calibri"/>
                        </a:rPr>
                        <a:t>– Lidding &amp; Tray-Sealing Films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11,154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11,641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12,159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12,719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13,319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14,025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14,802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15,658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16,600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17,646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18,800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20,067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21,431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22,890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24,436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26,071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6.4%</a:t>
                      </a:r>
                      <a:endParaRPr sz="1100"/>
                    </a:p>
                  </a:txBody>
                  <a:tcPr marL="47625" marR="38100" marT="19050" marB="19050" anchor="ctr">
                    <a:solidFill>
                      <a:srgbClr val="F5F8FA"/>
                    </a:solidFill>
                  </a:tcPr>
                </a:tc>
              </a:tr>
              <a:tr h="215519">
                <a:tc>
                  <a:txBody>
                    <a:bodyPr wrap="none"/>
                    <a:lstStyle/>
                    <a:p>
                      <a:pPr algn="l"/>
                      <a:r>
                        <a:rPr sz="1100" b="1">
                          <a:solidFill>
                            <a:srgbClr val="2E2E2E"/>
                          </a:solidFill>
                          <a:latin typeface="Calibri"/>
                        </a:rPr>
                        <a:t>– Thermoforming Films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8,567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8,942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9,340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9,765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10,219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10,752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11,344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12,005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12,741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13,566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14,481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15,486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16,572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17,733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18,960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20,258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6.5%</a:t>
                      </a:r>
                      <a:endParaRPr sz="1100"/>
                    </a:p>
                  </a:txBody>
                  <a:tcPr marL="47625" marR="38100" marT="19050" marB="19050" anchor="ctr">
                    <a:solidFill>
                      <a:srgbClr val="FFFFFF"/>
                    </a:solidFill>
                  </a:tcPr>
                </a:tc>
              </a:tr>
              <a:tr h="215519">
                <a:tc>
                  <a:txBody>
                    <a:bodyPr wrap="none"/>
                    <a:lstStyle/>
                    <a:p>
                      <a:pPr algn="l"/>
                      <a:r>
                        <a:rPr sz="1100" b="1">
                          <a:solidFill>
                            <a:srgbClr val="2E2E2E"/>
                          </a:solidFill>
                          <a:latin typeface="Calibri"/>
                        </a:rPr>
                        <a:t>– Vacuum Skin Packaging Films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7,141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7,421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7,719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8,047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8,408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8,844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9,334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9,881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10,487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11,155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11,887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12,681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13,531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14,438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15,394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16,398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6.4%</a:t>
                      </a:r>
                      <a:endParaRPr sz="1100"/>
                    </a:p>
                  </a:txBody>
                  <a:tcPr marL="47625" marR="38100" marT="19050" marB="19050" anchor="ctr">
                    <a:solidFill>
                      <a:srgbClr val="F5F8FA"/>
                    </a:solidFill>
                  </a:tcPr>
                </a:tc>
              </a:tr>
              <a:tr h="215519">
                <a:tc>
                  <a:txBody>
                    <a:bodyPr wrap="none"/>
                    <a:lstStyle/>
                    <a:p>
                      <a:pPr algn="l"/>
                      <a:r>
                        <a:rPr sz="1100" b="1">
                          <a:solidFill>
                            <a:srgbClr val="2E2E2E"/>
                          </a:solidFill>
                          <a:latin typeface="Calibri"/>
                        </a:rPr>
                        <a:t>– HFFS / Flow-Pack Films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11,696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12,226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12,794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13,408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14,070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14,846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15,705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16,658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17,717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18,901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20,216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21,664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23,233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24,917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26,709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28,609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6.8%</a:t>
                      </a:r>
                      <a:endParaRPr sz="1100"/>
                    </a:p>
                  </a:txBody>
                  <a:tcPr marL="47625" marR="38100" marT="19050" marB="19050" anchor="ctr">
                    <a:solidFill>
                      <a:srgbClr val="FFFFFF"/>
                    </a:solidFill>
                  </a:tcPr>
                </a:tc>
              </a:tr>
              <a:tr h="215519">
                <a:tc>
                  <a:txBody>
                    <a:bodyPr wrap="none"/>
                    <a:lstStyle/>
                    <a:p>
                      <a:pPr algn="l"/>
                      <a:r>
                        <a:rPr sz="1100" b="1">
                          <a:solidFill>
                            <a:srgbClr val="2E2E2E"/>
                          </a:solidFill>
                          <a:latin typeface="Calibri"/>
                        </a:rPr>
                        <a:t>– VFFS Rollstock Films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10,813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11,263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11,741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12,257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12,810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13,463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14,185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14,984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15,868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16,847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17,923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19,097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20,355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21,695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23,112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24,607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6.2%</a:t>
                      </a:r>
                      <a:endParaRPr sz="1100"/>
                    </a:p>
                  </a:txBody>
                  <a:tcPr marL="47625" marR="38100" marT="19050" marB="19050" anchor="ctr">
                    <a:solidFill>
                      <a:srgbClr val="F5F8FA"/>
                    </a:solidFill>
                  </a:tcPr>
                </a:tc>
              </a:tr>
              <a:tr h="215519">
                <a:tc>
                  <a:txBody>
                    <a:bodyPr wrap="none"/>
                    <a:lstStyle/>
                    <a:p>
                      <a:pPr algn="l"/>
                      <a:r>
                        <a:rPr sz="1100" b="1">
                          <a:solidFill>
                            <a:srgbClr val="2E2E2E"/>
                          </a:solidFill>
                          <a:latin typeface="Calibri"/>
                        </a:rPr>
                        <a:t>– Shrink &amp; Overwrap Films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5,249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5,477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5,719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5,980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6,262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6,600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6,981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7,409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7,888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8,419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9,003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9,641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10,333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11,078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11,872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12,715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6.8%</a:t>
                      </a:r>
                      <a:endParaRPr sz="1100"/>
                    </a:p>
                  </a:txBody>
                  <a:tcPr marL="47625" marR="38100" marT="19050" marB="19050" anchor="ctr">
                    <a:solidFill>
                      <a:srgbClr val="FFFFFF"/>
                    </a:solidFill>
                  </a:tcPr>
                </a:tc>
              </a:tr>
              <a:tr h="215519">
                <a:tc>
                  <a:txBody>
                    <a:bodyPr wrap="none"/>
                    <a:lstStyle/>
                    <a:p>
                      <a:pPr algn="l"/>
                      <a:r>
                        <a:rPr sz="1100" b="1">
                          <a:solidFill>
                            <a:srgbClr val="2E2E2E"/>
                          </a:solidFill>
                          <a:latin typeface="Calibri"/>
                        </a:rPr>
                        <a:t>Barrier Casings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11,058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11,541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12,059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12,623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13,230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13,942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14,725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15,593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16,557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17,635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18,833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20,148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21,562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23,077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24,685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26,386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6.6%</a:t>
                      </a:r>
                      <a:endParaRPr sz="1100"/>
                    </a:p>
                  </a:txBody>
                  <a:tcPr marL="47625" marR="38100" marT="19050" marB="19050" anchor="ctr">
                    <a:solidFill>
                      <a:srgbClr val="F5F8FA"/>
                    </a:solidFill>
                  </a:tcPr>
                </a:tc>
              </a:tr>
              <a:tr h="215519">
                <a:tc>
                  <a:txBody>
                    <a:bodyPr wrap="none"/>
                    <a:lstStyle/>
                    <a:p>
                      <a:pPr algn="l"/>
                      <a:r>
                        <a:rPr sz="1100" b="1">
                          <a:solidFill>
                            <a:srgbClr val="2E2E2E"/>
                          </a:solidFill>
                          <a:latin typeface="Calibri"/>
                        </a:rPr>
                        <a:t>– Non-Shrink Casings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4,636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4,813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5,005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5,216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5,445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5,714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6,009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6,334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6,694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7,097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7,545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8,035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8,558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9,114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9,700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10,315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6.1%</a:t>
                      </a:r>
                      <a:endParaRPr sz="1100"/>
                    </a:p>
                  </a:txBody>
                  <a:tcPr marL="47625" marR="38100" marT="19050" marB="19050" anchor="ctr">
                    <a:solidFill>
                      <a:srgbClr val="FFFFFF"/>
                    </a:solidFill>
                  </a:tcPr>
                </a:tc>
              </a:tr>
              <a:tr h="215519">
                <a:tc>
                  <a:txBody>
                    <a:bodyPr wrap="none"/>
                    <a:lstStyle/>
                    <a:p>
                      <a:pPr algn="l"/>
                      <a:r>
                        <a:rPr sz="1100" b="1">
                          <a:solidFill>
                            <a:srgbClr val="2E2E2E"/>
                          </a:solidFill>
                          <a:latin typeface="Calibri"/>
                        </a:rPr>
                        <a:t>– Shrink Casings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4,416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4,610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4,819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5,047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5,291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5,580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5,902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6,264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6,672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7,130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7,642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8,206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8,816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9,473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10,174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10,917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6.9%</a:t>
                      </a:r>
                      <a:endParaRPr sz="1100"/>
                    </a:p>
                  </a:txBody>
                  <a:tcPr marL="47625" marR="38100" marT="19050" marB="19050" anchor="ctr">
                    <a:solidFill>
                      <a:srgbClr val="F5F8FA"/>
                    </a:solidFill>
                  </a:tcPr>
                </a:tc>
              </a:tr>
              <a:tr h="215519">
                <a:tc>
                  <a:txBody>
                    <a:bodyPr wrap="none"/>
                    <a:lstStyle/>
                    <a:p>
                      <a:pPr algn="l"/>
                      <a:r>
                        <a:rPr sz="1100" b="1">
                          <a:solidFill>
                            <a:srgbClr val="2E2E2E"/>
                          </a:solidFill>
                          <a:latin typeface="Calibri"/>
                        </a:rPr>
                        <a:t>– Other Specialty Casings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2,007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2,117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2,234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2,360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2,494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2,648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2,814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2,995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3,191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3,408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3,646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3,907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4,189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4,490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4,811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5,154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6.9%</a:t>
                      </a:r>
                      <a:endParaRPr sz="1100"/>
                    </a:p>
                  </a:txBody>
                  <a:tcPr marL="47625" marR="38100" marT="19050" marB="19050" anchor="ctr">
                    <a:solidFill>
                      <a:srgbClr val="FFFFFF"/>
                    </a:solidFill>
                  </a:tcPr>
                </a:tc>
              </a:tr>
              <a:tr h="215519">
                <a:tc>
                  <a:txBody>
                    <a:bodyPr wrap="none"/>
                    <a:lstStyle/>
                    <a:p>
                      <a:pPr algn="l"/>
                      <a:r>
                        <a:rPr sz="1100" b="1">
                          <a:solidFill>
                            <a:srgbClr val="2E2E2E"/>
                          </a:solidFill>
                          <a:latin typeface="Calibri"/>
                        </a:rPr>
                        <a:t>Premade Pouches &amp; Bags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28,415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29,690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31,051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32,526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34,110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35,979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38,048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40,347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42,899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45,741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48,877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52,313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56,026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60,009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64,246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68,738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6.7%</a:t>
                      </a:r>
                      <a:endParaRPr sz="1100"/>
                    </a:p>
                  </a:txBody>
                  <a:tcPr marL="47625" marR="38100" marT="19050" marB="19050" anchor="ctr">
                    <a:solidFill>
                      <a:srgbClr val="F5F8FA"/>
                    </a:solidFill>
                  </a:tcPr>
                </a:tc>
              </a:tr>
              <a:tr h="215519">
                <a:tc>
                  <a:txBody>
                    <a:bodyPr wrap="none"/>
                    <a:lstStyle/>
                    <a:p>
                      <a:pPr algn="l"/>
                      <a:r>
                        <a:rPr sz="1100" b="1">
                          <a:solidFill>
                            <a:srgbClr val="2E2E2E"/>
                          </a:solidFill>
                          <a:latin typeface="Calibri"/>
                        </a:rPr>
                        <a:t>– Vacuum Pouches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4,696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4,896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5,110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5,341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5,588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5,879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6,203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6,565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6,966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7,414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7,908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8,448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9,030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9,652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10,311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11,004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6.5%</a:t>
                      </a:r>
                      <a:endParaRPr sz="1100"/>
                    </a:p>
                  </a:txBody>
                  <a:tcPr marL="47625" marR="38100" marT="19050" marB="19050" anchor="ctr">
                    <a:solidFill>
                      <a:srgbClr val="FFFFFF"/>
                    </a:solidFill>
                  </a:tcPr>
                </a:tc>
              </a:tr>
              <a:tr h="215519">
                <a:tc>
                  <a:txBody>
                    <a:bodyPr wrap="none"/>
                    <a:lstStyle/>
                    <a:p>
                      <a:pPr algn="l"/>
                      <a:r>
                        <a:rPr sz="1100" b="1">
                          <a:solidFill>
                            <a:srgbClr val="2E2E2E"/>
                          </a:solidFill>
                          <a:latin typeface="Calibri"/>
                        </a:rPr>
                        <a:t>– Shrink Bags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4,910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5,131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5,367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5,622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5,897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6,226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6,595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7,011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7,481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8,007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8,591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9,233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9,932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10,684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11,487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12,340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7.1%</a:t>
                      </a:r>
                      <a:endParaRPr sz="1100"/>
                    </a:p>
                  </a:txBody>
                  <a:tcPr marL="47625" marR="38100" marT="19050" marB="19050" anchor="ctr">
                    <a:solidFill>
                      <a:srgbClr val="F5F8FA"/>
                    </a:solidFill>
                  </a:tcPr>
                </a:tc>
              </a:tr>
              <a:tr h="215519">
                <a:tc>
                  <a:txBody>
                    <a:bodyPr wrap="none"/>
                    <a:lstStyle/>
                    <a:p>
                      <a:pPr algn="l"/>
                      <a:r>
                        <a:rPr sz="1100" b="1">
                          <a:solidFill>
                            <a:srgbClr val="2E2E2E"/>
                          </a:solidFill>
                          <a:latin typeface="Calibri"/>
                        </a:rPr>
                        <a:t>– Stand-Up Pouches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10,154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10,598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11,071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11,584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12,136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12,787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13,507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14,304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15,184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16,162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17,238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18,412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19,680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21,039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22,486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24,022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6.5%</a:t>
                      </a:r>
                      <a:endParaRPr sz="1100"/>
                    </a:p>
                  </a:txBody>
                  <a:tcPr marL="47625" marR="38100" marT="19050" marB="19050" anchor="ctr">
                    <a:solidFill>
                      <a:srgbClr val="FFFFFF"/>
                    </a:solidFill>
                  </a:tcPr>
                </a:tc>
              </a:tr>
            </a:tbl>
          </a:graphicData>
        </a:graphic>
      </p:graphicFrame>
      <p:sp>
        <p:nvSpPr>
          <p:cNvPr id="14" name="TextBox 13"/>
          <p:cNvSpPr txBox="1"/>
          <p:nvPr/>
        </p:nvSpPr>
        <p:spPr>
          <a:xfrm>
            <a:off x="219075" y="46958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Product Type (US$ Mn)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Product Type, 2021–2036, highlighting the sub-segments driving growth</a:t>
            </a:r>
          </a:p>
        </p:txBody>
      </p:sp>
      <p:sp>
        <p:nvSpPr>
          <p:cNvPr id="10" name="Rounded Rectangle 9"/>
          <p:cNvSpPr/>
          <p:nvPr/>
        </p:nvSpPr>
        <p:spPr>
          <a:xfrm>
            <a:off x="142875" y="981075"/>
            <a:ext cx="11906250" cy="1981200"/>
          </a:xfrm>
          <a:prstGeom prst="roundRect">
            <a:avLst>
              <a:gd name="adj" fmla="val 384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Product Type (US$ Mn)</a:t>
            </a:r>
          </a:p>
        </p:txBody>
      </p:sp>
      <p:graphicFrame>
        <p:nvGraphicFramePr>
          <p:cNvPr id="12" name="Table 11"/>
          <p:cNvGraphicFramePr>
            <a:graphicFrameLocks noGrp="1"/>
          </p:cNvGraphicFramePr>
          <p:nvPr/>
        </p:nvGraphicFramePr>
        <p:xfrm>
          <a:off x="152400" y="1238250"/>
          <a:ext cx="11887202" cy="1514475"/>
        </p:xfrm>
        <a:graphic>
          <a:graphicData uri="http://schemas.openxmlformats.org/drawingml/2006/table">
            <a:tbl>
              <a:tblPr>
                <a:tableStyleId>{5C22544A-7EE6-4342-B048-85BDC9FD1C3A}</a:tableStyleId>
              </a:tblPr>
              <a:tblGrid>
                <a:gridCol w="1455186"/>
                <a:gridCol w="613648"/>
                <a:gridCol w="613648"/>
                <a:gridCol w="613648"/>
                <a:gridCol w="613648"/>
                <a:gridCol w="613648"/>
                <a:gridCol w="613648"/>
                <a:gridCol w="613648"/>
                <a:gridCol w="613648"/>
                <a:gridCol w="613648"/>
                <a:gridCol w="613648"/>
                <a:gridCol w="613648"/>
                <a:gridCol w="613648"/>
                <a:gridCol w="613648"/>
                <a:gridCol w="613648"/>
                <a:gridCol w="613648"/>
                <a:gridCol w="613648"/>
                <a:gridCol w="613648"/>
              </a:tblGrid>
              <a:tr h="215265">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F-CAGR</a:t>
                      </a:r>
                      <a:endParaRPr sz="1100"/>
                    </a:p>
                  </a:txBody>
                  <a:tcPr marL="47625" marR="38100" marT="19050" marB="19050" anchor="ctr">
                    <a:solidFill>
                      <a:srgbClr val="E0E8EF"/>
                    </a:solidFill>
                  </a:tcPr>
                </a:tc>
              </a:tr>
              <a:tr h="216535">
                <a:tc>
                  <a:txBody>
                    <a:bodyPr wrap="none"/>
                    <a:lstStyle/>
                    <a:p>
                      <a:pPr algn="l"/>
                      <a:r>
                        <a:rPr sz="1100" b="1">
                          <a:solidFill>
                            <a:srgbClr val="2E2E2E"/>
                          </a:solidFill>
                          <a:latin typeface="Calibri"/>
                        </a:rPr>
                        <a:t>– Flat Pouches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5,801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6,080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6,377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6,698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7,043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7,447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7,891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8,381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8,924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9,529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10,199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10,936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11,735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12,594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13,509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14,479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6.9%</a:t>
                      </a:r>
                      <a:endParaRPr sz="1100"/>
                    </a:p>
                  </a:txBody>
                  <a:tcPr marL="47625" marR="38100" marT="19050" marB="19050" anchor="ctr">
                    <a:solidFill>
                      <a:srgbClr val="FFFFFF"/>
                    </a:solidFill>
                  </a:tcPr>
                </a:tc>
              </a:tr>
              <a:tr h="216535">
                <a:tc>
                  <a:txBody>
                    <a:bodyPr wrap="none"/>
                    <a:lstStyle/>
                    <a:p>
                      <a:pPr algn="l"/>
                      <a:r>
                        <a:rPr sz="1100" b="1">
                          <a:solidFill>
                            <a:srgbClr val="2E2E2E"/>
                          </a:solidFill>
                          <a:latin typeface="Calibri"/>
                        </a:rPr>
                        <a:t>– Retort Pouches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2,853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2,985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3,126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3,280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3,446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3,640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3,853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4,086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4,344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4,629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4,942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5,283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5,649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6,040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6,454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6,892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6.6%</a:t>
                      </a:r>
                      <a:endParaRPr sz="1100"/>
                    </a:p>
                  </a:txBody>
                  <a:tcPr marL="47625" marR="38100" marT="19050" marB="19050" anchor="ctr">
                    <a:solidFill>
                      <a:srgbClr val="F5F8FA"/>
                    </a:solidFill>
                  </a:tcPr>
                </a:tc>
              </a:tr>
              <a:tr h="216535">
                <a:tc>
                  <a:txBody>
                    <a:bodyPr wrap="none"/>
                    <a:lstStyle/>
                    <a:p>
                      <a:pPr algn="l"/>
                      <a:r>
                        <a:rPr sz="1100" b="1">
                          <a:solidFill>
                            <a:srgbClr val="2E2E2E"/>
                          </a:solidFill>
                          <a:latin typeface="Calibri"/>
                        </a:rPr>
                        <a:t>Sachets &amp; Stick Packs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7,164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7,463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7,778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8,114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8,472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8,895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9,366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9,896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10,489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11,149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11,873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12,662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13,515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14,428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15,399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16,426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6.3%</a:t>
                      </a:r>
                      <a:endParaRPr sz="1100"/>
                    </a:p>
                  </a:txBody>
                  <a:tcPr marL="47625" marR="38100" marT="19050" marB="19050" anchor="ctr">
                    <a:solidFill>
                      <a:srgbClr val="FFFFFF"/>
                    </a:solidFill>
                  </a:tcPr>
                </a:tc>
              </a:tr>
              <a:tr h="216535">
                <a:tc>
                  <a:txBody>
                    <a:bodyPr wrap="none"/>
                    <a:lstStyle/>
                    <a:p>
                      <a:pPr algn="l"/>
                      <a:r>
                        <a:rPr sz="1100" b="1">
                          <a:solidFill>
                            <a:srgbClr val="2E2E2E"/>
                          </a:solidFill>
                          <a:latin typeface="Calibri"/>
                        </a:rPr>
                        <a:t>– Sachets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5,974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6,225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6,491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6,774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7,075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7,431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7,827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8,271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8,768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9,321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9,928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10,591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11,306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12,073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12,886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13,746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6.3%</a:t>
                      </a:r>
                      <a:endParaRPr sz="1100"/>
                    </a:p>
                  </a:txBody>
                  <a:tcPr marL="47625" marR="38100" marT="19050" marB="19050" anchor="ctr">
                    <a:solidFill>
                      <a:srgbClr val="F5F8FA"/>
                    </a:solidFill>
                  </a:tcPr>
                </a:tc>
              </a:tr>
              <a:tr h="216535">
                <a:tc>
                  <a:txBody>
                    <a:bodyPr wrap="none"/>
                    <a:lstStyle/>
                    <a:p>
                      <a:pPr algn="l"/>
                      <a:r>
                        <a:rPr sz="1100" b="1">
                          <a:solidFill>
                            <a:srgbClr val="2E2E2E"/>
                          </a:solidFill>
                          <a:latin typeface="Calibri"/>
                        </a:rPr>
                        <a:t>– Stick Packs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1,190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1,238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1,287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1,340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1,396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1,463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1,539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1,625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1,721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1,828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1,944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2,071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2,208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2,356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2,513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2,680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6.2%</a:t>
                      </a:r>
                      <a:endParaRPr sz="1100"/>
                    </a:p>
                  </a:txBody>
                  <a:tcPr marL="47625" marR="38100" marT="19050" marB="19050" anchor="ctr">
                    <a:solidFill>
                      <a:srgbClr val="FFFFFF"/>
                    </a:solidFill>
                  </a:tcPr>
                </a:tc>
              </a:tr>
              <a:tr h="216535">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101,257</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105,663</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110,360</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115,439</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120,900</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127,346</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134,491</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142,430</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151,246</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161,060</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171,894</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183,758</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196,559</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210,265</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224,814</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240,208</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6.6%</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7622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095625"/>
            <a:ext cx="11906250" cy="3533775"/>
          </a:xfrm>
          <a:prstGeom prst="roundRect">
            <a:avLst>
              <a:gd name="adj" fmla="val 215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1813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Product Type</a:t>
            </a:r>
          </a:p>
        </p:txBody>
      </p:sp>
      <p:sp>
        <p:nvSpPr>
          <p:cNvPr id="16" name="Rectangle 15"/>
          <p:cNvSpPr/>
          <p:nvPr/>
        </p:nvSpPr>
        <p:spPr>
          <a:xfrm>
            <a:off x="276225" y="34194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505200"/>
            <a:ext cx="11639550" cy="30480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Rollstock films segment is projected to register 1.9X higher value than premade pouches &amp; bags segment in 2036. Among flexible plastic packaging by product type, premade pouches &amp; bags segment is expected to witness the highest CAGR of 6.7% over the forecast period.</a:t>
            </a:r>
          </a:p>
          <a:p>
            <a:pPr algn="l">
              <a:lnSpc>
                <a:spcPct val="110000"/>
              </a:lnSpc>
              <a:spcBef>
                <a:spcPts val="0"/>
              </a:spcBef>
              <a:spcAft>
                <a:spcPts val="500"/>
              </a:spcAft>
            </a:pPr>
            <a:r>
              <a:rPr sz="1150" b="0">
                <a:solidFill>
                  <a:srgbClr val="2E2E2E"/>
                </a:solidFill>
                <a:latin typeface="Calibri"/>
              </a:rPr>
              <a:t>In terms of value share by product type, the rollstock films segment is expected to dominate the market, losing 25 BPS and accounting for 53.6% share by 2036.</a:t>
            </a:r>
          </a:p>
          <a:p>
            <a:pPr algn="l">
              <a:lnSpc>
                <a:spcPct val="110000"/>
              </a:lnSpc>
              <a:spcBef>
                <a:spcPts val="0"/>
              </a:spcBef>
              <a:spcAft>
                <a:spcPts val="500"/>
              </a:spcAft>
            </a:pPr>
            <a:r>
              <a:rPr sz="1150" b="0">
                <a:solidFill>
                  <a:srgbClr val="2E2E2E"/>
                </a:solidFill>
                <a:latin typeface="Calibri"/>
              </a:rPr>
              <a:t>Premade Pouches &amp; Bags gain 36 BPS of value share because stand-up and resealable formats suit e-commerce, convenience retail and portion-controlled food, backed by e-commerce, rising packaged-food consumption in emerging markets and brand-owner recyclability targets. Rollstock Films, the mature form-fill-seal workhorse, slips 25 BPS with growth of 6.5% against the 6.6% market rate, since bulk lines are already well penetrated.</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Product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Product Type in 2021, 2026 and 2036, highlighting share shifts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Product Type ·  2021 / 2026 / 2036 (US$ Mn)  ·  right axis = BPS share shift</a:t>
            </a:r>
          </a:p>
        </p:txBody>
      </p:sp>
      <p:graphicFrame>
        <p:nvGraphicFramePr>
          <p:cNvPr id="13" name="Chart 12"/>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4" name="TextBox 13"/>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5" name="FMI Lock Anchor"/>
          <p:cNvSpPr txBox="1"/>
          <p:nvPr/>
        </p:nvSpPr>
        <p:spPr>
          <a:xfrm>
            <a:off x="2678811" y="4014597"/>
            <a:ext cx="38100" cy="38100"/>
          </a:xfrm>
          <a:prstGeom prst="rect">
            <a:avLst/>
          </a:prstGeom>
          <a:noFill/>
        </p:spPr>
        <p:txBody>
          <a:bodyPr wrap="none">
            <a:spAutoFit/>
          </a:bodyPr>
          <a:lstStyle/>
          <a:p/>
        </p:txBody>
      </p:sp>
      <p:sp>
        <p:nvSpPr>
          <p:cNvPr id="16" name="FMI Legend Chip"/>
          <p:cNvSpPr/>
          <p:nvPr/>
        </p:nvSpPr>
        <p:spPr>
          <a:xfrm>
            <a:off x="4928997" y="1827592"/>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5090922" y="182282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5233797" y="174662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Sachets &amp; Stick Packs</a:t>
            </a:r>
          </a:p>
        </p:txBody>
      </p:sp>
      <p:sp>
        <p:nvSpPr>
          <p:cNvPr id="19" name="BPS Value 1"/>
          <p:cNvSpPr txBox="1"/>
          <p:nvPr/>
        </p:nvSpPr>
        <p:spPr>
          <a:xfrm>
            <a:off x="6896100" y="1808542"/>
            <a:ext cx="514350" cy="123825"/>
          </a:xfrm>
          <a:prstGeom prst="rect">
            <a:avLst/>
          </a:prstGeom>
          <a:noFill/>
        </p:spPr>
        <p:txBody>
          <a:bodyPr wrap="none" lIns="0" rIns="0" tIns="0" bIns="0" anchor="ctr">
            <a:spAutoFit/>
          </a:bodyPr>
          <a:lstStyle/>
          <a:p>
            <a:pPr algn="r"/>
            <a:r>
              <a:rPr sz="900" b="1">
                <a:solidFill>
                  <a:srgbClr val="E44D3A"/>
                </a:solidFill>
                <a:latin typeface="Calibri"/>
              </a:rPr>
              <a:t>-15</a:t>
            </a:r>
          </a:p>
        </p:txBody>
      </p:sp>
      <p:sp>
        <p:nvSpPr>
          <p:cNvPr id="20" name="FMI Legend Chip"/>
          <p:cNvSpPr/>
          <p:nvPr/>
        </p:nvSpPr>
        <p:spPr>
          <a:xfrm>
            <a:off x="4928997" y="2235061"/>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a:off x="5090922" y="223029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5233797" y="215409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Barrier Casings</a:t>
            </a:r>
          </a:p>
        </p:txBody>
      </p:sp>
      <p:sp>
        <p:nvSpPr>
          <p:cNvPr id="23" name="BPS Value 2"/>
          <p:cNvSpPr txBox="1"/>
          <p:nvPr/>
        </p:nvSpPr>
        <p:spPr>
          <a:xfrm>
            <a:off x="6896100" y="2216011"/>
            <a:ext cx="514350" cy="123825"/>
          </a:xfrm>
          <a:prstGeom prst="rect">
            <a:avLst/>
          </a:prstGeom>
          <a:noFill/>
        </p:spPr>
        <p:txBody>
          <a:bodyPr wrap="none" lIns="0" rIns="0" tIns="0" bIns="0" anchor="ctr">
            <a:spAutoFit/>
          </a:bodyPr>
          <a:lstStyle/>
          <a:p>
            <a:pPr algn="r"/>
            <a:r>
              <a:rPr sz="900" b="1">
                <a:solidFill>
                  <a:srgbClr val="2E7D32"/>
                </a:solidFill>
                <a:latin typeface="Calibri"/>
              </a:rPr>
              <a:t>+4</a:t>
            </a:r>
          </a:p>
        </p:txBody>
      </p:sp>
      <p:sp>
        <p:nvSpPr>
          <p:cNvPr id="24" name="FMI Legend Chip"/>
          <p:cNvSpPr/>
          <p:nvPr/>
        </p:nvSpPr>
        <p:spPr>
          <a:xfrm>
            <a:off x="4928997" y="3140407"/>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5090922" y="3135644"/>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3"/>
          <p:cNvSpPr txBox="1"/>
          <p:nvPr/>
        </p:nvSpPr>
        <p:spPr>
          <a:xfrm>
            <a:off x="5233797" y="305944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Premade Pouches &amp; Bags</a:t>
            </a:r>
          </a:p>
        </p:txBody>
      </p:sp>
      <p:sp>
        <p:nvSpPr>
          <p:cNvPr id="27" name="BPS Value 3"/>
          <p:cNvSpPr txBox="1"/>
          <p:nvPr/>
        </p:nvSpPr>
        <p:spPr>
          <a:xfrm>
            <a:off x="6896100" y="3121357"/>
            <a:ext cx="514350" cy="123825"/>
          </a:xfrm>
          <a:prstGeom prst="rect">
            <a:avLst/>
          </a:prstGeom>
          <a:noFill/>
        </p:spPr>
        <p:txBody>
          <a:bodyPr wrap="none" lIns="0" rIns="0" tIns="0" bIns="0" anchor="ctr">
            <a:spAutoFit/>
          </a:bodyPr>
          <a:lstStyle/>
          <a:p>
            <a:pPr algn="r"/>
            <a:r>
              <a:rPr sz="900" b="1">
                <a:solidFill>
                  <a:srgbClr val="2E7D32"/>
                </a:solidFill>
                <a:latin typeface="Calibri"/>
              </a:rPr>
              <a:t>+36</a:t>
            </a:r>
          </a:p>
        </p:txBody>
      </p:sp>
      <p:sp>
        <p:nvSpPr>
          <p:cNvPr id="28" name="FMI Legend Chip"/>
          <p:cNvSpPr/>
          <p:nvPr/>
        </p:nvSpPr>
        <p:spPr>
          <a:xfrm>
            <a:off x="4928997" y="5019128"/>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rot="10800000">
            <a:off x="5090922" y="501436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4"/>
          <p:cNvSpPr txBox="1"/>
          <p:nvPr/>
        </p:nvSpPr>
        <p:spPr>
          <a:xfrm>
            <a:off x="5233797" y="493816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Rollstock Films</a:t>
            </a:r>
          </a:p>
        </p:txBody>
      </p:sp>
      <p:sp>
        <p:nvSpPr>
          <p:cNvPr id="31" name="BPS Value 4"/>
          <p:cNvSpPr txBox="1"/>
          <p:nvPr/>
        </p:nvSpPr>
        <p:spPr>
          <a:xfrm>
            <a:off x="6896100" y="5000078"/>
            <a:ext cx="514350" cy="123825"/>
          </a:xfrm>
          <a:prstGeom prst="rect">
            <a:avLst/>
          </a:prstGeom>
          <a:noFill/>
        </p:spPr>
        <p:txBody>
          <a:bodyPr wrap="none" lIns="0" rIns="0" tIns="0" bIns="0" anchor="ctr">
            <a:spAutoFit/>
          </a:bodyPr>
          <a:lstStyle/>
          <a:p>
            <a:pPr algn="r"/>
            <a:r>
              <a:rPr sz="900" b="1">
                <a:solidFill>
                  <a:srgbClr val="E44D3A"/>
                </a:solidFill>
                <a:latin typeface="Calibri"/>
              </a:rPr>
              <a:t>-25</a:t>
            </a:r>
          </a:p>
        </p:txBody>
      </p:sp>
      <p:sp>
        <p:nvSpPr>
          <p:cNvPr id="32" name="Rounded Rectangle 31"/>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Product Type</a:t>
            </a:r>
          </a:p>
        </p:txBody>
      </p:sp>
      <p:sp>
        <p:nvSpPr>
          <p:cNvPr id="34" name="Rectangle 33"/>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Among flexible plastic packaging by product type, premade pouches &amp; bags segment is expected to witness the highest CAGR of 6.7% over the forecast period.</a:t>
            </a:r>
          </a:p>
          <a:p>
            <a:pPr algn="l">
              <a:lnSpc>
                <a:spcPct val="110000"/>
              </a:lnSpc>
              <a:spcBef>
                <a:spcPts val="0"/>
              </a:spcBef>
              <a:spcAft>
                <a:spcPts val="500"/>
              </a:spcAft>
            </a:pPr>
            <a:r>
              <a:rPr sz="1150" b="0">
                <a:solidFill>
                  <a:srgbClr val="2E2E2E"/>
                </a:solidFill>
                <a:latin typeface="Calibri"/>
              </a:rPr>
              <a:t>In terms of value share by product type, the rollstock films segment is expected to dominate the market, losing 25 BPS and accounting for 53.6% share by 2036.</a:t>
            </a:r>
          </a:p>
          <a:p>
            <a:pPr algn="l">
              <a:lnSpc>
                <a:spcPct val="110000"/>
              </a:lnSpc>
              <a:spcBef>
                <a:spcPts val="0"/>
              </a:spcBef>
              <a:spcAft>
                <a:spcPts val="500"/>
              </a:spcAft>
            </a:pPr>
            <a:r>
              <a:rPr sz="1150" b="0">
                <a:solidFill>
                  <a:srgbClr val="2E2E2E"/>
                </a:solidFill>
                <a:latin typeface="Calibri"/>
              </a:rPr>
              <a:t>Premade Pouches &amp; Bags grow fastest at 6.7% because brand owners favour stand-up, resealable formats that improve shelf presence, portion control and consumer convenience, particularly in e-commerce, pet food and ready meals. They need no in-house form-fill-seal line, which lets smaller and mid-sized fillers adopt them quickly. Rollstock Films, at 6.5%, are tied to mature high-speed lines and so expand marginally slower.</a:t>
            </a:r>
          </a:p>
        </p:txBody>
      </p:sp>
      <p:sp>
        <p:nvSpPr>
          <p:cNvPr id="36" name="TextBox 3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YoY Analysis of Global Market Volume, By Product Type (%)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Year-on-year volume growth by Product Type, 2022–2036, highlighting acceleration and slowdown</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4991100"/>
          </a:xfrm>
          <a:prstGeom prst="roundRect">
            <a:avLst>
              <a:gd name="adj" fmla="val 15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YoY Growth, By Product Type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3" name="Table 12"/>
          <p:cNvGraphicFramePr>
            <a:graphicFrameLocks noGrp="1"/>
          </p:cNvGraphicFramePr>
          <p:nvPr/>
        </p:nvGraphicFramePr>
        <p:xfrm>
          <a:off x="152400" y="1238250"/>
          <a:ext cx="11887202" cy="4524385"/>
        </p:xfrm>
        <a:graphic>
          <a:graphicData uri="http://schemas.openxmlformats.org/drawingml/2006/table">
            <a:tbl>
              <a:tblPr>
                <a:tableStyleId>{5C22544A-7EE6-4342-B048-85BDC9FD1C3A}</a:tableStyleId>
              </a:tblPr>
              <a:tblGrid>
                <a:gridCol w="2228852"/>
                <a:gridCol w="643890"/>
                <a:gridCol w="643890"/>
                <a:gridCol w="643890"/>
                <a:gridCol w="643890"/>
                <a:gridCol w="643890"/>
                <a:gridCol w="643890"/>
                <a:gridCol w="643890"/>
                <a:gridCol w="643890"/>
                <a:gridCol w="643890"/>
                <a:gridCol w="643890"/>
                <a:gridCol w="643890"/>
                <a:gridCol w="643890"/>
                <a:gridCol w="643890"/>
                <a:gridCol w="643890"/>
                <a:gridCol w="643890"/>
              </a:tblGrid>
              <a:tr h="215265">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2036F</a:t>
                      </a:r>
                      <a:endParaRPr sz="1100"/>
                    </a:p>
                  </a:txBody>
                  <a:tcPr marL="47625" marR="38100" marT="19050" marB="19050" anchor="ctr">
                    <a:solidFill>
                      <a:srgbClr val="E0E8EF"/>
                    </a:solidFill>
                  </a:tcPr>
                </a:tc>
              </a:tr>
              <a:tr h="215456">
                <a:tc>
                  <a:txBody>
                    <a:bodyPr wrap="none"/>
                    <a:lstStyle/>
                    <a:p>
                      <a:pPr algn="l"/>
                      <a:r>
                        <a:rPr sz="1100" b="1">
                          <a:solidFill>
                            <a:srgbClr val="2E2E2E"/>
                          </a:solidFill>
                          <a:latin typeface="Calibri"/>
                        </a:rPr>
                        <a:t>Rollstock Films</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FFFFF"/>
                    </a:solidFill>
                  </a:tcPr>
                </a:tc>
              </a:tr>
              <a:tr h="215456">
                <a:tc>
                  <a:txBody>
                    <a:bodyPr wrap="none"/>
                    <a:lstStyle/>
                    <a:p>
                      <a:pPr algn="l"/>
                      <a:r>
                        <a:rPr sz="1100" b="1">
                          <a:solidFill>
                            <a:srgbClr val="2E2E2E"/>
                          </a:solidFill>
                          <a:latin typeface="Calibri"/>
                        </a:rPr>
                        <a:t>– Lidding &amp; Tray-Sealing Films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4.3%</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5F8FA"/>
                    </a:solidFill>
                  </a:tcPr>
                </a:tc>
              </a:tr>
              <a:tr h="215456">
                <a:tc>
                  <a:txBody>
                    <a:bodyPr wrap="none"/>
                    <a:lstStyle/>
                    <a:p>
                      <a:pPr algn="l"/>
                      <a:r>
                        <a:rPr sz="1100" b="1">
                          <a:solidFill>
                            <a:srgbClr val="2E2E2E"/>
                          </a:solidFill>
                          <a:latin typeface="Calibri"/>
                        </a:rPr>
                        <a:t>– Thermoforming Films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5.0%</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FFFFF"/>
                    </a:solidFill>
                  </a:tcPr>
                </a:tc>
              </a:tr>
              <a:tr h="215456">
                <a:tc>
                  <a:txBody>
                    <a:bodyPr wrap="none"/>
                    <a:lstStyle/>
                    <a:p>
                      <a:pPr algn="l"/>
                      <a:r>
                        <a:rPr sz="1100" b="1">
                          <a:solidFill>
                            <a:srgbClr val="2E2E2E"/>
                          </a:solidFill>
                          <a:latin typeface="Calibri"/>
                        </a:rPr>
                        <a:t>– Vacuum Skin Packaging Films</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5F8FA"/>
                    </a:solidFill>
                  </a:tcPr>
                </a:tc>
              </a:tr>
              <a:tr h="215456">
                <a:tc>
                  <a:txBody>
                    <a:bodyPr wrap="none"/>
                    <a:lstStyle/>
                    <a:p>
                      <a:pPr algn="l"/>
                      <a:r>
                        <a:rPr sz="1100" b="1">
                          <a:solidFill>
                            <a:srgbClr val="2E2E2E"/>
                          </a:solidFill>
                          <a:latin typeface="Calibri"/>
                        </a:rPr>
                        <a:t>– HFFS / Flow-Pack Films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FFFFF"/>
                    </a:solidFill>
                  </a:tcPr>
                </a:tc>
              </a:tr>
              <a:tr h="215456">
                <a:tc>
                  <a:txBody>
                    <a:bodyPr wrap="none"/>
                    <a:lstStyle/>
                    <a:p>
                      <a:pPr algn="l"/>
                      <a:r>
                        <a:rPr sz="1100" b="1">
                          <a:solidFill>
                            <a:srgbClr val="2E2E2E"/>
                          </a:solidFill>
                          <a:latin typeface="Calibri"/>
                        </a:rPr>
                        <a:t>– VFFS Rollstock Films</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4.8%</a:t>
                      </a:r>
                      <a:endParaRPr sz="1100"/>
                    </a:p>
                  </a:txBody>
                  <a:tcPr marL="47625" marR="38100" marT="19050" marB="19050" anchor="ctr">
                    <a:solidFill>
                      <a:srgbClr val="F5F8FA"/>
                    </a:solidFill>
                  </a:tcPr>
                </a:tc>
              </a:tr>
              <a:tr h="215456">
                <a:tc>
                  <a:txBody>
                    <a:bodyPr wrap="none"/>
                    <a:lstStyle/>
                    <a:p>
                      <a:pPr algn="l"/>
                      <a:r>
                        <a:rPr sz="1100" b="1">
                          <a:solidFill>
                            <a:srgbClr val="2E2E2E"/>
                          </a:solidFill>
                          <a:latin typeface="Calibri"/>
                        </a:rPr>
                        <a:t>– Shrink &amp; Overwrap Films</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5.3%</a:t>
                      </a:r>
                      <a:endParaRPr sz="1100"/>
                    </a:p>
                  </a:txBody>
                  <a:tcPr marL="47625" marR="38100" marT="19050" marB="19050" anchor="ctr">
                    <a:solidFill>
                      <a:srgbClr val="FFFFFF"/>
                    </a:solidFill>
                  </a:tcPr>
                </a:tc>
              </a:tr>
              <a:tr h="215456">
                <a:tc>
                  <a:txBody>
                    <a:bodyPr wrap="none"/>
                    <a:lstStyle/>
                    <a:p>
                      <a:pPr algn="l"/>
                      <a:r>
                        <a:rPr sz="1100" b="1">
                          <a:solidFill>
                            <a:srgbClr val="2E2E2E"/>
                          </a:solidFill>
                          <a:latin typeface="Calibri"/>
                        </a:rPr>
                        <a:t>Barrier Casings</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5.2%</a:t>
                      </a:r>
                      <a:endParaRPr sz="1100"/>
                    </a:p>
                  </a:txBody>
                  <a:tcPr marL="47625" marR="38100" marT="19050" marB="19050" anchor="ctr">
                    <a:solidFill>
                      <a:srgbClr val="F5F8FA"/>
                    </a:solidFill>
                  </a:tcPr>
                </a:tc>
              </a:tr>
              <a:tr h="215456">
                <a:tc>
                  <a:txBody>
                    <a:bodyPr wrap="none"/>
                    <a:lstStyle/>
                    <a:p>
                      <a:pPr algn="l"/>
                      <a:r>
                        <a:rPr sz="1100" b="1">
                          <a:solidFill>
                            <a:srgbClr val="2E2E2E"/>
                          </a:solidFill>
                          <a:latin typeface="Calibri"/>
                        </a:rPr>
                        <a:t>– Non-Shrink Casings</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3.4%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3.6%</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3.7%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3.9%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4.6%</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4.7%</a:t>
                      </a:r>
                      <a:endParaRPr sz="1100"/>
                    </a:p>
                  </a:txBody>
                  <a:tcPr marL="47625" marR="38100" marT="19050" marB="19050" anchor="ctr">
                    <a:solidFill>
                      <a:srgbClr val="FFFFFF"/>
                    </a:solidFill>
                  </a:tcPr>
                </a:tc>
              </a:tr>
              <a:tr h="215456">
                <a:tc>
                  <a:txBody>
                    <a:bodyPr wrap="none"/>
                    <a:lstStyle/>
                    <a:p>
                      <a:pPr algn="l"/>
                      <a:r>
                        <a:rPr sz="1100" b="1">
                          <a:solidFill>
                            <a:srgbClr val="2E2E2E"/>
                          </a:solidFill>
                          <a:latin typeface="Calibri"/>
                        </a:rPr>
                        <a:t>– Shrink Casings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4.1%</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4.3%</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6.1%</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6.1%</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5F8FA"/>
                    </a:solidFill>
                  </a:tcPr>
                </a:tc>
              </a:tr>
              <a:tr h="215456">
                <a:tc>
                  <a:txBody>
                    <a:bodyPr wrap="none"/>
                    <a:lstStyle/>
                    <a:p>
                      <a:pPr algn="l"/>
                      <a:r>
                        <a:rPr sz="1100" b="1">
                          <a:solidFill>
                            <a:srgbClr val="2E2E2E"/>
                          </a:solidFill>
                          <a:latin typeface="Calibri"/>
                        </a:rPr>
                        <a:t>– Other Specialty Casings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5.3%</a:t>
                      </a:r>
                      <a:endParaRPr sz="1100"/>
                    </a:p>
                  </a:txBody>
                  <a:tcPr marL="47625" marR="38100" marT="19050" marB="19050" anchor="ctr">
                    <a:solidFill>
                      <a:srgbClr val="FFFFFF"/>
                    </a:solidFill>
                  </a:tcPr>
                </a:tc>
              </a:tr>
              <a:tr h="215456">
                <a:tc>
                  <a:txBody>
                    <a:bodyPr wrap="none"/>
                    <a:lstStyle/>
                    <a:p>
                      <a:pPr algn="l"/>
                      <a:r>
                        <a:rPr sz="1100" b="1">
                          <a:solidFill>
                            <a:srgbClr val="2E2E2E"/>
                          </a:solidFill>
                          <a:latin typeface="Calibri"/>
                        </a:rPr>
                        <a:t>Premade Pouches &amp; Bags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4.3%</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5.2%</a:t>
                      </a:r>
                      <a:endParaRPr sz="1100"/>
                    </a:p>
                  </a:txBody>
                  <a:tcPr marL="47625" marR="38100" marT="19050" marB="19050" anchor="ctr">
                    <a:solidFill>
                      <a:srgbClr val="F5F8FA"/>
                    </a:solidFill>
                  </a:tcPr>
                </a:tc>
              </a:tr>
              <a:tr h="215456">
                <a:tc>
                  <a:txBody>
                    <a:bodyPr wrap="none"/>
                    <a:lstStyle/>
                    <a:p>
                      <a:pPr algn="l"/>
                      <a:r>
                        <a:rPr sz="1100" b="1">
                          <a:solidFill>
                            <a:srgbClr val="2E2E2E"/>
                          </a:solidFill>
                          <a:latin typeface="Calibri"/>
                        </a:rPr>
                        <a:t>– Vacuum Pouches</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3.9%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5.3%</a:t>
                      </a:r>
                      <a:endParaRPr sz="1100"/>
                    </a:p>
                  </a:txBody>
                  <a:tcPr marL="47625" marR="38100" marT="19050" marB="19050" anchor="ctr">
                    <a:solidFill>
                      <a:srgbClr val="FFFFFF"/>
                    </a:solidFill>
                  </a:tcPr>
                </a:tc>
              </a:tr>
              <a:tr h="215456">
                <a:tc>
                  <a:txBody>
                    <a:bodyPr wrap="none"/>
                    <a:lstStyle/>
                    <a:p>
                      <a:pPr algn="l"/>
                      <a:r>
                        <a:rPr sz="1100" b="1">
                          <a:solidFill>
                            <a:srgbClr val="2E2E2E"/>
                          </a:solidFill>
                          <a:latin typeface="Calibri"/>
                        </a:rPr>
                        <a:t>– Shrink Bags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4.3%</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5F8FA"/>
                    </a:solidFill>
                  </a:tcPr>
                </a:tc>
              </a:tr>
              <a:tr h="215456">
                <a:tc>
                  <a:txBody>
                    <a:bodyPr wrap="none"/>
                    <a:lstStyle/>
                    <a:p>
                      <a:pPr algn="l"/>
                      <a:r>
                        <a:rPr sz="1100" b="1">
                          <a:solidFill>
                            <a:srgbClr val="2E2E2E"/>
                          </a:solidFill>
                          <a:latin typeface="Calibri"/>
                        </a:rPr>
                        <a:t>– Stand-Up Pouches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FFFFF"/>
                    </a:solidFill>
                  </a:tcPr>
                </a:tc>
              </a:tr>
              <a:tr h="215456">
                <a:tc>
                  <a:txBody>
                    <a:bodyPr wrap="none"/>
                    <a:lstStyle/>
                    <a:p>
                      <a:pPr algn="l"/>
                      <a:r>
                        <a:rPr sz="1100" b="1">
                          <a:solidFill>
                            <a:srgbClr val="2E2E2E"/>
                          </a:solidFill>
                          <a:latin typeface="Calibri"/>
                        </a:rPr>
                        <a:t>– Flat Pouches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5F8FA"/>
                    </a:solidFill>
                  </a:tcPr>
                </a:tc>
              </a:tr>
              <a:tr h="215456">
                <a:tc>
                  <a:txBody>
                    <a:bodyPr wrap="none"/>
                    <a:lstStyle/>
                    <a:p>
                      <a:pPr algn="l"/>
                      <a:r>
                        <a:rPr sz="1100" b="1">
                          <a:solidFill>
                            <a:srgbClr val="2E2E2E"/>
                          </a:solidFill>
                          <a:latin typeface="Calibri"/>
                        </a:rPr>
                        <a:t>– Retort Pouches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5.0%</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FFFFF"/>
                    </a:solidFill>
                  </a:tcPr>
                </a:tc>
              </a:tr>
              <a:tr h="215456">
                <a:tc>
                  <a:txBody>
                    <a:bodyPr wrap="none"/>
                    <a:lstStyle/>
                    <a:p>
                      <a:pPr algn="l"/>
                      <a:r>
                        <a:rPr sz="1100" b="1">
                          <a:solidFill>
                            <a:srgbClr val="2E2E2E"/>
                          </a:solidFill>
                          <a:latin typeface="Calibri"/>
                        </a:rPr>
                        <a:t>Sachets &amp; Stick Packs</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5F8FA"/>
                    </a:solidFill>
                  </a:tcPr>
                </a:tc>
              </a:tr>
              <a:tr h="215456">
                <a:tc>
                  <a:txBody>
                    <a:bodyPr wrap="none"/>
                    <a:lstStyle/>
                    <a:p>
                      <a:pPr algn="l"/>
                      <a:r>
                        <a:rPr sz="1100" b="1">
                          <a:solidFill>
                            <a:srgbClr val="2E2E2E"/>
                          </a:solidFill>
                          <a:latin typeface="Calibri"/>
                        </a:rPr>
                        <a:t>– Sachets</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FFFFF"/>
                    </a:solidFill>
                  </a:tcPr>
                </a:tc>
              </a:tr>
              <a:tr h="215456">
                <a:tc>
                  <a:txBody>
                    <a:bodyPr wrap="none"/>
                    <a:lstStyle/>
                    <a:p>
                      <a:pPr algn="l"/>
                      <a:r>
                        <a:rPr sz="1100" b="1">
                          <a:solidFill>
                            <a:srgbClr val="2E2E2E"/>
                          </a:solidFill>
                          <a:latin typeface="Calibri"/>
                        </a:rPr>
                        <a:t>– Stick Packs</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4.8%</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57721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YoY Analysis of Global Market Volume, By Product Type (%)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Year-on-year volume growth by Product Type, 2022–2036, highlighting acceleration and slowdown</a:t>
            </a:r>
          </a:p>
        </p:txBody>
      </p:sp>
      <p:sp>
        <p:nvSpPr>
          <p:cNvPr id="10" name="Rounded Rectangle 9"/>
          <p:cNvSpPr/>
          <p:nvPr/>
        </p:nvSpPr>
        <p:spPr>
          <a:xfrm>
            <a:off x="142875" y="981075"/>
            <a:ext cx="11906250"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YoY Heatmap, By Product Type (%)  ·  light = lower, dark = higher growth</a:t>
            </a:r>
          </a:p>
        </p:txBody>
      </p:sp>
      <p:sp>
        <p:nvSpPr>
          <p:cNvPr id="12" name="TextBox 11"/>
          <p:cNvSpPr txBox="1"/>
          <p:nvPr/>
        </p:nvSpPr>
        <p:spPr>
          <a:xfrm>
            <a:off x="185737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2022</a:t>
            </a:r>
          </a:p>
        </p:txBody>
      </p:sp>
      <p:sp>
        <p:nvSpPr>
          <p:cNvPr id="13" name="TextBox 12"/>
          <p:cNvSpPr txBox="1"/>
          <p:nvPr/>
        </p:nvSpPr>
        <p:spPr>
          <a:xfrm>
            <a:off x="250126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2023</a:t>
            </a:r>
          </a:p>
        </p:txBody>
      </p:sp>
      <p:sp>
        <p:nvSpPr>
          <p:cNvPr id="14" name="TextBox 13"/>
          <p:cNvSpPr txBox="1"/>
          <p:nvPr/>
        </p:nvSpPr>
        <p:spPr>
          <a:xfrm>
            <a:off x="314515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2024</a:t>
            </a:r>
          </a:p>
        </p:txBody>
      </p:sp>
      <p:sp>
        <p:nvSpPr>
          <p:cNvPr id="15" name="TextBox 14"/>
          <p:cNvSpPr txBox="1"/>
          <p:nvPr/>
        </p:nvSpPr>
        <p:spPr>
          <a:xfrm>
            <a:off x="378904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2025</a:t>
            </a:r>
          </a:p>
        </p:txBody>
      </p:sp>
      <p:sp>
        <p:nvSpPr>
          <p:cNvPr id="16" name="TextBox 15"/>
          <p:cNvSpPr txBox="1"/>
          <p:nvPr/>
        </p:nvSpPr>
        <p:spPr>
          <a:xfrm>
            <a:off x="443293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2026</a:t>
            </a:r>
          </a:p>
        </p:txBody>
      </p:sp>
      <p:sp>
        <p:nvSpPr>
          <p:cNvPr id="17" name="TextBox 16"/>
          <p:cNvSpPr txBox="1"/>
          <p:nvPr/>
        </p:nvSpPr>
        <p:spPr>
          <a:xfrm>
            <a:off x="507682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2027</a:t>
            </a:r>
          </a:p>
        </p:txBody>
      </p:sp>
      <p:sp>
        <p:nvSpPr>
          <p:cNvPr id="18" name="TextBox 17"/>
          <p:cNvSpPr txBox="1"/>
          <p:nvPr/>
        </p:nvSpPr>
        <p:spPr>
          <a:xfrm>
            <a:off x="572071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2028</a:t>
            </a:r>
          </a:p>
        </p:txBody>
      </p:sp>
      <p:sp>
        <p:nvSpPr>
          <p:cNvPr id="19" name="TextBox 18"/>
          <p:cNvSpPr txBox="1"/>
          <p:nvPr/>
        </p:nvSpPr>
        <p:spPr>
          <a:xfrm>
            <a:off x="636460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2029</a:t>
            </a:r>
          </a:p>
        </p:txBody>
      </p:sp>
      <p:sp>
        <p:nvSpPr>
          <p:cNvPr id="20" name="TextBox 19"/>
          <p:cNvSpPr txBox="1"/>
          <p:nvPr/>
        </p:nvSpPr>
        <p:spPr>
          <a:xfrm>
            <a:off x="700849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2030</a:t>
            </a:r>
          </a:p>
        </p:txBody>
      </p:sp>
      <p:sp>
        <p:nvSpPr>
          <p:cNvPr id="21" name="TextBox 20"/>
          <p:cNvSpPr txBox="1"/>
          <p:nvPr/>
        </p:nvSpPr>
        <p:spPr>
          <a:xfrm>
            <a:off x="765238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2031</a:t>
            </a:r>
          </a:p>
        </p:txBody>
      </p:sp>
      <p:sp>
        <p:nvSpPr>
          <p:cNvPr id="22" name="TextBox 21"/>
          <p:cNvSpPr txBox="1"/>
          <p:nvPr/>
        </p:nvSpPr>
        <p:spPr>
          <a:xfrm>
            <a:off x="829627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2032</a:t>
            </a:r>
          </a:p>
        </p:txBody>
      </p:sp>
      <p:sp>
        <p:nvSpPr>
          <p:cNvPr id="23" name="TextBox 22"/>
          <p:cNvSpPr txBox="1"/>
          <p:nvPr/>
        </p:nvSpPr>
        <p:spPr>
          <a:xfrm>
            <a:off x="894016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2033</a:t>
            </a:r>
          </a:p>
        </p:txBody>
      </p:sp>
      <p:sp>
        <p:nvSpPr>
          <p:cNvPr id="24" name="TextBox 23"/>
          <p:cNvSpPr txBox="1"/>
          <p:nvPr/>
        </p:nvSpPr>
        <p:spPr>
          <a:xfrm>
            <a:off x="958405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2034</a:t>
            </a:r>
          </a:p>
        </p:txBody>
      </p:sp>
      <p:sp>
        <p:nvSpPr>
          <p:cNvPr id="25" name="TextBox 24"/>
          <p:cNvSpPr txBox="1"/>
          <p:nvPr/>
        </p:nvSpPr>
        <p:spPr>
          <a:xfrm>
            <a:off x="1022794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2035</a:t>
            </a:r>
          </a:p>
        </p:txBody>
      </p:sp>
      <p:sp>
        <p:nvSpPr>
          <p:cNvPr id="26" name="TextBox 25"/>
          <p:cNvSpPr txBox="1"/>
          <p:nvPr/>
        </p:nvSpPr>
        <p:spPr>
          <a:xfrm>
            <a:off x="1087183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2036</a:t>
            </a:r>
          </a:p>
        </p:txBody>
      </p:sp>
      <p:sp>
        <p:nvSpPr>
          <p:cNvPr id="27" name="TextBox 26"/>
          <p:cNvSpPr txBox="1"/>
          <p:nvPr/>
        </p:nvSpPr>
        <p:spPr>
          <a:xfrm>
            <a:off x="238125" y="1409700"/>
            <a:ext cx="1590675" cy="258128"/>
          </a:xfrm>
          <a:prstGeom prst="rect">
            <a:avLst/>
          </a:prstGeom>
          <a:noFill/>
        </p:spPr>
        <p:txBody>
          <a:bodyPr wrap="square" lIns="28575" rIns="28575" tIns="9525" bIns="9525" anchor="ctr">
            <a:spAutoFit/>
          </a:bodyPr>
          <a:lstStyle/>
          <a:p>
            <a:pPr algn="l"/>
            <a:r>
              <a:rPr sz="1100" b="0">
                <a:solidFill>
                  <a:srgbClr val="2E2E2E"/>
                </a:solidFill>
                <a:latin typeface="Calibri"/>
              </a:rPr>
              <a:t>Rollstock Films</a:t>
            </a:r>
          </a:p>
        </p:txBody>
      </p:sp>
      <p:sp>
        <p:nvSpPr>
          <p:cNvPr id="28" name="Rectangle 27"/>
          <p:cNvSpPr/>
          <p:nvPr/>
        </p:nvSpPr>
        <p:spPr>
          <a:xfrm>
            <a:off x="1857375" y="1409700"/>
            <a:ext cx="643890" cy="258128"/>
          </a:xfrm>
          <a:prstGeom prst="rect">
            <a:avLst/>
          </a:prstGeom>
          <a:solidFill>
            <a:srgbClr val="D7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01265" y="1409700"/>
            <a:ext cx="643890" cy="258128"/>
          </a:xfrm>
          <a:prstGeom prst="rect">
            <a:avLst/>
          </a:prstGeom>
          <a:solidFill>
            <a:srgbClr val="D4E4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145155" y="1409700"/>
            <a:ext cx="643890" cy="258128"/>
          </a:xfrm>
          <a:prstGeom prst="rect">
            <a:avLst/>
          </a:prstGeom>
          <a:solidFill>
            <a:srgbClr val="CFE0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789045" y="1409700"/>
            <a:ext cx="643890" cy="258128"/>
          </a:xfrm>
          <a:prstGeom prst="rect">
            <a:avLst/>
          </a:prstGeom>
          <a:solidFill>
            <a:srgbClr val="C6DA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432935" y="1409700"/>
            <a:ext cx="643890" cy="258128"/>
          </a:xfrm>
          <a:prstGeom prst="rect">
            <a:avLst/>
          </a:prstGeom>
          <a:solidFill>
            <a:srgbClr val="AFCD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76825" y="1409700"/>
            <a:ext cx="643890" cy="258128"/>
          </a:xfrm>
          <a:prstGeom prst="rect">
            <a:avLst/>
          </a:prstGeom>
          <a:solidFill>
            <a:srgbClr val="98C0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720715" y="1409700"/>
            <a:ext cx="643890" cy="258128"/>
          </a:xfrm>
          <a:prstGeom prst="rect">
            <a:avLst/>
          </a:prstGeom>
          <a:solidFill>
            <a:srgbClr val="7AB0D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364605" y="1409700"/>
            <a:ext cx="643890" cy="258128"/>
          </a:xfrm>
          <a:prstGeom prst="rect">
            <a:avLst/>
          </a:prstGeom>
          <a:solidFill>
            <a:srgbClr val="599EC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08495" y="1409700"/>
            <a:ext cx="643890" cy="258128"/>
          </a:xfrm>
          <a:prstGeom prst="rect">
            <a:avLst/>
          </a:prstGeom>
          <a:solidFill>
            <a:srgbClr val="398C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652385" y="1409700"/>
            <a:ext cx="643890" cy="258128"/>
          </a:xfrm>
          <a:prstGeom prst="rect">
            <a:avLst/>
          </a:prstGeom>
          <a:solidFill>
            <a:srgbClr val="2882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296275" y="1409700"/>
            <a:ext cx="643890" cy="258128"/>
          </a:xfrm>
          <a:prstGeom prst="rect">
            <a:avLst/>
          </a:prstGeom>
          <a:solidFill>
            <a:srgbClr val="1F7CB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940165" y="1409700"/>
            <a:ext cx="643890" cy="258128"/>
          </a:xfrm>
          <a:prstGeom prst="rect">
            <a:avLst/>
          </a:prstGeom>
          <a:solidFill>
            <a:srgbClr val="207DB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584055" y="1409700"/>
            <a:ext cx="643890" cy="258128"/>
          </a:xfrm>
          <a:prstGeom prst="rect">
            <a:avLst/>
          </a:prstGeom>
          <a:solidFill>
            <a:srgbClr val="2982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227945" y="1409700"/>
            <a:ext cx="643890" cy="258128"/>
          </a:xfrm>
          <a:prstGeom prst="rect">
            <a:avLst/>
          </a:prstGeom>
          <a:solidFill>
            <a:srgbClr val="3A8D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871835" y="1409700"/>
            <a:ext cx="643890" cy="258128"/>
          </a:xfrm>
          <a:prstGeom prst="rect">
            <a:avLst/>
          </a:prstGeom>
          <a:solidFill>
            <a:srgbClr val="529A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38125" y="1667828"/>
            <a:ext cx="1590675" cy="258128"/>
          </a:xfrm>
          <a:prstGeom prst="rect">
            <a:avLst/>
          </a:prstGeom>
          <a:noFill/>
        </p:spPr>
        <p:txBody>
          <a:bodyPr wrap="square" lIns="28575" rIns="28575" tIns="9525" bIns="9525" anchor="ctr">
            <a:spAutoFit/>
          </a:bodyPr>
          <a:lstStyle/>
          <a:p>
            <a:pPr algn="l"/>
            <a:r>
              <a:rPr sz="1100" b="0">
                <a:solidFill>
                  <a:srgbClr val="2E2E2E"/>
                </a:solidFill>
                <a:latin typeface="Calibri"/>
              </a:rPr>
              <a:t>– Lidding &amp; Tray-Sealing Films</a:t>
            </a:r>
          </a:p>
        </p:txBody>
      </p:sp>
      <p:sp>
        <p:nvSpPr>
          <p:cNvPr id="44" name="Rectangle 43"/>
          <p:cNvSpPr/>
          <p:nvPr/>
        </p:nvSpPr>
        <p:spPr>
          <a:xfrm>
            <a:off x="1857375" y="1667828"/>
            <a:ext cx="643890" cy="258128"/>
          </a:xfrm>
          <a:prstGeom prst="rect">
            <a:avLst/>
          </a:prstGeom>
          <a:solidFill>
            <a:srgbClr val="D2E2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501265" y="1667828"/>
            <a:ext cx="643890" cy="258128"/>
          </a:xfrm>
          <a:prstGeom prst="rect">
            <a:avLst/>
          </a:prstGeom>
          <a:solidFill>
            <a:srgbClr val="CFE0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145155" y="1667828"/>
            <a:ext cx="643890" cy="258128"/>
          </a:xfrm>
          <a:prstGeom prst="rect">
            <a:avLst/>
          </a:prstGeom>
          <a:solidFill>
            <a:srgbClr val="C9DC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789045" y="1667828"/>
            <a:ext cx="643890" cy="258128"/>
          </a:xfrm>
          <a:prstGeom prst="rect">
            <a:avLst/>
          </a:prstGeom>
          <a:solidFill>
            <a:srgbClr val="BFD6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432935" y="1667828"/>
            <a:ext cx="643890" cy="258128"/>
          </a:xfrm>
          <a:prstGeom prst="rect">
            <a:avLst/>
          </a:prstGeom>
          <a:solidFill>
            <a:srgbClr val="AECD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076825" y="1667828"/>
            <a:ext cx="643890" cy="258128"/>
          </a:xfrm>
          <a:prstGeom prst="rect">
            <a:avLst/>
          </a:prstGeom>
          <a:solidFill>
            <a:srgbClr val="9FC4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720715" y="1667828"/>
            <a:ext cx="643890" cy="258128"/>
          </a:xfrm>
          <a:prstGeom prst="rect">
            <a:avLst/>
          </a:prstGeom>
          <a:solidFill>
            <a:srgbClr val="90BC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364605" y="1667828"/>
            <a:ext cx="643890" cy="258128"/>
          </a:xfrm>
          <a:prstGeom prst="rect">
            <a:avLst/>
          </a:prstGeom>
          <a:solidFill>
            <a:srgbClr val="7AB0D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008495" y="1667828"/>
            <a:ext cx="643890" cy="258128"/>
          </a:xfrm>
          <a:prstGeom prst="rect">
            <a:avLst/>
          </a:prstGeom>
          <a:solidFill>
            <a:srgbClr val="5DA0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652385" y="1667828"/>
            <a:ext cx="643890" cy="258128"/>
          </a:xfrm>
          <a:prstGeom prst="rect">
            <a:avLst/>
          </a:prstGeom>
          <a:solidFill>
            <a:srgbClr val="4593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296275" y="1667828"/>
            <a:ext cx="643890" cy="258128"/>
          </a:xfrm>
          <a:prstGeom prst="rect">
            <a:avLst/>
          </a:prstGeom>
          <a:solidFill>
            <a:srgbClr val="398C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940165" y="1667828"/>
            <a:ext cx="643890" cy="258128"/>
          </a:xfrm>
          <a:prstGeom prst="rect">
            <a:avLst/>
          </a:prstGeom>
          <a:solidFill>
            <a:srgbClr val="3C8E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584055" y="1667828"/>
            <a:ext cx="643890" cy="258128"/>
          </a:xfrm>
          <a:prstGeom prst="rect">
            <a:avLst/>
          </a:prstGeom>
          <a:solidFill>
            <a:srgbClr val="4894C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227945" y="1667828"/>
            <a:ext cx="643890" cy="258128"/>
          </a:xfrm>
          <a:prstGeom prst="rect">
            <a:avLst/>
          </a:prstGeom>
          <a:solidFill>
            <a:srgbClr val="60A1C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0871835" y="1667828"/>
            <a:ext cx="643890" cy="258128"/>
          </a:xfrm>
          <a:prstGeom prst="rect">
            <a:avLst/>
          </a:prstGeom>
          <a:solidFill>
            <a:srgbClr val="79AFD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38125" y="1925955"/>
            <a:ext cx="1590675" cy="258128"/>
          </a:xfrm>
          <a:prstGeom prst="rect">
            <a:avLst/>
          </a:prstGeom>
          <a:noFill/>
        </p:spPr>
        <p:txBody>
          <a:bodyPr wrap="square" lIns="28575" rIns="28575" tIns="9525" bIns="9525" anchor="ctr">
            <a:spAutoFit/>
          </a:bodyPr>
          <a:lstStyle/>
          <a:p>
            <a:pPr algn="l"/>
            <a:r>
              <a:rPr sz="1100" b="0">
                <a:solidFill>
                  <a:srgbClr val="2E2E2E"/>
                </a:solidFill>
                <a:latin typeface="Calibri"/>
              </a:rPr>
              <a:t>– Thermoforming Films</a:t>
            </a:r>
          </a:p>
        </p:txBody>
      </p:sp>
      <p:sp>
        <p:nvSpPr>
          <p:cNvPr id="60" name="Rectangle 59"/>
          <p:cNvSpPr/>
          <p:nvPr/>
        </p:nvSpPr>
        <p:spPr>
          <a:xfrm>
            <a:off x="1857375" y="1925955"/>
            <a:ext cx="643890" cy="258128"/>
          </a:xfrm>
          <a:prstGeom prst="rect">
            <a:avLst/>
          </a:prstGeom>
          <a:solidFill>
            <a:srgbClr val="D0E1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501265" y="1925955"/>
            <a:ext cx="643890" cy="258128"/>
          </a:xfrm>
          <a:prstGeom prst="rect">
            <a:avLst/>
          </a:prstGeom>
          <a:solidFill>
            <a:srgbClr val="CD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3145155" y="1925955"/>
            <a:ext cx="643890" cy="258128"/>
          </a:xfrm>
          <a:prstGeom prst="rect">
            <a:avLst/>
          </a:prstGeom>
          <a:solidFill>
            <a:srgbClr val="CBDD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3789045" y="1925955"/>
            <a:ext cx="643890" cy="258128"/>
          </a:xfrm>
          <a:prstGeom prst="rect">
            <a:avLst/>
          </a:prstGeom>
          <a:solidFill>
            <a:srgbClr val="C2D8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432935" y="1925955"/>
            <a:ext cx="643890" cy="258128"/>
          </a:xfrm>
          <a:prstGeom prst="rect">
            <a:avLst/>
          </a:prstGeom>
          <a:solidFill>
            <a:srgbClr val="A9CA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076825" y="1925955"/>
            <a:ext cx="643890" cy="258128"/>
          </a:xfrm>
          <a:prstGeom prst="rect">
            <a:avLst/>
          </a:prstGeom>
          <a:solidFill>
            <a:srgbClr val="90BC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5720715" y="1925955"/>
            <a:ext cx="643890" cy="258128"/>
          </a:xfrm>
          <a:prstGeom prst="rect">
            <a:avLst/>
          </a:prstGeom>
          <a:solidFill>
            <a:srgbClr val="68A6C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364605" y="1925955"/>
            <a:ext cx="643890" cy="258128"/>
          </a:xfrm>
          <a:prstGeom prst="rect">
            <a:avLst/>
          </a:prstGeom>
          <a:solidFill>
            <a:srgbClr val="4090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7008495" y="1925955"/>
            <a:ext cx="643890" cy="258128"/>
          </a:xfrm>
          <a:prstGeom prst="rect">
            <a:avLst/>
          </a:prstGeom>
          <a:solidFill>
            <a:srgbClr val="227EB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7652385" y="1925955"/>
            <a:ext cx="643890" cy="258128"/>
          </a:xfrm>
          <a:prstGeom prst="rect">
            <a:avLst/>
          </a:prstGeom>
          <a:solidFill>
            <a:srgbClr val="0E70A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8296275" y="1925955"/>
            <a:ext cx="643890" cy="258128"/>
          </a:xfrm>
          <a:prstGeom prst="rect">
            <a:avLst/>
          </a:prstGeom>
          <a:solidFill>
            <a:srgbClr val="0D598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8940165" y="1925955"/>
            <a:ext cx="643890" cy="258128"/>
          </a:xfrm>
          <a:prstGeom prst="rect">
            <a:avLst/>
          </a:prstGeom>
          <a:solidFill>
            <a:srgbClr val="0D588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9584055" y="1925955"/>
            <a:ext cx="643890" cy="258128"/>
          </a:xfrm>
          <a:prstGeom prst="rect">
            <a:avLst/>
          </a:prstGeom>
          <a:solidFill>
            <a:srgbClr val="0D669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0227945" y="1925955"/>
            <a:ext cx="643890" cy="258128"/>
          </a:xfrm>
          <a:prstGeom prst="rect">
            <a:avLst/>
          </a:prstGeom>
          <a:solidFill>
            <a:srgbClr val="1978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0871835" y="1925955"/>
            <a:ext cx="643890" cy="258128"/>
          </a:xfrm>
          <a:prstGeom prst="rect">
            <a:avLst/>
          </a:prstGeom>
          <a:solidFill>
            <a:srgbClr val="2A83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38125" y="2184082"/>
            <a:ext cx="1590675" cy="258128"/>
          </a:xfrm>
          <a:prstGeom prst="rect">
            <a:avLst/>
          </a:prstGeom>
          <a:noFill/>
        </p:spPr>
        <p:txBody>
          <a:bodyPr wrap="square" lIns="28575" rIns="28575" tIns="9525" bIns="9525" anchor="ctr">
            <a:spAutoFit/>
          </a:bodyPr>
          <a:lstStyle/>
          <a:p>
            <a:pPr algn="l"/>
            <a:r>
              <a:rPr sz="1100" b="0">
                <a:solidFill>
                  <a:srgbClr val="2E2E2E"/>
                </a:solidFill>
                <a:latin typeface="Calibri"/>
              </a:rPr>
              <a:t>– Vacuum Skin Packaging Films</a:t>
            </a:r>
          </a:p>
        </p:txBody>
      </p:sp>
      <p:sp>
        <p:nvSpPr>
          <p:cNvPr id="76" name="Rectangle 75"/>
          <p:cNvSpPr/>
          <p:nvPr/>
        </p:nvSpPr>
        <p:spPr>
          <a:xfrm>
            <a:off x="1857375" y="2184082"/>
            <a:ext cx="643890" cy="258128"/>
          </a:xfrm>
          <a:prstGeom prst="rect">
            <a:avLst/>
          </a:prstGeom>
          <a:solidFill>
            <a:srgbClr val="F0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2501265" y="2184082"/>
            <a:ext cx="643890" cy="258128"/>
          </a:xfrm>
          <a:prstGeom prst="rect">
            <a:avLst/>
          </a:prstGeom>
          <a:solidFill>
            <a:srgbClr val="EB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3145155" y="2184082"/>
            <a:ext cx="643890" cy="258128"/>
          </a:xfrm>
          <a:prstGeom prst="rect">
            <a:avLst/>
          </a:prstGeom>
          <a:solidFill>
            <a:srgbClr val="E2EF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3789045" y="2184082"/>
            <a:ext cx="643890" cy="258128"/>
          </a:xfrm>
          <a:prstGeom prst="rect">
            <a:avLst/>
          </a:prstGeom>
          <a:solidFill>
            <a:srgbClr val="D4E4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4432935" y="2184082"/>
            <a:ext cx="643890" cy="258128"/>
          </a:xfrm>
          <a:prstGeom prst="rect">
            <a:avLst/>
          </a:prstGeom>
          <a:solidFill>
            <a:srgbClr val="B8D2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5076825" y="2184082"/>
            <a:ext cx="643890" cy="258128"/>
          </a:xfrm>
          <a:prstGeom prst="rect">
            <a:avLst/>
          </a:prstGeom>
          <a:solidFill>
            <a:srgbClr val="98C0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5720715" y="2184082"/>
            <a:ext cx="643890" cy="258128"/>
          </a:xfrm>
          <a:prstGeom prst="rect">
            <a:avLst/>
          </a:prstGeom>
          <a:solidFill>
            <a:srgbClr val="73ACD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6364605" y="2184082"/>
            <a:ext cx="643890" cy="258128"/>
          </a:xfrm>
          <a:prstGeom prst="rect">
            <a:avLst/>
          </a:prstGeom>
          <a:solidFill>
            <a:srgbClr val="4F98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7008495" y="2184082"/>
            <a:ext cx="643890" cy="258128"/>
          </a:xfrm>
          <a:prstGeom prst="rect">
            <a:avLst/>
          </a:prstGeom>
          <a:solidFill>
            <a:srgbClr val="378B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7652385" y="2184082"/>
            <a:ext cx="643890" cy="258128"/>
          </a:xfrm>
          <a:prstGeom prst="rect">
            <a:avLst/>
          </a:prstGeom>
          <a:solidFill>
            <a:srgbClr val="2C84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8296275" y="2184082"/>
            <a:ext cx="643890" cy="258128"/>
          </a:xfrm>
          <a:prstGeom prst="rect">
            <a:avLst/>
          </a:prstGeom>
          <a:solidFill>
            <a:srgbClr val="2B83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8940165" y="2184082"/>
            <a:ext cx="643890" cy="258128"/>
          </a:xfrm>
          <a:prstGeom prst="rect">
            <a:avLst/>
          </a:prstGeom>
          <a:solidFill>
            <a:srgbClr val="3086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9584055" y="2184082"/>
            <a:ext cx="643890" cy="258128"/>
          </a:xfrm>
          <a:prstGeom prst="rect">
            <a:avLst/>
          </a:prstGeom>
          <a:solidFill>
            <a:srgbClr val="398C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10227945" y="2184082"/>
            <a:ext cx="643890" cy="258128"/>
          </a:xfrm>
          <a:prstGeom prst="rect">
            <a:avLst/>
          </a:prstGeom>
          <a:solidFill>
            <a:srgbClr val="4F99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10871835" y="2184082"/>
            <a:ext cx="643890" cy="258128"/>
          </a:xfrm>
          <a:prstGeom prst="rect">
            <a:avLst/>
          </a:prstGeom>
          <a:solidFill>
            <a:srgbClr val="6AA7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38125" y="2442210"/>
            <a:ext cx="1590675" cy="258128"/>
          </a:xfrm>
          <a:prstGeom prst="rect">
            <a:avLst/>
          </a:prstGeom>
          <a:noFill/>
        </p:spPr>
        <p:txBody>
          <a:bodyPr wrap="square" lIns="28575" rIns="28575" tIns="9525" bIns="9525" anchor="ctr">
            <a:spAutoFit/>
          </a:bodyPr>
          <a:lstStyle/>
          <a:p>
            <a:pPr algn="l"/>
            <a:r>
              <a:rPr sz="1100" b="0">
                <a:solidFill>
                  <a:srgbClr val="2E2E2E"/>
                </a:solidFill>
                <a:latin typeface="Calibri"/>
              </a:rPr>
              <a:t>– HFFS / Flow-Pack Films</a:t>
            </a:r>
          </a:p>
        </p:txBody>
      </p:sp>
      <p:sp>
        <p:nvSpPr>
          <p:cNvPr id="92" name="Rectangle 91"/>
          <p:cNvSpPr/>
          <p:nvPr/>
        </p:nvSpPr>
        <p:spPr>
          <a:xfrm>
            <a:off x="1857375" y="2442210"/>
            <a:ext cx="643890" cy="258128"/>
          </a:xfrm>
          <a:prstGeom prst="rect">
            <a:avLst/>
          </a:prstGeom>
          <a:solidFill>
            <a:srgbClr val="CDDE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2501265" y="2442210"/>
            <a:ext cx="643890" cy="258128"/>
          </a:xfrm>
          <a:prstGeom prst="rect">
            <a:avLst/>
          </a:prstGeom>
          <a:solidFill>
            <a:srgbClr val="C6DA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3145155" y="2442210"/>
            <a:ext cx="643890" cy="258128"/>
          </a:xfrm>
          <a:prstGeom prst="rect">
            <a:avLst/>
          </a:prstGeom>
          <a:solidFill>
            <a:srgbClr val="BCD4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3789045" y="2442210"/>
            <a:ext cx="643890" cy="258128"/>
          </a:xfrm>
          <a:prstGeom prst="rect">
            <a:avLst/>
          </a:prstGeom>
          <a:solidFill>
            <a:srgbClr val="AFCD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4432935" y="2442210"/>
            <a:ext cx="643890" cy="258128"/>
          </a:xfrm>
          <a:prstGeom prst="rect">
            <a:avLst/>
          </a:prstGeom>
          <a:solidFill>
            <a:srgbClr val="98C0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5076825" y="2442210"/>
            <a:ext cx="643890" cy="258128"/>
          </a:xfrm>
          <a:prstGeom prst="rect">
            <a:avLst/>
          </a:prstGeom>
          <a:solidFill>
            <a:srgbClr val="7DB1D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5720715" y="2442210"/>
            <a:ext cx="643890" cy="258128"/>
          </a:xfrm>
          <a:prstGeom prst="rect">
            <a:avLst/>
          </a:prstGeom>
          <a:solidFill>
            <a:srgbClr val="5C9F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6364605" y="2442210"/>
            <a:ext cx="643890" cy="258128"/>
          </a:xfrm>
          <a:prstGeom prst="rect">
            <a:avLst/>
          </a:prstGeom>
          <a:solidFill>
            <a:srgbClr val="3C8E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7008495" y="2442210"/>
            <a:ext cx="643890" cy="258128"/>
          </a:xfrm>
          <a:prstGeom prst="rect">
            <a:avLst/>
          </a:prstGeom>
          <a:solidFill>
            <a:srgbClr val="227EB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7652385" y="2442210"/>
            <a:ext cx="643890" cy="258128"/>
          </a:xfrm>
          <a:prstGeom prst="rect">
            <a:avLst/>
          </a:prstGeom>
          <a:solidFill>
            <a:srgbClr val="0E6FA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8296275" y="2442210"/>
            <a:ext cx="643890" cy="258128"/>
          </a:xfrm>
          <a:prstGeom prst="rect">
            <a:avLst/>
          </a:prstGeom>
          <a:solidFill>
            <a:srgbClr val="0D588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8940165" y="2442210"/>
            <a:ext cx="643890" cy="258128"/>
          </a:xfrm>
          <a:prstGeom prst="rect">
            <a:avLst/>
          </a:prstGeom>
          <a:solidFill>
            <a:srgbClr val="0D598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9584055" y="2442210"/>
            <a:ext cx="643890" cy="258128"/>
          </a:xfrm>
          <a:prstGeom prst="rect">
            <a:avLst/>
          </a:prstGeom>
          <a:solidFill>
            <a:srgbClr val="0D669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0227945" y="2442210"/>
            <a:ext cx="643890" cy="258128"/>
          </a:xfrm>
          <a:prstGeom prst="rect">
            <a:avLst/>
          </a:prstGeom>
          <a:solidFill>
            <a:srgbClr val="1A79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0871835" y="2442210"/>
            <a:ext cx="643890" cy="258128"/>
          </a:xfrm>
          <a:prstGeom prst="rect">
            <a:avLst/>
          </a:prstGeom>
          <a:solidFill>
            <a:srgbClr val="2C84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238125" y="2700338"/>
            <a:ext cx="1590675" cy="258128"/>
          </a:xfrm>
          <a:prstGeom prst="rect">
            <a:avLst/>
          </a:prstGeom>
          <a:noFill/>
        </p:spPr>
        <p:txBody>
          <a:bodyPr wrap="square" lIns="28575" rIns="28575" tIns="9525" bIns="9525" anchor="ctr">
            <a:spAutoFit/>
          </a:bodyPr>
          <a:lstStyle/>
          <a:p>
            <a:pPr algn="l"/>
            <a:r>
              <a:rPr sz="1100" b="0">
                <a:solidFill>
                  <a:srgbClr val="2E2E2E"/>
                </a:solidFill>
                <a:latin typeface="Calibri"/>
              </a:rPr>
              <a:t>– VFFS Rollstock Films</a:t>
            </a:r>
          </a:p>
        </p:txBody>
      </p:sp>
      <p:sp>
        <p:nvSpPr>
          <p:cNvPr id="108" name="Rectangle 107"/>
          <p:cNvSpPr/>
          <p:nvPr/>
        </p:nvSpPr>
        <p:spPr>
          <a:xfrm>
            <a:off x="1857375" y="2700338"/>
            <a:ext cx="643890" cy="258128"/>
          </a:xfrm>
          <a:prstGeom prst="rect">
            <a:avLst/>
          </a:prstGeom>
          <a:solidFill>
            <a:srgbClr val="E1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2501265" y="2700338"/>
            <a:ext cx="643890" cy="258128"/>
          </a:xfrm>
          <a:prstGeom prst="rect">
            <a:avLst/>
          </a:prstGeom>
          <a:solidFill>
            <a:srgbClr val="DE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3145155" y="2700338"/>
            <a:ext cx="643890" cy="258128"/>
          </a:xfrm>
          <a:prstGeom prst="rect">
            <a:avLst/>
          </a:prstGeom>
          <a:solidFill>
            <a:srgbClr val="DA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3789045" y="2700338"/>
            <a:ext cx="643890" cy="258128"/>
          </a:xfrm>
          <a:prstGeom prst="rect">
            <a:avLst/>
          </a:prstGeom>
          <a:solidFill>
            <a:srgbClr val="D4E4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4432935" y="2700338"/>
            <a:ext cx="643890" cy="258128"/>
          </a:xfrm>
          <a:prstGeom prst="rect">
            <a:avLst/>
          </a:prstGeom>
          <a:solidFill>
            <a:srgbClr val="C6DA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5076825" y="2700338"/>
            <a:ext cx="643890" cy="258128"/>
          </a:xfrm>
          <a:prstGeom prst="rect">
            <a:avLst/>
          </a:prstGeom>
          <a:solidFill>
            <a:srgbClr val="B1CE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5720715" y="2700338"/>
            <a:ext cx="643890" cy="258128"/>
          </a:xfrm>
          <a:prstGeom prst="rect">
            <a:avLst/>
          </a:prstGeom>
          <a:solidFill>
            <a:srgbClr val="9BC2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6364605" y="2700338"/>
            <a:ext cx="643890" cy="258128"/>
          </a:xfrm>
          <a:prstGeom prst="rect">
            <a:avLst/>
          </a:prstGeom>
          <a:solidFill>
            <a:srgbClr val="81B4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7008495" y="2700338"/>
            <a:ext cx="643890" cy="258128"/>
          </a:xfrm>
          <a:prstGeom prst="rect">
            <a:avLst/>
          </a:prstGeom>
          <a:solidFill>
            <a:srgbClr val="63A3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7652385" y="2700338"/>
            <a:ext cx="643890" cy="258128"/>
          </a:xfrm>
          <a:prstGeom prst="rect">
            <a:avLst/>
          </a:prstGeom>
          <a:solidFill>
            <a:srgbClr val="4F98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8296275" y="2700338"/>
            <a:ext cx="643890" cy="258128"/>
          </a:xfrm>
          <a:prstGeom prst="rect">
            <a:avLst/>
          </a:prstGeom>
          <a:solidFill>
            <a:srgbClr val="4593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8940165" y="2700338"/>
            <a:ext cx="643890" cy="258128"/>
          </a:xfrm>
          <a:prstGeom prst="rect">
            <a:avLst/>
          </a:prstGeom>
          <a:solidFill>
            <a:srgbClr val="4B96C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9584055" y="2700338"/>
            <a:ext cx="643890" cy="258128"/>
          </a:xfrm>
          <a:prstGeom prst="rect">
            <a:avLst/>
          </a:prstGeom>
          <a:solidFill>
            <a:srgbClr val="599DC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0227945" y="2700338"/>
            <a:ext cx="643890" cy="258128"/>
          </a:xfrm>
          <a:prstGeom prst="rect">
            <a:avLst/>
          </a:prstGeom>
          <a:solidFill>
            <a:srgbClr val="70AAD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10871835" y="2700338"/>
            <a:ext cx="643890" cy="258128"/>
          </a:xfrm>
          <a:prstGeom prst="rect">
            <a:avLst/>
          </a:prstGeom>
          <a:solidFill>
            <a:srgbClr val="89B8D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238125" y="2958465"/>
            <a:ext cx="1590675" cy="258128"/>
          </a:xfrm>
          <a:prstGeom prst="rect">
            <a:avLst/>
          </a:prstGeom>
          <a:noFill/>
        </p:spPr>
        <p:txBody>
          <a:bodyPr wrap="square" lIns="28575" rIns="28575" tIns="9525" bIns="9525" anchor="ctr">
            <a:spAutoFit/>
          </a:bodyPr>
          <a:lstStyle/>
          <a:p>
            <a:pPr algn="l"/>
            <a:r>
              <a:rPr sz="1100" b="0">
                <a:solidFill>
                  <a:srgbClr val="2E2E2E"/>
                </a:solidFill>
                <a:latin typeface="Calibri"/>
              </a:rPr>
              <a:t>– Shrink &amp; Overwrap Films</a:t>
            </a:r>
          </a:p>
        </p:txBody>
      </p:sp>
      <p:sp>
        <p:nvSpPr>
          <p:cNvPr id="124" name="Rectangle 123"/>
          <p:cNvSpPr/>
          <p:nvPr/>
        </p:nvSpPr>
        <p:spPr>
          <a:xfrm>
            <a:off x="1857375" y="2958465"/>
            <a:ext cx="643890" cy="258128"/>
          </a:xfrm>
          <a:prstGeom prst="rect">
            <a:avLst/>
          </a:prstGeom>
          <a:solidFill>
            <a:srgbClr val="DBEA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2501265" y="2958465"/>
            <a:ext cx="643890" cy="258128"/>
          </a:xfrm>
          <a:prstGeom prst="rect">
            <a:avLst/>
          </a:prstGeom>
          <a:solidFill>
            <a:srgbClr val="D9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3145155" y="2958465"/>
            <a:ext cx="643890" cy="258128"/>
          </a:xfrm>
          <a:prstGeom prst="rect">
            <a:avLst/>
          </a:prstGeom>
          <a:solidFill>
            <a:srgbClr val="D3E4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3789045" y="2958465"/>
            <a:ext cx="643890" cy="258128"/>
          </a:xfrm>
          <a:prstGeom prst="rect">
            <a:avLst/>
          </a:prstGeom>
          <a:solidFill>
            <a:srgbClr val="CADC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4432935" y="2958465"/>
            <a:ext cx="643890" cy="258128"/>
          </a:xfrm>
          <a:prstGeom prst="rect">
            <a:avLst/>
          </a:prstGeom>
          <a:solidFill>
            <a:srgbClr val="ADCC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5076825" y="2958465"/>
            <a:ext cx="643890" cy="258128"/>
          </a:xfrm>
          <a:prstGeom prst="rect">
            <a:avLst/>
          </a:prstGeom>
          <a:solidFill>
            <a:srgbClr val="8CBAD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5720715" y="2958465"/>
            <a:ext cx="643890" cy="258128"/>
          </a:xfrm>
          <a:prstGeom prst="rect">
            <a:avLst/>
          </a:prstGeom>
          <a:solidFill>
            <a:srgbClr val="5EA0C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6364605" y="2958465"/>
            <a:ext cx="643890" cy="258128"/>
          </a:xfrm>
          <a:prstGeom prst="rect">
            <a:avLst/>
          </a:prstGeom>
          <a:solidFill>
            <a:srgbClr val="388C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7008495" y="2958465"/>
            <a:ext cx="643890" cy="258128"/>
          </a:xfrm>
          <a:prstGeom prst="rect">
            <a:avLst/>
          </a:prstGeom>
          <a:solidFill>
            <a:srgbClr val="2580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7652385" y="2958465"/>
            <a:ext cx="643890" cy="258128"/>
          </a:xfrm>
          <a:prstGeom prst="rect">
            <a:avLst/>
          </a:prstGeom>
          <a:solidFill>
            <a:srgbClr val="1A79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8296275" y="2958465"/>
            <a:ext cx="643890" cy="258128"/>
          </a:xfrm>
          <a:prstGeom prst="rect">
            <a:avLst/>
          </a:prstGeom>
          <a:solidFill>
            <a:srgbClr val="1576B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8940165" y="2958465"/>
            <a:ext cx="643890" cy="258128"/>
          </a:xfrm>
          <a:prstGeom prst="rect">
            <a:avLst/>
          </a:prstGeom>
          <a:solidFill>
            <a:srgbClr val="1677B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9584055" y="2958465"/>
            <a:ext cx="643890" cy="258128"/>
          </a:xfrm>
          <a:prstGeom prst="rect">
            <a:avLst/>
          </a:prstGeom>
          <a:solidFill>
            <a:srgbClr val="1D7BB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10227945" y="2958465"/>
            <a:ext cx="643890" cy="258128"/>
          </a:xfrm>
          <a:prstGeom prst="rect">
            <a:avLst/>
          </a:prstGeom>
          <a:solidFill>
            <a:srgbClr val="2E85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10871835" y="2958465"/>
            <a:ext cx="643890" cy="258128"/>
          </a:xfrm>
          <a:prstGeom prst="rect">
            <a:avLst/>
          </a:prstGeom>
          <a:solidFill>
            <a:srgbClr val="4090C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238125" y="3216593"/>
            <a:ext cx="1590675" cy="258128"/>
          </a:xfrm>
          <a:prstGeom prst="rect">
            <a:avLst/>
          </a:prstGeom>
          <a:noFill/>
        </p:spPr>
        <p:txBody>
          <a:bodyPr wrap="square" lIns="28575" rIns="28575" tIns="9525" bIns="9525" anchor="ctr">
            <a:spAutoFit/>
          </a:bodyPr>
          <a:lstStyle/>
          <a:p>
            <a:pPr algn="l"/>
            <a:r>
              <a:rPr sz="1100" b="0">
                <a:solidFill>
                  <a:srgbClr val="2E2E2E"/>
                </a:solidFill>
                <a:latin typeface="Calibri"/>
              </a:rPr>
              <a:t>Barrier Casings</a:t>
            </a:r>
          </a:p>
        </p:txBody>
      </p:sp>
      <p:sp>
        <p:nvSpPr>
          <p:cNvPr id="140" name="Rectangle 139"/>
          <p:cNvSpPr/>
          <p:nvPr/>
        </p:nvSpPr>
        <p:spPr>
          <a:xfrm>
            <a:off x="1857375" y="3216593"/>
            <a:ext cx="643890" cy="258128"/>
          </a:xfrm>
          <a:prstGeom prst="rect">
            <a:avLst/>
          </a:prstGeom>
          <a:solidFill>
            <a:srgbClr val="E1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2501265" y="3216593"/>
            <a:ext cx="643890" cy="258128"/>
          </a:xfrm>
          <a:prstGeom prst="rect">
            <a:avLst/>
          </a:prstGeom>
          <a:solidFill>
            <a:srgbClr val="DA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3145155" y="3216593"/>
            <a:ext cx="643890" cy="258128"/>
          </a:xfrm>
          <a:prstGeom prst="rect">
            <a:avLst/>
          </a:prstGeom>
          <a:solidFill>
            <a:srgbClr val="D2E3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3789045" y="3216593"/>
            <a:ext cx="643890" cy="258128"/>
          </a:xfrm>
          <a:prstGeom prst="rect">
            <a:avLst/>
          </a:prstGeom>
          <a:solidFill>
            <a:srgbClr val="CADC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4432935" y="3216593"/>
            <a:ext cx="643890" cy="258128"/>
          </a:xfrm>
          <a:prstGeom prst="rect">
            <a:avLst/>
          </a:prstGeom>
          <a:solidFill>
            <a:srgbClr val="B3CF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5076825" y="3216593"/>
            <a:ext cx="643890" cy="258128"/>
          </a:xfrm>
          <a:prstGeom prst="rect">
            <a:avLst/>
          </a:prstGeom>
          <a:solidFill>
            <a:srgbClr val="A0C5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5720715" y="3216593"/>
            <a:ext cx="643890" cy="258128"/>
          </a:xfrm>
          <a:prstGeom prst="rect">
            <a:avLst/>
          </a:prstGeom>
          <a:solidFill>
            <a:srgbClr val="87B6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6364605" y="3216593"/>
            <a:ext cx="643890" cy="258128"/>
          </a:xfrm>
          <a:prstGeom prst="rect">
            <a:avLst/>
          </a:prstGeom>
          <a:solidFill>
            <a:srgbClr val="63A3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7008495" y="3216593"/>
            <a:ext cx="643890" cy="258128"/>
          </a:xfrm>
          <a:prstGeom prst="rect">
            <a:avLst/>
          </a:prstGeom>
          <a:solidFill>
            <a:srgbClr val="398C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7652385" y="3216593"/>
            <a:ext cx="643890" cy="258128"/>
          </a:xfrm>
          <a:prstGeom prst="rect">
            <a:avLst/>
          </a:prstGeom>
          <a:solidFill>
            <a:srgbClr val="227EB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8296275" y="3216593"/>
            <a:ext cx="643890" cy="258128"/>
          </a:xfrm>
          <a:prstGeom prst="rect">
            <a:avLst/>
          </a:prstGeom>
          <a:solidFill>
            <a:srgbClr val="1777B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8940165" y="3216593"/>
            <a:ext cx="643890" cy="258128"/>
          </a:xfrm>
          <a:prstGeom prst="rect">
            <a:avLst/>
          </a:prstGeom>
          <a:solidFill>
            <a:srgbClr val="1D7BB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9584055" y="3216593"/>
            <a:ext cx="643890" cy="258128"/>
          </a:xfrm>
          <a:prstGeom prst="rect">
            <a:avLst/>
          </a:prstGeom>
          <a:solidFill>
            <a:srgbClr val="2681B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10227945" y="3216593"/>
            <a:ext cx="643890" cy="258128"/>
          </a:xfrm>
          <a:prstGeom prst="rect">
            <a:avLst/>
          </a:prstGeom>
          <a:solidFill>
            <a:srgbClr val="388B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10871835" y="3216593"/>
            <a:ext cx="643890" cy="258128"/>
          </a:xfrm>
          <a:prstGeom prst="rect">
            <a:avLst/>
          </a:prstGeom>
          <a:solidFill>
            <a:srgbClr val="5099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238125" y="3474720"/>
            <a:ext cx="1590675" cy="258128"/>
          </a:xfrm>
          <a:prstGeom prst="rect">
            <a:avLst/>
          </a:prstGeom>
          <a:noFill/>
        </p:spPr>
        <p:txBody>
          <a:bodyPr wrap="square" lIns="28575" rIns="28575" tIns="9525" bIns="9525" anchor="ctr">
            <a:spAutoFit/>
          </a:bodyPr>
          <a:lstStyle/>
          <a:p>
            <a:pPr algn="l"/>
            <a:r>
              <a:rPr sz="1100" b="0">
                <a:solidFill>
                  <a:srgbClr val="2E2E2E"/>
                </a:solidFill>
                <a:latin typeface="Calibri"/>
              </a:rPr>
              <a:t>– Non-Shrink Casings</a:t>
            </a:r>
          </a:p>
        </p:txBody>
      </p:sp>
      <p:sp>
        <p:nvSpPr>
          <p:cNvPr id="156" name="Rectangle 155"/>
          <p:cNvSpPr/>
          <p:nvPr/>
        </p:nvSpPr>
        <p:spPr>
          <a:xfrm>
            <a:off x="1857375" y="3474720"/>
            <a:ext cx="643890" cy="258128"/>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2501265" y="3474720"/>
            <a:ext cx="643890" cy="258128"/>
          </a:xfrm>
          <a:prstGeom prst="rect">
            <a:avLst/>
          </a:prstGeom>
          <a:solidFill>
            <a:srgbClr val="F7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3145155" y="3474720"/>
            <a:ext cx="643890" cy="258128"/>
          </a:xfrm>
          <a:prstGeom prst="rect">
            <a:avLst/>
          </a:prstGeom>
          <a:solidFill>
            <a:srgbClr val="EF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3789045" y="3474720"/>
            <a:ext cx="643890" cy="258128"/>
          </a:xfrm>
          <a:prstGeom prst="rect">
            <a:avLst/>
          </a:prstGeom>
          <a:solidFill>
            <a:srgbClr val="E6F3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4432935" y="3474720"/>
            <a:ext cx="643890" cy="258128"/>
          </a:xfrm>
          <a:prstGeom prst="rect">
            <a:avLst/>
          </a:prstGeom>
          <a:solidFill>
            <a:srgbClr val="D9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5076825" y="3474720"/>
            <a:ext cx="643890" cy="258128"/>
          </a:xfrm>
          <a:prstGeom prst="rect">
            <a:avLst/>
          </a:prstGeom>
          <a:solidFill>
            <a:srgbClr val="D0E1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5720715" y="3474720"/>
            <a:ext cx="643890" cy="258128"/>
          </a:xfrm>
          <a:prstGeom prst="rect">
            <a:avLst/>
          </a:prstGeom>
          <a:solidFill>
            <a:srgbClr val="BED6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6364605" y="3474720"/>
            <a:ext cx="643890" cy="258128"/>
          </a:xfrm>
          <a:prstGeom prst="rect">
            <a:avLst/>
          </a:prstGeom>
          <a:solidFill>
            <a:srgbClr val="A4C7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7008495" y="3474720"/>
            <a:ext cx="643890" cy="258128"/>
          </a:xfrm>
          <a:prstGeom prst="rect">
            <a:avLst/>
          </a:prstGeom>
          <a:solidFill>
            <a:srgbClr val="7FB2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7652385" y="3474720"/>
            <a:ext cx="643890" cy="258128"/>
          </a:xfrm>
          <a:prstGeom prst="rect">
            <a:avLst/>
          </a:prstGeom>
          <a:solidFill>
            <a:srgbClr val="5B9F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8296275" y="3474720"/>
            <a:ext cx="643890" cy="258128"/>
          </a:xfrm>
          <a:prstGeom prst="rect">
            <a:avLst/>
          </a:prstGeom>
          <a:solidFill>
            <a:srgbClr val="4D97C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8940165" y="3474720"/>
            <a:ext cx="643890" cy="258128"/>
          </a:xfrm>
          <a:prstGeom prst="rect">
            <a:avLst/>
          </a:prstGeom>
          <a:solidFill>
            <a:srgbClr val="5A9E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9584055" y="3474720"/>
            <a:ext cx="643890" cy="258128"/>
          </a:xfrm>
          <a:prstGeom prst="rect">
            <a:avLst/>
          </a:prstGeom>
          <a:solidFill>
            <a:srgbClr val="67A5C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10227945" y="3474720"/>
            <a:ext cx="643890" cy="258128"/>
          </a:xfrm>
          <a:prstGeom prst="rect">
            <a:avLst/>
          </a:prstGeom>
          <a:solidFill>
            <a:srgbClr val="80B3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10871835" y="3474720"/>
            <a:ext cx="643890" cy="258128"/>
          </a:xfrm>
          <a:prstGeom prst="rect">
            <a:avLst/>
          </a:prstGeom>
          <a:solidFill>
            <a:srgbClr val="96BF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238125" y="3732848"/>
            <a:ext cx="1590675" cy="258128"/>
          </a:xfrm>
          <a:prstGeom prst="rect">
            <a:avLst/>
          </a:prstGeom>
          <a:noFill/>
        </p:spPr>
        <p:txBody>
          <a:bodyPr wrap="square" lIns="28575" rIns="28575" tIns="9525" bIns="9525" anchor="ctr">
            <a:spAutoFit/>
          </a:bodyPr>
          <a:lstStyle/>
          <a:p>
            <a:pPr algn="l"/>
            <a:r>
              <a:rPr sz="1100" b="0">
                <a:solidFill>
                  <a:srgbClr val="2E2E2E"/>
                </a:solidFill>
                <a:latin typeface="Calibri"/>
              </a:rPr>
              <a:t>– Shrink Casings</a:t>
            </a:r>
          </a:p>
        </p:txBody>
      </p:sp>
      <p:sp>
        <p:nvSpPr>
          <p:cNvPr id="172" name="Rectangle 171"/>
          <p:cNvSpPr/>
          <p:nvPr/>
        </p:nvSpPr>
        <p:spPr>
          <a:xfrm>
            <a:off x="1857375" y="3732848"/>
            <a:ext cx="643890" cy="258128"/>
          </a:xfrm>
          <a:prstGeom prst="rect">
            <a:avLst/>
          </a:prstGeom>
          <a:solidFill>
            <a:srgbClr val="D6E6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2501265" y="3732848"/>
            <a:ext cx="643890" cy="258128"/>
          </a:xfrm>
          <a:prstGeom prst="rect">
            <a:avLst/>
          </a:prstGeom>
          <a:solidFill>
            <a:srgbClr val="D0E1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3145155" y="3732848"/>
            <a:ext cx="643890" cy="258128"/>
          </a:xfrm>
          <a:prstGeom prst="rect">
            <a:avLst/>
          </a:prstGeom>
          <a:solidFill>
            <a:srgbClr val="C7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3789045" y="3732848"/>
            <a:ext cx="643890" cy="258128"/>
          </a:xfrm>
          <a:prstGeom prst="rect">
            <a:avLst/>
          </a:prstGeom>
          <a:solidFill>
            <a:srgbClr val="BBD4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Rectangle 175"/>
          <p:cNvSpPr/>
          <p:nvPr/>
        </p:nvSpPr>
        <p:spPr>
          <a:xfrm>
            <a:off x="4432935" y="3732848"/>
            <a:ext cx="643890" cy="258128"/>
          </a:xfrm>
          <a:prstGeom prst="rect">
            <a:avLst/>
          </a:prstGeom>
          <a:solidFill>
            <a:srgbClr val="9EC4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Rectangle 176"/>
          <p:cNvSpPr/>
          <p:nvPr/>
        </p:nvSpPr>
        <p:spPr>
          <a:xfrm>
            <a:off x="5076825" y="3732848"/>
            <a:ext cx="643890" cy="258128"/>
          </a:xfrm>
          <a:prstGeom prst="rect">
            <a:avLst/>
          </a:prstGeom>
          <a:solidFill>
            <a:srgbClr val="7CB1D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ectangle 177"/>
          <p:cNvSpPr/>
          <p:nvPr/>
        </p:nvSpPr>
        <p:spPr>
          <a:xfrm>
            <a:off x="5720715" y="3732848"/>
            <a:ext cx="643890" cy="258128"/>
          </a:xfrm>
          <a:prstGeom prst="rect">
            <a:avLst/>
          </a:prstGeom>
          <a:solidFill>
            <a:srgbClr val="4F98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Rectangle 178"/>
          <p:cNvSpPr/>
          <p:nvPr/>
        </p:nvSpPr>
        <p:spPr>
          <a:xfrm>
            <a:off x="6364605" y="3732848"/>
            <a:ext cx="643890" cy="258128"/>
          </a:xfrm>
          <a:prstGeom prst="rect">
            <a:avLst/>
          </a:prstGeom>
          <a:solidFill>
            <a:srgbClr val="2E85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ectangle 179"/>
          <p:cNvSpPr/>
          <p:nvPr/>
        </p:nvSpPr>
        <p:spPr>
          <a:xfrm>
            <a:off x="7008495" y="3732848"/>
            <a:ext cx="643890" cy="258128"/>
          </a:xfrm>
          <a:prstGeom prst="rect">
            <a:avLst/>
          </a:prstGeom>
          <a:solidFill>
            <a:srgbClr val="0E72A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Rectangle 180"/>
          <p:cNvSpPr/>
          <p:nvPr/>
        </p:nvSpPr>
        <p:spPr>
          <a:xfrm>
            <a:off x="7652385" y="3732848"/>
            <a:ext cx="643890" cy="258128"/>
          </a:xfrm>
          <a:prstGeom prst="rect">
            <a:avLst/>
          </a:prstGeom>
          <a:solidFill>
            <a:srgbClr val="0C466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tangle 181"/>
          <p:cNvSpPr/>
          <p:nvPr/>
        </p:nvSpPr>
        <p:spPr>
          <a:xfrm>
            <a:off x="8296275" y="3732848"/>
            <a:ext cx="643890" cy="258128"/>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ectangle 182"/>
          <p:cNvSpPr/>
          <p:nvPr/>
        </p:nvSpPr>
        <p:spPr>
          <a:xfrm>
            <a:off x="8940165" y="3732848"/>
            <a:ext cx="643890" cy="258128"/>
          </a:xfrm>
          <a:prstGeom prst="rect">
            <a:avLst/>
          </a:prstGeom>
          <a:solidFill>
            <a:srgbClr val="0B324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9584055" y="3732848"/>
            <a:ext cx="643890" cy="258128"/>
          </a:xfrm>
          <a:prstGeom prst="rect">
            <a:avLst/>
          </a:prstGeom>
          <a:solidFill>
            <a:srgbClr val="0C416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10227945" y="3732848"/>
            <a:ext cx="643890" cy="258128"/>
          </a:xfrm>
          <a:prstGeom prst="rect">
            <a:avLst/>
          </a:prstGeom>
          <a:solidFill>
            <a:srgbClr val="0D609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10871835" y="3732848"/>
            <a:ext cx="643890" cy="258128"/>
          </a:xfrm>
          <a:prstGeom prst="rect">
            <a:avLst/>
          </a:prstGeom>
          <a:solidFill>
            <a:srgbClr val="1979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238125" y="3990975"/>
            <a:ext cx="1590675" cy="258128"/>
          </a:xfrm>
          <a:prstGeom prst="rect">
            <a:avLst/>
          </a:prstGeom>
          <a:noFill/>
        </p:spPr>
        <p:txBody>
          <a:bodyPr wrap="square" lIns="28575" rIns="28575" tIns="9525" bIns="9525" anchor="ctr">
            <a:spAutoFit/>
          </a:bodyPr>
          <a:lstStyle/>
          <a:p>
            <a:pPr algn="l"/>
            <a:r>
              <a:rPr sz="1100" b="0">
                <a:solidFill>
                  <a:srgbClr val="2E2E2E"/>
                </a:solidFill>
                <a:latin typeface="Calibri"/>
              </a:rPr>
              <a:t>– Other Specialty Casings</a:t>
            </a:r>
          </a:p>
        </p:txBody>
      </p:sp>
      <p:sp>
        <p:nvSpPr>
          <p:cNvPr id="188" name="Rectangle 187"/>
          <p:cNvSpPr/>
          <p:nvPr/>
        </p:nvSpPr>
        <p:spPr>
          <a:xfrm>
            <a:off x="1857375" y="3990975"/>
            <a:ext cx="643890" cy="258128"/>
          </a:xfrm>
          <a:prstGeom prst="rect">
            <a:avLst/>
          </a:prstGeom>
          <a:solidFill>
            <a:srgbClr val="3F90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2501265" y="3990975"/>
            <a:ext cx="643890" cy="258128"/>
          </a:xfrm>
          <a:prstGeom prst="rect">
            <a:avLst/>
          </a:prstGeom>
          <a:solidFill>
            <a:srgbClr val="4392C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3145155" y="3990975"/>
            <a:ext cx="643890" cy="258128"/>
          </a:xfrm>
          <a:prstGeom prst="rect">
            <a:avLst/>
          </a:prstGeom>
          <a:solidFill>
            <a:srgbClr val="3A8D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3789045" y="3990975"/>
            <a:ext cx="643890" cy="258128"/>
          </a:xfrm>
          <a:prstGeom prst="rect">
            <a:avLst/>
          </a:prstGeom>
          <a:solidFill>
            <a:srgbClr val="3489C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4432935" y="3990975"/>
            <a:ext cx="643890" cy="258128"/>
          </a:xfrm>
          <a:prstGeom prst="rect">
            <a:avLst/>
          </a:prstGeom>
          <a:solidFill>
            <a:srgbClr val="2C84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5076825" y="3990975"/>
            <a:ext cx="643890" cy="258128"/>
          </a:xfrm>
          <a:prstGeom prst="rect">
            <a:avLst/>
          </a:prstGeom>
          <a:solidFill>
            <a:srgbClr val="2982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5720715" y="3990975"/>
            <a:ext cx="643890" cy="258128"/>
          </a:xfrm>
          <a:prstGeom prst="rect">
            <a:avLst/>
          </a:prstGeom>
          <a:solidFill>
            <a:srgbClr val="2480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Rectangle 194"/>
          <p:cNvSpPr/>
          <p:nvPr/>
        </p:nvSpPr>
        <p:spPr>
          <a:xfrm>
            <a:off x="6364605" y="3990975"/>
            <a:ext cx="643890" cy="258128"/>
          </a:xfrm>
          <a:prstGeom prst="rect">
            <a:avLst/>
          </a:prstGeom>
          <a:solidFill>
            <a:srgbClr val="1F7CB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7008495" y="3990975"/>
            <a:ext cx="643890" cy="258128"/>
          </a:xfrm>
          <a:prstGeom prst="rect">
            <a:avLst/>
          </a:prstGeom>
          <a:solidFill>
            <a:srgbClr val="1174B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7652385" y="3990975"/>
            <a:ext cx="643890" cy="258128"/>
          </a:xfrm>
          <a:prstGeom prst="rect">
            <a:avLst/>
          </a:prstGeom>
          <a:solidFill>
            <a:srgbClr val="0E6AA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ectangle 197"/>
          <p:cNvSpPr/>
          <p:nvPr/>
        </p:nvSpPr>
        <p:spPr>
          <a:xfrm>
            <a:off x="8296275" y="3990975"/>
            <a:ext cx="643890" cy="258128"/>
          </a:xfrm>
          <a:prstGeom prst="rect">
            <a:avLst/>
          </a:prstGeom>
          <a:solidFill>
            <a:srgbClr val="0D5F9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Rectangle 198"/>
          <p:cNvSpPr/>
          <p:nvPr/>
        </p:nvSpPr>
        <p:spPr>
          <a:xfrm>
            <a:off x="8940165" y="3990975"/>
            <a:ext cx="643890" cy="258128"/>
          </a:xfrm>
          <a:prstGeom prst="rect">
            <a:avLst/>
          </a:prstGeom>
          <a:solidFill>
            <a:srgbClr val="0E6BA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9584055" y="3990975"/>
            <a:ext cx="643890" cy="258128"/>
          </a:xfrm>
          <a:prstGeom prst="rect">
            <a:avLst/>
          </a:prstGeom>
          <a:solidFill>
            <a:srgbClr val="1677B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Rectangle 200"/>
          <p:cNvSpPr/>
          <p:nvPr/>
        </p:nvSpPr>
        <p:spPr>
          <a:xfrm>
            <a:off x="10227945" y="3990975"/>
            <a:ext cx="643890" cy="258128"/>
          </a:xfrm>
          <a:prstGeom prst="rect">
            <a:avLst/>
          </a:prstGeom>
          <a:solidFill>
            <a:srgbClr val="2881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Rectangle 201"/>
          <p:cNvSpPr/>
          <p:nvPr/>
        </p:nvSpPr>
        <p:spPr>
          <a:xfrm>
            <a:off x="10871835" y="3990975"/>
            <a:ext cx="643890" cy="258128"/>
          </a:xfrm>
          <a:prstGeom prst="rect">
            <a:avLst/>
          </a:prstGeom>
          <a:solidFill>
            <a:srgbClr val="388B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238125" y="4249102"/>
            <a:ext cx="1590675" cy="258128"/>
          </a:xfrm>
          <a:prstGeom prst="rect">
            <a:avLst/>
          </a:prstGeom>
          <a:noFill/>
        </p:spPr>
        <p:txBody>
          <a:bodyPr wrap="square" lIns="28575" rIns="28575" tIns="9525" bIns="9525" anchor="ctr">
            <a:spAutoFit/>
          </a:bodyPr>
          <a:lstStyle/>
          <a:p>
            <a:pPr algn="l"/>
            <a:r>
              <a:rPr sz="1100" b="0">
                <a:solidFill>
                  <a:srgbClr val="2E2E2E"/>
                </a:solidFill>
                <a:latin typeface="Calibri"/>
              </a:rPr>
              <a:t>Premade Pouches &amp; Bags</a:t>
            </a:r>
          </a:p>
        </p:txBody>
      </p:sp>
      <p:sp>
        <p:nvSpPr>
          <p:cNvPr id="204" name="Rectangle 203"/>
          <p:cNvSpPr/>
          <p:nvPr/>
        </p:nvSpPr>
        <p:spPr>
          <a:xfrm>
            <a:off x="1857375" y="4249102"/>
            <a:ext cx="643890" cy="258128"/>
          </a:xfrm>
          <a:prstGeom prst="rect">
            <a:avLst/>
          </a:prstGeom>
          <a:solidFill>
            <a:srgbClr val="CFE0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Rectangle 204"/>
          <p:cNvSpPr/>
          <p:nvPr/>
        </p:nvSpPr>
        <p:spPr>
          <a:xfrm>
            <a:off x="2501265" y="4249102"/>
            <a:ext cx="643890" cy="258128"/>
          </a:xfrm>
          <a:prstGeom prst="rect">
            <a:avLst/>
          </a:prstGeom>
          <a:solidFill>
            <a:srgbClr val="CBDD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Rectangle 205"/>
          <p:cNvSpPr/>
          <p:nvPr/>
        </p:nvSpPr>
        <p:spPr>
          <a:xfrm>
            <a:off x="3145155" y="4249102"/>
            <a:ext cx="643890" cy="258128"/>
          </a:xfrm>
          <a:prstGeom prst="rect">
            <a:avLst/>
          </a:prstGeom>
          <a:solidFill>
            <a:srgbClr val="C2D8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Rectangle 206"/>
          <p:cNvSpPr/>
          <p:nvPr/>
        </p:nvSpPr>
        <p:spPr>
          <a:xfrm>
            <a:off x="3789045" y="4249102"/>
            <a:ext cx="643890" cy="258128"/>
          </a:xfrm>
          <a:prstGeom prst="rect">
            <a:avLst/>
          </a:prstGeom>
          <a:solidFill>
            <a:srgbClr val="B7D2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Rectangle 207"/>
          <p:cNvSpPr/>
          <p:nvPr/>
        </p:nvSpPr>
        <p:spPr>
          <a:xfrm>
            <a:off x="4432935" y="4249102"/>
            <a:ext cx="643890" cy="258128"/>
          </a:xfrm>
          <a:prstGeom prst="rect">
            <a:avLst/>
          </a:prstGeom>
          <a:solidFill>
            <a:srgbClr val="A2C6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ectangle 208"/>
          <p:cNvSpPr/>
          <p:nvPr/>
        </p:nvSpPr>
        <p:spPr>
          <a:xfrm>
            <a:off x="5076825" y="4249102"/>
            <a:ext cx="643890" cy="258128"/>
          </a:xfrm>
          <a:prstGeom prst="rect">
            <a:avLst/>
          </a:prstGeom>
          <a:solidFill>
            <a:srgbClr val="8FBB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5720715" y="4249102"/>
            <a:ext cx="643890" cy="258128"/>
          </a:xfrm>
          <a:prstGeom prst="rect">
            <a:avLst/>
          </a:prstGeom>
          <a:solidFill>
            <a:srgbClr val="6EA9D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Rectangle 210"/>
          <p:cNvSpPr/>
          <p:nvPr/>
        </p:nvSpPr>
        <p:spPr>
          <a:xfrm>
            <a:off x="6364605" y="4249102"/>
            <a:ext cx="643890" cy="258128"/>
          </a:xfrm>
          <a:prstGeom prst="rect">
            <a:avLst/>
          </a:prstGeom>
          <a:solidFill>
            <a:srgbClr val="4E98C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Rectangle 211"/>
          <p:cNvSpPr/>
          <p:nvPr/>
        </p:nvSpPr>
        <p:spPr>
          <a:xfrm>
            <a:off x="7008495" y="4249102"/>
            <a:ext cx="643890" cy="258128"/>
          </a:xfrm>
          <a:prstGeom prst="rect">
            <a:avLst/>
          </a:prstGeom>
          <a:solidFill>
            <a:srgbClr val="3288B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Rectangle 212"/>
          <p:cNvSpPr/>
          <p:nvPr/>
        </p:nvSpPr>
        <p:spPr>
          <a:xfrm>
            <a:off x="7652385" y="4249102"/>
            <a:ext cx="643890" cy="258128"/>
          </a:xfrm>
          <a:prstGeom prst="rect">
            <a:avLst/>
          </a:prstGeom>
          <a:solidFill>
            <a:srgbClr val="227EB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8296275" y="4249102"/>
            <a:ext cx="643890" cy="258128"/>
          </a:xfrm>
          <a:prstGeom prst="rect">
            <a:avLst/>
          </a:prstGeom>
          <a:solidFill>
            <a:srgbClr val="1878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Rectangle 214"/>
          <p:cNvSpPr/>
          <p:nvPr/>
        </p:nvSpPr>
        <p:spPr>
          <a:xfrm>
            <a:off x="8940165" y="4249102"/>
            <a:ext cx="643890" cy="258128"/>
          </a:xfrm>
          <a:prstGeom prst="rect">
            <a:avLst/>
          </a:prstGeom>
          <a:solidFill>
            <a:srgbClr val="1A79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Rectangle 215"/>
          <p:cNvSpPr/>
          <p:nvPr/>
        </p:nvSpPr>
        <p:spPr>
          <a:xfrm>
            <a:off x="9584055" y="4249102"/>
            <a:ext cx="643890" cy="258128"/>
          </a:xfrm>
          <a:prstGeom prst="rect">
            <a:avLst/>
          </a:prstGeom>
          <a:solidFill>
            <a:srgbClr val="237FB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Rectangle 216"/>
          <p:cNvSpPr/>
          <p:nvPr/>
        </p:nvSpPr>
        <p:spPr>
          <a:xfrm>
            <a:off x="10227945" y="4249102"/>
            <a:ext cx="643890" cy="258128"/>
          </a:xfrm>
          <a:prstGeom prst="rect">
            <a:avLst/>
          </a:prstGeom>
          <a:solidFill>
            <a:srgbClr val="3489B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Rectangle 217"/>
          <p:cNvSpPr/>
          <p:nvPr/>
        </p:nvSpPr>
        <p:spPr>
          <a:xfrm>
            <a:off x="10871835" y="4249102"/>
            <a:ext cx="643890" cy="258128"/>
          </a:xfrm>
          <a:prstGeom prst="rect">
            <a:avLst/>
          </a:prstGeom>
          <a:solidFill>
            <a:srgbClr val="4995C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TextBox 218"/>
          <p:cNvSpPr txBox="1"/>
          <p:nvPr/>
        </p:nvSpPr>
        <p:spPr>
          <a:xfrm>
            <a:off x="238125" y="4507230"/>
            <a:ext cx="1590675" cy="258128"/>
          </a:xfrm>
          <a:prstGeom prst="rect">
            <a:avLst/>
          </a:prstGeom>
          <a:noFill/>
        </p:spPr>
        <p:txBody>
          <a:bodyPr wrap="square" lIns="28575" rIns="28575" tIns="9525" bIns="9525" anchor="ctr">
            <a:spAutoFit/>
          </a:bodyPr>
          <a:lstStyle/>
          <a:p>
            <a:pPr algn="l"/>
            <a:r>
              <a:rPr sz="1100" b="0">
                <a:solidFill>
                  <a:srgbClr val="2E2E2E"/>
                </a:solidFill>
                <a:latin typeface="Calibri"/>
              </a:rPr>
              <a:t>– Vacuum Pouches</a:t>
            </a:r>
          </a:p>
        </p:txBody>
      </p:sp>
      <p:sp>
        <p:nvSpPr>
          <p:cNvPr id="220" name="Rectangle 219"/>
          <p:cNvSpPr/>
          <p:nvPr/>
        </p:nvSpPr>
        <p:spPr>
          <a:xfrm>
            <a:off x="1857375" y="4507230"/>
            <a:ext cx="643890" cy="258128"/>
          </a:xfrm>
          <a:prstGeom prst="rect">
            <a:avLst/>
          </a:prstGeom>
          <a:solidFill>
            <a:srgbClr val="E1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ectangle 220"/>
          <p:cNvSpPr/>
          <p:nvPr/>
        </p:nvSpPr>
        <p:spPr>
          <a:xfrm>
            <a:off x="2501265" y="4507230"/>
            <a:ext cx="643890" cy="258128"/>
          </a:xfrm>
          <a:prstGeom prst="rect">
            <a:avLst/>
          </a:prstGeom>
          <a:solidFill>
            <a:srgbClr val="DBEA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3145155" y="4507230"/>
            <a:ext cx="643890" cy="258128"/>
          </a:xfrm>
          <a:prstGeom prst="rect">
            <a:avLst/>
          </a:prstGeom>
          <a:solidFill>
            <a:srgbClr val="D5E5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ectangle 222"/>
          <p:cNvSpPr/>
          <p:nvPr/>
        </p:nvSpPr>
        <p:spPr>
          <a:xfrm>
            <a:off x="3789045" y="4507230"/>
            <a:ext cx="643890" cy="258128"/>
          </a:xfrm>
          <a:prstGeom prst="rect">
            <a:avLst/>
          </a:prstGeom>
          <a:solidFill>
            <a:srgbClr val="CFE0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Rectangle 223"/>
          <p:cNvSpPr/>
          <p:nvPr/>
        </p:nvSpPr>
        <p:spPr>
          <a:xfrm>
            <a:off x="4432935" y="4507230"/>
            <a:ext cx="643890" cy="258128"/>
          </a:xfrm>
          <a:prstGeom prst="rect">
            <a:avLst/>
          </a:prstGeom>
          <a:solidFill>
            <a:srgbClr val="B9D3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Rectangle 224"/>
          <p:cNvSpPr/>
          <p:nvPr/>
        </p:nvSpPr>
        <p:spPr>
          <a:xfrm>
            <a:off x="5076825" y="4507230"/>
            <a:ext cx="643890" cy="258128"/>
          </a:xfrm>
          <a:prstGeom prst="rect">
            <a:avLst/>
          </a:prstGeom>
          <a:solidFill>
            <a:srgbClr val="9FC4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Rectangle 225"/>
          <p:cNvSpPr/>
          <p:nvPr/>
        </p:nvSpPr>
        <p:spPr>
          <a:xfrm>
            <a:off x="5720715" y="4507230"/>
            <a:ext cx="643890" cy="258128"/>
          </a:xfrm>
          <a:prstGeom prst="rect">
            <a:avLst/>
          </a:prstGeom>
          <a:solidFill>
            <a:srgbClr val="7EB2D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Rectangle 226"/>
          <p:cNvSpPr/>
          <p:nvPr/>
        </p:nvSpPr>
        <p:spPr>
          <a:xfrm>
            <a:off x="6364605" y="4507230"/>
            <a:ext cx="643890" cy="258128"/>
          </a:xfrm>
          <a:prstGeom prst="rect">
            <a:avLst/>
          </a:prstGeom>
          <a:solidFill>
            <a:srgbClr val="589DC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Rectangle 227"/>
          <p:cNvSpPr/>
          <p:nvPr/>
        </p:nvSpPr>
        <p:spPr>
          <a:xfrm>
            <a:off x="7008495" y="4507230"/>
            <a:ext cx="643890" cy="258128"/>
          </a:xfrm>
          <a:prstGeom prst="rect">
            <a:avLst/>
          </a:prstGeom>
          <a:solidFill>
            <a:srgbClr val="3489C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angle 228"/>
          <p:cNvSpPr/>
          <p:nvPr/>
        </p:nvSpPr>
        <p:spPr>
          <a:xfrm>
            <a:off x="7652385" y="4507230"/>
            <a:ext cx="643890" cy="258128"/>
          </a:xfrm>
          <a:prstGeom prst="rect">
            <a:avLst/>
          </a:prstGeom>
          <a:solidFill>
            <a:srgbClr val="1E7CB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ectangle 229"/>
          <p:cNvSpPr/>
          <p:nvPr/>
        </p:nvSpPr>
        <p:spPr>
          <a:xfrm>
            <a:off x="8296275" y="4507230"/>
            <a:ext cx="643890" cy="258128"/>
          </a:xfrm>
          <a:prstGeom prst="rect">
            <a:avLst/>
          </a:prstGeom>
          <a:solidFill>
            <a:srgbClr val="1174A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8940165" y="4507230"/>
            <a:ext cx="643890" cy="258128"/>
          </a:xfrm>
          <a:prstGeom prst="rect">
            <a:avLst/>
          </a:prstGeom>
          <a:solidFill>
            <a:srgbClr val="1274B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9584055" y="4507230"/>
            <a:ext cx="643890" cy="258128"/>
          </a:xfrm>
          <a:prstGeom prst="rect">
            <a:avLst/>
          </a:prstGeom>
          <a:solidFill>
            <a:srgbClr val="1B7A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10227945" y="4507230"/>
            <a:ext cx="643890" cy="258128"/>
          </a:xfrm>
          <a:prstGeom prst="rect">
            <a:avLst/>
          </a:prstGeom>
          <a:solidFill>
            <a:srgbClr val="2C84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10871835" y="4507230"/>
            <a:ext cx="643890" cy="258128"/>
          </a:xfrm>
          <a:prstGeom prst="rect">
            <a:avLst/>
          </a:prstGeom>
          <a:solidFill>
            <a:srgbClr val="4191C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238125" y="4765358"/>
            <a:ext cx="1590675" cy="258128"/>
          </a:xfrm>
          <a:prstGeom prst="rect">
            <a:avLst/>
          </a:prstGeom>
          <a:noFill/>
        </p:spPr>
        <p:txBody>
          <a:bodyPr wrap="square" lIns="28575" rIns="28575" tIns="9525" bIns="9525" anchor="ctr">
            <a:spAutoFit/>
          </a:bodyPr>
          <a:lstStyle/>
          <a:p>
            <a:pPr algn="l"/>
            <a:r>
              <a:rPr sz="1100" b="0">
                <a:solidFill>
                  <a:srgbClr val="2E2E2E"/>
                </a:solidFill>
                <a:latin typeface="Calibri"/>
              </a:rPr>
              <a:t>– Shrink Bags</a:t>
            </a:r>
          </a:p>
        </p:txBody>
      </p:sp>
      <p:sp>
        <p:nvSpPr>
          <p:cNvPr id="236" name="Rectangle 235"/>
          <p:cNvSpPr/>
          <p:nvPr/>
        </p:nvSpPr>
        <p:spPr>
          <a:xfrm>
            <a:off x="1857375" y="4765358"/>
            <a:ext cx="643890" cy="258128"/>
          </a:xfrm>
          <a:prstGeom prst="rect">
            <a:avLst/>
          </a:prstGeom>
          <a:solidFill>
            <a:srgbClr val="CD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Rectangle 236"/>
          <p:cNvSpPr/>
          <p:nvPr/>
        </p:nvSpPr>
        <p:spPr>
          <a:xfrm>
            <a:off x="2501265" y="4765358"/>
            <a:ext cx="643890" cy="258128"/>
          </a:xfrm>
          <a:prstGeom prst="rect">
            <a:avLst/>
          </a:prstGeom>
          <a:solidFill>
            <a:srgbClr val="C8DC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Rectangle 237"/>
          <p:cNvSpPr/>
          <p:nvPr/>
        </p:nvSpPr>
        <p:spPr>
          <a:xfrm>
            <a:off x="3145155" y="4765358"/>
            <a:ext cx="643890" cy="258128"/>
          </a:xfrm>
          <a:prstGeom prst="rect">
            <a:avLst/>
          </a:prstGeom>
          <a:solidFill>
            <a:srgbClr val="C1D8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Rectangle 238"/>
          <p:cNvSpPr/>
          <p:nvPr/>
        </p:nvSpPr>
        <p:spPr>
          <a:xfrm>
            <a:off x="3789045" y="4765358"/>
            <a:ext cx="643890" cy="258128"/>
          </a:xfrm>
          <a:prstGeom prst="rect">
            <a:avLst/>
          </a:prstGeom>
          <a:solidFill>
            <a:srgbClr val="B7D2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Rectangle 239"/>
          <p:cNvSpPr/>
          <p:nvPr/>
        </p:nvSpPr>
        <p:spPr>
          <a:xfrm>
            <a:off x="4432935" y="4765358"/>
            <a:ext cx="643890" cy="258128"/>
          </a:xfrm>
          <a:prstGeom prst="rect">
            <a:avLst/>
          </a:prstGeom>
          <a:solidFill>
            <a:srgbClr val="9DC3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5076825" y="4765358"/>
            <a:ext cx="643890" cy="258128"/>
          </a:xfrm>
          <a:prstGeom prst="rect">
            <a:avLst/>
          </a:prstGeom>
          <a:solidFill>
            <a:srgbClr val="78AED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5720715" y="4765358"/>
            <a:ext cx="643890" cy="258128"/>
          </a:xfrm>
          <a:prstGeom prst="rect">
            <a:avLst/>
          </a:prstGeom>
          <a:solidFill>
            <a:srgbClr val="4492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p:cNvSpPr/>
          <p:nvPr/>
        </p:nvSpPr>
        <p:spPr>
          <a:xfrm>
            <a:off x="6364605" y="4765358"/>
            <a:ext cx="643890" cy="258128"/>
          </a:xfrm>
          <a:prstGeom prst="rect">
            <a:avLst/>
          </a:prstGeom>
          <a:solidFill>
            <a:srgbClr val="207DB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Rectangle 243"/>
          <p:cNvSpPr/>
          <p:nvPr/>
        </p:nvSpPr>
        <p:spPr>
          <a:xfrm>
            <a:off x="7008495" y="4765358"/>
            <a:ext cx="643890" cy="258128"/>
          </a:xfrm>
          <a:prstGeom prst="rect">
            <a:avLst/>
          </a:prstGeom>
          <a:solidFill>
            <a:srgbClr val="0D639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Rectangle 244"/>
          <p:cNvSpPr/>
          <p:nvPr/>
        </p:nvSpPr>
        <p:spPr>
          <a:xfrm>
            <a:off x="7652385" y="4765358"/>
            <a:ext cx="643890" cy="258128"/>
          </a:xfrm>
          <a:prstGeom prst="rect">
            <a:avLst/>
          </a:prstGeom>
          <a:solidFill>
            <a:srgbClr val="0C487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Rectangle 245"/>
          <p:cNvSpPr/>
          <p:nvPr/>
        </p:nvSpPr>
        <p:spPr>
          <a:xfrm>
            <a:off x="8296275" y="4765358"/>
            <a:ext cx="643890" cy="258128"/>
          </a:xfrm>
          <a:prstGeom prst="rect">
            <a:avLst/>
          </a:prstGeom>
          <a:solidFill>
            <a:srgbClr val="0B395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Rectangle 246"/>
          <p:cNvSpPr/>
          <p:nvPr/>
        </p:nvSpPr>
        <p:spPr>
          <a:xfrm>
            <a:off x="8940165" y="4765358"/>
            <a:ext cx="643890" cy="258128"/>
          </a:xfrm>
          <a:prstGeom prst="rect">
            <a:avLst/>
          </a:prstGeom>
          <a:solidFill>
            <a:srgbClr val="0B355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9584055" y="4765358"/>
            <a:ext cx="643890" cy="258128"/>
          </a:xfrm>
          <a:prstGeom prst="rect">
            <a:avLst/>
          </a:prstGeom>
          <a:solidFill>
            <a:srgbClr val="0C416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10227945" y="4765358"/>
            <a:ext cx="643890" cy="258128"/>
          </a:xfrm>
          <a:prstGeom prst="rect">
            <a:avLst/>
          </a:prstGeom>
          <a:solidFill>
            <a:srgbClr val="0D5F9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p:cNvSpPr/>
          <p:nvPr/>
        </p:nvSpPr>
        <p:spPr>
          <a:xfrm>
            <a:off x="10871835" y="4765358"/>
            <a:ext cx="643890" cy="258128"/>
          </a:xfrm>
          <a:prstGeom prst="rect">
            <a:avLst/>
          </a:prstGeom>
          <a:solidFill>
            <a:srgbClr val="1677B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TextBox 250"/>
          <p:cNvSpPr txBox="1"/>
          <p:nvPr/>
        </p:nvSpPr>
        <p:spPr>
          <a:xfrm>
            <a:off x="238125" y="5023485"/>
            <a:ext cx="1590675" cy="258128"/>
          </a:xfrm>
          <a:prstGeom prst="rect">
            <a:avLst/>
          </a:prstGeom>
          <a:noFill/>
        </p:spPr>
        <p:txBody>
          <a:bodyPr wrap="square" lIns="28575" rIns="28575" tIns="9525" bIns="9525" anchor="ctr">
            <a:spAutoFit/>
          </a:bodyPr>
          <a:lstStyle/>
          <a:p>
            <a:pPr algn="l"/>
            <a:r>
              <a:rPr sz="1100" b="0">
                <a:solidFill>
                  <a:srgbClr val="2E2E2E"/>
                </a:solidFill>
                <a:latin typeface="Calibri"/>
              </a:rPr>
              <a:t>– Stand-Up Pouches</a:t>
            </a:r>
          </a:p>
        </p:txBody>
      </p:sp>
      <p:sp>
        <p:nvSpPr>
          <p:cNvPr id="252" name="Rectangle 251"/>
          <p:cNvSpPr/>
          <p:nvPr/>
        </p:nvSpPr>
        <p:spPr>
          <a:xfrm>
            <a:off x="1857375" y="5023485"/>
            <a:ext cx="643890" cy="258128"/>
          </a:xfrm>
          <a:prstGeom prst="rect">
            <a:avLst/>
          </a:prstGeom>
          <a:solidFill>
            <a:srgbClr val="D6E6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Rectangle 252"/>
          <p:cNvSpPr/>
          <p:nvPr/>
        </p:nvSpPr>
        <p:spPr>
          <a:xfrm>
            <a:off x="2501265" y="5023485"/>
            <a:ext cx="643890" cy="258128"/>
          </a:xfrm>
          <a:prstGeom prst="rect">
            <a:avLst/>
          </a:prstGeom>
          <a:solidFill>
            <a:srgbClr val="D2E3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Rectangle 253"/>
          <p:cNvSpPr/>
          <p:nvPr/>
        </p:nvSpPr>
        <p:spPr>
          <a:xfrm>
            <a:off x="3145155" y="5023485"/>
            <a:ext cx="643890" cy="258128"/>
          </a:xfrm>
          <a:prstGeom prst="rect">
            <a:avLst/>
          </a:prstGeom>
          <a:solidFill>
            <a:srgbClr val="CDDE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Rectangle 254"/>
          <p:cNvSpPr/>
          <p:nvPr/>
        </p:nvSpPr>
        <p:spPr>
          <a:xfrm>
            <a:off x="3789045" y="5023485"/>
            <a:ext cx="643890" cy="258128"/>
          </a:xfrm>
          <a:prstGeom prst="rect">
            <a:avLst/>
          </a:prstGeom>
          <a:solidFill>
            <a:srgbClr val="C4D9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Rectangle 255"/>
          <p:cNvSpPr/>
          <p:nvPr/>
        </p:nvSpPr>
        <p:spPr>
          <a:xfrm>
            <a:off x="4432935" y="5023485"/>
            <a:ext cx="643890" cy="258128"/>
          </a:xfrm>
          <a:prstGeom prst="rect">
            <a:avLst/>
          </a:prstGeom>
          <a:solidFill>
            <a:srgbClr val="B0CD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Rectangle 256"/>
          <p:cNvSpPr/>
          <p:nvPr/>
        </p:nvSpPr>
        <p:spPr>
          <a:xfrm>
            <a:off x="5076825" y="5023485"/>
            <a:ext cx="643890" cy="258128"/>
          </a:xfrm>
          <a:prstGeom prst="rect">
            <a:avLst/>
          </a:prstGeom>
          <a:solidFill>
            <a:srgbClr val="9FC4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Rectangle 257"/>
          <p:cNvSpPr/>
          <p:nvPr/>
        </p:nvSpPr>
        <p:spPr>
          <a:xfrm>
            <a:off x="5720715" y="5023485"/>
            <a:ext cx="643890" cy="258128"/>
          </a:xfrm>
          <a:prstGeom prst="rect">
            <a:avLst/>
          </a:prstGeom>
          <a:solidFill>
            <a:srgbClr val="8AB8D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Rectangle 258"/>
          <p:cNvSpPr/>
          <p:nvPr/>
        </p:nvSpPr>
        <p:spPr>
          <a:xfrm>
            <a:off x="6364605" y="5023485"/>
            <a:ext cx="643890" cy="258128"/>
          </a:xfrm>
          <a:prstGeom prst="rect">
            <a:avLst/>
          </a:prstGeom>
          <a:solidFill>
            <a:srgbClr val="70AAD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Rectangle 259"/>
          <p:cNvSpPr/>
          <p:nvPr/>
        </p:nvSpPr>
        <p:spPr>
          <a:xfrm>
            <a:off x="7008495" y="5023485"/>
            <a:ext cx="643890" cy="258128"/>
          </a:xfrm>
          <a:prstGeom prst="rect">
            <a:avLst/>
          </a:prstGeom>
          <a:solidFill>
            <a:srgbClr val="529A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Rectangle 260"/>
          <p:cNvSpPr/>
          <p:nvPr/>
        </p:nvSpPr>
        <p:spPr>
          <a:xfrm>
            <a:off x="7652385" y="5023485"/>
            <a:ext cx="643890" cy="258128"/>
          </a:xfrm>
          <a:prstGeom prst="rect">
            <a:avLst/>
          </a:prstGeom>
          <a:solidFill>
            <a:srgbClr val="3D8E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Rectangle 261"/>
          <p:cNvSpPr/>
          <p:nvPr/>
        </p:nvSpPr>
        <p:spPr>
          <a:xfrm>
            <a:off x="8296275" y="5023485"/>
            <a:ext cx="643890" cy="258128"/>
          </a:xfrm>
          <a:prstGeom prst="rect">
            <a:avLst/>
          </a:prstGeom>
          <a:solidFill>
            <a:srgbClr val="368AC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Rectangle 262"/>
          <p:cNvSpPr/>
          <p:nvPr/>
        </p:nvSpPr>
        <p:spPr>
          <a:xfrm>
            <a:off x="8940165" y="5023485"/>
            <a:ext cx="643890" cy="258128"/>
          </a:xfrm>
          <a:prstGeom prst="rect">
            <a:avLst/>
          </a:prstGeom>
          <a:solidFill>
            <a:srgbClr val="388C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Rectangle 263"/>
          <p:cNvSpPr/>
          <p:nvPr/>
        </p:nvSpPr>
        <p:spPr>
          <a:xfrm>
            <a:off x="9584055" y="5023485"/>
            <a:ext cx="643890" cy="258128"/>
          </a:xfrm>
          <a:prstGeom prst="rect">
            <a:avLst/>
          </a:prstGeom>
          <a:solidFill>
            <a:srgbClr val="4291C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Rectangle 264"/>
          <p:cNvSpPr/>
          <p:nvPr/>
        </p:nvSpPr>
        <p:spPr>
          <a:xfrm>
            <a:off x="10227945" y="5023485"/>
            <a:ext cx="643890" cy="258128"/>
          </a:xfrm>
          <a:prstGeom prst="rect">
            <a:avLst/>
          </a:prstGeom>
          <a:solidFill>
            <a:srgbClr val="5A9E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Rectangle 265"/>
          <p:cNvSpPr/>
          <p:nvPr/>
        </p:nvSpPr>
        <p:spPr>
          <a:xfrm>
            <a:off x="10871835" y="5023485"/>
            <a:ext cx="643890" cy="258128"/>
          </a:xfrm>
          <a:prstGeom prst="rect">
            <a:avLst/>
          </a:prstGeom>
          <a:solidFill>
            <a:srgbClr val="72ABD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238125" y="5281612"/>
            <a:ext cx="1590675" cy="258128"/>
          </a:xfrm>
          <a:prstGeom prst="rect">
            <a:avLst/>
          </a:prstGeom>
          <a:noFill/>
        </p:spPr>
        <p:txBody>
          <a:bodyPr wrap="square" lIns="28575" rIns="28575" tIns="9525" bIns="9525" anchor="ctr">
            <a:spAutoFit/>
          </a:bodyPr>
          <a:lstStyle/>
          <a:p>
            <a:pPr algn="l"/>
            <a:r>
              <a:rPr sz="1100" b="0">
                <a:solidFill>
                  <a:srgbClr val="2E2E2E"/>
                </a:solidFill>
                <a:latin typeface="Calibri"/>
              </a:rPr>
              <a:t>– Flat Pouches</a:t>
            </a:r>
          </a:p>
        </p:txBody>
      </p:sp>
      <p:sp>
        <p:nvSpPr>
          <p:cNvPr id="268" name="Rectangle 267"/>
          <p:cNvSpPr/>
          <p:nvPr/>
        </p:nvSpPr>
        <p:spPr>
          <a:xfrm>
            <a:off x="1857375" y="5281612"/>
            <a:ext cx="643890" cy="258128"/>
          </a:xfrm>
          <a:prstGeom prst="rect">
            <a:avLst/>
          </a:prstGeom>
          <a:solidFill>
            <a:srgbClr val="B1CE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Rectangle 268"/>
          <p:cNvSpPr/>
          <p:nvPr/>
        </p:nvSpPr>
        <p:spPr>
          <a:xfrm>
            <a:off x="2501265" y="5281612"/>
            <a:ext cx="643890" cy="258128"/>
          </a:xfrm>
          <a:prstGeom prst="rect">
            <a:avLst/>
          </a:prstGeom>
          <a:solidFill>
            <a:srgbClr val="ACCB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Rectangle 269"/>
          <p:cNvSpPr/>
          <p:nvPr/>
        </p:nvSpPr>
        <p:spPr>
          <a:xfrm>
            <a:off x="3145155" y="5281612"/>
            <a:ext cx="643890" cy="258128"/>
          </a:xfrm>
          <a:prstGeom prst="rect">
            <a:avLst/>
          </a:prstGeom>
          <a:solidFill>
            <a:srgbClr val="A2C6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Rectangle 270"/>
          <p:cNvSpPr/>
          <p:nvPr/>
        </p:nvSpPr>
        <p:spPr>
          <a:xfrm>
            <a:off x="3789045" y="5281612"/>
            <a:ext cx="643890" cy="258128"/>
          </a:xfrm>
          <a:prstGeom prst="rect">
            <a:avLst/>
          </a:prstGeom>
          <a:solidFill>
            <a:srgbClr val="99C1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Rectangle 271"/>
          <p:cNvSpPr/>
          <p:nvPr/>
        </p:nvSpPr>
        <p:spPr>
          <a:xfrm>
            <a:off x="4432935" y="5281612"/>
            <a:ext cx="643890" cy="258128"/>
          </a:xfrm>
          <a:prstGeom prst="rect">
            <a:avLst/>
          </a:prstGeom>
          <a:solidFill>
            <a:srgbClr val="83B4D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Rectangle 272"/>
          <p:cNvSpPr/>
          <p:nvPr/>
        </p:nvSpPr>
        <p:spPr>
          <a:xfrm>
            <a:off x="5076825" y="5281612"/>
            <a:ext cx="643890" cy="258128"/>
          </a:xfrm>
          <a:prstGeom prst="rect">
            <a:avLst/>
          </a:prstGeom>
          <a:solidFill>
            <a:srgbClr val="6BA8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Rectangle 273"/>
          <p:cNvSpPr/>
          <p:nvPr/>
        </p:nvSpPr>
        <p:spPr>
          <a:xfrm>
            <a:off x="5720715" y="5281612"/>
            <a:ext cx="643890" cy="258128"/>
          </a:xfrm>
          <a:prstGeom prst="rect">
            <a:avLst/>
          </a:prstGeom>
          <a:solidFill>
            <a:srgbClr val="5099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Rectangle 274"/>
          <p:cNvSpPr/>
          <p:nvPr/>
        </p:nvSpPr>
        <p:spPr>
          <a:xfrm>
            <a:off x="6364605" y="5281612"/>
            <a:ext cx="643890" cy="258128"/>
          </a:xfrm>
          <a:prstGeom prst="rect">
            <a:avLst/>
          </a:prstGeom>
          <a:solidFill>
            <a:srgbClr val="378B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Rectangle 275"/>
          <p:cNvSpPr/>
          <p:nvPr/>
        </p:nvSpPr>
        <p:spPr>
          <a:xfrm>
            <a:off x="7008495" y="5281612"/>
            <a:ext cx="643890" cy="258128"/>
          </a:xfrm>
          <a:prstGeom prst="rect">
            <a:avLst/>
          </a:prstGeom>
          <a:solidFill>
            <a:srgbClr val="217DB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Rectangle 276"/>
          <p:cNvSpPr/>
          <p:nvPr/>
        </p:nvSpPr>
        <p:spPr>
          <a:xfrm>
            <a:off x="7652385" y="5281612"/>
            <a:ext cx="643890" cy="258128"/>
          </a:xfrm>
          <a:prstGeom prst="rect">
            <a:avLst/>
          </a:prstGeom>
          <a:solidFill>
            <a:srgbClr val="0F73A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Rectangle 277"/>
          <p:cNvSpPr/>
          <p:nvPr/>
        </p:nvSpPr>
        <p:spPr>
          <a:xfrm>
            <a:off x="8296275" y="5281612"/>
            <a:ext cx="643890" cy="258128"/>
          </a:xfrm>
          <a:prstGeom prst="rect">
            <a:avLst/>
          </a:prstGeom>
          <a:solidFill>
            <a:srgbClr val="0D619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Rectangle 278"/>
          <p:cNvSpPr/>
          <p:nvPr/>
        </p:nvSpPr>
        <p:spPr>
          <a:xfrm>
            <a:off x="8940165" y="5281612"/>
            <a:ext cx="643890" cy="258128"/>
          </a:xfrm>
          <a:prstGeom prst="rect">
            <a:avLst/>
          </a:prstGeom>
          <a:solidFill>
            <a:srgbClr val="0D649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Rectangle 279"/>
          <p:cNvSpPr/>
          <p:nvPr/>
        </p:nvSpPr>
        <p:spPr>
          <a:xfrm>
            <a:off x="9584055" y="5281612"/>
            <a:ext cx="643890" cy="258128"/>
          </a:xfrm>
          <a:prstGeom prst="rect">
            <a:avLst/>
          </a:prstGeom>
          <a:solidFill>
            <a:srgbClr val="0F73A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Rectangle 280"/>
          <p:cNvSpPr/>
          <p:nvPr/>
        </p:nvSpPr>
        <p:spPr>
          <a:xfrm>
            <a:off x="10227945" y="5281612"/>
            <a:ext cx="643890" cy="258128"/>
          </a:xfrm>
          <a:prstGeom prst="rect">
            <a:avLst/>
          </a:prstGeom>
          <a:solidFill>
            <a:srgbClr val="217EB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Rectangle 281"/>
          <p:cNvSpPr/>
          <p:nvPr/>
        </p:nvSpPr>
        <p:spPr>
          <a:xfrm>
            <a:off x="10871835" y="5281612"/>
            <a:ext cx="643890" cy="258128"/>
          </a:xfrm>
          <a:prstGeom prst="rect">
            <a:avLst/>
          </a:prstGeom>
          <a:solidFill>
            <a:srgbClr val="3389B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TextBox 282"/>
          <p:cNvSpPr txBox="1"/>
          <p:nvPr/>
        </p:nvSpPr>
        <p:spPr>
          <a:xfrm>
            <a:off x="238125" y="5539740"/>
            <a:ext cx="1590675" cy="258128"/>
          </a:xfrm>
          <a:prstGeom prst="rect">
            <a:avLst/>
          </a:prstGeom>
          <a:noFill/>
        </p:spPr>
        <p:txBody>
          <a:bodyPr wrap="square" lIns="28575" rIns="28575" tIns="9525" bIns="9525" anchor="ctr">
            <a:spAutoFit/>
          </a:bodyPr>
          <a:lstStyle/>
          <a:p>
            <a:pPr algn="l"/>
            <a:r>
              <a:rPr sz="1100" b="0">
                <a:solidFill>
                  <a:srgbClr val="2E2E2E"/>
                </a:solidFill>
                <a:latin typeface="Calibri"/>
              </a:rPr>
              <a:t>– Retort Pouches</a:t>
            </a:r>
          </a:p>
        </p:txBody>
      </p:sp>
      <p:sp>
        <p:nvSpPr>
          <p:cNvPr id="284" name="Rectangle 283"/>
          <p:cNvSpPr/>
          <p:nvPr/>
        </p:nvSpPr>
        <p:spPr>
          <a:xfrm>
            <a:off x="1857375" y="5539740"/>
            <a:ext cx="643890" cy="258128"/>
          </a:xfrm>
          <a:prstGeom prst="rect">
            <a:avLst/>
          </a:prstGeom>
          <a:solidFill>
            <a:srgbClr val="C5D9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Rectangle 284"/>
          <p:cNvSpPr/>
          <p:nvPr/>
        </p:nvSpPr>
        <p:spPr>
          <a:xfrm>
            <a:off x="2501265" y="5539740"/>
            <a:ext cx="643890" cy="258128"/>
          </a:xfrm>
          <a:prstGeom prst="rect">
            <a:avLst/>
          </a:prstGeom>
          <a:solidFill>
            <a:srgbClr val="BBD4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Rectangle 285"/>
          <p:cNvSpPr/>
          <p:nvPr/>
        </p:nvSpPr>
        <p:spPr>
          <a:xfrm>
            <a:off x="3145155" y="5539740"/>
            <a:ext cx="643890" cy="258128"/>
          </a:xfrm>
          <a:prstGeom prst="rect">
            <a:avLst/>
          </a:prstGeom>
          <a:solidFill>
            <a:srgbClr val="AFCD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Rectangle 286"/>
          <p:cNvSpPr/>
          <p:nvPr/>
        </p:nvSpPr>
        <p:spPr>
          <a:xfrm>
            <a:off x="3789045" y="5539740"/>
            <a:ext cx="643890" cy="258128"/>
          </a:xfrm>
          <a:prstGeom prst="rect">
            <a:avLst/>
          </a:prstGeom>
          <a:solidFill>
            <a:srgbClr val="A3C7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Rectangle 287"/>
          <p:cNvSpPr/>
          <p:nvPr/>
        </p:nvSpPr>
        <p:spPr>
          <a:xfrm>
            <a:off x="4432935" y="5539740"/>
            <a:ext cx="643890" cy="258128"/>
          </a:xfrm>
          <a:prstGeom prst="rect">
            <a:avLst/>
          </a:prstGeom>
          <a:solidFill>
            <a:srgbClr val="93BD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Rectangle 288"/>
          <p:cNvSpPr/>
          <p:nvPr/>
        </p:nvSpPr>
        <p:spPr>
          <a:xfrm>
            <a:off x="5076825" y="5539740"/>
            <a:ext cx="643890" cy="258128"/>
          </a:xfrm>
          <a:prstGeom prst="rect">
            <a:avLst/>
          </a:prstGeom>
          <a:solidFill>
            <a:srgbClr val="80B3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Rectangle 289"/>
          <p:cNvSpPr/>
          <p:nvPr/>
        </p:nvSpPr>
        <p:spPr>
          <a:xfrm>
            <a:off x="5720715" y="5539740"/>
            <a:ext cx="643890" cy="258128"/>
          </a:xfrm>
          <a:prstGeom prst="rect">
            <a:avLst/>
          </a:prstGeom>
          <a:solidFill>
            <a:srgbClr val="69A7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Rectangle 290"/>
          <p:cNvSpPr/>
          <p:nvPr/>
        </p:nvSpPr>
        <p:spPr>
          <a:xfrm>
            <a:off x="6364605" y="5539740"/>
            <a:ext cx="643890" cy="258128"/>
          </a:xfrm>
          <a:prstGeom prst="rect">
            <a:avLst/>
          </a:prstGeom>
          <a:solidFill>
            <a:srgbClr val="529AC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Rectangle 291"/>
          <p:cNvSpPr/>
          <p:nvPr/>
        </p:nvSpPr>
        <p:spPr>
          <a:xfrm>
            <a:off x="7008495" y="5539740"/>
            <a:ext cx="643890" cy="258128"/>
          </a:xfrm>
          <a:prstGeom prst="rect">
            <a:avLst/>
          </a:prstGeom>
          <a:solidFill>
            <a:srgbClr val="3A8D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Rectangle 292"/>
          <p:cNvSpPr/>
          <p:nvPr/>
        </p:nvSpPr>
        <p:spPr>
          <a:xfrm>
            <a:off x="7652385" y="5539740"/>
            <a:ext cx="643890" cy="258128"/>
          </a:xfrm>
          <a:prstGeom prst="rect">
            <a:avLst/>
          </a:prstGeom>
          <a:solidFill>
            <a:srgbClr val="2D85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Rectangle 293"/>
          <p:cNvSpPr/>
          <p:nvPr/>
        </p:nvSpPr>
        <p:spPr>
          <a:xfrm>
            <a:off x="8296275" y="5539740"/>
            <a:ext cx="643890" cy="258128"/>
          </a:xfrm>
          <a:prstGeom prst="rect">
            <a:avLst/>
          </a:prstGeom>
          <a:solidFill>
            <a:srgbClr val="2882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Rectangle 294"/>
          <p:cNvSpPr/>
          <p:nvPr/>
        </p:nvSpPr>
        <p:spPr>
          <a:xfrm>
            <a:off x="8940165" y="5539740"/>
            <a:ext cx="643890" cy="258128"/>
          </a:xfrm>
          <a:prstGeom prst="rect">
            <a:avLst/>
          </a:prstGeom>
          <a:solidFill>
            <a:srgbClr val="2D85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Rectangle 295"/>
          <p:cNvSpPr/>
          <p:nvPr/>
        </p:nvSpPr>
        <p:spPr>
          <a:xfrm>
            <a:off x="9584055" y="5539740"/>
            <a:ext cx="643890" cy="258128"/>
          </a:xfrm>
          <a:prstGeom prst="rect">
            <a:avLst/>
          </a:prstGeom>
          <a:solidFill>
            <a:srgbClr val="378B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Rectangle 296"/>
          <p:cNvSpPr/>
          <p:nvPr/>
        </p:nvSpPr>
        <p:spPr>
          <a:xfrm>
            <a:off x="10227945" y="5539740"/>
            <a:ext cx="643890" cy="258128"/>
          </a:xfrm>
          <a:prstGeom prst="rect">
            <a:avLst/>
          </a:prstGeom>
          <a:solidFill>
            <a:srgbClr val="4C97C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Rectangle 297"/>
          <p:cNvSpPr/>
          <p:nvPr/>
        </p:nvSpPr>
        <p:spPr>
          <a:xfrm>
            <a:off x="10871835" y="5539740"/>
            <a:ext cx="643890" cy="258128"/>
          </a:xfrm>
          <a:prstGeom prst="rect">
            <a:avLst/>
          </a:prstGeom>
          <a:solidFill>
            <a:srgbClr val="65A4C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TextBox 298"/>
          <p:cNvSpPr txBox="1"/>
          <p:nvPr/>
        </p:nvSpPr>
        <p:spPr>
          <a:xfrm>
            <a:off x="238125" y="5797868"/>
            <a:ext cx="1590675" cy="258128"/>
          </a:xfrm>
          <a:prstGeom prst="rect">
            <a:avLst/>
          </a:prstGeom>
          <a:noFill/>
        </p:spPr>
        <p:txBody>
          <a:bodyPr wrap="square" lIns="28575" rIns="28575" tIns="9525" bIns="9525" anchor="ctr">
            <a:spAutoFit/>
          </a:bodyPr>
          <a:lstStyle/>
          <a:p>
            <a:pPr algn="l"/>
            <a:r>
              <a:rPr sz="1100" b="0">
                <a:solidFill>
                  <a:srgbClr val="2E2E2E"/>
                </a:solidFill>
                <a:latin typeface="Calibri"/>
              </a:rPr>
              <a:t>Sachets &amp; Stick Packs</a:t>
            </a:r>
          </a:p>
        </p:txBody>
      </p:sp>
      <p:sp>
        <p:nvSpPr>
          <p:cNvPr id="300" name="Rectangle 299"/>
          <p:cNvSpPr/>
          <p:nvPr/>
        </p:nvSpPr>
        <p:spPr>
          <a:xfrm>
            <a:off x="1857375" y="5797868"/>
            <a:ext cx="643890" cy="258128"/>
          </a:xfrm>
          <a:prstGeom prst="rect">
            <a:avLst/>
          </a:prstGeom>
          <a:solidFill>
            <a:srgbClr val="E1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Rectangle 300"/>
          <p:cNvSpPr/>
          <p:nvPr/>
        </p:nvSpPr>
        <p:spPr>
          <a:xfrm>
            <a:off x="2501265" y="5797868"/>
            <a:ext cx="643890" cy="258128"/>
          </a:xfrm>
          <a:prstGeom prst="rect">
            <a:avLst/>
          </a:prstGeom>
          <a:solidFill>
            <a:srgbClr val="DFED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Rectangle 301"/>
          <p:cNvSpPr/>
          <p:nvPr/>
        </p:nvSpPr>
        <p:spPr>
          <a:xfrm>
            <a:off x="3145155" y="5797868"/>
            <a:ext cx="643890" cy="258128"/>
          </a:xfrm>
          <a:prstGeom prst="rect">
            <a:avLst/>
          </a:prstGeom>
          <a:solidFill>
            <a:srgbClr val="DD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ectangle 302"/>
          <p:cNvSpPr/>
          <p:nvPr/>
        </p:nvSpPr>
        <p:spPr>
          <a:xfrm>
            <a:off x="3789045" y="5797868"/>
            <a:ext cx="643890" cy="258128"/>
          </a:xfrm>
          <a:prstGeom prst="rect">
            <a:avLst/>
          </a:prstGeom>
          <a:solidFill>
            <a:srgbClr val="DA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Rectangle 303"/>
          <p:cNvSpPr/>
          <p:nvPr/>
        </p:nvSpPr>
        <p:spPr>
          <a:xfrm>
            <a:off x="4432935" y="5797868"/>
            <a:ext cx="643890" cy="258128"/>
          </a:xfrm>
          <a:prstGeom prst="rect">
            <a:avLst/>
          </a:prstGeom>
          <a:solidFill>
            <a:srgbClr val="CD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Rectangle 304"/>
          <p:cNvSpPr/>
          <p:nvPr/>
        </p:nvSpPr>
        <p:spPr>
          <a:xfrm>
            <a:off x="5076825" y="5797868"/>
            <a:ext cx="643890" cy="258128"/>
          </a:xfrm>
          <a:prstGeom prst="rect">
            <a:avLst/>
          </a:prstGeom>
          <a:solidFill>
            <a:srgbClr val="B6D1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ectangle 305"/>
          <p:cNvSpPr/>
          <p:nvPr/>
        </p:nvSpPr>
        <p:spPr>
          <a:xfrm>
            <a:off x="5720715" y="5797868"/>
            <a:ext cx="643890" cy="258128"/>
          </a:xfrm>
          <a:prstGeom prst="rect">
            <a:avLst/>
          </a:prstGeom>
          <a:solidFill>
            <a:srgbClr val="98C0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Rectangle 306"/>
          <p:cNvSpPr/>
          <p:nvPr/>
        </p:nvSpPr>
        <p:spPr>
          <a:xfrm>
            <a:off x="6364605" y="5797868"/>
            <a:ext cx="643890" cy="258128"/>
          </a:xfrm>
          <a:prstGeom prst="rect">
            <a:avLst/>
          </a:prstGeom>
          <a:solidFill>
            <a:srgbClr val="70AAD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Rectangle 307"/>
          <p:cNvSpPr/>
          <p:nvPr/>
        </p:nvSpPr>
        <p:spPr>
          <a:xfrm>
            <a:off x="7008495" y="5797868"/>
            <a:ext cx="643890" cy="258128"/>
          </a:xfrm>
          <a:prstGeom prst="rect">
            <a:avLst/>
          </a:prstGeom>
          <a:solidFill>
            <a:srgbClr val="4E98C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ectangle 308"/>
          <p:cNvSpPr/>
          <p:nvPr/>
        </p:nvSpPr>
        <p:spPr>
          <a:xfrm>
            <a:off x="7652385" y="5797868"/>
            <a:ext cx="643890" cy="258128"/>
          </a:xfrm>
          <a:prstGeom prst="rect">
            <a:avLst/>
          </a:prstGeom>
          <a:solidFill>
            <a:srgbClr val="3C8E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Rectangle 309"/>
          <p:cNvSpPr/>
          <p:nvPr/>
        </p:nvSpPr>
        <p:spPr>
          <a:xfrm>
            <a:off x="8296275" y="5797868"/>
            <a:ext cx="643890" cy="258128"/>
          </a:xfrm>
          <a:prstGeom prst="rect">
            <a:avLst/>
          </a:prstGeom>
          <a:solidFill>
            <a:srgbClr val="368AC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Rectangle 310"/>
          <p:cNvSpPr/>
          <p:nvPr/>
        </p:nvSpPr>
        <p:spPr>
          <a:xfrm>
            <a:off x="8940165" y="5797868"/>
            <a:ext cx="643890" cy="258128"/>
          </a:xfrm>
          <a:prstGeom prst="rect">
            <a:avLst/>
          </a:prstGeom>
          <a:solidFill>
            <a:srgbClr val="3489C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ectangle 311"/>
          <p:cNvSpPr/>
          <p:nvPr/>
        </p:nvSpPr>
        <p:spPr>
          <a:xfrm>
            <a:off x="9584055" y="5797868"/>
            <a:ext cx="643890" cy="258128"/>
          </a:xfrm>
          <a:prstGeom prst="rect">
            <a:avLst/>
          </a:prstGeom>
          <a:solidFill>
            <a:srgbClr val="3B8D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Rectangle 312"/>
          <p:cNvSpPr/>
          <p:nvPr/>
        </p:nvSpPr>
        <p:spPr>
          <a:xfrm>
            <a:off x="10227945" y="5797868"/>
            <a:ext cx="643890" cy="258128"/>
          </a:xfrm>
          <a:prstGeom prst="rect">
            <a:avLst/>
          </a:prstGeom>
          <a:solidFill>
            <a:srgbClr val="529A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Rectangle 313"/>
          <p:cNvSpPr/>
          <p:nvPr/>
        </p:nvSpPr>
        <p:spPr>
          <a:xfrm>
            <a:off x="10871835" y="5797868"/>
            <a:ext cx="643890" cy="258128"/>
          </a:xfrm>
          <a:prstGeom prst="rect">
            <a:avLst/>
          </a:prstGeom>
          <a:solidFill>
            <a:srgbClr val="6AA7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TextBox 314"/>
          <p:cNvSpPr txBox="1"/>
          <p:nvPr/>
        </p:nvSpPr>
        <p:spPr>
          <a:xfrm>
            <a:off x="238125" y="6055995"/>
            <a:ext cx="1590675" cy="258128"/>
          </a:xfrm>
          <a:prstGeom prst="rect">
            <a:avLst/>
          </a:prstGeom>
          <a:noFill/>
        </p:spPr>
        <p:txBody>
          <a:bodyPr wrap="square" lIns="28575" rIns="28575" tIns="9525" bIns="9525" anchor="ctr">
            <a:spAutoFit/>
          </a:bodyPr>
          <a:lstStyle/>
          <a:p>
            <a:pPr algn="l"/>
            <a:r>
              <a:rPr sz="1100" b="0">
                <a:solidFill>
                  <a:srgbClr val="2E2E2E"/>
                </a:solidFill>
                <a:latin typeface="Calibri"/>
              </a:rPr>
              <a:t>– Sachets</a:t>
            </a:r>
          </a:p>
        </p:txBody>
      </p:sp>
      <p:sp>
        <p:nvSpPr>
          <p:cNvPr id="316" name="Rectangle 315"/>
          <p:cNvSpPr/>
          <p:nvPr/>
        </p:nvSpPr>
        <p:spPr>
          <a:xfrm>
            <a:off x="1857375" y="6055995"/>
            <a:ext cx="643890" cy="258128"/>
          </a:xfrm>
          <a:prstGeom prst="rect">
            <a:avLst/>
          </a:prstGeom>
          <a:solidFill>
            <a:srgbClr val="DFED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Rectangle 316"/>
          <p:cNvSpPr/>
          <p:nvPr/>
        </p:nvSpPr>
        <p:spPr>
          <a:xfrm>
            <a:off x="2501265" y="6055995"/>
            <a:ext cx="643890" cy="258128"/>
          </a:xfrm>
          <a:prstGeom prst="rect">
            <a:avLst/>
          </a:prstGeom>
          <a:solidFill>
            <a:srgbClr val="DD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Rectangle 317"/>
          <p:cNvSpPr/>
          <p:nvPr/>
        </p:nvSpPr>
        <p:spPr>
          <a:xfrm>
            <a:off x="3145155" y="6055995"/>
            <a:ext cx="643890" cy="258128"/>
          </a:xfrm>
          <a:prstGeom prst="rect">
            <a:avLst/>
          </a:prstGeom>
          <a:solidFill>
            <a:srgbClr val="DBEA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Rectangle 318"/>
          <p:cNvSpPr/>
          <p:nvPr/>
        </p:nvSpPr>
        <p:spPr>
          <a:xfrm>
            <a:off x="3789045" y="6055995"/>
            <a:ext cx="643890" cy="258128"/>
          </a:xfrm>
          <a:prstGeom prst="rect">
            <a:avLst/>
          </a:prstGeom>
          <a:solidFill>
            <a:srgbClr val="D7E6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Rectangle 319"/>
          <p:cNvSpPr/>
          <p:nvPr/>
        </p:nvSpPr>
        <p:spPr>
          <a:xfrm>
            <a:off x="4432935" y="6055995"/>
            <a:ext cx="643890" cy="258128"/>
          </a:xfrm>
          <a:prstGeom prst="rect">
            <a:avLst/>
          </a:prstGeom>
          <a:solidFill>
            <a:srgbClr val="CADC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Rectangle 320"/>
          <p:cNvSpPr/>
          <p:nvPr/>
        </p:nvSpPr>
        <p:spPr>
          <a:xfrm>
            <a:off x="5076825" y="6055995"/>
            <a:ext cx="643890" cy="258128"/>
          </a:xfrm>
          <a:prstGeom prst="rect">
            <a:avLst/>
          </a:prstGeom>
          <a:solidFill>
            <a:srgbClr val="B1CE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Rectangle 321"/>
          <p:cNvSpPr/>
          <p:nvPr/>
        </p:nvSpPr>
        <p:spPr>
          <a:xfrm>
            <a:off x="5720715" y="6055995"/>
            <a:ext cx="643890" cy="258128"/>
          </a:xfrm>
          <a:prstGeom prst="rect">
            <a:avLst/>
          </a:prstGeom>
          <a:solidFill>
            <a:srgbClr val="94BE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Rectangle 322"/>
          <p:cNvSpPr/>
          <p:nvPr/>
        </p:nvSpPr>
        <p:spPr>
          <a:xfrm>
            <a:off x="6364605" y="6055995"/>
            <a:ext cx="643890" cy="258128"/>
          </a:xfrm>
          <a:prstGeom prst="rect">
            <a:avLst/>
          </a:prstGeom>
          <a:solidFill>
            <a:srgbClr val="6BA7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Rectangle 323"/>
          <p:cNvSpPr/>
          <p:nvPr/>
        </p:nvSpPr>
        <p:spPr>
          <a:xfrm>
            <a:off x="7008495" y="6055995"/>
            <a:ext cx="643890" cy="258128"/>
          </a:xfrm>
          <a:prstGeom prst="rect">
            <a:avLst/>
          </a:prstGeom>
          <a:solidFill>
            <a:srgbClr val="4794C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Rectangle 324"/>
          <p:cNvSpPr/>
          <p:nvPr/>
        </p:nvSpPr>
        <p:spPr>
          <a:xfrm>
            <a:off x="7652385" y="6055995"/>
            <a:ext cx="643890" cy="258128"/>
          </a:xfrm>
          <a:prstGeom prst="rect">
            <a:avLst/>
          </a:prstGeom>
          <a:solidFill>
            <a:srgbClr val="378B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Rectangle 325"/>
          <p:cNvSpPr/>
          <p:nvPr/>
        </p:nvSpPr>
        <p:spPr>
          <a:xfrm>
            <a:off x="8296275" y="6055995"/>
            <a:ext cx="643890" cy="258128"/>
          </a:xfrm>
          <a:prstGeom prst="rect">
            <a:avLst/>
          </a:prstGeom>
          <a:solidFill>
            <a:srgbClr val="3087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Rectangle 326"/>
          <p:cNvSpPr/>
          <p:nvPr/>
        </p:nvSpPr>
        <p:spPr>
          <a:xfrm>
            <a:off x="8940165" y="6055995"/>
            <a:ext cx="643890" cy="258128"/>
          </a:xfrm>
          <a:prstGeom prst="rect">
            <a:avLst/>
          </a:prstGeom>
          <a:solidFill>
            <a:srgbClr val="3086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Rectangle 327"/>
          <p:cNvSpPr/>
          <p:nvPr/>
        </p:nvSpPr>
        <p:spPr>
          <a:xfrm>
            <a:off x="9584055" y="6055995"/>
            <a:ext cx="643890" cy="258128"/>
          </a:xfrm>
          <a:prstGeom prst="rect">
            <a:avLst/>
          </a:prstGeom>
          <a:solidFill>
            <a:srgbClr val="378B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Rectangle 328"/>
          <p:cNvSpPr/>
          <p:nvPr/>
        </p:nvSpPr>
        <p:spPr>
          <a:xfrm>
            <a:off x="10227945" y="6055995"/>
            <a:ext cx="643890" cy="258128"/>
          </a:xfrm>
          <a:prstGeom prst="rect">
            <a:avLst/>
          </a:prstGeom>
          <a:solidFill>
            <a:srgbClr val="4B96C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Rectangle 329"/>
          <p:cNvSpPr/>
          <p:nvPr/>
        </p:nvSpPr>
        <p:spPr>
          <a:xfrm>
            <a:off x="10871835" y="6055995"/>
            <a:ext cx="643890" cy="258128"/>
          </a:xfrm>
          <a:prstGeom prst="rect">
            <a:avLst/>
          </a:prstGeom>
          <a:solidFill>
            <a:srgbClr val="64A4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TextBox 330"/>
          <p:cNvSpPr txBox="1"/>
          <p:nvPr/>
        </p:nvSpPr>
        <p:spPr>
          <a:xfrm>
            <a:off x="238125" y="6314122"/>
            <a:ext cx="1590675" cy="258128"/>
          </a:xfrm>
          <a:prstGeom prst="rect">
            <a:avLst/>
          </a:prstGeom>
          <a:noFill/>
        </p:spPr>
        <p:txBody>
          <a:bodyPr wrap="square" lIns="28575" rIns="28575" tIns="9525" bIns="9525" anchor="ctr">
            <a:spAutoFit/>
          </a:bodyPr>
          <a:lstStyle/>
          <a:p>
            <a:pPr algn="l"/>
            <a:r>
              <a:rPr sz="1100" b="0">
                <a:solidFill>
                  <a:srgbClr val="2E2E2E"/>
                </a:solidFill>
                <a:latin typeface="Calibri"/>
              </a:rPr>
              <a:t>– Stick Packs</a:t>
            </a:r>
          </a:p>
        </p:txBody>
      </p:sp>
      <p:sp>
        <p:nvSpPr>
          <p:cNvPr id="332" name="Rectangle 331"/>
          <p:cNvSpPr/>
          <p:nvPr/>
        </p:nvSpPr>
        <p:spPr>
          <a:xfrm>
            <a:off x="1857375" y="6314122"/>
            <a:ext cx="643890" cy="258128"/>
          </a:xfrm>
          <a:prstGeom prst="rect">
            <a:avLst/>
          </a:prstGeom>
          <a:solidFill>
            <a:srgbClr val="EDF7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Rectangle 332"/>
          <p:cNvSpPr/>
          <p:nvPr/>
        </p:nvSpPr>
        <p:spPr>
          <a:xfrm>
            <a:off x="2501265" y="6314122"/>
            <a:ext cx="643890" cy="258128"/>
          </a:xfrm>
          <a:prstGeom prst="rect">
            <a:avLst/>
          </a:prstGeom>
          <a:solidFill>
            <a:srgbClr val="EC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Rectangle 333"/>
          <p:cNvSpPr/>
          <p:nvPr/>
        </p:nvSpPr>
        <p:spPr>
          <a:xfrm>
            <a:off x="3145155" y="6314122"/>
            <a:ext cx="643890" cy="258128"/>
          </a:xfrm>
          <a:prstGeom prst="rect">
            <a:avLst/>
          </a:prstGeom>
          <a:solidFill>
            <a:srgbClr val="EC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Rectangle 334"/>
          <p:cNvSpPr/>
          <p:nvPr/>
        </p:nvSpPr>
        <p:spPr>
          <a:xfrm>
            <a:off x="3789045" y="6314122"/>
            <a:ext cx="643890" cy="258128"/>
          </a:xfrm>
          <a:prstGeom prst="rect">
            <a:avLst/>
          </a:prstGeom>
          <a:solidFill>
            <a:srgbClr val="E9F5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Rectangle 335"/>
          <p:cNvSpPr/>
          <p:nvPr/>
        </p:nvSpPr>
        <p:spPr>
          <a:xfrm>
            <a:off x="4432935" y="6314122"/>
            <a:ext cx="643890" cy="258128"/>
          </a:xfrm>
          <a:prstGeom prst="rect">
            <a:avLst/>
          </a:prstGeom>
          <a:solidFill>
            <a:srgbClr val="DD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Rectangle 336"/>
          <p:cNvSpPr/>
          <p:nvPr/>
        </p:nvSpPr>
        <p:spPr>
          <a:xfrm>
            <a:off x="5076825" y="6314122"/>
            <a:ext cx="643890" cy="258128"/>
          </a:xfrm>
          <a:prstGeom prst="rect">
            <a:avLst/>
          </a:prstGeom>
          <a:solidFill>
            <a:srgbClr val="CCDE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Rectangle 337"/>
          <p:cNvSpPr/>
          <p:nvPr/>
        </p:nvSpPr>
        <p:spPr>
          <a:xfrm>
            <a:off x="5720715" y="6314122"/>
            <a:ext cx="643890" cy="258128"/>
          </a:xfrm>
          <a:prstGeom prst="rect">
            <a:avLst/>
          </a:prstGeom>
          <a:solidFill>
            <a:srgbClr val="ABCB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Rectangle 338"/>
          <p:cNvSpPr/>
          <p:nvPr/>
        </p:nvSpPr>
        <p:spPr>
          <a:xfrm>
            <a:off x="6364605" y="6314122"/>
            <a:ext cx="643890" cy="258128"/>
          </a:xfrm>
          <a:prstGeom prst="rect">
            <a:avLst/>
          </a:prstGeom>
          <a:solidFill>
            <a:srgbClr val="8AB8D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Rectangle 339"/>
          <p:cNvSpPr/>
          <p:nvPr/>
        </p:nvSpPr>
        <p:spPr>
          <a:xfrm>
            <a:off x="7008495" y="6314122"/>
            <a:ext cx="643890" cy="258128"/>
          </a:xfrm>
          <a:prstGeom prst="rect">
            <a:avLst/>
          </a:prstGeom>
          <a:solidFill>
            <a:srgbClr val="6EA9D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Rectangle 340"/>
          <p:cNvSpPr/>
          <p:nvPr/>
        </p:nvSpPr>
        <p:spPr>
          <a:xfrm>
            <a:off x="7652385" y="6314122"/>
            <a:ext cx="643890" cy="258128"/>
          </a:xfrm>
          <a:prstGeom prst="rect">
            <a:avLst/>
          </a:prstGeom>
          <a:solidFill>
            <a:srgbClr val="64A4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Rectangle 341"/>
          <p:cNvSpPr/>
          <p:nvPr/>
        </p:nvSpPr>
        <p:spPr>
          <a:xfrm>
            <a:off x="8296275" y="6314122"/>
            <a:ext cx="643890" cy="258128"/>
          </a:xfrm>
          <a:prstGeom prst="rect">
            <a:avLst/>
          </a:prstGeom>
          <a:solidFill>
            <a:srgbClr val="5EA0C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Rectangle 342"/>
          <p:cNvSpPr/>
          <p:nvPr/>
        </p:nvSpPr>
        <p:spPr>
          <a:xfrm>
            <a:off x="8940165" y="6314122"/>
            <a:ext cx="643890" cy="258128"/>
          </a:xfrm>
          <a:prstGeom prst="rect">
            <a:avLst/>
          </a:prstGeom>
          <a:solidFill>
            <a:srgbClr val="559CC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Rectangle 343"/>
          <p:cNvSpPr/>
          <p:nvPr/>
        </p:nvSpPr>
        <p:spPr>
          <a:xfrm>
            <a:off x="9584055" y="6314122"/>
            <a:ext cx="643890" cy="258128"/>
          </a:xfrm>
          <a:prstGeom prst="rect">
            <a:avLst/>
          </a:prstGeom>
          <a:solidFill>
            <a:srgbClr val="5DA0C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Rectangle 344"/>
          <p:cNvSpPr/>
          <p:nvPr/>
        </p:nvSpPr>
        <p:spPr>
          <a:xfrm>
            <a:off x="10227945" y="6314122"/>
            <a:ext cx="643890" cy="258128"/>
          </a:xfrm>
          <a:prstGeom prst="rect">
            <a:avLst/>
          </a:prstGeom>
          <a:solidFill>
            <a:srgbClr val="73ACD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Rectangle 345"/>
          <p:cNvSpPr/>
          <p:nvPr/>
        </p:nvSpPr>
        <p:spPr>
          <a:xfrm>
            <a:off x="10871835" y="6314122"/>
            <a:ext cx="643890" cy="258128"/>
          </a:xfrm>
          <a:prstGeom prst="rect">
            <a:avLst/>
          </a:prstGeom>
          <a:solidFill>
            <a:srgbClr val="8CB9D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Rectangle 346"/>
          <p:cNvSpPr/>
          <p:nvPr/>
        </p:nvSpPr>
        <p:spPr>
          <a:xfrm>
            <a:off x="11572875" y="1447800"/>
            <a:ext cx="104775" cy="134779"/>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Rectangle 347"/>
          <p:cNvSpPr/>
          <p:nvPr/>
        </p:nvSpPr>
        <p:spPr>
          <a:xfrm>
            <a:off x="11572875" y="1574959"/>
            <a:ext cx="104775" cy="134779"/>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Rectangle 348"/>
          <p:cNvSpPr/>
          <p:nvPr/>
        </p:nvSpPr>
        <p:spPr>
          <a:xfrm>
            <a:off x="11572875" y="1702118"/>
            <a:ext cx="104775" cy="134779"/>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Rectangle 349"/>
          <p:cNvSpPr/>
          <p:nvPr/>
        </p:nvSpPr>
        <p:spPr>
          <a:xfrm>
            <a:off x="11572875" y="1829276"/>
            <a:ext cx="104775" cy="134779"/>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Rectangle 350"/>
          <p:cNvSpPr/>
          <p:nvPr/>
        </p:nvSpPr>
        <p:spPr>
          <a:xfrm>
            <a:off x="11572875" y="1956435"/>
            <a:ext cx="104775" cy="134779"/>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Rectangle 351"/>
          <p:cNvSpPr/>
          <p:nvPr/>
        </p:nvSpPr>
        <p:spPr>
          <a:xfrm>
            <a:off x="11572875" y="2083594"/>
            <a:ext cx="104775" cy="134779"/>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Rectangle 352"/>
          <p:cNvSpPr/>
          <p:nvPr/>
        </p:nvSpPr>
        <p:spPr>
          <a:xfrm>
            <a:off x="11572875" y="2210752"/>
            <a:ext cx="104775" cy="134779"/>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Rectangle 353"/>
          <p:cNvSpPr/>
          <p:nvPr/>
        </p:nvSpPr>
        <p:spPr>
          <a:xfrm>
            <a:off x="11572875" y="2337911"/>
            <a:ext cx="104775" cy="134779"/>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Rectangle 354"/>
          <p:cNvSpPr/>
          <p:nvPr/>
        </p:nvSpPr>
        <p:spPr>
          <a:xfrm>
            <a:off x="11572875" y="2465070"/>
            <a:ext cx="104775" cy="134779"/>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Rectangle 355"/>
          <p:cNvSpPr/>
          <p:nvPr/>
        </p:nvSpPr>
        <p:spPr>
          <a:xfrm>
            <a:off x="11572875" y="2592229"/>
            <a:ext cx="104775" cy="134779"/>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Rectangle 356"/>
          <p:cNvSpPr/>
          <p:nvPr/>
        </p:nvSpPr>
        <p:spPr>
          <a:xfrm>
            <a:off x="11572875" y="2719388"/>
            <a:ext cx="104775" cy="134779"/>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Rectangle 357"/>
          <p:cNvSpPr/>
          <p:nvPr/>
        </p:nvSpPr>
        <p:spPr>
          <a:xfrm>
            <a:off x="11572875" y="2846546"/>
            <a:ext cx="104775" cy="134779"/>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Rectangle 358"/>
          <p:cNvSpPr/>
          <p:nvPr/>
        </p:nvSpPr>
        <p:spPr>
          <a:xfrm>
            <a:off x="11572875" y="2973705"/>
            <a:ext cx="104775" cy="134779"/>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Rectangle 359"/>
          <p:cNvSpPr/>
          <p:nvPr/>
        </p:nvSpPr>
        <p:spPr>
          <a:xfrm>
            <a:off x="11572875" y="3100864"/>
            <a:ext cx="104775" cy="134779"/>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Rectangle 360"/>
          <p:cNvSpPr/>
          <p:nvPr/>
        </p:nvSpPr>
        <p:spPr>
          <a:xfrm>
            <a:off x="11572875" y="3228022"/>
            <a:ext cx="104775" cy="134779"/>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Rectangle 361"/>
          <p:cNvSpPr/>
          <p:nvPr/>
        </p:nvSpPr>
        <p:spPr>
          <a:xfrm>
            <a:off x="11572875" y="3355181"/>
            <a:ext cx="104775" cy="134779"/>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Rectangle 362"/>
          <p:cNvSpPr/>
          <p:nvPr/>
        </p:nvSpPr>
        <p:spPr>
          <a:xfrm>
            <a:off x="11572875" y="3482340"/>
            <a:ext cx="104775" cy="134779"/>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Rectangle 363"/>
          <p:cNvSpPr/>
          <p:nvPr/>
        </p:nvSpPr>
        <p:spPr>
          <a:xfrm>
            <a:off x="11572875" y="3609499"/>
            <a:ext cx="104775" cy="134779"/>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Rectangle 364"/>
          <p:cNvSpPr/>
          <p:nvPr/>
        </p:nvSpPr>
        <p:spPr>
          <a:xfrm>
            <a:off x="11572875" y="3736657"/>
            <a:ext cx="104775" cy="134779"/>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Rectangle 365"/>
          <p:cNvSpPr/>
          <p:nvPr/>
        </p:nvSpPr>
        <p:spPr>
          <a:xfrm>
            <a:off x="11572875" y="3863816"/>
            <a:ext cx="104775" cy="134779"/>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Rectangle 366"/>
          <p:cNvSpPr/>
          <p:nvPr/>
        </p:nvSpPr>
        <p:spPr>
          <a:xfrm>
            <a:off x="11572875" y="3990975"/>
            <a:ext cx="104775" cy="134779"/>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Rectangle 367"/>
          <p:cNvSpPr/>
          <p:nvPr/>
        </p:nvSpPr>
        <p:spPr>
          <a:xfrm>
            <a:off x="11572875" y="4118134"/>
            <a:ext cx="104775" cy="134779"/>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Rectangle 368"/>
          <p:cNvSpPr/>
          <p:nvPr/>
        </p:nvSpPr>
        <p:spPr>
          <a:xfrm>
            <a:off x="11572875" y="4245292"/>
            <a:ext cx="104775" cy="134779"/>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Rectangle 369"/>
          <p:cNvSpPr/>
          <p:nvPr/>
        </p:nvSpPr>
        <p:spPr>
          <a:xfrm>
            <a:off x="11572875" y="4372451"/>
            <a:ext cx="104775" cy="134779"/>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Rectangle 370"/>
          <p:cNvSpPr/>
          <p:nvPr/>
        </p:nvSpPr>
        <p:spPr>
          <a:xfrm>
            <a:off x="11572875" y="4499610"/>
            <a:ext cx="104775" cy="134779"/>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2" name="Rectangle 371"/>
          <p:cNvSpPr/>
          <p:nvPr/>
        </p:nvSpPr>
        <p:spPr>
          <a:xfrm>
            <a:off x="11572875" y="4626769"/>
            <a:ext cx="104775" cy="134779"/>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Rectangle 372"/>
          <p:cNvSpPr/>
          <p:nvPr/>
        </p:nvSpPr>
        <p:spPr>
          <a:xfrm>
            <a:off x="11572875" y="4753928"/>
            <a:ext cx="104775" cy="134779"/>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Rectangle 373"/>
          <p:cNvSpPr/>
          <p:nvPr/>
        </p:nvSpPr>
        <p:spPr>
          <a:xfrm>
            <a:off x="11572875" y="4881086"/>
            <a:ext cx="104775" cy="134779"/>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5" name="Rectangle 374"/>
          <p:cNvSpPr/>
          <p:nvPr/>
        </p:nvSpPr>
        <p:spPr>
          <a:xfrm>
            <a:off x="11572875" y="5008245"/>
            <a:ext cx="104775" cy="134779"/>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Rectangle 375"/>
          <p:cNvSpPr/>
          <p:nvPr/>
        </p:nvSpPr>
        <p:spPr>
          <a:xfrm>
            <a:off x="11572875" y="5135404"/>
            <a:ext cx="104775" cy="134779"/>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7" name="Rectangle 376"/>
          <p:cNvSpPr/>
          <p:nvPr/>
        </p:nvSpPr>
        <p:spPr>
          <a:xfrm>
            <a:off x="11572875" y="5262562"/>
            <a:ext cx="104775" cy="134779"/>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Rectangle 377"/>
          <p:cNvSpPr/>
          <p:nvPr/>
        </p:nvSpPr>
        <p:spPr>
          <a:xfrm>
            <a:off x="11572875" y="5389721"/>
            <a:ext cx="104775" cy="134779"/>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Rectangle 378"/>
          <p:cNvSpPr/>
          <p:nvPr/>
        </p:nvSpPr>
        <p:spPr>
          <a:xfrm>
            <a:off x="11572875" y="5516880"/>
            <a:ext cx="104775" cy="134779"/>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0" name="Rectangle 379"/>
          <p:cNvSpPr/>
          <p:nvPr/>
        </p:nvSpPr>
        <p:spPr>
          <a:xfrm>
            <a:off x="11572875" y="5644039"/>
            <a:ext cx="104775" cy="134779"/>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1" name="Rectangle 380"/>
          <p:cNvSpPr/>
          <p:nvPr/>
        </p:nvSpPr>
        <p:spPr>
          <a:xfrm>
            <a:off x="11572875" y="5771198"/>
            <a:ext cx="104775" cy="134779"/>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Rectangle 381"/>
          <p:cNvSpPr/>
          <p:nvPr/>
        </p:nvSpPr>
        <p:spPr>
          <a:xfrm>
            <a:off x="11572875" y="5898356"/>
            <a:ext cx="104775" cy="134779"/>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3" name="Rectangle 382"/>
          <p:cNvSpPr/>
          <p:nvPr/>
        </p:nvSpPr>
        <p:spPr>
          <a:xfrm>
            <a:off x="11572875" y="6025515"/>
            <a:ext cx="104775" cy="134779"/>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4" name="Rectangle 383"/>
          <p:cNvSpPr/>
          <p:nvPr/>
        </p:nvSpPr>
        <p:spPr>
          <a:xfrm>
            <a:off x="11572875" y="6152674"/>
            <a:ext cx="104775" cy="134779"/>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5" name="Rectangle 384"/>
          <p:cNvSpPr/>
          <p:nvPr/>
        </p:nvSpPr>
        <p:spPr>
          <a:xfrm>
            <a:off x="11572875" y="6279832"/>
            <a:ext cx="104775" cy="134779"/>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Rectangle 385"/>
          <p:cNvSpPr/>
          <p:nvPr/>
        </p:nvSpPr>
        <p:spPr>
          <a:xfrm>
            <a:off x="11572875" y="6406991"/>
            <a:ext cx="104775" cy="134779"/>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Rectangle 386"/>
          <p:cNvSpPr/>
          <p:nvPr/>
        </p:nvSpPr>
        <p:spPr>
          <a:xfrm>
            <a:off x="11572875" y="1447800"/>
            <a:ext cx="104775" cy="5086350"/>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8" name="TextBox 387"/>
          <p:cNvSpPr txBox="1"/>
          <p:nvPr/>
        </p:nvSpPr>
        <p:spPr>
          <a:xfrm>
            <a:off x="11687175" y="1381125"/>
            <a:ext cx="276225" cy="133350"/>
          </a:xfrm>
          <a:prstGeom prst="rect">
            <a:avLst/>
          </a:prstGeom>
          <a:noFill/>
        </p:spPr>
        <p:txBody>
          <a:bodyPr wrap="none" lIns="0" rIns="0" tIns="0" bIns="0" anchor="ctr">
            <a:spAutoFit/>
          </a:bodyPr>
          <a:lstStyle/>
          <a:p>
            <a:pPr algn="l"/>
            <a:r>
              <a:rPr sz="1100" b="0">
                <a:solidFill>
                  <a:srgbClr val="6C7A89"/>
                </a:solidFill>
                <a:latin typeface="Calibri"/>
              </a:rPr>
              <a:t>6%</a:t>
            </a:r>
          </a:p>
        </p:txBody>
      </p:sp>
      <p:sp>
        <p:nvSpPr>
          <p:cNvPr id="389" name="TextBox 388"/>
          <p:cNvSpPr txBox="1"/>
          <p:nvPr/>
        </p:nvSpPr>
        <p:spPr>
          <a:xfrm>
            <a:off x="11687175" y="3924300"/>
            <a:ext cx="276225" cy="133350"/>
          </a:xfrm>
          <a:prstGeom prst="rect">
            <a:avLst/>
          </a:prstGeom>
          <a:noFill/>
        </p:spPr>
        <p:txBody>
          <a:bodyPr wrap="none" lIns="0" rIns="0" tIns="0" bIns="0" anchor="ctr">
            <a:spAutoFit/>
          </a:bodyPr>
          <a:lstStyle/>
          <a:p>
            <a:pPr algn="l"/>
            <a:r>
              <a:rPr sz="1100" b="0">
                <a:solidFill>
                  <a:srgbClr val="6C7A89"/>
                </a:solidFill>
                <a:latin typeface="Calibri"/>
              </a:rPr>
              <a:t>5%</a:t>
            </a:r>
          </a:p>
        </p:txBody>
      </p:sp>
      <p:sp>
        <p:nvSpPr>
          <p:cNvPr id="390" name="TextBox 389"/>
          <p:cNvSpPr txBox="1"/>
          <p:nvPr/>
        </p:nvSpPr>
        <p:spPr>
          <a:xfrm>
            <a:off x="11687175" y="6467475"/>
            <a:ext cx="276225" cy="133350"/>
          </a:xfrm>
          <a:prstGeom prst="rect">
            <a:avLst/>
          </a:prstGeom>
          <a:noFill/>
        </p:spPr>
        <p:txBody>
          <a:bodyPr wrap="none" lIns="0" rIns="0" tIns="0" bIns="0" anchor="ctr">
            <a:spAutoFit/>
          </a:bodyPr>
          <a:lstStyle/>
          <a:p>
            <a:pPr algn="l"/>
            <a:r>
              <a:rPr sz="1100" b="0">
                <a:solidFill>
                  <a:srgbClr val="6C7A89"/>
                </a:solidFill>
                <a:latin typeface="Calibri"/>
              </a:rPr>
              <a:t>3%</a:t>
            </a:r>
          </a:p>
        </p:txBody>
      </p:sp>
      <p:sp>
        <p:nvSpPr>
          <p:cNvPr id="391" name="TextBox 39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YoY Analysis of Global Market Value, By Product Type (%)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Year-on-year value growth by Product Type, 2022–2036, highlighting acceleration and slowdown</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4991100"/>
          </a:xfrm>
          <a:prstGeom prst="roundRect">
            <a:avLst>
              <a:gd name="adj" fmla="val 15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YoY Growth, By Product Type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3" name="Table 12"/>
          <p:cNvGraphicFramePr>
            <a:graphicFrameLocks noGrp="1"/>
          </p:cNvGraphicFramePr>
          <p:nvPr/>
        </p:nvGraphicFramePr>
        <p:xfrm>
          <a:off x="152400" y="1238250"/>
          <a:ext cx="11887202" cy="4524385"/>
        </p:xfrm>
        <a:graphic>
          <a:graphicData uri="http://schemas.openxmlformats.org/drawingml/2006/table">
            <a:tbl>
              <a:tblPr>
                <a:tableStyleId>{5C22544A-7EE6-4342-B048-85BDC9FD1C3A}</a:tableStyleId>
              </a:tblPr>
              <a:tblGrid>
                <a:gridCol w="2228852"/>
                <a:gridCol w="643890"/>
                <a:gridCol w="643890"/>
                <a:gridCol w="643890"/>
                <a:gridCol w="643890"/>
                <a:gridCol w="643890"/>
                <a:gridCol w="643890"/>
                <a:gridCol w="643890"/>
                <a:gridCol w="643890"/>
                <a:gridCol w="643890"/>
                <a:gridCol w="643890"/>
                <a:gridCol w="643890"/>
                <a:gridCol w="643890"/>
                <a:gridCol w="643890"/>
                <a:gridCol w="643890"/>
                <a:gridCol w="643890"/>
              </a:tblGrid>
              <a:tr h="215265">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2036F</a:t>
                      </a:r>
                      <a:endParaRPr sz="1100"/>
                    </a:p>
                  </a:txBody>
                  <a:tcPr marL="47625" marR="38100" marT="19050" marB="19050" anchor="ctr">
                    <a:solidFill>
                      <a:srgbClr val="E0E8EF"/>
                    </a:solidFill>
                  </a:tcPr>
                </a:tc>
              </a:tr>
              <a:tr h="215456">
                <a:tc>
                  <a:txBody>
                    <a:bodyPr wrap="none"/>
                    <a:lstStyle/>
                    <a:p>
                      <a:pPr algn="l"/>
                      <a:r>
                        <a:rPr sz="1100" b="1">
                          <a:solidFill>
                            <a:srgbClr val="2E2E2E"/>
                          </a:solidFill>
                          <a:latin typeface="Calibri"/>
                        </a:rPr>
                        <a:t>Rollstock Films</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FFFFF"/>
                    </a:solidFill>
                  </a:tcPr>
                </a:tc>
              </a:tr>
              <a:tr h="215456">
                <a:tc>
                  <a:txBody>
                    <a:bodyPr wrap="none"/>
                    <a:lstStyle/>
                    <a:p>
                      <a:pPr algn="l"/>
                      <a:r>
                        <a:rPr sz="1100" b="1">
                          <a:solidFill>
                            <a:srgbClr val="2E2E2E"/>
                          </a:solidFill>
                          <a:latin typeface="Calibri"/>
                        </a:rPr>
                        <a:t>– Lidding &amp; Tray-Sealing Films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5F8FA"/>
                    </a:solidFill>
                  </a:tcPr>
                </a:tc>
              </a:tr>
              <a:tr h="215456">
                <a:tc>
                  <a:txBody>
                    <a:bodyPr wrap="none"/>
                    <a:lstStyle/>
                    <a:p>
                      <a:pPr algn="l"/>
                      <a:r>
                        <a:rPr sz="1100" b="1">
                          <a:solidFill>
                            <a:srgbClr val="2E2E2E"/>
                          </a:solidFill>
                          <a:latin typeface="Calibri"/>
                        </a:rPr>
                        <a:t>– Thermoforming Films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4.6%</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7.0%</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7.0%</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FFFFF"/>
                    </a:solidFill>
                  </a:tcPr>
                </a:tc>
              </a:tr>
              <a:tr h="215456">
                <a:tc>
                  <a:txBody>
                    <a:bodyPr wrap="none"/>
                    <a:lstStyle/>
                    <a:p>
                      <a:pPr algn="l"/>
                      <a:r>
                        <a:rPr sz="1100" b="1">
                          <a:solidFill>
                            <a:srgbClr val="2E2E2E"/>
                          </a:solidFill>
                          <a:latin typeface="Calibri"/>
                        </a:rPr>
                        <a:t>– Vacuum Skin Packaging Films</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6.5%</a:t>
                      </a:r>
                      <a:endParaRPr sz="1100"/>
                    </a:p>
                  </a:txBody>
                  <a:tcPr marL="47625" marR="38100" marT="19050" marB="19050" anchor="ctr">
                    <a:solidFill>
                      <a:srgbClr val="F5F8FA"/>
                    </a:solidFill>
                  </a:tcPr>
                </a:tc>
              </a:tr>
              <a:tr h="215456">
                <a:tc>
                  <a:txBody>
                    <a:bodyPr wrap="none"/>
                    <a:lstStyle/>
                    <a:p>
                      <a:pPr algn="l"/>
                      <a:r>
                        <a:rPr sz="1100" b="1">
                          <a:solidFill>
                            <a:srgbClr val="2E2E2E"/>
                          </a:solidFill>
                          <a:latin typeface="Calibri"/>
                        </a:rPr>
                        <a:t>– HFFS / Flow-Pack Films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7.0%</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7.1%</a:t>
                      </a:r>
                      <a:endParaRPr sz="1100"/>
                    </a:p>
                  </a:txBody>
                  <a:tcPr marL="47625" marR="38100" marT="19050" marB="19050" anchor="ctr">
                    <a:solidFill>
                      <a:srgbClr val="FFFFFF"/>
                    </a:solidFill>
                  </a:tcPr>
                </a:tc>
              </a:tr>
              <a:tr h="215456">
                <a:tc>
                  <a:txBody>
                    <a:bodyPr wrap="none"/>
                    <a:lstStyle/>
                    <a:p>
                      <a:pPr algn="l"/>
                      <a:r>
                        <a:rPr sz="1100" b="1">
                          <a:solidFill>
                            <a:srgbClr val="2E2E2E"/>
                          </a:solidFill>
                          <a:latin typeface="Calibri"/>
                        </a:rPr>
                        <a:t>– VFFS Rollstock Films</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6.5%</a:t>
                      </a:r>
                      <a:endParaRPr sz="1100"/>
                    </a:p>
                  </a:txBody>
                  <a:tcPr marL="47625" marR="38100" marT="19050" marB="19050" anchor="ctr">
                    <a:solidFill>
                      <a:srgbClr val="F5F8FA"/>
                    </a:solidFill>
                  </a:tcPr>
                </a:tc>
              </a:tr>
              <a:tr h="215456">
                <a:tc>
                  <a:txBody>
                    <a:bodyPr wrap="none"/>
                    <a:lstStyle/>
                    <a:p>
                      <a:pPr algn="l"/>
                      <a:r>
                        <a:rPr sz="1100" b="1">
                          <a:solidFill>
                            <a:srgbClr val="2E2E2E"/>
                          </a:solidFill>
                          <a:latin typeface="Calibri"/>
                        </a:rPr>
                        <a:t>– Shrink &amp; Overwrap Films</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4.6%</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7.1%</a:t>
                      </a:r>
                      <a:endParaRPr sz="1100"/>
                    </a:p>
                  </a:txBody>
                  <a:tcPr marL="47625" marR="38100" marT="19050" marB="19050" anchor="ctr">
                    <a:solidFill>
                      <a:srgbClr val="FFFFFF"/>
                    </a:solidFill>
                  </a:tcPr>
                </a:tc>
              </a:tr>
              <a:tr h="215456">
                <a:tc>
                  <a:txBody>
                    <a:bodyPr wrap="none"/>
                    <a:lstStyle/>
                    <a:p>
                      <a:pPr algn="l"/>
                      <a:r>
                        <a:rPr sz="1100" b="1">
                          <a:solidFill>
                            <a:srgbClr val="2E2E2E"/>
                          </a:solidFill>
                          <a:latin typeface="Calibri"/>
                        </a:rPr>
                        <a:t>Barrier Casings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6.9%</a:t>
                      </a:r>
                      <a:endParaRPr sz="1100"/>
                    </a:p>
                  </a:txBody>
                  <a:tcPr marL="47625" marR="38100" marT="19050" marB="19050" anchor="ctr">
                    <a:solidFill>
                      <a:srgbClr val="F5F8FA"/>
                    </a:solidFill>
                  </a:tcPr>
                </a:tc>
              </a:tr>
              <a:tr h="215456">
                <a:tc>
                  <a:txBody>
                    <a:bodyPr wrap="none"/>
                    <a:lstStyle/>
                    <a:p>
                      <a:pPr algn="l"/>
                      <a:r>
                        <a:rPr sz="1100" b="1">
                          <a:solidFill>
                            <a:srgbClr val="2E2E2E"/>
                          </a:solidFill>
                          <a:latin typeface="Calibri"/>
                        </a:rPr>
                        <a:t>– Non-Shrink Casings</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3.8%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6.3%</a:t>
                      </a:r>
                      <a:endParaRPr sz="1100"/>
                    </a:p>
                  </a:txBody>
                  <a:tcPr marL="47625" marR="38100" marT="19050" marB="19050" anchor="ctr">
                    <a:solidFill>
                      <a:srgbClr val="FFFFFF"/>
                    </a:solidFill>
                  </a:tcPr>
                </a:tc>
              </a:tr>
              <a:tr h="215456">
                <a:tc>
                  <a:txBody>
                    <a:bodyPr wrap="none"/>
                    <a:lstStyle/>
                    <a:p>
                      <a:pPr algn="l"/>
                      <a:r>
                        <a:rPr sz="1100" b="1">
                          <a:solidFill>
                            <a:srgbClr val="2E2E2E"/>
                          </a:solidFill>
                          <a:latin typeface="Calibri"/>
                        </a:rPr>
                        <a:t>– Shrink Casings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6.1%</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7.3%</a:t>
                      </a:r>
                      <a:endParaRPr sz="1100"/>
                    </a:p>
                  </a:txBody>
                  <a:tcPr marL="47625" marR="38100" marT="19050" marB="19050" anchor="ctr">
                    <a:solidFill>
                      <a:srgbClr val="F5F8FA"/>
                    </a:solidFill>
                  </a:tcPr>
                </a:tc>
              </a:tr>
              <a:tr h="215456">
                <a:tc>
                  <a:txBody>
                    <a:bodyPr wrap="none"/>
                    <a:lstStyle/>
                    <a:p>
                      <a:pPr algn="l"/>
                      <a:r>
                        <a:rPr sz="1100" b="1">
                          <a:solidFill>
                            <a:srgbClr val="2E2E2E"/>
                          </a:solidFill>
                          <a:latin typeface="Calibri"/>
                        </a:rPr>
                        <a:t>– Other Specialty Casings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7.0%</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7.1%</a:t>
                      </a:r>
                      <a:endParaRPr sz="1100"/>
                    </a:p>
                  </a:txBody>
                  <a:tcPr marL="47625" marR="38100" marT="19050" marB="19050" anchor="ctr">
                    <a:solidFill>
                      <a:srgbClr val="FFFFFF"/>
                    </a:solidFill>
                  </a:tcPr>
                </a:tc>
              </a:tr>
              <a:tr h="215456">
                <a:tc>
                  <a:txBody>
                    <a:bodyPr wrap="none"/>
                    <a:lstStyle/>
                    <a:p>
                      <a:pPr algn="l"/>
                      <a:r>
                        <a:rPr sz="1100" b="1">
                          <a:solidFill>
                            <a:srgbClr val="2E2E2E"/>
                          </a:solidFill>
                          <a:latin typeface="Calibri"/>
                        </a:rPr>
                        <a:t>Premade Pouches &amp; Bags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6.3%</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7.1%</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7.1%</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7.1%</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7.0%</a:t>
                      </a:r>
                      <a:endParaRPr sz="1100"/>
                    </a:p>
                  </a:txBody>
                  <a:tcPr marL="47625" marR="38100" marT="19050" marB="19050" anchor="ctr">
                    <a:solidFill>
                      <a:srgbClr val="F5F8FA"/>
                    </a:solidFill>
                  </a:tcPr>
                </a:tc>
              </a:tr>
              <a:tr h="215456">
                <a:tc>
                  <a:txBody>
                    <a:bodyPr wrap="none"/>
                    <a:lstStyle/>
                    <a:p>
                      <a:pPr algn="l"/>
                      <a:r>
                        <a:rPr sz="1100" b="1">
                          <a:solidFill>
                            <a:srgbClr val="2E2E2E"/>
                          </a:solidFill>
                          <a:latin typeface="Calibri"/>
                        </a:rPr>
                        <a:t>– Vacuum Pouches</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4.6%</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FFFFF"/>
                    </a:solidFill>
                  </a:tcPr>
                </a:tc>
              </a:tr>
              <a:tr h="215456">
                <a:tc>
                  <a:txBody>
                    <a:bodyPr wrap="none"/>
                    <a:lstStyle/>
                    <a:p>
                      <a:pPr algn="l"/>
                      <a:r>
                        <a:rPr sz="1100" b="1">
                          <a:solidFill>
                            <a:srgbClr val="2E2E2E"/>
                          </a:solidFill>
                          <a:latin typeface="Calibri"/>
                        </a:rPr>
                        <a:t>– Shrink Bags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6.3%</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6.7%</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7.3%</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7.4%</a:t>
                      </a:r>
                      <a:endParaRPr sz="1100"/>
                    </a:p>
                  </a:txBody>
                  <a:tcPr marL="47625" marR="38100" marT="19050" marB="19050" anchor="ctr">
                    <a:solidFill>
                      <a:srgbClr val="F5F8FA"/>
                    </a:solidFill>
                  </a:tcPr>
                </a:tc>
              </a:tr>
              <a:tr h="215456">
                <a:tc>
                  <a:txBody>
                    <a:bodyPr wrap="none"/>
                    <a:lstStyle/>
                    <a:p>
                      <a:pPr algn="l"/>
                      <a:r>
                        <a:rPr sz="1100" b="1">
                          <a:solidFill>
                            <a:srgbClr val="2E2E2E"/>
                          </a:solidFill>
                          <a:latin typeface="Calibri"/>
                        </a:rPr>
                        <a:t>– Stand-Up Pouches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FFFFF"/>
                    </a:solidFill>
                  </a:tcPr>
                </a:tc>
              </a:tr>
              <a:tr h="215456">
                <a:tc>
                  <a:txBody>
                    <a:bodyPr wrap="none"/>
                    <a:lstStyle/>
                    <a:p>
                      <a:pPr algn="l"/>
                      <a:r>
                        <a:rPr sz="1100" b="1">
                          <a:solidFill>
                            <a:srgbClr val="2E2E2E"/>
                          </a:solidFill>
                          <a:latin typeface="Calibri"/>
                        </a:rPr>
                        <a:t>– Flat Pouches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7.3%</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7.3%</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7.3%</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5F8FA"/>
                    </a:solidFill>
                  </a:tcPr>
                </a:tc>
              </a:tr>
              <a:tr h="215456">
                <a:tc>
                  <a:txBody>
                    <a:bodyPr wrap="none"/>
                    <a:lstStyle/>
                    <a:p>
                      <a:pPr algn="l"/>
                      <a:r>
                        <a:rPr sz="1100" b="1">
                          <a:solidFill>
                            <a:srgbClr val="2E2E2E"/>
                          </a:solidFill>
                          <a:latin typeface="Calibri"/>
                        </a:rPr>
                        <a:t>– Retort Pouches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5.0%</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FFFFF"/>
                    </a:solidFill>
                  </a:tcPr>
                </a:tc>
              </a:tr>
              <a:tr h="215456">
                <a:tc>
                  <a:txBody>
                    <a:bodyPr wrap="none"/>
                    <a:lstStyle/>
                    <a:p>
                      <a:pPr algn="l"/>
                      <a:r>
                        <a:rPr sz="1100" b="1">
                          <a:solidFill>
                            <a:srgbClr val="2E2E2E"/>
                          </a:solidFill>
                          <a:latin typeface="Calibri"/>
                        </a:rPr>
                        <a:t>Sachets &amp; Stick Packs</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5F8FA"/>
                    </a:solidFill>
                  </a:tcPr>
                </a:tc>
              </a:tr>
              <a:tr h="215456">
                <a:tc>
                  <a:txBody>
                    <a:bodyPr wrap="none"/>
                    <a:lstStyle/>
                    <a:p>
                      <a:pPr algn="l"/>
                      <a:r>
                        <a:rPr sz="1100" b="1">
                          <a:solidFill>
                            <a:srgbClr val="2E2E2E"/>
                          </a:solidFill>
                          <a:latin typeface="Calibri"/>
                        </a:rPr>
                        <a:t>– Sachets</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FFFFF"/>
                    </a:solidFill>
                  </a:tcPr>
                </a:tc>
              </a:tr>
              <a:tr h="215456">
                <a:tc>
                  <a:txBody>
                    <a:bodyPr wrap="none"/>
                    <a:lstStyle/>
                    <a:p>
                      <a:pPr algn="l"/>
                      <a:r>
                        <a:rPr sz="1100" b="1">
                          <a:solidFill>
                            <a:srgbClr val="2E2E2E"/>
                          </a:solidFill>
                          <a:latin typeface="Calibri"/>
                        </a:rPr>
                        <a:t>– Stick Packs</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6.6%</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57721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YoY Analysis of Global Market Value, By Product Type (%)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Year-on-year value growth by Product Type, 2022–2036, highlighting acceleration and slowdown</a:t>
            </a:r>
          </a:p>
        </p:txBody>
      </p:sp>
      <p:sp>
        <p:nvSpPr>
          <p:cNvPr id="10" name="Rounded Rectangle 9"/>
          <p:cNvSpPr/>
          <p:nvPr/>
        </p:nvSpPr>
        <p:spPr>
          <a:xfrm>
            <a:off x="142875" y="981075"/>
            <a:ext cx="11906250"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YoY Heatmap, By Product Type (%)  ·  light = lower, dark = higher growth</a:t>
            </a:r>
          </a:p>
        </p:txBody>
      </p:sp>
      <p:sp>
        <p:nvSpPr>
          <p:cNvPr id="12" name="TextBox 11"/>
          <p:cNvSpPr txBox="1"/>
          <p:nvPr/>
        </p:nvSpPr>
        <p:spPr>
          <a:xfrm>
            <a:off x="185737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2022</a:t>
            </a:r>
          </a:p>
        </p:txBody>
      </p:sp>
      <p:sp>
        <p:nvSpPr>
          <p:cNvPr id="13" name="TextBox 12"/>
          <p:cNvSpPr txBox="1"/>
          <p:nvPr/>
        </p:nvSpPr>
        <p:spPr>
          <a:xfrm>
            <a:off x="250126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2023</a:t>
            </a:r>
          </a:p>
        </p:txBody>
      </p:sp>
      <p:sp>
        <p:nvSpPr>
          <p:cNvPr id="14" name="TextBox 13"/>
          <p:cNvSpPr txBox="1"/>
          <p:nvPr/>
        </p:nvSpPr>
        <p:spPr>
          <a:xfrm>
            <a:off x="314515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2024</a:t>
            </a:r>
          </a:p>
        </p:txBody>
      </p:sp>
      <p:sp>
        <p:nvSpPr>
          <p:cNvPr id="15" name="TextBox 14"/>
          <p:cNvSpPr txBox="1"/>
          <p:nvPr/>
        </p:nvSpPr>
        <p:spPr>
          <a:xfrm>
            <a:off x="378904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2025</a:t>
            </a:r>
          </a:p>
        </p:txBody>
      </p:sp>
      <p:sp>
        <p:nvSpPr>
          <p:cNvPr id="16" name="TextBox 15"/>
          <p:cNvSpPr txBox="1"/>
          <p:nvPr/>
        </p:nvSpPr>
        <p:spPr>
          <a:xfrm>
            <a:off x="443293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2026</a:t>
            </a:r>
          </a:p>
        </p:txBody>
      </p:sp>
      <p:sp>
        <p:nvSpPr>
          <p:cNvPr id="17" name="TextBox 16"/>
          <p:cNvSpPr txBox="1"/>
          <p:nvPr/>
        </p:nvSpPr>
        <p:spPr>
          <a:xfrm>
            <a:off x="507682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2027</a:t>
            </a:r>
          </a:p>
        </p:txBody>
      </p:sp>
      <p:sp>
        <p:nvSpPr>
          <p:cNvPr id="18" name="TextBox 17"/>
          <p:cNvSpPr txBox="1"/>
          <p:nvPr/>
        </p:nvSpPr>
        <p:spPr>
          <a:xfrm>
            <a:off x="572071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2028</a:t>
            </a:r>
          </a:p>
        </p:txBody>
      </p:sp>
      <p:sp>
        <p:nvSpPr>
          <p:cNvPr id="19" name="TextBox 18"/>
          <p:cNvSpPr txBox="1"/>
          <p:nvPr/>
        </p:nvSpPr>
        <p:spPr>
          <a:xfrm>
            <a:off x="636460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2029</a:t>
            </a:r>
          </a:p>
        </p:txBody>
      </p:sp>
      <p:sp>
        <p:nvSpPr>
          <p:cNvPr id="20" name="TextBox 19"/>
          <p:cNvSpPr txBox="1"/>
          <p:nvPr/>
        </p:nvSpPr>
        <p:spPr>
          <a:xfrm>
            <a:off x="700849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2030</a:t>
            </a:r>
          </a:p>
        </p:txBody>
      </p:sp>
      <p:sp>
        <p:nvSpPr>
          <p:cNvPr id="21" name="TextBox 20"/>
          <p:cNvSpPr txBox="1"/>
          <p:nvPr/>
        </p:nvSpPr>
        <p:spPr>
          <a:xfrm>
            <a:off x="765238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2031</a:t>
            </a:r>
          </a:p>
        </p:txBody>
      </p:sp>
      <p:sp>
        <p:nvSpPr>
          <p:cNvPr id="22" name="TextBox 21"/>
          <p:cNvSpPr txBox="1"/>
          <p:nvPr/>
        </p:nvSpPr>
        <p:spPr>
          <a:xfrm>
            <a:off x="829627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2032</a:t>
            </a:r>
          </a:p>
        </p:txBody>
      </p:sp>
      <p:sp>
        <p:nvSpPr>
          <p:cNvPr id="23" name="TextBox 22"/>
          <p:cNvSpPr txBox="1"/>
          <p:nvPr/>
        </p:nvSpPr>
        <p:spPr>
          <a:xfrm>
            <a:off x="894016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2033</a:t>
            </a:r>
          </a:p>
        </p:txBody>
      </p:sp>
      <p:sp>
        <p:nvSpPr>
          <p:cNvPr id="24" name="TextBox 23"/>
          <p:cNvSpPr txBox="1"/>
          <p:nvPr/>
        </p:nvSpPr>
        <p:spPr>
          <a:xfrm>
            <a:off x="958405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2034</a:t>
            </a:r>
          </a:p>
        </p:txBody>
      </p:sp>
      <p:sp>
        <p:nvSpPr>
          <p:cNvPr id="25" name="TextBox 24"/>
          <p:cNvSpPr txBox="1"/>
          <p:nvPr/>
        </p:nvSpPr>
        <p:spPr>
          <a:xfrm>
            <a:off x="1022794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2035</a:t>
            </a:r>
          </a:p>
        </p:txBody>
      </p:sp>
      <p:sp>
        <p:nvSpPr>
          <p:cNvPr id="26" name="TextBox 25"/>
          <p:cNvSpPr txBox="1"/>
          <p:nvPr/>
        </p:nvSpPr>
        <p:spPr>
          <a:xfrm>
            <a:off x="1087183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2036</a:t>
            </a:r>
          </a:p>
        </p:txBody>
      </p:sp>
      <p:sp>
        <p:nvSpPr>
          <p:cNvPr id="27" name="TextBox 26"/>
          <p:cNvSpPr txBox="1"/>
          <p:nvPr/>
        </p:nvSpPr>
        <p:spPr>
          <a:xfrm>
            <a:off x="238125" y="1409700"/>
            <a:ext cx="1590675" cy="258128"/>
          </a:xfrm>
          <a:prstGeom prst="rect">
            <a:avLst/>
          </a:prstGeom>
          <a:noFill/>
        </p:spPr>
        <p:txBody>
          <a:bodyPr wrap="square" lIns="28575" rIns="28575" tIns="9525" bIns="9525" anchor="ctr">
            <a:spAutoFit/>
          </a:bodyPr>
          <a:lstStyle/>
          <a:p>
            <a:pPr algn="l"/>
            <a:r>
              <a:rPr sz="1100" b="0">
                <a:solidFill>
                  <a:srgbClr val="2E2E2E"/>
                </a:solidFill>
                <a:latin typeface="Calibri"/>
              </a:rPr>
              <a:t>Rollstock Films</a:t>
            </a:r>
          </a:p>
        </p:txBody>
      </p:sp>
      <p:sp>
        <p:nvSpPr>
          <p:cNvPr id="28" name="Rectangle 27"/>
          <p:cNvSpPr/>
          <p:nvPr/>
        </p:nvSpPr>
        <p:spPr>
          <a:xfrm>
            <a:off x="1857375" y="1409700"/>
            <a:ext cx="643890" cy="258128"/>
          </a:xfrm>
          <a:prstGeom prst="rect">
            <a:avLst/>
          </a:prstGeom>
          <a:solidFill>
            <a:srgbClr val="EC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01265" y="1409700"/>
            <a:ext cx="643890" cy="258128"/>
          </a:xfrm>
          <a:prstGeom prst="rect">
            <a:avLst/>
          </a:prstGeom>
          <a:solidFill>
            <a:srgbClr val="E8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145155" y="1409700"/>
            <a:ext cx="643890" cy="258128"/>
          </a:xfrm>
          <a:prstGeom prst="rect">
            <a:avLst/>
          </a:prstGeom>
          <a:solidFill>
            <a:srgbClr val="E1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789045" y="1409700"/>
            <a:ext cx="643890" cy="258128"/>
          </a:xfrm>
          <a:prstGeom prst="rect">
            <a:avLst/>
          </a:prstGeom>
          <a:solidFill>
            <a:srgbClr val="DA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432935" y="1409700"/>
            <a:ext cx="643890" cy="258128"/>
          </a:xfrm>
          <a:prstGeom prst="rect">
            <a:avLst/>
          </a:prstGeom>
          <a:solidFill>
            <a:srgbClr val="B6D1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76825" y="1409700"/>
            <a:ext cx="643890" cy="258128"/>
          </a:xfrm>
          <a:prstGeom prst="rect">
            <a:avLst/>
          </a:prstGeom>
          <a:solidFill>
            <a:srgbClr val="9FC4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720715" y="1409700"/>
            <a:ext cx="643890" cy="258128"/>
          </a:xfrm>
          <a:prstGeom prst="rect">
            <a:avLst/>
          </a:prstGeom>
          <a:solidFill>
            <a:srgbClr val="84B5D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364605" y="1409700"/>
            <a:ext cx="643890" cy="258128"/>
          </a:xfrm>
          <a:prstGeom prst="rect">
            <a:avLst/>
          </a:prstGeom>
          <a:solidFill>
            <a:srgbClr val="62A3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08495" y="1409700"/>
            <a:ext cx="643890" cy="258128"/>
          </a:xfrm>
          <a:prstGeom prst="rect">
            <a:avLst/>
          </a:prstGeom>
          <a:solidFill>
            <a:srgbClr val="3F90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652385" y="1409700"/>
            <a:ext cx="643890" cy="258128"/>
          </a:xfrm>
          <a:prstGeom prst="rect">
            <a:avLst/>
          </a:prstGeom>
          <a:solidFill>
            <a:srgbClr val="2C84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296275" y="1409700"/>
            <a:ext cx="643890" cy="258128"/>
          </a:xfrm>
          <a:prstGeom prst="rect">
            <a:avLst/>
          </a:prstGeom>
          <a:solidFill>
            <a:srgbClr val="1E7CB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940165" y="1409700"/>
            <a:ext cx="643890" cy="258128"/>
          </a:xfrm>
          <a:prstGeom prst="rect">
            <a:avLst/>
          </a:prstGeom>
          <a:solidFill>
            <a:srgbClr val="1979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584055" y="1409700"/>
            <a:ext cx="643890" cy="258128"/>
          </a:xfrm>
          <a:prstGeom prst="rect">
            <a:avLst/>
          </a:prstGeom>
          <a:solidFill>
            <a:srgbClr val="1978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227945" y="1409700"/>
            <a:ext cx="643890" cy="258128"/>
          </a:xfrm>
          <a:prstGeom prst="rect">
            <a:avLst/>
          </a:prstGeom>
          <a:solidFill>
            <a:srgbClr val="1D7BB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871835" y="1409700"/>
            <a:ext cx="643890" cy="258128"/>
          </a:xfrm>
          <a:prstGeom prst="rect">
            <a:avLst/>
          </a:prstGeom>
          <a:solidFill>
            <a:srgbClr val="237F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38125" y="1667828"/>
            <a:ext cx="1590675" cy="258128"/>
          </a:xfrm>
          <a:prstGeom prst="rect">
            <a:avLst/>
          </a:prstGeom>
          <a:noFill/>
        </p:spPr>
        <p:txBody>
          <a:bodyPr wrap="square" lIns="28575" rIns="28575" tIns="9525" bIns="9525" anchor="ctr">
            <a:spAutoFit/>
          </a:bodyPr>
          <a:lstStyle/>
          <a:p>
            <a:pPr algn="l"/>
            <a:r>
              <a:rPr sz="1100" b="0">
                <a:solidFill>
                  <a:srgbClr val="2E2E2E"/>
                </a:solidFill>
                <a:latin typeface="Calibri"/>
              </a:rPr>
              <a:t>– Lidding &amp; Tray-Sealing Films</a:t>
            </a:r>
          </a:p>
        </p:txBody>
      </p:sp>
      <p:sp>
        <p:nvSpPr>
          <p:cNvPr id="44" name="Rectangle 43"/>
          <p:cNvSpPr/>
          <p:nvPr/>
        </p:nvSpPr>
        <p:spPr>
          <a:xfrm>
            <a:off x="1857375" y="1667828"/>
            <a:ext cx="643890" cy="258128"/>
          </a:xfrm>
          <a:prstGeom prst="rect">
            <a:avLst/>
          </a:prstGeom>
          <a:solidFill>
            <a:srgbClr val="E9F5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501265" y="1667828"/>
            <a:ext cx="643890" cy="258128"/>
          </a:xfrm>
          <a:prstGeom prst="rect">
            <a:avLst/>
          </a:prstGeom>
          <a:solidFill>
            <a:srgbClr val="E5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145155" y="1667828"/>
            <a:ext cx="643890" cy="258128"/>
          </a:xfrm>
          <a:prstGeom prst="rect">
            <a:avLst/>
          </a:prstGeom>
          <a:solidFill>
            <a:srgbClr val="DE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789045" y="1667828"/>
            <a:ext cx="643890" cy="258128"/>
          </a:xfrm>
          <a:prstGeom prst="rect">
            <a:avLst/>
          </a:prstGeom>
          <a:solidFill>
            <a:srgbClr val="D9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432935" y="1667828"/>
            <a:ext cx="643890" cy="258128"/>
          </a:xfrm>
          <a:prstGeom prst="rect">
            <a:avLst/>
          </a:prstGeom>
          <a:solidFill>
            <a:srgbClr val="B5D0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076825" y="1667828"/>
            <a:ext cx="643890" cy="258128"/>
          </a:xfrm>
          <a:prstGeom prst="rect">
            <a:avLst/>
          </a:prstGeom>
          <a:solidFill>
            <a:srgbClr val="A1C5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720715" y="1667828"/>
            <a:ext cx="643890" cy="258128"/>
          </a:xfrm>
          <a:prstGeom prst="rect">
            <a:avLst/>
          </a:prstGeom>
          <a:solidFill>
            <a:srgbClr val="8EBB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364605" y="1667828"/>
            <a:ext cx="643890" cy="258128"/>
          </a:xfrm>
          <a:prstGeom prst="rect">
            <a:avLst/>
          </a:prstGeom>
          <a:solidFill>
            <a:srgbClr val="71ABD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008495" y="1667828"/>
            <a:ext cx="643890" cy="258128"/>
          </a:xfrm>
          <a:prstGeom prst="rect">
            <a:avLst/>
          </a:prstGeom>
          <a:solidFill>
            <a:srgbClr val="5099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652385" y="1667828"/>
            <a:ext cx="643890" cy="258128"/>
          </a:xfrm>
          <a:prstGeom prst="rect">
            <a:avLst/>
          </a:prstGeom>
          <a:solidFill>
            <a:srgbClr val="368A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296275" y="1667828"/>
            <a:ext cx="643890" cy="258128"/>
          </a:xfrm>
          <a:prstGeom prst="rect">
            <a:avLst/>
          </a:prstGeom>
          <a:solidFill>
            <a:srgbClr val="2781B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940165" y="1667828"/>
            <a:ext cx="643890" cy="258128"/>
          </a:xfrm>
          <a:prstGeom prst="rect">
            <a:avLst/>
          </a:prstGeom>
          <a:solidFill>
            <a:srgbClr val="227EB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584055" y="1667828"/>
            <a:ext cx="643890" cy="258128"/>
          </a:xfrm>
          <a:prstGeom prst="rect">
            <a:avLst/>
          </a:prstGeom>
          <a:solidFill>
            <a:srgbClr val="217EB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227945" y="1667828"/>
            <a:ext cx="643890" cy="258128"/>
          </a:xfrm>
          <a:prstGeom prst="rect">
            <a:avLst/>
          </a:prstGeom>
          <a:solidFill>
            <a:srgbClr val="2680B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0871835" y="1667828"/>
            <a:ext cx="643890" cy="258128"/>
          </a:xfrm>
          <a:prstGeom prst="rect">
            <a:avLst/>
          </a:prstGeom>
          <a:solidFill>
            <a:srgbClr val="2B83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38125" y="1925955"/>
            <a:ext cx="1590675" cy="258128"/>
          </a:xfrm>
          <a:prstGeom prst="rect">
            <a:avLst/>
          </a:prstGeom>
          <a:noFill/>
        </p:spPr>
        <p:txBody>
          <a:bodyPr wrap="square" lIns="28575" rIns="28575" tIns="9525" bIns="9525" anchor="ctr">
            <a:spAutoFit/>
          </a:bodyPr>
          <a:lstStyle/>
          <a:p>
            <a:pPr algn="l"/>
            <a:r>
              <a:rPr sz="1100" b="0">
                <a:solidFill>
                  <a:srgbClr val="2E2E2E"/>
                </a:solidFill>
                <a:latin typeface="Calibri"/>
              </a:rPr>
              <a:t>– Thermoforming Films</a:t>
            </a:r>
          </a:p>
        </p:txBody>
      </p:sp>
      <p:sp>
        <p:nvSpPr>
          <p:cNvPr id="60" name="Rectangle 59"/>
          <p:cNvSpPr/>
          <p:nvPr/>
        </p:nvSpPr>
        <p:spPr>
          <a:xfrm>
            <a:off x="1857375" y="1925955"/>
            <a:ext cx="643890" cy="258128"/>
          </a:xfrm>
          <a:prstGeom prst="rect">
            <a:avLst/>
          </a:prstGeom>
          <a:solidFill>
            <a:srgbClr val="E8F5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501265" y="1925955"/>
            <a:ext cx="643890" cy="258128"/>
          </a:xfrm>
          <a:prstGeom prst="rect">
            <a:avLst/>
          </a:prstGeom>
          <a:solidFill>
            <a:srgbClr val="E5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3145155" y="1925955"/>
            <a:ext cx="643890" cy="258128"/>
          </a:xfrm>
          <a:prstGeom prst="rect">
            <a:avLst/>
          </a:prstGeom>
          <a:solidFill>
            <a:srgbClr val="E1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3789045" y="1925955"/>
            <a:ext cx="643890" cy="258128"/>
          </a:xfrm>
          <a:prstGeom prst="rect">
            <a:avLst/>
          </a:prstGeom>
          <a:solidFill>
            <a:srgbClr val="DC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432935" y="1925955"/>
            <a:ext cx="643890" cy="258128"/>
          </a:xfrm>
          <a:prstGeom prst="rect">
            <a:avLst/>
          </a:prstGeom>
          <a:solidFill>
            <a:srgbClr val="BCD4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076825" y="1925955"/>
            <a:ext cx="643890" cy="258128"/>
          </a:xfrm>
          <a:prstGeom prst="rect">
            <a:avLst/>
          </a:prstGeom>
          <a:solidFill>
            <a:srgbClr val="A4C7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5720715" y="1925955"/>
            <a:ext cx="643890" cy="258128"/>
          </a:xfrm>
          <a:prstGeom prst="rect">
            <a:avLst/>
          </a:prstGeom>
          <a:solidFill>
            <a:srgbClr val="89B8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364605" y="1925955"/>
            <a:ext cx="643890" cy="258128"/>
          </a:xfrm>
          <a:prstGeom prst="rect">
            <a:avLst/>
          </a:prstGeom>
          <a:solidFill>
            <a:srgbClr val="64A3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7008495" y="1925955"/>
            <a:ext cx="643890" cy="258128"/>
          </a:xfrm>
          <a:prstGeom prst="rect">
            <a:avLst/>
          </a:prstGeom>
          <a:solidFill>
            <a:srgbClr val="3C8E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7652385" y="1925955"/>
            <a:ext cx="643890" cy="258128"/>
          </a:xfrm>
          <a:prstGeom prst="rect">
            <a:avLst/>
          </a:prstGeom>
          <a:solidFill>
            <a:srgbClr val="2781B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8296275" y="1925955"/>
            <a:ext cx="643890" cy="258128"/>
          </a:xfrm>
          <a:prstGeom prst="rect">
            <a:avLst/>
          </a:prstGeom>
          <a:solidFill>
            <a:srgbClr val="1677B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8940165" y="1925955"/>
            <a:ext cx="643890" cy="258128"/>
          </a:xfrm>
          <a:prstGeom prst="rect">
            <a:avLst/>
          </a:prstGeom>
          <a:solidFill>
            <a:srgbClr val="1174A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9584055" y="1925955"/>
            <a:ext cx="643890" cy="258128"/>
          </a:xfrm>
          <a:prstGeom prst="rect">
            <a:avLst/>
          </a:prstGeom>
          <a:solidFill>
            <a:srgbClr val="1274B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0227945" y="1925955"/>
            <a:ext cx="643890" cy="258128"/>
          </a:xfrm>
          <a:prstGeom prst="rect">
            <a:avLst/>
          </a:prstGeom>
          <a:solidFill>
            <a:srgbClr val="1878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0871835" y="1925955"/>
            <a:ext cx="643890" cy="258128"/>
          </a:xfrm>
          <a:prstGeom prst="rect">
            <a:avLst/>
          </a:prstGeom>
          <a:solidFill>
            <a:srgbClr val="1E7CB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38125" y="2184082"/>
            <a:ext cx="1590675" cy="258128"/>
          </a:xfrm>
          <a:prstGeom prst="rect">
            <a:avLst/>
          </a:prstGeom>
          <a:noFill/>
        </p:spPr>
        <p:txBody>
          <a:bodyPr wrap="square" lIns="28575" rIns="28575" tIns="9525" bIns="9525" anchor="ctr">
            <a:spAutoFit/>
          </a:bodyPr>
          <a:lstStyle/>
          <a:p>
            <a:pPr algn="l"/>
            <a:r>
              <a:rPr sz="1100" b="0">
                <a:solidFill>
                  <a:srgbClr val="2E2E2E"/>
                </a:solidFill>
                <a:latin typeface="Calibri"/>
              </a:rPr>
              <a:t>– Vacuum Skin Packaging Films</a:t>
            </a:r>
          </a:p>
        </p:txBody>
      </p:sp>
      <p:sp>
        <p:nvSpPr>
          <p:cNvPr id="76" name="Rectangle 75"/>
          <p:cNvSpPr/>
          <p:nvPr/>
        </p:nvSpPr>
        <p:spPr>
          <a:xfrm>
            <a:off x="1857375" y="2184082"/>
            <a:ext cx="643890" cy="258128"/>
          </a:xfrm>
          <a:prstGeom prst="rect">
            <a:avLst/>
          </a:prstGeom>
          <a:solidFill>
            <a:srgbClr val="FB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2501265" y="2184082"/>
            <a:ext cx="643890" cy="258128"/>
          </a:xfrm>
          <a:prstGeom prst="rect">
            <a:avLst/>
          </a:prstGeom>
          <a:solidFill>
            <a:srgbClr val="F7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3145155" y="2184082"/>
            <a:ext cx="643890" cy="258128"/>
          </a:xfrm>
          <a:prstGeom prst="rect">
            <a:avLst/>
          </a:prstGeom>
          <a:solidFill>
            <a:srgbClr val="EE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3789045" y="2184082"/>
            <a:ext cx="643890" cy="258128"/>
          </a:xfrm>
          <a:prstGeom prst="rect">
            <a:avLst/>
          </a:prstGeom>
          <a:solidFill>
            <a:srgbClr val="E4F1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4432935" y="2184082"/>
            <a:ext cx="643890" cy="258128"/>
          </a:xfrm>
          <a:prstGeom prst="rect">
            <a:avLst/>
          </a:prstGeom>
          <a:solidFill>
            <a:srgbClr val="BDD5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5076825" y="2184082"/>
            <a:ext cx="643890" cy="258128"/>
          </a:xfrm>
          <a:prstGeom prst="rect">
            <a:avLst/>
          </a:prstGeom>
          <a:solidFill>
            <a:srgbClr val="A2C6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5720715" y="2184082"/>
            <a:ext cx="643890" cy="258128"/>
          </a:xfrm>
          <a:prstGeom prst="rect">
            <a:avLst/>
          </a:prstGeom>
          <a:solidFill>
            <a:srgbClr val="85B6D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6364605" y="2184082"/>
            <a:ext cx="643890" cy="258128"/>
          </a:xfrm>
          <a:prstGeom prst="rect">
            <a:avLst/>
          </a:prstGeom>
          <a:solidFill>
            <a:srgbClr val="64A4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7008495" y="2184082"/>
            <a:ext cx="643890" cy="258128"/>
          </a:xfrm>
          <a:prstGeom prst="rect">
            <a:avLst/>
          </a:prstGeom>
          <a:solidFill>
            <a:srgbClr val="4794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7652385" y="2184082"/>
            <a:ext cx="643890" cy="258128"/>
          </a:xfrm>
          <a:prstGeom prst="rect">
            <a:avLst/>
          </a:prstGeom>
          <a:solidFill>
            <a:srgbClr val="358AC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8296275" y="2184082"/>
            <a:ext cx="643890" cy="258128"/>
          </a:xfrm>
          <a:prstGeom prst="rect">
            <a:avLst/>
          </a:prstGeom>
          <a:solidFill>
            <a:srgbClr val="2C84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8940165" y="2184082"/>
            <a:ext cx="643890" cy="258128"/>
          </a:xfrm>
          <a:prstGeom prst="rect">
            <a:avLst/>
          </a:prstGeom>
          <a:solidFill>
            <a:srgbClr val="2982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9584055" y="2184082"/>
            <a:ext cx="643890" cy="258128"/>
          </a:xfrm>
          <a:prstGeom prst="rect">
            <a:avLst/>
          </a:prstGeom>
          <a:solidFill>
            <a:srgbClr val="2A83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10227945" y="2184082"/>
            <a:ext cx="643890" cy="258128"/>
          </a:xfrm>
          <a:prstGeom prst="rect">
            <a:avLst/>
          </a:prstGeom>
          <a:solidFill>
            <a:srgbClr val="3087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10871835" y="2184082"/>
            <a:ext cx="643890" cy="258128"/>
          </a:xfrm>
          <a:prstGeom prst="rect">
            <a:avLst/>
          </a:prstGeom>
          <a:solidFill>
            <a:srgbClr val="388B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38125" y="2442210"/>
            <a:ext cx="1590675" cy="258128"/>
          </a:xfrm>
          <a:prstGeom prst="rect">
            <a:avLst/>
          </a:prstGeom>
          <a:noFill/>
        </p:spPr>
        <p:txBody>
          <a:bodyPr wrap="square" lIns="28575" rIns="28575" tIns="9525" bIns="9525" anchor="ctr">
            <a:spAutoFit/>
          </a:bodyPr>
          <a:lstStyle/>
          <a:p>
            <a:pPr algn="l"/>
            <a:r>
              <a:rPr sz="1100" b="0">
                <a:solidFill>
                  <a:srgbClr val="2E2E2E"/>
                </a:solidFill>
                <a:latin typeface="Calibri"/>
              </a:rPr>
              <a:t>– HFFS / Flow-Pack Films</a:t>
            </a:r>
          </a:p>
        </p:txBody>
      </p:sp>
      <p:sp>
        <p:nvSpPr>
          <p:cNvPr id="92" name="Rectangle 91"/>
          <p:cNvSpPr/>
          <p:nvPr/>
        </p:nvSpPr>
        <p:spPr>
          <a:xfrm>
            <a:off x="1857375" y="2442210"/>
            <a:ext cx="643890" cy="258128"/>
          </a:xfrm>
          <a:prstGeom prst="rect">
            <a:avLst/>
          </a:prstGeom>
          <a:solidFill>
            <a:srgbClr val="E1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2501265" y="2442210"/>
            <a:ext cx="643890" cy="258128"/>
          </a:xfrm>
          <a:prstGeom prst="rect">
            <a:avLst/>
          </a:prstGeom>
          <a:solidFill>
            <a:srgbClr val="DC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3145155" y="2442210"/>
            <a:ext cx="643890" cy="258128"/>
          </a:xfrm>
          <a:prstGeom prst="rect">
            <a:avLst/>
          </a:prstGeom>
          <a:solidFill>
            <a:srgbClr val="D5E5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3789045" y="2442210"/>
            <a:ext cx="643890" cy="258128"/>
          </a:xfrm>
          <a:prstGeom prst="rect">
            <a:avLst/>
          </a:prstGeom>
          <a:solidFill>
            <a:srgbClr val="CFE0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4432935" y="2442210"/>
            <a:ext cx="643890" cy="258128"/>
          </a:xfrm>
          <a:prstGeom prst="rect">
            <a:avLst/>
          </a:prstGeom>
          <a:solidFill>
            <a:srgbClr val="A4C7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5076825" y="2442210"/>
            <a:ext cx="643890" cy="258128"/>
          </a:xfrm>
          <a:prstGeom prst="rect">
            <a:avLst/>
          </a:prstGeom>
          <a:solidFill>
            <a:srgbClr val="8EBB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5720715" y="2442210"/>
            <a:ext cx="643890" cy="258128"/>
          </a:xfrm>
          <a:prstGeom prst="rect">
            <a:avLst/>
          </a:prstGeom>
          <a:solidFill>
            <a:srgbClr val="6BA8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6364605" y="2442210"/>
            <a:ext cx="643890" cy="258128"/>
          </a:xfrm>
          <a:prstGeom prst="rect">
            <a:avLst/>
          </a:prstGeom>
          <a:solidFill>
            <a:srgbClr val="4995C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7008495" y="2442210"/>
            <a:ext cx="643890" cy="258128"/>
          </a:xfrm>
          <a:prstGeom prst="rect">
            <a:avLst/>
          </a:prstGeom>
          <a:solidFill>
            <a:srgbClr val="2B84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7652385" y="2442210"/>
            <a:ext cx="643890" cy="258128"/>
          </a:xfrm>
          <a:prstGeom prst="rect">
            <a:avLst/>
          </a:prstGeom>
          <a:solidFill>
            <a:srgbClr val="1577B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8296275" y="2442210"/>
            <a:ext cx="643890" cy="258128"/>
          </a:xfrm>
          <a:prstGeom prst="rect">
            <a:avLst/>
          </a:prstGeom>
          <a:solidFill>
            <a:srgbClr val="0D649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8940165" y="2442210"/>
            <a:ext cx="643890" cy="258128"/>
          </a:xfrm>
          <a:prstGeom prst="rect">
            <a:avLst/>
          </a:prstGeom>
          <a:solidFill>
            <a:srgbClr val="0D598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9584055" y="2442210"/>
            <a:ext cx="643890" cy="258128"/>
          </a:xfrm>
          <a:prstGeom prst="rect">
            <a:avLst/>
          </a:prstGeom>
          <a:solidFill>
            <a:srgbClr val="0D588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0227945" y="2442210"/>
            <a:ext cx="643890" cy="258128"/>
          </a:xfrm>
          <a:prstGeom prst="rect">
            <a:avLst/>
          </a:prstGeom>
          <a:solidFill>
            <a:srgbClr val="0D609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0871835" y="2442210"/>
            <a:ext cx="643890" cy="258128"/>
          </a:xfrm>
          <a:prstGeom prst="rect">
            <a:avLst/>
          </a:prstGeom>
          <a:solidFill>
            <a:srgbClr val="0E6AA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238125" y="2700338"/>
            <a:ext cx="1590675" cy="258128"/>
          </a:xfrm>
          <a:prstGeom prst="rect">
            <a:avLst/>
          </a:prstGeom>
          <a:noFill/>
        </p:spPr>
        <p:txBody>
          <a:bodyPr wrap="square" lIns="28575" rIns="28575" tIns="9525" bIns="9525" anchor="ctr">
            <a:spAutoFit/>
          </a:bodyPr>
          <a:lstStyle/>
          <a:p>
            <a:pPr algn="l"/>
            <a:r>
              <a:rPr sz="1100" b="0">
                <a:solidFill>
                  <a:srgbClr val="2E2E2E"/>
                </a:solidFill>
                <a:latin typeface="Calibri"/>
              </a:rPr>
              <a:t>– VFFS Rollstock Films</a:t>
            </a:r>
          </a:p>
        </p:txBody>
      </p:sp>
      <p:sp>
        <p:nvSpPr>
          <p:cNvPr id="108" name="Rectangle 107"/>
          <p:cNvSpPr/>
          <p:nvPr/>
        </p:nvSpPr>
        <p:spPr>
          <a:xfrm>
            <a:off x="1857375" y="2700338"/>
            <a:ext cx="643890" cy="258128"/>
          </a:xfrm>
          <a:prstGeom prst="rect">
            <a:avLst/>
          </a:prstGeom>
          <a:solidFill>
            <a:srgbClr val="F1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2501265" y="2700338"/>
            <a:ext cx="643890" cy="258128"/>
          </a:xfrm>
          <a:prstGeom prst="rect">
            <a:avLst/>
          </a:prstGeom>
          <a:solidFill>
            <a:srgbClr val="EE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3145155" y="2700338"/>
            <a:ext cx="643890" cy="258128"/>
          </a:xfrm>
          <a:prstGeom prst="rect">
            <a:avLst/>
          </a:prstGeom>
          <a:solidFill>
            <a:srgbClr val="E8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3789045" y="2700338"/>
            <a:ext cx="643890" cy="258128"/>
          </a:xfrm>
          <a:prstGeom prst="rect">
            <a:avLst/>
          </a:prstGeom>
          <a:solidFill>
            <a:srgbClr val="E2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4432935" y="2700338"/>
            <a:ext cx="643890" cy="258128"/>
          </a:xfrm>
          <a:prstGeom prst="rect">
            <a:avLst/>
          </a:prstGeom>
          <a:solidFill>
            <a:srgbClr val="C5D9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5076825" y="2700338"/>
            <a:ext cx="643890" cy="258128"/>
          </a:xfrm>
          <a:prstGeom prst="rect">
            <a:avLst/>
          </a:prstGeom>
          <a:solidFill>
            <a:srgbClr val="B0CE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5720715" y="2700338"/>
            <a:ext cx="643890" cy="258128"/>
          </a:xfrm>
          <a:prstGeom prst="rect">
            <a:avLst/>
          </a:prstGeom>
          <a:solidFill>
            <a:srgbClr val="9AC1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6364605" y="2700338"/>
            <a:ext cx="643890" cy="258128"/>
          </a:xfrm>
          <a:prstGeom prst="rect">
            <a:avLst/>
          </a:prstGeom>
          <a:solidFill>
            <a:srgbClr val="80B3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7008495" y="2700338"/>
            <a:ext cx="643890" cy="258128"/>
          </a:xfrm>
          <a:prstGeom prst="rect">
            <a:avLst/>
          </a:prstGeom>
          <a:solidFill>
            <a:srgbClr val="5FA1C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7652385" y="2700338"/>
            <a:ext cx="643890" cy="258128"/>
          </a:xfrm>
          <a:prstGeom prst="rect">
            <a:avLst/>
          </a:prstGeom>
          <a:solidFill>
            <a:srgbClr val="4593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8296275" y="2700338"/>
            <a:ext cx="643890" cy="258128"/>
          </a:xfrm>
          <a:prstGeom prst="rect">
            <a:avLst/>
          </a:prstGeom>
          <a:solidFill>
            <a:srgbClr val="368AC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8940165" y="2700338"/>
            <a:ext cx="643890" cy="258128"/>
          </a:xfrm>
          <a:prstGeom prst="rect">
            <a:avLst/>
          </a:prstGeom>
          <a:solidFill>
            <a:srgbClr val="3388B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9584055" y="2700338"/>
            <a:ext cx="643890" cy="258128"/>
          </a:xfrm>
          <a:prstGeom prst="rect">
            <a:avLst/>
          </a:prstGeom>
          <a:solidFill>
            <a:srgbClr val="3389B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0227945" y="2700338"/>
            <a:ext cx="643890" cy="258128"/>
          </a:xfrm>
          <a:prstGeom prst="rect">
            <a:avLst/>
          </a:prstGeom>
          <a:solidFill>
            <a:srgbClr val="378B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10871835" y="2700338"/>
            <a:ext cx="643890" cy="258128"/>
          </a:xfrm>
          <a:prstGeom prst="rect">
            <a:avLst/>
          </a:prstGeom>
          <a:solidFill>
            <a:srgbClr val="3C8E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238125" y="2958465"/>
            <a:ext cx="1590675" cy="258128"/>
          </a:xfrm>
          <a:prstGeom prst="rect">
            <a:avLst/>
          </a:prstGeom>
          <a:noFill/>
        </p:spPr>
        <p:txBody>
          <a:bodyPr wrap="square" lIns="28575" rIns="28575" tIns="9525" bIns="9525" anchor="ctr">
            <a:spAutoFit/>
          </a:bodyPr>
          <a:lstStyle/>
          <a:p>
            <a:pPr algn="l"/>
            <a:r>
              <a:rPr sz="1100" b="0">
                <a:solidFill>
                  <a:srgbClr val="2E2E2E"/>
                </a:solidFill>
                <a:latin typeface="Calibri"/>
              </a:rPr>
              <a:t>– Shrink &amp; Overwrap Films</a:t>
            </a:r>
          </a:p>
        </p:txBody>
      </p:sp>
      <p:sp>
        <p:nvSpPr>
          <p:cNvPr id="124" name="Rectangle 123"/>
          <p:cNvSpPr/>
          <p:nvPr/>
        </p:nvSpPr>
        <p:spPr>
          <a:xfrm>
            <a:off x="1857375" y="2958465"/>
            <a:ext cx="643890" cy="258128"/>
          </a:xfrm>
          <a:prstGeom prst="rect">
            <a:avLst/>
          </a:prstGeom>
          <a:solidFill>
            <a:srgbClr val="EA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2501265" y="2958465"/>
            <a:ext cx="643890" cy="258128"/>
          </a:xfrm>
          <a:prstGeom prst="rect">
            <a:avLst/>
          </a:prstGeom>
          <a:solidFill>
            <a:srgbClr val="E7F3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3145155" y="2958465"/>
            <a:ext cx="643890" cy="258128"/>
          </a:xfrm>
          <a:prstGeom prst="rect">
            <a:avLst/>
          </a:prstGeom>
          <a:solidFill>
            <a:srgbClr val="E0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3789045" y="2958465"/>
            <a:ext cx="643890" cy="258128"/>
          </a:xfrm>
          <a:prstGeom prst="rect">
            <a:avLst/>
          </a:prstGeom>
          <a:solidFill>
            <a:srgbClr val="D9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4432935" y="2958465"/>
            <a:ext cx="643890" cy="258128"/>
          </a:xfrm>
          <a:prstGeom prst="rect">
            <a:avLst/>
          </a:prstGeom>
          <a:solidFill>
            <a:srgbClr val="ADCC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5076825" y="2958465"/>
            <a:ext cx="643890" cy="258128"/>
          </a:xfrm>
          <a:prstGeom prst="rect">
            <a:avLst/>
          </a:prstGeom>
          <a:solidFill>
            <a:srgbClr val="90BB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5720715" y="2958465"/>
            <a:ext cx="643890" cy="258128"/>
          </a:xfrm>
          <a:prstGeom prst="rect">
            <a:avLst/>
          </a:prstGeom>
          <a:solidFill>
            <a:srgbClr val="64A4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6364605" y="2958465"/>
            <a:ext cx="643890" cy="258128"/>
          </a:xfrm>
          <a:prstGeom prst="rect">
            <a:avLst/>
          </a:prstGeom>
          <a:solidFill>
            <a:srgbClr val="3D8E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7008495" y="2958465"/>
            <a:ext cx="643890" cy="258128"/>
          </a:xfrm>
          <a:prstGeom prst="rect">
            <a:avLst/>
          </a:prstGeom>
          <a:solidFill>
            <a:srgbClr val="2781B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7652385" y="2958465"/>
            <a:ext cx="643890" cy="258128"/>
          </a:xfrm>
          <a:prstGeom prst="rect">
            <a:avLst/>
          </a:prstGeom>
          <a:solidFill>
            <a:srgbClr val="1777B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8296275" y="2958465"/>
            <a:ext cx="643890" cy="258128"/>
          </a:xfrm>
          <a:prstGeom prst="rect">
            <a:avLst/>
          </a:prstGeom>
          <a:solidFill>
            <a:srgbClr val="0E6DA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8940165" y="2958465"/>
            <a:ext cx="643890" cy="258128"/>
          </a:xfrm>
          <a:prstGeom prst="rect">
            <a:avLst/>
          </a:prstGeom>
          <a:solidFill>
            <a:srgbClr val="0D629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9584055" y="2958465"/>
            <a:ext cx="643890" cy="258128"/>
          </a:xfrm>
          <a:prstGeom prst="rect">
            <a:avLst/>
          </a:prstGeom>
          <a:solidFill>
            <a:srgbClr val="0D5D8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10227945" y="2958465"/>
            <a:ext cx="643890" cy="258128"/>
          </a:xfrm>
          <a:prstGeom prst="rect">
            <a:avLst/>
          </a:prstGeom>
          <a:solidFill>
            <a:srgbClr val="0D639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10871835" y="2958465"/>
            <a:ext cx="643890" cy="258128"/>
          </a:xfrm>
          <a:prstGeom prst="rect">
            <a:avLst/>
          </a:prstGeom>
          <a:solidFill>
            <a:srgbClr val="0E6BA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238125" y="3216593"/>
            <a:ext cx="1590675" cy="258128"/>
          </a:xfrm>
          <a:prstGeom prst="rect">
            <a:avLst/>
          </a:prstGeom>
          <a:noFill/>
        </p:spPr>
        <p:txBody>
          <a:bodyPr wrap="square" lIns="28575" rIns="28575" tIns="9525" bIns="9525" anchor="ctr">
            <a:spAutoFit/>
          </a:bodyPr>
          <a:lstStyle/>
          <a:p>
            <a:pPr algn="l"/>
            <a:r>
              <a:rPr sz="1100" b="0">
                <a:solidFill>
                  <a:srgbClr val="2E2E2E"/>
                </a:solidFill>
                <a:latin typeface="Calibri"/>
              </a:rPr>
              <a:t>Barrier Casings</a:t>
            </a:r>
          </a:p>
        </p:txBody>
      </p:sp>
      <p:sp>
        <p:nvSpPr>
          <p:cNvPr id="140" name="Rectangle 139"/>
          <p:cNvSpPr/>
          <p:nvPr/>
        </p:nvSpPr>
        <p:spPr>
          <a:xfrm>
            <a:off x="1857375" y="3216593"/>
            <a:ext cx="643890" cy="258128"/>
          </a:xfrm>
          <a:prstGeom prst="rect">
            <a:avLst/>
          </a:prstGeom>
          <a:solidFill>
            <a:srgbClr val="E9F5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2501265" y="3216593"/>
            <a:ext cx="643890" cy="258128"/>
          </a:xfrm>
          <a:prstGeom prst="rect">
            <a:avLst/>
          </a:prstGeom>
          <a:solidFill>
            <a:srgbClr val="E4F1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3145155" y="3216593"/>
            <a:ext cx="643890" cy="258128"/>
          </a:xfrm>
          <a:prstGeom prst="rect">
            <a:avLst/>
          </a:prstGeom>
          <a:solidFill>
            <a:srgbClr val="DBEA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3789045" y="3216593"/>
            <a:ext cx="643890" cy="258128"/>
          </a:xfrm>
          <a:prstGeom prst="rect">
            <a:avLst/>
          </a:prstGeom>
          <a:solidFill>
            <a:srgbClr val="D5E5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4432935" y="3216593"/>
            <a:ext cx="643890" cy="258128"/>
          </a:xfrm>
          <a:prstGeom prst="rect">
            <a:avLst/>
          </a:prstGeom>
          <a:solidFill>
            <a:srgbClr val="AECD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5076825" y="3216593"/>
            <a:ext cx="643890" cy="258128"/>
          </a:xfrm>
          <a:prstGeom prst="rect">
            <a:avLst/>
          </a:prstGeom>
          <a:solidFill>
            <a:srgbClr val="9BC2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5720715" y="3216593"/>
            <a:ext cx="643890" cy="258128"/>
          </a:xfrm>
          <a:prstGeom prst="rect">
            <a:avLst/>
          </a:prstGeom>
          <a:solidFill>
            <a:srgbClr val="80B3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6364605" y="3216593"/>
            <a:ext cx="643890" cy="258128"/>
          </a:xfrm>
          <a:prstGeom prst="rect">
            <a:avLst/>
          </a:prstGeom>
          <a:solidFill>
            <a:srgbClr val="5EA1C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7008495" y="3216593"/>
            <a:ext cx="643890" cy="258128"/>
          </a:xfrm>
          <a:prstGeom prst="rect">
            <a:avLst/>
          </a:prstGeom>
          <a:solidFill>
            <a:srgbClr val="398C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7652385" y="3216593"/>
            <a:ext cx="643890" cy="258128"/>
          </a:xfrm>
          <a:prstGeom prst="rect">
            <a:avLst/>
          </a:prstGeom>
          <a:solidFill>
            <a:srgbClr val="227EB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8296275" y="3216593"/>
            <a:ext cx="643890" cy="258128"/>
          </a:xfrm>
          <a:prstGeom prst="rect">
            <a:avLst/>
          </a:prstGeom>
          <a:solidFill>
            <a:srgbClr val="1375B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8940165" y="3216593"/>
            <a:ext cx="643890" cy="258128"/>
          </a:xfrm>
          <a:prstGeom prst="rect">
            <a:avLst/>
          </a:prstGeom>
          <a:solidFill>
            <a:srgbClr val="1073A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9584055" y="3216593"/>
            <a:ext cx="643890" cy="258128"/>
          </a:xfrm>
          <a:prstGeom prst="rect">
            <a:avLst/>
          </a:prstGeom>
          <a:solidFill>
            <a:srgbClr val="1073A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10227945" y="3216593"/>
            <a:ext cx="643890" cy="258128"/>
          </a:xfrm>
          <a:prstGeom prst="rect">
            <a:avLst/>
          </a:prstGeom>
          <a:solidFill>
            <a:srgbClr val="1476B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10871835" y="3216593"/>
            <a:ext cx="643890" cy="258128"/>
          </a:xfrm>
          <a:prstGeom prst="rect">
            <a:avLst/>
          </a:prstGeom>
          <a:solidFill>
            <a:srgbClr val="1B7A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238125" y="3474720"/>
            <a:ext cx="1590675" cy="258128"/>
          </a:xfrm>
          <a:prstGeom prst="rect">
            <a:avLst/>
          </a:prstGeom>
          <a:noFill/>
        </p:spPr>
        <p:txBody>
          <a:bodyPr wrap="square" lIns="28575" rIns="28575" tIns="9525" bIns="9525" anchor="ctr">
            <a:spAutoFit/>
          </a:bodyPr>
          <a:lstStyle/>
          <a:p>
            <a:pPr algn="l"/>
            <a:r>
              <a:rPr sz="1100" b="0">
                <a:solidFill>
                  <a:srgbClr val="2E2E2E"/>
                </a:solidFill>
                <a:latin typeface="Calibri"/>
              </a:rPr>
              <a:t>– Non-Shrink Casings</a:t>
            </a:r>
          </a:p>
        </p:txBody>
      </p:sp>
      <p:sp>
        <p:nvSpPr>
          <p:cNvPr id="156" name="Rectangle 155"/>
          <p:cNvSpPr/>
          <p:nvPr/>
        </p:nvSpPr>
        <p:spPr>
          <a:xfrm>
            <a:off x="1857375" y="3474720"/>
            <a:ext cx="643890" cy="258128"/>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2501265" y="3474720"/>
            <a:ext cx="643890" cy="258128"/>
          </a:xfrm>
          <a:prstGeom prst="rect">
            <a:avLst/>
          </a:prstGeom>
          <a:solidFill>
            <a:srgbClr val="F8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3145155" y="3474720"/>
            <a:ext cx="643890" cy="258128"/>
          </a:xfrm>
          <a:prstGeom prst="rect">
            <a:avLst/>
          </a:prstGeom>
          <a:solidFill>
            <a:srgbClr val="EF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3789045" y="3474720"/>
            <a:ext cx="643890" cy="258128"/>
          </a:xfrm>
          <a:prstGeom prst="rect">
            <a:avLst/>
          </a:prstGeom>
          <a:solidFill>
            <a:srgbClr val="E9F5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4432935" y="3474720"/>
            <a:ext cx="643890" cy="258128"/>
          </a:xfrm>
          <a:prstGeom prst="rect">
            <a:avLst/>
          </a:prstGeom>
          <a:solidFill>
            <a:srgbClr val="CEE0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5076825" y="3474720"/>
            <a:ext cx="643890" cy="258128"/>
          </a:xfrm>
          <a:prstGeom prst="rect">
            <a:avLst/>
          </a:prstGeom>
          <a:solidFill>
            <a:srgbClr val="BFD6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5720715" y="3474720"/>
            <a:ext cx="643890" cy="258128"/>
          </a:xfrm>
          <a:prstGeom prst="rect">
            <a:avLst/>
          </a:prstGeom>
          <a:solidFill>
            <a:srgbClr val="ACCB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6364605" y="3474720"/>
            <a:ext cx="643890" cy="258128"/>
          </a:xfrm>
          <a:prstGeom prst="rect">
            <a:avLst/>
          </a:prstGeom>
          <a:solidFill>
            <a:srgbClr val="96BF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7008495" y="3474720"/>
            <a:ext cx="643890" cy="258128"/>
          </a:xfrm>
          <a:prstGeom prst="rect">
            <a:avLst/>
          </a:prstGeom>
          <a:solidFill>
            <a:srgbClr val="71ABD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7652385" y="3474720"/>
            <a:ext cx="643890" cy="258128"/>
          </a:xfrm>
          <a:prstGeom prst="rect">
            <a:avLst/>
          </a:prstGeom>
          <a:solidFill>
            <a:srgbClr val="4D97C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8296275" y="3474720"/>
            <a:ext cx="643890" cy="258128"/>
          </a:xfrm>
          <a:prstGeom prst="rect">
            <a:avLst/>
          </a:prstGeom>
          <a:solidFill>
            <a:srgbClr val="3A8D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8940165" y="3474720"/>
            <a:ext cx="643890" cy="258128"/>
          </a:xfrm>
          <a:prstGeom prst="rect">
            <a:avLst/>
          </a:prstGeom>
          <a:solidFill>
            <a:srgbClr val="3A8C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9584055" y="3474720"/>
            <a:ext cx="643890" cy="258128"/>
          </a:xfrm>
          <a:prstGeom prst="rect">
            <a:avLst/>
          </a:prstGeom>
          <a:solidFill>
            <a:srgbClr val="3A8D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10227945" y="3474720"/>
            <a:ext cx="643890" cy="258128"/>
          </a:xfrm>
          <a:prstGeom prst="rect">
            <a:avLst/>
          </a:prstGeom>
          <a:solidFill>
            <a:srgbClr val="4090C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10871835" y="3474720"/>
            <a:ext cx="643890" cy="258128"/>
          </a:xfrm>
          <a:prstGeom prst="rect">
            <a:avLst/>
          </a:prstGeom>
          <a:solidFill>
            <a:srgbClr val="4B96C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238125" y="3732848"/>
            <a:ext cx="1590675" cy="258128"/>
          </a:xfrm>
          <a:prstGeom prst="rect">
            <a:avLst/>
          </a:prstGeom>
          <a:noFill/>
        </p:spPr>
        <p:txBody>
          <a:bodyPr wrap="square" lIns="28575" rIns="28575" tIns="9525" bIns="9525" anchor="ctr">
            <a:spAutoFit/>
          </a:bodyPr>
          <a:lstStyle/>
          <a:p>
            <a:pPr algn="l"/>
            <a:r>
              <a:rPr sz="1100" b="0">
                <a:solidFill>
                  <a:srgbClr val="2E2E2E"/>
                </a:solidFill>
                <a:latin typeface="Calibri"/>
              </a:rPr>
              <a:t>– Shrink Casings</a:t>
            </a:r>
          </a:p>
        </p:txBody>
      </p:sp>
      <p:sp>
        <p:nvSpPr>
          <p:cNvPr id="172" name="Rectangle 171"/>
          <p:cNvSpPr/>
          <p:nvPr/>
        </p:nvSpPr>
        <p:spPr>
          <a:xfrm>
            <a:off x="1857375" y="3732848"/>
            <a:ext cx="643890" cy="258128"/>
          </a:xfrm>
          <a:prstGeom prst="rect">
            <a:avLst/>
          </a:prstGeom>
          <a:solidFill>
            <a:srgbClr val="E7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2501265" y="3732848"/>
            <a:ext cx="643890" cy="258128"/>
          </a:xfrm>
          <a:prstGeom prst="rect">
            <a:avLst/>
          </a:prstGeom>
          <a:solidFill>
            <a:srgbClr val="E2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3145155" y="3732848"/>
            <a:ext cx="643890" cy="258128"/>
          </a:xfrm>
          <a:prstGeom prst="rect">
            <a:avLst/>
          </a:prstGeom>
          <a:solidFill>
            <a:srgbClr val="D9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3789045" y="3732848"/>
            <a:ext cx="643890" cy="258128"/>
          </a:xfrm>
          <a:prstGeom prst="rect">
            <a:avLst/>
          </a:prstGeom>
          <a:solidFill>
            <a:srgbClr val="D3E3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Rectangle 175"/>
          <p:cNvSpPr/>
          <p:nvPr/>
        </p:nvSpPr>
        <p:spPr>
          <a:xfrm>
            <a:off x="4432935" y="3732848"/>
            <a:ext cx="643890" cy="258128"/>
          </a:xfrm>
          <a:prstGeom prst="rect">
            <a:avLst/>
          </a:prstGeom>
          <a:solidFill>
            <a:srgbClr val="A9CA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Rectangle 176"/>
          <p:cNvSpPr/>
          <p:nvPr/>
        </p:nvSpPr>
        <p:spPr>
          <a:xfrm>
            <a:off x="5076825" y="3732848"/>
            <a:ext cx="643890" cy="258128"/>
          </a:xfrm>
          <a:prstGeom prst="rect">
            <a:avLst/>
          </a:prstGeom>
          <a:solidFill>
            <a:srgbClr val="8EBB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ectangle 177"/>
          <p:cNvSpPr/>
          <p:nvPr/>
        </p:nvSpPr>
        <p:spPr>
          <a:xfrm>
            <a:off x="5720715" y="3732848"/>
            <a:ext cx="643890" cy="258128"/>
          </a:xfrm>
          <a:prstGeom prst="rect">
            <a:avLst/>
          </a:prstGeom>
          <a:solidFill>
            <a:srgbClr val="63A3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Rectangle 178"/>
          <p:cNvSpPr/>
          <p:nvPr/>
        </p:nvSpPr>
        <p:spPr>
          <a:xfrm>
            <a:off x="6364605" y="3732848"/>
            <a:ext cx="643890" cy="258128"/>
          </a:xfrm>
          <a:prstGeom prst="rect">
            <a:avLst/>
          </a:prstGeom>
          <a:solidFill>
            <a:srgbClr val="3A8D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ectangle 179"/>
          <p:cNvSpPr/>
          <p:nvPr/>
        </p:nvSpPr>
        <p:spPr>
          <a:xfrm>
            <a:off x="7008495" y="3732848"/>
            <a:ext cx="643890" cy="258128"/>
          </a:xfrm>
          <a:prstGeom prst="rect">
            <a:avLst/>
          </a:prstGeom>
          <a:solidFill>
            <a:srgbClr val="1C7BB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Rectangle 180"/>
          <p:cNvSpPr/>
          <p:nvPr/>
        </p:nvSpPr>
        <p:spPr>
          <a:xfrm>
            <a:off x="7652385" y="3732848"/>
            <a:ext cx="643890" cy="258128"/>
          </a:xfrm>
          <a:prstGeom prst="rect">
            <a:avLst/>
          </a:prstGeom>
          <a:solidFill>
            <a:srgbClr val="0D619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tangle 181"/>
          <p:cNvSpPr/>
          <p:nvPr/>
        </p:nvSpPr>
        <p:spPr>
          <a:xfrm>
            <a:off x="8296275" y="3732848"/>
            <a:ext cx="643890" cy="258128"/>
          </a:xfrm>
          <a:prstGeom prst="rect">
            <a:avLst/>
          </a:prstGeom>
          <a:solidFill>
            <a:srgbClr val="0C476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ectangle 182"/>
          <p:cNvSpPr/>
          <p:nvPr/>
        </p:nvSpPr>
        <p:spPr>
          <a:xfrm>
            <a:off x="8940165" y="3732848"/>
            <a:ext cx="643890" cy="258128"/>
          </a:xfrm>
          <a:prstGeom prst="rect">
            <a:avLst/>
          </a:prstGeom>
          <a:solidFill>
            <a:srgbClr val="0C406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9584055" y="3732848"/>
            <a:ext cx="643890" cy="258128"/>
          </a:xfrm>
          <a:prstGeom prst="rect">
            <a:avLst/>
          </a:prstGeom>
          <a:solidFill>
            <a:srgbClr val="0C3D6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10227945" y="3732848"/>
            <a:ext cx="643890" cy="258128"/>
          </a:xfrm>
          <a:prstGeom prst="rect">
            <a:avLst/>
          </a:prstGeom>
          <a:solidFill>
            <a:srgbClr val="0C456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10871835" y="3732848"/>
            <a:ext cx="643890" cy="258128"/>
          </a:xfrm>
          <a:prstGeom prst="rect">
            <a:avLst/>
          </a:prstGeom>
          <a:solidFill>
            <a:srgbClr val="0D517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238125" y="3990975"/>
            <a:ext cx="1590675" cy="258128"/>
          </a:xfrm>
          <a:prstGeom prst="rect">
            <a:avLst/>
          </a:prstGeom>
          <a:noFill/>
        </p:spPr>
        <p:txBody>
          <a:bodyPr wrap="square" lIns="28575" rIns="28575" tIns="9525" bIns="9525" anchor="ctr">
            <a:spAutoFit/>
          </a:bodyPr>
          <a:lstStyle/>
          <a:p>
            <a:pPr algn="l"/>
            <a:r>
              <a:rPr sz="1100" b="0">
                <a:solidFill>
                  <a:srgbClr val="2E2E2E"/>
                </a:solidFill>
                <a:latin typeface="Calibri"/>
              </a:rPr>
              <a:t>– Other Specialty Casings</a:t>
            </a:r>
          </a:p>
        </p:txBody>
      </p:sp>
      <p:sp>
        <p:nvSpPr>
          <p:cNvPr id="188" name="Rectangle 187"/>
          <p:cNvSpPr/>
          <p:nvPr/>
        </p:nvSpPr>
        <p:spPr>
          <a:xfrm>
            <a:off x="1857375" y="3990975"/>
            <a:ext cx="643890" cy="258128"/>
          </a:xfrm>
          <a:prstGeom prst="rect">
            <a:avLst/>
          </a:prstGeom>
          <a:solidFill>
            <a:srgbClr val="A4C7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2501265" y="3990975"/>
            <a:ext cx="643890" cy="258128"/>
          </a:xfrm>
          <a:prstGeom prst="rect">
            <a:avLst/>
          </a:prstGeom>
          <a:solidFill>
            <a:srgbClr val="A4C7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3145155" y="3990975"/>
            <a:ext cx="643890" cy="258128"/>
          </a:xfrm>
          <a:prstGeom prst="rect">
            <a:avLst/>
          </a:prstGeom>
          <a:solidFill>
            <a:srgbClr val="9AC1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3789045" y="3990975"/>
            <a:ext cx="643890" cy="258128"/>
          </a:xfrm>
          <a:prstGeom prst="rect">
            <a:avLst/>
          </a:prstGeom>
          <a:solidFill>
            <a:srgbClr val="96BF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4432935" y="3990975"/>
            <a:ext cx="643890" cy="258128"/>
          </a:xfrm>
          <a:prstGeom prst="rect">
            <a:avLst/>
          </a:prstGeom>
          <a:solidFill>
            <a:srgbClr val="5FA1C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5076825" y="3990975"/>
            <a:ext cx="643890" cy="258128"/>
          </a:xfrm>
          <a:prstGeom prst="rect">
            <a:avLst/>
          </a:prstGeom>
          <a:solidFill>
            <a:srgbClr val="539AC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5720715" y="3990975"/>
            <a:ext cx="643890" cy="258128"/>
          </a:xfrm>
          <a:prstGeom prst="rect">
            <a:avLst/>
          </a:prstGeom>
          <a:solidFill>
            <a:srgbClr val="4291C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Rectangle 194"/>
          <p:cNvSpPr/>
          <p:nvPr/>
        </p:nvSpPr>
        <p:spPr>
          <a:xfrm>
            <a:off x="6364605" y="3990975"/>
            <a:ext cx="643890" cy="258128"/>
          </a:xfrm>
          <a:prstGeom prst="rect">
            <a:avLst/>
          </a:prstGeom>
          <a:solidFill>
            <a:srgbClr val="368AC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7008495" y="3990975"/>
            <a:ext cx="643890" cy="258128"/>
          </a:xfrm>
          <a:prstGeom prst="rect">
            <a:avLst/>
          </a:prstGeom>
          <a:solidFill>
            <a:srgbClr val="237F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7652385" y="3990975"/>
            <a:ext cx="643890" cy="258128"/>
          </a:xfrm>
          <a:prstGeom prst="rect">
            <a:avLst/>
          </a:prstGeom>
          <a:solidFill>
            <a:srgbClr val="1375B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ectangle 197"/>
          <p:cNvSpPr/>
          <p:nvPr/>
        </p:nvSpPr>
        <p:spPr>
          <a:xfrm>
            <a:off x="8296275" y="3990975"/>
            <a:ext cx="643890" cy="258128"/>
          </a:xfrm>
          <a:prstGeom prst="rect">
            <a:avLst/>
          </a:prstGeom>
          <a:solidFill>
            <a:srgbClr val="0D649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Rectangle 198"/>
          <p:cNvSpPr/>
          <p:nvPr/>
        </p:nvSpPr>
        <p:spPr>
          <a:xfrm>
            <a:off x="8940165" y="3990975"/>
            <a:ext cx="643890" cy="258128"/>
          </a:xfrm>
          <a:prstGeom prst="rect">
            <a:avLst/>
          </a:prstGeom>
          <a:solidFill>
            <a:srgbClr val="0D5C8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9584055" y="3990975"/>
            <a:ext cx="643890" cy="258128"/>
          </a:xfrm>
          <a:prstGeom prst="rect">
            <a:avLst/>
          </a:prstGeom>
          <a:solidFill>
            <a:srgbClr val="0D609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Rectangle 200"/>
          <p:cNvSpPr/>
          <p:nvPr/>
        </p:nvSpPr>
        <p:spPr>
          <a:xfrm>
            <a:off x="10227945" y="3990975"/>
            <a:ext cx="643890" cy="258128"/>
          </a:xfrm>
          <a:prstGeom prst="rect">
            <a:avLst/>
          </a:prstGeom>
          <a:solidFill>
            <a:srgbClr val="0D639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Rectangle 201"/>
          <p:cNvSpPr/>
          <p:nvPr/>
        </p:nvSpPr>
        <p:spPr>
          <a:xfrm>
            <a:off x="10871835" y="3990975"/>
            <a:ext cx="643890" cy="258128"/>
          </a:xfrm>
          <a:prstGeom prst="rect">
            <a:avLst/>
          </a:prstGeom>
          <a:solidFill>
            <a:srgbClr val="0E689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238125" y="4249102"/>
            <a:ext cx="1590675" cy="258128"/>
          </a:xfrm>
          <a:prstGeom prst="rect">
            <a:avLst/>
          </a:prstGeom>
          <a:noFill/>
        </p:spPr>
        <p:txBody>
          <a:bodyPr wrap="square" lIns="28575" rIns="28575" tIns="9525" bIns="9525" anchor="ctr">
            <a:spAutoFit/>
          </a:bodyPr>
          <a:lstStyle/>
          <a:p>
            <a:pPr algn="l"/>
            <a:r>
              <a:rPr sz="1100" b="0">
                <a:solidFill>
                  <a:srgbClr val="2E2E2E"/>
                </a:solidFill>
                <a:latin typeface="Calibri"/>
              </a:rPr>
              <a:t>Premade Pouches &amp; Bags</a:t>
            </a:r>
          </a:p>
        </p:txBody>
      </p:sp>
      <p:sp>
        <p:nvSpPr>
          <p:cNvPr id="204" name="Rectangle 203"/>
          <p:cNvSpPr/>
          <p:nvPr/>
        </p:nvSpPr>
        <p:spPr>
          <a:xfrm>
            <a:off x="1857375" y="4249102"/>
            <a:ext cx="643890" cy="258128"/>
          </a:xfrm>
          <a:prstGeom prst="rect">
            <a:avLst/>
          </a:prstGeom>
          <a:solidFill>
            <a:srgbClr val="E3F1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Rectangle 204"/>
          <p:cNvSpPr/>
          <p:nvPr/>
        </p:nvSpPr>
        <p:spPr>
          <a:xfrm>
            <a:off x="2501265" y="4249102"/>
            <a:ext cx="643890" cy="258128"/>
          </a:xfrm>
          <a:prstGeom prst="rect">
            <a:avLst/>
          </a:prstGeom>
          <a:solidFill>
            <a:srgbClr val="DFED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Rectangle 205"/>
          <p:cNvSpPr/>
          <p:nvPr/>
        </p:nvSpPr>
        <p:spPr>
          <a:xfrm>
            <a:off x="3145155" y="4249102"/>
            <a:ext cx="643890" cy="258128"/>
          </a:xfrm>
          <a:prstGeom prst="rect">
            <a:avLst/>
          </a:prstGeom>
          <a:solidFill>
            <a:srgbClr val="D7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Rectangle 206"/>
          <p:cNvSpPr/>
          <p:nvPr/>
        </p:nvSpPr>
        <p:spPr>
          <a:xfrm>
            <a:off x="3789045" y="4249102"/>
            <a:ext cx="643890" cy="258128"/>
          </a:xfrm>
          <a:prstGeom prst="rect">
            <a:avLst/>
          </a:prstGeom>
          <a:solidFill>
            <a:srgbClr val="D2E3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Rectangle 207"/>
          <p:cNvSpPr/>
          <p:nvPr/>
        </p:nvSpPr>
        <p:spPr>
          <a:xfrm>
            <a:off x="4432935" y="4249102"/>
            <a:ext cx="643890" cy="258128"/>
          </a:xfrm>
          <a:prstGeom prst="rect">
            <a:avLst/>
          </a:prstGeom>
          <a:solidFill>
            <a:srgbClr val="A6C8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ectangle 208"/>
          <p:cNvSpPr/>
          <p:nvPr/>
        </p:nvSpPr>
        <p:spPr>
          <a:xfrm>
            <a:off x="5076825" y="4249102"/>
            <a:ext cx="643890" cy="258128"/>
          </a:xfrm>
          <a:prstGeom prst="rect">
            <a:avLst/>
          </a:prstGeom>
          <a:solidFill>
            <a:srgbClr val="91BC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5720715" y="4249102"/>
            <a:ext cx="643890" cy="258128"/>
          </a:xfrm>
          <a:prstGeom prst="rect">
            <a:avLst/>
          </a:prstGeom>
          <a:solidFill>
            <a:srgbClr val="6FA9D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Rectangle 210"/>
          <p:cNvSpPr/>
          <p:nvPr/>
        </p:nvSpPr>
        <p:spPr>
          <a:xfrm>
            <a:off x="6364605" y="4249102"/>
            <a:ext cx="643890" cy="258128"/>
          </a:xfrm>
          <a:prstGeom prst="rect">
            <a:avLst/>
          </a:prstGeom>
          <a:solidFill>
            <a:srgbClr val="4D97C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Rectangle 211"/>
          <p:cNvSpPr/>
          <p:nvPr/>
        </p:nvSpPr>
        <p:spPr>
          <a:xfrm>
            <a:off x="7008495" y="4249102"/>
            <a:ext cx="643890" cy="258128"/>
          </a:xfrm>
          <a:prstGeom prst="rect">
            <a:avLst/>
          </a:prstGeom>
          <a:solidFill>
            <a:srgbClr val="3087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Rectangle 212"/>
          <p:cNvSpPr/>
          <p:nvPr/>
        </p:nvSpPr>
        <p:spPr>
          <a:xfrm>
            <a:off x="7652385" y="4249102"/>
            <a:ext cx="643890" cy="258128"/>
          </a:xfrm>
          <a:prstGeom prst="rect">
            <a:avLst/>
          </a:prstGeom>
          <a:solidFill>
            <a:srgbClr val="1D7BB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8296275" y="4249102"/>
            <a:ext cx="643890" cy="258128"/>
          </a:xfrm>
          <a:prstGeom prst="rect">
            <a:avLst/>
          </a:prstGeom>
          <a:solidFill>
            <a:srgbClr val="1073A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Rectangle 214"/>
          <p:cNvSpPr/>
          <p:nvPr/>
        </p:nvSpPr>
        <p:spPr>
          <a:xfrm>
            <a:off x="8940165" y="4249102"/>
            <a:ext cx="643890" cy="258128"/>
          </a:xfrm>
          <a:prstGeom prst="rect">
            <a:avLst/>
          </a:prstGeom>
          <a:solidFill>
            <a:srgbClr val="0E6CA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Rectangle 215"/>
          <p:cNvSpPr/>
          <p:nvPr/>
        </p:nvSpPr>
        <p:spPr>
          <a:xfrm>
            <a:off x="9584055" y="4249102"/>
            <a:ext cx="643890" cy="258128"/>
          </a:xfrm>
          <a:prstGeom prst="rect">
            <a:avLst/>
          </a:prstGeom>
          <a:solidFill>
            <a:srgbClr val="0E6AA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Rectangle 216"/>
          <p:cNvSpPr/>
          <p:nvPr/>
        </p:nvSpPr>
        <p:spPr>
          <a:xfrm>
            <a:off x="10227945" y="4249102"/>
            <a:ext cx="643890" cy="258128"/>
          </a:xfrm>
          <a:prstGeom prst="rect">
            <a:avLst/>
          </a:prstGeom>
          <a:solidFill>
            <a:srgbClr val="0E71A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Rectangle 217"/>
          <p:cNvSpPr/>
          <p:nvPr/>
        </p:nvSpPr>
        <p:spPr>
          <a:xfrm>
            <a:off x="10871835" y="4249102"/>
            <a:ext cx="643890" cy="258128"/>
          </a:xfrm>
          <a:prstGeom prst="rect">
            <a:avLst/>
          </a:prstGeom>
          <a:solidFill>
            <a:srgbClr val="1375B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TextBox 218"/>
          <p:cNvSpPr txBox="1"/>
          <p:nvPr/>
        </p:nvSpPr>
        <p:spPr>
          <a:xfrm>
            <a:off x="238125" y="4507230"/>
            <a:ext cx="1590675" cy="258128"/>
          </a:xfrm>
          <a:prstGeom prst="rect">
            <a:avLst/>
          </a:prstGeom>
          <a:noFill/>
        </p:spPr>
        <p:txBody>
          <a:bodyPr wrap="square" lIns="28575" rIns="28575" tIns="9525" bIns="9525" anchor="ctr">
            <a:spAutoFit/>
          </a:bodyPr>
          <a:lstStyle/>
          <a:p>
            <a:pPr algn="l"/>
            <a:r>
              <a:rPr sz="1100" b="0">
                <a:solidFill>
                  <a:srgbClr val="2E2E2E"/>
                </a:solidFill>
                <a:latin typeface="Calibri"/>
              </a:rPr>
              <a:t>– Vacuum Pouches</a:t>
            </a:r>
          </a:p>
        </p:txBody>
      </p:sp>
      <p:sp>
        <p:nvSpPr>
          <p:cNvPr id="220" name="Rectangle 219"/>
          <p:cNvSpPr/>
          <p:nvPr/>
        </p:nvSpPr>
        <p:spPr>
          <a:xfrm>
            <a:off x="1857375" y="4507230"/>
            <a:ext cx="643890" cy="258128"/>
          </a:xfrm>
          <a:prstGeom prst="rect">
            <a:avLst/>
          </a:prstGeom>
          <a:solidFill>
            <a:srgbClr val="EE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ectangle 220"/>
          <p:cNvSpPr/>
          <p:nvPr/>
        </p:nvSpPr>
        <p:spPr>
          <a:xfrm>
            <a:off x="2501265" y="4507230"/>
            <a:ext cx="643890" cy="258128"/>
          </a:xfrm>
          <a:prstGeom prst="rect">
            <a:avLst/>
          </a:prstGeom>
          <a:solidFill>
            <a:srgbClr val="E9F5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3145155" y="4507230"/>
            <a:ext cx="643890" cy="258128"/>
          </a:xfrm>
          <a:prstGeom prst="rect">
            <a:avLst/>
          </a:prstGeom>
          <a:solidFill>
            <a:srgbClr val="E2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ectangle 222"/>
          <p:cNvSpPr/>
          <p:nvPr/>
        </p:nvSpPr>
        <p:spPr>
          <a:xfrm>
            <a:off x="3789045" y="4507230"/>
            <a:ext cx="643890" cy="258128"/>
          </a:xfrm>
          <a:prstGeom prst="rect">
            <a:avLst/>
          </a:prstGeom>
          <a:solidFill>
            <a:srgbClr val="DD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Rectangle 223"/>
          <p:cNvSpPr/>
          <p:nvPr/>
        </p:nvSpPr>
        <p:spPr>
          <a:xfrm>
            <a:off x="4432935" y="4507230"/>
            <a:ext cx="643890" cy="258128"/>
          </a:xfrm>
          <a:prstGeom prst="rect">
            <a:avLst/>
          </a:prstGeom>
          <a:solidFill>
            <a:srgbClr val="BCD5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Rectangle 224"/>
          <p:cNvSpPr/>
          <p:nvPr/>
        </p:nvSpPr>
        <p:spPr>
          <a:xfrm>
            <a:off x="5076825" y="4507230"/>
            <a:ext cx="643890" cy="258128"/>
          </a:xfrm>
          <a:prstGeom prst="rect">
            <a:avLst/>
          </a:prstGeom>
          <a:solidFill>
            <a:srgbClr val="A4C7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Rectangle 225"/>
          <p:cNvSpPr/>
          <p:nvPr/>
        </p:nvSpPr>
        <p:spPr>
          <a:xfrm>
            <a:off x="5720715" y="4507230"/>
            <a:ext cx="643890" cy="258128"/>
          </a:xfrm>
          <a:prstGeom prst="rect">
            <a:avLst/>
          </a:prstGeom>
          <a:solidFill>
            <a:srgbClr val="88B7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Rectangle 226"/>
          <p:cNvSpPr/>
          <p:nvPr/>
        </p:nvSpPr>
        <p:spPr>
          <a:xfrm>
            <a:off x="6364605" y="4507230"/>
            <a:ext cx="643890" cy="258128"/>
          </a:xfrm>
          <a:prstGeom prst="rect">
            <a:avLst/>
          </a:prstGeom>
          <a:solidFill>
            <a:srgbClr val="65A4C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Rectangle 227"/>
          <p:cNvSpPr/>
          <p:nvPr/>
        </p:nvSpPr>
        <p:spPr>
          <a:xfrm>
            <a:off x="7008495" y="4507230"/>
            <a:ext cx="643890" cy="258128"/>
          </a:xfrm>
          <a:prstGeom prst="rect">
            <a:avLst/>
          </a:prstGeom>
          <a:solidFill>
            <a:srgbClr val="4190C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angle 228"/>
          <p:cNvSpPr/>
          <p:nvPr/>
        </p:nvSpPr>
        <p:spPr>
          <a:xfrm>
            <a:off x="7652385" y="4507230"/>
            <a:ext cx="643890" cy="258128"/>
          </a:xfrm>
          <a:prstGeom prst="rect">
            <a:avLst/>
          </a:prstGeom>
          <a:solidFill>
            <a:srgbClr val="2D84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ectangle 229"/>
          <p:cNvSpPr/>
          <p:nvPr/>
        </p:nvSpPr>
        <p:spPr>
          <a:xfrm>
            <a:off x="8296275" y="4507230"/>
            <a:ext cx="643890" cy="258128"/>
          </a:xfrm>
          <a:prstGeom prst="rect">
            <a:avLst/>
          </a:prstGeom>
          <a:solidFill>
            <a:srgbClr val="1F7DB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8940165" y="4507230"/>
            <a:ext cx="643890" cy="258128"/>
          </a:xfrm>
          <a:prstGeom prst="rect">
            <a:avLst/>
          </a:prstGeom>
          <a:solidFill>
            <a:srgbClr val="1B7A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9584055" y="4507230"/>
            <a:ext cx="643890" cy="258128"/>
          </a:xfrm>
          <a:prstGeom prst="rect">
            <a:avLst/>
          </a:prstGeom>
          <a:solidFill>
            <a:srgbClr val="1B7A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10227945" y="4507230"/>
            <a:ext cx="643890" cy="258128"/>
          </a:xfrm>
          <a:prstGeom prst="rect">
            <a:avLst/>
          </a:prstGeom>
          <a:solidFill>
            <a:srgbClr val="207DB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10871835" y="4507230"/>
            <a:ext cx="643890" cy="258128"/>
          </a:xfrm>
          <a:prstGeom prst="rect">
            <a:avLst/>
          </a:prstGeom>
          <a:solidFill>
            <a:srgbClr val="2882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238125" y="4765358"/>
            <a:ext cx="1590675" cy="258128"/>
          </a:xfrm>
          <a:prstGeom prst="rect">
            <a:avLst/>
          </a:prstGeom>
          <a:noFill/>
        </p:spPr>
        <p:txBody>
          <a:bodyPr wrap="square" lIns="28575" rIns="28575" tIns="9525" bIns="9525" anchor="ctr">
            <a:spAutoFit/>
          </a:bodyPr>
          <a:lstStyle/>
          <a:p>
            <a:pPr algn="l"/>
            <a:r>
              <a:rPr sz="1100" b="0">
                <a:solidFill>
                  <a:srgbClr val="2E2E2E"/>
                </a:solidFill>
                <a:latin typeface="Calibri"/>
              </a:rPr>
              <a:t>– Shrink Bags</a:t>
            </a:r>
          </a:p>
        </p:txBody>
      </p:sp>
      <p:sp>
        <p:nvSpPr>
          <p:cNvPr id="236" name="Rectangle 235"/>
          <p:cNvSpPr/>
          <p:nvPr/>
        </p:nvSpPr>
        <p:spPr>
          <a:xfrm>
            <a:off x="1857375" y="4765358"/>
            <a:ext cx="643890" cy="258128"/>
          </a:xfrm>
          <a:prstGeom prst="rect">
            <a:avLst/>
          </a:prstGeom>
          <a:solidFill>
            <a:srgbClr val="E3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Rectangle 236"/>
          <p:cNvSpPr/>
          <p:nvPr/>
        </p:nvSpPr>
        <p:spPr>
          <a:xfrm>
            <a:off x="2501265" y="4765358"/>
            <a:ext cx="643890" cy="258128"/>
          </a:xfrm>
          <a:prstGeom prst="rect">
            <a:avLst/>
          </a:prstGeom>
          <a:solidFill>
            <a:srgbClr val="DEED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Rectangle 237"/>
          <p:cNvSpPr/>
          <p:nvPr/>
        </p:nvSpPr>
        <p:spPr>
          <a:xfrm>
            <a:off x="3145155" y="4765358"/>
            <a:ext cx="643890" cy="258128"/>
          </a:xfrm>
          <a:prstGeom prst="rect">
            <a:avLst/>
          </a:prstGeom>
          <a:solidFill>
            <a:srgbClr val="D7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Rectangle 238"/>
          <p:cNvSpPr/>
          <p:nvPr/>
        </p:nvSpPr>
        <p:spPr>
          <a:xfrm>
            <a:off x="3789045" y="4765358"/>
            <a:ext cx="643890" cy="258128"/>
          </a:xfrm>
          <a:prstGeom prst="rect">
            <a:avLst/>
          </a:prstGeom>
          <a:solidFill>
            <a:srgbClr val="D1E2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Rectangle 239"/>
          <p:cNvSpPr/>
          <p:nvPr/>
        </p:nvSpPr>
        <p:spPr>
          <a:xfrm>
            <a:off x="4432935" y="4765358"/>
            <a:ext cx="643890" cy="258128"/>
          </a:xfrm>
          <a:prstGeom prst="rect">
            <a:avLst/>
          </a:prstGeom>
          <a:solidFill>
            <a:srgbClr val="9EC4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5076825" y="4765358"/>
            <a:ext cx="643890" cy="258128"/>
          </a:xfrm>
          <a:prstGeom prst="rect">
            <a:avLst/>
          </a:prstGeom>
          <a:solidFill>
            <a:srgbClr val="7DB1D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5720715" y="4765358"/>
            <a:ext cx="643890" cy="258128"/>
          </a:xfrm>
          <a:prstGeom prst="rect">
            <a:avLst/>
          </a:prstGeom>
          <a:solidFill>
            <a:srgbClr val="4E98C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p:cNvSpPr/>
          <p:nvPr/>
        </p:nvSpPr>
        <p:spPr>
          <a:xfrm>
            <a:off x="6364605" y="4765358"/>
            <a:ext cx="643890" cy="258128"/>
          </a:xfrm>
          <a:prstGeom prst="rect">
            <a:avLst/>
          </a:prstGeom>
          <a:solidFill>
            <a:srgbClr val="2A83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Rectangle 243"/>
          <p:cNvSpPr/>
          <p:nvPr/>
        </p:nvSpPr>
        <p:spPr>
          <a:xfrm>
            <a:off x="7008495" y="4765358"/>
            <a:ext cx="643890" cy="258128"/>
          </a:xfrm>
          <a:prstGeom prst="rect">
            <a:avLst/>
          </a:prstGeom>
          <a:solidFill>
            <a:srgbClr val="0F73A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Rectangle 244"/>
          <p:cNvSpPr/>
          <p:nvPr/>
        </p:nvSpPr>
        <p:spPr>
          <a:xfrm>
            <a:off x="7652385" y="4765358"/>
            <a:ext cx="643890" cy="258128"/>
          </a:xfrm>
          <a:prstGeom prst="rect">
            <a:avLst/>
          </a:prstGeom>
          <a:solidFill>
            <a:srgbClr val="0D538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Rectangle 245"/>
          <p:cNvSpPr/>
          <p:nvPr/>
        </p:nvSpPr>
        <p:spPr>
          <a:xfrm>
            <a:off x="8296275" y="4765358"/>
            <a:ext cx="643890" cy="258128"/>
          </a:xfrm>
          <a:prstGeom prst="rect">
            <a:avLst/>
          </a:prstGeom>
          <a:solidFill>
            <a:srgbClr val="0C3B5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Rectangle 246"/>
          <p:cNvSpPr/>
          <p:nvPr/>
        </p:nvSpPr>
        <p:spPr>
          <a:xfrm>
            <a:off x="8940165" y="4765358"/>
            <a:ext cx="643890" cy="258128"/>
          </a:xfrm>
          <a:prstGeom prst="rect">
            <a:avLst/>
          </a:prstGeom>
          <a:solidFill>
            <a:srgbClr val="0B2F4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9584055" y="4765358"/>
            <a:ext cx="643890" cy="258128"/>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10227945" y="4765358"/>
            <a:ext cx="643890" cy="258128"/>
          </a:xfrm>
          <a:prstGeom prst="rect">
            <a:avLst/>
          </a:prstGeom>
          <a:solidFill>
            <a:srgbClr val="0B375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p:cNvSpPr/>
          <p:nvPr/>
        </p:nvSpPr>
        <p:spPr>
          <a:xfrm>
            <a:off x="10871835" y="4765358"/>
            <a:ext cx="643890" cy="258128"/>
          </a:xfrm>
          <a:prstGeom prst="rect">
            <a:avLst/>
          </a:prstGeom>
          <a:solidFill>
            <a:srgbClr val="0C426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TextBox 250"/>
          <p:cNvSpPr txBox="1"/>
          <p:nvPr/>
        </p:nvSpPr>
        <p:spPr>
          <a:xfrm>
            <a:off x="238125" y="5023485"/>
            <a:ext cx="1590675" cy="258128"/>
          </a:xfrm>
          <a:prstGeom prst="rect">
            <a:avLst/>
          </a:prstGeom>
          <a:noFill/>
        </p:spPr>
        <p:txBody>
          <a:bodyPr wrap="square" lIns="28575" rIns="28575" tIns="9525" bIns="9525" anchor="ctr">
            <a:spAutoFit/>
          </a:bodyPr>
          <a:lstStyle/>
          <a:p>
            <a:pPr algn="l"/>
            <a:r>
              <a:rPr sz="1100" b="0">
                <a:solidFill>
                  <a:srgbClr val="2E2E2E"/>
                </a:solidFill>
                <a:latin typeface="Calibri"/>
              </a:rPr>
              <a:t>– Stand-Up Pouches</a:t>
            </a:r>
          </a:p>
        </p:txBody>
      </p:sp>
      <p:sp>
        <p:nvSpPr>
          <p:cNvPr id="252" name="Rectangle 251"/>
          <p:cNvSpPr/>
          <p:nvPr/>
        </p:nvSpPr>
        <p:spPr>
          <a:xfrm>
            <a:off x="1857375" y="5023485"/>
            <a:ext cx="643890" cy="258128"/>
          </a:xfrm>
          <a:prstGeom prst="rect">
            <a:avLst/>
          </a:prstGeom>
          <a:solidFill>
            <a:srgbClr val="E9F5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Rectangle 252"/>
          <p:cNvSpPr/>
          <p:nvPr/>
        </p:nvSpPr>
        <p:spPr>
          <a:xfrm>
            <a:off x="2501265" y="5023485"/>
            <a:ext cx="643890" cy="258128"/>
          </a:xfrm>
          <a:prstGeom prst="rect">
            <a:avLst/>
          </a:prstGeom>
          <a:solidFill>
            <a:srgbClr val="E5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Rectangle 253"/>
          <p:cNvSpPr/>
          <p:nvPr/>
        </p:nvSpPr>
        <p:spPr>
          <a:xfrm>
            <a:off x="3145155" y="5023485"/>
            <a:ext cx="643890" cy="258128"/>
          </a:xfrm>
          <a:prstGeom prst="rect">
            <a:avLst/>
          </a:prstGeom>
          <a:solidFill>
            <a:srgbClr val="DD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Rectangle 254"/>
          <p:cNvSpPr/>
          <p:nvPr/>
        </p:nvSpPr>
        <p:spPr>
          <a:xfrm>
            <a:off x="3789045" y="5023485"/>
            <a:ext cx="643890" cy="258128"/>
          </a:xfrm>
          <a:prstGeom prst="rect">
            <a:avLst/>
          </a:prstGeom>
          <a:solidFill>
            <a:srgbClr val="D7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Rectangle 255"/>
          <p:cNvSpPr/>
          <p:nvPr/>
        </p:nvSpPr>
        <p:spPr>
          <a:xfrm>
            <a:off x="4432935" y="5023485"/>
            <a:ext cx="643890" cy="258128"/>
          </a:xfrm>
          <a:prstGeom prst="rect">
            <a:avLst/>
          </a:prstGeom>
          <a:solidFill>
            <a:srgbClr val="B0CD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Rectangle 256"/>
          <p:cNvSpPr/>
          <p:nvPr/>
        </p:nvSpPr>
        <p:spPr>
          <a:xfrm>
            <a:off x="5076825" y="5023485"/>
            <a:ext cx="643890" cy="258128"/>
          </a:xfrm>
          <a:prstGeom prst="rect">
            <a:avLst/>
          </a:prstGeom>
          <a:solidFill>
            <a:srgbClr val="9BC2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Rectangle 257"/>
          <p:cNvSpPr/>
          <p:nvPr/>
        </p:nvSpPr>
        <p:spPr>
          <a:xfrm>
            <a:off x="5720715" y="5023485"/>
            <a:ext cx="643890" cy="258128"/>
          </a:xfrm>
          <a:prstGeom prst="rect">
            <a:avLst/>
          </a:prstGeom>
          <a:solidFill>
            <a:srgbClr val="80B3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Rectangle 258"/>
          <p:cNvSpPr/>
          <p:nvPr/>
        </p:nvSpPr>
        <p:spPr>
          <a:xfrm>
            <a:off x="6364605" y="5023485"/>
            <a:ext cx="643890" cy="258128"/>
          </a:xfrm>
          <a:prstGeom prst="rect">
            <a:avLst/>
          </a:prstGeom>
          <a:solidFill>
            <a:srgbClr val="61A2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Rectangle 259"/>
          <p:cNvSpPr/>
          <p:nvPr/>
        </p:nvSpPr>
        <p:spPr>
          <a:xfrm>
            <a:off x="7008495" y="5023485"/>
            <a:ext cx="643890" cy="258128"/>
          </a:xfrm>
          <a:prstGeom prst="rect">
            <a:avLst/>
          </a:prstGeom>
          <a:solidFill>
            <a:srgbClr val="3F90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Rectangle 260"/>
          <p:cNvSpPr/>
          <p:nvPr/>
        </p:nvSpPr>
        <p:spPr>
          <a:xfrm>
            <a:off x="7652385" y="5023485"/>
            <a:ext cx="643890" cy="258128"/>
          </a:xfrm>
          <a:prstGeom prst="rect">
            <a:avLst/>
          </a:prstGeom>
          <a:solidFill>
            <a:srgbClr val="2D85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Rectangle 261"/>
          <p:cNvSpPr/>
          <p:nvPr/>
        </p:nvSpPr>
        <p:spPr>
          <a:xfrm>
            <a:off x="8296275" y="5023485"/>
            <a:ext cx="643890" cy="258128"/>
          </a:xfrm>
          <a:prstGeom prst="rect">
            <a:avLst/>
          </a:prstGeom>
          <a:solidFill>
            <a:srgbClr val="217DB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Rectangle 262"/>
          <p:cNvSpPr/>
          <p:nvPr/>
        </p:nvSpPr>
        <p:spPr>
          <a:xfrm>
            <a:off x="8940165" y="5023485"/>
            <a:ext cx="643890" cy="258128"/>
          </a:xfrm>
          <a:prstGeom prst="rect">
            <a:avLst/>
          </a:prstGeom>
          <a:solidFill>
            <a:srgbClr val="1B7A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Rectangle 263"/>
          <p:cNvSpPr/>
          <p:nvPr/>
        </p:nvSpPr>
        <p:spPr>
          <a:xfrm>
            <a:off x="9584055" y="5023485"/>
            <a:ext cx="643890" cy="258128"/>
          </a:xfrm>
          <a:prstGeom prst="rect">
            <a:avLst/>
          </a:prstGeom>
          <a:solidFill>
            <a:srgbClr val="1A79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Rectangle 264"/>
          <p:cNvSpPr/>
          <p:nvPr/>
        </p:nvSpPr>
        <p:spPr>
          <a:xfrm>
            <a:off x="10227945" y="5023485"/>
            <a:ext cx="643890" cy="258128"/>
          </a:xfrm>
          <a:prstGeom prst="rect">
            <a:avLst/>
          </a:prstGeom>
          <a:solidFill>
            <a:srgbClr val="1C7A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Rectangle 265"/>
          <p:cNvSpPr/>
          <p:nvPr/>
        </p:nvSpPr>
        <p:spPr>
          <a:xfrm>
            <a:off x="10871835" y="5023485"/>
            <a:ext cx="643890" cy="258128"/>
          </a:xfrm>
          <a:prstGeom prst="rect">
            <a:avLst/>
          </a:prstGeom>
          <a:solidFill>
            <a:srgbClr val="1F7CB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238125" y="5281612"/>
            <a:ext cx="1590675" cy="258128"/>
          </a:xfrm>
          <a:prstGeom prst="rect">
            <a:avLst/>
          </a:prstGeom>
          <a:noFill/>
        </p:spPr>
        <p:txBody>
          <a:bodyPr wrap="square" lIns="28575" rIns="28575" tIns="9525" bIns="9525" anchor="ctr">
            <a:spAutoFit/>
          </a:bodyPr>
          <a:lstStyle/>
          <a:p>
            <a:pPr algn="l"/>
            <a:r>
              <a:rPr sz="1100" b="0">
                <a:solidFill>
                  <a:srgbClr val="2E2E2E"/>
                </a:solidFill>
                <a:latin typeface="Calibri"/>
              </a:rPr>
              <a:t>– Flat Pouches</a:t>
            </a:r>
          </a:p>
        </p:txBody>
      </p:sp>
      <p:sp>
        <p:nvSpPr>
          <p:cNvPr id="268" name="Rectangle 267"/>
          <p:cNvSpPr/>
          <p:nvPr/>
        </p:nvSpPr>
        <p:spPr>
          <a:xfrm>
            <a:off x="1857375" y="5281612"/>
            <a:ext cx="643890" cy="258128"/>
          </a:xfrm>
          <a:prstGeom prst="rect">
            <a:avLst/>
          </a:prstGeom>
          <a:solidFill>
            <a:srgbClr val="D5E5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Rectangle 268"/>
          <p:cNvSpPr/>
          <p:nvPr/>
        </p:nvSpPr>
        <p:spPr>
          <a:xfrm>
            <a:off x="2501265" y="5281612"/>
            <a:ext cx="643890" cy="258128"/>
          </a:xfrm>
          <a:prstGeom prst="rect">
            <a:avLst/>
          </a:prstGeom>
          <a:solidFill>
            <a:srgbClr val="D1E2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Rectangle 269"/>
          <p:cNvSpPr/>
          <p:nvPr/>
        </p:nvSpPr>
        <p:spPr>
          <a:xfrm>
            <a:off x="3145155" y="5281612"/>
            <a:ext cx="643890" cy="258128"/>
          </a:xfrm>
          <a:prstGeom prst="rect">
            <a:avLst/>
          </a:prstGeom>
          <a:solidFill>
            <a:srgbClr val="C9DC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Rectangle 270"/>
          <p:cNvSpPr/>
          <p:nvPr/>
        </p:nvSpPr>
        <p:spPr>
          <a:xfrm>
            <a:off x="3789045" y="5281612"/>
            <a:ext cx="643890" cy="258128"/>
          </a:xfrm>
          <a:prstGeom prst="rect">
            <a:avLst/>
          </a:prstGeom>
          <a:solidFill>
            <a:srgbClr val="C1D7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Rectangle 271"/>
          <p:cNvSpPr/>
          <p:nvPr/>
        </p:nvSpPr>
        <p:spPr>
          <a:xfrm>
            <a:off x="4432935" y="5281612"/>
            <a:ext cx="643890" cy="258128"/>
          </a:xfrm>
          <a:prstGeom prst="rect">
            <a:avLst/>
          </a:prstGeom>
          <a:solidFill>
            <a:srgbClr val="92BD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Rectangle 272"/>
          <p:cNvSpPr/>
          <p:nvPr/>
        </p:nvSpPr>
        <p:spPr>
          <a:xfrm>
            <a:off x="5076825" y="5281612"/>
            <a:ext cx="643890" cy="258128"/>
          </a:xfrm>
          <a:prstGeom prst="rect">
            <a:avLst/>
          </a:prstGeom>
          <a:solidFill>
            <a:srgbClr val="78AFD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Rectangle 273"/>
          <p:cNvSpPr/>
          <p:nvPr/>
        </p:nvSpPr>
        <p:spPr>
          <a:xfrm>
            <a:off x="5720715" y="5281612"/>
            <a:ext cx="643890" cy="258128"/>
          </a:xfrm>
          <a:prstGeom prst="rect">
            <a:avLst/>
          </a:prstGeom>
          <a:solidFill>
            <a:srgbClr val="5A9E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Rectangle 274"/>
          <p:cNvSpPr/>
          <p:nvPr/>
        </p:nvSpPr>
        <p:spPr>
          <a:xfrm>
            <a:off x="6364605" y="5281612"/>
            <a:ext cx="643890" cy="258128"/>
          </a:xfrm>
          <a:prstGeom prst="rect">
            <a:avLst/>
          </a:prstGeom>
          <a:solidFill>
            <a:srgbClr val="3C8E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Rectangle 275"/>
          <p:cNvSpPr/>
          <p:nvPr/>
        </p:nvSpPr>
        <p:spPr>
          <a:xfrm>
            <a:off x="7008495" y="5281612"/>
            <a:ext cx="643890" cy="258128"/>
          </a:xfrm>
          <a:prstGeom prst="rect">
            <a:avLst/>
          </a:prstGeom>
          <a:solidFill>
            <a:srgbClr val="237F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Rectangle 276"/>
          <p:cNvSpPr/>
          <p:nvPr/>
        </p:nvSpPr>
        <p:spPr>
          <a:xfrm>
            <a:off x="7652385" y="5281612"/>
            <a:ext cx="643890" cy="258128"/>
          </a:xfrm>
          <a:prstGeom prst="rect">
            <a:avLst/>
          </a:prstGeom>
          <a:solidFill>
            <a:srgbClr val="1073A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Rectangle 277"/>
          <p:cNvSpPr/>
          <p:nvPr/>
        </p:nvSpPr>
        <p:spPr>
          <a:xfrm>
            <a:off x="8296275" y="5281612"/>
            <a:ext cx="643890" cy="258128"/>
          </a:xfrm>
          <a:prstGeom prst="rect">
            <a:avLst/>
          </a:prstGeom>
          <a:solidFill>
            <a:srgbClr val="0D5B8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Rectangle 278"/>
          <p:cNvSpPr/>
          <p:nvPr/>
        </p:nvSpPr>
        <p:spPr>
          <a:xfrm>
            <a:off x="8940165" y="5281612"/>
            <a:ext cx="643890" cy="258128"/>
          </a:xfrm>
          <a:prstGeom prst="rect">
            <a:avLst/>
          </a:prstGeom>
          <a:solidFill>
            <a:srgbClr val="0D507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Rectangle 279"/>
          <p:cNvSpPr/>
          <p:nvPr/>
        </p:nvSpPr>
        <p:spPr>
          <a:xfrm>
            <a:off x="9584055" y="5281612"/>
            <a:ext cx="643890" cy="258128"/>
          </a:xfrm>
          <a:prstGeom prst="rect">
            <a:avLst/>
          </a:prstGeom>
          <a:solidFill>
            <a:srgbClr val="0C4F7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Rectangle 280"/>
          <p:cNvSpPr/>
          <p:nvPr/>
        </p:nvSpPr>
        <p:spPr>
          <a:xfrm>
            <a:off x="10227945" y="5281612"/>
            <a:ext cx="643890" cy="258128"/>
          </a:xfrm>
          <a:prstGeom prst="rect">
            <a:avLst/>
          </a:prstGeom>
          <a:solidFill>
            <a:srgbClr val="0D578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Rectangle 281"/>
          <p:cNvSpPr/>
          <p:nvPr/>
        </p:nvSpPr>
        <p:spPr>
          <a:xfrm>
            <a:off x="10871835" y="5281612"/>
            <a:ext cx="643890" cy="258128"/>
          </a:xfrm>
          <a:prstGeom prst="rect">
            <a:avLst/>
          </a:prstGeom>
          <a:solidFill>
            <a:srgbClr val="0D609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TextBox 282"/>
          <p:cNvSpPr txBox="1"/>
          <p:nvPr/>
        </p:nvSpPr>
        <p:spPr>
          <a:xfrm>
            <a:off x="238125" y="5539740"/>
            <a:ext cx="1590675" cy="258128"/>
          </a:xfrm>
          <a:prstGeom prst="rect">
            <a:avLst/>
          </a:prstGeom>
          <a:noFill/>
        </p:spPr>
        <p:txBody>
          <a:bodyPr wrap="square" lIns="28575" rIns="28575" tIns="9525" bIns="9525" anchor="ctr">
            <a:spAutoFit/>
          </a:bodyPr>
          <a:lstStyle/>
          <a:p>
            <a:pPr algn="l"/>
            <a:r>
              <a:rPr sz="1100" b="0">
                <a:solidFill>
                  <a:srgbClr val="2E2E2E"/>
                </a:solidFill>
                <a:latin typeface="Calibri"/>
              </a:rPr>
              <a:t>– Retort Pouches</a:t>
            </a:r>
          </a:p>
        </p:txBody>
      </p:sp>
      <p:sp>
        <p:nvSpPr>
          <p:cNvPr id="284" name="Rectangle 283"/>
          <p:cNvSpPr/>
          <p:nvPr/>
        </p:nvSpPr>
        <p:spPr>
          <a:xfrm>
            <a:off x="1857375" y="5539740"/>
            <a:ext cx="643890" cy="258128"/>
          </a:xfrm>
          <a:prstGeom prst="rect">
            <a:avLst/>
          </a:prstGeom>
          <a:solidFill>
            <a:srgbClr val="DE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Rectangle 284"/>
          <p:cNvSpPr/>
          <p:nvPr/>
        </p:nvSpPr>
        <p:spPr>
          <a:xfrm>
            <a:off x="2501265" y="5539740"/>
            <a:ext cx="643890" cy="258128"/>
          </a:xfrm>
          <a:prstGeom prst="rect">
            <a:avLst/>
          </a:prstGeom>
          <a:solidFill>
            <a:srgbClr val="D8E8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Rectangle 285"/>
          <p:cNvSpPr/>
          <p:nvPr/>
        </p:nvSpPr>
        <p:spPr>
          <a:xfrm>
            <a:off x="3145155" y="5539740"/>
            <a:ext cx="643890" cy="258128"/>
          </a:xfrm>
          <a:prstGeom prst="rect">
            <a:avLst/>
          </a:prstGeom>
          <a:solidFill>
            <a:srgbClr val="D0E1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Rectangle 286"/>
          <p:cNvSpPr/>
          <p:nvPr/>
        </p:nvSpPr>
        <p:spPr>
          <a:xfrm>
            <a:off x="3789045" y="5539740"/>
            <a:ext cx="643890" cy="258128"/>
          </a:xfrm>
          <a:prstGeom prst="rect">
            <a:avLst/>
          </a:prstGeom>
          <a:solidFill>
            <a:srgbClr val="C9DC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Rectangle 287"/>
          <p:cNvSpPr/>
          <p:nvPr/>
        </p:nvSpPr>
        <p:spPr>
          <a:xfrm>
            <a:off x="4432935" y="5539740"/>
            <a:ext cx="643890" cy="258128"/>
          </a:xfrm>
          <a:prstGeom prst="rect">
            <a:avLst/>
          </a:prstGeom>
          <a:solidFill>
            <a:srgbClr val="9AC1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Rectangle 288"/>
          <p:cNvSpPr/>
          <p:nvPr/>
        </p:nvSpPr>
        <p:spPr>
          <a:xfrm>
            <a:off x="5076825" y="5539740"/>
            <a:ext cx="643890" cy="258128"/>
          </a:xfrm>
          <a:prstGeom prst="rect">
            <a:avLst/>
          </a:prstGeom>
          <a:solidFill>
            <a:srgbClr val="86B6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Rectangle 289"/>
          <p:cNvSpPr/>
          <p:nvPr/>
        </p:nvSpPr>
        <p:spPr>
          <a:xfrm>
            <a:off x="5720715" y="5539740"/>
            <a:ext cx="643890" cy="258128"/>
          </a:xfrm>
          <a:prstGeom prst="rect">
            <a:avLst/>
          </a:prstGeom>
          <a:solidFill>
            <a:srgbClr val="6CA8D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Rectangle 290"/>
          <p:cNvSpPr/>
          <p:nvPr/>
        </p:nvSpPr>
        <p:spPr>
          <a:xfrm>
            <a:off x="6364605" y="5539740"/>
            <a:ext cx="643890" cy="258128"/>
          </a:xfrm>
          <a:prstGeom prst="rect">
            <a:avLst/>
          </a:prstGeom>
          <a:solidFill>
            <a:srgbClr val="4F98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Rectangle 291"/>
          <p:cNvSpPr/>
          <p:nvPr/>
        </p:nvSpPr>
        <p:spPr>
          <a:xfrm>
            <a:off x="7008495" y="5539740"/>
            <a:ext cx="643890" cy="258128"/>
          </a:xfrm>
          <a:prstGeom prst="rect">
            <a:avLst/>
          </a:prstGeom>
          <a:solidFill>
            <a:srgbClr val="368AC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Rectangle 292"/>
          <p:cNvSpPr/>
          <p:nvPr/>
        </p:nvSpPr>
        <p:spPr>
          <a:xfrm>
            <a:off x="7652385" y="5539740"/>
            <a:ext cx="643890" cy="258128"/>
          </a:xfrm>
          <a:prstGeom prst="rect">
            <a:avLst/>
          </a:prstGeom>
          <a:solidFill>
            <a:srgbClr val="2580B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Rectangle 293"/>
          <p:cNvSpPr/>
          <p:nvPr/>
        </p:nvSpPr>
        <p:spPr>
          <a:xfrm>
            <a:off x="8296275" y="5539740"/>
            <a:ext cx="643890" cy="258128"/>
          </a:xfrm>
          <a:prstGeom prst="rect">
            <a:avLst/>
          </a:prstGeom>
          <a:solidFill>
            <a:srgbClr val="1979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Rectangle 294"/>
          <p:cNvSpPr/>
          <p:nvPr/>
        </p:nvSpPr>
        <p:spPr>
          <a:xfrm>
            <a:off x="8940165" y="5539740"/>
            <a:ext cx="643890" cy="258128"/>
          </a:xfrm>
          <a:prstGeom prst="rect">
            <a:avLst/>
          </a:prstGeom>
          <a:solidFill>
            <a:srgbClr val="1878B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Rectangle 295"/>
          <p:cNvSpPr/>
          <p:nvPr/>
        </p:nvSpPr>
        <p:spPr>
          <a:xfrm>
            <a:off x="9584055" y="5539740"/>
            <a:ext cx="643890" cy="258128"/>
          </a:xfrm>
          <a:prstGeom prst="rect">
            <a:avLst/>
          </a:prstGeom>
          <a:solidFill>
            <a:srgbClr val="1878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Rectangle 296"/>
          <p:cNvSpPr/>
          <p:nvPr/>
        </p:nvSpPr>
        <p:spPr>
          <a:xfrm>
            <a:off x="10227945" y="5539740"/>
            <a:ext cx="643890" cy="258128"/>
          </a:xfrm>
          <a:prstGeom prst="rect">
            <a:avLst/>
          </a:prstGeom>
          <a:solidFill>
            <a:srgbClr val="1D7BB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Rectangle 297"/>
          <p:cNvSpPr/>
          <p:nvPr/>
        </p:nvSpPr>
        <p:spPr>
          <a:xfrm>
            <a:off x="10871835" y="5539740"/>
            <a:ext cx="643890" cy="258128"/>
          </a:xfrm>
          <a:prstGeom prst="rect">
            <a:avLst/>
          </a:prstGeom>
          <a:solidFill>
            <a:srgbClr val="237F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TextBox 298"/>
          <p:cNvSpPr txBox="1"/>
          <p:nvPr/>
        </p:nvSpPr>
        <p:spPr>
          <a:xfrm>
            <a:off x="238125" y="5797868"/>
            <a:ext cx="1590675" cy="258128"/>
          </a:xfrm>
          <a:prstGeom prst="rect">
            <a:avLst/>
          </a:prstGeom>
          <a:noFill/>
        </p:spPr>
        <p:txBody>
          <a:bodyPr wrap="square" lIns="28575" rIns="28575" tIns="9525" bIns="9525" anchor="ctr">
            <a:spAutoFit/>
          </a:bodyPr>
          <a:lstStyle/>
          <a:p>
            <a:pPr algn="l"/>
            <a:r>
              <a:rPr sz="1100" b="0">
                <a:solidFill>
                  <a:srgbClr val="2E2E2E"/>
                </a:solidFill>
                <a:latin typeface="Calibri"/>
              </a:rPr>
              <a:t>Sachets &amp; Stick Packs</a:t>
            </a:r>
          </a:p>
        </p:txBody>
      </p:sp>
      <p:sp>
        <p:nvSpPr>
          <p:cNvPr id="300" name="Rectangle 299"/>
          <p:cNvSpPr/>
          <p:nvPr/>
        </p:nvSpPr>
        <p:spPr>
          <a:xfrm>
            <a:off x="1857375" y="5797868"/>
            <a:ext cx="643890" cy="258128"/>
          </a:xfrm>
          <a:prstGeom prst="rect">
            <a:avLst/>
          </a:prstGeom>
          <a:solidFill>
            <a:srgbClr val="F1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Rectangle 300"/>
          <p:cNvSpPr/>
          <p:nvPr/>
        </p:nvSpPr>
        <p:spPr>
          <a:xfrm>
            <a:off x="2501265" y="5797868"/>
            <a:ext cx="643890" cy="258128"/>
          </a:xfrm>
          <a:prstGeom prst="rect">
            <a:avLst/>
          </a:prstGeom>
          <a:solidFill>
            <a:srgbClr val="EF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Rectangle 301"/>
          <p:cNvSpPr/>
          <p:nvPr/>
        </p:nvSpPr>
        <p:spPr>
          <a:xfrm>
            <a:off x="3145155" y="5797868"/>
            <a:ext cx="643890" cy="258128"/>
          </a:xfrm>
          <a:prstGeom prst="rect">
            <a:avLst/>
          </a:prstGeom>
          <a:solidFill>
            <a:srgbClr val="EB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ectangle 302"/>
          <p:cNvSpPr/>
          <p:nvPr/>
        </p:nvSpPr>
        <p:spPr>
          <a:xfrm>
            <a:off x="3789045" y="5797868"/>
            <a:ext cx="643890" cy="258128"/>
          </a:xfrm>
          <a:prstGeom prst="rect">
            <a:avLst/>
          </a:prstGeom>
          <a:solidFill>
            <a:srgbClr val="E7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Rectangle 303"/>
          <p:cNvSpPr/>
          <p:nvPr/>
        </p:nvSpPr>
        <p:spPr>
          <a:xfrm>
            <a:off x="4432935" y="5797868"/>
            <a:ext cx="643890" cy="258128"/>
          </a:xfrm>
          <a:prstGeom prst="rect">
            <a:avLst/>
          </a:prstGeom>
          <a:solidFill>
            <a:srgbClr val="CCDE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Rectangle 304"/>
          <p:cNvSpPr/>
          <p:nvPr/>
        </p:nvSpPr>
        <p:spPr>
          <a:xfrm>
            <a:off x="5076825" y="5797868"/>
            <a:ext cx="643890" cy="258128"/>
          </a:xfrm>
          <a:prstGeom prst="rect">
            <a:avLst/>
          </a:prstGeom>
          <a:solidFill>
            <a:srgbClr val="B5D0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ectangle 305"/>
          <p:cNvSpPr/>
          <p:nvPr/>
        </p:nvSpPr>
        <p:spPr>
          <a:xfrm>
            <a:off x="5720715" y="5797868"/>
            <a:ext cx="643890" cy="258128"/>
          </a:xfrm>
          <a:prstGeom prst="rect">
            <a:avLst/>
          </a:prstGeom>
          <a:solidFill>
            <a:srgbClr val="99C0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Rectangle 306"/>
          <p:cNvSpPr/>
          <p:nvPr/>
        </p:nvSpPr>
        <p:spPr>
          <a:xfrm>
            <a:off x="6364605" y="5797868"/>
            <a:ext cx="643890" cy="258128"/>
          </a:xfrm>
          <a:prstGeom prst="rect">
            <a:avLst/>
          </a:prstGeom>
          <a:solidFill>
            <a:srgbClr val="74ACD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Rectangle 307"/>
          <p:cNvSpPr/>
          <p:nvPr/>
        </p:nvSpPr>
        <p:spPr>
          <a:xfrm>
            <a:off x="7008495" y="5797868"/>
            <a:ext cx="643890" cy="258128"/>
          </a:xfrm>
          <a:prstGeom prst="rect">
            <a:avLst/>
          </a:prstGeom>
          <a:solidFill>
            <a:srgbClr val="5199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ectangle 308"/>
          <p:cNvSpPr/>
          <p:nvPr/>
        </p:nvSpPr>
        <p:spPr>
          <a:xfrm>
            <a:off x="7652385" y="5797868"/>
            <a:ext cx="643890" cy="258128"/>
          </a:xfrm>
          <a:prstGeom prst="rect">
            <a:avLst/>
          </a:prstGeom>
          <a:solidFill>
            <a:srgbClr val="3B8D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Rectangle 309"/>
          <p:cNvSpPr/>
          <p:nvPr/>
        </p:nvSpPr>
        <p:spPr>
          <a:xfrm>
            <a:off x="8296275" y="5797868"/>
            <a:ext cx="643890" cy="258128"/>
          </a:xfrm>
          <a:prstGeom prst="rect">
            <a:avLst/>
          </a:prstGeom>
          <a:solidFill>
            <a:srgbClr val="2E86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Rectangle 310"/>
          <p:cNvSpPr/>
          <p:nvPr/>
        </p:nvSpPr>
        <p:spPr>
          <a:xfrm>
            <a:off x="8940165" y="5797868"/>
            <a:ext cx="643890" cy="258128"/>
          </a:xfrm>
          <a:prstGeom prst="rect">
            <a:avLst/>
          </a:prstGeom>
          <a:solidFill>
            <a:srgbClr val="2781B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ectangle 311"/>
          <p:cNvSpPr/>
          <p:nvPr/>
        </p:nvSpPr>
        <p:spPr>
          <a:xfrm>
            <a:off x="9584055" y="5797868"/>
            <a:ext cx="643890" cy="258128"/>
          </a:xfrm>
          <a:prstGeom prst="rect">
            <a:avLst/>
          </a:prstGeom>
          <a:solidFill>
            <a:srgbClr val="2580B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Rectangle 312"/>
          <p:cNvSpPr/>
          <p:nvPr/>
        </p:nvSpPr>
        <p:spPr>
          <a:xfrm>
            <a:off x="10227945" y="5797868"/>
            <a:ext cx="643890" cy="258128"/>
          </a:xfrm>
          <a:prstGeom prst="rect">
            <a:avLst/>
          </a:prstGeom>
          <a:solidFill>
            <a:srgbClr val="2882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Rectangle 313"/>
          <p:cNvSpPr/>
          <p:nvPr/>
        </p:nvSpPr>
        <p:spPr>
          <a:xfrm>
            <a:off x="10871835" y="5797868"/>
            <a:ext cx="643890" cy="258128"/>
          </a:xfrm>
          <a:prstGeom prst="rect">
            <a:avLst/>
          </a:prstGeom>
          <a:solidFill>
            <a:srgbClr val="2C84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TextBox 314"/>
          <p:cNvSpPr txBox="1"/>
          <p:nvPr/>
        </p:nvSpPr>
        <p:spPr>
          <a:xfrm>
            <a:off x="238125" y="6055995"/>
            <a:ext cx="1590675" cy="258128"/>
          </a:xfrm>
          <a:prstGeom prst="rect">
            <a:avLst/>
          </a:prstGeom>
          <a:noFill/>
        </p:spPr>
        <p:txBody>
          <a:bodyPr wrap="square" lIns="28575" rIns="28575" tIns="9525" bIns="9525" anchor="ctr">
            <a:spAutoFit/>
          </a:bodyPr>
          <a:lstStyle/>
          <a:p>
            <a:pPr algn="l"/>
            <a:r>
              <a:rPr sz="1100" b="0">
                <a:solidFill>
                  <a:srgbClr val="2E2E2E"/>
                </a:solidFill>
                <a:latin typeface="Calibri"/>
              </a:rPr>
              <a:t>– Sachets</a:t>
            </a:r>
          </a:p>
        </p:txBody>
      </p:sp>
      <p:sp>
        <p:nvSpPr>
          <p:cNvPr id="316" name="Rectangle 315"/>
          <p:cNvSpPr/>
          <p:nvPr/>
        </p:nvSpPr>
        <p:spPr>
          <a:xfrm>
            <a:off x="1857375" y="6055995"/>
            <a:ext cx="643890" cy="258128"/>
          </a:xfrm>
          <a:prstGeom prst="rect">
            <a:avLst/>
          </a:prstGeom>
          <a:solidFill>
            <a:srgbClr val="F0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Rectangle 316"/>
          <p:cNvSpPr/>
          <p:nvPr/>
        </p:nvSpPr>
        <p:spPr>
          <a:xfrm>
            <a:off x="2501265" y="6055995"/>
            <a:ext cx="643890" cy="258128"/>
          </a:xfrm>
          <a:prstGeom prst="rect">
            <a:avLst/>
          </a:prstGeom>
          <a:solidFill>
            <a:srgbClr val="EDF7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Rectangle 317"/>
          <p:cNvSpPr/>
          <p:nvPr/>
        </p:nvSpPr>
        <p:spPr>
          <a:xfrm>
            <a:off x="3145155" y="6055995"/>
            <a:ext cx="643890" cy="258128"/>
          </a:xfrm>
          <a:prstGeom prst="rect">
            <a:avLst/>
          </a:prstGeom>
          <a:solidFill>
            <a:srgbClr val="E9F5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Rectangle 318"/>
          <p:cNvSpPr/>
          <p:nvPr/>
        </p:nvSpPr>
        <p:spPr>
          <a:xfrm>
            <a:off x="3789045" y="6055995"/>
            <a:ext cx="643890" cy="258128"/>
          </a:xfrm>
          <a:prstGeom prst="rect">
            <a:avLst/>
          </a:prstGeom>
          <a:solidFill>
            <a:srgbClr val="E5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Rectangle 319"/>
          <p:cNvSpPr/>
          <p:nvPr/>
        </p:nvSpPr>
        <p:spPr>
          <a:xfrm>
            <a:off x="4432935" y="6055995"/>
            <a:ext cx="643890" cy="258128"/>
          </a:xfrm>
          <a:prstGeom prst="rect">
            <a:avLst/>
          </a:prstGeom>
          <a:solidFill>
            <a:srgbClr val="CADD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Rectangle 320"/>
          <p:cNvSpPr/>
          <p:nvPr/>
        </p:nvSpPr>
        <p:spPr>
          <a:xfrm>
            <a:off x="5076825" y="6055995"/>
            <a:ext cx="643890" cy="258128"/>
          </a:xfrm>
          <a:prstGeom prst="rect">
            <a:avLst/>
          </a:prstGeom>
          <a:solidFill>
            <a:srgbClr val="B2CF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Rectangle 321"/>
          <p:cNvSpPr/>
          <p:nvPr/>
        </p:nvSpPr>
        <p:spPr>
          <a:xfrm>
            <a:off x="5720715" y="6055995"/>
            <a:ext cx="643890" cy="258128"/>
          </a:xfrm>
          <a:prstGeom prst="rect">
            <a:avLst/>
          </a:prstGeom>
          <a:solidFill>
            <a:srgbClr val="97C0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Rectangle 322"/>
          <p:cNvSpPr/>
          <p:nvPr/>
        </p:nvSpPr>
        <p:spPr>
          <a:xfrm>
            <a:off x="6364605" y="6055995"/>
            <a:ext cx="643890" cy="258128"/>
          </a:xfrm>
          <a:prstGeom prst="rect">
            <a:avLst/>
          </a:prstGeom>
          <a:solidFill>
            <a:srgbClr val="72ABD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Rectangle 323"/>
          <p:cNvSpPr/>
          <p:nvPr/>
        </p:nvSpPr>
        <p:spPr>
          <a:xfrm>
            <a:off x="7008495" y="6055995"/>
            <a:ext cx="643890" cy="258128"/>
          </a:xfrm>
          <a:prstGeom prst="rect">
            <a:avLst/>
          </a:prstGeom>
          <a:solidFill>
            <a:srgbClr val="4F98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Rectangle 324"/>
          <p:cNvSpPr/>
          <p:nvPr/>
        </p:nvSpPr>
        <p:spPr>
          <a:xfrm>
            <a:off x="7652385" y="6055995"/>
            <a:ext cx="643890" cy="258128"/>
          </a:xfrm>
          <a:prstGeom prst="rect">
            <a:avLst/>
          </a:prstGeom>
          <a:solidFill>
            <a:srgbClr val="398C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Rectangle 325"/>
          <p:cNvSpPr/>
          <p:nvPr/>
        </p:nvSpPr>
        <p:spPr>
          <a:xfrm>
            <a:off x="8296275" y="6055995"/>
            <a:ext cx="643890" cy="258128"/>
          </a:xfrm>
          <a:prstGeom prst="rect">
            <a:avLst/>
          </a:prstGeom>
          <a:solidFill>
            <a:srgbClr val="2C84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Rectangle 326"/>
          <p:cNvSpPr/>
          <p:nvPr/>
        </p:nvSpPr>
        <p:spPr>
          <a:xfrm>
            <a:off x="8940165" y="6055995"/>
            <a:ext cx="643890" cy="258128"/>
          </a:xfrm>
          <a:prstGeom prst="rect">
            <a:avLst/>
          </a:prstGeom>
          <a:solidFill>
            <a:srgbClr val="2580B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Rectangle 327"/>
          <p:cNvSpPr/>
          <p:nvPr/>
        </p:nvSpPr>
        <p:spPr>
          <a:xfrm>
            <a:off x="9584055" y="6055995"/>
            <a:ext cx="643890" cy="258128"/>
          </a:xfrm>
          <a:prstGeom prst="rect">
            <a:avLst/>
          </a:prstGeom>
          <a:solidFill>
            <a:srgbClr val="247F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Rectangle 328"/>
          <p:cNvSpPr/>
          <p:nvPr/>
        </p:nvSpPr>
        <p:spPr>
          <a:xfrm>
            <a:off x="10227945" y="6055995"/>
            <a:ext cx="643890" cy="258128"/>
          </a:xfrm>
          <a:prstGeom prst="rect">
            <a:avLst/>
          </a:prstGeom>
          <a:solidFill>
            <a:srgbClr val="2781B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Rectangle 329"/>
          <p:cNvSpPr/>
          <p:nvPr/>
        </p:nvSpPr>
        <p:spPr>
          <a:xfrm>
            <a:off x="10871835" y="6055995"/>
            <a:ext cx="643890" cy="258128"/>
          </a:xfrm>
          <a:prstGeom prst="rect">
            <a:avLst/>
          </a:prstGeom>
          <a:solidFill>
            <a:srgbClr val="2C84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TextBox 330"/>
          <p:cNvSpPr txBox="1"/>
          <p:nvPr/>
        </p:nvSpPr>
        <p:spPr>
          <a:xfrm>
            <a:off x="238125" y="6314122"/>
            <a:ext cx="1590675" cy="258128"/>
          </a:xfrm>
          <a:prstGeom prst="rect">
            <a:avLst/>
          </a:prstGeom>
          <a:noFill/>
        </p:spPr>
        <p:txBody>
          <a:bodyPr wrap="square" lIns="28575" rIns="28575" tIns="9525" bIns="9525" anchor="ctr">
            <a:spAutoFit/>
          </a:bodyPr>
          <a:lstStyle/>
          <a:p>
            <a:pPr algn="l"/>
            <a:r>
              <a:rPr sz="1100" b="0">
                <a:solidFill>
                  <a:srgbClr val="2E2E2E"/>
                </a:solidFill>
                <a:latin typeface="Calibri"/>
              </a:rPr>
              <a:t>– Stick Packs</a:t>
            </a:r>
          </a:p>
        </p:txBody>
      </p:sp>
      <p:sp>
        <p:nvSpPr>
          <p:cNvPr id="332" name="Rectangle 331"/>
          <p:cNvSpPr/>
          <p:nvPr/>
        </p:nvSpPr>
        <p:spPr>
          <a:xfrm>
            <a:off x="1857375" y="6314122"/>
            <a:ext cx="643890" cy="258128"/>
          </a:xfrm>
          <a:prstGeom prst="rect">
            <a:avLst/>
          </a:prstGeom>
          <a:solidFill>
            <a:srgbClr val="F8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Rectangle 332"/>
          <p:cNvSpPr/>
          <p:nvPr/>
        </p:nvSpPr>
        <p:spPr>
          <a:xfrm>
            <a:off x="2501265" y="6314122"/>
            <a:ext cx="643890" cy="258128"/>
          </a:xfrm>
          <a:prstGeom prst="rect">
            <a:avLst/>
          </a:prstGeom>
          <a:solidFill>
            <a:srgbClr val="F7FC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Rectangle 333"/>
          <p:cNvSpPr/>
          <p:nvPr/>
        </p:nvSpPr>
        <p:spPr>
          <a:xfrm>
            <a:off x="3145155" y="6314122"/>
            <a:ext cx="643890" cy="258128"/>
          </a:xfrm>
          <a:prstGeom prst="rect">
            <a:avLst/>
          </a:prstGeom>
          <a:solidFill>
            <a:srgbClr val="F3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Rectangle 334"/>
          <p:cNvSpPr/>
          <p:nvPr/>
        </p:nvSpPr>
        <p:spPr>
          <a:xfrm>
            <a:off x="3789045" y="6314122"/>
            <a:ext cx="643890" cy="258128"/>
          </a:xfrm>
          <a:prstGeom prst="rect">
            <a:avLst/>
          </a:prstGeom>
          <a:solidFill>
            <a:srgbClr val="F1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Rectangle 335"/>
          <p:cNvSpPr/>
          <p:nvPr/>
        </p:nvSpPr>
        <p:spPr>
          <a:xfrm>
            <a:off x="4432935" y="6314122"/>
            <a:ext cx="643890" cy="258128"/>
          </a:xfrm>
          <a:prstGeom prst="rect">
            <a:avLst/>
          </a:prstGeom>
          <a:solidFill>
            <a:srgbClr val="D5E5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Rectangle 336"/>
          <p:cNvSpPr/>
          <p:nvPr/>
        </p:nvSpPr>
        <p:spPr>
          <a:xfrm>
            <a:off x="5076825" y="6314122"/>
            <a:ext cx="643890" cy="258128"/>
          </a:xfrm>
          <a:prstGeom prst="rect">
            <a:avLst/>
          </a:prstGeom>
          <a:solidFill>
            <a:srgbClr val="C0D7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Rectangle 337"/>
          <p:cNvSpPr/>
          <p:nvPr/>
        </p:nvSpPr>
        <p:spPr>
          <a:xfrm>
            <a:off x="5720715" y="6314122"/>
            <a:ext cx="643890" cy="258128"/>
          </a:xfrm>
          <a:prstGeom prst="rect">
            <a:avLst/>
          </a:prstGeom>
          <a:solidFill>
            <a:srgbClr val="A0C4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Rectangle 338"/>
          <p:cNvSpPr/>
          <p:nvPr/>
        </p:nvSpPr>
        <p:spPr>
          <a:xfrm>
            <a:off x="6364605" y="6314122"/>
            <a:ext cx="643890" cy="258128"/>
          </a:xfrm>
          <a:prstGeom prst="rect">
            <a:avLst/>
          </a:prstGeom>
          <a:solidFill>
            <a:srgbClr val="7BB0D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Rectangle 339"/>
          <p:cNvSpPr/>
          <p:nvPr/>
        </p:nvSpPr>
        <p:spPr>
          <a:xfrm>
            <a:off x="7008495" y="6314122"/>
            <a:ext cx="643890" cy="258128"/>
          </a:xfrm>
          <a:prstGeom prst="rect">
            <a:avLst/>
          </a:prstGeom>
          <a:solidFill>
            <a:srgbClr val="5A9E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Rectangle 340"/>
          <p:cNvSpPr/>
          <p:nvPr/>
        </p:nvSpPr>
        <p:spPr>
          <a:xfrm>
            <a:off x="7652385" y="6314122"/>
            <a:ext cx="643890" cy="258128"/>
          </a:xfrm>
          <a:prstGeom prst="rect">
            <a:avLst/>
          </a:prstGeom>
          <a:solidFill>
            <a:srgbClr val="4794C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Rectangle 341"/>
          <p:cNvSpPr/>
          <p:nvPr/>
        </p:nvSpPr>
        <p:spPr>
          <a:xfrm>
            <a:off x="8296275" y="6314122"/>
            <a:ext cx="643890" cy="258128"/>
          </a:xfrm>
          <a:prstGeom prst="rect">
            <a:avLst/>
          </a:prstGeom>
          <a:solidFill>
            <a:srgbClr val="3A8C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Rectangle 342"/>
          <p:cNvSpPr/>
          <p:nvPr/>
        </p:nvSpPr>
        <p:spPr>
          <a:xfrm>
            <a:off x="8940165" y="6314122"/>
            <a:ext cx="643890" cy="258128"/>
          </a:xfrm>
          <a:prstGeom prst="rect">
            <a:avLst/>
          </a:prstGeom>
          <a:solidFill>
            <a:srgbClr val="2F86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Rectangle 343"/>
          <p:cNvSpPr/>
          <p:nvPr/>
        </p:nvSpPr>
        <p:spPr>
          <a:xfrm>
            <a:off x="9584055" y="6314122"/>
            <a:ext cx="643890" cy="258128"/>
          </a:xfrm>
          <a:prstGeom prst="rect">
            <a:avLst/>
          </a:prstGeom>
          <a:solidFill>
            <a:srgbClr val="2B84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Rectangle 344"/>
          <p:cNvSpPr/>
          <p:nvPr/>
        </p:nvSpPr>
        <p:spPr>
          <a:xfrm>
            <a:off x="10227945" y="6314122"/>
            <a:ext cx="643890" cy="258128"/>
          </a:xfrm>
          <a:prstGeom prst="rect">
            <a:avLst/>
          </a:prstGeom>
          <a:solidFill>
            <a:srgbClr val="2C84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Rectangle 345"/>
          <p:cNvSpPr/>
          <p:nvPr/>
        </p:nvSpPr>
        <p:spPr>
          <a:xfrm>
            <a:off x="10871835" y="6314122"/>
            <a:ext cx="643890" cy="258128"/>
          </a:xfrm>
          <a:prstGeom prst="rect">
            <a:avLst/>
          </a:prstGeom>
          <a:solidFill>
            <a:srgbClr val="2F86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Rectangle 346"/>
          <p:cNvSpPr/>
          <p:nvPr/>
        </p:nvSpPr>
        <p:spPr>
          <a:xfrm>
            <a:off x="11572875" y="1447800"/>
            <a:ext cx="104775" cy="134779"/>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Rectangle 347"/>
          <p:cNvSpPr/>
          <p:nvPr/>
        </p:nvSpPr>
        <p:spPr>
          <a:xfrm>
            <a:off x="11572875" y="1574959"/>
            <a:ext cx="104775" cy="134779"/>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Rectangle 348"/>
          <p:cNvSpPr/>
          <p:nvPr/>
        </p:nvSpPr>
        <p:spPr>
          <a:xfrm>
            <a:off x="11572875" y="1702118"/>
            <a:ext cx="104775" cy="134779"/>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Rectangle 349"/>
          <p:cNvSpPr/>
          <p:nvPr/>
        </p:nvSpPr>
        <p:spPr>
          <a:xfrm>
            <a:off x="11572875" y="1829276"/>
            <a:ext cx="104775" cy="134779"/>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Rectangle 350"/>
          <p:cNvSpPr/>
          <p:nvPr/>
        </p:nvSpPr>
        <p:spPr>
          <a:xfrm>
            <a:off x="11572875" y="1956435"/>
            <a:ext cx="104775" cy="134779"/>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Rectangle 351"/>
          <p:cNvSpPr/>
          <p:nvPr/>
        </p:nvSpPr>
        <p:spPr>
          <a:xfrm>
            <a:off x="11572875" y="2083594"/>
            <a:ext cx="104775" cy="134779"/>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Rectangle 352"/>
          <p:cNvSpPr/>
          <p:nvPr/>
        </p:nvSpPr>
        <p:spPr>
          <a:xfrm>
            <a:off x="11572875" y="2210752"/>
            <a:ext cx="104775" cy="134779"/>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Rectangle 353"/>
          <p:cNvSpPr/>
          <p:nvPr/>
        </p:nvSpPr>
        <p:spPr>
          <a:xfrm>
            <a:off x="11572875" y="2337911"/>
            <a:ext cx="104775" cy="134779"/>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Rectangle 354"/>
          <p:cNvSpPr/>
          <p:nvPr/>
        </p:nvSpPr>
        <p:spPr>
          <a:xfrm>
            <a:off x="11572875" y="2465070"/>
            <a:ext cx="104775" cy="134779"/>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Rectangle 355"/>
          <p:cNvSpPr/>
          <p:nvPr/>
        </p:nvSpPr>
        <p:spPr>
          <a:xfrm>
            <a:off x="11572875" y="2592229"/>
            <a:ext cx="104775" cy="134779"/>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Rectangle 356"/>
          <p:cNvSpPr/>
          <p:nvPr/>
        </p:nvSpPr>
        <p:spPr>
          <a:xfrm>
            <a:off x="11572875" y="2719388"/>
            <a:ext cx="104775" cy="134779"/>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Rectangle 357"/>
          <p:cNvSpPr/>
          <p:nvPr/>
        </p:nvSpPr>
        <p:spPr>
          <a:xfrm>
            <a:off x="11572875" y="2846546"/>
            <a:ext cx="104775" cy="134779"/>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Rectangle 358"/>
          <p:cNvSpPr/>
          <p:nvPr/>
        </p:nvSpPr>
        <p:spPr>
          <a:xfrm>
            <a:off x="11572875" y="2973705"/>
            <a:ext cx="104775" cy="134779"/>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Rectangle 359"/>
          <p:cNvSpPr/>
          <p:nvPr/>
        </p:nvSpPr>
        <p:spPr>
          <a:xfrm>
            <a:off x="11572875" y="3100864"/>
            <a:ext cx="104775" cy="134779"/>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Rectangle 360"/>
          <p:cNvSpPr/>
          <p:nvPr/>
        </p:nvSpPr>
        <p:spPr>
          <a:xfrm>
            <a:off x="11572875" y="3228022"/>
            <a:ext cx="104775" cy="134779"/>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Rectangle 361"/>
          <p:cNvSpPr/>
          <p:nvPr/>
        </p:nvSpPr>
        <p:spPr>
          <a:xfrm>
            <a:off x="11572875" y="3355181"/>
            <a:ext cx="104775" cy="134779"/>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Rectangle 362"/>
          <p:cNvSpPr/>
          <p:nvPr/>
        </p:nvSpPr>
        <p:spPr>
          <a:xfrm>
            <a:off x="11572875" y="3482340"/>
            <a:ext cx="104775" cy="134779"/>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Rectangle 363"/>
          <p:cNvSpPr/>
          <p:nvPr/>
        </p:nvSpPr>
        <p:spPr>
          <a:xfrm>
            <a:off x="11572875" y="3609499"/>
            <a:ext cx="104775" cy="134779"/>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Rectangle 364"/>
          <p:cNvSpPr/>
          <p:nvPr/>
        </p:nvSpPr>
        <p:spPr>
          <a:xfrm>
            <a:off x="11572875" y="3736657"/>
            <a:ext cx="104775" cy="134779"/>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Rectangle 365"/>
          <p:cNvSpPr/>
          <p:nvPr/>
        </p:nvSpPr>
        <p:spPr>
          <a:xfrm>
            <a:off x="11572875" y="3863816"/>
            <a:ext cx="104775" cy="134779"/>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Rectangle 366"/>
          <p:cNvSpPr/>
          <p:nvPr/>
        </p:nvSpPr>
        <p:spPr>
          <a:xfrm>
            <a:off x="11572875" y="3990975"/>
            <a:ext cx="104775" cy="134779"/>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Rectangle 367"/>
          <p:cNvSpPr/>
          <p:nvPr/>
        </p:nvSpPr>
        <p:spPr>
          <a:xfrm>
            <a:off x="11572875" y="4118134"/>
            <a:ext cx="104775" cy="134779"/>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Rectangle 368"/>
          <p:cNvSpPr/>
          <p:nvPr/>
        </p:nvSpPr>
        <p:spPr>
          <a:xfrm>
            <a:off x="11572875" y="4245292"/>
            <a:ext cx="104775" cy="134779"/>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Rectangle 369"/>
          <p:cNvSpPr/>
          <p:nvPr/>
        </p:nvSpPr>
        <p:spPr>
          <a:xfrm>
            <a:off x="11572875" y="4372451"/>
            <a:ext cx="104775" cy="134779"/>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Rectangle 370"/>
          <p:cNvSpPr/>
          <p:nvPr/>
        </p:nvSpPr>
        <p:spPr>
          <a:xfrm>
            <a:off x="11572875" y="4499610"/>
            <a:ext cx="104775" cy="134779"/>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2" name="Rectangle 371"/>
          <p:cNvSpPr/>
          <p:nvPr/>
        </p:nvSpPr>
        <p:spPr>
          <a:xfrm>
            <a:off x="11572875" y="4626769"/>
            <a:ext cx="104775" cy="134779"/>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Rectangle 372"/>
          <p:cNvSpPr/>
          <p:nvPr/>
        </p:nvSpPr>
        <p:spPr>
          <a:xfrm>
            <a:off x="11572875" y="4753928"/>
            <a:ext cx="104775" cy="134779"/>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Rectangle 373"/>
          <p:cNvSpPr/>
          <p:nvPr/>
        </p:nvSpPr>
        <p:spPr>
          <a:xfrm>
            <a:off x="11572875" y="4881086"/>
            <a:ext cx="104775" cy="134779"/>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5" name="Rectangle 374"/>
          <p:cNvSpPr/>
          <p:nvPr/>
        </p:nvSpPr>
        <p:spPr>
          <a:xfrm>
            <a:off x="11572875" y="5008245"/>
            <a:ext cx="104775" cy="134779"/>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Rectangle 375"/>
          <p:cNvSpPr/>
          <p:nvPr/>
        </p:nvSpPr>
        <p:spPr>
          <a:xfrm>
            <a:off x="11572875" y="5135404"/>
            <a:ext cx="104775" cy="134779"/>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7" name="Rectangle 376"/>
          <p:cNvSpPr/>
          <p:nvPr/>
        </p:nvSpPr>
        <p:spPr>
          <a:xfrm>
            <a:off x="11572875" y="5262562"/>
            <a:ext cx="104775" cy="134779"/>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Rectangle 377"/>
          <p:cNvSpPr/>
          <p:nvPr/>
        </p:nvSpPr>
        <p:spPr>
          <a:xfrm>
            <a:off x="11572875" y="5389721"/>
            <a:ext cx="104775" cy="134779"/>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Rectangle 378"/>
          <p:cNvSpPr/>
          <p:nvPr/>
        </p:nvSpPr>
        <p:spPr>
          <a:xfrm>
            <a:off x="11572875" y="5516880"/>
            <a:ext cx="104775" cy="134779"/>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0" name="Rectangle 379"/>
          <p:cNvSpPr/>
          <p:nvPr/>
        </p:nvSpPr>
        <p:spPr>
          <a:xfrm>
            <a:off x="11572875" y="5644039"/>
            <a:ext cx="104775" cy="134779"/>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1" name="Rectangle 380"/>
          <p:cNvSpPr/>
          <p:nvPr/>
        </p:nvSpPr>
        <p:spPr>
          <a:xfrm>
            <a:off x="11572875" y="5771198"/>
            <a:ext cx="104775" cy="134779"/>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Rectangle 381"/>
          <p:cNvSpPr/>
          <p:nvPr/>
        </p:nvSpPr>
        <p:spPr>
          <a:xfrm>
            <a:off x="11572875" y="5898356"/>
            <a:ext cx="104775" cy="134779"/>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3" name="Rectangle 382"/>
          <p:cNvSpPr/>
          <p:nvPr/>
        </p:nvSpPr>
        <p:spPr>
          <a:xfrm>
            <a:off x="11572875" y="6025515"/>
            <a:ext cx="104775" cy="134779"/>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4" name="Rectangle 383"/>
          <p:cNvSpPr/>
          <p:nvPr/>
        </p:nvSpPr>
        <p:spPr>
          <a:xfrm>
            <a:off x="11572875" y="6152674"/>
            <a:ext cx="104775" cy="134779"/>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5" name="Rectangle 384"/>
          <p:cNvSpPr/>
          <p:nvPr/>
        </p:nvSpPr>
        <p:spPr>
          <a:xfrm>
            <a:off x="11572875" y="6279832"/>
            <a:ext cx="104775" cy="134779"/>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Rectangle 385"/>
          <p:cNvSpPr/>
          <p:nvPr/>
        </p:nvSpPr>
        <p:spPr>
          <a:xfrm>
            <a:off x="11572875" y="6406991"/>
            <a:ext cx="104775" cy="134779"/>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Rectangle 386"/>
          <p:cNvSpPr/>
          <p:nvPr/>
        </p:nvSpPr>
        <p:spPr>
          <a:xfrm>
            <a:off x="11572875" y="1447800"/>
            <a:ext cx="104775" cy="5086350"/>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8" name="TextBox 387"/>
          <p:cNvSpPr txBox="1"/>
          <p:nvPr/>
        </p:nvSpPr>
        <p:spPr>
          <a:xfrm>
            <a:off x="11687175" y="1381125"/>
            <a:ext cx="276225" cy="133350"/>
          </a:xfrm>
          <a:prstGeom prst="rect">
            <a:avLst/>
          </a:prstGeom>
          <a:noFill/>
        </p:spPr>
        <p:txBody>
          <a:bodyPr wrap="none" lIns="0" rIns="0" tIns="0" bIns="0" anchor="ctr">
            <a:spAutoFit/>
          </a:bodyPr>
          <a:lstStyle/>
          <a:p>
            <a:pPr algn="l"/>
            <a:r>
              <a:rPr sz="1100" b="0">
                <a:solidFill>
                  <a:srgbClr val="6C7A89"/>
                </a:solidFill>
                <a:latin typeface="Calibri"/>
              </a:rPr>
              <a:t>8%</a:t>
            </a:r>
          </a:p>
        </p:txBody>
      </p:sp>
      <p:sp>
        <p:nvSpPr>
          <p:cNvPr id="389" name="TextBox 388"/>
          <p:cNvSpPr txBox="1"/>
          <p:nvPr/>
        </p:nvSpPr>
        <p:spPr>
          <a:xfrm>
            <a:off x="11687175" y="3924300"/>
            <a:ext cx="276225" cy="133350"/>
          </a:xfrm>
          <a:prstGeom prst="rect">
            <a:avLst/>
          </a:prstGeom>
          <a:noFill/>
        </p:spPr>
        <p:txBody>
          <a:bodyPr wrap="none" lIns="0" rIns="0" tIns="0" bIns="0" anchor="ctr">
            <a:spAutoFit/>
          </a:bodyPr>
          <a:lstStyle/>
          <a:p>
            <a:pPr algn="l"/>
            <a:r>
              <a:rPr sz="1100" b="0">
                <a:solidFill>
                  <a:srgbClr val="6C7A89"/>
                </a:solidFill>
                <a:latin typeface="Calibri"/>
              </a:rPr>
              <a:t>6%</a:t>
            </a:r>
          </a:p>
        </p:txBody>
      </p:sp>
      <p:sp>
        <p:nvSpPr>
          <p:cNvPr id="390" name="TextBox 389"/>
          <p:cNvSpPr txBox="1"/>
          <p:nvPr/>
        </p:nvSpPr>
        <p:spPr>
          <a:xfrm>
            <a:off x="11687175" y="6467475"/>
            <a:ext cx="276225" cy="133350"/>
          </a:xfrm>
          <a:prstGeom prst="rect">
            <a:avLst/>
          </a:prstGeom>
          <a:noFill/>
        </p:spPr>
        <p:txBody>
          <a:bodyPr wrap="none" lIns="0" rIns="0" tIns="0" bIns="0" anchor="ctr">
            <a:spAutoFit/>
          </a:bodyPr>
          <a:lstStyle/>
          <a:p>
            <a:pPr algn="l"/>
            <a:r>
              <a:rPr sz="1100" b="0">
                <a:solidFill>
                  <a:srgbClr val="6C7A89"/>
                </a:solidFill>
                <a:latin typeface="Calibri"/>
              </a:rPr>
              <a:t>4%</a:t>
            </a:r>
          </a:p>
        </p:txBody>
      </p:sp>
      <p:sp>
        <p:nvSpPr>
          <p:cNvPr id="391" name="TextBox 39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Flexible Plastic Packaging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Principal Material / Barrier Technology</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Principal Material / Barrier Technology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Volume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Principal Material / Barrier Technology Segment Outlook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11 sub-segments of Principal Material / Barrier Technology…</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TextBox 10"/>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Principal Material / Barrier Technology segment categorizes the market by principal material / barrier technology. Each sub-category is evaluated on market size, growth outlook and adoption trends across the forecast period.</a:t>
            </a:r>
          </a:p>
        </p:txBody>
      </p:sp>
      <p:sp>
        <p:nvSpPr>
          <p:cNvPr id="12" name="Rectangle 11"/>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4" name="Rectangle 13"/>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6" name="Rectangle 15"/>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8" name="Rectangle 17"/>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20" name="Rounded Rectangle 19"/>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PE-Based</a:t>
            </a:r>
          </a:p>
        </p:txBody>
      </p:sp>
      <p:sp>
        <p:nvSpPr>
          <p:cNvPr id="23" name="Rectangle 22"/>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39,119</a:t>
            </a:r>
          </a:p>
        </p:txBody>
      </p:sp>
      <p:sp>
        <p:nvSpPr>
          <p:cNvPr id="24" name="Rectangle 23"/>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74,750</a:t>
            </a:r>
          </a:p>
        </p:txBody>
      </p:sp>
      <p:sp>
        <p:nvSpPr>
          <p:cNvPr id="25" name="Rectangle 24"/>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6.7%</a:t>
            </a:r>
          </a:p>
        </p:txBody>
      </p:sp>
      <p:sp>
        <p:nvSpPr>
          <p:cNvPr id="26" name="Oval 25"/>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PP-Based</a:t>
            </a:r>
          </a:p>
        </p:txBody>
      </p:sp>
      <p:sp>
        <p:nvSpPr>
          <p:cNvPr id="30" name="Rectangle 29"/>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26,259</a:t>
            </a:r>
          </a:p>
        </p:txBody>
      </p:sp>
      <p:sp>
        <p:nvSpPr>
          <p:cNvPr id="31" name="Rectangle 30"/>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48,712</a:t>
            </a:r>
          </a:p>
        </p:txBody>
      </p:sp>
      <p:sp>
        <p:nvSpPr>
          <p:cNvPr id="32" name="Rectangle 31"/>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6.4%</a:t>
            </a:r>
          </a:p>
        </p:txBody>
      </p:sp>
      <p:sp>
        <p:nvSpPr>
          <p:cNvPr id="33" name="Oval 32"/>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PET-Based</a:t>
            </a:r>
          </a:p>
        </p:txBody>
      </p:sp>
      <p:sp>
        <p:nvSpPr>
          <p:cNvPr id="37" name="Rectangle 36"/>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12,668</a:t>
            </a:r>
          </a:p>
        </p:txBody>
      </p:sp>
      <p:sp>
        <p:nvSpPr>
          <p:cNvPr id="38" name="Rectangle 37"/>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24,170</a:t>
            </a:r>
          </a:p>
        </p:txBody>
      </p:sp>
      <p:sp>
        <p:nvSpPr>
          <p:cNvPr id="39" name="Rectangle 38"/>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6.7%</a:t>
            </a:r>
          </a:p>
        </p:txBody>
      </p:sp>
      <p:sp>
        <p:nvSpPr>
          <p:cNvPr id="40" name="Oval 39"/>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1" name="Rounded Rectangle 40"/>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PA-Based</a:t>
            </a:r>
          </a:p>
        </p:txBody>
      </p:sp>
      <p:sp>
        <p:nvSpPr>
          <p:cNvPr id="44" name="Rectangle 43"/>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10,522</a:t>
            </a:r>
          </a:p>
        </p:txBody>
      </p:sp>
      <p:sp>
        <p:nvSpPr>
          <p:cNvPr id="45" name="Rectangle 44"/>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19,611</a:t>
            </a:r>
          </a:p>
        </p:txBody>
      </p:sp>
      <p:sp>
        <p:nvSpPr>
          <p:cNvPr id="46" name="Rectangle 45"/>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6.4%</a:t>
            </a:r>
          </a:p>
        </p:txBody>
      </p:sp>
      <p:sp>
        <p:nvSpPr>
          <p:cNvPr id="47" name="Oval 46"/>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8" name="Rounded Rectangle 47"/>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EVOH-Based</a:t>
            </a:r>
          </a:p>
        </p:txBody>
      </p:sp>
      <p:sp>
        <p:nvSpPr>
          <p:cNvPr id="51" name="Rectangle 50"/>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10,112</a:t>
            </a:r>
          </a:p>
        </p:txBody>
      </p:sp>
      <p:sp>
        <p:nvSpPr>
          <p:cNvPr id="52" name="Rectangle 51"/>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19,408</a:t>
            </a:r>
          </a:p>
        </p:txBody>
      </p:sp>
      <p:sp>
        <p:nvSpPr>
          <p:cNvPr id="53" name="Rectangle 52"/>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6.7%</a:t>
            </a:r>
          </a:p>
        </p:txBody>
      </p:sp>
      <p:sp>
        <p:nvSpPr>
          <p:cNvPr id="54" name="Oval 53"/>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5" name="Rounded Rectangle 54"/>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Metallized Barrier</a:t>
            </a:r>
          </a:p>
        </p:txBody>
      </p:sp>
      <p:sp>
        <p:nvSpPr>
          <p:cNvPr id="58" name="Rectangle 57"/>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7,913</a:t>
            </a:r>
          </a:p>
        </p:txBody>
      </p:sp>
      <p:sp>
        <p:nvSpPr>
          <p:cNvPr id="59" name="Rectangle 58"/>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14,817</a:t>
            </a:r>
          </a:p>
        </p:txBody>
      </p:sp>
      <p:sp>
        <p:nvSpPr>
          <p:cNvPr id="60" name="Rectangle 59"/>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6.5%</a:t>
            </a:r>
          </a:p>
        </p:txBody>
      </p:sp>
      <p:sp>
        <p:nvSpPr>
          <p:cNvPr id="61" name="Oval 60"/>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62" name="Rounded Rectangle 61"/>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4" name="Rectangle 63"/>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0E72AE"/>
                </a:solidFill>
                <a:latin typeface="Calibri"/>
              </a:rPr>
              <a:t>▪  </a:t>
            </a:r>
            <a:r>
              <a:rPr sz="1100" b="0">
                <a:solidFill>
                  <a:srgbClr val="2E2E2E"/>
                </a:solidFill>
                <a:latin typeface="Calibri"/>
              </a:rPr>
              <a:t>¶ Among flexible plastic packaging by principal material / barrier technology, other specialty barrier technologies segment is expected to witness the highest CAGR of 7.1% over the forecast period. In terms of value share by principal material / barrier technology, the pe-based segment is expected to dominate the market, gaining 40 BPS and accounting for 31.1% share by 2036.</a:t>
            </a:r>
          </a:p>
          <a:p>
            <a:pPr algn="l">
              <a:lnSpc>
                <a:spcPct val="105000"/>
              </a:lnSpc>
              <a:spcBef>
                <a:spcPts val="0"/>
              </a:spcBef>
              <a:spcAft>
                <a:spcPts val="300"/>
              </a:spcAft>
            </a:pPr>
            <a:r>
              <a:rPr sz="1100" b="0">
                <a:solidFill>
                  <a:srgbClr val="0E72AE"/>
                </a:solidFill>
                <a:latin typeface="Calibri"/>
              </a:rPr>
              <a:t>▪  </a:t>
            </a:r>
            <a:r>
              <a:rPr sz="1100" b="0">
                <a:solidFill>
                  <a:srgbClr val="2E2E2E"/>
                </a:solidFill>
                <a:latin typeface="Calibri"/>
              </a:rPr>
              <a:t>¶ Pe-based segment is projected to register 1.5X higher value than pp-based segment in 2036.</a:t>
            </a:r>
          </a:p>
        </p:txBody>
      </p:sp>
      <p:sp>
        <p:nvSpPr>
          <p:cNvPr id="66" name="Rounded Rectangle 65"/>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8" name="Rectangle 67"/>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t>
            </a:r>
            <a:r>
              <a:rPr sz="1100" b="1">
                <a:solidFill>
                  <a:srgbClr val="0B2E4A"/>
                </a:solidFill>
                <a:latin typeface="Calibri"/>
              </a:rPr>
              <a:t>PE-Based: </a:t>
            </a:r>
            <a:r>
              <a:rPr sz="1100" b="0">
                <a:solidFill>
                  <a:srgbClr val="2E2E2E"/>
                </a:solidFill>
                <a:latin typeface="Calibri"/>
              </a:rPr>
              <a:t>31% of 2026 value · 6.7% CAGR leads the segment.</a:t>
            </a:r>
          </a:p>
          <a:p>
            <a:pPr algn="l">
              <a:lnSpc>
                <a:spcPct val="110000"/>
              </a:lnSpc>
              <a:spcBef>
                <a:spcPts val="0"/>
              </a:spcBef>
              <a:spcAft>
                <a:spcPts val="500"/>
              </a:spcAft>
            </a:pPr>
            <a:r>
              <a:rPr sz="1100" b="0">
                <a:solidFill>
                  <a:srgbClr val="0E72AE"/>
                </a:solidFill>
                <a:latin typeface="Calibri"/>
              </a:rPr>
              <a:t>●  </a:t>
            </a:r>
            <a:r>
              <a:rPr sz="1100" b="1">
                <a:solidFill>
                  <a:srgbClr val="0E72AE"/>
                </a:solidFill>
                <a:latin typeface="Calibri"/>
              </a:rPr>
              <a:t>PP-Based: </a:t>
            </a:r>
            <a:r>
              <a:rPr sz="1100" b="0">
                <a:solidFill>
                  <a:srgbClr val="2E2E2E"/>
                </a:solidFill>
                <a:latin typeface="Calibri"/>
              </a:rPr>
              <a:t>21% of 2026 value · 6.4% CAGR serves a niche.</a:t>
            </a:r>
          </a:p>
          <a:p>
            <a:pPr algn="l">
              <a:lnSpc>
                <a:spcPct val="110000"/>
              </a:lnSpc>
              <a:spcBef>
                <a:spcPts val="0"/>
              </a:spcBef>
              <a:spcAft>
                <a:spcPts val="500"/>
              </a:spcAft>
            </a:pPr>
            <a:r>
              <a:rPr sz="1100" b="0">
                <a:solidFill>
                  <a:srgbClr val="008189"/>
                </a:solidFill>
                <a:latin typeface="Calibri"/>
              </a:rPr>
              <a:t>●  </a:t>
            </a:r>
            <a:r>
              <a:rPr sz="1100" b="1">
                <a:solidFill>
                  <a:srgbClr val="008189"/>
                </a:solidFill>
                <a:latin typeface="Calibri"/>
              </a:rPr>
              <a:t>PET-Based: </a:t>
            </a:r>
            <a:r>
              <a:rPr sz="1100" b="0">
                <a:solidFill>
                  <a:srgbClr val="2E2E2E"/>
                </a:solidFill>
                <a:latin typeface="Calibri"/>
              </a:rPr>
              <a:t>10% of 2026 value · 6.7% CAGR serves a niche.</a:t>
            </a:r>
          </a:p>
          <a:p>
            <a:pPr algn="l">
              <a:lnSpc>
                <a:spcPct val="110000"/>
              </a:lnSpc>
              <a:spcBef>
                <a:spcPts val="0"/>
              </a:spcBef>
              <a:spcAft>
                <a:spcPts val="500"/>
              </a:spcAft>
            </a:pPr>
            <a:r>
              <a:rPr sz="1100" b="0">
                <a:solidFill>
                  <a:srgbClr val="6F3CC2"/>
                </a:solidFill>
                <a:latin typeface="Calibri"/>
              </a:rPr>
              <a:t>●  </a:t>
            </a:r>
            <a:r>
              <a:rPr sz="1100" b="1">
                <a:solidFill>
                  <a:srgbClr val="6F3CC2"/>
                </a:solidFill>
                <a:latin typeface="Calibri"/>
              </a:rPr>
              <a:t>PA-Based: </a:t>
            </a:r>
            <a:r>
              <a:rPr sz="1100" b="0">
                <a:solidFill>
                  <a:srgbClr val="2E2E2E"/>
                </a:solidFill>
                <a:latin typeface="Calibri"/>
              </a:rPr>
              <a:t>8% of 2026 value · 6.4% CAGR serves a niche.</a:t>
            </a:r>
          </a:p>
          <a:p>
            <a:pPr algn="l">
              <a:lnSpc>
                <a:spcPct val="110000"/>
              </a:lnSpc>
              <a:spcBef>
                <a:spcPts val="0"/>
              </a:spcBef>
              <a:spcAft>
                <a:spcPts val="500"/>
              </a:spcAft>
            </a:pPr>
            <a:r>
              <a:rPr sz="1100" b="0">
                <a:solidFill>
                  <a:srgbClr val="A86F00"/>
                </a:solidFill>
                <a:latin typeface="Calibri"/>
              </a:rPr>
              <a:t>●  </a:t>
            </a:r>
            <a:r>
              <a:rPr sz="1100" b="1">
                <a:solidFill>
                  <a:srgbClr val="A86F00"/>
                </a:solidFill>
                <a:latin typeface="Calibri"/>
              </a:rPr>
              <a:t>EVOH-Based: </a:t>
            </a:r>
            <a:r>
              <a:rPr sz="1100" b="0">
                <a:solidFill>
                  <a:srgbClr val="2E2E2E"/>
                </a:solidFill>
                <a:latin typeface="Calibri"/>
              </a:rPr>
              <a:t>8% of 2026 value · 6.7% CAGR serves a niche.</a:t>
            </a:r>
          </a:p>
          <a:p>
            <a:pPr algn="l">
              <a:lnSpc>
                <a:spcPct val="110000"/>
              </a:lnSpc>
              <a:spcBef>
                <a:spcPts val="0"/>
              </a:spcBef>
              <a:spcAft>
                <a:spcPts val="500"/>
              </a:spcAft>
            </a:pPr>
            <a:r>
              <a:rPr sz="1100" b="0">
                <a:solidFill>
                  <a:srgbClr val="A35313"/>
                </a:solidFill>
                <a:latin typeface="Calibri"/>
              </a:rPr>
              <a:t>●  </a:t>
            </a:r>
            <a:r>
              <a:rPr sz="1100" b="1">
                <a:solidFill>
                  <a:srgbClr val="A35313"/>
                </a:solidFill>
                <a:latin typeface="Calibri"/>
              </a:rPr>
              <a:t>Metallized Barrier: </a:t>
            </a:r>
            <a:r>
              <a:rPr sz="1100" b="0">
                <a:solidFill>
                  <a:srgbClr val="2E2E2E"/>
                </a:solidFill>
                <a:latin typeface="Calibri"/>
              </a:rPr>
              <a:t>6% of 2026 value · 6.5% CAGR serves a niche.</a:t>
            </a:r>
          </a:p>
        </p:txBody>
      </p:sp>
      <p:sp>
        <p:nvSpPr>
          <p:cNvPr id="70" name="Rounded Rectangle 69"/>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72" name="Rectangle 71"/>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Principal Material / Barrier Technology split shows how demand is distributed across principal material / barrier technology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74" name="Rectangle 73"/>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The Principal Material / Barrier Technology segment is projected to grow at a CAGR of 6.6% from 2026 to 2036.</a:t>
            </a:r>
          </a:p>
        </p:txBody>
      </p:sp>
      <p:sp>
        <p:nvSpPr>
          <p:cNvPr id="76" name="TextBox 75"/>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7" name="TextBox 7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Principal Material / Barrier Technology Segment Outlook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11 sub-segments of Principal Material / Barrier Technology…</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Principal Material / Barrier Technology segment categorizes the market by principal material / barrier technology.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908810" cy="438089"/>
          </a:xfrm>
          <a:prstGeom prst="roundRect">
            <a:avLst>
              <a:gd name="adj" fmla="val 18000"/>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1908810" cy="219044"/>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PVDC-Based</a:t>
            </a:r>
          </a:p>
        </p:txBody>
      </p:sp>
      <p:sp>
        <p:nvSpPr>
          <p:cNvPr id="22" name="Rectangle 21"/>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6,577</a:t>
            </a:r>
          </a:p>
        </p:txBody>
      </p:sp>
      <p:sp>
        <p:nvSpPr>
          <p:cNvPr id="23" name="Rectangle 22"/>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11,735</a:t>
            </a:r>
          </a:p>
        </p:txBody>
      </p:sp>
      <p:sp>
        <p:nvSpPr>
          <p:cNvPr id="24" name="Rectangle 23"/>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6.0%</a:t>
            </a:r>
          </a:p>
        </p:txBody>
      </p:sp>
      <p:sp>
        <p:nvSpPr>
          <p:cNvPr id="25" name="Oval 24"/>
          <p:cNvSpPr/>
          <p:nvPr/>
        </p:nvSpPr>
        <p:spPr>
          <a:xfrm>
            <a:off x="2659380" y="1445350"/>
            <a:ext cx="323850" cy="310313"/>
          </a:xfrm>
          <a:prstGeom prst="ellipse">
            <a:avLst/>
          </a:prstGeom>
          <a:solidFill>
            <a:srgbClr val="6C7A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7</a:t>
            </a:r>
          </a:p>
        </p:txBody>
      </p:sp>
      <p:sp>
        <p:nvSpPr>
          <p:cNvPr id="26" name="Rounded Rectangle 25"/>
          <p:cNvSpPr/>
          <p:nvPr/>
        </p:nvSpPr>
        <p:spPr>
          <a:xfrm>
            <a:off x="3890010" y="1773916"/>
            <a:ext cx="190881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890010" y="1992961"/>
            <a:ext cx="190881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Aluminum Foil-Based</a:t>
            </a:r>
          </a:p>
        </p:txBody>
      </p:sp>
      <p:sp>
        <p:nvSpPr>
          <p:cNvPr id="29" name="Rectangle 28"/>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4,025</a:t>
            </a:r>
          </a:p>
        </p:txBody>
      </p:sp>
      <p:sp>
        <p:nvSpPr>
          <p:cNvPr id="30" name="Rectangle 29"/>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7,197</a:t>
            </a:r>
          </a:p>
        </p:txBody>
      </p:sp>
      <p:sp>
        <p:nvSpPr>
          <p:cNvPr id="31" name="Rectangle 30"/>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6.0%</a:t>
            </a:r>
          </a:p>
        </p:txBody>
      </p:sp>
      <p:sp>
        <p:nvSpPr>
          <p:cNvPr id="32" name="Oval 31"/>
          <p:cNvSpPr/>
          <p:nvPr/>
        </p:nvSpPr>
        <p:spPr>
          <a:xfrm>
            <a:off x="468249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8</a:t>
            </a:r>
          </a:p>
        </p:txBody>
      </p:sp>
      <p:sp>
        <p:nvSpPr>
          <p:cNvPr id="33" name="Rounded Rectangle 32"/>
          <p:cNvSpPr/>
          <p:nvPr/>
        </p:nvSpPr>
        <p:spPr>
          <a:xfrm>
            <a:off x="5913120" y="1773916"/>
            <a:ext cx="190881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913120" y="1992961"/>
            <a:ext cx="190881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AlOx / SiOx-Coated</a:t>
            </a:r>
          </a:p>
        </p:txBody>
      </p:sp>
      <p:sp>
        <p:nvSpPr>
          <p:cNvPr id="36" name="Rectangle 35"/>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3,812</a:t>
            </a:r>
          </a:p>
        </p:txBody>
      </p:sp>
      <p:sp>
        <p:nvSpPr>
          <p:cNvPr id="37" name="Rectangle 36"/>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7,364</a:t>
            </a:r>
          </a:p>
        </p:txBody>
      </p:sp>
      <p:sp>
        <p:nvSpPr>
          <p:cNvPr id="38" name="Rectangle 37"/>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6.8%</a:t>
            </a:r>
          </a:p>
        </p:txBody>
      </p:sp>
      <p:sp>
        <p:nvSpPr>
          <p:cNvPr id="39" name="Oval 38"/>
          <p:cNvSpPr/>
          <p:nvPr/>
        </p:nvSpPr>
        <p:spPr>
          <a:xfrm>
            <a:off x="670560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9</a:t>
            </a:r>
          </a:p>
        </p:txBody>
      </p:sp>
      <p:sp>
        <p:nvSpPr>
          <p:cNvPr id="40" name="Rounded Rectangle 39"/>
          <p:cNvSpPr/>
          <p:nvPr/>
        </p:nvSpPr>
        <p:spPr>
          <a:xfrm>
            <a:off x="7936230" y="1773916"/>
            <a:ext cx="190881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936230" y="1992961"/>
            <a:ext cx="190881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Other Specialty Barrier Technolog…</a:t>
            </a:r>
          </a:p>
        </p:txBody>
      </p:sp>
      <p:sp>
        <p:nvSpPr>
          <p:cNvPr id="43" name="Rectangle 42"/>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3,808</a:t>
            </a:r>
          </a:p>
        </p:txBody>
      </p:sp>
      <p:sp>
        <p:nvSpPr>
          <p:cNvPr id="44" name="Rectangle 43"/>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7,561</a:t>
            </a:r>
          </a:p>
        </p:txBody>
      </p:sp>
      <p:sp>
        <p:nvSpPr>
          <p:cNvPr id="45" name="Rectangle 44"/>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7.1%</a:t>
            </a:r>
          </a:p>
        </p:txBody>
      </p:sp>
      <p:sp>
        <p:nvSpPr>
          <p:cNvPr id="46" name="Oval 45"/>
          <p:cNvSpPr/>
          <p:nvPr/>
        </p:nvSpPr>
        <p:spPr>
          <a:xfrm>
            <a:off x="872871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10</a:t>
            </a:r>
          </a:p>
        </p:txBody>
      </p:sp>
      <p:sp>
        <p:nvSpPr>
          <p:cNvPr id="47" name="Rounded Rectangle 46"/>
          <p:cNvSpPr/>
          <p:nvPr/>
        </p:nvSpPr>
        <p:spPr>
          <a:xfrm>
            <a:off x="9959340" y="1773916"/>
            <a:ext cx="1908810"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959340" y="1992961"/>
            <a:ext cx="1908810"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PVOH-Based</a:t>
            </a:r>
          </a:p>
        </p:txBody>
      </p:sp>
      <p:sp>
        <p:nvSpPr>
          <p:cNvPr id="50" name="Rectangle 49"/>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2,532</a:t>
            </a:r>
          </a:p>
        </p:txBody>
      </p:sp>
      <p:sp>
        <p:nvSpPr>
          <p:cNvPr id="51" name="Rectangle 50"/>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4,883</a:t>
            </a:r>
          </a:p>
        </p:txBody>
      </p:sp>
      <p:sp>
        <p:nvSpPr>
          <p:cNvPr id="52" name="Rectangle 51"/>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6.8%</a:t>
            </a:r>
          </a:p>
        </p:txBody>
      </p:sp>
      <p:sp>
        <p:nvSpPr>
          <p:cNvPr id="53" name="Oval 52"/>
          <p:cNvSpPr/>
          <p:nvPr/>
        </p:nvSpPr>
        <p:spPr>
          <a:xfrm>
            <a:off x="10751820"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11</a:t>
            </a:r>
          </a:p>
        </p:txBody>
      </p:sp>
      <p:sp>
        <p:nvSpPr>
          <p:cNvPr id="54" name="Rounded Rectangle 53"/>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6" name="Rectangle 55"/>
          <p:cNvSpPr/>
          <p:nvPr/>
        </p:nvSpPr>
        <p:spPr>
          <a:xfrm>
            <a:off x="457200" y="4146897"/>
            <a:ext cx="112776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6C7A89"/>
                </a:solidFill>
                <a:latin typeface="Calibri"/>
              </a:rPr>
              <a:t>●  </a:t>
            </a:r>
            <a:r>
              <a:rPr sz="1100" b="1">
                <a:solidFill>
                  <a:srgbClr val="6C7A89"/>
                </a:solidFill>
                <a:latin typeface="Calibri"/>
              </a:rPr>
              <a:t>PVDC-Based: </a:t>
            </a:r>
            <a:r>
              <a:rPr sz="1100" b="0">
                <a:solidFill>
                  <a:srgbClr val="2E2E2E"/>
                </a:solidFill>
                <a:latin typeface="Calibri"/>
              </a:rPr>
              <a:t>5% of 2026 value · 6.0% CAGR serves a niche.</a:t>
            </a:r>
          </a:p>
          <a:p>
            <a:pPr algn="l">
              <a:lnSpc>
                <a:spcPct val="110000"/>
              </a:lnSpc>
              <a:spcBef>
                <a:spcPts val="0"/>
              </a:spcBef>
              <a:spcAft>
                <a:spcPts val="500"/>
              </a:spcAft>
            </a:pPr>
            <a:r>
              <a:rPr sz="1100" b="0">
                <a:solidFill>
                  <a:srgbClr val="0B2E4A"/>
                </a:solidFill>
                <a:latin typeface="Calibri"/>
              </a:rPr>
              <a:t>●  </a:t>
            </a:r>
            <a:r>
              <a:rPr sz="1100" b="1">
                <a:solidFill>
                  <a:srgbClr val="0B2E4A"/>
                </a:solidFill>
                <a:latin typeface="Calibri"/>
              </a:rPr>
              <a:t>Aluminum Foil-Based: </a:t>
            </a:r>
            <a:r>
              <a:rPr sz="1100" b="0">
                <a:solidFill>
                  <a:srgbClr val="2E2E2E"/>
                </a:solidFill>
                <a:latin typeface="Calibri"/>
              </a:rPr>
              <a:t>3% of 2026 value · 6.0% CAGR serves a niche.</a:t>
            </a:r>
          </a:p>
          <a:p>
            <a:pPr algn="l">
              <a:lnSpc>
                <a:spcPct val="110000"/>
              </a:lnSpc>
              <a:spcBef>
                <a:spcPts val="0"/>
              </a:spcBef>
              <a:spcAft>
                <a:spcPts val="500"/>
              </a:spcAft>
            </a:pPr>
            <a:r>
              <a:rPr sz="1100" b="0">
                <a:solidFill>
                  <a:srgbClr val="0E72AE"/>
                </a:solidFill>
                <a:latin typeface="Calibri"/>
              </a:rPr>
              <a:t>●  </a:t>
            </a:r>
            <a:r>
              <a:rPr sz="1100" b="1">
                <a:solidFill>
                  <a:srgbClr val="0E72AE"/>
                </a:solidFill>
                <a:latin typeface="Calibri"/>
              </a:rPr>
              <a:t>AlOx / SiOx-Coated: </a:t>
            </a:r>
            <a:r>
              <a:rPr sz="1100" b="0">
                <a:solidFill>
                  <a:srgbClr val="2E2E2E"/>
                </a:solidFill>
                <a:latin typeface="Calibri"/>
              </a:rPr>
              <a:t>3% of 2026 value · 6.8% CAGR serves a niche.</a:t>
            </a:r>
          </a:p>
          <a:p>
            <a:pPr algn="l">
              <a:lnSpc>
                <a:spcPct val="110000"/>
              </a:lnSpc>
              <a:spcBef>
                <a:spcPts val="0"/>
              </a:spcBef>
              <a:spcAft>
                <a:spcPts val="500"/>
              </a:spcAft>
            </a:pPr>
            <a:r>
              <a:rPr sz="1100" b="0">
                <a:solidFill>
                  <a:srgbClr val="008189"/>
                </a:solidFill>
                <a:latin typeface="Calibri"/>
              </a:rPr>
              <a:t>●  </a:t>
            </a:r>
            <a:r>
              <a:rPr sz="1100" b="1">
                <a:solidFill>
                  <a:srgbClr val="008189"/>
                </a:solidFill>
                <a:latin typeface="Calibri"/>
              </a:rPr>
              <a:t>Other Specialty Barrier Technologies: </a:t>
            </a:r>
            <a:r>
              <a:rPr sz="1100" b="0">
                <a:solidFill>
                  <a:srgbClr val="2E2E2E"/>
                </a:solidFill>
                <a:latin typeface="Calibri"/>
              </a:rPr>
              <a:t>3% of 2026 value · 7.1% CAGR grows fastest.</a:t>
            </a:r>
          </a:p>
          <a:p>
            <a:pPr algn="l">
              <a:lnSpc>
                <a:spcPct val="110000"/>
              </a:lnSpc>
              <a:spcBef>
                <a:spcPts val="0"/>
              </a:spcBef>
              <a:spcAft>
                <a:spcPts val="500"/>
              </a:spcAft>
            </a:pPr>
            <a:r>
              <a:rPr sz="1100" b="0">
                <a:solidFill>
                  <a:srgbClr val="6F3CC2"/>
                </a:solidFill>
                <a:latin typeface="Calibri"/>
              </a:rPr>
              <a:t>●  </a:t>
            </a:r>
            <a:r>
              <a:rPr sz="1100" b="1">
                <a:solidFill>
                  <a:srgbClr val="6F3CC2"/>
                </a:solidFill>
                <a:latin typeface="Calibri"/>
              </a:rPr>
              <a:t>PVOH-Based: </a:t>
            </a:r>
            <a:r>
              <a:rPr sz="1100" b="0">
                <a:solidFill>
                  <a:srgbClr val="2E2E2E"/>
                </a:solidFill>
                <a:latin typeface="Calibri"/>
              </a:rPr>
              <a:t>2% of 2026 value · 6.8% CAGR serves a niche.</a:t>
            </a:r>
          </a:p>
        </p:txBody>
      </p:sp>
      <p:sp>
        <p:nvSpPr>
          <p:cNvPr id="58" name="TextBox 57"/>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59" name="TextBox 5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Principal Material / Barrier Technology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Principal Material / Barrier Technology mix within each region and the attractiveness of each sub-segment on growth and size</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6343650" cy="4191000"/>
          </a:xfrm>
          <a:prstGeom prst="roundRect">
            <a:avLst>
              <a:gd name="adj" fmla="val 18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Principal Material / Barrier Technology mix within each region (share of 2036 value) · row label = region size (US$ Mn), largest first</a:t>
            </a:r>
          </a:p>
        </p:txBody>
      </p:sp>
      <p:graphicFrame>
        <p:nvGraphicFramePr>
          <p:cNvPr id="13" name="Chart 12"/>
          <p:cNvGraphicFramePr>
            <a:graphicFrameLocks noGrp="1"/>
          </p:cNvGraphicFramePr>
          <p:nvPr/>
        </p:nvGraphicFramePr>
        <p:xfrm>
          <a:off x="238125" y="1438275"/>
          <a:ext cx="6153150" cy="3676650"/>
        </p:xfrm>
        <a:graphic>
          <a:graphicData uri="http://schemas.openxmlformats.org/drawingml/2006/chart">
            <c:chart xmlns:c="http://schemas.openxmlformats.org/drawingml/2006/chart" r:id="rId3"/>
          </a:graphicData>
        </a:graphic>
      </p:graphicFrame>
      <p:sp>
        <p:nvSpPr>
          <p:cNvPr id="14" name="Rounded Rectangle 13"/>
          <p:cNvSpPr/>
          <p:nvPr/>
        </p:nvSpPr>
        <p:spPr>
          <a:xfrm>
            <a:off x="6638925" y="981075"/>
            <a:ext cx="5400675" cy="4191000"/>
          </a:xfrm>
          <a:prstGeom prst="roundRect">
            <a:avLst>
              <a:gd name="adj" fmla="val 18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Principal Material / Barrier Technology · Bubble size represents 2036 value</a:t>
            </a:r>
          </a:p>
        </p:txBody>
      </p:sp>
      <p:graphicFrame>
        <p:nvGraphicFramePr>
          <p:cNvPr id="16" name="Chart 15"/>
          <p:cNvGraphicFramePr>
            <a:graphicFrameLocks noGrp="1"/>
          </p:cNvGraphicFramePr>
          <p:nvPr/>
        </p:nvGraphicFramePr>
        <p:xfrm>
          <a:off x="6734175" y="1438275"/>
          <a:ext cx="5210175" cy="367665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5305425"/>
            <a:ext cx="11906250" cy="1323975"/>
          </a:xfrm>
          <a:prstGeom prst="roundRect">
            <a:avLst>
              <a:gd name="adj" fmla="val 57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Pe-based followed by pp-based are expected to be the two most attractive principal material / barrier technology segments in the global flexible plastic packaging market in terms of value over the forecast period. PE-Based and PP-Based exhibit a CAGR index of 102 and 97 and a market share index of 338 and 227 respectively, against the segment average of 100. The pvoh-based segment is expected to be less attractive as compared to other segments over the forecast period, owing to its lower CAGR and incremental opportunity. PE-Based and PP-Based rank as the most attractive because they pair scale with growth. PE is the workhorse resin for pouches, liners and lidding, with the broadest use across food and the recycling-friendliest profile, with 30.7% of 2026 value growing at 6.7%. For PP-Based, PP offers heat resistance and clarity for snack, bakery and retort-style packs, at 20.6% share and 6.4% CAGR. Brand-owner sustainability targets and rising processed-food consumption set the pattern across regions. Bubbles right of the CAGR-Index line grow faster than the segment average.</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Principal Material / Barrier Technology (1/3)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Principal Material / Barrier Technology and the absolute $ opportunity each sub-segment adds,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PE-Based</a:t>
            </a:r>
          </a:p>
        </p:txBody>
      </p:sp>
      <p:graphicFrame>
        <p:nvGraphicFramePr>
          <p:cNvPr id="13" name="Chart 12"/>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PP-Based</a:t>
            </a:r>
          </a:p>
        </p:txBody>
      </p:sp>
      <p:graphicFrame>
        <p:nvGraphicFramePr>
          <p:cNvPr id="16" name="Chart 15"/>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PET-Based</a:t>
            </a:r>
          </a:p>
        </p:txBody>
      </p:sp>
      <p:graphicFrame>
        <p:nvGraphicFramePr>
          <p:cNvPr id="19" name="Chart 18"/>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20" name="Rounded Rectangle 19"/>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PA-Based</a:t>
            </a:r>
          </a:p>
        </p:txBody>
      </p:sp>
      <p:graphicFrame>
        <p:nvGraphicFramePr>
          <p:cNvPr id="22" name="Chart 21"/>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r:id="rId6"/>
          </a:graphicData>
        </a:graphic>
      </p:graphicFrame>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Principal Material / Barrier Technology (2/3)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Principal Material / Barrier Technology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EVOH-Based</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PVDC-Based</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PVOH-Based</a:t>
            </a:r>
          </a:p>
        </p:txBody>
      </p:sp>
      <p:graphicFrame>
        <p:nvGraphicFramePr>
          <p:cNvPr id="18" name="Chart 17"/>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Metallized Barrier</a:t>
            </a:r>
          </a:p>
        </p:txBody>
      </p:sp>
      <p:graphicFrame>
        <p:nvGraphicFramePr>
          <p:cNvPr id="21" name="Chart 20"/>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Principal Material / Barrier Technology (3/3)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Principal Material / Barrier Technology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AlOx / SiOx-Coated</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Aluminum Foil-Based</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Other Specialty Barrier Technologies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5550" y="3952875"/>
            <a:ext cx="5610225" cy="209550"/>
          </a:xfrm>
          <a:prstGeom prst="rect">
            <a:avLst/>
          </a:prstGeom>
          <a:noFill/>
        </p:spPr>
        <p:txBody>
          <a:bodyPr wrap="square" lIns="0" rIns="19050" tIns="9525" bIns="9525">
            <a:spAutoFit/>
          </a:bodyPr>
          <a:lstStyle/>
          <a:p>
            <a:pPr algn="l"/>
            <a:r>
              <a:rPr sz="1300" b="1">
                <a:solidFill>
                  <a:srgbClr val="0B2E4A"/>
                </a:solidFill>
                <a:latin typeface="Calibri"/>
              </a:rPr>
              <a:t>Summary of Global Absolute $ Opportunity Analysis, By Principal Material / Barrier Technology</a:t>
            </a:r>
          </a:p>
        </p:txBody>
      </p:sp>
      <p:sp>
        <p:nvSpPr>
          <p:cNvPr id="21" name="Rectangle 20"/>
          <p:cNvSpPr/>
          <p:nvPr/>
        </p:nvSpPr>
        <p:spPr>
          <a:xfrm>
            <a:off x="6305550" y="41910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5550" y="4276725"/>
            <a:ext cx="5610225" cy="2266950"/>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E2E2E"/>
                </a:solidFill>
                <a:latin typeface="Calibri"/>
              </a:rPr>
              <a:t>By 2036, pe-based segment is anticipated to witness an increase of 1.9X in terms of value as compared to 2026. The PE-Based segment is expected to create an incremental opportunity of US$ 35,631 Mn for the overall flexible plastic packaging market from 2026 to 2036.</a:t>
            </a:r>
          </a:p>
          <a:p>
            <a:pPr algn="l">
              <a:lnSpc>
                <a:spcPct val="100000"/>
              </a:lnSpc>
              <a:spcBef>
                <a:spcPts val="0"/>
              </a:spcBef>
              <a:spcAft>
                <a:spcPts val="300"/>
              </a:spcAft>
            </a:pPr>
            <a:r>
              <a:rPr sz="1100" b="0">
                <a:solidFill>
                  <a:srgbClr val="2E2E2E"/>
                </a:solidFill>
                <a:latin typeface="Calibri"/>
              </a:rPr>
              <a:t>The PP-Based segment is expected to create an incremental opportunity of US$ 22,453 Mn for the overall flexible plastic packaging market from 2026 to 2036. The PET-Based segment is expected to create an incremental opportunity of US$ 11,502 Mn for the overall flexible plastic packaging market from 2026 to 2036.</a:t>
            </a:r>
          </a:p>
          <a:p>
            <a:pPr algn="l">
              <a:lnSpc>
                <a:spcPct val="100000"/>
              </a:lnSpc>
              <a:spcBef>
                <a:spcPts val="0"/>
              </a:spcBef>
              <a:spcAft>
                <a:spcPts val="300"/>
              </a:spcAft>
            </a:pPr>
            <a:r>
              <a:rPr sz="1100" b="0">
                <a:solidFill>
                  <a:srgbClr val="2E2E2E"/>
                </a:solidFill>
                <a:latin typeface="Calibri"/>
              </a:rPr>
              <a:t>PE-Based structures add the most absolute value because they are the largest base at 30.7% share and still grow at 6.7%, above the 6.6% market rate. Polyethylene is cheap, heat-sealable and the natural choice for mono-material recyclable designs favoured by retailers and regulators. PP-Based follows as the second-largest pool, while EVOH-Based and PET-Based also grow at 6.7% on demand for oxygen barrier in fresh protein and ready meals.</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Volume Analysis, By Principal Material / Barrier Technology (Thousand MT)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by Principal Material / Barrier Technology,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3267075"/>
          </a:xfrm>
          <a:prstGeom prst="roundRect">
            <a:avLst>
              <a:gd name="adj" fmla="val 233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By Principal Material / Barrier Technology (Thousand MT)</a:t>
            </a:r>
          </a:p>
        </p:txBody>
      </p:sp>
      <p:graphicFrame>
        <p:nvGraphicFramePr>
          <p:cNvPr id="13" name="Table 12"/>
          <p:cNvGraphicFramePr>
            <a:graphicFrameLocks noGrp="1"/>
          </p:cNvGraphicFramePr>
          <p:nvPr/>
        </p:nvGraphicFramePr>
        <p:xfrm>
          <a:off x="152400" y="1238250"/>
          <a:ext cx="11887205" cy="2800353"/>
        </p:xfrm>
        <a:graphic>
          <a:graphicData uri="http://schemas.openxmlformats.org/drawingml/2006/table">
            <a:tbl>
              <a:tblPr>
                <a:tableStyleId>{5C22544A-7EE6-4342-B048-85BDC9FD1C3A}</a:tableStyleId>
              </a:tblPr>
              <a:tblGrid>
                <a:gridCol w="2441410"/>
                <a:gridCol w="555635"/>
                <a:gridCol w="555635"/>
                <a:gridCol w="555635"/>
                <a:gridCol w="555635"/>
                <a:gridCol w="555635"/>
                <a:gridCol w="555635"/>
                <a:gridCol w="555635"/>
                <a:gridCol w="555635"/>
                <a:gridCol w="555635"/>
                <a:gridCol w="555635"/>
                <a:gridCol w="555635"/>
                <a:gridCol w="555635"/>
                <a:gridCol w="555635"/>
                <a:gridCol w="555635"/>
                <a:gridCol w="555635"/>
                <a:gridCol w="555635"/>
                <a:gridCol w="555635"/>
              </a:tblGrid>
              <a:tr h="215265">
                <a:tc>
                  <a:txBody>
                    <a:bodyPr wrap="none"/>
                    <a:lstStyle/>
                    <a:p>
                      <a:pPr algn="l"/>
                      <a:r>
                        <a:rPr sz="1100" b="1">
                          <a:solidFill>
                            <a:srgbClr val="0B2E4A"/>
                          </a:solidFill>
                          <a:latin typeface="Calibri"/>
                        </a:rPr>
                        <a:t>Principal Material / Barrier Technology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F-CAGR</a:t>
                      </a:r>
                      <a:endParaRPr sz="1100"/>
                    </a:p>
                  </a:txBody>
                  <a:tcPr marL="47625" marR="38100" marT="19050" marB="19050" anchor="ctr">
                    <a:solidFill>
                      <a:srgbClr val="E0E8EF"/>
                    </a:solidFill>
                  </a:tcPr>
                </a:tc>
              </a:tr>
              <a:tr h="215424">
                <a:tc>
                  <a:txBody>
                    <a:bodyPr wrap="none"/>
                    <a:lstStyle/>
                    <a:p>
                      <a:pPr algn="l"/>
                      <a:r>
                        <a:rPr sz="1100" b="1">
                          <a:solidFill>
                            <a:srgbClr val="2E2E2E"/>
                          </a:solidFill>
                          <a:latin typeface="Calibri"/>
                        </a:rPr>
                        <a:t>PE-Based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10,244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10,653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11,089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11,552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12,048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12,595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13,197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13,863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14,598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15,402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16,272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17,200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18,176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19,193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20,238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21,304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5.4%</a:t>
                      </a:r>
                      <a:endParaRPr sz="1100"/>
                    </a:p>
                  </a:txBody>
                  <a:tcPr marL="47625" marR="38100" marT="19050" marB="19050" anchor="ctr">
                    <a:solidFill>
                      <a:srgbClr val="FFFFFF"/>
                    </a:solidFill>
                  </a:tcPr>
                </a:tc>
              </a:tr>
              <a:tr h="215424">
                <a:tc>
                  <a:txBody>
                    <a:bodyPr wrap="none"/>
                    <a:lstStyle/>
                    <a:p>
                      <a:pPr algn="l"/>
                      <a:r>
                        <a:rPr sz="1100" b="1">
                          <a:solidFill>
                            <a:srgbClr val="2E2E2E"/>
                          </a:solidFill>
                          <a:latin typeface="Calibri"/>
                        </a:rPr>
                        <a:t>PP-Based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6,903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7,188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7,482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7,790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8,116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8,471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8,859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9,283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9,745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10,247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10,788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11,367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11,975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12,605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13,252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13,915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5.1%</a:t>
                      </a:r>
                      <a:endParaRPr sz="1100"/>
                    </a:p>
                  </a:txBody>
                  <a:tcPr marL="47625" marR="38100" marT="19050" marB="19050" anchor="ctr">
                    <a:solidFill>
                      <a:srgbClr val="F5F8FA"/>
                    </a:solidFill>
                  </a:tcPr>
                </a:tc>
              </a:tr>
              <a:tr h="215424">
                <a:tc>
                  <a:txBody>
                    <a:bodyPr wrap="none"/>
                    <a:lstStyle/>
                    <a:p>
                      <a:pPr algn="l"/>
                      <a:r>
                        <a:rPr sz="1100" b="1">
                          <a:solidFill>
                            <a:srgbClr val="2E2E2E"/>
                          </a:solidFill>
                          <a:latin typeface="Calibri"/>
                        </a:rPr>
                        <a:t>PET-Based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3,218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3,374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3,538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3,713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3,900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4,101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4,317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4,547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4,791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5,051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5,328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5,623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5,934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6,256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6,587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6,927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5.4%</a:t>
                      </a:r>
                      <a:endParaRPr sz="1100"/>
                    </a:p>
                  </a:txBody>
                  <a:tcPr marL="47625" marR="38100" marT="19050" marB="19050" anchor="ctr">
                    <a:solidFill>
                      <a:srgbClr val="FFFFFF"/>
                    </a:solidFill>
                  </a:tcPr>
                </a:tc>
              </a:tr>
              <a:tr h="215424">
                <a:tc>
                  <a:txBody>
                    <a:bodyPr wrap="none"/>
                    <a:lstStyle/>
                    <a:p>
                      <a:pPr algn="l"/>
                      <a:r>
                        <a:rPr sz="1100" b="1">
                          <a:solidFill>
                            <a:srgbClr val="2E2E2E"/>
                          </a:solidFill>
                          <a:latin typeface="Calibri"/>
                        </a:rPr>
                        <a:t>PA-Based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2,810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2,911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3,019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3,133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3,256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3,391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3,540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3,704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3,884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4,084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4,304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4,542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4,794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5,056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5,325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5,600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5.1%</a:t>
                      </a:r>
                      <a:endParaRPr sz="1100"/>
                    </a:p>
                  </a:txBody>
                  <a:tcPr marL="47625" marR="38100" marT="19050" marB="19050" anchor="ctr">
                    <a:solidFill>
                      <a:srgbClr val="F5F8FA"/>
                    </a:solidFill>
                  </a:tcPr>
                </a:tc>
              </a:tr>
              <a:tr h="215424">
                <a:tc>
                  <a:txBody>
                    <a:bodyPr wrap="none"/>
                    <a:lstStyle/>
                    <a:p>
                      <a:pPr algn="l"/>
                      <a:r>
                        <a:rPr sz="1100" b="1">
                          <a:solidFill>
                            <a:srgbClr val="2E2E2E"/>
                          </a:solidFill>
                          <a:latin typeface="Calibri"/>
                        </a:rPr>
                        <a:t>EVOH-Based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2,597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2,717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2,844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2,979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3,122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3,273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3,432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3,604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3,793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4,001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4,229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4,474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4,732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5,002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5,278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5,561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5.4%</a:t>
                      </a:r>
                      <a:endParaRPr sz="1100"/>
                    </a:p>
                  </a:txBody>
                  <a:tcPr marL="47625" marR="38100" marT="19050" marB="19050" anchor="ctr">
                    <a:solidFill>
                      <a:srgbClr val="FFFFFF"/>
                    </a:solidFill>
                  </a:tcPr>
                </a:tc>
              </a:tr>
              <a:tr h="215424">
                <a:tc>
                  <a:txBody>
                    <a:bodyPr wrap="none"/>
                    <a:lstStyle/>
                    <a:p>
                      <a:pPr algn="l"/>
                      <a:r>
                        <a:rPr sz="1100" b="1">
                          <a:solidFill>
                            <a:srgbClr val="2E2E2E"/>
                          </a:solidFill>
                          <a:latin typeface="Calibri"/>
                        </a:rPr>
                        <a:t>PVDC-Based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1,791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1,849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1,911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1,976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2,045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2,122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2,207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2,299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2,400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2,512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2,633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2,766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2,906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3,052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3,201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3,352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4.7%</a:t>
                      </a:r>
                      <a:endParaRPr sz="1100"/>
                    </a:p>
                  </a:txBody>
                  <a:tcPr marL="47625" marR="38100" marT="19050" marB="19050" anchor="ctr">
                    <a:solidFill>
                      <a:srgbClr val="F5F8FA"/>
                    </a:solidFill>
                  </a:tcPr>
                </a:tc>
              </a:tr>
              <a:tr h="215424">
                <a:tc>
                  <a:txBody>
                    <a:bodyPr wrap="none"/>
                    <a:lstStyle/>
                    <a:p>
                      <a:pPr algn="l"/>
                      <a:r>
                        <a:rPr sz="1100" b="1">
                          <a:solidFill>
                            <a:srgbClr val="2E2E2E"/>
                          </a:solidFill>
                          <a:latin typeface="Calibri"/>
                        </a:rPr>
                        <a:t>PVOH-Based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662.6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690.4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719.2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749.5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781.9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817.5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857.2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901.2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949.6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1,002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1,059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1,120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1,185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1,253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1,324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1,396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5.5%</a:t>
                      </a:r>
                      <a:endParaRPr sz="1100"/>
                    </a:p>
                  </a:txBody>
                  <a:tcPr marL="47625" marR="38100" marT="19050" marB="19050" anchor="ctr">
                    <a:solidFill>
                      <a:srgbClr val="FFFFFF"/>
                    </a:solidFill>
                  </a:tcPr>
                </a:tc>
              </a:tr>
              <a:tr h="215424">
                <a:tc>
                  <a:txBody>
                    <a:bodyPr wrap="none"/>
                    <a:lstStyle/>
                    <a:p>
                      <a:pPr algn="l"/>
                      <a:r>
                        <a:rPr sz="1100" b="1">
                          <a:solidFill>
                            <a:srgbClr val="2E2E2E"/>
                          </a:solidFill>
                          <a:latin typeface="Calibri"/>
                        </a:rPr>
                        <a:t>Metallized Barrier</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2,098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2,174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2,256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2,345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2,442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2,548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2,663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2,788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2,926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3,079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3,249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3,430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3,620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3,818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4,021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4,227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5.2%</a:t>
                      </a:r>
                      <a:endParaRPr sz="1100"/>
                    </a:p>
                  </a:txBody>
                  <a:tcPr marL="47625" marR="38100" marT="19050" marB="19050" anchor="ctr">
                    <a:solidFill>
                      <a:srgbClr val="F5F8FA"/>
                    </a:solidFill>
                  </a:tcPr>
                </a:tc>
              </a:tr>
              <a:tr h="215424">
                <a:tc>
                  <a:txBody>
                    <a:bodyPr wrap="none"/>
                    <a:lstStyle/>
                    <a:p>
                      <a:pPr algn="l"/>
                      <a:r>
                        <a:rPr sz="1100" b="1">
                          <a:solidFill>
                            <a:srgbClr val="2E2E2E"/>
                          </a:solidFill>
                          <a:latin typeface="Calibri"/>
                        </a:rPr>
                        <a:t>AlOx / SiOx-Coated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990.7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1,033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1,077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1,124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1,175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1,231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1,291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1,358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1,430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1,510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1,597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1,690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1,788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1,891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1,996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2,105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5.5%</a:t>
                      </a:r>
                      <a:endParaRPr sz="1100"/>
                    </a:p>
                  </a:txBody>
                  <a:tcPr marL="47625" marR="38100" marT="19050" marB="19050" anchor="ctr">
                    <a:solidFill>
                      <a:srgbClr val="FFFFFF"/>
                    </a:solidFill>
                  </a:tcPr>
                </a:tc>
              </a:tr>
              <a:tr h="215424">
                <a:tc>
                  <a:txBody>
                    <a:bodyPr wrap="none"/>
                    <a:lstStyle/>
                    <a:p>
                      <a:pPr algn="l"/>
                      <a:r>
                        <a:rPr sz="1100" b="1">
                          <a:solidFill>
                            <a:srgbClr val="2E2E2E"/>
                          </a:solidFill>
                          <a:latin typeface="Calibri"/>
                        </a:rPr>
                        <a:t>Aluminum Foil-Based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1,076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1,116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1,158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1,203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1,250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1,301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1,356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1,416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1,482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1,552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1,627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1,707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1,791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1,879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1,968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2,059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4.7%</a:t>
                      </a:r>
                      <a:endParaRPr sz="1100"/>
                    </a:p>
                  </a:txBody>
                  <a:tcPr marL="47625" marR="38100" marT="19050" marB="19050" anchor="ctr">
                    <a:solidFill>
                      <a:srgbClr val="F5F8FA"/>
                    </a:solidFill>
                  </a:tcPr>
                </a:tc>
              </a:tr>
              <a:tr h="215424">
                <a:tc>
                  <a:txBody>
                    <a:bodyPr wrap="none"/>
                    <a:lstStyle/>
                    <a:p>
                      <a:pPr algn="l"/>
                      <a:r>
                        <a:rPr sz="1100" b="1">
                          <a:solidFill>
                            <a:srgbClr val="2E2E2E"/>
                          </a:solidFill>
                          <a:latin typeface="Calibri"/>
                        </a:rPr>
                        <a:t>Other Specialty Barrier Technologies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945.8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996.8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1,050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1,107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1,168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1,233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1,302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1,376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1,454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1,539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1,631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1,729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1,832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1,940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2,051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2,166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5.8%</a:t>
                      </a:r>
                      <a:endParaRPr sz="1100"/>
                    </a:p>
                  </a:txBody>
                  <a:tcPr marL="47625" marR="38100" marT="19050" marB="19050" anchor="ctr">
                    <a:solidFill>
                      <a:srgbClr val="FFFFFF"/>
                    </a:solidFill>
                  </a:tcPr>
                </a:tc>
              </a:tr>
              <a:tr h="215424">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33,337</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34,702</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36,143</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37,672</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39,304</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41,083</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43,022</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45,139</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47,452</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49,980</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52,717</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55,648</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58,734</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61,946</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65,241</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68,611</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5.3%</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40481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4381500"/>
            <a:ext cx="11906250" cy="2247900"/>
          </a:xfrm>
          <a:prstGeom prst="roundRect">
            <a:avLst>
              <a:gd name="adj" fmla="val 338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46722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Volume Analysis, By Principal Material / Barrier Technology</a:t>
            </a:r>
          </a:p>
        </p:txBody>
      </p:sp>
      <p:sp>
        <p:nvSpPr>
          <p:cNvPr id="17" name="Rectangle 16"/>
          <p:cNvSpPr/>
          <p:nvPr/>
        </p:nvSpPr>
        <p:spPr>
          <a:xfrm>
            <a:off x="276225" y="47053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791075"/>
            <a:ext cx="11639550" cy="1762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Pe-based segment is projected to register 1.5X higher volume than pp-based segment in 2036. Among flexible plastic packaging by principal material / barrier technology, other specialty barrier technologies segment is expected to witness the highest CAGR of 5.8% over the forecast period.</a:t>
            </a:r>
          </a:p>
          <a:p>
            <a:pPr algn="l">
              <a:lnSpc>
                <a:spcPct val="110000"/>
              </a:lnSpc>
              <a:spcBef>
                <a:spcPts val="0"/>
              </a:spcBef>
              <a:spcAft>
                <a:spcPts val="500"/>
              </a:spcAft>
            </a:pPr>
            <a:r>
              <a:rPr sz="1150" b="0">
                <a:solidFill>
                  <a:srgbClr val="2E2E2E"/>
                </a:solidFill>
                <a:latin typeface="Calibri"/>
              </a:rPr>
              <a:t>In terms of volume share by principal material / barrier technology, the pe-based segment is expected to dominate the market, gaining 39 BPS and accounting for 31.1% share by 2036. The pp-based segment is expected to lose 34 BPS over the forecast period to account for 20.3% share by 2036.</a:t>
            </a:r>
          </a:p>
          <a:p>
            <a:pPr algn="l">
              <a:lnSpc>
                <a:spcPct val="110000"/>
              </a:lnSpc>
              <a:spcBef>
                <a:spcPts val="0"/>
              </a:spcBef>
              <a:spcAft>
                <a:spcPts val="500"/>
              </a:spcAft>
            </a:pPr>
            <a:r>
              <a:rPr sz="1150" b="0">
                <a:solidFill>
                  <a:srgbClr val="2E2E2E"/>
                </a:solidFill>
                <a:latin typeface="Calibri"/>
              </a:rPr>
              <a:t>PE-Based structures add 39 BPS of volume share at 5.4% growth because mono-PE laminates meet recyclability targets, seal reliably and carry a cost edge in food, protein and e-commerce packs, supported by rising packaged-food consumption in emerging markets and brand-owner recyclability targets. PP-Based cedes 34 BPS at 5.1% as brand owners standardise recyclable pouches on PE, leaving the other barrier chemistries close to the 5.3% market rate.</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Principal Material / Barrier Technology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Principal Material / Barrier Technology,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3400425"/>
          </a:xfrm>
          <a:prstGeom prst="roundRect">
            <a:avLst>
              <a:gd name="adj" fmla="val 22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Principal Material / Barrier Technology (US$ Mn)</a:t>
            </a:r>
          </a:p>
        </p:txBody>
      </p:sp>
      <p:graphicFrame>
        <p:nvGraphicFramePr>
          <p:cNvPr id="13" name="Table 12"/>
          <p:cNvGraphicFramePr>
            <a:graphicFrameLocks noGrp="1"/>
          </p:cNvGraphicFramePr>
          <p:nvPr/>
        </p:nvGraphicFramePr>
        <p:xfrm>
          <a:off x="152400" y="1238250"/>
          <a:ext cx="11887199" cy="2933697"/>
        </p:xfrm>
        <a:graphic>
          <a:graphicData uri="http://schemas.openxmlformats.org/drawingml/2006/table">
            <a:tbl>
              <a:tblPr>
                <a:tableStyleId>{5C22544A-7EE6-4342-B048-85BDC9FD1C3A}</a:tableStyleId>
              </a:tblPr>
              <a:tblGrid>
                <a:gridCol w="2366397"/>
                <a:gridCol w="563999"/>
                <a:gridCol w="563999"/>
                <a:gridCol w="563999"/>
                <a:gridCol w="563999"/>
                <a:gridCol w="563999"/>
                <a:gridCol w="563999"/>
                <a:gridCol w="563999"/>
                <a:gridCol w="563999"/>
                <a:gridCol w="563999"/>
                <a:gridCol w="563999"/>
                <a:gridCol w="563999"/>
                <a:gridCol w="563999"/>
                <a:gridCol w="563999"/>
                <a:gridCol w="563999"/>
                <a:gridCol w="563999"/>
                <a:gridCol w="563999"/>
                <a:gridCol w="496818"/>
              </a:tblGrid>
              <a:tr h="349377">
                <a:tc>
                  <a:txBody>
                    <a:bodyPr wrap="square"/>
                    <a:lstStyle/>
                    <a:p>
                      <a:pPr algn="l">
                        <a:lnSpc>
                          <a:spcPct val="90000"/>
                        </a:lnSpc>
                      </a:pPr>
                      <a:r>
                        <a:rPr sz="1100" b="1">
                          <a:solidFill>
                            <a:srgbClr val="0B2E4A"/>
                          </a:solidFill>
                          <a:latin typeface="Calibri"/>
                        </a:rPr>
                        <a:t>Principal Material / Barrier Technology</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2021A</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2022A</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2023A</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2024A</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2025A</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2026E</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2027F</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2028F</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2029F</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2030F</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2031F</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2032F</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2033F</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2034F</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2035F</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2036F</a:t>
                      </a:r>
                      <a:endParaRPr sz="1100"/>
                    </a:p>
                  </a:txBody>
                  <a:tcPr marL="38100" marR="28575" marT="19050" marB="19050" anchor="ctr">
                    <a:solidFill>
                      <a:srgbClr val="E0E8EF"/>
                    </a:solidFill>
                  </a:tcPr>
                </a:tc>
                <a:tc>
                  <a:txBody>
                    <a:bodyPr wrap="square"/>
                    <a:lstStyle/>
                    <a:p>
                      <a:pPr algn="l">
                        <a:lnSpc>
                          <a:spcPct val="90000"/>
                        </a:lnSpc>
                      </a:pPr>
                      <a:r>
                        <a:rPr sz="1100" b="1">
                          <a:solidFill>
                            <a:srgbClr val="0B2E4A"/>
                          </a:solidFill>
                          <a:latin typeface="Calibri"/>
                        </a:rPr>
                        <a:t>F-CAGR</a:t>
                      </a:r>
                      <a:endParaRPr sz="1100"/>
                    </a:p>
                  </a:txBody>
                  <a:tcPr marL="38100" marR="28575" marT="19050" marB="19050" anchor="ctr">
                    <a:solidFill>
                      <a:srgbClr val="E0E8EF"/>
                    </a:solidFill>
                  </a:tcPr>
                </a:tc>
              </a:tr>
              <a:tr h="215360">
                <a:tc>
                  <a:txBody>
                    <a:bodyPr wrap="none"/>
                    <a:lstStyle/>
                    <a:p>
                      <a:pPr algn="l"/>
                      <a:r>
                        <a:rPr sz="1100" b="1">
                          <a:solidFill>
                            <a:srgbClr val="2E2E2E"/>
                          </a:solidFill>
                          <a:latin typeface="Calibri"/>
                        </a:rPr>
                        <a:t>PE-Based</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31,227</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32,544</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33,958</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35,490</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37,146</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39,119</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41,330</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43,812</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46,593</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49,700</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53,132</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56,885</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60,933</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65,272</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69,880</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74,750</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6.7%</a:t>
                      </a:r>
                      <a:endParaRPr sz="1100"/>
                    </a:p>
                  </a:txBody>
                  <a:tcPr marL="38100" marR="28575" marT="19050" marB="19050" anchor="ctr">
                    <a:solidFill>
                      <a:srgbClr val="FFFFFF"/>
                    </a:solidFill>
                  </a:tcPr>
                </a:tc>
              </a:tr>
              <a:tr h="215360">
                <a:tc>
                  <a:txBody>
                    <a:bodyPr wrap="none"/>
                    <a:lstStyle/>
                    <a:p>
                      <a:pPr algn="l"/>
                      <a:r>
                        <a:rPr sz="1100" b="1">
                          <a:solidFill>
                            <a:srgbClr val="2E2E2E"/>
                          </a:solidFill>
                          <a:latin typeface="Calibri"/>
                        </a:rPr>
                        <a:t>PP-Based</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20,973</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21,886</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22,845</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23,871</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24,965</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26,259</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27,694</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29,288</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31,052</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33,010</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35,166</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37,526</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40,066</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42,780</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45,660</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48,712</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6.4%</a:t>
                      </a:r>
                      <a:endParaRPr sz="1100"/>
                    </a:p>
                  </a:txBody>
                  <a:tcPr marL="38100" marR="28575" marT="19050" marB="19050" anchor="ctr">
                    <a:solidFill>
                      <a:srgbClr val="F5F8FA"/>
                    </a:solidFill>
                  </a:tcPr>
                </a:tc>
              </a:tr>
              <a:tr h="215360">
                <a:tc>
                  <a:txBody>
                    <a:bodyPr wrap="none"/>
                    <a:lstStyle/>
                    <a:p>
                      <a:pPr algn="l"/>
                      <a:r>
                        <a:rPr sz="1100" b="1">
                          <a:solidFill>
                            <a:srgbClr val="2E2E2E"/>
                          </a:solidFill>
                          <a:latin typeface="Calibri"/>
                        </a:rPr>
                        <a:t>PET-Based</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9,735</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10,233</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10,763</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11,337</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11,955</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12,668</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13,447</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14,296</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15,218</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16,224</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17,319</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18,510</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19,794</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21,167</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22,624</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24,170</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6.7%</a:t>
                      </a:r>
                      <a:endParaRPr sz="1100"/>
                    </a:p>
                  </a:txBody>
                  <a:tcPr marL="38100" marR="28575" marT="19050" marB="19050" anchor="ctr">
                    <a:solidFill>
                      <a:srgbClr val="FFFFFF"/>
                    </a:solidFill>
                  </a:tcPr>
                </a:tc>
              </a:tr>
              <a:tr h="215360">
                <a:tc>
                  <a:txBody>
                    <a:bodyPr wrap="none"/>
                    <a:lstStyle/>
                    <a:p>
                      <a:pPr algn="l"/>
                      <a:r>
                        <a:rPr sz="1100" b="1">
                          <a:solidFill>
                            <a:srgbClr val="2E2E2E"/>
                          </a:solidFill>
                          <a:latin typeface="Calibri"/>
                        </a:rPr>
                        <a:t>PA-Based</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8,513</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8,849</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9,207</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9,598</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10,019</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10,522</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11,084</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11,712</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12,411</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13,195</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14,068</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15,030</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16,069</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17,183</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18,364</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19,611</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6.4%</a:t>
                      </a:r>
                      <a:endParaRPr sz="1100"/>
                    </a:p>
                  </a:txBody>
                  <a:tcPr marL="38100" marR="28575" marT="19050" marB="19050" anchor="ctr">
                    <a:solidFill>
                      <a:srgbClr val="F5F8FA"/>
                    </a:solidFill>
                  </a:tcPr>
                </a:tc>
              </a:tr>
              <a:tr h="215360">
                <a:tc>
                  <a:txBody>
                    <a:bodyPr wrap="none"/>
                    <a:lstStyle/>
                    <a:p>
                      <a:pPr algn="l"/>
                      <a:r>
                        <a:rPr sz="1100" b="1">
                          <a:solidFill>
                            <a:srgbClr val="2E2E2E"/>
                          </a:solidFill>
                          <a:latin typeface="Calibri"/>
                        </a:rPr>
                        <a:t>EVOH-Based</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7,863</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8,246</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8,655</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9,099</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9,570</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10,112</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10,697</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11,341</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12,058</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12,862</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13,754</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14,733</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15,792</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16,927</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18,132</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19,408</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6.7%</a:t>
                      </a:r>
                      <a:endParaRPr sz="1100"/>
                    </a:p>
                  </a:txBody>
                  <a:tcPr marL="38100" marR="28575" marT="19050" marB="19050" anchor="ctr">
                    <a:solidFill>
                      <a:srgbClr val="FFFFFF"/>
                    </a:solidFill>
                  </a:tcPr>
                </a:tc>
              </a:tr>
              <a:tr h="215360">
                <a:tc>
                  <a:txBody>
                    <a:bodyPr wrap="none"/>
                    <a:lstStyle/>
                    <a:p>
                      <a:pPr algn="l"/>
                      <a:r>
                        <a:rPr sz="1100" b="1">
                          <a:solidFill>
                            <a:srgbClr val="2E2E2E"/>
                          </a:solidFill>
                          <a:latin typeface="Calibri"/>
                        </a:rPr>
                        <a:t>PVDC-Based</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5,450</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5,638</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5,839</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6,057</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6,292</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6,577</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6,896</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7,251</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7,646</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8,088</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8,581</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9,128</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9,720</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10,355</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11,026</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11,735</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6.0%</a:t>
                      </a:r>
                      <a:endParaRPr sz="1100"/>
                    </a:p>
                  </a:txBody>
                  <a:tcPr marL="38100" marR="28575" marT="19050" marB="19050" anchor="ctr">
                    <a:solidFill>
                      <a:srgbClr val="F5F8FA"/>
                    </a:solidFill>
                  </a:tcPr>
                </a:tc>
              </a:tr>
              <a:tr h="215360">
                <a:tc>
                  <a:txBody>
                    <a:bodyPr wrap="none"/>
                    <a:lstStyle/>
                    <a:p>
                      <a:pPr algn="l"/>
                      <a:r>
                        <a:rPr sz="1100" b="1">
                          <a:solidFill>
                            <a:srgbClr val="2E2E2E"/>
                          </a:solidFill>
                          <a:latin typeface="Calibri"/>
                        </a:rPr>
                        <a:t>PVOH-Based</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2,003</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2,094</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2,189</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2,292</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2,402</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2,532</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2,679</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2,844</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3,028</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3,231</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3,454</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3,699</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3,965</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4,252</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4,558</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4,883</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6.8%</a:t>
                      </a:r>
                      <a:endParaRPr sz="1100"/>
                    </a:p>
                  </a:txBody>
                  <a:tcPr marL="38100" marR="28575" marT="19050" marB="19050" anchor="ctr">
                    <a:solidFill>
                      <a:srgbClr val="FFFFFF"/>
                    </a:solidFill>
                  </a:tcPr>
                </a:tc>
              </a:tr>
              <a:tr h="215360">
                <a:tc>
                  <a:txBody>
                    <a:bodyPr wrap="none"/>
                    <a:lstStyle/>
                    <a:p>
                      <a:pPr algn="l"/>
                      <a:r>
                        <a:rPr sz="1100" b="1">
                          <a:solidFill>
                            <a:srgbClr val="2E2E2E"/>
                          </a:solidFill>
                          <a:latin typeface="Calibri"/>
                        </a:rPr>
                        <a:t>Metallized Barrier</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6,358</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6,612</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6,888</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7,192</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7,522</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7,913</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8,343</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8,818</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9,349</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9,948</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10,617</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11,350</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12,138</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12,981</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13,873</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14,817</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6.5%</a:t>
                      </a:r>
                      <a:endParaRPr sz="1100"/>
                    </a:p>
                  </a:txBody>
                  <a:tcPr marL="38100" marR="28575" marT="19050" marB="19050" anchor="ctr">
                    <a:solidFill>
                      <a:srgbClr val="F5F8FA"/>
                    </a:solidFill>
                  </a:tcPr>
                </a:tc>
              </a:tr>
              <a:tr h="215360">
                <a:tc>
                  <a:txBody>
                    <a:bodyPr wrap="none"/>
                    <a:lstStyle/>
                    <a:p>
                      <a:pPr algn="l"/>
                      <a:r>
                        <a:rPr sz="1100" b="1">
                          <a:solidFill>
                            <a:srgbClr val="2E2E2E"/>
                          </a:solidFill>
                          <a:latin typeface="Calibri"/>
                        </a:rPr>
                        <a:t>AlOx / SiOx-Coated</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3,009</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3,143</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3,286</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3,442</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3,611</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3,812</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4,035</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4,284</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4,560</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4,870</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5,211</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5,584</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5,987</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6,418</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6,877</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7,364</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6.8%</a:t>
                      </a:r>
                      <a:endParaRPr sz="1100"/>
                    </a:p>
                  </a:txBody>
                  <a:tcPr marL="38100" marR="28575" marT="19050" marB="19050" anchor="ctr">
                    <a:solidFill>
                      <a:srgbClr val="FFFFFF"/>
                    </a:solidFill>
                  </a:tcPr>
                </a:tc>
              </a:tr>
              <a:tr h="215360">
                <a:tc>
                  <a:txBody>
                    <a:bodyPr wrap="none"/>
                    <a:lstStyle/>
                    <a:p>
                      <a:pPr algn="l"/>
                      <a:r>
                        <a:rPr sz="1100" b="1">
                          <a:solidFill>
                            <a:srgbClr val="2E2E2E"/>
                          </a:solidFill>
                          <a:latin typeface="Calibri"/>
                        </a:rPr>
                        <a:t>Aluminum Foil-Based</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3,259</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3,390</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3,528</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3,678</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3,837</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4,025</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4,232</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4,462</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4,717</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4,996</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5,300</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5,630</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5,987</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6,369</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6,772</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7,197</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6.0%</a:t>
                      </a:r>
                      <a:endParaRPr sz="1100"/>
                    </a:p>
                  </a:txBody>
                  <a:tcPr marL="38100" marR="28575" marT="19050" marB="19050" anchor="ctr">
                    <a:solidFill>
                      <a:srgbClr val="F5F8FA"/>
                    </a:solidFill>
                  </a:tcPr>
                </a:tc>
              </a:tr>
              <a:tr h="215360">
                <a:tc>
                  <a:txBody>
                    <a:bodyPr wrap="none"/>
                    <a:lstStyle/>
                    <a:p>
                      <a:pPr algn="l"/>
                      <a:r>
                        <a:rPr sz="1100" b="1">
                          <a:solidFill>
                            <a:srgbClr val="2E2E2E"/>
                          </a:solidFill>
                          <a:latin typeface="Calibri"/>
                        </a:rPr>
                        <a:t>Other Specialty Barrier Technologies</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2,867</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3,029</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3,199</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3,384</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3,581</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3,808</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4,054</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4,322</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4,613</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4,936</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5,292</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5,684</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6,108</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6,562</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7,046</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7,561</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7.1%</a:t>
                      </a:r>
                      <a:endParaRPr sz="1100"/>
                    </a:p>
                  </a:txBody>
                  <a:tcPr marL="38100" marR="28575" marT="19050" marB="19050" anchor="ctr">
                    <a:solidFill>
                      <a:srgbClr val="FFFFFF"/>
                    </a:solidFill>
                  </a:tcPr>
                </a:tc>
              </a:tr>
              <a:tr h="215360">
                <a:tc>
                  <a:txBody>
                    <a:bodyPr wrap="none"/>
                    <a:lstStyle/>
                    <a:p>
                      <a:pPr algn="l"/>
                      <a:r>
                        <a:rPr sz="1100" b="1">
                          <a:solidFill>
                            <a:srgbClr val="2E2E2E"/>
                          </a:solidFill>
                          <a:latin typeface="Calibri"/>
                        </a:rPr>
                        <a:t>Total</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101,257</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105,663</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110,360</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115,439</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120,900</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127,346</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134,491</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142,430</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151,246</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161,060</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171,894</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183,758</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196,559</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210,265</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224,814</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240,208</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6.6%</a:t>
                      </a:r>
                      <a:endParaRPr sz="1100"/>
                    </a:p>
                  </a:txBody>
                  <a:tcPr marL="38100" marR="28575" marT="19050" marB="19050" anchor="ctr">
                    <a:solidFill>
                      <a:srgbClr val="E0E8EF"/>
                    </a:solidFill>
                  </a:tcPr>
                </a:tc>
              </a:tr>
            </a:tbl>
          </a:graphicData>
        </a:graphic>
      </p:graphicFrame>
      <p:sp>
        <p:nvSpPr>
          <p:cNvPr id="14" name="TextBox 13"/>
          <p:cNvSpPr txBox="1"/>
          <p:nvPr/>
        </p:nvSpPr>
        <p:spPr>
          <a:xfrm>
            <a:off x="219075" y="41814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4514850"/>
            <a:ext cx="11906250" cy="2114550"/>
          </a:xfrm>
          <a:prstGeom prst="roundRect">
            <a:avLst>
              <a:gd name="adj" fmla="val 360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60057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Principal Material / Barrier Technology</a:t>
            </a:r>
          </a:p>
        </p:txBody>
      </p:sp>
      <p:sp>
        <p:nvSpPr>
          <p:cNvPr id="17" name="Rectangle 16"/>
          <p:cNvSpPr/>
          <p:nvPr/>
        </p:nvSpPr>
        <p:spPr>
          <a:xfrm>
            <a:off x="276225" y="48387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924425"/>
            <a:ext cx="11639550" cy="16287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Pe-based segment is projected to register 1.5X higher value than pp-based segment in 2036. Among flexible plastic packaging by principal material / barrier technology, other specialty barrier technologies segment is expected to witness the highest CAGR of 7.1% over the forecast period.</a:t>
            </a:r>
          </a:p>
          <a:p>
            <a:pPr algn="l">
              <a:lnSpc>
                <a:spcPct val="110000"/>
              </a:lnSpc>
              <a:spcBef>
                <a:spcPts val="0"/>
              </a:spcBef>
              <a:spcAft>
                <a:spcPts val="500"/>
              </a:spcAft>
            </a:pPr>
            <a:r>
              <a:rPr sz="1150" b="0">
                <a:solidFill>
                  <a:srgbClr val="2E2E2E"/>
                </a:solidFill>
                <a:latin typeface="Calibri"/>
              </a:rPr>
              <a:t>In terms of value share by principal material / barrier technology, the pe-based segment is expected to dominate the market, gaining 40 BPS and accounting for 31.1% share by 2036. The pp-based segment is expected to lose 34 BPS over the forecast period to account for 20.3% share by 2036.</a:t>
            </a:r>
          </a:p>
          <a:p>
            <a:pPr algn="l">
              <a:lnSpc>
                <a:spcPct val="110000"/>
              </a:lnSpc>
              <a:spcBef>
                <a:spcPts val="0"/>
              </a:spcBef>
              <a:spcAft>
                <a:spcPts val="500"/>
              </a:spcAft>
            </a:pPr>
            <a:r>
              <a:rPr sz="1150" b="0">
                <a:solidFill>
                  <a:srgbClr val="2E2E2E"/>
                </a:solidFill>
                <a:latin typeface="Calibri"/>
              </a:rPr>
              <a:t>PE-Based structures gain 40 BPS because polyethylene is the natural base for mono-material recyclable designs, benefits from extended producer responsibility rules and offers low cost and strong sealing. PP-Based loses 34 BPS and PVDC-Based loses 28 BPS as brand owners move away from chlorinated and hard-to-recycle laminates. Other Specialty Barrier Technologies grow fastest at 7.1% on demand for high-performance, recyclable barriers.</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Principal Material / Barrier Technology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Principal Material / Barrier Technology in 2021, 2026 and 2036, highlighting share shifts in basis…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Principal Material / Barrier Technology ·  2021 / 2026 / 2036 (US$ Mn)  ·  right axis = BPS share shift</a:t>
            </a:r>
          </a:p>
        </p:txBody>
      </p:sp>
      <p:graphicFrame>
        <p:nvGraphicFramePr>
          <p:cNvPr id="13" name="Chart 12"/>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4" name="TextBox 13"/>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5" name="FMI Lock Anchor"/>
          <p:cNvSpPr txBox="1"/>
          <p:nvPr/>
        </p:nvSpPr>
        <p:spPr>
          <a:xfrm>
            <a:off x="2678811" y="4014597"/>
            <a:ext cx="38100" cy="38100"/>
          </a:xfrm>
          <a:prstGeom prst="rect">
            <a:avLst/>
          </a:prstGeom>
          <a:noFill/>
        </p:spPr>
        <p:txBody>
          <a:bodyPr wrap="none">
            <a:spAutoFit/>
          </a:bodyPr>
          <a:lstStyle/>
          <a:p/>
        </p:txBody>
      </p:sp>
      <p:sp>
        <p:nvSpPr>
          <p:cNvPr id="16" name="FMI Legend Chip"/>
          <p:cNvSpPr/>
          <p:nvPr/>
        </p:nvSpPr>
        <p:spPr>
          <a:xfrm>
            <a:off x="4928997" y="1833182"/>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5095684" y="183318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5233797" y="1790319"/>
            <a:ext cx="1662303" cy="171450"/>
          </a:xfrm>
          <a:prstGeom prst="rect">
            <a:avLst/>
          </a:prstGeom>
          <a:noFill/>
        </p:spPr>
        <p:txBody>
          <a:bodyPr wrap="none" lIns="19050" rIns="19050" tIns="0" bIns="0" anchor="ctr">
            <a:spAutoFit/>
          </a:bodyPr>
          <a:lstStyle/>
          <a:p>
            <a:pPr algn="l"/>
            <a:r>
              <a:rPr sz="900" b="0">
                <a:solidFill>
                  <a:srgbClr val="2E2E2E"/>
                </a:solidFill>
                <a:latin typeface="Calibri"/>
              </a:rPr>
              <a:t>PE-Based</a:t>
            </a:r>
          </a:p>
        </p:txBody>
      </p:sp>
      <p:sp>
        <p:nvSpPr>
          <p:cNvPr id="19" name="BPS Value 1"/>
          <p:cNvSpPr txBox="1"/>
          <p:nvPr/>
        </p:nvSpPr>
        <p:spPr>
          <a:xfrm>
            <a:off x="6896100" y="1790319"/>
            <a:ext cx="514350" cy="171450"/>
          </a:xfrm>
          <a:prstGeom prst="rect">
            <a:avLst/>
          </a:prstGeom>
          <a:noFill/>
        </p:spPr>
        <p:txBody>
          <a:bodyPr wrap="none" lIns="0" rIns="0" tIns="0" bIns="0" anchor="ctr">
            <a:spAutoFit/>
          </a:bodyPr>
          <a:lstStyle/>
          <a:p>
            <a:pPr algn="r"/>
            <a:r>
              <a:rPr sz="900" b="1">
                <a:solidFill>
                  <a:srgbClr val="2E7D32"/>
                </a:solidFill>
                <a:latin typeface="Calibri"/>
              </a:rPr>
              <a:t>+40</a:t>
            </a:r>
          </a:p>
        </p:txBody>
      </p:sp>
      <p:sp>
        <p:nvSpPr>
          <p:cNvPr id="20" name="FMI Legend Chip"/>
          <p:cNvSpPr/>
          <p:nvPr/>
        </p:nvSpPr>
        <p:spPr>
          <a:xfrm>
            <a:off x="4928997" y="2004632"/>
            <a:ext cx="85725" cy="85725"/>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a:off x="5095684" y="200463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5233797" y="1961769"/>
            <a:ext cx="2178844" cy="171450"/>
          </a:xfrm>
          <a:prstGeom prst="rect">
            <a:avLst/>
          </a:prstGeom>
          <a:noFill/>
        </p:spPr>
        <p:txBody>
          <a:bodyPr wrap="none" lIns="19050" rIns="19050" tIns="0" bIns="0" anchor="ctr">
            <a:spAutoFit/>
          </a:bodyPr>
          <a:lstStyle/>
          <a:p>
            <a:pPr algn="l"/>
            <a:r>
              <a:rPr sz="900" b="0">
                <a:solidFill>
                  <a:srgbClr val="2E2E2E"/>
                </a:solidFill>
                <a:latin typeface="Calibri"/>
              </a:rPr>
              <a:t>Other Specialty Barrier Technologies</a:t>
            </a:r>
          </a:p>
        </p:txBody>
      </p:sp>
      <p:sp>
        <p:nvSpPr>
          <p:cNvPr id="23" name="BPS Value 2"/>
          <p:cNvSpPr txBox="1"/>
          <p:nvPr/>
        </p:nvSpPr>
        <p:spPr>
          <a:xfrm>
            <a:off x="6896100" y="1961769"/>
            <a:ext cx="514350" cy="171450"/>
          </a:xfrm>
          <a:prstGeom prst="rect">
            <a:avLst/>
          </a:prstGeom>
          <a:noFill/>
        </p:spPr>
        <p:txBody>
          <a:bodyPr wrap="none" lIns="0" rIns="0" tIns="0" bIns="0" anchor="ctr">
            <a:spAutoFit/>
          </a:bodyPr>
          <a:lstStyle/>
          <a:p>
            <a:pPr algn="r"/>
            <a:r>
              <a:rPr sz="900" b="1">
                <a:solidFill>
                  <a:srgbClr val="2E7D32"/>
                </a:solidFill>
                <a:latin typeface="Calibri"/>
              </a:rPr>
              <a:t>+16</a:t>
            </a:r>
          </a:p>
        </p:txBody>
      </p:sp>
      <p:sp>
        <p:nvSpPr>
          <p:cNvPr id="24" name="FMI Legend Chip"/>
          <p:cNvSpPr/>
          <p:nvPr/>
        </p:nvSpPr>
        <p:spPr>
          <a:xfrm>
            <a:off x="4928997" y="2176082"/>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5095684" y="217608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3"/>
          <p:cNvSpPr txBox="1"/>
          <p:nvPr/>
        </p:nvSpPr>
        <p:spPr>
          <a:xfrm>
            <a:off x="5233797" y="2133219"/>
            <a:ext cx="1662303" cy="171450"/>
          </a:xfrm>
          <a:prstGeom prst="rect">
            <a:avLst/>
          </a:prstGeom>
          <a:noFill/>
        </p:spPr>
        <p:txBody>
          <a:bodyPr wrap="none" lIns="19050" rIns="19050" tIns="0" bIns="0" anchor="ctr">
            <a:spAutoFit/>
          </a:bodyPr>
          <a:lstStyle/>
          <a:p>
            <a:pPr algn="l"/>
            <a:r>
              <a:rPr sz="900" b="0">
                <a:solidFill>
                  <a:srgbClr val="2E2E2E"/>
                </a:solidFill>
                <a:latin typeface="Calibri"/>
              </a:rPr>
              <a:t>EVOH-Based</a:t>
            </a:r>
          </a:p>
        </p:txBody>
      </p:sp>
      <p:sp>
        <p:nvSpPr>
          <p:cNvPr id="27" name="BPS Value 3"/>
          <p:cNvSpPr txBox="1"/>
          <p:nvPr/>
        </p:nvSpPr>
        <p:spPr>
          <a:xfrm>
            <a:off x="6896100" y="2133219"/>
            <a:ext cx="514350" cy="171450"/>
          </a:xfrm>
          <a:prstGeom prst="rect">
            <a:avLst/>
          </a:prstGeom>
          <a:noFill/>
        </p:spPr>
        <p:txBody>
          <a:bodyPr wrap="none" lIns="0" rIns="0" tIns="0" bIns="0" anchor="ctr">
            <a:spAutoFit/>
          </a:bodyPr>
          <a:lstStyle/>
          <a:p>
            <a:pPr algn="r"/>
            <a:r>
              <a:rPr sz="900" b="1">
                <a:solidFill>
                  <a:srgbClr val="2E7D32"/>
                </a:solidFill>
                <a:latin typeface="Calibri"/>
              </a:rPr>
              <a:t>+14</a:t>
            </a:r>
          </a:p>
        </p:txBody>
      </p:sp>
      <p:sp>
        <p:nvSpPr>
          <p:cNvPr id="28" name="FMI Legend Chip"/>
          <p:cNvSpPr/>
          <p:nvPr/>
        </p:nvSpPr>
        <p:spPr>
          <a:xfrm>
            <a:off x="4928997" y="2347532"/>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a:off x="5095684" y="234753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4"/>
          <p:cNvSpPr txBox="1"/>
          <p:nvPr/>
        </p:nvSpPr>
        <p:spPr>
          <a:xfrm>
            <a:off x="5233797" y="2304669"/>
            <a:ext cx="1662303" cy="171450"/>
          </a:xfrm>
          <a:prstGeom prst="rect">
            <a:avLst/>
          </a:prstGeom>
          <a:noFill/>
        </p:spPr>
        <p:txBody>
          <a:bodyPr wrap="none" lIns="19050" rIns="19050" tIns="0" bIns="0" anchor="ctr">
            <a:spAutoFit/>
          </a:bodyPr>
          <a:lstStyle/>
          <a:p>
            <a:pPr algn="l"/>
            <a:r>
              <a:rPr sz="900" b="0">
                <a:solidFill>
                  <a:srgbClr val="2E2E2E"/>
                </a:solidFill>
                <a:latin typeface="Calibri"/>
              </a:rPr>
              <a:t>PET-Based</a:t>
            </a:r>
          </a:p>
        </p:txBody>
      </p:sp>
      <p:sp>
        <p:nvSpPr>
          <p:cNvPr id="31" name="BPS Value 4"/>
          <p:cNvSpPr txBox="1"/>
          <p:nvPr/>
        </p:nvSpPr>
        <p:spPr>
          <a:xfrm>
            <a:off x="6896100" y="2304669"/>
            <a:ext cx="514350" cy="171450"/>
          </a:xfrm>
          <a:prstGeom prst="rect">
            <a:avLst/>
          </a:prstGeom>
          <a:noFill/>
        </p:spPr>
        <p:txBody>
          <a:bodyPr wrap="none" lIns="0" rIns="0" tIns="0" bIns="0" anchor="ctr">
            <a:spAutoFit/>
          </a:bodyPr>
          <a:lstStyle/>
          <a:p>
            <a:pPr algn="r"/>
            <a:r>
              <a:rPr sz="900" b="1">
                <a:solidFill>
                  <a:srgbClr val="2E7D32"/>
                </a:solidFill>
                <a:latin typeface="Calibri"/>
              </a:rPr>
              <a:t>+11</a:t>
            </a:r>
          </a:p>
        </p:txBody>
      </p:sp>
      <p:sp>
        <p:nvSpPr>
          <p:cNvPr id="32" name="FMI Legend Chip"/>
          <p:cNvSpPr/>
          <p:nvPr/>
        </p:nvSpPr>
        <p:spPr>
          <a:xfrm>
            <a:off x="4928997" y="2518982"/>
            <a:ext cx="85725" cy="85725"/>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a:off x="5095684" y="251898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5"/>
          <p:cNvSpPr txBox="1"/>
          <p:nvPr/>
        </p:nvSpPr>
        <p:spPr>
          <a:xfrm>
            <a:off x="5233797" y="2476119"/>
            <a:ext cx="1662303" cy="171450"/>
          </a:xfrm>
          <a:prstGeom prst="rect">
            <a:avLst/>
          </a:prstGeom>
          <a:noFill/>
        </p:spPr>
        <p:txBody>
          <a:bodyPr wrap="none" lIns="19050" rIns="19050" tIns="0" bIns="0" anchor="ctr">
            <a:spAutoFit/>
          </a:bodyPr>
          <a:lstStyle/>
          <a:p>
            <a:pPr algn="l"/>
            <a:r>
              <a:rPr sz="900" b="0">
                <a:solidFill>
                  <a:srgbClr val="2E2E2E"/>
                </a:solidFill>
                <a:latin typeface="Calibri"/>
              </a:rPr>
              <a:t>AlOx / SiOx-Coated</a:t>
            </a:r>
          </a:p>
        </p:txBody>
      </p:sp>
      <p:sp>
        <p:nvSpPr>
          <p:cNvPr id="35" name="BPS Value 5"/>
          <p:cNvSpPr txBox="1"/>
          <p:nvPr/>
        </p:nvSpPr>
        <p:spPr>
          <a:xfrm>
            <a:off x="6896100" y="2476119"/>
            <a:ext cx="514350" cy="171450"/>
          </a:xfrm>
          <a:prstGeom prst="rect">
            <a:avLst/>
          </a:prstGeom>
          <a:noFill/>
        </p:spPr>
        <p:txBody>
          <a:bodyPr wrap="none" lIns="0" rIns="0" tIns="0" bIns="0" anchor="ctr">
            <a:spAutoFit/>
          </a:bodyPr>
          <a:lstStyle/>
          <a:p>
            <a:pPr algn="r"/>
            <a:r>
              <a:rPr sz="900" b="1">
                <a:solidFill>
                  <a:srgbClr val="2E7D32"/>
                </a:solidFill>
                <a:latin typeface="Calibri"/>
              </a:rPr>
              <a:t>+7</a:t>
            </a:r>
          </a:p>
        </p:txBody>
      </p:sp>
      <p:sp>
        <p:nvSpPr>
          <p:cNvPr id="36" name="FMI Legend Chip"/>
          <p:cNvSpPr/>
          <p:nvPr/>
        </p:nvSpPr>
        <p:spPr>
          <a:xfrm>
            <a:off x="4928997" y="2690432"/>
            <a:ext cx="85725" cy="85725"/>
          </a:xfrm>
          <a:prstGeom prst="rect">
            <a:avLst/>
          </a:prstGeom>
          <a:solidFill>
            <a:srgbClr val="B2B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Isosceles Triangle 36"/>
          <p:cNvSpPr/>
          <p:nvPr/>
        </p:nvSpPr>
        <p:spPr>
          <a:xfrm>
            <a:off x="5095684" y="269043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PS Name 6"/>
          <p:cNvSpPr txBox="1"/>
          <p:nvPr/>
        </p:nvSpPr>
        <p:spPr>
          <a:xfrm>
            <a:off x="5233797" y="2647569"/>
            <a:ext cx="1662303" cy="171450"/>
          </a:xfrm>
          <a:prstGeom prst="rect">
            <a:avLst/>
          </a:prstGeom>
          <a:noFill/>
        </p:spPr>
        <p:txBody>
          <a:bodyPr wrap="none" lIns="19050" rIns="19050" tIns="0" bIns="0" anchor="ctr">
            <a:spAutoFit/>
          </a:bodyPr>
          <a:lstStyle/>
          <a:p>
            <a:pPr algn="l"/>
            <a:r>
              <a:rPr sz="900" b="0">
                <a:solidFill>
                  <a:srgbClr val="2E2E2E"/>
                </a:solidFill>
                <a:latin typeface="Calibri"/>
              </a:rPr>
              <a:t>PVOH-Based</a:t>
            </a:r>
          </a:p>
        </p:txBody>
      </p:sp>
      <p:sp>
        <p:nvSpPr>
          <p:cNvPr id="39" name="BPS Value 6"/>
          <p:cNvSpPr txBox="1"/>
          <p:nvPr/>
        </p:nvSpPr>
        <p:spPr>
          <a:xfrm>
            <a:off x="6896100" y="2647569"/>
            <a:ext cx="514350" cy="171450"/>
          </a:xfrm>
          <a:prstGeom prst="rect">
            <a:avLst/>
          </a:prstGeom>
          <a:noFill/>
        </p:spPr>
        <p:txBody>
          <a:bodyPr wrap="none" lIns="0" rIns="0" tIns="0" bIns="0" anchor="ctr">
            <a:spAutoFit/>
          </a:bodyPr>
          <a:lstStyle/>
          <a:p>
            <a:pPr algn="r"/>
            <a:r>
              <a:rPr sz="900" b="1">
                <a:solidFill>
                  <a:srgbClr val="2E7D32"/>
                </a:solidFill>
                <a:latin typeface="Calibri"/>
              </a:rPr>
              <a:t>+4</a:t>
            </a:r>
          </a:p>
        </p:txBody>
      </p:sp>
      <p:sp>
        <p:nvSpPr>
          <p:cNvPr id="40" name="FMI Legend Chip"/>
          <p:cNvSpPr/>
          <p:nvPr/>
        </p:nvSpPr>
        <p:spPr>
          <a:xfrm>
            <a:off x="4928997" y="2861882"/>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Isosceles Triangle 40"/>
          <p:cNvSpPr/>
          <p:nvPr/>
        </p:nvSpPr>
        <p:spPr>
          <a:xfrm rot="10800000">
            <a:off x="5095684" y="2861882"/>
            <a:ext cx="85725" cy="85725"/>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PS Name 7"/>
          <p:cNvSpPr txBox="1"/>
          <p:nvPr/>
        </p:nvSpPr>
        <p:spPr>
          <a:xfrm>
            <a:off x="5233797" y="2819019"/>
            <a:ext cx="1662303" cy="171450"/>
          </a:xfrm>
          <a:prstGeom prst="rect">
            <a:avLst/>
          </a:prstGeom>
          <a:noFill/>
        </p:spPr>
        <p:txBody>
          <a:bodyPr wrap="none" lIns="19050" rIns="19050" tIns="0" bIns="0" anchor="ctr">
            <a:spAutoFit/>
          </a:bodyPr>
          <a:lstStyle/>
          <a:p>
            <a:pPr algn="l"/>
            <a:r>
              <a:rPr sz="900" b="0">
                <a:solidFill>
                  <a:srgbClr val="2E2E2E"/>
                </a:solidFill>
                <a:latin typeface="Calibri"/>
              </a:rPr>
              <a:t>Metallized Barrier</a:t>
            </a:r>
          </a:p>
        </p:txBody>
      </p:sp>
      <p:sp>
        <p:nvSpPr>
          <p:cNvPr id="43" name="BPS Value 7"/>
          <p:cNvSpPr txBox="1"/>
          <p:nvPr/>
        </p:nvSpPr>
        <p:spPr>
          <a:xfrm>
            <a:off x="6896100" y="2819019"/>
            <a:ext cx="514350" cy="171450"/>
          </a:xfrm>
          <a:prstGeom prst="rect">
            <a:avLst/>
          </a:prstGeom>
          <a:noFill/>
        </p:spPr>
        <p:txBody>
          <a:bodyPr wrap="none" lIns="0" rIns="0" tIns="0" bIns="0" anchor="ctr">
            <a:spAutoFit/>
          </a:bodyPr>
          <a:lstStyle/>
          <a:p>
            <a:pPr algn="r"/>
            <a:r>
              <a:rPr sz="900" b="1">
                <a:solidFill>
                  <a:srgbClr val="E44D3A"/>
                </a:solidFill>
                <a:latin typeface="Calibri"/>
              </a:rPr>
              <a:t>-5</a:t>
            </a:r>
          </a:p>
        </p:txBody>
      </p:sp>
      <p:sp>
        <p:nvSpPr>
          <p:cNvPr id="44" name="FMI Legend Chip"/>
          <p:cNvSpPr/>
          <p:nvPr/>
        </p:nvSpPr>
        <p:spPr>
          <a:xfrm>
            <a:off x="4928997" y="3033332"/>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Isosceles Triangle 44"/>
          <p:cNvSpPr/>
          <p:nvPr/>
        </p:nvSpPr>
        <p:spPr>
          <a:xfrm rot="10800000">
            <a:off x="5095684" y="3033332"/>
            <a:ext cx="85725" cy="85725"/>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PS Name 8"/>
          <p:cNvSpPr txBox="1"/>
          <p:nvPr/>
        </p:nvSpPr>
        <p:spPr>
          <a:xfrm>
            <a:off x="5233797" y="2990469"/>
            <a:ext cx="1662303" cy="171450"/>
          </a:xfrm>
          <a:prstGeom prst="rect">
            <a:avLst/>
          </a:prstGeom>
          <a:noFill/>
        </p:spPr>
        <p:txBody>
          <a:bodyPr wrap="none" lIns="19050" rIns="19050" tIns="0" bIns="0" anchor="ctr">
            <a:spAutoFit/>
          </a:bodyPr>
          <a:lstStyle/>
          <a:p>
            <a:pPr algn="l"/>
            <a:r>
              <a:rPr sz="900" b="0">
                <a:solidFill>
                  <a:srgbClr val="2E2E2E"/>
                </a:solidFill>
                <a:latin typeface="Calibri"/>
              </a:rPr>
              <a:t>PA-Based</a:t>
            </a:r>
          </a:p>
        </p:txBody>
      </p:sp>
      <p:sp>
        <p:nvSpPr>
          <p:cNvPr id="47" name="BPS Value 8"/>
          <p:cNvSpPr txBox="1"/>
          <p:nvPr/>
        </p:nvSpPr>
        <p:spPr>
          <a:xfrm>
            <a:off x="6896100" y="2990469"/>
            <a:ext cx="514350" cy="171450"/>
          </a:xfrm>
          <a:prstGeom prst="rect">
            <a:avLst/>
          </a:prstGeom>
          <a:noFill/>
        </p:spPr>
        <p:txBody>
          <a:bodyPr wrap="none" lIns="0" rIns="0" tIns="0" bIns="0" anchor="ctr">
            <a:spAutoFit/>
          </a:bodyPr>
          <a:lstStyle/>
          <a:p>
            <a:pPr algn="r"/>
            <a:r>
              <a:rPr sz="900" b="1">
                <a:solidFill>
                  <a:srgbClr val="E44D3A"/>
                </a:solidFill>
                <a:latin typeface="Calibri"/>
              </a:rPr>
              <a:t>-10</a:t>
            </a:r>
          </a:p>
        </p:txBody>
      </p:sp>
      <p:sp>
        <p:nvSpPr>
          <p:cNvPr id="48" name="FMI Legend Chip"/>
          <p:cNvSpPr/>
          <p:nvPr/>
        </p:nvSpPr>
        <p:spPr>
          <a:xfrm>
            <a:off x="4928997" y="3204782"/>
            <a:ext cx="85725" cy="85725"/>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Isosceles Triangle 48"/>
          <p:cNvSpPr/>
          <p:nvPr/>
        </p:nvSpPr>
        <p:spPr>
          <a:xfrm rot="10800000">
            <a:off x="5095684" y="3204782"/>
            <a:ext cx="85725" cy="85725"/>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PS Name 9"/>
          <p:cNvSpPr txBox="1"/>
          <p:nvPr/>
        </p:nvSpPr>
        <p:spPr>
          <a:xfrm>
            <a:off x="5233797" y="3161919"/>
            <a:ext cx="1662303" cy="171450"/>
          </a:xfrm>
          <a:prstGeom prst="rect">
            <a:avLst/>
          </a:prstGeom>
          <a:noFill/>
        </p:spPr>
        <p:txBody>
          <a:bodyPr wrap="none" lIns="19050" rIns="19050" tIns="0" bIns="0" anchor="ctr">
            <a:spAutoFit/>
          </a:bodyPr>
          <a:lstStyle/>
          <a:p>
            <a:pPr algn="l"/>
            <a:r>
              <a:rPr sz="900" b="0">
                <a:solidFill>
                  <a:srgbClr val="2E2E2E"/>
                </a:solidFill>
                <a:latin typeface="Calibri"/>
              </a:rPr>
              <a:t>Aluminum Foil-Based</a:t>
            </a:r>
          </a:p>
        </p:txBody>
      </p:sp>
      <p:sp>
        <p:nvSpPr>
          <p:cNvPr id="51" name="BPS Value 9"/>
          <p:cNvSpPr txBox="1"/>
          <p:nvPr/>
        </p:nvSpPr>
        <p:spPr>
          <a:xfrm>
            <a:off x="6896100" y="3161919"/>
            <a:ext cx="514350" cy="171450"/>
          </a:xfrm>
          <a:prstGeom prst="rect">
            <a:avLst/>
          </a:prstGeom>
          <a:noFill/>
        </p:spPr>
        <p:txBody>
          <a:bodyPr wrap="none" lIns="0" rIns="0" tIns="0" bIns="0" anchor="ctr">
            <a:spAutoFit/>
          </a:bodyPr>
          <a:lstStyle/>
          <a:p>
            <a:pPr algn="r"/>
            <a:r>
              <a:rPr sz="900" b="1">
                <a:solidFill>
                  <a:srgbClr val="E44D3A"/>
                </a:solidFill>
                <a:latin typeface="Calibri"/>
              </a:rPr>
              <a:t>-16</a:t>
            </a:r>
          </a:p>
        </p:txBody>
      </p:sp>
      <p:sp>
        <p:nvSpPr>
          <p:cNvPr id="52" name="FMI Legend Chip"/>
          <p:cNvSpPr/>
          <p:nvPr/>
        </p:nvSpPr>
        <p:spPr>
          <a:xfrm>
            <a:off x="4928997" y="3376232"/>
            <a:ext cx="85725" cy="85725"/>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Isosceles Triangle 52"/>
          <p:cNvSpPr/>
          <p:nvPr/>
        </p:nvSpPr>
        <p:spPr>
          <a:xfrm rot="10800000">
            <a:off x="5095684" y="3376232"/>
            <a:ext cx="85725" cy="85725"/>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PS Name 10"/>
          <p:cNvSpPr txBox="1"/>
          <p:nvPr/>
        </p:nvSpPr>
        <p:spPr>
          <a:xfrm>
            <a:off x="5233797" y="3333369"/>
            <a:ext cx="1662303" cy="171450"/>
          </a:xfrm>
          <a:prstGeom prst="rect">
            <a:avLst/>
          </a:prstGeom>
          <a:noFill/>
        </p:spPr>
        <p:txBody>
          <a:bodyPr wrap="none" lIns="19050" rIns="19050" tIns="0" bIns="0" anchor="ctr">
            <a:spAutoFit/>
          </a:bodyPr>
          <a:lstStyle/>
          <a:p>
            <a:pPr algn="l"/>
            <a:r>
              <a:rPr sz="900" b="0">
                <a:solidFill>
                  <a:srgbClr val="2E2E2E"/>
                </a:solidFill>
                <a:latin typeface="Calibri"/>
              </a:rPr>
              <a:t>PVDC-Based</a:t>
            </a:r>
          </a:p>
        </p:txBody>
      </p:sp>
      <p:sp>
        <p:nvSpPr>
          <p:cNvPr id="55" name="BPS Value 10"/>
          <p:cNvSpPr txBox="1"/>
          <p:nvPr/>
        </p:nvSpPr>
        <p:spPr>
          <a:xfrm>
            <a:off x="6896100" y="3333369"/>
            <a:ext cx="514350" cy="171450"/>
          </a:xfrm>
          <a:prstGeom prst="rect">
            <a:avLst/>
          </a:prstGeom>
          <a:noFill/>
        </p:spPr>
        <p:txBody>
          <a:bodyPr wrap="none" lIns="0" rIns="0" tIns="0" bIns="0" anchor="ctr">
            <a:spAutoFit/>
          </a:bodyPr>
          <a:lstStyle/>
          <a:p>
            <a:pPr algn="r"/>
            <a:r>
              <a:rPr sz="900" b="1">
                <a:solidFill>
                  <a:srgbClr val="E44D3A"/>
                </a:solidFill>
                <a:latin typeface="Calibri"/>
              </a:rPr>
              <a:t>-28</a:t>
            </a:r>
          </a:p>
        </p:txBody>
      </p:sp>
      <p:sp>
        <p:nvSpPr>
          <p:cNvPr id="56" name="FMI Legend Chip"/>
          <p:cNvSpPr/>
          <p:nvPr/>
        </p:nvSpPr>
        <p:spPr>
          <a:xfrm>
            <a:off x="4928997" y="3547682"/>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Isosceles Triangle 56"/>
          <p:cNvSpPr/>
          <p:nvPr/>
        </p:nvSpPr>
        <p:spPr>
          <a:xfrm rot="10800000">
            <a:off x="5095684" y="3547682"/>
            <a:ext cx="85725" cy="85725"/>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BPS Name 11"/>
          <p:cNvSpPr txBox="1"/>
          <p:nvPr/>
        </p:nvSpPr>
        <p:spPr>
          <a:xfrm>
            <a:off x="5233797" y="3504819"/>
            <a:ext cx="1662303" cy="171450"/>
          </a:xfrm>
          <a:prstGeom prst="rect">
            <a:avLst/>
          </a:prstGeom>
          <a:noFill/>
        </p:spPr>
        <p:txBody>
          <a:bodyPr wrap="none" lIns="19050" rIns="19050" tIns="0" bIns="0" anchor="ctr">
            <a:spAutoFit/>
          </a:bodyPr>
          <a:lstStyle/>
          <a:p>
            <a:pPr algn="l"/>
            <a:r>
              <a:rPr sz="900" b="0">
                <a:solidFill>
                  <a:srgbClr val="2E2E2E"/>
                </a:solidFill>
                <a:latin typeface="Calibri"/>
              </a:rPr>
              <a:t>PP-Based</a:t>
            </a:r>
          </a:p>
        </p:txBody>
      </p:sp>
      <p:sp>
        <p:nvSpPr>
          <p:cNvPr id="59" name="BPS Value 11"/>
          <p:cNvSpPr txBox="1"/>
          <p:nvPr/>
        </p:nvSpPr>
        <p:spPr>
          <a:xfrm>
            <a:off x="6896100" y="3504819"/>
            <a:ext cx="514350" cy="171450"/>
          </a:xfrm>
          <a:prstGeom prst="rect">
            <a:avLst/>
          </a:prstGeom>
          <a:noFill/>
        </p:spPr>
        <p:txBody>
          <a:bodyPr wrap="none" lIns="0" rIns="0" tIns="0" bIns="0" anchor="ctr">
            <a:spAutoFit/>
          </a:bodyPr>
          <a:lstStyle/>
          <a:p>
            <a:pPr algn="r"/>
            <a:r>
              <a:rPr sz="900" b="1">
                <a:solidFill>
                  <a:srgbClr val="E44D3A"/>
                </a:solidFill>
                <a:latin typeface="Calibri"/>
              </a:rPr>
              <a:t>-34</a:t>
            </a:r>
          </a:p>
        </p:txBody>
      </p:sp>
      <p:sp>
        <p:nvSpPr>
          <p:cNvPr id="60" name="Rounded Rectangle 59"/>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Principal Material / Barrier Technology</a:t>
            </a:r>
          </a:p>
        </p:txBody>
      </p:sp>
      <p:sp>
        <p:nvSpPr>
          <p:cNvPr id="62" name="Rectangle 61"/>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Among flexible plastic packaging by principal material / barrier technology, other specialty barrier technologies segment is expected to witness the highest CAGR of 7.1% over the forecast period. In terms of value share by principal material / barrier technology, the pe-based segment is expected to dominate the market, gaining 40 BPS and accounting for 31.1% share by 2036.</a:t>
            </a:r>
          </a:p>
          <a:p>
            <a:pPr algn="l">
              <a:lnSpc>
                <a:spcPct val="110000"/>
              </a:lnSpc>
              <a:spcBef>
                <a:spcPts val="0"/>
              </a:spcBef>
              <a:spcAft>
                <a:spcPts val="500"/>
              </a:spcAft>
            </a:pPr>
            <a:r>
              <a:rPr sz="1150" b="0">
                <a:solidFill>
                  <a:srgbClr val="2E2E2E"/>
                </a:solidFill>
                <a:latin typeface="Calibri"/>
              </a:rPr>
              <a:t>The pp-based segment is expected to lose 34 BPS over the forecast period to account for 20.3% share by 2036.</a:t>
            </a:r>
          </a:p>
          <a:p>
            <a:pPr algn="l">
              <a:lnSpc>
                <a:spcPct val="110000"/>
              </a:lnSpc>
              <a:spcBef>
                <a:spcPts val="0"/>
              </a:spcBef>
              <a:spcAft>
                <a:spcPts val="500"/>
              </a:spcAft>
            </a:pPr>
            <a:r>
              <a:rPr sz="1150" b="0">
                <a:solidFill>
                  <a:srgbClr val="2E2E2E"/>
                </a:solidFill>
                <a:latin typeface="Calibri"/>
              </a:rPr>
              <a:t>Other Specialty Barrier Technologies grows fastest at a 7.1% CAGR against 6.6% for the market because emerging recycle-compatible barrier coatings and niche high-performance solutions are scaling from a small base. The slowest part, PVDC-Based, grows at 6.0% as chlorinated barrier coatings are being phased out under recyclability pressure in favour of EVOH and coated alternatives. Brand-owner sustainability targets and rising processed-food consumption set the pattern across regions.</a:t>
            </a:r>
          </a:p>
        </p:txBody>
      </p:sp>
      <p:sp>
        <p:nvSpPr>
          <p:cNvPr id="64" name="TextBox 6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YoY Analysis of Global Market Volume, By Principal Material / Barrier Technology (%)</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Year-on-year volume growth by Principal Material / Barrier Technology, 2022–2036, highlighting acceleration and slowdown</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3057525"/>
          </a:xfrm>
          <a:prstGeom prst="roundRect">
            <a:avLst>
              <a:gd name="adj" fmla="val 24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YoY Growth, By Principal Material / Barrier Technology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3" name="Table 12"/>
          <p:cNvGraphicFramePr>
            <a:graphicFrameLocks noGrp="1"/>
          </p:cNvGraphicFramePr>
          <p:nvPr/>
        </p:nvGraphicFramePr>
        <p:xfrm>
          <a:off x="152400" y="1238250"/>
          <a:ext cx="11887205" cy="2590803"/>
        </p:xfrm>
        <a:graphic>
          <a:graphicData uri="http://schemas.openxmlformats.org/drawingml/2006/table">
            <a:tbl>
              <a:tblPr>
                <a:tableStyleId>{5C22544A-7EE6-4342-B048-85BDC9FD1C3A}</a:tableStyleId>
              </a:tblPr>
              <a:tblGrid>
                <a:gridCol w="2650055"/>
                <a:gridCol w="615810"/>
                <a:gridCol w="615810"/>
                <a:gridCol w="615810"/>
                <a:gridCol w="615810"/>
                <a:gridCol w="615810"/>
                <a:gridCol w="615810"/>
                <a:gridCol w="615810"/>
                <a:gridCol w="615810"/>
                <a:gridCol w="615810"/>
                <a:gridCol w="615810"/>
                <a:gridCol w="615810"/>
                <a:gridCol w="615810"/>
                <a:gridCol w="615810"/>
                <a:gridCol w="615810"/>
                <a:gridCol w="615810"/>
              </a:tblGrid>
              <a:tr h="215265">
                <a:tc>
                  <a:txBody>
                    <a:bodyPr wrap="none"/>
                    <a:lstStyle/>
                    <a:p>
                      <a:pPr algn="l"/>
                      <a:r>
                        <a:rPr sz="1100" b="1">
                          <a:solidFill>
                            <a:srgbClr val="0B2E4A"/>
                          </a:solidFill>
                          <a:latin typeface="Calibri"/>
                        </a:rPr>
                        <a:t>Principal Material / Barrier Technology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2036F</a:t>
                      </a:r>
                      <a:endParaRPr sz="1100"/>
                    </a:p>
                  </a:txBody>
                  <a:tcPr marL="47625" marR="38100" marT="19050" marB="19050" anchor="ctr">
                    <a:solidFill>
                      <a:srgbClr val="E0E8EF"/>
                    </a:solidFill>
                  </a:tcPr>
                </a:tc>
              </a:tr>
              <a:tr h="215958">
                <a:tc>
                  <a:txBody>
                    <a:bodyPr wrap="none"/>
                    <a:lstStyle/>
                    <a:p>
                      <a:pPr algn="l"/>
                      <a:r>
                        <a:rPr sz="1100" b="1">
                          <a:solidFill>
                            <a:srgbClr val="2E2E2E"/>
                          </a:solidFill>
                          <a:latin typeface="Calibri"/>
                        </a:rPr>
                        <a:t>PE-Based</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5.0%</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5.3%</a:t>
                      </a:r>
                      <a:endParaRPr sz="1100"/>
                    </a:p>
                  </a:txBody>
                  <a:tcPr marL="47625" marR="38100" marT="19050" marB="19050" anchor="ctr">
                    <a:solidFill>
                      <a:srgbClr val="FFFFFF"/>
                    </a:solidFill>
                  </a:tcPr>
                </a:tc>
              </a:tr>
              <a:tr h="215958">
                <a:tc>
                  <a:txBody>
                    <a:bodyPr wrap="none"/>
                    <a:lstStyle/>
                    <a:p>
                      <a:pPr algn="l"/>
                      <a:r>
                        <a:rPr sz="1100" b="1">
                          <a:solidFill>
                            <a:srgbClr val="2E2E2E"/>
                          </a:solidFill>
                          <a:latin typeface="Calibri"/>
                        </a:rPr>
                        <a:t>PP-Based</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5F8FA"/>
                    </a:solidFill>
                  </a:tcPr>
                </a:tc>
              </a:tr>
              <a:tr h="215958">
                <a:tc>
                  <a:txBody>
                    <a:bodyPr wrap="none"/>
                    <a:lstStyle/>
                    <a:p>
                      <a:pPr algn="l"/>
                      <a:r>
                        <a:rPr sz="1100" b="1">
                          <a:solidFill>
                            <a:srgbClr val="2E2E2E"/>
                          </a:solidFill>
                          <a:latin typeface="Calibri"/>
                        </a:rPr>
                        <a:t>PET-Based</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5.0%</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FFFFF"/>
                    </a:solidFill>
                  </a:tcPr>
                </a:tc>
              </a:tr>
              <a:tr h="215958">
                <a:tc>
                  <a:txBody>
                    <a:bodyPr wrap="none"/>
                    <a:lstStyle/>
                    <a:p>
                      <a:pPr algn="l"/>
                      <a:r>
                        <a:rPr sz="1100" b="1">
                          <a:solidFill>
                            <a:srgbClr val="2E2E2E"/>
                          </a:solidFill>
                          <a:latin typeface="Calibri"/>
                        </a:rPr>
                        <a:t>PA-Based</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5F8FA"/>
                    </a:solidFill>
                  </a:tcPr>
                </a:tc>
              </a:tr>
              <a:tr h="215958">
                <a:tc>
                  <a:txBody>
                    <a:bodyPr wrap="none"/>
                    <a:lstStyle/>
                    <a:p>
                      <a:pPr algn="l"/>
                      <a:r>
                        <a:rPr sz="1100" b="1">
                          <a:solidFill>
                            <a:srgbClr val="2E2E2E"/>
                          </a:solidFill>
                          <a:latin typeface="Calibri"/>
                        </a:rPr>
                        <a:t>EVOH-Based</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5.0%</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FFFFF"/>
                    </a:solidFill>
                  </a:tcPr>
                </a:tc>
              </a:tr>
              <a:tr h="215958">
                <a:tc>
                  <a:txBody>
                    <a:bodyPr wrap="none"/>
                    <a:lstStyle/>
                    <a:p>
                      <a:pPr algn="l"/>
                      <a:r>
                        <a:rPr sz="1100" b="1">
                          <a:solidFill>
                            <a:srgbClr val="2E2E2E"/>
                          </a:solidFill>
                          <a:latin typeface="Calibri"/>
                        </a:rPr>
                        <a:t>PVDC-Based</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4.7%</a:t>
                      </a:r>
                      <a:endParaRPr sz="1100"/>
                    </a:p>
                  </a:txBody>
                  <a:tcPr marL="47625" marR="38100" marT="19050" marB="19050" anchor="ctr">
                    <a:solidFill>
                      <a:srgbClr val="F5F8FA"/>
                    </a:solidFill>
                  </a:tcPr>
                </a:tc>
              </a:tr>
              <a:tr h="215958">
                <a:tc>
                  <a:txBody>
                    <a:bodyPr wrap="none"/>
                    <a:lstStyle/>
                    <a:p>
                      <a:pPr algn="l"/>
                      <a:r>
                        <a:rPr sz="1100" b="1">
                          <a:solidFill>
                            <a:srgbClr val="2E2E2E"/>
                          </a:solidFill>
                          <a:latin typeface="Calibri"/>
                        </a:rPr>
                        <a:t>PVOH-Based</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FFFFF"/>
                    </a:solidFill>
                  </a:tcPr>
                </a:tc>
              </a:tr>
              <a:tr h="215958">
                <a:tc>
                  <a:txBody>
                    <a:bodyPr wrap="none"/>
                    <a:lstStyle/>
                    <a:p>
                      <a:pPr algn="l"/>
                      <a:r>
                        <a:rPr sz="1100" b="1">
                          <a:solidFill>
                            <a:srgbClr val="2E2E2E"/>
                          </a:solidFill>
                          <a:latin typeface="Calibri"/>
                        </a:rPr>
                        <a:t>Metallized Barrier</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5F8FA"/>
                    </a:solidFill>
                  </a:tcPr>
                </a:tc>
              </a:tr>
              <a:tr h="215958">
                <a:tc>
                  <a:txBody>
                    <a:bodyPr wrap="none"/>
                    <a:lstStyle/>
                    <a:p>
                      <a:pPr algn="l"/>
                      <a:r>
                        <a:rPr sz="1100" b="1">
                          <a:solidFill>
                            <a:srgbClr val="2E2E2E"/>
                          </a:solidFill>
                          <a:latin typeface="Calibri"/>
                        </a:rPr>
                        <a:t>AlOx / SiOx-Coated</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FFFFF"/>
                    </a:solidFill>
                  </a:tcPr>
                </a:tc>
              </a:tr>
              <a:tr h="215958">
                <a:tc>
                  <a:txBody>
                    <a:bodyPr wrap="none"/>
                    <a:lstStyle/>
                    <a:p>
                      <a:pPr algn="l"/>
                      <a:r>
                        <a:rPr sz="1100" b="1">
                          <a:solidFill>
                            <a:srgbClr val="2E2E2E"/>
                          </a:solidFill>
                          <a:latin typeface="Calibri"/>
                        </a:rPr>
                        <a:t>Aluminum Foil-Based</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4.6%</a:t>
                      </a:r>
                      <a:endParaRPr sz="1100"/>
                    </a:p>
                  </a:txBody>
                  <a:tcPr marL="47625" marR="38100" marT="19050" marB="19050" anchor="ctr">
                    <a:solidFill>
                      <a:srgbClr val="F5F8FA"/>
                    </a:solidFill>
                  </a:tcPr>
                </a:tc>
              </a:tr>
              <a:tr h="215958">
                <a:tc>
                  <a:txBody>
                    <a:bodyPr wrap="none"/>
                    <a:lstStyle/>
                    <a:p>
                      <a:pPr algn="l"/>
                      <a:r>
                        <a:rPr sz="1100" b="1">
                          <a:solidFill>
                            <a:srgbClr val="2E2E2E"/>
                          </a:solidFill>
                          <a:latin typeface="Calibri"/>
                        </a:rPr>
                        <a:t>Other Specialty Barrier Technologies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6.0%</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6.0%</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r>
            </a:tbl>
          </a:graphicData>
        </a:graphic>
      </p:graphicFrame>
      <p:sp>
        <p:nvSpPr>
          <p:cNvPr id="14" name="TextBox 13"/>
          <p:cNvSpPr txBox="1"/>
          <p:nvPr/>
        </p:nvSpPr>
        <p:spPr>
          <a:xfrm>
            <a:off x="219075" y="38385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4171950"/>
            <a:ext cx="11906250" cy="2457450"/>
          </a:xfrm>
          <a:prstGeom prst="roundRect">
            <a:avLst>
              <a:gd name="adj" fmla="val 31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42291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YoY Heatmap, By Principal Material / Barrier Technology (%)  ·  light = lower, dark = higher growth</a:t>
            </a:r>
          </a:p>
        </p:txBody>
      </p:sp>
      <p:sp>
        <p:nvSpPr>
          <p:cNvPr id="17" name="TextBox 16"/>
          <p:cNvSpPr txBox="1"/>
          <p:nvPr/>
        </p:nvSpPr>
        <p:spPr>
          <a:xfrm>
            <a:off x="1857375" y="4457700"/>
            <a:ext cx="643890" cy="142875"/>
          </a:xfrm>
          <a:prstGeom prst="rect">
            <a:avLst/>
          </a:prstGeom>
          <a:noFill/>
        </p:spPr>
        <p:txBody>
          <a:bodyPr wrap="none" lIns="0" rIns="0" tIns="0" bIns="0" anchor="ctr">
            <a:spAutoFit/>
          </a:bodyPr>
          <a:lstStyle/>
          <a:p>
            <a:pPr algn="ctr"/>
            <a:r>
              <a:rPr sz="1100" b="1">
                <a:solidFill>
                  <a:srgbClr val="6C7A89"/>
                </a:solidFill>
                <a:latin typeface="Calibri"/>
              </a:rPr>
              <a:t>2022</a:t>
            </a:r>
          </a:p>
        </p:txBody>
      </p:sp>
      <p:sp>
        <p:nvSpPr>
          <p:cNvPr id="18" name="TextBox 17"/>
          <p:cNvSpPr txBox="1"/>
          <p:nvPr/>
        </p:nvSpPr>
        <p:spPr>
          <a:xfrm>
            <a:off x="2501265" y="4457700"/>
            <a:ext cx="643890" cy="142875"/>
          </a:xfrm>
          <a:prstGeom prst="rect">
            <a:avLst/>
          </a:prstGeom>
          <a:noFill/>
        </p:spPr>
        <p:txBody>
          <a:bodyPr wrap="none" lIns="0" rIns="0" tIns="0" bIns="0" anchor="ctr">
            <a:spAutoFit/>
          </a:bodyPr>
          <a:lstStyle/>
          <a:p>
            <a:pPr algn="ctr"/>
            <a:r>
              <a:rPr sz="1100" b="1">
                <a:solidFill>
                  <a:srgbClr val="6C7A89"/>
                </a:solidFill>
                <a:latin typeface="Calibri"/>
              </a:rPr>
              <a:t>2023</a:t>
            </a:r>
          </a:p>
        </p:txBody>
      </p:sp>
      <p:sp>
        <p:nvSpPr>
          <p:cNvPr id="19" name="TextBox 18"/>
          <p:cNvSpPr txBox="1"/>
          <p:nvPr/>
        </p:nvSpPr>
        <p:spPr>
          <a:xfrm>
            <a:off x="3145155" y="4457700"/>
            <a:ext cx="643890" cy="142875"/>
          </a:xfrm>
          <a:prstGeom prst="rect">
            <a:avLst/>
          </a:prstGeom>
          <a:noFill/>
        </p:spPr>
        <p:txBody>
          <a:bodyPr wrap="none" lIns="0" rIns="0" tIns="0" bIns="0" anchor="ctr">
            <a:spAutoFit/>
          </a:bodyPr>
          <a:lstStyle/>
          <a:p>
            <a:pPr algn="ctr"/>
            <a:r>
              <a:rPr sz="1100" b="1">
                <a:solidFill>
                  <a:srgbClr val="6C7A89"/>
                </a:solidFill>
                <a:latin typeface="Calibri"/>
              </a:rPr>
              <a:t>2024</a:t>
            </a:r>
          </a:p>
        </p:txBody>
      </p:sp>
      <p:sp>
        <p:nvSpPr>
          <p:cNvPr id="20" name="TextBox 19"/>
          <p:cNvSpPr txBox="1"/>
          <p:nvPr/>
        </p:nvSpPr>
        <p:spPr>
          <a:xfrm>
            <a:off x="3789045" y="4457700"/>
            <a:ext cx="643890" cy="142875"/>
          </a:xfrm>
          <a:prstGeom prst="rect">
            <a:avLst/>
          </a:prstGeom>
          <a:noFill/>
        </p:spPr>
        <p:txBody>
          <a:bodyPr wrap="none" lIns="0" rIns="0" tIns="0" bIns="0" anchor="ctr">
            <a:spAutoFit/>
          </a:bodyPr>
          <a:lstStyle/>
          <a:p>
            <a:pPr algn="ctr"/>
            <a:r>
              <a:rPr sz="1100" b="1">
                <a:solidFill>
                  <a:srgbClr val="6C7A89"/>
                </a:solidFill>
                <a:latin typeface="Calibri"/>
              </a:rPr>
              <a:t>2025</a:t>
            </a:r>
          </a:p>
        </p:txBody>
      </p:sp>
      <p:sp>
        <p:nvSpPr>
          <p:cNvPr id="21" name="TextBox 20"/>
          <p:cNvSpPr txBox="1"/>
          <p:nvPr/>
        </p:nvSpPr>
        <p:spPr>
          <a:xfrm>
            <a:off x="4432935" y="4457700"/>
            <a:ext cx="643890" cy="142875"/>
          </a:xfrm>
          <a:prstGeom prst="rect">
            <a:avLst/>
          </a:prstGeom>
          <a:noFill/>
        </p:spPr>
        <p:txBody>
          <a:bodyPr wrap="none" lIns="0" rIns="0" tIns="0" bIns="0" anchor="ctr">
            <a:spAutoFit/>
          </a:bodyPr>
          <a:lstStyle/>
          <a:p>
            <a:pPr algn="ctr"/>
            <a:r>
              <a:rPr sz="1100" b="1">
                <a:solidFill>
                  <a:srgbClr val="6C7A89"/>
                </a:solidFill>
                <a:latin typeface="Calibri"/>
              </a:rPr>
              <a:t>2026</a:t>
            </a:r>
          </a:p>
        </p:txBody>
      </p:sp>
      <p:sp>
        <p:nvSpPr>
          <p:cNvPr id="22" name="TextBox 21"/>
          <p:cNvSpPr txBox="1"/>
          <p:nvPr/>
        </p:nvSpPr>
        <p:spPr>
          <a:xfrm>
            <a:off x="5076825" y="4457700"/>
            <a:ext cx="643890" cy="142875"/>
          </a:xfrm>
          <a:prstGeom prst="rect">
            <a:avLst/>
          </a:prstGeom>
          <a:noFill/>
        </p:spPr>
        <p:txBody>
          <a:bodyPr wrap="none" lIns="0" rIns="0" tIns="0" bIns="0" anchor="ctr">
            <a:spAutoFit/>
          </a:bodyPr>
          <a:lstStyle/>
          <a:p>
            <a:pPr algn="ctr"/>
            <a:r>
              <a:rPr sz="1100" b="1">
                <a:solidFill>
                  <a:srgbClr val="6C7A89"/>
                </a:solidFill>
                <a:latin typeface="Calibri"/>
              </a:rPr>
              <a:t>2027</a:t>
            </a:r>
          </a:p>
        </p:txBody>
      </p:sp>
      <p:sp>
        <p:nvSpPr>
          <p:cNvPr id="23" name="TextBox 22"/>
          <p:cNvSpPr txBox="1"/>
          <p:nvPr/>
        </p:nvSpPr>
        <p:spPr>
          <a:xfrm>
            <a:off x="5720715" y="4457700"/>
            <a:ext cx="643890" cy="142875"/>
          </a:xfrm>
          <a:prstGeom prst="rect">
            <a:avLst/>
          </a:prstGeom>
          <a:noFill/>
        </p:spPr>
        <p:txBody>
          <a:bodyPr wrap="none" lIns="0" rIns="0" tIns="0" bIns="0" anchor="ctr">
            <a:spAutoFit/>
          </a:bodyPr>
          <a:lstStyle/>
          <a:p>
            <a:pPr algn="ctr"/>
            <a:r>
              <a:rPr sz="1100" b="1">
                <a:solidFill>
                  <a:srgbClr val="6C7A89"/>
                </a:solidFill>
                <a:latin typeface="Calibri"/>
              </a:rPr>
              <a:t>2028</a:t>
            </a:r>
          </a:p>
        </p:txBody>
      </p:sp>
      <p:sp>
        <p:nvSpPr>
          <p:cNvPr id="24" name="TextBox 23"/>
          <p:cNvSpPr txBox="1"/>
          <p:nvPr/>
        </p:nvSpPr>
        <p:spPr>
          <a:xfrm>
            <a:off x="6364605" y="4457700"/>
            <a:ext cx="643890" cy="142875"/>
          </a:xfrm>
          <a:prstGeom prst="rect">
            <a:avLst/>
          </a:prstGeom>
          <a:noFill/>
        </p:spPr>
        <p:txBody>
          <a:bodyPr wrap="none" lIns="0" rIns="0" tIns="0" bIns="0" anchor="ctr">
            <a:spAutoFit/>
          </a:bodyPr>
          <a:lstStyle/>
          <a:p>
            <a:pPr algn="ctr"/>
            <a:r>
              <a:rPr sz="1100" b="1">
                <a:solidFill>
                  <a:srgbClr val="6C7A89"/>
                </a:solidFill>
                <a:latin typeface="Calibri"/>
              </a:rPr>
              <a:t>2029</a:t>
            </a:r>
          </a:p>
        </p:txBody>
      </p:sp>
      <p:sp>
        <p:nvSpPr>
          <p:cNvPr id="25" name="TextBox 24"/>
          <p:cNvSpPr txBox="1"/>
          <p:nvPr/>
        </p:nvSpPr>
        <p:spPr>
          <a:xfrm>
            <a:off x="7008495" y="4457700"/>
            <a:ext cx="643890" cy="142875"/>
          </a:xfrm>
          <a:prstGeom prst="rect">
            <a:avLst/>
          </a:prstGeom>
          <a:noFill/>
        </p:spPr>
        <p:txBody>
          <a:bodyPr wrap="none" lIns="0" rIns="0" tIns="0" bIns="0" anchor="ctr">
            <a:spAutoFit/>
          </a:bodyPr>
          <a:lstStyle/>
          <a:p>
            <a:pPr algn="ctr"/>
            <a:r>
              <a:rPr sz="1100" b="1">
                <a:solidFill>
                  <a:srgbClr val="6C7A89"/>
                </a:solidFill>
                <a:latin typeface="Calibri"/>
              </a:rPr>
              <a:t>2030</a:t>
            </a:r>
          </a:p>
        </p:txBody>
      </p:sp>
      <p:sp>
        <p:nvSpPr>
          <p:cNvPr id="26" name="TextBox 25"/>
          <p:cNvSpPr txBox="1"/>
          <p:nvPr/>
        </p:nvSpPr>
        <p:spPr>
          <a:xfrm>
            <a:off x="7652385" y="4457700"/>
            <a:ext cx="643890" cy="142875"/>
          </a:xfrm>
          <a:prstGeom prst="rect">
            <a:avLst/>
          </a:prstGeom>
          <a:noFill/>
        </p:spPr>
        <p:txBody>
          <a:bodyPr wrap="none" lIns="0" rIns="0" tIns="0" bIns="0" anchor="ctr">
            <a:spAutoFit/>
          </a:bodyPr>
          <a:lstStyle/>
          <a:p>
            <a:pPr algn="ctr"/>
            <a:r>
              <a:rPr sz="1100" b="1">
                <a:solidFill>
                  <a:srgbClr val="6C7A89"/>
                </a:solidFill>
                <a:latin typeface="Calibri"/>
              </a:rPr>
              <a:t>2031</a:t>
            </a:r>
          </a:p>
        </p:txBody>
      </p:sp>
      <p:sp>
        <p:nvSpPr>
          <p:cNvPr id="27" name="TextBox 26"/>
          <p:cNvSpPr txBox="1"/>
          <p:nvPr/>
        </p:nvSpPr>
        <p:spPr>
          <a:xfrm>
            <a:off x="8296275" y="4457700"/>
            <a:ext cx="643890" cy="142875"/>
          </a:xfrm>
          <a:prstGeom prst="rect">
            <a:avLst/>
          </a:prstGeom>
          <a:noFill/>
        </p:spPr>
        <p:txBody>
          <a:bodyPr wrap="none" lIns="0" rIns="0" tIns="0" bIns="0" anchor="ctr">
            <a:spAutoFit/>
          </a:bodyPr>
          <a:lstStyle/>
          <a:p>
            <a:pPr algn="ctr"/>
            <a:r>
              <a:rPr sz="1100" b="1">
                <a:solidFill>
                  <a:srgbClr val="6C7A89"/>
                </a:solidFill>
                <a:latin typeface="Calibri"/>
              </a:rPr>
              <a:t>2032</a:t>
            </a:r>
          </a:p>
        </p:txBody>
      </p:sp>
      <p:sp>
        <p:nvSpPr>
          <p:cNvPr id="28" name="TextBox 27"/>
          <p:cNvSpPr txBox="1"/>
          <p:nvPr/>
        </p:nvSpPr>
        <p:spPr>
          <a:xfrm>
            <a:off x="8940165" y="4457700"/>
            <a:ext cx="643890" cy="142875"/>
          </a:xfrm>
          <a:prstGeom prst="rect">
            <a:avLst/>
          </a:prstGeom>
          <a:noFill/>
        </p:spPr>
        <p:txBody>
          <a:bodyPr wrap="none" lIns="0" rIns="0" tIns="0" bIns="0" anchor="ctr">
            <a:spAutoFit/>
          </a:bodyPr>
          <a:lstStyle/>
          <a:p>
            <a:pPr algn="ctr"/>
            <a:r>
              <a:rPr sz="1100" b="1">
                <a:solidFill>
                  <a:srgbClr val="6C7A89"/>
                </a:solidFill>
                <a:latin typeface="Calibri"/>
              </a:rPr>
              <a:t>2033</a:t>
            </a:r>
          </a:p>
        </p:txBody>
      </p:sp>
      <p:sp>
        <p:nvSpPr>
          <p:cNvPr id="29" name="TextBox 28"/>
          <p:cNvSpPr txBox="1"/>
          <p:nvPr/>
        </p:nvSpPr>
        <p:spPr>
          <a:xfrm>
            <a:off x="9584055" y="4457700"/>
            <a:ext cx="643890" cy="142875"/>
          </a:xfrm>
          <a:prstGeom prst="rect">
            <a:avLst/>
          </a:prstGeom>
          <a:noFill/>
        </p:spPr>
        <p:txBody>
          <a:bodyPr wrap="none" lIns="0" rIns="0" tIns="0" bIns="0" anchor="ctr">
            <a:spAutoFit/>
          </a:bodyPr>
          <a:lstStyle/>
          <a:p>
            <a:pPr algn="ctr"/>
            <a:r>
              <a:rPr sz="1100" b="1">
                <a:solidFill>
                  <a:srgbClr val="6C7A89"/>
                </a:solidFill>
                <a:latin typeface="Calibri"/>
              </a:rPr>
              <a:t>2034</a:t>
            </a:r>
          </a:p>
        </p:txBody>
      </p:sp>
      <p:sp>
        <p:nvSpPr>
          <p:cNvPr id="30" name="TextBox 29"/>
          <p:cNvSpPr txBox="1"/>
          <p:nvPr/>
        </p:nvSpPr>
        <p:spPr>
          <a:xfrm>
            <a:off x="10227945" y="4457700"/>
            <a:ext cx="643890" cy="142875"/>
          </a:xfrm>
          <a:prstGeom prst="rect">
            <a:avLst/>
          </a:prstGeom>
          <a:noFill/>
        </p:spPr>
        <p:txBody>
          <a:bodyPr wrap="none" lIns="0" rIns="0" tIns="0" bIns="0" anchor="ctr">
            <a:spAutoFit/>
          </a:bodyPr>
          <a:lstStyle/>
          <a:p>
            <a:pPr algn="ctr"/>
            <a:r>
              <a:rPr sz="1100" b="1">
                <a:solidFill>
                  <a:srgbClr val="6C7A89"/>
                </a:solidFill>
                <a:latin typeface="Calibri"/>
              </a:rPr>
              <a:t>2035</a:t>
            </a:r>
          </a:p>
        </p:txBody>
      </p:sp>
      <p:sp>
        <p:nvSpPr>
          <p:cNvPr id="31" name="TextBox 30"/>
          <p:cNvSpPr txBox="1"/>
          <p:nvPr/>
        </p:nvSpPr>
        <p:spPr>
          <a:xfrm>
            <a:off x="10871835" y="4457700"/>
            <a:ext cx="643890" cy="142875"/>
          </a:xfrm>
          <a:prstGeom prst="rect">
            <a:avLst/>
          </a:prstGeom>
          <a:noFill/>
        </p:spPr>
        <p:txBody>
          <a:bodyPr wrap="none" lIns="0" rIns="0" tIns="0" bIns="0" anchor="ctr">
            <a:spAutoFit/>
          </a:bodyPr>
          <a:lstStyle/>
          <a:p>
            <a:pPr algn="ctr"/>
            <a:r>
              <a:rPr sz="1100" b="1">
                <a:solidFill>
                  <a:srgbClr val="6C7A89"/>
                </a:solidFill>
                <a:latin typeface="Calibri"/>
              </a:rPr>
              <a:t>2036</a:t>
            </a:r>
          </a:p>
        </p:txBody>
      </p:sp>
      <p:sp>
        <p:nvSpPr>
          <p:cNvPr id="32" name="TextBox 31"/>
          <p:cNvSpPr txBox="1"/>
          <p:nvPr/>
        </p:nvSpPr>
        <p:spPr>
          <a:xfrm>
            <a:off x="238125" y="4600575"/>
            <a:ext cx="1590675" cy="179243"/>
          </a:xfrm>
          <a:prstGeom prst="rect">
            <a:avLst/>
          </a:prstGeom>
          <a:noFill/>
        </p:spPr>
        <p:txBody>
          <a:bodyPr wrap="square" lIns="28575" rIns="28575" tIns="9525" bIns="9525" anchor="ctr">
            <a:spAutoFit/>
          </a:bodyPr>
          <a:lstStyle/>
          <a:p>
            <a:pPr algn="l"/>
            <a:r>
              <a:rPr sz="1100" b="0">
                <a:solidFill>
                  <a:srgbClr val="2E2E2E"/>
                </a:solidFill>
                <a:latin typeface="Calibri"/>
              </a:rPr>
              <a:t>PE-Based</a:t>
            </a:r>
          </a:p>
        </p:txBody>
      </p:sp>
      <p:sp>
        <p:nvSpPr>
          <p:cNvPr id="33" name="Rectangle 32"/>
          <p:cNvSpPr/>
          <p:nvPr/>
        </p:nvSpPr>
        <p:spPr>
          <a:xfrm>
            <a:off x="1857375" y="4600575"/>
            <a:ext cx="643890" cy="179243"/>
          </a:xfrm>
          <a:prstGeom prst="rect">
            <a:avLst/>
          </a:prstGeom>
          <a:solidFill>
            <a:srgbClr val="D4E4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501265" y="4600575"/>
            <a:ext cx="643890" cy="179243"/>
          </a:xfrm>
          <a:prstGeom prst="rect">
            <a:avLst/>
          </a:prstGeom>
          <a:solidFill>
            <a:srgbClr val="CE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145155" y="4600575"/>
            <a:ext cx="643890" cy="179243"/>
          </a:xfrm>
          <a:prstGeom prst="rect">
            <a:avLst/>
          </a:prstGeom>
          <a:solidFill>
            <a:srgbClr val="C7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789045" y="4600575"/>
            <a:ext cx="643890" cy="179243"/>
          </a:xfrm>
          <a:prstGeom prst="rect">
            <a:avLst/>
          </a:prstGeom>
          <a:solidFill>
            <a:srgbClr val="BAD3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432935" y="4600575"/>
            <a:ext cx="643890" cy="179243"/>
          </a:xfrm>
          <a:prstGeom prst="rect">
            <a:avLst/>
          </a:prstGeom>
          <a:solidFill>
            <a:srgbClr val="A0C5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76825" y="4600575"/>
            <a:ext cx="643890" cy="179243"/>
          </a:xfrm>
          <a:prstGeom prst="rect">
            <a:avLst/>
          </a:prstGeom>
          <a:solidFill>
            <a:srgbClr val="80B3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720715" y="4600575"/>
            <a:ext cx="643890" cy="179243"/>
          </a:xfrm>
          <a:prstGeom prst="rect">
            <a:avLst/>
          </a:prstGeom>
          <a:solidFill>
            <a:srgbClr val="569CC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364605" y="4600575"/>
            <a:ext cx="643890" cy="179243"/>
          </a:xfrm>
          <a:prstGeom prst="rect">
            <a:avLst/>
          </a:prstGeom>
          <a:solidFill>
            <a:srgbClr val="3388B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008495" y="4600575"/>
            <a:ext cx="643890" cy="179243"/>
          </a:xfrm>
          <a:prstGeom prst="rect">
            <a:avLst/>
          </a:prstGeom>
          <a:solidFill>
            <a:srgbClr val="1C7A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652385" y="4600575"/>
            <a:ext cx="643890" cy="179243"/>
          </a:xfrm>
          <a:prstGeom prst="rect">
            <a:avLst/>
          </a:prstGeom>
          <a:solidFill>
            <a:srgbClr val="0E71A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296275" y="4600575"/>
            <a:ext cx="643890" cy="179243"/>
          </a:xfrm>
          <a:prstGeom prst="rect">
            <a:avLst/>
          </a:prstGeom>
          <a:solidFill>
            <a:srgbClr val="0E679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940165" y="4600575"/>
            <a:ext cx="643890" cy="179243"/>
          </a:xfrm>
          <a:prstGeom prst="rect">
            <a:avLst/>
          </a:prstGeom>
          <a:solidFill>
            <a:srgbClr val="0E6CA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584055" y="4600575"/>
            <a:ext cx="643890" cy="179243"/>
          </a:xfrm>
          <a:prstGeom prst="rect">
            <a:avLst/>
          </a:prstGeom>
          <a:solidFill>
            <a:srgbClr val="1275B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227945" y="4600575"/>
            <a:ext cx="643890" cy="179243"/>
          </a:xfrm>
          <a:prstGeom prst="rect">
            <a:avLst/>
          </a:prstGeom>
          <a:solidFill>
            <a:srgbClr val="237F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871835" y="4600575"/>
            <a:ext cx="643890" cy="179243"/>
          </a:xfrm>
          <a:prstGeom prst="rect">
            <a:avLst/>
          </a:prstGeom>
          <a:solidFill>
            <a:srgbClr val="368AC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38125" y="4779818"/>
            <a:ext cx="1590675" cy="179243"/>
          </a:xfrm>
          <a:prstGeom prst="rect">
            <a:avLst/>
          </a:prstGeom>
          <a:noFill/>
        </p:spPr>
        <p:txBody>
          <a:bodyPr wrap="square" lIns="28575" rIns="28575" tIns="9525" bIns="9525" anchor="ctr">
            <a:spAutoFit/>
          </a:bodyPr>
          <a:lstStyle/>
          <a:p>
            <a:pPr algn="l"/>
            <a:r>
              <a:rPr sz="1100" b="0">
                <a:solidFill>
                  <a:srgbClr val="2E2E2E"/>
                </a:solidFill>
                <a:latin typeface="Calibri"/>
              </a:rPr>
              <a:t>PP-Based</a:t>
            </a:r>
          </a:p>
        </p:txBody>
      </p:sp>
      <p:sp>
        <p:nvSpPr>
          <p:cNvPr id="49" name="Rectangle 48"/>
          <p:cNvSpPr/>
          <p:nvPr/>
        </p:nvSpPr>
        <p:spPr>
          <a:xfrm>
            <a:off x="1857375" y="4779818"/>
            <a:ext cx="643890" cy="179243"/>
          </a:xfrm>
          <a:prstGeom prst="rect">
            <a:avLst/>
          </a:prstGeom>
          <a:solidFill>
            <a:srgbClr val="CCDE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501265" y="4779818"/>
            <a:ext cx="643890" cy="179243"/>
          </a:xfrm>
          <a:prstGeom prst="rect">
            <a:avLst/>
          </a:prstGeom>
          <a:solidFill>
            <a:srgbClr val="CD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145155" y="4779818"/>
            <a:ext cx="643890" cy="179243"/>
          </a:xfrm>
          <a:prstGeom prst="rect">
            <a:avLst/>
          </a:prstGeom>
          <a:solidFill>
            <a:srgbClr val="CCDE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789045" y="4779818"/>
            <a:ext cx="643890" cy="179243"/>
          </a:xfrm>
          <a:prstGeom prst="rect">
            <a:avLst/>
          </a:prstGeom>
          <a:solidFill>
            <a:srgbClr val="C7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432935" y="4779818"/>
            <a:ext cx="643890" cy="179243"/>
          </a:xfrm>
          <a:prstGeom prst="rect">
            <a:avLst/>
          </a:prstGeom>
          <a:solidFill>
            <a:srgbClr val="B1CE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076825" y="4779818"/>
            <a:ext cx="643890" cy="179243"/>
          </a:xfrm>
          <a:prstGeom prst="rect">
            <a:avLst/>
          </a:prstGeom>
          <a:solidFill>
            <a:srgbClr val="9BC2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720715" y="4779818"/>
            <a:ext cx="643890" cy="179243"/>
          </a:xfrm>
          <a:prstGeom prst="rect">
            <a:avLst/>
          </a:prstGeom>
          <a:solidFill>
            <a:srgbClr val="80B3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364605" y="4779818"/>
            <a:ext cx="643890" cy="179243"/>
          </a:xfrm>
          <a:prstGeom prst="rect">
            <a:avLst/>
          </a:prstGeom>
          <a:solidFill>
            <a:srgbClr val="62A3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7008495" y="4779818"/>
            <a:ext cx="643890" cy="179243"/>
          </a:xfrm>
          <a:prstGeom prst="rect">
            <a:avLst/>
          </a:prstGeom>
          <a:solidFill>
            <a:srgbClr val="4593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652385" y="4779818"/>
            <a:ext cx="643890" cy="179243"/>
          </a:xfrm>
          <a:prstGeom prst="rect">
            <a:avLst/>
          </a:prstGeom>
          <a:solidFill>
            <a:srgbClr val="3489C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296275" y="4779818"/>
            <a:ext cx="643890" cy="179243"/>
          </a:xfrm>
          <a:prstGeom prst="rect">
            <a:avLst/>
          </a:prstGeom>
          <a:solidFill>
            <a:srgbClr val="2C84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940165" y="4779818"/>
            <a:ext cx="643890" cy="179243"/>
          </a:xfrm>
          <a:prstGeom prst="rect">
            <a:avLst/>
          </a:prstGeom>
          <a:solidFill>
            <a:srgbClr val="2E85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584055" y="4779818"/>
            <a:ext cx="643890" cy="179243"/>
          </a:xfrm>
          <a:prstGeom prst="rect">
            <a:avLst/>
          </a:prstGeom>
          <a:solidFill>
            <a:srgbClr val="368AC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0227945" y="4779818"/>
            <a:ext cx="643890" cy="179243"/>
          </a:xfrm>
          <a:prstGeom prst="rect">
            <a:avLst/>
          </a:prstGeom>
          <a:solidFill>
            <a:srgbClr val="4895C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0871835" y="4779818"/>
            <a:ext cx="643890" cy="179243"/>
          </a:xfrm>
          <a:prstGeom prst="rect">
            <a:avLst/>
          </a:prstGeom>
          <a:solidFill>
            <a:srgbClr val="5DA0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38125" y="4959061"/>
            <a:ext cx="1590675" cy="179243"/>
          </a:xfrm>
          <a:prstGeom prst="rect">
            <a:avLst/>
          </a:prstGeom>
          <a:noFill/>
        </p:spPr>
        <p:txBody>
          <a:bodyPr wrap="square" lIns="28575" rIns="28575" tIns="9525" bIns="9525" anchor="ctr">
            <a:spAutoFit/>
          </a:bodyPr>
          <a:lstStyle/>
          <a:p>
            <a:pPr algn="l"/>
            <a:r>
              <a:rPr sz="1100" b="0">
                <a:solidFill>
                  <a:srgbClr val="2E2E2E"/>
                </a:solidFill>
                <a:latin typeface="Calibri"/>
              </a:rPr>
              <a:t>PET-Based</a:t>
            </a:r>
          </a:p>
        </p:txBody>
      </p:sp>
      <p:sp>
        <p:nvSpPr>
          <p:cNvPr id="65" name="Rectangle 64"/>
          <p:cNvSpPr/>
          <p:nvPr/>
        </p:nvSpPr>
        <p:spPr>
          <a:xfrm>
            <a:off x="1857375" y="4959061"/>
            <a:ext cx="643890" cy="179243"/>
          </a:xfrm>
          <a:prstGeom prst="rect">
            <a:avLst/>
          </a:prstGeom>
          <a:solidFill>
            <a:srgbClr val="78AFD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2501265" y="4959061"/>
            <a:ext cx="643890" cy="179243"/>
          </a:xfrm>
          <a:prstGeom prst="rect">
            <a:avLst/>
          </a:prstGeom>
          <a:solidFill>
            <a:srgbClr val="72ABD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3145155" y="4959061"/>
            <a:ext cx="643890" cy="179243"/>
          </a:xfrm>
          <a:prstGeom prst="rect">
            <a:avLst/>
          </a:prstGeom>
          <a:solidFill>
            <a:srgbClr val="66A5C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3789045" y="4959061"/>
            <a:ext cx="643890" cy="179243"/>
          </a:xfrm>
          <a:prstGeom prst="rect">
            <a:avLst/>
          </a:prstGeom>
          <a:solidFill>
            <a:srgbClr val="579CC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4432935" y="4959061"/>
            <a:ext cx="643890" cy="179243"/>
          </a:xfrm>
          <a:prstGeom prst="rect">
            <a:avLst/>
          </a:prstGeom>
          <a:solidFill>
            <a:srgbClr val="4593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076825" y="4959061"/>
            <a:ext cx="643890" cy="179243"/>
          </a:xfrm>
          <a:prstGeom prst="rect">
            <a:avLst/>
          </a:prstGeom>
          <a:solidFill>
            <a:srgbClr val="388B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5720715" y="4959061"/>
            <a:ext cx="643890" cy="179243"/>
          </a:xfrm>
          <a:prstGeom prst="rect">
            <a:avLst/>
          </a:prstGeom>
          <a:solidFill>
            <a:srgbClr val="3087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364605" y="4959061"/>
            <a:ext cx="643890" cy="179243"/>
          </a:xfrm>
          <a:prstGeom prst="rect">
            <a:avLst/>
          </a:prstGeom>
          <a:solidFill>
            <a:srgbClr val="2B84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7008495" y="4959061"/>
            <a:ext cx="643890" cy="179243"/>
          </a:xfrm>
          <a:prstGeom prst="rect">
            <a:avLst/>
          </a:prstGeom>
          <a:solidFill>
            <a:srgbClr val="247F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7652385" y="4959061"/>
            <a:ext cx="643890" cy="179243"/>
          </a:xfrm>
          <a:prstGeom prst="rect">
            <a:avLst/>
          </a:prstGeom>
          <a:solidFill>
            <a:srgbClr val="1E7CB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8296275" y="4959061"/>
            <a:ext cx="643890" cy="179243"/>
          </a:xfrm>
          <a:prstGeom prst="rect">
            <a:avLst/>
          </a:prstGeom>
          <a:solidFill>
            <a:srgbClr val="1979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940165" y="4959061"/>
            <a:ext cx="643890" cy="179243"/>
          </a:xfrm>
          <a:prstGeom prst="rect">
            <a:avLst/>
          </a:prstGeom>
          <a:solidFill>
            <a:srgbClr val="1C7A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9584055" y="4959061"/>
            <a:ext cx="643890" cy="179243"/>
          </a:xfrm>
          <a:prstGeom prst="rect">
            <a:avLst/>
          </a:prstGeom>
          <a:solidFill>
            <a:srgbClr val="247F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0227945" y="4959061"/>
            <a:ext cx="643890" cy="179243"/>
          </a:xfrm>
          <a:prstGeom prst="rect">
            <a:avLst/>
          </a:prstGeom>
          <a:solidFill>
            <a:srgbClr val="3489B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0871835" y="4959061"/>
            <a:ext cx="643890" cy="179243"/>
          </a:xfrm>
          <a:prstGeom prst="rect">
            <a:avLst/>
          </a:prstGeom>
          <a:solidFill>
            <a:srgbClr val="4493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38125" y="5138305"/>
            <a:ext cx="1590675" cy="179243"/>
          </a:xfrm>
          <a:prstGeom prst="rect">
            <a:avLst/>
          </a:prstGeom>
          <a:noFill/>
        </p:spPr>
        <p:txBody>
          <a:bodyPr wrap="square" lIns="28575" rIns="28575" tIns="9525" bIns="9525" anchor="ctr">
            <a:spAutoFit/>
          </a:bodyPr>
          <a:lstStyle/>
          <a:p>
            <a:pPr algn="l"/>
            <a:r>
              <a:rPr sz="1100" b="0">
                <a:solidFill>
                  <a:srgbClr val="2E2E2E"/>
                </a:solidFill>
                <a:latin typeface="Calibri"/>
              </a:rPr>
              <a:t>PA-Based</a:t>
            </a:r>
          </a:p>
        </p:txBody>
      </p:sp>
      <p:sp>
        <p:nvSpPr>
          <p:cNvPr id="81" name="Rectangle 80"/>
          <p:cNvSpPr/>
          <p:nvPr/>
        </p:nvSpPr>
        <p:spPr>
          <a:xfrm>
            <a:off x="1857375" y="5138305"/>
            <a:ext cx="643890" cy="179243"/>
          </a:xfrm>
          <a:prstGeom prst="rect">
            <a:avLst/>
          </a:prstGeom>
          <a:solidFill>
            <a:srgbClr val="EC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2501265" y="5138305"/>
            <a:ext cx="643890" cy="179243"/>
          </a:xfrm>
          <a:prstGeom prst="rect">
            <a:avLst/>
          </a:prstGeom>
          <a:solidFill>
            <a:srgbClr val="E7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3145155" y="5138305"/>
            <a:ext cx="643890" cy="179243"/>
          </a:xfrm>
          <a:prstGeom prst="rect">
            <a:avLst/>
          </a:prstGeom>
          <a:solidFill>
            <a:srgbClr val="E0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789045" y="5138305"/>
            <a:ext cx="643890" cy="179243"/>
          </a:xfrm>
          <a:prstGeom prst="rect">
            <a:avLst/>
          </a:prstGeom>
          <a:solidFill>
            <a:srgbClr val="D9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4432935" y="5138305"/>
            <a:ext cx="643890" cy="179243"/>
          </a:xfrm>
          <a:prstGeom prst="rect">
            <a:avLst/>
          </a:prstGeom>
          <a:solidFill>
            <a:srgbClr val="C9DC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5076825" y="5138305"/>
            <a:ext cx="643890" cy="179243"/>
          </a:xfrm>
          <a:prstGeom prst="rect">
            <a:avLst/>
          </a:prstGeom>
          <a:solidFill>
            <a:srgbClr val="AFCD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5720715" y="5138305"/>
            <a:ext cx="643890" cy="179243"/>
          </a:xfrm>
          <a:prstGeom prst="rect">
            <a:avLst/>
          </a:prstGeom>
          <a:solidFill>
            <a:srgbClr val="95BE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6364605" y="5138305"/>
            <a:ext cx="643890" cy="179243"/>
          </a:xfrm>
          <a:prstGeom prst="rect">
            <a:avLst/>
          </a:prstGeom>
          <a:solidFill>
            <a:srgbClr val="72ABD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7008495" y="5138305"/>
            <a:ext cx="643890" cy="179243"/>
          </a:xfrm>
          <a:prstGeom prst="rect">
            <a:avLst/>
          </a:prstGeom>
          <a:solidFill>
            <a:srgbClr val="4794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7652385" y="5138305"/>
            <a:ext cx="643890" cy="179243"/>
          </a:xfrm>
          <a:prstGeom prst="rect">
            <a:avLst/>
          </a:prstGeom>
          <a:solidFill>
            <a:srgbClr val="2A83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8296275" y="5138305"/>
            <a:ext cx="643890" cy="179243"/>
          </a:xfrm>
          <a:prstGeom prst="rect">
            <a:avLst/>
          </a:prstGeom>
          <a:solidFill>
            <a:srgbClr val="1979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8940165" y="5138305"/>
            <a:ext cx="643890" cy="179243"/>
          </a:xfrm>
          <a:prstGeom prst="rect">
            <a:avLst/>
          </a:prstGeom>
          <a:solidFill>
            <a:srgbClr val="1878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9584055" y="5138305"/>
            <a:ext cx="643890" cy="179243"/>
          </a:xfrm>
          <a:prstGeom prst="rect">
            <a:avLst/>
          </a:prstGeom>
          <a:solidFill>
            <a:srgbClr val="207DB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10227945" y="5138305"/>
            <a:ext cx="643890" cy="179243"/>
          </a:xfrm>
          <a:prstGeom prst="rect">
            <a:avLst/>
          </a:prstGeom>
          <a:solidFill>
            <a:srgbClr val="3087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0871835" y="5138305"/>
            <a:ext cx="643890" cy="179243"/>
          </a:xfrm>
          <a:prstGeom prst="rect">
            <a:avLst/>
          </a:prstGeom>
          <a:solidFill>
            <a:srgbClr val="4593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238125" y="5317548"/>
            <a:ext cx="1590675" cy="179243"/>
          </a:xfrm>
          <a:prstGeom prst="rect">
            <a:avLst/>
          </a:prstGeom>
          <a:noFill/>
        </p:spPr>
        <p:txBody>
          <a:bodyPr wrap="square" lIns="28575" rIns="28575" tIns="9525" bIns="9525" anchor="ctr">
            <a:spAutoFit/>
          </a:bodyPr>
          <a:lstStyle/>
          <a:p>
            <a:pPr algn="l"/>
            <a:r>
              <a:rPr sz="1100" b="0">
                <a:solidFill>
                  <a:srgbClr val="2E2E2E"/>
                </a:solidFill>
                <a:latin typeface="Calibri"/>
              </a:rPr>
              <a:t>EVOH-Based</a:t>
            </a:r>
          </a:p>
        </p:txBody>
      </p:sp>
      <p:sp>
        <p:nvSpPr>
          <p:cNvPr id="97" name="Rectangle 96"/>
          <p:cNvSpPr/>
          <p:nvPr/>
        </p:nvSpPr>
        <p:spPr>
          <a:xfrm>
            <a:off x="1857375" y="5317548"/>
            <a:ext cx="643890" cy="179243"/>
          </a:xfrm>
          <a:prstGeom prst="rect">
            <a:avLst/>
          </a:prstGeom>
          <a:solidFill>
            <a:srgbClr val="97C0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2501265" y="5317548"/>
            <a:ext cx="643890" cy="179243"/>
          </a:xfrm>
          <a:prstGeom prst="rect">
            <a:avLst/>
          </a:prstGeom>
          <a:solidFill>
            <a:srgbClr val="90BC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3145155" y="5317548"/>
            <a:ext cx="643890" cy="179243"/>
          </a:xfrm>
          <a:prstGeom prst="rect">
            <a:avLst/>
          </a:prstGeom>
          <a:solidFill>
            <a:srgbClr val="83B5D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3789045" y="5317548"/>
            <a:ext cx="643890" cy="179243"/>
          </a:xfrm>
          <a:prstGeom prst="rect">
            <a:avLst/>
          </a:prstGeom>
          <a:solidFill>
            <a:srgbClr val="81B3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4432935" y="5317548"/>
            <a:ext cx="643890" cy="179243"/>
          </a:xfrm>
          <a:prstGeom prst="rect">
            <a:avLst/>
          </a:prstGeom>
          <a:solidFill>
            <a:srgbClr val="76ADD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5076825" y="5317548"/>
            <a:ext cx="643890" cy="179243"/>
          </a:xfrm>
          <a:prstGeom prst="rect">
            <a:avLst/>
          </a:prstGeom>
          <a:solidFill>
            <a:srgbClr val="74ACD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5720715" y="5317548"/>
            <a:ext cx="643890" cy="179243"/>
          </a:xfrm>
          <a:prstGeom prst="rect">
            <a:avLst/>
          </a:prstGeom>
          <a:solidFill>
            <a:srgbClr val="5B9F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6364605" y="5317548"/>
            <a:ext cx="643890" cy="179243"/>
          </a:xfrm>
          <a:prstGeom prst="rect">
            <a:avLst/>
          </a:prstGeom>
          <a:solidFill>
            <a:srgbClr val="3B8D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7008495" y="5317548"/>
            <a:ext cx="643890" cy="179243"/>
          </a:xfrm>
          <a:prstGeom prst="rect">
            <a:avLst/>
          </a:prstGeom>
          <a:solidFill>
            <a:srgbClr val="1D7BB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7652385" y="5317548"/>
            <a:ext cx="643890" cy="179243"/>
          </a:xfrm>
          <a:prstGeom prst="rect">
            <a:avLst/>
          </a:prstGeom>
          <a:solidFill>
            <a:srgbClr val="0E69A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8296275" y="5317548"/>
            <a:ext cx="643890" cy="179243"/>
          </a:xfrm>
          <a:prstGeom prst="rect">
            <a:avLst/>
          </a:prstGeom>
          <a:solidFill>
            <a:srgbClr val="0D598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8940165" y="5317548"/>
            <a:ext cx="643890" cy="179243"/>
          </a:xfrm>
          <a:prstGeom prst="rect">
            <a:avLst/>
          </a:prstGeom>
          <a:solidFill>
            <a:srgbClr val="0D5A8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9584055" y="5317548"/>
            <a:ext cx="643890" cy="179243"/>
          </a:xfrm>
          <a:prstGeom prst="rect">
            <a:avLst/>
          </a:prstGeom>
          <a:solidFill>
            <a:srgbClr val="0E69A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10227945" y="5317548"/>
            <a:ext cx="643890" cy="179243"/>
          </a:xfrm>
          <a:prstGeom prst="rect">
            <a:avLst/>
          </a:prstGeom>
          <a:solidFill>
            <a:srgbClr val="1A79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0871835" y="5317548"/>
            <a:ext cx="643890" cy="179243"/>
          </a:xfrm>
          <a:prstGeom prst="rect">
            <a:avLst/>
          </a:prstGeom>
          <a:solidFill>
            <a:srgbClr val="2C84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238125" y="5496791"/>
            <a:ext cx="1590675" cy="179243"/>
          </a:xfrm>
          <a:prstGeom prst="rect">
            <a:avLst/>
          </a:prstGeom>
          <a:noFill/>
        </p:spPr>
        <p:txBody>
          <a:bodyPr wrap="square" lIns="28575" rIns="28575" tIns="9525" bIns="9525" anchor="ctr">
            <a:spAutoFit/>
          </a:bodyPr>
          <a:lstStyle/>
          <a:p>
            <a:pPr algn="l"/>
            <a:r>
              <a:rPr sz="1100" b="0">
                <a:solidFill>
                  <a:srgbClr val="2E2E2E"/>
                </a:solidFill>
                <a:latin typeface="Calibri"/>
              </a:rPr>
              <a:t>PVDC-Based</a:t>
            </a:r>
          </a:p>
        </p:txBody>
      </p:sp>
      <p:sp>
        <p:nvSpPr>
          <p:cNvPr id="113" name="Rectangle 112"/>
          <p:cNvSpPr/>
          <p:nvPr/>
        </p:nvSpPr>
        <p:spPr>
          <a:xfrm>
            <a:off x="1857375" y="5496791"/>
            <a:ext cx="643890" cy="179243"/>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2501265" y="5496791"/>
            <a:ext cx="643890" cy="179243"/>
          </a:xfrm>
          <a:prstGeom prst="rect">
            <a:avLst/>
          </a:prstGeom>
          <a:solidFill>
            <a:srgbClr val="FCFE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3145155" y="5496791"/>
            <a:ext cx="643890" cy="179243"/>
          </a:xfrm>
          <a:prstGeom prst="rect">
            <a:avLst/>
          </a:prstGeom>
          <a:solidFill>
            <a:srgbClr val="F7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3789045" y="5496791"/>
            <a:ext cx="643890" cy="179243"/>
          </a:xfrm>
          <a:prstGeom prst="rect">
            <a:avLst/>
          </a:prstGeom>
          <a:solidFill>
            <a:srgbClr val="F0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4432935" y="5496791"/>
            <a:ext cx="643890" cy="179243"/>
          </a:xfrm>
          <a:prstGeom prst="rect">
            <a:avLst/>
          </a:prstGeom>
          <a:solidFill>
            <a:srgbClr val="E2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5076825" y="5496791"/>
            <a:ext cx="643890" cy="179243"/>
          </a:xfrm>
          <a:prstGeom prst="rect">
            <a:avLst/>
          </a:prstGeom>
          <a:solidFill>
            <a:srgbClr val="D4E4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5720715" y="5496791"/>
            <a:ext cx="643890" cy="179243"/>
          </a:xfrm>
          <a:prstGeom prst="rect">
            <a:avLst/>
          </a:prstGeom>
          <a:solidFill>
            <a:srgbClr val="C5DA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6364605" y="5496791"/>
            <a:ext cx="643890" cy="179243"/>
          </a:xfrm>
          <a:prstGeom prst="rect">
            <a:avLst/>
          </a:prstGeom>
          <a:solidFill>
            <a:srgbClr val="B0CE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7008495" y="5496791"/>
            <a:ext cx="643890" cy="179243"/>
          </a:xfrm>
          <a:prstGeom prst="rect">
            <a:avLst/>
          </a:prstGeom>
          <a:solidFill>
            <a:srgbClr val="96BF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7652385" y="5496791"/>
            <a:ext cx="643890" cy="179243"/>
          </a:xfrm>
          <a:prstGeom prst="rect">
            <a:avLst/>
          </a:prstGeom>
          <a:solidFill>
            <a:srgbClr val="75ADD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8296275" y="5496791"/>
            <a:ext cx="643890" cy="179243"/>
          </a:xfrm>
          <a:prstGeom prst="rect">
            <a:avLst/>
          </a:prstGeom>
          <a:solidFill>
            <a:srgbClr val="599EC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8940165" y="5496791"/>
            <a:ext cx="643890" cy="179243"/>
          </a:xfrm>
          <a:prstGeom prst="rect">
            <a:avLst/>
          </a:prstGeom>
          <a:solidFill>
            <a:srgbClr val="539AC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9584055" y="5496791"/>
            <a:ext cx="643890" cy="179243"/>
          </a:xfrm>
          <a:prstGeom prst="rect">
            <a:avLst/>
          </a:prstGeom>
          <a:solidFill>
            <a:srgbClr val="5A9E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10227945" y="5496791"/>
            <a:ext cx="643890" cy="179243"/>
          </a:xfrm>
          <a:prstGeom prst="rect">
            <a:avLst/>
          </a:prstGeom>
          <a:solidFill>
            <a:srgbClr val="72ABD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10871835" y="5496791"/>
            <a:ext cx="643890" cy="179243"/>
          </a:xfrm>
          <a:prstGeom prst="rect">
            <a:avLst/>
          </a:prstGeom>
          <a:solidFill>
            <a:srgbClr val="88B7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238125" y="5676034"/>
            <a:ext cx="1590675" cy="179243"/>
          </a:xfrm>
          <a:prstGeom prst="rect">
            <a:avLst/>
          </a:prstGeom>
          <a:noFill/>
        </p:spPr>
        <p:txBody>
          <a:bodyPr wrap="square" lIns="28575" rIns="28575" tIns="9525" bIns="9525" anchor="ctr">
            <a:spAutoFit/>
          </a:bodyPr>
          <a:lstStyle/>
          <a:p>
            <a:pPr algn="l"/>
            <a:r>
              <a:rPr sz="1100" b="0">
                <a:solidFill>
                  <a:srgbClr val="2E2E2E"/>
                </a:solidFill>
                <a:latin typeface="Calibri"/>
              </a:rPr>
              <a:t>PVOH-Based</a:t>
            </a:r>
          </a:p>
        </p:txBody>
      </p:sp>
      <p:sp>
        <p:nvSpPr>
          <p:cNvPr id="129" name="Rectangle 128"/>
          <p:cNvSpPr/>
          <p:nvPr/>
        </p:nvSpPr>
        <p:spPr>
          <a:xfrm>
            <a:off x="1857375" y="5676034"/>
            <a:ext cx="643890" cy="179243"/>
          </a:xfrm>
          <a:prstGeom prst="rect">
            <a:avLst/>
          </a:prstGeom>
          <a:solidFill>
            <a:srgbClr val="C5D9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2501265" y="5676034"/>
            <a:ext cx="643890" cy="179243"/>
          </a:xfrm>
          <a:prstGeom prst="rect">
            <a:avLst/>
          </a:prstGeom>
          <a:solidFill>
            <a:srgbClr val="C7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3145155" y="5676034"/>
            <a:ext cx="643890" cy="179243"/>
          </a:xfrm>
          <a:prstGeom prst="rect">
            <a:avLst/>
          </a:prstGeom>
          <a:solidFill>
            <a:srgbClr val="C2D8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3789045" y="5676034"/>
            <a:ext cx="643890" cy="179243"/>
          </a:xfrm>
          <a:prstGeom prst="rect">
            <a:avLst/>
          </a:prstGeom>
          <a:solidFill>
            <a:srgbClr val="B8D2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4432935" y="5676034"/>
            <a:ext cx="643890" cy="179243"/>
          </a:xfrm>
          <a:prstGeom prst="rect">
            <a:avLst/>
          </a:prstGeom>
          <a:solidFill>
            <a:srgbClr val="9DC3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5076825" y="5676034"/>
            <a:ext cx="643890" cy="179243"/>
          </a:xfrm>
          <a:prstGeom prst="rect">
            <a:avLst/>
          </a:prstGeom>
          <a:solidFill>
            <a:srgbClr val="76ADD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5720715" y="5676034"/>
            <a:ext cx="643890" cy="179243"/>
          </a:xfrm>
          <a:prstGeom prst="rect">
            <a:avLst/>
          </a:prstGeom>
          <a:solidFill>
            <a:srgbClr val="4894C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6364605" y="5676034"/>
            <a:ext cx="643890" cy="179243"/>
          </a:xfrm>
          <a:prstGeom prst="rect">
            <a:avLst/>
          </a:prstGeom>
          <a:solidFill>
            <a:srgbClr val="2B84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7008495" y="5676034"/>
            <a:ext cx="643890" cy="179243"/>
          </a:xfrm>
          <a:prstGeom prst="rect">
            <a:avLst/>
          </a:prstGeom>
          <a:solidFill>
            <a:srgbClr val="1777B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7652385" y="5676034"/>
            <a:ext cx="643890" cy="179243"/>
          </a:xfrm>
          <a:prstGeom prst="rect">
            <a:avLst/>
          </a:prstGeom>
          <a:solidFill>
            <a:srgbClr val="0E6DA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8296275" y="5676034"/>
            <a:ext cx="643890" cy="179243"/>
          </a:xfrm>
          <a:prstGeom prst="rect">
            <a:avLst/>
          </a:prstGeom>
          <a:solidFill>
            <a:srgbClr val="0D5D8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8940165" y="5676034"/>
            <a:ext cx="643890" cy="179243"/>
          </a:xfrm>
          <a:prstGeom prst="rect">
            <a:avLst/>
          </a:prstGeom>
          <a:solidFill>
            <a:srgbClr val="0D568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9584055" y="5676034"/>
            <a:ext cx="643890" cy="179243"/>
          </a:xfrm>
          <a:prstGeom prst="rect">
            <a:avLst/>
          </a:prstGeom>
          <a:solidFill>
            <a:srgbClr val="0D5F9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10227945" y="5676034"/>
            <a:ext cx="643890" cy="179243"/>
          </a:xfrm>
          <a:prstGeom prst="rect">
            <a:avLst/>
          </a:prstGeom>
          <a:solidFill>
            <a:srgbClr val="1174B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10871835" y="5676034"/>
            <a:ext cx="643890" cy="179243"/>
          </a:xfrm>
          <a:prstGeom prst="rect">
            <a:avLst/>
          </a:prstGeom>
          <a:solidFill>
            <a:srgbClr val="217DB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238125" y="5855277"/>
            <a:ext cx="1590675" cy="179243"/>
          </a:xfrm>
          <a:prstGeom prst="rect">
            <a:avLst/>
          </a:prstGeom>
          <a:noFill/>
        </p:spPr>
        <p:txBody>
          <a:bodyPr wrap="square" lIns="28575" rIns="28575" tIns="9525" bIns="9525" anchor="ctr">
            <a:spAutoFit/>
          </a:bodyPr>
          <a:lstStyle/>
          <a:p>
            <a:pPr algn="l"/>
            <a:r>
              <a:rPr sz="1100" b="0">
                <a:solidFill>
                  <a:srgbClr val="2E2E2E"/>
                </a:solidFill>
                <a:latin typeface="Calibri"/>
              </a:rPr>
              <a:t>Metallized Barrier</a:t>
            </a:r>
          </a:p>
        </p:txBody>
      </p:sp>
      <p:sp>
        <p:nvSpPr>
          <p:cNvPr id="145" name="Rectangle 144"/>
          <p:cNvSpPr/>
          <p:nvPr/>
        </p:nvSpPr>
        <p:spPr>
          <a:xfrm>
            <a:off x="1857375" y="5855277"/>
            <a:ext cx="643890" cy="179243"/>
          </a:xfrm>
          <a:prstGeom prst="rect">
            <a:avLst/>
          </a:prstGeom>
          <a:solidFill>
            <a:srgbClr val="EB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2501265" y="5855277"/>
            <a:ext cx="643890" cy="179243"/>
          </a:xfrm>
          <a:prstGeom prst="rect">
            <a:avLst/>
          </a:prstGeom>
          <a:solidFill>
            <a:srgbClr val="E1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3145155" y="5855277"/>
            <a:ext cx="643890" cy="179243"/>
          </a:xfrm>
          <a:prstGeom prst="rect">
            <a:avLst/>
          </a:prstGeom>
          <a:solidFill>
            <a:srgbClr val="D7E6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3789045" y="5855277"/>
            <a:ext cx="643890" cy="179243"/>
          </a:xfrm>
          <a:prstGeom prst="rect">
            <a:avLst/>
          </a:prstGeom>
          <a:solidFill>
            <a:srgbClr val="CCDE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4432935" y="5855277"/>
            <a:ext cx="643890" cy="179243"/>
          </a:xfrm>
          <a:prstGeom prst="rect">
            <a:avLst/>
          </a:prstGeom>
          <a:solidFill>
            <a:srgbClr val="B5D1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5076825" y="5855277"/>
            <a:ext cx="643890" cy="179243"/>
          </a:xfrm>
          <a:prstGeom prst="rect">
            <a:avLst/>
          </a:prstGeom>
          <a:solidFill>
            <a:srgbClr val="A4C7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5720715" y="5855277"/>
            <a:ext cx="643890" cy="179243"/>
          </a:xfrm>
          <a:prstGeom prst="rect">
            <a:avLst/>
          </a:prstGeom>
          <a:solidFill>
            <a:srgbClr val="8EBA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6364605" y="5855277"/>
            <a:ext cx="643890" cy="179243"/>
          </a:xfrm>
          <a:prstGeom prst="rect">
            <a:avLst/>
          </a:prstGeom>
          <a:solidFill>
            <a:srgbClr val="66A5C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7008495" y="5855277"/>
            <a:ext cx="643890" cy="179243"/>
          </a:xfrm>
          <a:prstGeom prst="rect">
            <a:avLst/>
          </a:prstGeom>
          <a:solidFill>
            <a:srgbClr val="388B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7652385" y="5855277"/>
            <a:ext cx="643890" cy="179243"/>
          </a:xfrm>
          <a:prstGeom prst="rect">
            <a:avLst/>
          </a:prstGeom>
          <a:solidFill>
            <a:srgbClr val="1E7CB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ctangle 154"/>
          <p:cNvSpPr/>
          <p:nvPr/>
        </p:nvSpPr>
        <p:spPr>
          <a:xfrm>
            <a:off x="8296275" y="5855277"/>
            <a:ext cx="643890" cy="179243"/>
          </a:xfrm>
          <a:prstGeom prst="rect">
            <a:avLst/>
          </a:prstGeom>
          <a:solidFill>
            <a:srgbClr val="1275B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8940165" y="5855277"/>
            <a:ext cx="643890" cy="179243"/>
          </a:xfrm>
          <a:prstGeom prst="rect">
            <a:avLst/>
          </a:prstGeom>
          <a:solidFill>
            <a:srgbClr val="1978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9584055" y="5855277"/>
            <a:ext cx="643890" cy="179243"/>
          </a:xfrm>
          <a:prstGeom prst="rect">
            <a:avLst/>
          </a:prstGeom>
          <a:solidFill>
            <a:srgbClr val="217EB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10227945" y="5855277"/>
            <a:ext cx="643890" cy="179243"/>
          </a:xfrm>
          <a:prstGeom prst="rect">
            <a:avLst/>
          </a:prstGeom>
          <a:solidFill>
            <a:srgbClr val="3388B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10871835" y="5855277"/>
            <a:ext cx="643890" cy="179243"/>
          </a:xfrm>
          <a:prstGeom prst="rect">
            <a:avLst/>
          </a:prstGeom>
          <a:solidFill>
            <a:srgbClr val="4693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238125" y="6034520"/>
            <a:ext cx="1590675" cy="179243"/>
          </a:xfrm>
          <a:prstGeom prst="rect">
            <a:avLst/>
          </a:prstGeom>
          <a:noFill/>
        </p:spPr>
        <p:txBody>
          <a:bodyPr wrap="square" lIns="28575" rIns="28575" tIns="9525" bIns="9525" anchor="ctr">
            <a:spAutoFit/>
          </a:bodyPr>
          <a:lstStyle/>
          <a:p>
            <a:pPr algn="l"/>
            <a:r>
              <a:rPr sz="1100" b="0">
                <a:solidFill>
                  <a:srgbClr val="2E2E2E"/>
                </a:solidFill>
                <a:latin typeface="Calibri"/>
              </a:rPr>
              <a:t>AlOx / SiOx-Coated</a:t>
            </a:r>
          </a:p>
        </p:txBody>
      </p:sp>
      <p:sp>
        <p:nvSpPr>
          <p:cNvPr id="161" name="Rectangle 160"/>
          <p:cNvSpPr/>
          <p:nvPr/>
        </p:nvSpPr>
        <p:spPr>
          <a:xfrm>
            <a:off x="1857375" y="6034520"/>
            <a:ext cx="643890" cy="179243"/>
          </a:xfrm>
          <a:prstGeom prst="rect">
            <a:avLst/>
          </a:prstGeom>
          <a:solidFill>
            <a:srgbClr val="BFD6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2501265" y="6034520"/>
            <a:ext cx="643890" cy="179243"/>
          </a:xfrm>
          <a:prstGeom prst="rect">
            <a:avLst/>
          </a:prstGeom>
          <a:solidFill>
            <a:srgbClr val="BCD5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3145155" y="6034520"/>
            <a:ext cx="643890" cy="179243"/>
          </a:xfrm>
          <a:prstGeom prst="rect">
            <a:avLst/>
          </a:prstGeom>
          <a:solidFill>
            <a:srgbClr val="B0CE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3789045" y="6034520"/>
            <a:ext cx="643890" cy="179243"/>
          </a:xfrm>
          <a:prstGeom prst="rect">
            <a:avLst/>
          </a:prstGeom>
          <a:solidFill>
            <a:srgbClr val="A2C6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4432935" y="6034520"/>
            <a:ext cx="643890" cy="179243"/>
          </a:xfrm>
          <a:prstGeom prst="rect">
            <a:avLst/>
          </a:prstGeom>
          <a:solidFill>
            <a:srgbClr val="86B6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5076825" y="6034520"/>
            <a:ext cx="643890" cy="179243"/>
          </a:xfrm>
          <a:prstGeom prst="rect">
            <a:avLst/>
          </a:prstGeom>
          <a:solidFill>
            <a:srgbClr val="6AA7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5720715" y="6034520"/>
            <a:ext cx="643890" cy="179243"/>
          </a:xfrm>
          <a:prstGeom prst="rect">
            <a:avLst/>
          </a:prstGeom>
          <a:solidFill>
            <a:srgbClr val="4895C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6364605" y="6034520"/>
            <a:ext cx="643890" cy="179243"/>
          </a:xfrm>
          <a:prstGeom prst="rect">
            <a:avLst/>
          </a:prstGeom>
          <a:solidFill>
            <a:srgbClr val="2E86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7008495" y="6034520"/>
            <a:ext cx="643890" cy="179243"/>
          </a:xfrm>
          <a:prstGeom prst="rect">
            <a:avLst/>
          </a:prstGeom>
          <a:solidFill>
            <a:srgbClr val="1475B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7652385" y="6034520"/>
            <a:ext cx="643890" cy="179243"/>
          </a:xfrm>
          <a:prstGeom prst="rect">
            <a:avLst/>
          </a:prstGeom>
          <a:solidFill>
            <a:srgbClr val="0D5E9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ectangle 170"/>
          <p:cNvSpPr/>
          <p:nvPr/>
        </p:nvSpPr>
        <p:spPr>
          <a:xfrm>
            <a:off x="8296275" y="6034520"/>
            <a:ext cx="643890" cy="179243"/>
          </a:xfrm>
          <a:prstGeom prst="rect">
            <a:avLst/>
          </a:prstGeom>
          <a:solidFill>
            <a:srgbClr val="0D517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8940165" y="6034520"/>
            <a:ext cx="643890" cy="179243"/>
          </a:xfrm>
          <a:prstGeom prst="rect">
            <a:avLst/>
          </a:prstGeom>
          <a:solidFill>
            <a:srgbClr val="0D548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9584055" y="6034520"/>
            <a:ext cx="643890" cy="179243"/>
          </a:xfrm>
          <a:prstGeom prst="rect">
            <a:avLst/>
          </a:prstGeom>
          <a:solidFill>
            <a:srgbClr val="0D639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10227945" y="6034520"/>
            <a:ext cx="643890" cy="179243"/>
          </a:xfrm>
          <a:prstGeom prst="rect">
            <a:avLst/>
          </a:prstGeom>
          <a:solidFill>
            <a:srgbClr val="1576B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10871835" y="6034520"/>
            <a:ext cx="643890" cy="179243"/>
          </a:xfrm>
          <a:prstGeom prst="rect">
            <a:avLst/>
          </a:prstGeom>
          <a:solidFill>
            <a:srgbClr val="2580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238125" y="6213764"/>
            <a:ext cx="1590675" cy="179243"/>
          </a:xfrm>
          <a:prstGeom prst="rect">
            <a:avLst/>
          </a:prstGeom>
          <a:noFill/>
        </p:spPr>
        <p:txBody>
          <a:bodyPr wrap="square" lIns="28575" rIns="28575" tIns="9525" bIns="9525" anchor="ctr">
            <a:spAutoFit/>
          </a:bodyPr>
          <a:lstStyle/>
          <a:p>
            <a:pPr algn="l"/>
            <a:r>
              <a:rPr sz="1100" b="0">
                <a:solidFill>
                  <a:srgbClr val="2E2E2E"/>
                </a:solidFill>
                <a:latin typeface="Calibri"/>
              </a:rPr>
              <a:t>Aluminum Foil-Based</a:t>
            </a:r>
          </a:p>
        </p:txBody>
      </p:sp>
      <p:sp>
        <p:nvSpPr>
          <p:cNvPr id="177" name="Rectangle 176"/>
          <p:cNvSpPr/>
          <p:nvPr/>
        </p:nvSpPr>
        <p:spPr>
          <a:xfrm>
            <a:off x="1857375" y="6213764"/>
            <a:ext cx="643890" cy="179243"/>
          </a:xfrm>
          <a:prstGeom prst="rect">
            <a:avLst/>
          </a:prstGeom>
          <a:solidFill>
            <a:srgbClr val="E6F3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ectangle 177"/>
          <p:cNvSpPr/>
          <p:nvPr/>
        </p:nvSpPr>
        <p:spPr>
          <a:xfrm>
            <a:off x="2501265" y="6213764"/>
            <a:ext cx="643890" cy="179243"/>
          </a:xfrm>
          <a:prstGeom prst="rect">
            <a:avLst/>
          </a:prstGeom>
          <a:solidFill>
            <a:srgbClr val="E2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Rectangle 178"/>
          <p:cNvSpPr/>
          <p:nvPr/>
        </p:nvSpPr>
        <p:spPr>
          <a:xfrm>
            <a:off x="3145155" y="6213764"/>
            <a:ext cx="643890" cy="179243"/>
          </a:xfrm>
          <a:prstGeom prst="rect">
            <a:avLst/>
          </a:prstGeom>
          <a:solidFill>
            <a:srgbClr val="DE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ectangle 179"/>
          <p:cNvSpPr/>
          <p:nvPr/>
        </p:nvSpPr>
        <p:spPr>
          <a:xfrm>
            <a:off x="3789045" y="6213764"/>
            <a:ext cx="643890" cy="179243"/>
          </a:xfrm>
          <a:prstGeom prst="rect">
            <a:avLst/>
          </a:prstGeom>
          <a:solidFill>
            <a:srgbClr val="D9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Rectangle 180"/>
          <p:cNvSpPr/>
          <p:nvPr/>
        </p:nvSpPr>
        <p:spPr>
          <a:xfrm>
            <a:off x="4432935" y="6213764"/>
            <a:ext cx="643890" cy="179243"/>
          </a:xfrm>
          <a:prstGeom prst="rect">
            <a:avLst/>
          </a:prstGeom>
          <a:solidFill>
            <a:srgbClr val="CEE0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tangle 181"/>
          <p:cNvSpPr/>
          <p:nvPr/>
        </p:nvSpPr>
        <p:spPr>
          <a:xfrm>
            <a:off x="5076825" y="6213764"/>
            <a:ext cx="643890" cy="179243"/>
          </a:xfrm>
          <a:prstGeom prst="rect">
            <a:avLst/>
          </a:prstGeom>
          <a:solidFill>
            <a:srgbClr val="BED6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ectangle 182"/>
          <p:cNvSpPr/>
          <p:nvPr/>
        </p:nvSpPr>
        <p:spPr>
          <a:xfrm>
            <a:off x="5720715" y="6213764"/>
            <a:ext cx="643890" cy="179243"/>
          </a:xfrm>
          <a:prstGeom prst="rect">
            <a:avLst/>
          </a:prstGeom>
          <a:solidFill>
            <a:srgbClr val="A9CA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6364605" y="6213764"/>
            <a:ext cx="643890" cy="179243"/>
          </a:xfrm>
          <a:prstGeom prst="rect">
            <a:avLst/>
          </a:prstGeom>
          <a:solidFill>
            <a:srgbClr val="98C0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7008495" y="6213764"/>
            <a:ext cx="643890" cy="179243"/>
          </a:xfrm>
          <a:prstGeom prst="rect">
            <a:avLst/>
          </a:prstGeom>
          <a:solidFill>
            <a:srgbClr val="86B6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7652385" y="6213764"/>
            <a:ext cx="643890" cy="179243"/>
          </a:xfrm>
          <a:prstGeom prst="rect">
            <a:avLst/>
          </a:prstGeom>
          <a:solidFill>
            <a:srgbClr val="75ADD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Rectangle 186"/>
          <p:cNvSpPr/>
          <p:nvPr/>
        </p:nvSpPr>
        <p:spPr>
          <a:xfrm>
            <a:off x="8296275" y="6213764"/>
            <a:ext cx="643890" cy="179243"/>
          </a:xfrm>
          <a:prstGeom prst="rect">
            <a:avLst/>
          </a:prstGeom>
          <a:solidFill>
            <a:srgbClr val="6BA7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Rectangle 187"/>
          <p:cNvSpPr/>
          <p:nvPr/>
        </p:nvSpPr>
        <p:spPr>
          <a:xfrm>
            <a:off x="8940165" y="6213764"/>
            <a:ext cx="643890" cy="179243"/>
          </a:xfrm>
          <a:prstGeom prst="rect">
            <a:avLst/>
          </a:prstGeom>
          <a:solidFill>
            <a:srgbClr val="68A6C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9584055" y="6213764"/>
            <a:ext cx="643890" cy="179243"/>
          </a:xfrm>
          <a:prstGeom prst="rect">
            <a:avLst/>
          </a:prstGeom>
          <a:solidFill>
            <a:srgbClr val="72ABD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10227945" y="6213764"/>
            <a:ext cx="643890" cy="179243"/>
          </a:xfrm>
          <a:prstGeom prst="rect">
            <a:avLst/>
          </a:prstGeom>
          <a:solidFill>
            <a:srgbClr val="86B6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10871835" y="6213764"/>
            <a:ext cx="643890" cy="179243"/>
          </a:xfrm>
          <a:prstGeom prst="rect">
            <a:avLst/>
          </a:prstGeom>
          <a:solidFill>
            <a:srgbClr val="98C0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238125" y="6393007"/>
            <a:ext cx="1590675" cy="179243"/>
          </a:xfrm>
          <a:prstGeom prst="rect">
            <a:avLst/>
          </a:prstGeom>
          <a:noFill/>
        </p:spPr>
        <p:txBody>
          <a:bodyPr wrap="square" lIns="28575" rIns="28575" tIns="9525" bIns="9525" anchor="ctr">
            <a:spAutoFit/>
          </a:bodyPr>
          <a:lstStyle/>
          <a:p>
            <a:pPr algn="l"/>
            <a:r>
              <a:rPr sz="1100" b="0">
                <a:solidFill>
                  <a:srgbClr val="2E2E2E"/>
                </a:solidFill>
                <a:latin typeface="Calibri"/>
              </a:rPr>
              <a:t>Other Specialty Barrier Technologies</a:t>
            </a:r>
          </a:p>
        </p:txBody>
      </p:sp>
      <p:sp>
        <p:nvSpPr>
          <p:cNvPr id="193" name="Rectangle 192"/>
          <p:cNvSpPr/>
          <p:nvPr/>
        </p:nvSpPr>
        <p:spPr>
          <a:xfrm>
            <a:off x="1857375" y="6393007"/>
            <a:ext cx="643890" cy="179243"/>
          </a:xfrm>
          <a:prstGeom prst="rect">
            <a:avLst/>
          </a:prstGeom>
          <a:solidFill>
            <a:srgbClr val="2A83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2501265" y="6393007"/>
            <a:ext cx="643890" cy="179243"/>
          </a:xfrm>
          <a:prstGeom prst="rect">
            <a:avLst/>
          </a:prstGeom>
          <a:solidFill>
            <a:srgbClr val="2D85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Rectangle 194"/>
          <p:cNvSpPr/>
          <p:nvPr/>
        </p:nvSpPr>
        <p:spPr>
          <a:xfrm>
            <a:off x="3145155" y="6393007"/>
            <a:ext cx="643890" cy="179243"/>
          </a:xfrm>
          <a:prstGeom prst="rect">
            <a:avLst/>
          </a:prstGeom>
          <a:solidFill>
            <a:srgbClr val="2580B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3789045" y="6393007"/>
            <a:ext cx="643890" cy="179243"/>
          </a:xfrm>
          <a:prstGeom prst="rect">
            <a:avLst/>
          </a:prstGeom>
          <a:solidFill>
            <a:srgbClr val="1F7CB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4432935" y="6393007"/>
            <a:ext cx="643890" cy="179243"/>
          </a:xfrm>
          <a:prstGeom prst="rect">
            <a:avLst/>
          </a:prstGeom>
          <a:solidFill>
            <a:srgbClr val="1576B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ectangle 197"/>
          <p:cNvSpPr/>
          <p:nvPr/>
        </p:nvSpPr>
        <p:spPr>
          <a:xfrm>
            <a:off x="5076825" y="6393007"/>
            <a:ext cx="643890" cy="179243"/>
          </a:xfrm>
          <a:prstGeom prst="rect">
            <a:avLst/>
          </a:prstGeom>
          <a:solidFill>
            <a:srgbClr val="1073A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Rectangle 198"/>
          <p:cNvSpPr/>
          <p:nvPr/>
        </p:nvSpPr>
        <p:spPr>
          <a:xfrm>
            <a:off x="5720715" y="6393007"/>
            <a:ext cx="643890" cy="179243"/>
          </a:xfrm>
          <a:prstGeom prst="rect">
            <a:avLst/>
          </a:prstGeom>
          <a:solidFill>
            <a:srgbClr val="0E6FA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6364605" y="6393007"/>
            <a:ext cx="643890" cy="179243"/>
          </a:xfrm>
          <a:prstGeom prst="rect">
            <a:avLst/>
          </a:prstGeom>
          <a:solidFill>
            <a:srgbClr val="0D669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Rectangle 200"/>
          <p:cNvSpPr/>
          <p:nvPr/>
        </p:nvSpPr>
        <p:spPr>
          <a:xfrm>
            <a:off x="7008495" y="6393007"/>
            <a:ext cx="643890" cy="179243"/>
          </a:xfrm>
          <a:prstGeom prst="rect">
            <a:avLst/>
          </a:prstGeom>
          <a:solidFill>
            <a:srgbClr val="0C4F7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Rectangle 201"/>
          <p:cNvSpPr/>
          <p:nvPr/>
        </p:nvSpPr>
        <p:spPr>
          <a:xfrm>
            <a:off x="7652385" y="6393007"/>
            <a:ext cx="643890" cy="179243"/>
          </a:xfrm>
          <a:prstGeom prst="rect">
            <a:avLst/>
          </a:prstGeom>
          <a:solidFill>
            <a:srgbClr val="0C3E6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Rectangle 202"/>
          <p:cNvSpPr/>
          <p:nvPr/>
        </p:nvSpPr>
        <p:spPr>
          <a:xfrm>
            <a:off x="8296275" y="6393007"/>
            <a:ext cx="643890" cy="179243"/>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Rectangle 203"/>
          <p:cNvSpPr/>
          <p:nvPr/>
        </p:nvSpPr>
        <p:spPr>
          <a:xfrm>
            <a:off x="8940165" y="6393007"/>
            <a:ext cx="643890" cy="179243"/>
          </a:xfrm>
          <a:prstGeom prst="rect">
            <a:avLst/>
          </a:prstGeom>
          <a:solidFill>
            <a:srgbClr val="0B365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Rectangle 204"/>
          <p:cNvSpPr/>
          <p:nvPr/>
        </p:nvSpPr>
        <p:spPr>
          <a:xfrm>
            <a:off x="9584055" y="6393007"/>
            <a:ext cx="643890" cy="179243"/>
          </a:xfrm>
          <a:prstGeom prst="rect">
            <a:avLst/>
          </a:prstGeom>
          <a:solidFill>
            <a:srgbClr val="0C487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Rectangle 205"/>
          <p:cNvSpPr/>
          <p:nvPr/>
        </p:nvSpPr>
        <p:spPr>
          <a:xfrm>
            <a:off x="10227945" y="6393007"/>
            <a:ext cx="643890" cy="179243"/>
          </a:xfrm>
          <a:prstGeom prst="rect">
            <a:avLst/>
          </a:prstGeom>
          <a:solidFill>
            <a:srgbClr val="0D649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Rectangle 206"/>
          <p:cNvSpPr/>
          <p:nvPr/>
        </p:nvSpPr>
        <p:spPr>
          <a:xfrm>
            <a:off x="10871835" y="6393007"/>
            <a:ext cx="643890" cy="179243"/>
          </a:xfrm>
          <a:prstGeom prst="rect">
            <a:avLst/>
          </a:prstGeom>
          <a:solidFill>
            <a:srgbClr val="1576B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Rectangle 207"/>
          <p:cNvSpPr/>
          <p:nvPr/>
        </p:nvSpPr>
        <p:spPr>
          <a:xfrm>
            <a:off x="11572875" y="4638675"/>
            <a:ext cx="104775" cy="55007"/>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ectangle 208"/>
          <p:cNvSpPr/>
          <p:nvPr/>
        </p:nvSpPr>
        <p:spPr>
          <a:xfrm>
            <a:off x="11572875" y="4686062"/>
            <a:ext cx="104775" cy="55007"/>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11572875" y="4733449"/>
            <a:ext cx="104775" cy="55007"/>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Rectangle 210"/>
          <p:cNvSpPr/>
          <p:nvPr/>
        </p:nvSpPr>
        <p:spPr>
          <a:xfrm>
            <a:off x="11572875" y="4780836"/>
            <a:ext cx="104775" cy="55007"/>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Rectangle 211"/>
          <p:cNvSpPr/>
          <p:nvPr/>
        </p:nvSpPr>
        <p:spPr>
          <a:xfrm>
            <a:off x="11572875" y="4828222"/>
            <a:ext cx="104775" cy="55007"/>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Rectangle 212"/>
          <p:cNvSpPr/>
          <p:nvPr/>
        </p:nvSpPr>
        <p:spPr>
          <a:xfrm>
            <a:off x="11572875" y="4875609"/>
            <a:ext cx="104775" cy="55007"/>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11572875" y="4922996"/>
            <a:ext cx="104775" cy="55007"/>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Rectangle 214"/>
          <p:cNvSpPr/>
          <p:nvPr/>
        </p:nvSpPr>
        <p:spPr>
          <a:xfrm>
            <a:off x="11572875" y="4970383"/>
            <a:ext cx="104775" cy="55007"/>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Rectangle 215"/>
          <p:cNvSpPr/>
          <p:nvPr/>
        </p:nvSpPr>
        <p:spPr>
          <a:xfrm>
            <a:off x="11572875" y="5017770"/>
            <a:ext cx="104775" cy="55007"/>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Rectangle 216"/>
          <p:cNvSpPr/>
          <p:nvPr/>
        </p:nvSpPr>
        <p:spPr>
          <a:xfrm>
            <a:off x="11572875" y="5065157"/>
            <a:ext cx="104775" cy="55007"/>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Rectangle 217"/>
          <p:cNvSpPr/>
          <p:nvPr/>
        </p:nvSpPr>
        <p:spPr>
          <a:xfrm>
            <a:off x="11572875" y="5112544"/>
            <a:ext cx="104775" cy="55007"/>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Rectangle 218"/>
          <p:cNvSpPr/>
          <p:nvPr/>
        </p:nvSpPr>
        <p:spPr>
          <a:xfrm>
            <a:off x="11572875" y="5159931"/>
            <a:ext cx="104775" cy="55007"/>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Rectangle 219"/>
          <p:cNvSpPr/>
          <p:nvPr/>
        </p:nvSpPr>
        <p:spPr>
          <a:xfrm>
            <a:off x="11572875" y="5207318"/>
            <a:ext cx="104775" cy="55007"/>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ectangle 220"/>
          <p:cNvSpPr/>
          <p:nvPr/>
        </p:nvSpPr>
        <p:spPr>
          <a:xfrm>
            <a:off x="11572875" y="5254704"/>
            <a:ext cx="104775" cy="55007"/>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11572875" y="5302091"/>
            <a:ext cx="104775" cy="55007"/>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ectangle 222"/>
          <p:cNvSpPr/>
          <p:nvPr/>
        </p:nvSpPr>
        <p:spPr>
          <a:xfrm>
            <a:off x="11572875" y="5349478"/>
            <a:ext cx="104775" cy="55007"/>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Rectangle 223"/>
          <p:cNvSpPr/>
          <p:nvPr/>
        </p:nvSpPr>
        <p:spPr>
          <a:xfrm>
            <a:off x="11572875" y="5396865"/>
            <a:ext cx="104775" cy="55007"/>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Rectangle 224"/>
          <p:cNvSpPr/>
          <p:nvPr/>
        </p:nvSpPr>
        <p:spPr>
          <a:xfrm>
            <a:off x="11572875" y="5444252"/>
            <a:ext cx="104775" cy="55007"/>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Rectangle 225"/>
          <p:cNvSpPr/>
          <p:nvPr/>
        </p:nvSpPr>
        <p:spPr>
          <a:xfrm>
            <a:off x="11572875" y="5491639"/>
            <a:ext cx="104775" cy="55007"/>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Rectangle 226"/>
          <p:cNvSpPr/>
          <p:nvPr/>
        </p:nvSpPr>
        <p:spPr>
          <a:xfrm>
            <a:off x="11572875" y="5539026"/>
            <a:ext cx="104775" cy="55007"/>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Rectangle 227"/>
          <p:cNvSpPr/>
          <p:nvPr/>
        </p:nvSpPr>
        <p:spPr>
          <a:xfrm>
            <a:off x="11572875" y="5586412"/>
            <a:ext cx="104775" cy="55007"/>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angle 228"/>
          <p:cNvSpPr/>
          <p:nvPr/>
        </p:nvSpPr>
        <p:spPr>
          <a:xfrm>
            <a:off x="11572875" y="5633799"/>
            <a:ext cx="104775" cy="55007"/>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ectangle 229"/>
          <p:cNvSpPr/>
          <p:nvPr/>
        </p:nvSpPr>
        <p:spPr>
          <a:xfrm>
            <a:off x="11572875" y="5681186"/>
            <a:ext cx="104775" cy="55007"/>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11572875" y="5728573"/>
            <a:ext cx="104775" cy="55007"/>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11572875" y="5775960"/>
            <a:ext cx="104775" cy="55007"/>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11572875" y="5823347"/>
            <a:ext cx="104775" cy="55007"/>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11572875" y="5870734"/>
            <a:ext cx="104775" cy="55007"/>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Rectangle 234"/>
          <p:cNvSpPr/>
          <p:nvPr/>
        </p:nvSpPr>
        <p:spPr>
          <a:xfrm>
            <a:off x="11572875" y="5918121"/>
            <a:ext cx="104775" cy="55007"/>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Rectangle 235"/>
          <p:cNvSpPr/>
          <p:nvPr/>
        </p:nvSpPr>
        <p:spPr>
          <a:xfrm>
            <a:off x="11572875" y="5965508"/>
            <a:ext cx="104775" cy="55007"/>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Rectangle 236"/>
          <p:cNvSpPr/>
          <p:nvPr/>
        </p:nvSpPr>
        <p:spPr>
          <a:xfrm>
            <a:off x="11572875" y="6012894"/>
            <a:ext cx="104775" cy="55007"/>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Rectangle 237"/>
          <p:cNvSpPr/>
          <p:nvPr/>
        </p:nvSpPr>
        <p:spPr>
          <a:xfrm>
            <a:off x="11572875" y="6060281"/>
            <a:ext cx="104775" cy="55007"/>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Rectangle 238"/>
          <p:cNvSpPr/>
          <p:nvPr/>
        </p:nvSpPr>
        <p:spPr>
          <a:xfrm>
            <a:off x="11572875" y="6107668"/>
            <a:ext cx="104775" cy="55007"/>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Rectangle 239"/>
          <p:cNvSpPr/>
          <p:nvPr/>
        </p:nvSpPr>
        <p:spPr>
          <a:xfrm>
            <a:off x="11572875" y="6155055"/>
            <a:ext cx="104775" cy="55007"/>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11572875" y="6202442"/>
            <a:ext cx="104775" cy="55007"/>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11572875" y="6249829"/>
            <a:ext cx="104775" cy="55007"/>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p:cNvSpPr/>
          <p:nvPr/>
        </p:nvSpPr>
        <p:spPr>
          <a:xfrm>
            <a:off x="11572875" y="6297216"/>
            <a:ext cx="104775" cy="55007"/>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Rectangle 243"/>
          <p:cNvSpPr/>
          <p:nvPr/>
        </p:nvSpPr>
        <p:spPr>
          <a:xfrm>
            <a:off x="11572875" y="6344602"/>
            <a:ext cx="104775" cy="55007"/>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Rectangle 244"/>
          <p:cNvSpPr/>
          <p:nvPr/>
        </p:nvSpPr>
        <p:spPr>
          <a:xfrm>
            <a:off x="11572875" y="6391989"/>
            <a:ext cx="104775" cy="55007"/>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Rectangle 245"/>
          <p:cNvSpPr/>
          <p:nvPr/>
        </p:nvSpPr>
        <p:spPr>
          <a:xfrm>
            <a:off x="11572875" y="6439376"/>
            <a:ext cx="104775" cy="55007"/>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Rectangle 246"/>
          <p:cNvSpPr/>
          <p:nvPr/>
        </p:nvSpPr>
        <p:spPr>
          <a:xfrm>
            <a:off x="11572875" y="6486763"/>
            <a:ext cx="104775" cy="55007"/>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11572875" y="4638675"/>
            <a:ext cx="104775" cy="1895475"/>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TextBox 248"/>
          <p:cNvSpPr txBox="1"/>
          <p:nvPr/>
        </p:nvSpPr>
        <p:spPr>
          <a:xfrm>
            <a:off x="11687175" y="4572000"/>
            <a:ext cx="276225" cy="133350"/>
          </a:xfrm>
          <a:prstGeom prst="rect">
            <a:avLst/>
          </a:prstGeom>
          <a:noFill/>
        </p:spPr>
        <p:txBody>
          <a:bodyPr wrap="none" lIns="0" rIns="0" tIns="0" bIns="0" anchor="ctr">
            <a:spAutoFit/>
          </a:bodyPr>
          <a:lstStyle/>
          <a:p>
            <a:pPr algn="l"/>
            <a:r>
              <a:rPr sz="1100" b="0">
                <a:solidFill>
                  <a:srgbClr val="6C7A89"/>
                </a:solidFill>
                <a:latin typeface="Calibri"/>
              </a:rPr>
              <a:t>6%</a:t>
            </a:r>
          </a:p>
        </p:txBody>
      </p:sp>
      <p:sp>
        <p:nvSpPr>
          <p:cNvPr id="250" name="TextBox 249"/>
          <p:cNvSpPr txBox="1"/>
          <p:nvPr/>
        </p:nvSpPr>
        <p:spPr>
          <a:xfrm>
            <a:off x="11687175" y="5519738"/>
            <a:ext cx="276225" cy="133350"/>
          </a:xfrm>
          <a:prstGeom prst="rect">
            <a:avLst/>
          </a:prstGeom>
          <a:noFill/>
        </p:spPr>
        <p:txBody>
          <a:bodyPr wrap="none" lIns="0" rIns="0" tIns="0" bIns="0" anchor="ctr">
            <a:spAutoFit/>
          </a:bodyPr>
          <a:lstStyle/>
          <a:p>
            <a:pPr algn="l"/>
            <a:r>
              <a:rPr sz="1100" b="0">
                <a:solidFill>
                  <a:srgbClr val="6C7A89"/>
                </a:solidFill>
                <a:latin typeface="Calibri"/>
              </a:rPr>
              <a:t>5%</a:t>
            </a:r>
          </a:p>
        </p:txBody>
      </p:sp>
      <p:sp>
        <p:nvSpPr>
          <p:cNvPr id="251" name="TextBox 250"/>
          <p:cNvSpPr txBox="1"/>
          <p:nvPr/>
        </p:nvSpPr>
        <p:spPr>
          <a:xfrm>
            <a:off x="11687175" y="6467475"/>
            <a:ext cx="276225" cy="133350"/>
          </a:xfrm>
          <a:prstGeom prst="rect">
            <a:avLst/>
          </a:prstGeom>
          <a:noFill/>
        </p:spPr>
        <p:txBody>
          <a:bodyPr wrap="none" lIns="0" rIns="0" tIns="0" bIns="0" anchor="ctr">
            <a:spAutoFit/>
          </a:bodyPr>
          <a:lstStyle/>
          <a:p>
            <a:pPr algn="l"/>
            <a:r>
              <a:rPr sz="1100" b="0">
                <a:solidFill>
                  <a:srgbClr val="6C7A89"/>
                </a:solidFill>
                <a:latin typeface="Calibri"/>
              </a:rPr>
              <a:t>3%</a:t>
            </a:r>
          </a:p>
        </p:txBody>
      </p:sp>
      <p:sp>
        <p:nvSpPr>
          <p:cNvPr id="252" name="TextBox 25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YoY Analysis of Global Market Value, By Principal Material / Barrier Technology (%)</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Year-on-year value growth by Principal Material / Barrier Technology, 2022–2036, highlighting acceleration and slowdown</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3057525"/>
          </a:xfrm>
          <a:prstGeom prst="roundRect">
            <a:avLst>
              <a:gd name="adj" fmla="val 24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YoY Growth, By Principal Material / Barrier Technology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3" name="Table 12"/>
          <p:cNvGraphicFramePr>
            <a:graphicFrameLocks noGrp="1"/>
          </p:cNvGraphicFramePr>
          <p:nvPr/>
        </p:nvGraphicFramePr>
        <p:xfrm>
          <a:off x="152400" y="1238250"/>
          <a:ext cx="11887205" cy="2590803"/>
        </p:xfrm>
        <a:graphic>
          <a:graphicData uri="http://schemas.openxmlformats.org/drawingml/2006/table">
            <a:tbl>
              <a:tblPr>
                <a:tableStyleId>{5C22544A-7EE6-4342-B048-85BDC9FD1C3A}</a:tableStyleId>
              </a:tblPr>
              <a:tblGrid>
                <a:gridCol w="2650055"/>
                <a:gridCol w="615810"/>
                <a:gridCol w="615810"/>
                <a:gridCol w="615810"/>
                <a:gridCol w="615810"/>
                <a:gridCol w="615810"/>
                <a:gridCol w="615810"/>
                <a:gridCol w="615810"/>
                <a:gridCol w="615810"/>
                <a:gridCol w="615810"/>
                <a:gridCol w="615810"/>
                <a:gridCol w="615810"/>
                <a:gridCol w="615810"/>
                <a:gridCol w="615810"/>
                <a:gridCol w="615810"/>
                <a:gridCol w="615810"/>
              </a:tblGrid>
              <a:tr h="215265">
                <a:tc>
                  <a:txBody>
                    <a:bodyPr wrap="none"/>
                    <a:lstStyle/>
                    <a:p>
                      <a:pPr algn="l"/>
                      <a:r>
                        <a:rPr sz="1100" b="1">
                          <a:solidFill>
                            <a:srgbClr val="0B2E4A"/>
                          </a:solidFill>
                          <a:latin typeface="Calibri"/>
                        </a:rPr>
                        <a:t>Principal Material / Barrier Technology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2036F</a:t>
                      </a:r>
                      <a:endParaRPr sz="1100"/>
                    </a:p>
                  </a:txBody>
                  <a:tcPr marL="47625" marR="38100" marT="19050" marB="19050" anchor="ctr">
                    <a:solidFill>
                      <a:srgbClr val="E0E8EF"/>
                    </a:solidFill>
                  </a:tcPr>
                </a:tc>
              </a:tr>
              <a:tr h="215958">
                <a:tc>
                  <a:txBody>
                    <a:bodyPr wrap="none"/>
                    <a:lstStyle/>
                    <a:p>
                      <a:pPr algn="l"/>
                      <a:r>
                        <a:rPr sz="1100" b="1">
                          <a:solidFill>
                            <a:srgbClr val="2E2E2E"/>
                          </a:solidFill>
                          <a:latin typeface="Calibri"/>
                        </a:rPr>
                        <a:t>PE-Based</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6.0%</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7.0%</a:t>
                      </a:r>
                      <a:endParaRPr sz="1100"/>
                    </a:p>
                  </a:txBody>
                  <a:tcPr marL="47625" marR="38100" marT="19050" marB="19050" anchor="ctr">
                    <a:solidFill>
                      <a:srgbClr val="FFFFFF"/>
                    </a:solidFill>
                  </a:tcPr>
                </a:tc>
              </a:tr>
              <a:tr h="215958">
                <a:tc>
                  <a:txBody>
                    <a:bodyPr wrap="none"/>
                    <a:lstStyle/>
                    <a:p>
                      <a:pPr algn="l"/>
                      <a:r>
                        <a:rPr sz="1100" b="1">
                          <a:solidFill>
                            <a:srgbClr val="2E2E2E"/>
                          </a:solidFill>
                          <a:latin typeface="Calibri"/>
                        </a:rPr>
                        <a:t>PP-Based</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5F8FA"/>
                    </a:solidFill>
                  </a:tcPr>
                </a:tc>
              </a:tr>
              <a:tr h="215958">
                <a:tc>
                  <a:txBody>
                    <a:bodyPr wrap="none"/>
                    <a:lstStyle/>
                    <a:p>
                      <a:pPr algn="l"/>
                      <a:r>
                        <a:rPr sz="1100" b="1">
                          <a:solidFill>
                            <a:srgbClr val="2E2E2E"/>
                          </a:solidFill>
                          <a:latin typeface="Calibri"/>
                        </a:rPr>
                        <a:t>PET-Based</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6.0%</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FFFFF"/>
                    </a:solidFill>
                  </a:tcPr>
                </a:tc>
              </a:tr>
              <a:tr h="215958">
                <a:tc>
                  <a:txBody>
                    <a:bodyPr wrap="none"/>
                    <a:lstStyle/>
                    <a:p>
                      <a:pPr algn="l"/>
                      <a:r>
                        <a:rPr sz="1100" b="1">
                          <a:solidFill>
                            <a:srgbClr val="2E2E2E"/>
                          </a:solidFill>
                          <a:latin typeface="Calibri"/>
                        </a:rPr>
                        <a:t>PA-Based</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5F8FA"/>
                    </a:solidFill>
                  </a:tcPr>
                </a:tc>
              </a:tr>
              <a:tr h="215958">
                <a:tc>
                  <a:txBody>
                    <a:bodyPr wrap="none"/>
                    <a:lstStyle/>
                    <a:p>
                      <a:pPr algn="l"/>
                      <a:r>
                        <a:rPr sz="1100" b="1">
                          <a:solidFill>
                            <a:srgbClr val="2E2E2E"/>
                          </a:solidFill>
                          <a:latin typeface="Calibri"/>
                        </a:rPr>
                        <a:t>EVOH-Based</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5.0%</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6.0%</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7.0%</a:t>
                      </a:r>
                      <a:endParaRPr sz="1100"/>
                    </a:p>
                  </a:txBody>
                  <a:tcPr marL="47625" marR="38100" marT="19050" marB="19050" anchor="ctr">
                    <a:solidFill>
                      <a:srgbClr val="FFFFFF"/>
                    </a:solidFill>
                  </a:tcPr>
                </a:tc>
              </a:tr>
              <a:tr h="215958">
                <a:tc>
                  <a:txBody>
                    <a:bodyPr wrap="none"/>
                    <a:lstStyle/>
                    <a:p>
                      <a:pPr algn="l"/>
                      <a:r>
                        <a:rPr sz="1100" b="1">
                          <a:solidFill>
                            <a:srgbClr val="2E2E2E"/>
                          </a:solidFill>
                          <a:latin typeface="Calibri"/>
                        </a:rPr>
                        <a:t>PVDC-Based</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6.4%</a:t>
                      </a:r>
                      <a:endParaRPr sz="1100"/>
                    </a:p>
                  </a:txBody>
                  <a:tcPr marL="47625" marR="38100" marT="19050" marB="19050" anchor="ctr">
                    <a:solidFill>
                      <a:srgbClr val="F5F8FA"/>
                    </a:solidFill>
                  </a:tcPr>
                </a:tc>
              </a:tr>
              <a:tr h="215958">
                <a:tc>
                  <a:txBody>
                    <a:bodyPr wrap="none"/>
                    <a:lstStyle/>
                    <a:p>
                      <a:pPr algn="l"/>
                      <a:r>
                        <a:rPr sz="1100" b="1">
                          <a:solidFill>
                            <a:srgbClr val="2E2E2E"/>
                          </a:solidFill>
                          <a:latin typeface="Calibri"/>
                        </a:rPr>
                        <a:t>PVOH-Based</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7.1%</a:t>
                      </a:r>
                      <a:endParaRPr sz="1100"/>
                    </a:p>
                  </a:txBody>
                  <a:tcPr marL="47625" marR="38100" marT="19050" marB="19050" anchor="ctr">
                    <a:solidFill>
                      <a:srgbClr val="FFFFFF"/>
                    </a:solidFill>
                  </a:tcPr>
                </a:tc>
              </a:tr>
              <a:tr h="215958">
                <a:tc>
                  <a:txBody>
                    <a:bodyPr wrap="none"/>
                    <a:lstStyle/>
                    <a:p>
                      <a:pPr algn="l"/>
                      <a:r>
                        <a:rPr sz="1100" b="1">
                          <a:solidFill>
                            <a:srgbClr val="2E2E2E"/>
                          </a:solidFill>
                          <a:latin typeface="Calibri"/>
                        </a:rPr>
                        <a:t>Metallized Barrier</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5F8FA"/>
                    </a:solidFill>
                  </a:tcPr>
                </a:tc>
              </a:tr>
              <a:tr h="215958">
                <a:tc>
                  <a:txBody>
                    <a:bodyPr wrap="none"/>
                    <a:lstStyle/>
                    <a:p>
                      <a:pPr algn="l"/>
                      <a:r>
                        <a:rPr sz="1100" b="1">
                          <a:solidFill>
                            <a:srgbClr val="2E2E2E"/>
                          </a:solidFill>
                          <a:latin typeface="Calibri"/>
                        </a:rPr>
                        <a:t>AlOx / SiOx-Coated</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7.0%</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7.1%</a:t>
                      </a:r>
                      <a:endParaRPr sz="1100"/>
                    </a:p>
                  </a:txBody>
                  <a:tcPr marL="47625" marR="38100" marT="19050" marB="19050" anchor="ctr">
                    <a:solidFill>
                      <a:srgbClr val="FFFFFF"/>
                    </a:solidFill>
                  </a:tcPr>
                </a:tc>
              </a:tr>
              <a:tr h="215958">
                <a:tc>
                  <a:txBody>
                    <a:bodyPr wrap="none"/>
                    <a:lstStyle/>
                    <a:p>
                      <a:pPr algn="l"/>
                      <a:r>
                        <a:rPr sz="1100" b="1">
                          <a:solidFill>
                            <a:srgbClr val="2E2E2E"/>
                          </a:solidFill>
                          <a:latin typeface="Calibri"/>
                        </a:rPr>
                        <a:t>Aluminum Foil-Based</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6.3%</a:t>
                      </a:r>
                      <a:endParaRPr sz="1100"/>
                    </a:p>
                  </a:txBody>
                  <a:tcPr marL="47625" marR="38100" marT="19050" marB="19050" anchor="ctr">
                    <a:solidFill>
                      <a:srgbClr val="F5F8FA"/>
                    </a:solidFill>
                  </a:tcPr>
                </a:tc>
              </a:tr>
              <a:tr h="215958">
                <a:tc>
                  <a:txBody>
                    <a:bodyPr wrap="none"/>
                    <a:lstStyle/>
                    <a:p>
                      <a:pPr algn="l"/>
                      <a:r>
                        <a:rPr sz="1100" b="1">
                          <a:solidFill>
                            <a:srgbClr val="2E2E2E"/>
                          </a:solidFill>
                          <a:latin typeface="Calibri"/>
                        </a:rPr>
                        <a:t>Other Specialty Barrier Technologies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7.0%</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7.3%</a:t>
                      </a:r>
                      <a:endParaRPr sz="1100"/>
                    </a:p>
                  </a:txBody>
                  <a:tcPr marL="47625" marR="38100" marT="19050" marB="19050" anchor="ctr">
                    <a:solidFill>
                      <a:srgbClr val="FFFFFF"/>
                    </a:solidFill>
                  </a:tcPr>
                </a:tc>
              </a:tr>
            </a:tbl>
          </a:graphicData>
        </a:graphic>
      </p:graphicFrame>
      <p:sp>
        <p:nvSpPr>
          <p:cNvPr id="14" name="TextBox 13"/>
          <p:cNvSpPr txBox="1"/>
          <p:nvPr/>
        </p:nvSpPr>
        <p:spPr>
          <a:xfrm>
            <a:off x="219075" y="38385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4171950"/>
            <a:ext cx="11906250" cy="2457450"/>
          </a:xfrm>
          <a:prstGeom prst="roundRect">
            <a:avLst>
              <a:gd name="adj" fmla="val 31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42291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YoY Heatmap, By Principal Material / Barrier Technology (%)  ·  light = lower, dark = higher growth</a:t>
            </a:r>
          </a:p>
        </p:txBody>
      </p:sp>
      <p:sp>
        <p:nvSpPr>
          <p:cNvPr id="17" name="TextBox 16"/>
          <p:cNvSpPr txBox="1"/>
          <p:nvPr/>
        </p:nvSpPr>
        <p:spPr>
          <a:xfrm>
            <a:off x="1857375" y="4457700"/>
            <a:ext cx="643890" cy="142875"/>
          </a:xfrm>
          <a:prstGeom prst="rect">
            <a:avLst/>
          </a:prstGeom>
          <a:noFill/>
        </p:spPr>
        <p:txBody>
          <a:bodyPr wrap="none" lIns="0" rIns="0" tIns="0" bIns="0" anchor="ctr">
            <a:spAutoFit/>
          </a:bodyPr>
          <a:lstStyle/>
          <a:p>
            <a:pPr algn="ctr"/>
            <a:r>
              <a:rPr sz="1100" b="1">
                <a:solidFill>
                  <a:srgbClr val="6C7A89"/>
                </a:solidFill>
                <a:latin typeface="Calibri"/>
              </a:rPr>
              <a:t>2022</a:t>
            </a:r>
          </a:p>
        </p:txBody>
      </p:sp>
      <p:sp>
        <p:nvSpPr>
          <p:cNvPr id="18" name="TextBox 17"/>
          <p:cNvSpPr txBox="1"/>
          <p:nvPr/>
        </p:nvSpPr>
        <p:spPr>
          <a:xfrm>
            <a:off x="2501265" y="4457700"/>
            <a:ext cx="643890" cy="142875"/>
          </a:xfrm>
          <a:prstGeom prst="rect">
            <a:avLst/>
          </a:prstGeom>
          <a:noFill/>
        </p:spPr>
        <p:txBody>
          <a:bodyPr wrap="none" lIns="0" rIns="0" tIns="0" bIns="0" anchor="ctr">
            <a:spAutoFit/>
          </a:bodyPr>
          <a:lstStyle/>
          <a:p>
            <a:pPr algn="ctr"/>
            <a:r>
              <a:rPr sz="1100" b="1">
                <a:solidFill>
                  <a:srgbClr val="6C7A89"/>
                </a:solidFill>
                <a:latin typeface="Calibri"/>
              </a:rPr>
              <a:t>2023</a:t>
            </a:r>
          </a:p>
        </p:txBody>
      </p:sp>
      <p:sp>
        <p:nvSpPr>
          <p:cNvPr id="19" name="TextBox 18"/>
          <p:cNvSpPr txBox="1"/>
          <p:nvPr/>
        </p:nvSpPr>
        <p:spPr>
          <a:xfrm>
            <a:off x="3145155" y="4457700"/>
            <a:ext cx="643890" cy="142875"/>
          </a:xfrm>
          <a:prstGeom prst="rect">
            <a:avLst/>
          </a:prstGeom>
          <a:noFill/>
        </p:spPr>
        <p:txBody>
          <a:bodyPr wrap="none" lIns="0" rIns="0" tIns="0" bIns="0" anchor="ctr">
            <a:spAutoFit/>
          </a:bodyPr>
          <a:lstStyle/>
          <a:p>
            <a:pPr algn="ctr"/>
            <a:r>
              <a:rPr sz="1100" b="1">
                <a:solidFill>
                  <a:srgbClr val="6C7A89"/>
                </a:solidFill>
                <a:latin typeface="Calibri"/>
              </a:rPr>
              <a:t>2024</a:t>
            </a:r>
          </a:p>
        </p:txBody>
      </p:sp>
      <p:sp>
        <p:nvSpPr>
          <p:cNvPr id="20" name="TextBox 19"/>
          <p:cNvSpPr txBox="1"/>
          <p:nvPr/>
        </p:nvSpPr>
        <p:spPr>
          <a:xfrm>
            <a:off x="3789045" y="4457700"/>
            <a:ext cx="643890" cy="142875"/>
          </a:xfrm>
          <a:prstGeom prst="rect">
            <a:avLst/>
          </a:prstGeom>
          <a:noFill/>
        </p:spPr>
        <p:txBody>
          <a:bodyPr wrap="none" lIns="0" rIns="0" tIns="0" bIns="0" anchor="ctr">
            <a:spAutoFit/>
          </a:bodyPr>
          <a:lstStyle/>
          <a:p>
            <a:pPr algn="ctr"/>
            <a:r>
              <a:rPr sz="1100" b="1">
                <a:solidFill>
                  <a:srgbClr val="6C7A89"/>
                </a:solidFill>
                <a:latin typeface="Calibri"/>
              </a:rPr>
              <a:t>2025</a:t>
            </a:r>
          </a:p>
        </p:txBody>
      </p:sp>
      <p:sp>
        <p:nvSpPr>
          <p:cNvPr id="21" name="TextBox 20"/>
          <p:cNvSpPr txBox="1"/>
          <p:nvPr/>
        </p:nvSpPr>
        <p:spPr>
          <a:xfrm>
            <a:off x="4432935" y="4457700"/>
            <a:ext cx="643890" cy="142875"/>
          </a:xfrm>
          <a:prstGeom prst="rect">
            <a:avLst/>
          </a:prstGeom>
          <a:noFill/>
        </p:spPr>
        <p:txBody>
          <a:bodyPr wrap="none" lIns="0" rIns="0" tIns="0" bIns="0" anchor="ctr">
            <a:spAutoFit/>
          </a:bodyPr>
          <a:lstStyle/>
          <a:p>
            <a:pPr algn="ctr"/>
            <a:r>
              <a:rPr sz="1100" b="1">
                <a:solidFill>
                  <a:srgbClr val="6C7A89"/>
                </a:solidFill>
                <a:latin typeface="Calibri"/>
              </a:rPr>
              <a:t>2026</a:t>
            </a:r>
          </a:p>
        </p:txBody>
      </p:sp>
      <p:sp>
        <p:nvSpPr>
          <p:cNvPr id="22" name="TextBox 21"/>
          <p:cNvSpPr txBox="1"/>
          <p:nvPr/>
        </p:nvSpPr>
        <p:spPr>
          <a:xfrm>
            <a:off x="5076825" y="4457700"/>
            <a:ext cx="643890" cy="142875"/>
          </a:xfrm>
          <a:prstGeom prst="rect">
            <a:avLst/>
          </a:prstGeom>
          <a:noFill/>
        </p:spPr>
        <p:txBody>
          <a:bodyPr wrap="none" lIns="0" rIns="0" tIns="0" bIns="0" anchor="ctr">
            <a:spAutoFit/>
          </a:bodyPr>
          <a:lstStyle/>
          <a:p>
            <a:pPr algn="ctr"/>
            <a:r>
              <a:rPr sz="1100" b="1">
                <a:solidFill>
                  <a:srgbClr val="6C7A89"/>
                </a:solidFill>
                <a:latin typeface="Calibri"/>
              </a:rPr>
              <a:t>2027</a:t>
            </a:r>
          </a:p>
        </p:txBody>
      </p:sp>
      <p:sp>
        <p:nvSpPr>
          <p:cNvPr id="23" name="TextBox 22"/>
          <p:cNvSpPr txBox="1"/>
          <p:nvPr/>
        </p:nvSpPr>
        <p:spPr>
          <a:xfrm>
            <a:off x="5720715" y="4457700"/>
            <a:ext cx="643890" cy="142875"/>
          </a:xfrm>
          <a:prstGeom prst="rect">
            <a:avLst/>
          </a:prstGeom>
          <a:noFill/>
        </p:spPr>
        <p:txBody>
          <a:bodyPr wrap="none" lIns="0" rIns="0" tIns="0" bIns="0" anchor="ctr">
            <a:spAutoFit/>
          </a:bodyPr>
          <a:lstStyle/>
          <a:p>
            <a:pPr algn="ctr"/>
            <a:r>
              <a:rPr sz="1100" b="1">
                <a:solidFill>
                  <a:srgbClr val="6C7A89"/>
                </a:solidFill>
                <a:latin typeface="Calibri"/>
              </a:rPr>
              <a:t>2028</a:t>
            </a:r>
          </a:p>
        </p:txBody>
      </p:sp>
      <p:sp>
        <p:nvSpPr>
          <p:cNvPr id="24" name="TextBox 23"/>
          <p:cNvSpPr txBox="1"/>
          <p:nvPr/>
        </p:nvSpPr>
        <p:spPr>
          <a:xfrm>
            <a:off x="6364605" y="4457700"/>
            <a:ext cx="643890" cy="142875"/>
          </a:xfrm>
          <a:prstGeom prst="rect">
            <a:avLst/>
          </a:prstGeom>
          <a:noFill/>
        </p:spPr>
        <p:txBody>
          <a:bodyPr wrap="none" lIns="0" rIns="0" tIns="0" bIns="0" anchor="ctr">
            <a:spAutoFit/>
          </a:bodyPr>
          <a:lstStyle/>
          <a:p>
            <a:pPr algn="ctr"/>
            <a:r>
              <a:rPr sz="1100" b="1">
                <a:solidFill>
                  <a:srgbClr val="6C7A89"/>
                </a:solidFill>
                <a:latin typeface="Calibri"/>
              </a:rPr>
              <a:t>2029</a:t>
            </a:r>
          </a:p>
        </p:txBody>
      </p:sp>
      <p:sp>
        <p:nvSpPr>
          <p:cNvPr id="25" name="TextBox 24"/>
          <p:cNvSpPr txBox="1"/>
          <p:nvPr/>
        </p:nvSpPr>
        <p:spPr>
          <a:xfrm>
            <a:off x="7008495" y="4457700"/>
            <a:ext cx="643890" cy="142875"/>
          </a:xfrm>
          <a:prstGeom prst="rect">
            <a:avLst/>
          </a:prstGeom>
          <a:noFill/>
        </p:spPr>
        <p:txBody>
          <a:bodyPr wrap="none" lIns="0" rIns="0" tIns="0" bIns="0" anchor="ctr">
            <a:spAutoFit/>
          </a:bodyPr>
          <a:lstStyle/>
          <a:p>
            <a:pPr algn="ctr"/>
            <a:r>
              <a:rPr sz="1100" b="1">
                <a:solidFill>
                  <a:srgbClr val="6C7A89"/>
                </a:solidFill>
                <a:latin typeface="Calibri"/>
              </a:rPr>
              <a:t>2030</a:t>
            </a:r>
          </a:p>
        </p:txBody>
      </p:sp>
      <p:sp>
        <p:nvSpPr>
          <p:cNvPr id="26" name="TextBox 25"/>
          <p:cNvSpPr txBox="1"/>
          <p:nvPr/>
        </p:nvSpPr>
        <p:spPr>
          <a:xfrm>
            <a:off x="7652385" y="4457700"/>
            <a:ext cx="643890" cy="142875"/>
          </a:xfrm>
          <a:prstGeom prst="rect">
            <a:avLst/>
          </a:prstGeom>
          <a:noFill/>
        </p:spPr>
        <p:txBody>
          <a:bodyPr wrap="none" lIns="0" rIns="0" tIns="0" bIns="0" anchor="ctr">
            <a:spAutoFit/>
          </a:bodyPr>
          <a:lstStyle/>
          <a:p>
            <a:pPr algn="ctr"/>
            <a:r>
              <a:rPr sz="1100" b="1">
                <a:solidFill>
                  <a:srgbClr val="6C7A89"/>
                </a:solidFill>
                <a:latin typeface="Calibri"/>
              </a:rPr>
              <a:t>2031</a:t>
            </a:r>
          </a:p>
        </p:txBody>
      </p:sp>
      <p:sp>
        <p:nvSpPr>
          <p:cNvPr id="27" name="TextBox 26"/>
          <p:cNvSpPr txBox="1"/>
          <p:nvPr/>
        </p:nvSpPr>
        <p:spPr>
          <a:xfrm>
            <a:off x="8296275" y="4457700"/>
            <a:ext cx="643890" cy="142875"/>
          </a:xfrm>
          <a:prstGeom prst="rect">
            <a:avLst/>
          </a:prstGeom>
          <a:noFill/>
        </p:spPr>
        <p:txBody>
          <a:bodyPr wrap="none" lIns="0" rIns="0" tIns="0" bIns="0" anchor="ctr">
            <a:spAutoFit/>
          </a:bodyPr>
          <a:lstStyle/>
          <a:p>
            <a:pPr algn="ctr"/>
            <a:r>
              <a:rPr sz="1100" b="1">
                <a:solidFill>
                  <a:srgbClr val="6C7A89"/>
                </a:solidFill>
                <a:latin typeface="Calibri"/>
              </a:rPr>
              <a:t>2032</a:t>
            </a:r>
          </a:p>
        </p:txBody>
      </p:sp>
      <p:sp>
        <p:nvSpPr>
          <p:cNvPr id="28" name="TextBox 27"/>
          <p:cNvSpPr txBox="1"/>
          <p:nvPr/>
        </p:nvSpPr>
        <p:spPr>
          <a:xfrm>
            <a:off x="8940165" y="4457700"/>
            <a:ext cx="643890" cy="142875"/>
          </a:xfrm>
          <a:prstGeom prst="rect">
            <a:avLst/>
          </a:prstGeom>
          <a:noFill/>
        </p:spPr>
        <p:txBody>
          <a:bodyPr wrap="none" lIns="0" rIns="0" tIns="0" bIns="0" anchor="ctr">
            <a:spAutoFit/>
          </a:bodyPr>
          <a:lstStyle/>
          <a:p>
            <a:pPr algn="ctr"/>
            <a:r>
              <a:rPr sz="1100" b="1">
                <a:solidFill>
                  <a:srgbClr val="6C7A89"/>
                </a:solidFill>
                <a:latin typeface="Calibri"/>
              </a:rPr>
              <a:t>2033</a:t>
            </a:r>
          </a:p>
        </p:txBody>
      </p:sp>
      <p:sp>
        <p:nvSpPr>
          <p:cNvPr id="29" name="TextBox 28"/>
          <p:cNvSpPr txBox="1"/>
          <p:nvPr/>
        </p:nvSpPr>
        <p:spPr>
          <a:xfrm>
            <a:off x="9584055" y="4457700"/>
            <a:ext cx="643890" cy="142875"/>
          </a:xfrm>
          <a:prstGeom prst="rect">
            <a:avLst/>
          </a:prstGeom>
          <a:noFill/>
        </p:spPr>
        <p:txBody>
          <a:bodyPr wrap="none" lIns="0" rIns="0" tIns="0" bIns="0" anchor="ctr">
            <a:spAutoFit/>
          </a:bodyPr>
          <a:lstStyle/>
          <a:p>
            <a:pPr algn="ctr"/>
            <a:r>
              <a:rPr sz="1100" b="1">
                <a:solidFill>
                  <a:srgbClr val="6C7A89"/>
                </a:solidFill>
                <a:latin typeface="Calibri"/>
              </a:rPr>
              <a:t>2034</a:t>
            </a:r>
          </a:p>
        </p:txBody>
      </p:sp>
      <p:sp>
        <p:nvSpPr>
          <p:cNvPr id="30" name="TextBox 29"/>
          <p:cNvSpPr txBox="1"/>
          <p:nvPr/>
        </p:nvSpPr>
        <p:spPr>
          <a:xfrm>
            <a:off x="10227945" y="4457700"/>
            <a:ext cx="643890" cy="142875"/>
          </a:xfrm>
          <a:prstGeom prst="rect">
            <a:avLst/>
          </a:prstGeom>
          <a:noFill/>
        </p:spPr>
        <p:txBody>
          <a:bodyPr wrap="none" lIns="0" rIns="0" tIns="0" bIns="0" anchor="ctr">
            <a:spAutoFit/>
          </a:bodyPr>
          <a:lstStyle/>
          <a:p>
            <a:pPr algn="ctr"/>
            <a:r>
              <a:rPr sz="1100" b="1">
                <a:solidFill>
                  <a:srgbClr val="6C7A89"/>
                </a:solidFill>
                <a:latin typeface="Calibri"/>
              </a:rPr>
              <a:t>2035</a:t>
            </a:r>
          </a:p>
        </p:txBody>
      </p:sp>
      <p:sp>
        <p:nvSpPr>
          <p:cNvPr id="31" name="TextBox 30"/>
          <p:cNvSpPr txBox="1"/>
          <p:nvPr/>
        </p:nvSpPr>
        <p:spPr>
          <a:xfrm>
            <a:off x="10871835" y="4457700"/>
            <a:ext cx="643890" cy="142875"/>
          </a:xfrm>
          <a:prstGeom prst="rect">
            <a:avLst/>
          </a:prstGeom>
          <a:noFill/>
        </p:spPr>
        <p:txBody>
          <a:bodyPr wrap="none" lIns="0" rIns="0" tIns="0" bIns="0" anchor="ctr">
            <a:spAutoFit/>
          </a:bodyPr>
          <a:lstStyle/>
          <a:p>
            <a:pPr algn="ctr"/>
            <a:r>
              <a:rPr sz="1100" b="1">
                <a:solidFill>
                  <a:srgbClr val="6C7A89"/>
                </a:solidFill>
                <a:latin typeface="Calibri"/>
              </a:rPr>
              <a:t>2036</a:t>
            </a:r>
          </a:p>
        </p:txBody>
      </p:sp>
      <p:sp>
        <p:nvSpPr>
          <p:cNvPr id="32" name="TextBox 31"/>
          <p:cNvSpPr txBox="1"/>
          <p:nvPr/>
        </p:nvSpPr>
        <p:spPr>
          <a:xfrm>
            <a:off x="238125" y="4600575"/>
            <a:ext cx="1590675" cy="179243"/>
          </a:xfrm>
          <a:prstGeom prst="rect">
            <a:avLst/>
          </a:prstGeom>
          <a:noFill/>
        </p:spPr>
        <p:txBody>
          <a:bodyPr wrap="square" lIns="28575" rIns="28575" tIns="9525" bIns="9525" anchor="ctr">
            <a:spAutoFit/>
          </a:bodyPr>
          <a:lstStyle/>
          <a:p>
            <a:pPr algn="l"/>
            <a:r>
              <a:rPr sz="1100" b="0">
                <a:solidFill>
                  <a:srgbClr val="2E2E2E"/>
                </a:solidFill>
                <a:latin typeface="Calibri"/>
              </a:rPr>
              <a:t>PE-Based</a:t>
            </a:r>
          </a:p>
        </p:txBody>
      </p:sp>
      <p:sp>
        <p:nvSpPr>
          <p:cNvPr id="33" name="Rectangle 32"/>
          <p:cNvSpPr/>
          <p:nvPr/>
        </p:nvSpPr>
        <p:spPr>
          <a:xfrm>
            <a:off x="1857375" y="4600575"/>
            <a:ext cx="643890" cy="179243"/>
          </a:xfrm>
          <a:prstGeom prst="rect">
            <a:avLst/>
          </a:prstGeom>
          <a:solidFill>
            <a:srgbClr val="E2EF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501265" y="4600575"/>
            <a:ext cx="643890" cy="179243"/>
          </a:xfrm>
          <a:prstGeom prst="rect">
            <a:avLst/>
          </a:prstGeom>
          <a:solidFill>
            <a:srgbClr val="DC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145155" y="4600575"/>
            <a:ext cx="643890" cy="179243"/>
          </a:xfrm>
          <a:prstGeom prst="rect">
            <a:avLst/>
          </a:prstGeom>
          <a:solidFill>
            <a:srgbClr val="D5E5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789045" y="4600575"/>
            <a:ext cx="643890" cy="179243"/>
          </a:xfrm>
          <a:prstGeom prst="rect">
            <a:avLst/>
          </a:prstGeom>
          <a:solidFill>
            <a:srgbClr val="CEE0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432935" y="4600575"/>
            <a:ext cx="643890" cy="179243"/>
          </a:xfrm>
          <a:prstGeom prst="rect">
            <a:avLst/>
          </a:prstGeom>
          <a:solidFill>
            <a:srgbClr val="A0C5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76825" y="4600575"/>
            <a:ext cx="643890" cy="179243"/>
          </a:xfrm>
          <a:prstGeom prst="rect">
            <a:avLst/>
          </a:prstGeom>
          <a:solidFill>
            <a:srgbClr val="82B4D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720715" y="4600575"/>
            <a:ext cx="643890" cy="179243"/>
          </a:xfrm>
          <a:prstGeom prst="rect">
            <a:avLst/>
          </a:prstGeom>
          <a:solidFill>
            <a:srgbClr val="5B9F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364605" y="4600575"/>
            <a:ext cx="643890" cy="179243"/>
          </a:xfrm>
          <a:prstGeom prst="rect">
            <a:avLst/>
          </a:prstGeom>
          <a:solidFill>
            <a:srgbClr val="378B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008495" y="4600575"/>
            <a:ext cx="643890" cy="179243"/>
          </a:xfrm>
          <a:prstGeom prst="rect">
            <a:avLst/>
          </a:prstGeom>
          <a:solidFill>
            <a:srgbClr val="1F7CB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652385" y="4600575"/>
            <a:ext cx="643890" cy="179243"/>
          </a:xfrm>
          <a:prstGeom prst="rect">
            <a:avLst/>
          </a:prstGeom>
          <a:solidFill>
            <a:srgbClr val="0E71A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296275" y="4600575"/>
            <a:ext cx="643890" cy="179243"/>
          </a:xfrm>
          <a:prstGeom prst="rect">
            <a:avLst/>
          </a:prstGeom>
          <a:solidFill>
            <a:srgbClr val="0D5E9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940165" y="4600575"/>
            <a:ext cx="643890" cy="179243"/>
          </a:xfrm>
          <a:prstGeom prst="rect">
            <a:avLst/>
          </a:prstGeom>
          <a:solidFill>
            <a:srgbClr val="0D588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584055" y="4600575"/>
            <a:ext cx="643890" cy="179243"/>
          </a:xfrm>
          <a:prstGeom prst="rect">
            <a:avLst/>
          </a:prstGeom>
          <a:solidFill>
            <a:srgbClr val="0D578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227945" y="4600575"/>
            <a:ext cx="643890" cy="179243"/>
          </a:xfrm>
          <a:prstGeom prst="rect">
            <a:avLst/>
          </a:prstGeom>
          <a:solidFill>
            <a:srgbClr val="0D5E9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871835" y="4600575"/>
            <a:ext cx="643890" cy="179243"/>
          </a:xfrm>
          <a:prstGeom prst="rect">
            <a:avLst/>
          </a:prstGeom>
          <a:solidFill>
            <a:srgbClr val="0E69A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38125" y="4779818"/>
            <a:ext cx="1590675" cy="179243"/>
          </a:xfrm>
          <a:prstGeom prst="rect">
            <a:avLst/>
          </a:prstGeom>
          <a:noFill/>
        </p:spPr>
        <p:txBody>
          <a:bodyPr wrap="square" lIns="28575" rIns="28575" tIns="9525" bIns="9525" anchor="ctr">
            <a:spAutoFit/>
          </a:bodyPr>
          <a:lstStyle/>
          <a:p>
            <a:pPr algn="l"/>
            <a:r>
              <a:rPr sz="1100" b="0">
                <a:solidFill>
                  <a:srgbClr val="2E2E2E"/>
                </a:solidFill>
                <a:latin typeface="Calibri"/>
              </a:rPr>
              <a:t>PP-Based</a:t>
            </a:r>
          </a:p>
        </p:txBody>
      </p:sp>
      <p:sp>
        <p:nvSpPr>
          <p:cNvPr id="49" name="Rectangle 48"/>
          <p:cNvSpPr/>
          <p:nvPr/>
        </p:nvSpPr>
        <p:spPr>
          <a:xfrm>
            <a:off x="1857375" y="4779818"/>
            <a:ext cx="643890" cy="179243"/>
          </a:xfrm>
          <a:prstGeom prst="rect">
            <a:avLst/>
          </a:prstGeom>
          <a:solidFill>
            <a:srgbClr val="DCEA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501265" y="4779818"/>
            <a:ext cx="643890" cy="179243"/>
          </a:xfrm>
          <a:prstGeom prst="rect">
            <a:avLst/>
          </a:prstGeom>
          <a:solidFill>
            <a:srgbClr val="DBEA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145155" y="4779818"/>
            <a:ext cx="643890" cy="179243"/>
          </a:xfrm>
          <a:prstGeom prst="rect">
            <a:avLst/>
          </a:prstGeom>
          <a:solidFill>
            <a:srgbClr val="D6E6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789045" y="4779818"/>
            <a:ext cx="643890" cy="179243"/>
          </a:xfrm>
          <a:prstGeom prst="rect">
            <a:avLst/>
          </a:prstGeom>
          <a:solidFill>
            <a:srgbClr val="D2E3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432935" y="4779818"/>
            <a:ext cx="643890" cy="179243"/>
          </a:xfrm>
          <a:prstGeom prst="rect">
            <a:avLst/>
          </a:prstGeom>
          <a:solidFill>
            <a:srgbClr val="AACA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076825" y="4779818"/>
            <a:ext cx="643890" cy="179243"/>
          </a:xfrm>
          <a:prstGeom prst="rect">
            <a:avLst/>
          </a:prstGeom>
          <a:solidFill>
            <a:srgbClr val="95BE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720715" y="4779818"/>
            <a:ext cx="643890" cy="179243"/>
          </a:xfrm>
          <a:prstGeom prst="rect">
            <a:avLst/>
          </a:prstGeom>
          <a:solidFill>
            <a:srgbClr val="77AED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364605" y="4779818"/>
            <a:ext cx="643890" cy="179243"/>
          </a:xfrm>
          <a:prstGeom prst="rect">
            <a:avLst/>
          </a:prstGeom>
          <a:solidFill>
            <a:srgbClr val="599DC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7008495" y="4779818"/>
            <a:ext cx="643890" cy="179243"/>
          </a:xfrm>
          <a:prstGeom prst="rect">
            <a:avLst/>
          </a:prstGeom>
          <a:solidFill>
            <a:srgbClr val="3B8D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652385" y="4779818"/>
            <a:ext cx="643890" cy="179243"/>
          </a:xfrm>
          <a:prstGeom prst="rect">
            <a:avLst/>
          </a:prstGeom>
          <a:solidFill>
            <a:srgbClr val="2983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296275" y="4779818"/>
            <a:ext cx="643890" cy="179243"/>
          </a:xfrm>
          <a:prstGeom prst="rect">
            <a:avLst/>
          </a:prstGeom>
          <a:solidFill>
            <a:srgbClr val="1C7B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940165" y="4779818"/>
            <a:ext cx="643890" cy="179243"/>
          </a:xfrm>
          <a:prstGeom prst="rect">
            <a:avLst/>
          </a:prstGeom>
          <a:solidFill>
            <a:srgbClr val="1878B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584055" y="4779818"/>
            <a:ext cx="643890" cy="179243"/>
          </a:xfrm>
          <a:prstGeom prst="rect">
            <a:avLst/>
          </a:prstGeom>
          <a:solidFill>
            <a:srgbClr val="1778B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0227945" y="4779818"/>
            <a:ext cx="643890" cy="179243"/>
          </a:xfrm>
          <a:prstGeom prst="rect">
            <a:avLst/>
          </a:prstGeom>
          <a:solidFill>
            <a:srgbClr val="1A79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0871835" y="4779818"/>
            <a:ext cx="643890" cy="179243"/>
          </a:xfrm>
          <a:prstGeom prst="rect">
            <a:avLst/>
          </a:prstGeom>
          <a:solidFill>
            <a:srgbClr val="1E7CB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38125" y="4959061"/>
            <a:ext cx="1590675" cy="179243"/>
          </a:xfrm>
          <a:prstGeom prst="rect">
            <a:avLst/>
          </a:prstGeom>
          <a:noFill/>
        </p:spPr>
        <p:txBody>
          <a:bodyPr wrap="square" lIns="28575" rIns="28575" tIns="9525" bIns="9525" anchor="ctr">
            <a:spAutoFit/>
          </a:bodyPr>
          <a:lstStyle/>
          <a:p>
            <a:pPr algn="l"/>
            <a:r>
              <a:rPr sz="1100" b="0">
                <a:solidFill>
                  <a:srgbClr val="2E2E2E"/>
                </a:solidFill>
                <a:latin typeface="Calibri"/>
              </a:rPr>
              <a:t>PET-Based</a:t>
            </a:r>
          </a:p>
        </p:txBody>
      </p:sp>
      <p:sp>
        <p:nvSpPr>
          <p:cNvPr id="65" name="Rectangle 64"/>
          <p:cNvSpPr/>
          <p:nvPr/>
        </p:nvSpPr>
        <p:spPr>
          <a:xfrm>
            <a:off x="1857375" y="4959061"/>
            <a:ext cx="643890" cy="179243"/>
          </a:xfrm>
          <a:prstGeom prst="rect">
            <a:avLst/>
          </a:prstGeom>
          <a:solidFill>
            <a:srgbClr val="AFCD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2501265" y="4959061"/>
            <a:ext cx="643890" cy="179243"/>
          </a:xfrm>
          <a:prstGeom prst="rect">
            <a:avLst/>
          </a:prstGeom>
          <a:solidFill>
            <a:srgbClr val="AACA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3145155" y="4959061"/>
            <a:ext cx="643890" cy="179243"/>
          </a:xfrm>
          <a:prstGeom prst="rect">
            <a:avLst/>
          </a:prstGeom>
          <a:solidFill>
            <a:srgbClr val="9FC4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3789045" y="4959061"/>
            <a:ext cx="643890" cy="179243"/>
          </a:xfrm>
          <a:prstGeom prst="rect">
            <a:avLst/>
          </a:prstGeom>
          <a:solidFill>
            <a:srgbClr val="96BF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4432935" y="4959061"/>
            <a:ext cx="643890" cy="179243"/>
          </a:xfrm>
          <a:prstGeom prst="rect">
            <a:avLst/>
          </a:prstGeom>
          <a:solidFill>
            <a:srgbClr val="5FA1C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076825" y="4959061"/>
            <a:ext cx="643890" cy="179243"/>
          </a:xfrm>
          <a:prstGeom prst="rect">
            <a:avLst/>
          </a:prstGeom>
          <a:solidFill>
            <a:srgbClr val="4A96C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5720715" y="4959061"/>
            <a:ext cx="643890" cy="179243"/>
          </a:xfrm>
          <a:prstGeom prst="rect">
            <a:avLst/>
          </a:prstGeom>
          <a:solidFill>
            <a:srgbClr val="3A8D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364605" y="4959061"/>
            <a:ext cx="643890" cy="179243"/>
          </a:xfrm>
          <a:prstGeom prst="rect">
            <a:avLst/>
          </a:prstGeom>
          <a:solidFill>
            <a:srgbClr val="3086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7008495" y="4959061"/>
            <a:ext cx="643890" cy="179243"/>
          </a:xfrm>
          <a:prstGeom prst="rect">
            <a:avLst/>
          </a:prstGeom>
          <a:solidFill>
            <a:srgbClr val="247F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7652385" y="4959061"/>
            <a:ext cx="643890" cy="179243"/>
          </a:xfrm>
          <a:prstGeom prst="rect">
            <a:avLst/>
          </a:prstGeom>
          <a:solidFill>
            <a:srgbClr val="1979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8296275" y="4959061"/>
            <a:ext cx="643890" cy="179243"/>
          </a:xfrm>
          <a:prstGeom prst="rect">
            <a:avLst/>
          </a:prstGeom>
          <a:solidFill>
            <a:srgbClr val="0F73A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940165" y="4959061"/>
            <a:ext cx="643890" cy="179243"/>
          </a:xfrm>
          <a:prstGeom prst="rect">
            <a:avLst/>
          </a:prstGeom>
          <a:solidFill>
            <a:srgbClr val="0E6EA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9584055" y="4959061"/>
            <a:ext cx="643890" cy="179243"/>
          </a:xfrm>
          <a:prstGeom prst="rect">
            <a:avLst/>
          </a:prstGeom>
          <a:solidFill>
            <a:srgbClr val="0E6DA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0227945" y="4959061"/>
            <a:ext cx="643890" cy="179243"/>
          </a:xfrm>
          <a:prstGeom prst="rect">
            <a:avLst/>
          </a:prstGeom>
          <a:solidFill>
            <a:srgbClr val="0F73A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0871835" y="4959061"/>
            <a:ext cx="643890" cy="179243"/>
          </a:xfrm>
          <a:prstGeom prst="rect">
            <a:avLst/>
          </a:prstGeom>
          <a:solidFill>
            <a:srgbClr val="1375B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38125" y="5138305"/>
            <a:ext cx="1590675" cy="179243"/>
          </a:xfrm>
          <a:prstGeom prst="rect">
            <a:avLst/>
          </a:prstGeom>
          <a:noFill/>
        </p:spPr>
        <p:txBody>
          <a:bodyPr wrap="square" lIns="28575" rIns="28575" tIns="9525" bIns="9525" anchor="ctr">
            <a:spAutoFit/>
          </a:bodyPr>
          <a:lstStyle/>
          <a:p>
            <a:pPr algn="l"/>
            <a:r>
              <a:rPr sz="1100" b="0">
                <a:solidFill>
                  <a:srgbClr val="2E2E2E"/>
                </a:solidFill>
                <a:latin typeface="Calibri"/>
              </a:rPr>
              <a:t>PA-Based</a:t>
            </a:r>
          </a:p>
        </p:txBody>
      </p:sp>
      <p:sp>
        <p:nvSpPr>
          <p:cNvPr id="81" name="Rectangle 80"/>
          <p:cNvSpPr/>
          <p:nvPr/>
        </p:nvSpPr>
        <p:spPr>
          <a:xfrm>
            <a:off x="1857375" y="5138305"/>
            <a:ext cx="643890" cy="179243"/>
          </a:xfrm>
          <a:prstGeom prst="rect">
            <a:avLst/>
          </a:prstGeom>
          <a:solidFill>
            <a:srgbClr val="EDF7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2501265" y="5138305"/>
            <a:ext cx="643890" cy="179243"/>
          </a:xfrm>
          <a:prstGeom prst="rect">
            <a:avLst/>
          </a:prstGeom>
          <a:solidFill>
            <a:srgbClr val="E9F5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3145155" y="5138305"/>
            <a:ext cx="643890" cy="179243"/>
          </a:xfrm>
          <a:prstGeom prst="rect">
            <a:avLst/>
          </a:prstGeom>
          <a:solidFill>
            <a:srgbClr val="E1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789045" y="5138305"/>
            <a:ext cx="643890" cy="179243"/>
          </a:xfrm>
          <a:prstGeom prst="rect">
            <a:avLst/>
          </a:prstGeom>
          <a:solidFill>
            <a:srgbClr val="DBEA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4432935" y="5138305"/>
            <a:ext cx="643890" cy="179243"/>
          </a:xfrm>
          <a:prstGeom prst="rect">
            <a:avLst/>
          </a:prstGeom>
          <a:solidFill>
            <a:srgbClr val="B6D1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5076825" y="5138305"/>
            <a:ext cx="643890" cy="179243"/>
          </a:xfrm>
          <a:prstGeom prst="rect">
            <a:avLst/>
          </a:prstGeom>
          <a:solidFill>
            <a:srgbClr val="9EC3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5720715" y="5138305"/>
            <a:ext cx="643890" cy="179243"/>
          </a:xfrm>
          <a:prstGeom prst="rect">
            <a:avLst/>
          </a:prstGeom>
          <a:solidFill>
            <a:srgbClr val="81B3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6364605" y="5138305"/>
            <a:ext cx="643890" cy="179243"/>
          </a:xfrm>
          <a:prstGeom prst="rect">
            <a:avLst/>
          </a:prstGeom>
          <a:solidFill>
            <a:srgbClr val="5EA1C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7008495" y="5138305"/>
            <a:ext cx="643890" cy="179243"/>
          </a:xfrm>
          <a:prstGeom prst="rect">
            <a:avLst/>
          </a:prstGeom>
          <a:solidFill>
            <a:srgbClr val="3A8D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7652385" y="5138305"/>
            <a:ext cx="643890" cy="179243"/>
          </a:xfrm>
          <a:prstGeom prst="rect">
            <a:avLst/>
          </a:prstGeom>
          <a:solidFill>
            <a:srgbClr val="237F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8296275" y="5138305"/>
            <a:ext cx="643890" cy="179243"/>
          </a:xfrm>
          <a:prstGeom prst="rect">
            <a:avLst/>
          </a:prstGeom>
          <a:solidFill>
            <a:srgbClr val="1375B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8940165" y="5138305"/>
            <a:ext cx="643890" cy="179243"/>
          </a:xfrm>
          <a:prstGeom prst="rect">
            <a:avLst/>
          </a:prstGeom>
          <a:solidFill>
            <a:srgbClr val="0E70A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9584055" y="5138305"/>
            <a:ext cx="643890" cy="179243"/>
          </a:xfrm>
          <a:prstGeom prst="rect">
            <a:avLst/>
          </a:prstGeom>
          <a:solidFill>
            <a:srgbClr val="0E6EA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10227945" y="5138305"/>
            <a:ext cx="643890" cy="179243"/>
          </a:xfrm>
          <a:prstGeom prst="rect">
            <a:avLst/>
          </a:prstGeom>
          <a:solidFill>
            <a:srgbClr val="1073A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0871835" y="5138305"/>
            <a:ext cx="643890" cy="179243"/>
          </a:xfrm>
          <a:prstGeom prst="rect">
            <a:avLst/>
          </a:prstGeom>
          <a:solidFill>
            <a:srgbClr val="1677B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238125" y="5317548"/>
            <a:ext cx="1590675" cy="179243"/>
          </a:xfrm>
          <a:prstGeom prst="rect">
            <a:avLst/>
          </a:prstGeom>
          <a:noFill/>
        </p:spPr>
        <p:txBody>
          <a:bodyPr wrap="square" lIns="28575" rIns="28575" tIns="9525" bIns="9525" anchor="ctr">
            <a:spAutoFit/>
          </a:bodyPr>
          <a:lstStyle/>
          <a:p>
            <a:pPr algn="l"/>
            <a:r>
              <a:rPr sz="1100" b="0">
                <a:solidFill>
                  <a:srgbClr val="2E2E2E"/>
                </a:solidFill>
                <a:latin typeface="Calibri"/>
              </a:rPr>
              <a:t>EVOH-Based</a:t>
            </a:r>
          </a:p>
        </p:txBody>
      </p:sp>
      <p:sp>
        <p:nvSpPr>
          <p:cNvPr id="97" name="Rectangle 96"/>
          <p:cNvSpPr/>
          <p:nvPr/>
        </p:nvSpPr>
        <p:spPr>
          <a:xfrm>
            <a:off x="1857375" y="5317548"/>
            <a:ext cx="643890" cy="179243"/>
          </a:xfrm>
          <a:prstGeom prst="rect">
            <a:avLst/>
          </a:prstGeom>
          <a:solidFill>
            <a:srgbClr val="C1D7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2501265" y="5317548"/>
            <a:ext cx="643890" cy="179243"/>
          </a:xfrm>
          <a:prstGeom prst="rect">
            <a:avLst/>
          </a:prstGeom>
          <a:solidFill>
            <a:srgbClr val="BAD3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3145155" y="5317548"/>
            <a:ext cx="643890" cy="179243"/>
          </a:xfrm>
          <a:prstGeom prst="rect">
            <a:avLst/>
          </a:prstGeom>
          <a:solidFill>
            <a:srgbClr val="AECD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3789045" y="5317548"/>
            <a:ext cx="643890" cy="179243"/>
          </a:xfrm>
          <a:prstGeom prst="rect">
            <a:avLst/>
          </a:prstGeom>
          <a:solidFill>
            <a:srgbClr val="AACB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4432935" y="5317548"/>
            <a:ext cx="643890" cy="179243"/>
          </a:xfrm>
          <a:prstGeom prst="rect">
            <a:avLst/>
          </a:prstGeom>
          <a:solidFill>
            <a:srgbClr val="82B4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5076825" y="5317548"/>
            <a:ext cx="643890" cy="179243"/>
          </a:xfrm>
          <a:prstGeom prst="rect">
            <a:avLst/>
          </a:prstGeom>
          <a:solidFill>
            <a:srgbClr val="74ACD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5720715" y="5317548"/>
            <a:ext cx="643890" cy="179243"/>
          </a:xfrm>
          <a:prstGeom prst="rect">
            <a:avLst/>
          </a:prstGeom>
          <a:solidFill>
            <a:srgbClr val="589DC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6364605" y="5317548"/>
            <a:ext cx="643890" cy="179243"/>
          </a:xfrm>
          <a:prstGeom prst="rect">
            <a:avLst/>
          </a:prstGeom>
          <a:solidFill>
            <a:srgbClr val="398C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7008495" y="5317548"/>
            <a:ext cx="643890" cy="179243"/>
          </a:xfrm>
          <a:prstGeom prst="rect">
            <a:avLst/>
          </a:prstGeom>
          <a:solidFill>
            <a:srgbClr val="1F7CB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7652385" y="5317548"/>
            <a:ext cx="643890" cy="179243"/>
          </a:xfrm>
          <a:prstGeom prst="rect">
            <a:avLst/>
          </a:prstGeom>
          <a:solidFill>
            <a:srgbClr val="0E6DA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8296275" y="5317548"/>
            <a:ext cx="643890" cy="179243"/>
          </a:xfrm>
          <a:prstGeom prst="rect">
            <a:avLst/>
          </a:prstGeom>
          <a:solidFill>
            <a:srgbClr val="0D588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8940165" y="5317548"/>
            <a:ext cx="643890" cy="179243"/>
          </a:xfrm>
          <a:prstGeom prst="rect">
            <a:avLst/>
          </a:prstGeom>
          <a:solidFill>
            <a:srgbClr val="0C4F7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9584055" y="5317548"/>
            <a:ext cx="643890" cy="179243"/>
          </a:xfrm>
          <a:prstGeom prst="rect">
            <a:avLst/>
          </a:prstGeom>
          <a:solidFill>
            <a:srgbClr val="0C4F7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10227945" y="5317548"/>
            <a:ext cx="643890" cy="179243"/>
          </a:xfrm>
          <a:prstGeom prst="rect">
            <a:avLst/>
          </a:prstGeom>
          <a:solidFill>
            <a:srgbClr val="0D578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0871835" y="5317548"/>
            <a:ext cx="643890" cy="179243"/>
          </a:xfrm>
          <a:prstGeom prst="rect">
            <a:avLst/>
          </a:prstGeom>
          <a:solidFill>
            <a:srgbClr val="0D619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238125" y="5496791"/>
            <a:ext cx="1590675" cy="179243"/>
          </a:xfrm>
          <a:prstGeom prst="rect">
            <a:avLst/>
          </a:prstGeom>
          <a:noFill/>
        </p:spPr>
        <p:txBody>
          <a:bodyPr wrap="square" lIns="28575" rIns="28575" tIns="9525" bIns="9525" anchor="ctr">
            <a:spAutoFit/>
          </a:bodyPr>
          <a:lstStyle/>
          <a:p>
            <a:pPr algn="l"/>
            <a:r>
              <a:rPr sz="1100" b="0">
                <a:solidFill>
                  <a:srgbClr val="2E2E2E"/>
                </a:solidFill>
                <a:latin typeface="Calibri"/>
              </a:rPr>
              <a:t>PVDC-Based</a:t>
            </a:r>
          </a:p>
        </p:txBody>
      </p:sp>
      <p:sp>
        <p:nvSpPr>
          <p:cNvPr id="113" name="Rectangle 112"/>
          <p:cNvSpPr/>
          <p:nvPr/>
        </p:nvSpPr>
        <p:spPr>
          <a:xfrm>
            <a:off x="1857375" y="5496791"/>
            <a:ext cx="643890" cy="179243"/>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2501265" y="5496791"/>
            <a:ext cx="643890" cy="179243"/>
          </a:xfrm>
          <a:prstGeom prst="rect">
            <a:avLst/>
          </a:prstGeom>
          <a:solidFill>
            <a:srgbClr val="FB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3145155" y="5496791"/>
            <a:ext cx="643890" cy="179243"/>
          </a:xfrm>
          <a:prstGeom prst="rect">
            <a:avLst/>
          </a:prstGeom>
          <a:solidFill>
            <a:srgbClr val="F5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3789045" y="5496791"/>
            <a:ext cx="643890" cy="179243"/>
          </a:xfrm>
          <a:prstGeom prst="rect">
            <a:avLst/>
          </a:prstGeom>
          <a:solidFill>
            <a:srgbClr val="EF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4432935" y="5496791"/>
            <a:ext cx="643890" cy="179243"/>
          </a:xfrm>
          <a:prstGeom prst="rect">
            <a:avLst/>
          </a:prstGeom>
          <a:solidFill>
            <a:srgbClr val="D4E5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5076825" y="5496791"/>
            <a:ext cx="643890" cy="179243"/>
          </a:xfrm>
          <a:prstGeom prst="rect">
            <a:avLst/>
          </a:prstGeom>
          <a:solidFill>
            <a:srgbClr val="C3D8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5720715" y="5496791"/>
            <a:ext cx="643890" cy="179243"/>
          </a:xfrm>
          <a:prstGeom prst="rect">
            <a:avLst/>
          </a:prstGeom>
          <a:solidFill>
            <a:srgbClr val="ACCC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6364605" y="5496791"/>
            <a:ext cx="643890" cy="179243"/>
          </a:xfrm>
          <a:prstGeom prst="rect">
            <a:avLst/>
          </a:prstGeom>
          <a:solidFill>
            <a:srgbClr val="96BF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7008495" y="5496791"/>
            <a:ext cx="643890" cy="179243"/>
          </a:xfrm>
          <a:prstGeom prst="rect">
            <a:avLst/>
          </a:prstGeom>
          <a:solidFill>
            <a:srgbClr val="74ACD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7652385" y="5496791"/>
            <a:ext cx="643890" cy="179243"/>
          </a:xfrm>
          <a:prstGeom prst="rect">
            <a:avLst/>
          </a:prstGeom>
          <a:solidFill>
            <a:srgbClr val="5099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8296275" y="5496791"/>
            <a:ext cx="643890" cy="179243"/>
          </a:xfrm>
          <a:prstGeom prst="rect">
            <a:avLst/>
          </a:prstGeom>
          <a:solidFill>
            <a:srgbClr val="368AC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8940165" y="5496791"/>
            <a:ext cx="643890" cy="179243"/>
          </a:xfrm>
          <a:prstGeom prst="rect">
            <a:avLst/>
          </a:prstGeom>
          <a:solidFill>
            <a:srgbClr val="2C84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9584055" y="5496791"/>
            <a:ext cx="643890" cy="179243"/>
          </a:xfrm>
          <a:prstGeom prst="rect">
            <a:avLst/>
          </a:prstGeom>
          <a:solidFill>
            <a:srgbClr val="2A83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10227945" y="5496791"/>
            <a:ext cx="643890" cy="179243"/>
          </a:xfrm>
          <a:prstGeom prst="rect">
            <a:avLst/>
          </a:prstGeom>
          <a:solidFill>
            <a:srgbClr val="2D85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10871835" y="5496791"/>
            <a:ext cx="643890" cy="179243"/>
          </a:xfrm>
          <a:prstGeom prst="rect">
            <a:avLst/>
          </a:prstGeom>
          <a:solidFill>
            <a:srgbClr val="3287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238125" y="5676034"/>
            <a:ext cx="1590675" cy="179243"/>
          </a:xfrm>
          <a:prstGeom prst="rect">
            <a:avLst/>
          </a:prstGeom>
          <a:noFill/>
        </p:spPr>
        <p:txBody>
          <a:bodyPr wrap="square" lIns="28575" rIns="28575" tIns="9525" bIns="9525" anchor="ctr">
            <a:spAutoFit/>
          </a:bodyPr>
          <a:lstStyle/>
          <a:p>
            <a:pPr algn="l"/>
            <a:r>
              <a:rPr sz="1100" b="0">
                <a:solidFill>
                  <a:srgbClr val="2E2E2E"/>
                </a:solidFill>
                <a:latin typeface="Calibri"/>
              </a:rPr>
              <a:t>PVOH-Based</a:t>
            </a:r>
          </a:p>
        </p:txBody>
      </p:sp>
      <p:sp>
        <p:nvSpPr>
          <p:cNvPr id="129" name="Rectangle 128"/>
          <p:cNvSpPr/>
          <p:nvPr/>
        </p:nvSpPr>
        <p:spPr>
          <a:xfrm>
            <a:off x="1857375" y="5676034"/>
            <a:ext cx="643890" cy="179243"/>
          </a:xfrm>
          <a:prstGeom prst="rect">
            <a:avLst/>
          </a:prstGeom>
          <a:solidFill>
            <a:srgbClr val="D4E4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2501265" y="5676034"/>
            <a:ext cx="643890" cy="179243"/>
          </a:xfrm>
          <a:prstGeom prst="rect">
            <a:avLst/>
          </a:prstGeom>
          <a:solidFill>
            <a:srgbClr val="D3E4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3145155" y="5676034"/>
            <a:ext cx="643890" cy="179243"/>
          </a:xfrm>
          <a:prstGeom prst="rect">
            <a:avLst/>
          </a:prstGeom>
          <a:solidFill>
            <a:srgbClr val="CE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3789045" y="5676034"/>
            <a:ext cx="643890" cy="179243"/>
          </a:xfrm>
          <a:prstGeom prst="rect">
            <a:avLst/>
          </a:prstGeom>
          <a:solidFill>
            <a:srgbClr val="C7DA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4432935" y="5676034"/>
            <a:ext cx="643890" cy="179243"/>
          </a:xfrm>
          <a:prstGeom prst="rect">
            <a:avLst/>
          </a:prstGeom>
          <a:solidFill>
            <a:srgbClr val="97BF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5076825" y="5676034"/>
            <a:ext cx="643890" cy="179243"/>
          </a:xfrm>
          <a:prstGeom prst="rect">
            <a:avLst/>
          </a:prstGeom>
          <a:solidFill>
            <a:srgbClr val="72ABD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5720715" y="5676034"/>
            <a:ext cx="643890" cy="179243"/>
          </a:xfrm>
          <a:prstGeom prst="rect">
            <a:avLst/>
          </a:prstGeom>
          <a:solidFill>
            <a:srgbClr val="4A96C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6364605" y="5676034"/>
            <a:ext cx="643890" cy="179243"/>
          </a:xfrm>
          <a:prstGeom prst="rect">
            <a:avLst/>
          </a:prstGeom>
          <a:solidFill>
            <a:srgbClr val="2F86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7008495" y="5676034"/>
            <a:ext cx="643890" cy="179243"/>
          </a:xfrm>
          <a:prstGeom prst="rect">
            <a:avLst/>
          </a:prstGeom>
          <a:solidFill>
            <a:srgbClr val="1C7A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7652385" y="5676034"/>
            <a:ext cx="643890" cy="179243"/>
          </a:xfrm>
          <a:prstGeom prst="rect">
            <a:avLst/>
          </a:prstGeom>
          <a:solidFill>
            <a:srgbClr val="0E71A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8296275" y="5676034"/>
            <a:ext cx="643890" cy="179243"/>
          </a:xfrm>
          <a:prstGeom prst="rect">
            <a:avLst/>
          </a:prstGeom>
          <a:solidFill>
            <a:srgbClr val="0D5C8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8940165" y="5676034"/>
            <a:ext cx="643890" cy="179243"/>
          </a:xfrm>
          <a:prstGeom prst="rect">
            <a:avLst/>
          </a:prstGeom>
          <a:solidFill>
            <a:srgbClr val="0C4D7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9584055" y="5676034"/>
            <a:ext cx="643890" cy="179243"/>
          </a:xfrm>
          <a:prstGeom prst="rect">
            <a:avLst/>
          </a:prstGeom>
          <a:solidFill>
            <a:srgbClr val="0C497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10227945" y="5676034"/>
            <a:ext cx="643890" cy="179243"/>
          </a:xfrm>
          <a:prstGeom prst="rect">
            <a:avLst/>
          </a:prstGeom>
          <a:solidFill>
            <a:srgbClr val="0C4E7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10871835" y="5676034"/>
            <a:ext cx="643890" cy="179243"/>
          </a:xfrm>
          <a:prstGeom prst="rect">
            <a:avLst/>
          </a:prstGeom>
          <a:solidFill>
            <a:srgbClr val="0D568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238125" y="5855277"/>
            <a:ext cx="1590675" cy="179243"/>
          </a:xfrm>
          <a:prstGeom prst="rect">
            <a:avLst/>
          </a:prstGeom>
          <a:noFill/>
        </p:spPr>
        <p:txBody>
          <a:bodyPr wrap="square" lIns="28575" rIns="28575" tIns="9525" bIns="9525" anchor="ctr">
            <a:spAutoFit/>
          </a:bodyPr>
          <a:lstStyle/>
          <a:p>
            <a:pPr algn="l"/>
            <a:r>
              <a:rPr sz="1100" b="0">
                <a:solidFill>
                  <a:srgbClr val="2E2E2E"/>
                </a:solidFill>
                <a:latin typeface="Calibri"/>
              </a:rPr>
              <a:t>Metallized Barrier</a:t>
            </a:r>
          </a:p>
        </p:txBody>
      </p:sp>
      <p:sp>
        <p:nvSpPr>
          <p:cNvPr id="145" name="Rectangle 144"/>
          <p:cNvSpPr/>
          <p:nvPr/>
        </p:nvSpPr>
        <p:spPr>
          <a:xfrm>
            <a:off x="1857375" y="5855277"/>
            <a:ext cx="643890" cy="179243"/>
          </a:xfrm>
          <a:prstGeom prst="rect">
            <a:avLst/>
          </a:prstGeom>
          <a:solidFill>
            <a:srgbClr val="EB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2501265" y="5855277"/>
            <a:ext cx="643890" cy="179243"/>
          </a:xfrm>
          <a:prstGeom prst="rect">
            <a:avLst/>
          </a:prstGeom>
          <a:solidFill>
            <a:srgbClr val="E3F1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3145155" y="5855277"/>
            <a:ext cx="643890" cy="179243"/>
          </a:xfrm>
          <a:prstGeom prst="rect">
            <a:avLst/>
          </a:prstGeom>
          <a:solidFill>
            <a:srgbClr val="D9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3789045" y="5855277"/>
            <a:ext cx="643890" cy="179243"/>
          </a:xfrm>
          <a:prstGeom prst="rect">
            <a:avLst/>
          </a:prstGeom>
          <a:solidFill>
            <a:srgbClr val="D1E2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4432935" y="5855277"/>
            <a:ext cx="643890" cy="179243"/>
          </a:xfrm>
          <a:prstGeom prst="rect">
            <a:avLst/>
          </a:prstGeom>
          <a:solidFill>
            <a:srgbClr val="A9CA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5076825" y="5855277"/>
            <a:ext cx="643890" cy="179243"/>
          </a:xfrm>
          <a:prstGeom prst="rect">
            <a:avLst/>
          </a:prstGeom>
          <a:solidFill>
            <a:srgbClr val="97C0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5720715" y="5855277"/>
            <a:ext cx="643890" cy="179243"/>
          </a:xfrm>
          <a:prstGeom prst="rect">
            <a:avLst/>
          </a:prstGeom>
          <a:solidFill>
            <a:srgbClr val="7DB1D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6364605" y="5855277"/>
            <a:ext cx="643890" cy="179243"/>
          </a:xfrm>
          <a:prstGeom prst="rect">
            <a:avLst/>
          </a:prstGeom>
          <a:solidFill>
            <a:srgbClr val="599EC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7008495" y="5855277"/>
            <a:ext cx="643890" cy="179243"/>
          </a:xfrm>
          <a:prstGeom prst="rect">
            <a:avLst/>
          </a:prstGeom>
          <a:solidFill>
            <a:srgbClr val="3388B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7652385" y="5855277"/>
            <a:ext cx="643890" cy="179243"/>
          </a:xfrm>
          <a:prstGeom prst="rect">
            <a:avLst/>
          </a:prstGeom>
          <a:solidFill>
            <a:srgbClr val="1B7A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ctangle 154"/>
          <p:cNvSpPr/>
          <p:nvPr/>
        </p:nvSpPr>
        <p:spPr>
          <a:xfrm>
            <a:off x="8296275" y="5855277"/>
            <a:ext cx="643890" cy="179243"/>
          </a:xfrm>
          <a:prstGeom prst="rect">
            <a:avLst/>
          </a:prstGeom>
          <a:solidFill>
            <a:srgbClr val="0E70A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8940165" y="5855277"/>
            <a:ext cx="643890" cy="179243"/>
          </a:xfrm>
          <a:prstGeom prst="rect">
            <a:avLst/>
          </a:prstGeom>
          <a:solidFill>
            <a:srgbClr val="0E6DA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9584055" y="5855277"/>
            <a:ext cx="643890" cy="179243"/>
          </a:xfrm>
          <a:prstGeom prst="rect">
            <a:avLst/>
          </a:prstGeom>
          <a:solidFill>
            <a:srgbClr val="0E6DA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10227945" y="5855277"/>
            <a:ext cx="643890" cy="179243"/>
          </a:xfrm>
          <a:prstGeom prst="rect">
            <a:avLst/>
          </a:prstGeom>
          <a:solidFill>
            <a:srgbClr val="1073A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10871835" y="5855277"/>
            <a:ext cx="643890" cy="179243"/>
          </a:xfrm>
          <a:prstGeom prst="rect">
            <a:avLst/>
          </a:prstGeom>
          <a:solidFill>
            <a:srgbClr val="1576B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238125" y="6034520"/>
            <a:ext cx="1590675" cy="179243"/>
          </a:xfrm>
          <a:prstGeom prst="rect">
            <a:avLst/>
          </a:prstGeom>
          <a:noFill/>
        </p:spPr>
        <p:txBody>
          <a:bodyPr wrap="square" lIns="28575" rIns="28575" tIns="9525" bIns="9525" anchor="ctr">
            <a:spAutoFit/>
          </a:bodyPr>
          <a:lstStyle/>
          <a:p>
            <a:pPr algn="l"/>
            <a:r>
              <a:rPr sz="1100" b="0">
                <a:solidFill>
                  <a:srgbClr val="2E2E2E"/>
                </a:solidFill>
                <a:latin typeface="Calibri"/>
              </a:rPr>
              <a:t>AlOx / SiOx-Coated</a:t>
            </a:r>
          </a:p>
        </p:txBody>
      </p:sp>
      <p:sp>
        <p:nvSpPr>
          <p:cNvPr id="161" name="Rectangle 160"/>
          <p:cNvSpPr/>
          <p:nvPr/>
        </p:nvSpPr>
        <p:spPr>
          <a:xfrm>
            <a:off x="1857375" y="6034520"/>
            <a:ext cx="643890" cy="179243"/>
          </a:xfrm>
          <a:prstGeom prst="rect">
            <a:avLst/>
          </a:prstGeom>
          <a:solidFill>
            <a:srgbClr val="D7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2501265" y="6034520"/>
            <a:ext cx="643890" cy="179243"/>
          </a:xfrm>
          <a:prstGeom prst="rect">
            <a:avLst/>
          </a:prstGeom>
          <a:solidFill>
            <a:srgbClr val="D4E4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3145155" y="6034520"/>
            <a:ext cx="643890" cy="179243"/>
          </a:xfrm>
          <a:prstGeom prst="rect">
            <a:avLst/>
          </a:prstGeom>
          <a:solidFill>
            <a:srgbClr val="CBDD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3789045" y="6034520"/>
            <a:ext cx="643890" cy="179243"/>
          </a:xfrm>
          <a:prstGeom prst="rect">
            <a:avLst/>
          </a:prstGeom>
          <a:solidFill>
            <a:srgbClr val="BED6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4432935" y="6034520"/>
            <a:ext cx="643890" cy="179243"/>
          </a:xfrm>
          <a:prstGeom prst="rect">
            <a:avLst/>
          </a:prstGeom>
          <a:solidFill>
            <a:srgbClr val="8CB9D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5076825" y="6034520"/>
            <a:ext cx="643890" cy="179243"/>
          </a:xfrm>
          <a:prstGeom prst="rect">
            <a:avLst/>
          </a:prstGeom>
          <a:solidFill>
            <a:srgbClr val="6CA8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5720715" y="6034520"/>
            <a:ext cx="643890" cy="179243"/>
          </a:xfrm>
          <a:prstGeom prst="rect">
            <a:avLst/>
          </a:prstGeom>
          <a:solidFill>
            <a:srgbClr val="4995C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6364605" y="6034520"/>
            <a:ext cx="643890" cy="179243"/>
          </a:xfrm>
          <a:prstGeom prst="rect">
            <a:avLst/>
          </a:prstGeom>
          <a:solidFill>
            <a:srgbClr val="2F86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7008495" y="6034520"/>
            <a:ext cx="643890" cy="179243"/>
          </a:xfrm>
          <a:prstGeom prst="rect">
            <a:avLst/>
          </a:prstGeom>
          <a:solidFill>
            <a:srgbClr val="1777B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7652385" y="6034520"/>
            <a:ext cx="643890" cy="179243"/>
          </a:xfrm>
          <a:prstGeom prst="rect">
            <a:avLst/>
          </a:prstGeom>
          <a:solidFill>
            <a:srgbClr val="0D649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ectangle 170"/>
          <p:cNvSpPr/>
          <p:nvPr/>
        </p:nvSpPr>
        <p:spPr>
          <a:xfrm>
            <a:off x="8296275" y="6034520"/>
            <a:ext cx="643890" cy="179243"/>
          </a:xfrm>
          <a:prstGeom prst="rect">
            <a:avLst/>
          </a:prstGeom>
          <a:solidFill>
            <a:srgbClr val="0D538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8940165" y="6034520"/>
            <a:ext cx="643890" cy="179243"/>
          </a:xfrm>
          <a:prstGeom prst="rect">
            <a:avLst/>
          </a:prstGeom>
          <a:solidFill>
            <a:srgbClr val="0C4C7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9584055" y="6034520"/>
            <a:ext cx="643890" cy="179243"/>
          </a:xfrm>
          <a:prstGeom prst="rect">
            <a:avLst/>
          </a:prstGeom>
          <a:solidFill>
            <a:srgbClr val="0C4C7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10227945" y="6034520"/>
            <a:ext cx="643890" cy="179243"/>
          </a:xfrm>
          <a:prstGeom prst="rect">
            <a:avLst/>
          </a:prstGeom>
          <a:solidFill>
            <a:srgbClr val="0D538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10871835" y="6034520"/>
            <a:ext cx="643890" cy="179243"/>
          </a:xfrm>
          <a:prstGeom prst="rect">
            <a:avLst/>
          </a:prstGeom>
          <a:solidFill>
            <a:srgbClr val="0D5B8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238125" y="6213764"/>
            <a:ext cx="1590675" cy="179243"/>
          </a:xfrm>
          <a:prstGeom prst="rect">
            <a:avLst/>
          </a:prstGeom>
          <a:noFill/>
        </p:spPr>
        <p:txBody>
          <a:bodyPr wrap="square" lIns="28575" rIns="28575" tIns="9525" bIns="9525" anchor="ctr">
            <a:spAutoFit/>
          </a:bodyPr>
          <a:lstStyle/>
          <a:p>
            <a:pPr algn="l"/>
            <a:r>
              <a:rPr sz="1100" b="0">
                <a:solidFill>
                  <a:srgbClr val="2E2E2E"/>
                </a:solidFill>
                <a:latin typeface="Calibri"/>
              </a:rPr>
              <a:t>Aluminum Foil-Based</a:t>
            </a:r>
          </a:p>
        </p:txBody>
      </p:sp>
      <p:sp>
        <p:nvSpPr>
          <p:cNvPr id="177" name="Rectangle 176"/>
          <p:cNvSpPr/>
          <p:nvPr/>
        </p:nvSpPr>
        <p:spPr>
          <a:xfrm>
            <a:off x="1857375" y="6213764"/>
            <a:ext cx="643890" cy="179243"/>
          </a:xfrm>
          <a:prstGeom prst="rect">
            <a:avLst/>
          </a:prstGeom>
          <a:solidFill>
            <a:srgbClr val="EB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ectangle 177"/>
          <p:cNvSpPr/>
          <p:nvPr/>
        </p:nvSpPr>
        <p:spPr>
          <a:xfrm>
            <a:off x="2501265" y="6213764"/>
            <a:ext cx="643890" cy="179243"/>
          </a:xfrm>
          <a:prstGeom prst="rect">
            <a:avLst/>
          </a:prstGeom>
          <a:solidFill>
            <a:srgbClr val="E7F3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Rectangle 178"/>
          <p:cNvSpPr/>
          <p:nvPr/>
        </p:nvSpPr>
        <p:spPr>
          <a:xfrm>
            <a:off x="3145155" y="6213764"/>
            <a:ext cx="643890" cy="179243"/>
          </a:xfrm>
          <a:prstGeom prst="rect">
            <a:avLst/>
          </a:prstGeom>
          <a:solidFill>
            <a:srgbClr val="E1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ectangle 179"/>
          <p:cNvSpPr/>
          <p:nvPr/>
        </p:nvSpPr>
        <p:spPr>
          <a:xfrm>
            <a:off x="3789045" y="6213764"/>
            <a:ext cx="643890" cy="179243"/>
          </a:xfrm>
          <a:prstGeom prst="rect">
            <a:avLst/>
          </a:prstGeom>
          <a:solidFill>
            <a:srgbClr val="DD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Rectangle 180"/>
          <p:cNvSpPr/>
          <p:nvPr/>
        </p:nvSpPr>
        <p:spPr>
          <a:xfrm>
            <a:off x="4432935" y="6213764"/>
            <a:ext cx="643890" cy="179243"/>
          </a:xfrm>
          <a:prstGeom prst="rect">
            <a:avLst/>
          </a:prstGeom>
          <a:solidFill>
            <a:srgbClr val="C0D7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tangle 181"/>
          <p:cNvSpPr/>
          <p:nvPr/>
        </p:nvSpPr>
        <p:spPr>
          <a:xfrm>
            <a:off x="5076825" y="6213764"/>
            <a:ext cx="643890" cy="179243"/>
          </a:xfrm>
          <a:prstGeom prst="rect">
            <a:avLst/>
          </a:prstGeom>
          <a:solidFill>
            <a:srgbClr val="ACCC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ectangle 182"/>
          <p:cNvSpPr/>
          <p:nvPr/>
        </p:nvSpPr>
        <p:spPr>
          <a:xfrm>
            <a:off x="5720715" y="6213764"/>
            <a:ext cx="643890" cy="179243"/>
          </a:xfrm>
          <a:prstGeom prst="rect">
            <a:avLst/>
          </a:prstGeom>
          <a:solidFill>
            <a:srgbClr val="97BF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6364605" y="6213764"/>
            <a:ext cx="643890" cy="179243"/>
          </a:xfrm>
          <a:prstGeom prst="rect">
            <a:avLst/>
          </a:prstGeom>
          <a:solidFill>
            <a:srgbClr val="7EB2D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7008495" y="6213764"/>
            <a:ext cx="643890" cy="179243"/>
          </a:xfrm>
          <a:prstGeom prst="rect">
            <a:avLst/>
          </a:prstGeom>
          <a:solidFill>
            <a:srgbClr val="65A4C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7652385" y="6213764"/>
            <a:ext cx="643890" cy="179243"/>
          </a:xfrm>
          <a:prstGeom prst="rect">
            <a:avLst/>
          </a:prstGeom>
          <a:solidFill>
            <a:srgbClr val="5199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Rectangle 186"/>
          <p:cNvSpPr/>
          <p:nvPr/>
        </p:nvSpPr>
        <p:spPr>
          <a:xfrm>
            <a:off x="8296275" y="6213764"/>
            <a:ext cx="643890" cy="179243"/>
          </a:xfrm>
          <a:prstGeom prst="rect">
            <a:avLst/>
          </a:prstGeom>
          <a:solidFill>
            <a:srgbClr val="4190C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Rectangle 187"/>
          <p:cNvSpPr/>
          <p:nvPr/>
        </p:nvSpPr>
        <p:spPr>
          <a:xfrm>
            <a:off x="8940165" y="6213764"/>
            <a:ext cx="643890" cy="179243"/>
          </a:xfrm>
          <a:prstGeom prst="rect">
            <a:avLst/>
          </a:prstGeom>
          <a:solidFill>
            <a:srgbClr val="388B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9584055" y="6213764"/>
            <a:ext cx="643890" cy="179243"/>
          </a:xfrm>
          <a:prstGeom prst="rect">
            <a:avLst/>
          </a:prstGeom>
          <a:solidFill>
            <a:srgbClr val="368AC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10227945" y="6213764"/>
            <a:ext cx="643890" cy="179243"/>
          </a:xfrm>
          <a:prstGeom prst="rect">
            <a:avLst/>
          </a:prstGeom>
          <a:solidFill>
            <a:srgbClr val="388C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10871835" y="6213764"/>
            <a:ext cx="643890" cy="179243"/>
          </a:xfrm>
          <a:prstGeom prst="rect">
            <a:avLst/>
          </a:prstGeom>
          <a:solidFill>
            <a:srgbClr val="3D8E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238125" y="6393007"/>
            <a:ext cx="1590675" cy="179243"/>
          </a:xfrm>
          <a:prstGeom prst="rect">
            <a:avLst/>
          </a:prstGeom>
          <a:noFill/>
        </p:spPr>
        <p:txBody>
          <a:bodyPr wrap="square" lIns="28575" rIns="28575" tIns="9525" bIns="9525" anchor="ctr">
            <a:spAutoFit/>
          </a:bodyPr>
          <a:lstStyle/>
          <a:p>
            <a:pPr algn="l"/>
            <a:r>
              <a:rPr sz="1100" b="0">
                <a:solidFill>
                  <a:srgbClr val="2E2E2E"/>
                </a:solidFill>
                <a:latin typeface="Calibri"/>
              </a:rPr>
              <a:t>Other Specialty Barrier Technologies</a:t>
            </a:r>
          </a:p>
        </p:txBody>
      </p:sp>
      <p:sp>
        <p:nvSpPr>
          <p:cNvPr id="193" name="Rectangle 192"/>
          <p:cNvSpPr/>
          <p:nvPr/>
        </p:nvSpPr>
        <p:spPr>
          <a:xfrm>
            <a:off x="1857375" y="6393007"/>
            <a:ext cx="643890" cy="179243"/>
          </a:xfrm>
          <a:prstGeom prst="rect">
            <a:avLst/>
          </a:prstGeom>
          <a:solidFill>
            <a:srgbClr val="83B5D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2501265" y="6393007"/>
            <a:ext cx="643890" cy="179243"/>
          </a:xfrm>
          <a:prstGeom prst="rect">
            <a:avLst/>
          </a:prstGeom>
          <a:solidFill>
            <a:srgbClr val="85B5D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Rectangle 194"/>
          <p:cNvSpPr/>
          <p:nvPr/>
        </p:nvSpPr>
        <p:spPr>
          <a:xfrm>
            <a:off x="3145155" y="6393007"/>
            <a:ext cx="643890" cy="179243"/>
          </a:xfrm>
          <a:prstGeom prst="rect">
            <a:avLst/>
          </a:prstGeom>
          <a:solidFill>
            <a:srgbClr val="75ADD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3789045" y="6393007"/>
            <a:ext cx="643890" cy="179243"/>
          </a:xfrm>
          <a:prstGeom prst="rect">
            <a:avLst/>
          </a:prstGeom>
          <a:solidFill>
            <a:srgbClr val="6EA9D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4432935" y="6393007"/>
            <a:ext cx="643890" cy="179243"/>
          </a:xfrm>
          <a:prstGeom prst="rect">
            <a:avLst/>
          </a:prstGeom>
          <a:solidFill>
            <a:srgbClr val="398C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ectangle 197"/>
          <p:cNvSpPr/>
          <p:nvPr/>
        </p:nvSpPr>
        <p:spPr>
          <a:xfrm>
            <a:off x="5076825" y="6393007"/>
            <a:ext cx="643890" cy="179243"/>
          </a:xfrm>
          <a:prstGeom prst="rect">
            <a:avLst/>
          </a:prstGeom>
          <a:solidFill>
            <a:srgbClr val="2F86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Rectangle 198"/>
          <p:cNvSpPr/>
          <p:nvPr/>
        </p:nvSpPr>
        <p:spPr>
          <a:xfrm>
            <a:off x="5720715" y="6393007"/>
            <a:ext cx="643890" cy="179243"/>
          </a:xfrm>
          <a:prstGeom prst="rect">
            <a:avLst/>
          </a:prstGeom>
          <a:solidFill>
            <a:srgbClr val="2480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6364605" y="6393007"/>
            <a:ext cx="643890" cy="179243"/>
          </a:xfrm>
          <a:prstGeom prst="rect">
            <a:avLst/>
          </a:prstGeom>
          <a:solidFill>
            <a:srgbClr val="1979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Rectangle 200"/>
          <p:cNvSpPr/>
          <p:nvPr/>
        </p:nvSpPr>
        <p:spPr>
          <a:xfrm>
            <a:off x="7008495" y="6393007"/>
            <a:ext cx="643890" cy="179243"/>
          </a:xfrm>
          <a:prstGeom prst="rect">
            <a:avLst/>
          </a:prstGeom>
          <a:solidFill>
            <a:srgbClr val="0D659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Rectangle 201"/>
          <p:cNvSpPr/>
          <p:nvPr/>
        </p:nvSpPr>
        <p:spPr>
          <a:xfrm>
            <a:off x="7652385" y="6393007"/>
            <a:ext cx="643890" cy="179243"/>
          </a:xfrm>
          <a:prstGeom prst="rect">
            <a:avLst/>
          </a:prstGeom>
          <a:solidFill>
            <a:srgbClr val="0C4C7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Rectangle 202"/>
          <p:cNvSpPr/>
          <p:nvPr/>
        </p:nvSpPr>
        <p:spPr>
          <a:xfrm>
            <a:off x="8296275" y="6393007"/>
            <a:ext cx="643890" cy="179243"/>
          </a:xfrm>
          <a:prstGeom prst="rect">
            <a:avLst/>
          </a:prstGeom>
          <a:solidFill>
            <a:srgbClr val="0B345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Rectangle 203"/>
          <p:cNvSpPr/>
          <p:nvPr/>
        </p:nvSpPr>
        <p:spPr>
          <a:xfrm>
            <a:off x="8940165" y="6393007"/>
            <a:ext cx="643890" cy="179243"/>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Rectangle 204"/>
          <p:cNvSpPr/>
          <p:nvPr/>
        </p:nvSpPr>
        <p:spPr>
          <a:xfrm>
            <a:off x="9584055" y="6393007"/>
            <a:ext cx="643890" cy="179243"/>
          </a:xfrm>
          <a:prstGeom prst="rect">
            <a:avLst/>
          </a:prstGeom>
          <a:solidFill>
            <a:srgbClr val="0B304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Rectangle 205"/>
          <p:cNvSpPr/>
          <p:nvPr/>
        </p:nvSpPr>
        <p:spPr>
          <a:xfrm>
            <a:off x="10227945" y="6393007"/>
            <a:ext cx="643890" cy="179243"/>
          </a:xfrm>
          <a:prstGeom prst="rect">
            <a:avLst/>
          </a:prstGeom>
          <a:solidFill>
            <a:srgbClr val="0B385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Rectangle 206"/>
          <p:cNvSpPr/>
          <p:nvPr/>
        </p:nvSpPr>
        <p:spPr>
          <a:xfrm>
            <a:off x="10871835" y="6393007"/>
            <a:ext cx="643890" cy="179243"/>
          </a:xfrm>
          <a:prstGeom prst="rect">
            <a:avLst/>
          </a:prstGeom>
          <a:solidFill>
            <a:srgbClr val="0C3F6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Rectangle 207"/>
          <p:cNvSpPr/>
          <p:nvPr/>
        </p:nvSpPr>
        <p:spPr>
          <a:xfrm>
            <a:off x="11572875" y="4638675"/>
            <a:ext cx="104775" cy="55007"/>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ectangle 208"/>
          <p:cNvSpPr/>
          <p:nvPr/>
        </p:nvSpPr>
        <p:spPr>
          <a:xfrm>
            <a:off x="11572875" y="4686062"/>
            <a:ext cx="104775" cy="55007"/>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11572875" y="4733449"/>
            <a:ext cx="104775" cy="55007"/>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Rectangle 210"/>
          <p:cNvSpPr/>
          <p:nvPr/>
        </p:nvSpPr>
        <p:spPr>
          <a:xfrm>
            <a:off x="11572875" y="4780836"/>
            <a:ext cx="104775" cy="55007"/>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Rectangle 211"/>
          <p:cNvSpPr/>
          <p:nvPr/>
        </p:nvSpPr>
        <p:spPr>
          <a:xfrm>
            <a:off x="11572875" y="4828222"/>
            <a:ext cx="104775" cy="55007"/>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Rectangle 212"/>
          <p:cNvSpPr/>
          <p:nvPr/>
        </p:nvSpPr>
        <p:spPr>
          <a:xfrm>
            <a:off x="11572875" y="4875609"/>
            <a:ext cx="104775" cy="55007"/>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11572875" y="4922996"/>
            <a:ext cx="104775" cy="55007"/>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Rectangle 214"/>
          <p:cNvSpPr/>
          <p:nvPr/>
        </p:nvSpPr>
        <p:spPr>
          <a:xfrm>
            <a:off x="11572875" y="4970383"/>
            <a:ext cx="104775" cy="55007"/>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Rectangle 215"/>
          <p:cNvSpPr/>
          <p:nvPr/>
        </p:nvSpPr>
        <p:spPr>
          <a:xfrm>
            <a:off x="11572875" y="5017770"/>
            <a:ext cx="104775" cy="55007"/>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Rectangle 216"/>
          <p:cNvSpPr/>
          <p:nvPr/>
        </p:nvSpPr>
        <p:spPr>
          <a:xfrm>
            <a:off x="11572875" y="5065157"/>
            <a:ext cx="104775" cy="55007"/>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Rectangle 217"/>
          <p:cNvSpPr/>
          <p:nvPr/>
        </p:nvSpPr>
        <p:spPr>
          <a:xfrm>
            <a:off x="11572875" y="5112544"/>
            <a:ext cx="104775" cy="55007"/>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Rectangle 218"/>
          <p:cNvSpPr/>
          <p:nvPr/>
        </p:nvSpPr>
        <p:spPr>
          <a:xfrm>
            <a:off x="11572875" y="5159931"/>
            <a:ext cx="104775" cy="55007"/>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Rectangle 219"/>
          <p:cNvSpPr/>
          <p:nvPr/>
        </p:nvSpPr>
        <p:spPr>
          <a:xfrm>
            <a:off x="11572875" y="5207318"/>
            <a:ext cx="104775" cy="55007"/>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ectangle 220"/>
          <p:cNvSpPr/>
          <p:nvPr/>
        </p:nvSpPr>
        <p:spPr>
          <a:xfrm>
            <a:off x="11572875" y="5254704"/>
            <a:ext cx="104775" cy="55007"/>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11572875" y="5302091"/>
            <a:ext cx="104775" cy="55007"/>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ectangle 222"/>
          <p:cNvSpPr/>
          <p:nvPr/>
        </p:nvSpPr>
        <p:spPr>
          <a:xfrm>
            <a:off x="11572875" y="5349478"/>
            <a:ext cx="104775" cy="55007"/>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Rectangle 223"/>
          <p:cNvSpPr/>
          <p:nvPr/>
        </p:nvSpPr>
        <p:spPr>
          <a:xfrm>
            <a:off x="11572875" y="5396865"/>
            <a:ext cx="104775" cy="55007"/>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Rectangle 224"/>
          <p:cNvSpPr/>
          <p:nvPr/>
        </p:nvSpPr>
        <p:spPr>
          <a:xfrm>
            <a:off x="11572875" y="5444252"/>
            <a:ext cx="104775" cy="55007"/>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Rectangle 225"/>
          <p:cNvSpPr/>
          <p:nvPr/>
        </p:nvSpPr>
        <p:spPr>
          <a:xfrm>
            <a:off x="11572875" y="5491639"/>
            <a:ext cx="104775" cy="55007"/>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Rectangle 226"/>
          <p:cNvSpPr/>
          <p:nvPr/>
        </p:nvSpPr>
        <p:spPr>
          <a:xfrm>
            <a:off x="11572875" y="5539026"/>
            <a:ext cx="104775" cy="55007"/>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Rectangle 227"/>
          <p:cNvSpPr/>
          <p:nvPr/>
        </p:nvSpPr>
        <p:spPr>
          <a:xfrm>
            <a:off x="11572875" y="5586412"/>
            <a:ext cx="104775" cy="55007"/>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angle 228"/>
          <p:cNvSpPr/>
          <p:nvPr/>
        </p:nvSpPr>
        <p:spPr>
          <a:xfrm>
            <a:off x="11572875" y="5633799"/>
            <a:ext cx="104775" cy="55007"/>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ectangle 229"/>
          <p:cNvSpPr/>
          <p:nvPr/>
        </p:nvSpPr>
        <p:spPr>
          <a:xfrm>
            <a:off x="11572875" y="5681186"/>
            <a:ext cx="104775" cy="55007"/>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11572875" y="5728573"/>
            <a:ext cx="104775" cy="55007"/>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11572875" y="5775960"/>
            <a:ext cx="104775" cy="55007"/>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11572875" y="5823347"/>
            <a:ext cx="104775" cy="55007"/>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11572875" y="5870734"/>
            <a:ext cx="104775" cy="55007"/>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Rectangle 234"/>
          <p:cNvSpPr/>
          <p:nvPr/>
        </p:nvSpPr>
        <p:spPr>
          <a:xfrm>
            <a:off x="11572875" y="5918121"/>
            <a:ext cx="104775" cy="55007"/>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Rectangle 235"/>
          <p:cNvSpPr/>
          <p:nvPr/>
        </p:nvSpPr>
        <p:spPr>
          <a:xfrm>
            <a:off x="11572875" y="5965508"/>
            <a:ext cx="104775" cy="55007"/>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Rectangle 236"/>
          <p:cNvSpPr/>
          <p:nvPr/>
        </p:nvSpPr>
        <p:spPr>
          <a:xfrm>
            <a:off x="11572875" y="6012894"/>
            <a:ext cx="104775" cy="55007"/>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Rectangle 237"/>
          <p:cNvSpPr/>
          <p:nvPr/>
        </p:nvSpPr>
        <p:spPr>
          <a:xfrm>
            <a:off x="11572875" y="6060281"/>
            <a:ext cx="104775" cy="55007"/>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Rectangle 238"/>
          <p:cNvSpPr/>
          <p:nvPr/>
        </p:nvSpPr>
        <p:spPr>
          <a:xfrm>
            <a:off x="11572875" y="6107668"/>
            <a:ext cx="104775" cy="55007"/>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Rectangle 239"/>
          <p:cNvSpPr/>
          <p:nvPr/>
        </p:nvSpPr>
        <p:spPr>
          <a:xfrm>
            <a:off x="11572875" y="6155055"/>
            <a:ext cx="104775" cy="55007"/>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11572875" y="6202442"/>
            <a:ext cx="104775" cy="55007"/>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11572875" y="6249829"/>
            <a:ext cx="104775" cy="55007"/>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p:cNvSpPr/>
          <p:nvPr/>
        </p:nvSpPr>
        <p:spPr>
          <a:xfrm>
            <a:off x="11572875" y="6297216"/>
            <a:ext cx="104775" cy="55007"/>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Rectangle 243"/>
          <p:cNvSpPr/>
          <p:nvPr/>
        </p:nvSpPr>
        <p:spPr>
          <a:xfrm>
            <a:off x="11572875" y="6344602"/>
            <a:ext cx="104775" cy="55007"/>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Rectangle 244"/>
          <p:cNvSpPr/>
          <p:nvPr/>
        </p:nvSpPr>
        <p:spPr>
          <a:xfrm>
            <a:off x="11572875" y="6391989"/>
            <a:ext cx="104775" cy="55007"/>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Rectangle 245"/>
          <p:cNvSpPr/>
          <p:nvPr/>
        </p:nvSpPr>
        <p:spPr>
          <a:xfrm>
            <a:off x="11572875" y="6439376"/>
            <a:ext cx="104775" cy="55007"/>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Rectangle 246"/>
          <p:cNvSpPr/>
          <p:nvPr/>
        </p:nvSpPr>
        <p:spPr>
          <a:xfrm>
            <a:off x="11572875" y="6486763"/>
            <a:ext cx="104775" cy="55007"/>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11572875" y="4638675"/>
            <a:ext cx="104775" cy="1895475"/>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TextBox 248"/>
          <p:cNvSpPr txBox="1"/>
          <p:nvPr/>
        </p:nvSpPr>
        <p:spPr>
          <a:xfrm>
            <a:off x="11687175" y="4572000"/>
            <a:ext cx="276225" cy="133350"/>
          </a:xfrm>
          <a:prstGeom prst="rect">
            <a:avLst/>
          </a:prstGeom>
          <a:noFill/>
        </p:spPr>
        <p:txBody>
          <a:bodyPr wrap="none" lIns="0" rIns="0" tIns="0" bIns="0" anchor="ctr">
            <a:spAutoFit/>
          </a:bodyPr>
          <a:lstStyle/>
          <a:p>
            <a:pPr algn="l"/>
            <a:r>
              <a:rPr sz="1100" b="0">
                <a:solidFill>
                  <a:srgbClr val="6C7A89"/>
                </a:solidFill>
                <a:latin typeface="Calibri"/>
              </a:rPr>
              <a:t>7%</a:t>
            </a:r>
          </a:p>
        </p:txBody>
      </p:sp>
      <p:sp>
        <p:nvSpPr>
          <p:cNvPr id="250" name="TextBox 249"/>
          <p:cNvSpPr txBox="1"/>
          <p:nvPr/>
        </p:nvSpPr>
        <p:spPr>
          <a:xfrm>
            <a:off x="11687175" y="5519738"/>
            <a:ext cx="276225" cy="133350"/>
          </a:xfrm>
          <a:prstGeom prst="rect">
            <a:avLst/>
          </a:prstGeom>
          <a:noFill/>
        </p:spPr>
        <p:txBody>
          <a:bodyPr wrap="none" lIns="0" rIns="0" tIns="0" bIns="0" anchor="ctr">
            <a:spAutoFit/>
          </a:bodyPr>
          <a:lstStyle/>
          <a:p>
            <a:pPr algn="l"/>
            <a:r>
              <a:rPr sz="1100" b="0">
                <a:solidFill>
                  <a:srgbClr val="6C7A89"/>
                </a:solidFill>
                <a:latin typeface="Calibri"/>
              </a:rPr>
              <a:t>5%</a:t>
            </a:r>
          </a:p>
        </p:txBody>
      </p:sp>
      <p:sp>
        <p:nvSpPr>
          <p:cNvPr id="251" name="TextBox 250"/>
          <p:cNvSpPr txBox="1"/>
          <p:nvPr/>
        </p:nvSpPr>
        <p:spPr>
          <a:xfrm>
            <a:off x="11687175" y="6467475"/>
            <a:ext cx="276225" cy="133350"/>
          </a:xfrm>
          <a:prstGeom prst="rect">
            <a:avLst/>
          </a:prstGeom>
          <a:noFill/>
        </p:spPr>
        <p:txBody>
          <a:bodyPr wrap="none" lIns="0" rIns="0" tIns="0" bIns="0" anchor="ctr">
            <a:spAutoFit/>
          </a:bodyPr>
          <a:lstStyle/>
          <a:p>
            <a:pPr algn="l"/>
            <a:r>
              <a:rPr sz="1100" b="0">
                <a:solidFill>
                  <a:srgbClr val="6C7A89"/>
                </a:solidFill>
                <a:latin typeface="Calibri"/>
              </a:rPr>
              <a:t>3%</a:t>
            </a:r>
          </a:p>
        </p:txBody>
      </p:sp>
      <p:sp>
        <p:nvSpPr>
          <p:cNvPr id="252" name="TextBox 25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Flexible Plastic Packaging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Material Structure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Material Structure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Volume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Material Structure Segment Outlook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7 sub-segments of Material Structure,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TextBox 10"/>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Material Structure segment categorizes the market by material structure. Each sub-category is evaluated on market size, growth outlook and adoption trends across the forecast period.</a:t>
            </a:r>
          </a:p>
        </p:txBody>
      </p:sp>
      <p:sp>
        <p:nvSpPr>
          <p:cNvPr id="12" name="Rectangle 11"/>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4" name="Rectangle 13"/>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6" name="Rectangle 15"/>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8" name="Rectangle 17"/>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20" name="Rounded Rectangle 19"/>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Coextruded Multilayer Films</a:t>
            </a:r>
          </a:p>
        </p:txBody>
      </p:sp>
      <p:sp>
        <p:nvSpPr>
          <p:cNvPr id="23" name="Rectangle 22"/>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37,122</a:t>
            </a:r>
          </a:p>
        </p:txBody>
      </p:sp>
      <p:sp>
        <p:nvSpPr>
          <p:cNvPr id="24" name="Rectangle 23"/>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69,250</a:t>
            </a:r>
          </a:p>
        </p:txBody>
      </p:sp>
      <p:sp>
        <p:nvSpPr>
          <p:cNvPr id="25" name="Rectangle 24"/>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6.4%</a:t>
            </a:r>
          </a:p>
        </p:txBody>
      </p:sp>
      <p:sp>
        <p:nvSpPr>
          <p:cNvPr id="26" name="Oval 25"/>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Laminated Films</a:t>
            </a:r>
          </a:p>
        </p:txBody>
      </p:sp>
      <p:sp>
        <p:nvSpPr>
          <p:cNvPr id="30" name="Rectangle 29"/>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32,426</a:t>
            </a:r>
          </a:p>
        </p:txBody>
      </p:sp>
      <p:sp>
        <p:nvSpPr>
          <p:cNvPr id="31" name="Rectangle 30"/>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60,648</a:t>
            </a:r>
          </a:p>
        </p:txBody>
      </p:sp>
      <p:sp>
        <p:nvSpPr>
          <p:cNvPr id="32" name="Rectangle 31"/>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6.5%</a:t>
            </a:r>
          </a:p>
        </p:txBody>
      </p:sp>
      <p:sp>
        <p:nvSpPr>
          <p:cNvPr id="33" name="Oval 32"/>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Monolayer Films</a:t>
            </a:r>
          </a:p>
        </p:txBody>
      </p:sp>
      <p:sp>
        <p:nvSpPr>
          <p:cNvPr id="37" name="Rectangle 36"/>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20,187</a:t>
            </a:r>
          </a:p>
        </p:txBody>
      </p:sp>
      <p:sp>
        <p:nvSpPr>
          <p:cNvPr id="38" name="Rectangle 37"/>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38,693</a:t>
            </a:r>
          </a:p>
        </p:txBody>
      </p:sp>
      <p:sp>
        <p:nvSpPr>
          <p:cNvPr id="39" name="Rectangle 38"/>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6.7%</a:t>
            </a:r>
          </a:p>
        </p:txBody>
      </p:sp>
      <p:sp>
        <p:nvSpPr>
          <p:cNvPr id="40" name="Oval 39"/>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1" name="Rounded Rectangle 40"/>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Mono-Material Recyclable Structur…</a:t>
            </a:r>
          </a:p>
        </p:txBody>
      </p:sp>
      <p:sp>
        <p:nvSpPr>
          <p:cNvPr id="44" name="Rectangle 43"/>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10,354</a:t>
            </a:r>
          </a:p>
        </p:txBody>
      </p:sp>
      <p:sp>
        <p:nvSpPr>
          <p:cNvPr id="45" name="Rectangle 44"/>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20,771</a:t>
            </a:r>
          </a:p>
        </p:txBody>
      </p:sp>
      <p:sp>
        <p:nvSpPr>
          <p:cNvPr id="46" name="Rectangle 45"/>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7.2%</a:t>
            </a:r>
          </a:p>
        </p:txBody>
      </p:sp>
      <p:sp>
        <p:nvSpPr>
          <p:cNvPr id="47" name="Oval 46"/>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8" name="Rounded Rectangle 47"/>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50" name="Rectangle 49"/>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72AE"/>
                </a:solidFill>
                <a:latin typeface="Calibri"/>
              </a:rPr>
              <a:t>▪  </a:t>
            </a:r>
            <a:r>
              <a:rPr sz="1100" b="0">
                <a:solidFill>
                  <a:srgbClr val="2E2E2E"/>
                </a:solidFill>
                <a:latin typeface="Calibri"/>
              </a:rPr>
              <a:t>¶ Among flexible plastic packaging by material structure, mono-material recyclable structures segment is expected to witness the highest CAGR of 7.2% over the forecast period. In terms of value share by material structure, the coextruded multilayer films segment is expected to dominate the market, losing 32 BPS and accounting for 28.8% share by 2036.</a:t>
            </a:r>
          </a:p>
          <a:p>
            <a:pPr algn="l">
              <a:lnSpc>
                <a:spcPct val="110000"/>
              </a:lnSpc>
              <a:spcBef>
                <a:spcPts val="0"/>
              </a:spcBef>
              <a:spcAft>
                <a:spcPts val="500"/>
              </a:spcAft>
            </a:pPr>
            <a:r>
              <a:rPr sz="1100" b="0">
                <a:solidFill>
                  <a:srgbClr val="0E72AE"/>
                </a:solidFill>
                <a:latin typeface="Calibri"/>
              </a:rPr>
              <a:t>▪  </a:t>
            </a:r>
            <a:r>
              <a:rPr sz="1100" b="0">
                <a:solidFill>
                  <a:srgbClr val="2E2E2E"/>
                </a:solidFill>
                <a:latin typeface="Calibri"/>
              </a:rPr>
              <a:t>¶ Coextruded multilayer films segment is projected to register 1.1X higher value than laminated films segment in 2036.</a:t>
            </a:r>
          </a:p>
        </p:txBody>
      </p:sp>
      <p:sp>
        <p:nvSpPr>
          <p:cNvPr id="52" name="Rounded Rectangle 51"/>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4" name="Rectangle 53"/>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t>
            </a:r>
            <a:r>
              <a:rPr sz="1100" b="1">
                <a:solidFill>
                  <a:srgbClr val="0B2E4A"/>
                </a:solidFill>
                <a:latin typeface="Calibri"/>
              </a:rPr>
              <a:t>Coextruded Multilayer Films: </a:t>
            </a:r>
            <a:r>
              <a:rPr sz="1100" b="0">
                <a:solidFill>
                  <a:srgbClr val="2E2E2E"/>
                </a:solidFill>
                <a:latin typeface="Calibri"/>
              </a:rPr>
              <a:t>29% of 2026 value · 6.4% CAGR leads the segment.</a:t>
            </a:r>
          </a:p>
          <a:p>
            <a:pPr algn="l">
              <a:lnSpc>
                <a:spcPct val="110000"/>
              </a:lnSpc>
              <a:spcBef>
                <a:spcPts val="0"/>
              </a:spcBef>
              <a:spcAft>
                <a:spcPts val="500"/>
              </a:spcAft>
            </a:pPr>
            <a:r>
              <a:rPr sz="1100" b="0">
                <a:solidFill>
                  <a:srgbClr val="0E72AE"/>
                </a:solidFill>
                <a:latin typeface="Calibri"/>
              </a:rPr>
              <a:t>●  </a:t>
            </a:r>
            <a:r>
              <a:rPr sz="1100" b="1">
                <a:solidFill>
                  <a:srgbClr val="0E72AE"/>
                </a:solidFill>
                <a:latin typeface="Calibri"/>
              </a:rPr>
              <a:t>Laminated Films: </a:t>
            </a:r>
            <a:r>
              <a:rPr sz="1100" b="0">
                <a:solidFill>
                  <a:srgbClr val="2E2E2E"/>
                </a:solidFill>
                <a:latin typeface="Calibri"/>
              </a:rPr>
              <a:t>25% of 2026 value · 6.5% CAGR serves a niche.</a:t>
            </a:r>
          </a:p>
          <a:p>
            <a:pPr algn="l">
              <a:lnSpc>
                <a:spcPct val="110000"/>
              </a:lnSpc>
              <a:spcBef>
                <a:spcPts val="0"/>
              </a:spcBef>
              <a:spcAft>
                <a:spcPts val="500"/>
              </a:spcAft>
            </a:pPr>
            <a:r>
              <a:rPr sz="1100" b="0">
                <a:solidFill>
                  <a:srgbClr val="008189"/>
                </a:solidFill>
                <a:latin typeface="Calibri"/>
              </a:rPr>
              <a:t>●  </a:t>
            </a:r>
            <a:r>
              <a:rPr sz="1100" b="1">
                <a:solidFill>
                  <a:srgbClr val="008189"/>
                </a:solidFill>
                <a:latin typeface="Calibri"/>
              </a:rPr>
              <a:t>Monolayer Films: </a:t>
            </a:r>
            <a:r>
              <a:rPr sz="1100" b="0">
                <a:solidFill>
                  <a:srgbClr val="2E2E2E"/>
                </a:solidFill>
                <a:latin typeface="Calibri"/>
              </a:rPr>
              <a:t>16% of 2026 value · 6.7% CAGR serves a niche.</a:t>
            </a:r>
          </a:p>
          <a:p>
            <a:pPr algn="l">
              <a:lnSpc>
                <a:spcPct val="110000"/>
              </a:lnSpc>
              <a:spcBef>
                <a:spcPts val="0"/>
              </a:spcBef>
              <a:spcAft>
                <a:spcPts val="500"/>
              </a:spcAft>
            </a:pPr>
            <a:r>
              <a:rPr sz="1100" b="0">
                <a:solidFill>
                  <a:srgbClr val="6F3CC2"/>
                </a:solidFill>
                <a:latin typeface="Calibri"/>
              </a:rPr>
              <a:t>●  </a:t>
            </a:r>
            <a:r>
              <a:rPr sz="1100" b="1">
                <a:solidFill>
                  <a:srgbClr val="6F3CC2"/>
                </a:solidFill>
                <a:latin typeface="Calibri"/>
              </a:rPr>
              <a:t>Mono-Material Recyclable Structures: </a:t>
            </a:r>
            <a:r>
              <a:rPr sz="1100" b="0">
                <a:solidFill>
                  <a:srgbClr val="2E2E2E"/>
                </a:solidFill>
                <a:latin typeface="Calibri"/>
              </a:rPr>
              <a:t>8% of 2026 value · 7.2% CAGR grows fastest.</a:t>
            </a:r>
          </a:p>
        </p:txBody>
      </p:sp>
      <p:sp>
        <p:nvSpPr>
          <p:cNvPr id="56" name="Rounded Rectangle 55"/>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8" name="Rectangle 57"/>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Material Structure split shows how demand is distributed across material structure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60" name="Rectangle 59"/>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The Material Structure segment is projected to grow at a CAGR of 6.6% from 2026 to 2036.</a:t>
            </a:r>
          </a:p>
        </p:txBody>
      </p:sp>
      <p:sp>
        <p:nvSpPr>
          <p:cNvPr id="62" name="TextBox 61"/>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3" name="TextBox 6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Material Structure Segment Outlook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7 sub-segments of Material Structure,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Material Structure segment categorizes the market by material structure.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3257550"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3257550"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Foil-Laminated Structures</a:t>
            </a:r>
          </a:p>
        </p:txBody>
      </p:sp>
      <p:sp>
        <p:nvSpPr>
          <p:cNvPr id="22" name="Rectangle 21"/>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9,712</a:t>
            </a:r>
          </a:p>
        </p:txBody>
      </p:sp>
      <p:sp>
        <p:nvSpPr>
          <p:cNvPr id="23" name="Rectangle 22"/>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18,363</a:t>
            </a:r>
          </a:p>
        </p:txBody>
      </p:sp>
      <p:sp>
        <p:nvSpPr>
          <p:cNvPr id="24" name="Rectangle 23"/>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6.6%</a:t>
            </a:r>
          </a:p>
        </p:txBody>
      </p:sp>
      <p:sp>
        <p:nvSpPr>
          <p:cNvPr id="25" name="Oval 24"/>
          <p:cNvSpPr/>
          <p:nvPr/>
        </p:nvSpPr>
        <p:spPr>
          <a:xfrm>
            <a:off x="3333750"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26" name="Rounded Rectangle 25"/>
          <p:cNvSpPr/>
          <p:nvPr/>
        </p:nvSpPr>
        <p:spPr>
          <a:xfrm>
            <a:off x="5238750" y="1773916"/>
            <a:ext cx="3257550"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238750" y="1992961"/>
            <a:ext cx="3257550"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Metallized Films</a:t>
            </a:r>
          </a:p>
        </p:txBody>
      </p:sp>
      <p:sp>
        <p:nvSpPr>
          <p:cNvPr id="29" name="Rectangle 28"/>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9,128</a:t>
            </a:r>
          </a:p>
        </p:txBody>
      </p:sp>
      <p:sp>
        <p:nvSpPr>
          <p:cNvPr id="30" name="Rectangle 29"/>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16,660</a:t>
            </a:r>
          </a:p>
        </p:txBody>
      </p:sp>
      <p:sp>
        <p:nvSpPr>
          <p:cNvPr id="31" name="Rectangle 30"/>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6.2%</a:t>
            </a:r>
          </a:p>
        </p:txBody>
      </p:sp>
      <p:sp>
        <p:nvSpPr>
          <p:cNvPr id="32" name="Oval 31"/>
          <p:cNvSpPr/>
          <p:nvPr/>
        </p:nvSpPr>
        <p:spPr>
          <a:xfrm>
            <a:off x="6705600"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33" name="Rounded Rectangle 32"/>
          <p:cNvSpPr/>
          <p:nvPr/>
        </p:nvSpPr>
        <p:spPr>
          <a:xfrm>
            <a:off x="8610600" y="1773916"/>
            <a:ext cx="3257550" cy="438089"/>
          </a:xfrm>
          <a:prstGeom prst="roundRect">
            <a:avLst>
              <a:gd name="adj" fmla="val 18000"/>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610600" y="1992961"/>
            <a:ext cx="3257550" cy="219044"/>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Coated Films</a:t>
            </a:r>
          </a:p>
        </p:txBody>
      </p:sp>
      <p:sp>
        <p:nvSpPr>
          <p:cNvPr id="36" name="Rectangle 35"/>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8,417</a:t>
            </a:r>
          </a:p>
        </p:txBody>
      </p:sp>
      <p:sp>
        <p:nvSpPr>
          <p:cNvPr id="37" name="Rectangle 36"/>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15,824</a:t>
            </a:r>
          </a:p>
        </p:txBody>
      </p:sp>
      <p:sp>
        <p:nvSpPr>
          <p:cNvPr id="38" name="Rectangle 37"/>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6.5%</a:t>
            </a:r>
          </a:p>
        </p:txBody>
      </p:sp>
      <p:sp>
        <p:nvSpPr>
          <p:cNvPr id="39" name="Oval 38"/>
          <p:cNvSpPr/>
          <p:nvPr/>
        </p:nvSpPr>
        <p:spPr>
          <a:xfrm>
            <a:off x="10077450" y="1445350"/>
            <a:ext cx="323850" cy="310313"/>
          </a:xfrm>
          <a:prstGeom prst="ellipse">
            <a:avLst/>
          </a:prstGeom>
          <a:solidFill>
            <a:srgbClr val="6C7A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7</a:t>
            </a:r>
          </a:p>
        </p:txBody>
      </p:sp>
      <p:sp>
        <p:nvSpPr>
          <p:cNvPr id="40" name="Rounded Rectangle 39"/>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2" name="Rectangle 41"/>
          <p:cNvSpPr/>
          <p:nvPr/>
        </p:nvSpPr>
        <p:spPr>
          <a:xfrm>
            <a:off x="457200" y="4146897"/>
            <a:ext cx="112776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A86F00"/>
                </a:solidFill>
                <a:latin typeface="Calibri"/>
              </a:rPr>
              <a:t>●  </a:t>
            </a:r>
            <a:r>
              <a:rPr sz="1100" b="1">
                <a:solidFill>
                  <a:srgbClr val="A86F00"/>
                </a:solidFill>
                <a:latin typeface="Calibri"/>
              </a:rPr>
              <a:t>Foil-Laminated Structures: </a:t>
            </a:r>
            <a:r>
              <a:rPr sz="1100" b="0">
                <a:solidFill>
                  <a:srgbClr val="2E2E2E"/>
                </a:solidFill>
                <a:latin typeface="Calibri"/>
              </a:rPr>
              <a:t>8% of 2026 value · 6.6% CAGR serves a niche.</a:t>
            </a:r>
          </a:p>
          <a:p>
            <a:pPr algn="l">
              <a:lnSpc>
                <a:spcPct val="110000"/>
              </a:lnSpc>
              <a:spcBef>
                <a:spcPts val="0"/>
              </a:spcBef>
              <a:spcAft>
                <a:spcPts val="500"/>
              </a:spcAft>
            </a:pPr>
            <a:r>
              <a:rPr sz="1100" b="0">
                <a:solidFill>
                  <a:srgbClr val="A35313"/>
                </a:solidFill>
                <a:latin typeface="Calibri"/>
              </a:rPr>
              <a:t>●  </a:t>
            </a:r>
            <a:r>
              <a:rPr sz="1100" b="1">
                <a:solidFill>
                  <a:srgbClr val="A35313"/>
                </a:solidFill>
                <a:latin typeface="Calibri"/>
              </a:rPr>
              <a:t>Metallized Films: </a:t>
            </a:r>
            <a:r>
              <a:rPr sz="1100" b="0">
                <a:solidFill>
                  <a:srgbClr val="2E2E2E"/>
                </a:solidFill>
                <a:latin typeface="Calibri"/>
              </a:rPr>
              <a:t>7% of 2026 value · 6.2% CAGR serves a niche.</a:t>
            </a:r>
          </a:p>
          <a:p>
            <a:pPr algn="l">
              <a:lnSpc>
                <a:spcPct val="110000"/>
              </a:lnSpc>
              <a:spcBef>
                <a:spcPts val="0"/>
              </a:spcBef>
              <a:spcAft>
                <a:spcPts val="500"/>
              </a:spcAft>
            </a:pPr>
            <a:r>
              <a:rPr sz="1100" b="0">
                <a:solidFill>
                  <a:srgbClr val="6C7A89"/>
                </a:solidFill>
                <a:latin typeface="Calibri"/>
              </a:rPr>
              <a:t>●  </a:t>
            </a:r>
            <a:r>
              <a:rPr sz="1100" b="1">
                <a:solidFill>
                  <a:srgbClr val="6C7A89"/>
                </a:solidFill>
                <a:latin typeface="Calibri"/>
              </a:rPr>
              <a:t>Coated Films: </a:t>
            </a:r>
            <a:r>
              <a:rPr sz="1100" b="0">
                <a:solidFill>
                  <a:srgbClr val="2E2E2E"/>
                </a:solidFill>
                <a:latin typeface="Calibri"/>
              </a:rPr>
              <a:t>7% of 2026 value · 6.5% CAGR serves a niche.</a:t>
            </a:r>
          </a:p>
        </p:txBody>
      </p:sp>
      <p:sp>
        <p:nvSpPr>
          <p:cNvPr id="44" name="TextBox 43"/>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45" name="TextBox 4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Material Structure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Material Structure mix within each region and the attractiveness of each sub-segment on growth and size</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6343650" cy="4191000"/>
          </a:xfrm>
          <a:prstGeom prst="roundRect">
            <a:avLst>
              <a:gd name="adj" fmla="val 18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Material Structure mix within each region (share of 2036 value) · row label = region size (US$ Mn), largest first</a:t>
            </a:r>
          </a:p>
        </p:txBody>
      </p:sp>
      <p:graphicFrame>
        <p:nvGraphicFramePr>
          <p:cNvPr id="13" name="Chart 12"/>
          <p:cNvGraphicFramePr>
            <a:graphicFrameLocks noGrp="1"/>
          </p:cNvGraphicFramePr>
          <p:nvPr/>
        </p:nvGraphicFramePr>
        <p:xfrm>
          <a:off x="238125" y="1438275"/>
          <a:ext cx="6153150" cy="3676650"/>
        </p:xfrm>
        <a:graphic>
          <a:graphicData uri="http://schemas.openxmlformats.org/drawingml/2006/chart">
            <c:chart xmlns:c="http://schemas.openxmlformats.org/drawingml/2006/chart" r:id="rId3"/>
          </a:graphicData>
        </a:graphic>
      </p:graphicFrame>
      <p:sp>
        <p:nvSpPr>
          <p:cNvPr id="14" name="Rounded Rectangle 13"/>
          <p:cNvSpPr/>
          <p:nvPr/>
        </p:nvSpPr>
        <p:spPr>
          <a:xfrm>
            <a:off x="6638925" y="981075"/>
            <a:ext cx="5400675" cy="4191000"/>
          </a:xfrm>
          <a:prstGeom prst="roundRect">
            <a:avLst>
              <a:gd name="adj" fmla="val 18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Material Structure · Bubble size represents 2036 value</a:t>
            </a:r>
          </a:p>
        </p:txBody>
      </p:sp>
      <p:graphicFrame>
        <p:nvGraphicFramePr>
          <p:cNvPr id="16" name="Chart 15"/>
          <p:cNvGraphicFramePr>
            <a:graphicFrameLocks noGrp="1"/>
          </p:cNvGraphicFramePr>
          <p:nvPr/>
        </p:nvGraphicFramePr>
        <p:xfrm>
          <a:off x="6734175" y="1438275"/>
          <a:ext cx="5210175" cy="367665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5305425"/>
            <a:ext cx="11906250" cy="1323975"/>
          </a:xfrm>
          <a:prstGeom prst="roundRect">
            <a:avLst>
              <a:gd name="adj" fmla="val 57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Coextruded multilayer films followed by laminated films are expected to be the two most attractive material structure segments in the global flexible plastic packaging market in terms of value over the forecast period. Coextruded multilayer films and laminated films exhibit a CAGR index of 98 and 99 and a market share index of 204 and 178 respectively, against the segment average of 100. The metallized films segment is expected to be less attractive as compared to other segments over the forecast period, owing to its lower CAGR and incremental opportunity. Mono-Material Recyclable Structures rank most attractive because they combine the fastest growth at 7.2% with a share rising 52 BPS to 8.6%. Brand owners are redesigning laminates into single-polymer packs to meet recyclability targets and EPR fees. Coextruded Multilayer Films stay the largest pool at 29.2% share, which keeps them relevant, but their 6.4% growth lags the market as customers migrate to recyclable alternatives. Bubbles right of the CAGR-Index line grow faster than the segment average.</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Material Structure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Material Structure and the absolute $ opportunity each sub-segment adds,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Monolayer Films</a:t>
            </a:r>
          </a:p>
        </p:txBody>
      </p:sp>
      <p:graphicFrame>
        <p:nvGraphicFramePr>
          <p:cNvPr id="13" name="Chart 12"/>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Coextruded Multilayer Films</a:t>
            </a:r>
          </a:p>
        </p:txBody>
      </p:sp>
      <p:graphicFrame>
        <p:nvGraphicFramePr>
          <p:cNvPr id="16" name="Chart 15"/>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Laminated Films</a:t>
            </a:r>
          </a:p>
        </p:txBody>
      </p:sp>
      <p:graphicFrame>
        <p:nvGraphicFramePr>
          <p:cNvPr id="19" name="Chart 18"/>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20" name="Rounded Rectangle 19"/>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Coated Films</a:t>
            </a:r>
          </a:p>
        </p:txBody>
      </p:sp>
      <p:graphicFrame>
        <p:nvGraphicFramePr>
          <p:cNvPr id="22" name="Chart 21"/>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r:id="rId6"/>
          </a:graphicData>
        </a:graphic>
      </p:graphicFrame>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Material Structure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Material Structure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Metallized Films</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Foil-Laminated Structures</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Mono-Material Recyclable Structures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5550" y="3952875"/>
            <a:ext cx="5610225" cy="209550"/>
          </a:xfrm>
          <a:prstGeom prst="rect">
            <a:avLst/>
          </a:prstGeom>
          <a:noFill/>
        </p:spPr>
        <p:txBody>
          <a:bodyPr wrap="square" lIns="0" rIns="19050" tIns="9525" bIns="9525">
            <a:spAutoFit/>
          </a:bodyPr>
          <a:lstStyle/>
          <a:p>
            <a:pPr algn="l"/>
            <a:r>
              <a:rPr sz="1300" b="1">
                <a:solidFill>
                  <a:srgbClr val="0B2E4A"/>
                </a:solidFill>
                <a:latin typeface="Calibri"/>
              </a:rPr>
              <a:t>Summary of Global Absolute $ Opportunity Analysis, By Material Structure</a:t>
            </a:r>
          </a:p>
        </p:txBody>
      </p:sp>
      <p:sp>
        <p:nvSpPr>
          <p:cNvPr id="21" name="Rectangle 20"/>
          <p:cNvSpPr/>
          <p:nvPr/>
        </p:nvSpPr>
        <p:spPr>
          <a:xfrm>
            <a:off x="6305550" y="41910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5550" y="4276725"/>
            <a:ext cx="5610225" cy="2266950"/>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E2E2E"/>
                </a:solidFill>
                <a:latin typeface="Calibri"/>
              </a:rPr>
              <a:t>By 2036, coextruded multilayer films segment is anticipated to witness an increase of 1.9X in terms of value as compared to 2026. The coextruded multilayer films segment is expected to create an incremental opportunity of US$ 32,127 Mn for the overall flexible plastic packaging market from 2026 to 2036.</a:t>
            </a:r>
          </a:p>
          <a:p>
            <a:pPr algn="l">
              <a:lnSpc>
                <a:spcPct val="100000"/>
              </a:lnSpc>
              <a:spcBef>
                <a:spcPts val="0"/>
              </a:spcBef>
              <a:spcAft>
                <a:spcPts val="300"/>
              </a:spcAft>
            </a:pPr>
            <a:r>
              <a:rPr sz="1100" b="0">
                <a:solidFill>
                  <a:srgbClr val="2E2E2E"/>
                </a:solidFill>
                <a:latin typeface="Calibri"/>
              </a:rPr>
              <a:t>The laminated films segment is expected to create an incremental opportunity of US$ 28,221 Mn for the overall flexible plastic packaging market from 2026 to 2036. The monolayer films segment is expected to create an incremental opportunity of US$ 18,506 Mn for the overall flexible plastic packaging market from 2026 to 2036.</a:t>
            </a:r>
          </a:p>
          <a:p>
            <a:pPr algn="l">
              <a:lnSpc>
                <a:spcPct val="100000"/>
              </a:lnSpc>
              <a:spcBef>
                <a:spcPts val="0"/>
              </a:spcBef>
              <a:spcAft>
                <a:spcPts val="300"/>
              </a:spcAft>
            </a:pPr>
            <a:r>
              <a:rPr sz="1100" b="0">
                <a:solidFill>
                  <a:srgbClr val="2E2E2E"/>
                </a:solidFill>
                <a:latin typeface="Calibri"/>
              </a:rPr>
              <a:t>Coextruded Multilayer Films and Laminated Films add the most value because they carry the largest bases, 29.2% and 25.5%, and grow at 6.4% and 6.5%. Multi-layer barrier structures remain the workhorse for protein, snack and dairy packs, while e-commerce, rising packaged-food consumption in emerging markets and brand-owner recyclability targets lift Mono-Material Recyclable Structures at the fastest rate from a smaller base.</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Volume Analysis, By Material Structure (Thousand MT)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by Material Structure,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3057525"/>
          </a:xfrm>
          <a:prstGeom prst="roundRect">
            <a:avLst>
              <a:gd name="adj" fmla="val 24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By Material Structure (Thousand MT)</a:t>
            </a:r>
          </a:p>
        </p:txBody>
      </p:sp>
      <p:graphicFrame>
        <p:nvGraphicFramePr>
          <p:cNvPr id="13" name="Table 12"/>
          <p:cNvGraphicFramePr>
            <a:graphicFrameLocks noGrp="1"/>
          </p:cNvGraphicFramePr>
          <p:nvPr/>
        </p:nvGraphicFramePr>
        <p:xfrm>
          <a:off x="152400" y="1238250"/>
          <a:ext cx="11887208" cy="2590803"/>
        </p:xfrm>
        <a:graphic>
          <a:graphicData uri="http://schemas.openxmlformats.org/drawingml/2006/table">
            <a:tbl>
              <a:tblPr>
                <a:tableStyleId>{5C22544A-7EE6-4342-B048-85BDC9FD1C3A}</a:tableStyleId>
              </a:tblPr>
              <a:tblGrid>
                <a:gridCol w="1914770"/>
                <a:gridCol w="586614"/>
                <a:gridCol w="586614"/>
                <a:gridCol w="586614"/>
                <a:gridCol w="586614"/>
                <a:gridCol w="586614"/>
                <a:gridCol w="586614"/>
                <a:gridCol w="586614"/>
                <a:gridCol w="586614"/>
                <a:gridCol w="586614"/>
                <a:gridCol w="586614"/>
                <a:gridCol w="586614"/>
                <a:gridCol w="586614"/>
                <a:gridCol w="586614"/>
                <a:gridCol w="586614"/>
                <a:gridCol w="586614"/>
                <a:gridCol w="586614"/>
                <a:gridCol w="586614"/>
              </a:tblGrid>
              <a:tr h="215265">
                <a:tc>
                  <a:txBody>
                    <a:bodyPr wrap="none"/>
                    <a:lstStyle/>
                    <a:p>
                      <a:pPr algn="l"/>
                      <a:r>
                        <a:rPr sz="1100" b="1">
                          <a:solidFill>
                            <a:srgbClr val="0B2E4A"/>
                          </a:solidFill>
                          <a:latin typeface="Calibri"/>
                        </a:rPr>
                        <a:t>Material Structure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F-CAGR</a:t>
                      </a:r>
                      <a:endParaRPr sz="1100"/>
                    </a:p>
                  </a:txBody>
                  <a:tcPr marL="47625" marR="38100" marT="19050" marB="19050" anchor="ctr">
                    <a:solidFill>
                      <a:srgbClr val="E0E8EF"/>
                    </a:solidFill>
                  </a:tcPr>
                </a:tc>
              </a:tr>
              <a:tr h="215958">
                <a:tc>
                  <a:txBody>
                    <a:bodyPr wrap="none"/>
                    <a:lstStyle/>
                    <a:p>
                      <a:pPr algn="l"/>
                      <a:r>
                        <a:rPr sz="1100" b="1">
                          <a:solidFill>
                            <a:srgbClr val="2E2E2E"/>
                          </a:solidFill>
                          <a:latin typeface="Calibri"/>
                        </a:rPr>
                        <a:t>Monolayer Films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5,249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5,478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5,717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5,968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6,235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6,528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6,848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7,198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7,581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7,998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8,450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8,934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9,442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9,971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10,515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11,073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5.4%</a:t>
                      </a:r>
                      <a:endParaRPr sz="1100"/>
                    </a:p>
                  </a:txBody>
                  <a:tcPr marL="47625" marR="38100" marT="19050" marB="19050" anchor="ctr">
                    <a:solidFill>
                      <a:srgbClr val="FFFFFF"/>
                    </a:solidFill>
                  </a:tcPr>
                </a:tc>
              </a:tr>
              <a:tr h="215958">
                <a:tc>
                  <a:txBody>
                    <a:bodyPr wrap="none"/>
                    <a:lstStyle/>
                    <a:p>
                      <a:pPr algn="l"/>
                      <a:r>
                        <a:rPr sz="1100" b="1">
                          <a:solidFill>
                            <a:srgbClr val="2E2E2E"/>
                          </a:solidFill>
                          <a:latin typeface="Calibri"/>
                        </a:rPr>
                        <a:t>Coextruded Multilayer Films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9,846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10,222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10,618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11,036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11,483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11,972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12,509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13,098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13,744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14,457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15,234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16,071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16,953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17,871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18,811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19,773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5.1%</a:t>
                      </a:r>
                      <a:endParaRPr sz="1100"/>
                    </a:p>
                  </a:txBody>
                  <a:tcPr marL="47625" marR="38100" marT="19050" marB="19050" anchor="ctr">
                    <a:solidFill>
                      <a:srgbClr val="F5F8FA"/>
                    </a:solidFill>
                  </a:tcPr>
                </a:tc>
              </a:tr>
              <a:tr h="215958">
                <a:tc>
                  <a:txBody>
                    <a:bodyPr wrap="none"/>
                    <a:lstStyle/>
                    <a:p>
                      <a:pPr algn="l"/>
                      <a:r>
                        <a:rPr sz="1100" b="1">
                          <a:solidFill>
                            <a:srgbClr val="2E2E2E"/>
                          </a:solidFill>
                          <a:latin typeface="Calibri"/>
                        </a:rPr>
                        <a:t>– 3–5 Layer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5,181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5,373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5,577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5,795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6,031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6,293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6,582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6,899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7,247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7,634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8,059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8,522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9,014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9,528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10,055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10,595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5.3%</a:t>
                      </a:r>
                      <a:endParaRPr sz="1100"/>
                    </a:p>
                  </a:txBody>
                  <a:tcPr marL="47625" marR="38100" marT="19050" marB="19050" anchor="ctr">
                    <a:solidFill>
                      <a:srgbClr val="FFFFFF"/>
                    </a:solidFill>
                  </a:tcPr>
                </a:tc>
              </a:tr>
              <a:tr h="215958">
                <a:tc>
                  <a:txBody>
                    <a:bodyPr wrap="none"/>
                    <a:lstStyle/>
                    <a:p>
                      <a:pPr algn="l"/>
                      <a:r>
                        <a:rPr sz="1100" b="1">
                          <a:solidFill>
                            <a:srgbClr val="2E2E2E"/>
                          </a:solidFill>
                          <a:latin typeface="Calibri"/>
                        </a:rPr>
                        <a:t>– 7 Layer</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2,844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2,960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3,081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3,207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3,339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3,483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3,640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3,811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3,999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4,206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4,427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4,662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4,906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5,158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5,417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5,680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5.0%</a:t>
                      </a:r>
                      <a:endParaRPr sz="1100"/>
                    </a:p>
                  </a:txBody>
                  <a:tcPr marL="47625" marR="38100" marT="19050" marB="19050" anchor="ctr">
                    <a:solidFill>
                      <a:srgbClr val="F5F8FA"/>
                    </a:solidFill>
                  </a:tcPr>
                </a:tc>
              </a:tr>
              <a:tr h="215958">
                <a:tc>
                  <a:txBody>
                    <a:bodyPr wrap="none"/>
                    <a:lstStyle/>
                    <a:p>
                      <a:pPr algn="l"/>
                      <a:r>
                        <a:rPr sz="1100" b="1">
                          <a:solidFill>
                            <a:srgbClr val="2E2E2E"/>
                          </a:solidFill>
                          <a:latin typeface="Calibri"/>
                        </a:rPr>
                        <a:t>– 9 Layer and Above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1,822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1,890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1,961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2,034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2,112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2,196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2,287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2,388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2,498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2,618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2,748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2,887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3,033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3,184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3,339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3,497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4.8%</a:t>
                      </a:r>
                      <a:endParaRPr sz="1100"/>
                    </a:p>
                  </a:txBody>
                  <a:tcPr marL="47625" marR="38100" marT="19050" marB="19050" anchor="ctr">
                    <a:solidFill>
                      <a:srgbClr val="FFFFFF"/>
                    </a:solidFill>
                  </a:tcPr>
                </a:tc>
              </a:tr>
              <a:tr h="215958">
                <a:tc>
                  <a:txBody>
                    <a:bodyPr wrap="none"/>
                    <a:lstStyle/>
                    <a:p>
                      <a:pPr algn="l"/>
                      <a:r>
                        <a:rPr sz="1100" b="1">
                          <a:solidFill>
                            <a:srgbClr val="2E2E2E"/>
                          </a:solidFill>
                          <a:latin typeface="Calibri"/>
                        </a:rPr>
                        <a:t>Laminated Films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8,486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8,830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9,196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9,586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10,003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10,456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10,949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11,487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12,073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12,709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13,393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14,120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14,883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15,675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16,487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17,314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5.2%</a:t>
                      </a:r>
                      <a:endParaRPr sz="1100"/>
                    </a:p>
                  </a:txBody>
                  <a:tcPr marL="47625" marR="38100" marT="19050" marB="19050" anchor="ctr">
                    <a:solidFill>
                      <a:srgbClr val="F5F8FA"/>
                    </a:solidFill>
                  </a:tcPr>
                </a:tc>
              </a:tr>
              <a:tr h="215958">
                <a:tc>
                  <a:txBody>
                    <a:bodyPr wrap="none"/>
                    <a:lstStyle/>
                    <a:p>
                      <a:pPr algn="l"/>
                      <a:r>
                        <a:rPr sz="1100" b="1">
                          <a:solidFill>
                            <a:srgbClr val="2E2E2E"/>
                          </a:solidFill>
                          <a:latin typeface="Calibri"/>
                        </a:rPr>
                        <a:t>– Duplex</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4,032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4,182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4,342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4,513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4,697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4,898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5,119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5,363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5,630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5,922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6,237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6,571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6,920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7,282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7,652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8,029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5.1%</a:t>
                      </a:r>
                      <a:endParaRPr sz="1100"/>
                    </a:p>
                  </a:txBody>
                  <a:tcPr marL="47625" marR="38100" marT="19050" marB="19050" anchor="ctr">
                    <a:solidFill>
                      <a:srgbClr val="FFFFFF"/>
                    </a:solidFill>
                  </a:tcPr>
                </a:tc>
              </a:tr>
              <a:tr h="215958">
                <a:tc>
                  <a:txBody>
                    <a:bodyPr wrap="none"/>
                    <a:lstStyle/>
                    <a:p>
                      <a:pPr algn="l"/>
                      <a:r>
                        <a:rPr sz="1100" b="1">
                          <a:solidFill>
                            <a:srgbClr val="2E2E2E"/>
                          </a:solidFill>
                          <a:latin typeface="Calibri"/>
                        </a:rPr>
                        <a:t>– Triplex</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3,088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3,219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3,358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3,506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3,664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3,836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4,024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4,229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4,452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4,695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4,956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5,234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5,528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5,834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6,148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6,470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5.4%</a:t>
                      </a:r>
                      <a:endParaRPr sz="1100"/>
                    </a:p>
                  </a:txBody>
                  <a:tcPr marL="47625" marR="38100" marT="19050" marB="19050" anchor="ctr">
                    <a:solidFill>
                      <a:srgbClr val="F5F8FA"/>
                    </a:solidFill>
                  </a:tcPr>
                </a:tc>
              </a:tr>
              <a:tr h="215958">
                <a:tc>
                  <a:txBody>
                    <a:bodyPr wrap="none"/>
                    <a:lstStyle/>
                    <a:p>
                      <a:pPr algn="l"/>
                      <a:r>
                        <a:rPr sz="1100" b="1">
                          <a:solidFill>
                            <a:srgbClr val="2E2E2E"/>
                          </a:solidFill>
                          <a:latin typeface="Calibri"/>
                        </a:rPr>
                        <a:t>– Multi-Ply</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1,366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1,430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1,496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1,567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1,642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1,722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1,807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1,896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1,990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2,092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2,200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2,316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2,436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2,559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2,686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2,816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5.0%</a:t>
                      </a:r>
                      <a:endParaRPr sz="1100"/>
                    </a:p>
                  </a:txBody>
                  <a:tcPr marL="47625" marR="38100" marT="19050" marB="19050" anchor="ctr">
                    <a:solidFill>
                      <a:srgbClr val="FFFFFF"/>
                    </a:solidFill>
                  </a:tcPr>
                </a:tc>
              </a:tr>
              <a:tr h="215958">
                <a:tc>
                  <a:txBody>
                    <a:bodyPr wrap="none"/>
                    <a:lstStyle/>
                    <a:p>
                      <a:pPr algn="l"/>
                      <a:r>
                        <a:rPr sz="1100" b="1">
                          <a:solidFill>
                            <a:srgbClr val="2E2E2E"/>
                          </a:solidFill>
                          <a:latin typeface="Calibri"/>
                        </a:rPr>
                        <a:t>Coated Films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2,169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2,265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2,366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2,475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2,589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2,710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2,838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2,975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3,125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3,291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3,471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3,664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3,866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4,077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4,293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4,513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5.2%</a:t>
                      </a:r>
                      <a:endParaRPr sz="1100"/>
                    </a:p>
                  </a:txBody>
                  <a:tcPr marL="47625" marR="38100" marT="19050" marB="19050" anchor="ctr">
                    <a:solidFill>
                      <a:srgbClr val="F5F8FA"/>
                    </a:solidFill>
                  </a:tcPr>
                </a:tc>
              </a:tr>
              <a:tr h="215958">
                <a:tc>
                  <a:txBody>
                    <a:bodyPr wrap="none"/>
                    <a:lstStyle/>
                    <a:p>
                      <a:pPr algn="l"/>
                      <a:r>
                        <a:rPr sz="1100" b="1">
                          <a:solidFill>
                            <a:srgbClr val="2E2E2E"/>
                          </a:solidFill>
                          <a:latin typeface="Calibri"/>
                        </a:rPr>
                        <a:t>Metallized Films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2,364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2,467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2,577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2,693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2,817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2,950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3,092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3,242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3,402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3,572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3,751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3,941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4,139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4,344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4,554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4,767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4.9%</a:t>
                      </a:r>
                      <a:endParaRPr sz="1100"/>
                    </a:p>
                  </a:txBody>
                  <a:tcPr marL="47625" marR="38100" marT="19050" marB="19050" anchor="ctr">
                    <a:solidFill>
                      <a:srgbClr val="FFFFFF"/>
                    </a:solidFill>
                  </a:tcPr>
                </a:tc>
              </a:tr>
            </a:tbl>
          </a:graphicData>
        </a:graphic>
      </p:graphicFrame>
      <p:sp>
        <p:nvSpPr>
          <p:cNvPr id="14" name="TextBox 13"/>
          <p:cNvSpPr txBox="1"/>
          <p:nvPr/>
        </p:nvSpPr>
        <p:spPr>
          <a:xfrm>
            <a:off x="219075" y="38385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Volume Analysis, By Material Structure (Thousand MT)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by Material Structure, 2021–2036, highlighting the sub-segments driving growth</a:t>
            </a:r>
          </a:p>
        </p:txBody>
      </p:sp>
      <p:sp>
        <p:nvSpPr>
          <p:cNvPr id="10" name="Rounded Rectangle 9"/>
          <p:cNvSpPr/>
          <p:nvPr/>
        </p:nvSpPr>
        <p:spPr>
          <a:xfrm>
            <a:off x="142875" y="981075"/>
            <a:ext cx="11906250" cy="1981200"/>
          </a:xfrm>
          <a:prstGeom prst="roundRect">
            <a:avLst>
              <a:gd name="adj" fmla="val 384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By Material Structure (Thousand MT)</a:t>
            </a:r>
          </a:p>
        </p:txBody>
      </p:sp>
      <p:graphicFrame>
        <p:nvGraphicFramePr>
          <p:cNvPr id="12" name="Table 11"/>
          <p:cNvGraphicFramePr>
            <a:graphicFrameLocks noGrp="1"/>
          </p:cNvGraphicFramePr>
          <p:nvPr/>
        </p:nvGraphicFramePr>
        <p:xfrm>
          <a:off x="152400" y="1238250"/>
          <a:ext cx="11887208" cy="1514475"/>
        </p:xfrm>
        <a:graphic>
          <a:graphicData uri="http://schemas.openxmlformats.org/drawingml/2006/table">
            <a:tbl>
              <a:tblPr>
                <a:tableStyleId>{5C22544A-7EE6-4342-B048-85BDC9FD1C3A}</a:tableStyleId>
              </a:tblPr>
              <a:tblGrid>
                <a:gridCol w="2372444"/>
                <a:gridCol w="559692"/>
                <a:gridCol w="559692"/>
                <a:gridCol w="559692"/>
                <a:gridCol w="559692"/>
                <a:gridCol w="559692"/>
                <a:gridCol w="559692"/>
                <a:gridCol w="559692"/>
                <a:gridCol w="559692"/>
                <a:gridCol w="559692"/>
                <a:gridCol w="559692"/>
                <a:gridCol w="559692"/>
                <a:gridCol w="559692"/>
                <a:gridCol w="559692"/>
                <a:gridCol w="559692"/>
                <a:gridCol w="559692"/>
                <a:gridCol w="559692"/>
                <a:gridCol w="559692"/>
              </a:tblGrid>
              <a:tr h="215265">
                <a:tc>
                  <a:txBody>
                    <a:bodyPr wrap="none"/>
                    <a:lstStyle/>
                    <a:p>
                      <a:pPr algn="l"/>
                      <a:r>
                        <a:rPr sz="1100" b="1">
                          <a:solidFill>
                            <a:srgbClr val="0B2E4A"/>
                          </a:solidFill>
                          <a:latin typeface="Calibri"/>
                        </a:rPr>
                        <a:t>Material Structure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F-CAGR</a:t>
                      </a:r>
                      <a:endParaRPr sz="1100"/>
                    </a:p>
                  </a:txBody>
                  <a:tcPr marL="47625" marR="38100" marT="19050" marB="19050" anchor="ctr">
                    <a:solidFill>
                      <a:srgbClr val="E0E8EF"/>
                    </a:solidFill>
                  </a:tcPr>
                </a:tc>
              </a:tr>
              <a:tr h="216535">
                <a:tc>
                  <a:txBody>
                    <a:bodyPr wrap="none"/>
                    <a:lstStyle/>
                    <a:p>
                      <a:pPr algn="l"/>
                      <a:r>
                        <a:rPr sz="1100" b="1">
                          <a:solidFill>
                            <a:srgbClr val="2E2E2E"/>
                          </a:solidFill>
                          <a:latin typeface="Calibri"/>
                        </a:rPr>
                        <a:t>Foil-Laminated Structures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2,550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2,653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2,760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2,874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2,995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3,128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3,275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3,437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3,616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3,810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4,019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4,242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4,478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4,725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4,979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5,240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5.3%</a:t>
                      </a:r>
                      <a:endParaRPr sz="1100"/>
                    </a:p>
                  </a:txBody>
                  <a:tcPr marL="47625" marR="38100" marT="19050" marB="19050" anchor="ctr">
                    <a:solidFill>
                      <a:srgbClr val="FFFFFF"/>
                    </a:solidFill>
                  </a:tcPr>
                </a:tc>
              </a:tr>
              <a:tr h="216535">
                <a:tc>
                  <a:txBody>
                    <a:bodyPr wrap="none"/>
                    <a:lstStyle/>
                    <a:p>
                      <a:pPr algn="l"/>
                      <a:r>
                        <a:rPr sz="1100" b="1">
                          <a:solidFill>
                            <a:srgbClr val="2E2E2E"/>
                          </a:solidFill>
                          <a:latin typeface="Calibri"/>
                        </a:rPr>
                        <a:t>Mono-Material Recyclable Structures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2,673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2,787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2,909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3,040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3,182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3,339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3,511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3,702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3,911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4,143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4,399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4,677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4,972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5,283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5,603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5,932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5.9%</a:t>
                      </a:r>
                      <a:endParaRPr sz="1100"/>
                    </a:p>
                  </a:txBody>
                  <a:tcPr marL="47625" marR="38100" marT="19050" marB="19050" anchor="ctr">
                    <a:solidFill>
                      <a:srgbClr val="F5F8FA"/>
                    </a:solidFill>
                  </a:tcPr>
                </a:tc>
              </a:tr>
              <a:tr h="216535">
                <a:tc>
                  <a:txBody>
                    <a:bodyPr wrap="none"/>
                    <a:lstStyle/>
                    <a:p>
                      <a:pPr algn="l"/>
                      <a:r>
                        <a:rPr sz="1100" b="1">
                          <a:solidFill>
                            <a:srgbClr val="2E2E2E"/>
                          </a:solidFill>
                          <a:latin typeface="Calibri"/>
                        </a:rPr>
                        <a:t>– PE-Based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1,521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1,585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1,653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1,727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1,807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1,895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1,993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2,102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2,222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2,357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2,505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2,667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2,839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3,020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3,206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3,398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6.0%</a:t>
                      </a:r>
                      <a:endParaRPr sz="1100"/>
                    </a:p>
                  </a:txBody>
                  <a:tcPr marL="47625" marR="38100" marT="19050" marB="19050" anchor="ctr">
                    <a:solidFill>
                      <a:srgbClr val="FFFFFF"/>
                    </a:solidFill>
                  </a:tcPr>
                </a:tc>
              </a:tr>
              <a:tr h="216535">
                <a:tc>
                  <a:txBody>
                    <a:bodyPr wrap="none"/>
                    <a:lstStyle/>
                    <a:p>
                      <a:pPr algn="l"/>
                      <a:r>
                        <a:rPr sz="1100" b="1">
                          <a:solidFill>
                            <a:srgbClr val="2E2E2E"/>
                          </a:solidFill>
                          <a:latin typeface="Calibri"/>
                        </a:rPr>
                        <a:t>– PP-Based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799.4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830.6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863.9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899.7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938.5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981.6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1,029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1,082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1,140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1,205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1,276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1,355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1,439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1,527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1,618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1,711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5.7%</a:t>
                      </a:r>
                      <a:endParaRPr sz="1100"/>
                    </a:p>
                  </a:txBody>
                  <a:tcPr marL="47625" marR="38100" marT="19050" marB="19050" anchor="ctr">
                    <a:solidFill>
                      <a:srgbClr val="F5F8FA"/>
                    </a:solidFill>
                  </a:tcPr>
                </a:tc>
              </a:tr>
              <a:tr h="216535">
                <a:tc>
                  <a:txBody>
                    <a:bodyPr wrap="none"/>
                    <a:lstStyle/>
                    <a:p>
                      <a:pPr algn="l"/>
                      <a:r>
                        <a:rPr sz="1100" b="1">
                          <a:solidFill>
                            <a:srgbClr val="2E2E2E"/>
                          </a:solidFill>
                          <a:latin typeface="Calibri"/>
                        </a:rPr>
                        <a:t>– PET-Based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352.7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371.6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391.7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413.3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436.5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461.6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488.5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517.5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548.4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581.6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617.0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654.9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694.7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736.3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779.1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823.3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6.0%</a:t>
                      </a:r>
                      <a:endParaRPr sz="1100"/>
                    </a:p>
                  </a:txBody>
                  <a:tcPr marL="47625" marR="38100" marT="19050" marB="19050" anchor="ctr">
                    <a:solidFill>
                      <a:srgbClr val="FFFFFF"/>
                    </a:solidFill>
                  </a:tcPr>
                </a:tc>
              </a:tr>
              <a:tr h="216535">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33,337</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34,702</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36,143</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37,672</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39,304</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41,083</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43,022</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45,139</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47,452</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49,980</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52,717</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55,648</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58,734</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61,946</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65,241</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68,611</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5.3%</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7622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095625"/>
            <a:ext cx="11906250" cy="3533775"/>
          </a:xfrm>
          <a:prstGeom prst="roundRect">
            <a:avLst>
              <a:gd name="adj" fmla="val 215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1813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Volume Analysis, By Material Structure</a:t>
            </a:r>
          </a:p>
        </p:txBody>
      </p:sp>
      <p:sp>
        <p:nvSpPr>
          <p:cNvPr id="16" name="Rectangle 15"/>
          <p:cNvSpPr/>
          <p:nvPr/>
        </p:nvSpPr>
        <p:spPr>
          <a:xfrm>
            <a:off x="276225" y="34194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505200"/>
            <a:ext cx="11639550" cy="30480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Coextruded multilayer films segment is projected to register 1.1X higher volume than laminated films segment in 2036. Among flexible plastic packaging by material structure, mono-material recyclable structures segment is expected to witness the highest CAGR of 5.9% over the forecast period.</a:t>
            </a:r>
          </a:p>
          <a:p>
            <a:pPr algn="l">
              <a:lnSpc>
                <a:spcPct val="110000"/>
              </a:lnSpc>
              <a:spcBef>
                <a:spcPts val="0"/>
              </a:spcBef>
              <a:spcAft>
                <a:spcPts val="500"/>
              </a:spcAft>
            </a:pPr>
            <a:r>
              <a:rPr sz="1150" b="0">
                <a:solidFill>
                  <a:srgbClr val="2E2E2E"/>
                </a:solidFill>
                <a:latin typeface="Calibri"/>
              </a:rPr>
              <a:t>In terms of volume share by material structure, the coextruded multilayer films segment is expected to dominate the market, losing 32 BPS and accounting for 28.8% share by 2036.</a:t>
            </a:r>
          </a:p>
          <a:p>
            <a:pPr algn="l">
              <a:lnSpc>
                <a:spcPct val="110000"/>
              </a:lnSpc>
              <a:spcBef>
                <a:spcPts val="0"/>
              </a:spcBef>
              <a:spcAft>
                <a:spcPts val="500"/>
              </a:spcAft>
            </a:pPr>
            <a:r>
              <a:rPr sz="1150" b="0">
                <a:solidFill>
                  <a:srgbClr val="2E2E2E"/>
                </a:solidFill>
                <a:latin typeface="Calibri"/>
              </a:rPr>
              <a:t>Mono-Material Recyclable Structures gain 52 BPS and grow fastest at 5.9% because extended producer responsibility rules, retailer recyclability pledges and recycled-content targets push brand owners to replace complex laminates. Coextruded Multilayer Films lose 32 BPS as the conventional multi-polymer builds face recyclability scrutiny, while Metallized Films and Laminated Films also cede share, showing the shift away from hard-to-recycle formats.</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Material Structure (US$ Mn)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Material Structure,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3057525"/>
          </a:xfrm>
          <a:prstGeom prst="roundRect">
            <a:avLst>
              <a:gd name="adj" fmla="val 24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Material Structure (US$ Mn)</a:t>
            </a:r>
          </a:p>
        </p:txBody>
      </p:sp>
      <p:graphicFrame>
        <p:nvGraphicFramePr>
          <p:cNvPr id="13" name="Table 12"/>
          <p:cNvGraphicFramePr>
            <a:graphicFrameLocks noGrp="1"/>
          </p:cNvGraphicFramePr>
          <p:nvPr/>
        </p:nvGraphicFramePr>
        <p:xfrm>
          <a:off x="152400" y="1238250"/>
          <a:ext cx="11887208" cy="2590803"/>
        </p:xfrm>
        <a:graphic>
          <a:graphicData uri="http://schemas.openxmlformats.org/drawingml/2006/table">
            <a:tbl>
              <a:tblPr>
                <a:tableStyleId>{5C22544A-7EE6-4342-B048-85BDC9FD1C3A}</a:tableStyleId>
              </a:tblPr>
              <a:tblGrid>
                <a:gridCol w="1914770"/>
                <a:gridCol w="586614"/>
                <a:gridCol w="586614"/>
                <a:gridCol w="586614"/>
                <a:gridCol w="586614"/>
                <a:gridCol w="586614"/>
                <a:gridCol w="586614"/>
                <a:gridCol w="586614"/>
                <a:gridCol w="586614"/>
                <a:gridCol w="586614"/>
                <a:gridCol w="586614"/>
                <a:gridCol w="586614"/>
                <a:gridCol w="586614"/>
                <a:gridCol w="586614"/>
                <a:gridCol w="586614"/>
                <a:gridCol w="586614"/>
                <a:gridCol w="586614"/>
                <a:gridCol w="586614"/>
              </a:tblGrid>
              <a:tr h="215265">
                <a:tc>
                  <a:txBody>
                    <a:bodyPr wrap="none"/>
                    <a:lstStyle/>
                    <a:p>
                      <a:pPr algn="l"/>
                      <a:r>
                        <a:rPr sz="1100" b="1">
                          <a:solidFill>
                            <a:srgbClr val="0B2E4A"/>
                          </a:solidFill>
                          <a:latin typeface="Calibri"/>
                        </a:rPr>
                        <a:t>Material Structure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F-CAGR</a:t>
                      </a:r>
                      <a:endParaRPr sz="1100"/>
                    </a:p>
                  </a:txBody>
                  <a:tcPr marL="47625" marR="38100" marT="19050" marB="19050" anchor="ctr">
                    <a:solidFill>
                      <a:srgbClr val="E0E8EF"/>
                    </a:solidFill>
                  </a:tcPr>
                </a:tc>
              </a:tr>
              <a:tr h="215958">
                <a:tc>
                  <a:txBody>
                    <a:bodyPr wrap="none"/>
                    <a:lstStyle/>
                    <a:p>
                      <a:pPr algn="l"/>
                      <a:r>
                        <a:rPr sz="1100" b="1">
                          <a:solidFill>
                            <a:srgbClr val="2E2E2E"/>
                          </a:solidFill>
                          <a:latin typeface="Calibri"/>
                        </a:rPr>
                        <a:t>Monolayer Films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15,908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16,639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17,411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18,243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19,134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20,187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21,357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22,658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24,102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25,709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27,486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29,432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31,529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33,773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36,160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38,693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6.7%</a:t>
                      </a:r>
                      <a:endParaRPr sz="1100"/>
                    </a:p>
                  </a:txBody>
                  <a:tcPr marL="47625" marR="38100" marT="19050" marB="19050" anchor="ctr">
                    <a:solidFill>
                      <a:srgbClr val="FFFFFF"/>
                    </a:solidFill>
                  </a:tcPr>
                </a:tc>
              </a:tr>
              <a:tr h="215958">
                <a:tc>
                  <a:txBody>
                    <a:bodyPr wrap="none"/>
                    <a:lstStyle/>
                    <a:p>
                      <a:pPr algn="l"/>
                      <a:r>
                        <a:rPr sz="1100" b="1">
                          <a:solidFill>
                            <a:srgbClr val="2E2E2E"/>
                          </a:solidFill>
                          <a:latin typeface="Calibri"/>
                        </a:rPr>
                        <a:t>Coextruded Multilayer Films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29,945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31,161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32,453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33,844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35,339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37,122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39,112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41,332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43,812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46,592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49,679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53,075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56,745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60,675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64,841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69,250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6.4%</a:t>
                      </a:r>
                      <a:endParaRPr sz="1100"/>
                    </a:p>
                  </a:txBody>
                  <a:tcPr marL="47625" marR="38100" marT="19050" marB="19050" anchor="ctr">
                    <a:solidFill>
                      <a:srgbClr val="F5F8FA"/>
                    </a:solidFill>
                  </a:tcPr>
                </a:tc>
              </a:tr>
              <a:tr h="215958">
                <a:tc>
                  <a:txBody>
                    <a:bodyPr wrap="none"/>
                    <a:lstStyle/>
                    <a:p>
                      <a:pPr algn="l"/>
                      <a:r>
                        <a:rPr sz="1100" b="1">
                          <a:solidFill>
                            <a:srgbClr val="2E2E2E"/>
                          </a:solidFill>
                          <a:latin typeface="Calibri"/>
                        </a:rPr>
                        <a:t>– 3–5 Layer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15,773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16,391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17,054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17,777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18,564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19,511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20,575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21,764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23,093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24,591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26,271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28,138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30,166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32,346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34,659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37,109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6.6%</a:t>
                      </a:r>
                      <a:endParaRPr sz="1100"/>
                    </a:p>
                  </a:txBody>
                  <a:tcPr marL="47625" marR="38100" marT="19050" marB="19050" anchor="ctr">
                    <a:solidFill>
                      <a:srgbClr val="FFFFFF"/>
                    </a:solidFill>
                  </a:tcPr>
                </a:tc>
              </a:tr>
              <a:tr h="215958">
                <a:tc>
                  <a:txBody>
                    <a:bodyPr wrap="none"/>
                    <a:lstStyle/>
                    <a:p>
                      <a:pPr algn="l"/>
                      <a:r>
                        <a:rPr sz="1100" b="1">
                          <a:solidFill>
                            <a:srgbClr val="2E2E2E"/>
                          </a:solidFill>
                          <a:latin typeface="Calibri"/>
                        </a:rPr>
                        <a:t>– 7 Layer</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8,639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9,014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9,409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9,828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10,274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10,798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11,379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12,026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12,749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13,553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14,435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15,391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16,415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17,508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18,665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19,888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6.3%</a:t>
                      </a:r>
                      <a:endParaRPr sz="1100"/>
                    </a:p>
                  </a:txBody>
                  <a:tcPr marL="47625" marR="38100" marT="19050" marB="19050" anchor="ctr">
                    <a:solidFill>
                      <a:srgbClr val="F5F8FA"/>
                    </a:solidFill>
                  </a:tcPr>
                </a:tc>
              </a:tr>
              <a:tr h="215958">
                <a:tc>
                  <a:txBody>
                    <a:bodyPr wrap="none"/>
                    <a:lstStyle/>
                    <a:p>
                      <a:pPr algn="l"/>
                      <a:r>
                        <a:rPr sz="1100" b="1">
                          <a:solidFill>
                            <a:srgbClr val="2E2E2E"/>
                          </a:solidFill>
                          <a:latin typeface="Calibri"/>
                        </a:rPr>
                        <a:t>– 9 Layer and Above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5,533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5,755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5,990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6,239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6,502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6,813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7,158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7,542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7,970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8,448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8,973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9,546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10,163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10,821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11,517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12,253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6.0%</a:t>
                      </a:r>
                      <a:endParaRPr sz="1100"/>
                    </a:p>
                  </a:txBody>
                  <a:tcPr marL="47625" marR="38100" marT="19050" marB="19050" anchor="ctr">
                    <a:solidFill>
                      <a:srgbClr val="FFFFFF"/>
                    </a:solidFill>
                  </a:tcPr>
                </a:tc>
              </a:tr>
              <a:tr h="215958">
                <a:tc>
                  <a:txBody>
                    <a:bodyPr wrap="none"/>
                    <a:lstStyle/>
                    <a:p>
                      <a:pPr algn="l"/>
                      <a:r>
                        <a:rPr sz="1100" b="1">
                          <a:solidFill>
                            <a:srgbClr val="2E2E2E"/>
                          </a:solidFill>
                          <a:latin typeface="Calibri"/>
                        </a:rPr>
                        <a:t>Laminated Films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25,797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26,909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28,101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29,395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30,787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32,426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34,240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36,254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38,487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40,961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43,677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46,635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49,820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53,225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56,836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60,648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6.5%</a:t>
                      </a:r>
                      <a:endParaRPr sz="1100"/>
                    </a:p>
                  </a:txBody>
                  <a:tcPr marL="47625" marR="38100" marT="19050" marB="19050" anchor="ctr">
                    <a:solidFill>
                      <a:srgbClr val="F5F8FA"/>
                    </a:solidFill>
                  </a:tcPr>
                </a:tc>
              </a:tr>
              <a:tr h="215958">
                <a:tc>
                  <a:txBody>
                    <a:bodyPr wrap="none"/>
                    <a:lstStyle/>
                    <a:p>
                      <a:pPr algn="l"/>
                      <a:r>
                        <a:rPr sz="1100" b="1">
                          <a:solidFill>
                            <a:srgbClr val="2E2E2E"/>
                          </a:solidFill>
                          <a:latin typeface="Calibri"/>
                        </a:rPr>
                        <a:t>– Duplex</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12,267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12,750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13,271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13,837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14,451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15,183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16,000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16,914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17,935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19,072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20,325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21,687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23,150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24,712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26,367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28,111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6.4%</a:t>
                      </a:r>
                      <a:endParaRPr sz="1100"/>
                    </a:p>
                  </a:txBody>
                  <a:tcPr marL="47625" marR="38100" marT="19050" marB="19050" anchor="ctr">
                    <a:solidFill>
                      <a:srgbClr val="FFFFFF"/>
                    </a:solidFill>
                  </a:tcPr>
                </a:tc>
              </a:tr>
              <a:tr h="215958">
                <a:tc>
                  <a:txBody>
                    <a:bodyPr wrap="none"/>
                    <a:lstStyle/>
                    <a:p>
                      <a:pPr algn="l"/>
                      <a:r>
                        <a:rPr sz="1100" b="1">
                          <a:solidFill>
                            <a:srgbClr val="2E2E2E"/>
                          </a:solidFill>
                          <a:latin typeface="Calibri"/>
                        </a:rPr>
                        <a:t>– Triplex</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9,374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9,800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10,256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10,751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11,281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11,904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12,593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13,361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14,213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15,153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16,184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17,306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18,523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19,826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21,211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22,674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6.7%</a:t>
                      </a:r>
                      <a:endParaRPr sz="1100"/>
                    </a:p>
                  </a:txBody>
                  <a:tcPr marL="47625" marR="38100" marT="19050" marB="19050" anchor="ctr">
                    <a:solidFill>
                      <a:srgbClr val="F5F8FA"/>
                    </a:solidFill>
                  </a:tcPr>
                </a:tc>
              </a:tr>
              <a:tr h="215958">
                <a:tc>
                  <a:txBody>
                    <a:bodyPr wrap="none"/>
                    <a:lstStyle/>
                    <a:p>
                      <a:pPr algn="l"/>
                      <a:r>
                        <a:rPr sz="1100" b="1">
                          <a:solidFill>
                            <a:srgbClr val="2E2E2E"/>
                          </a:solidFill>
                          <a:latin typeface="Calibri"/>
                        </a:rPr>
                        <a:t>– Multi-Ply</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4,156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4,360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4,574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4,807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5,055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5,340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5,647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5,979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6,339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6,735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7,168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7,641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8,148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8,687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9,258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9,863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6.3%</a:t>
                      </a:r>
                      <a:endParaRPr sz="1100"/>
                    </a:p>
                  </a:txBody>
                  <a:tcPr marL="47625" marR="38100" marT="19050" marB="19050" anchor="ctr">
                    <a:solidFill>
                      <a:srgbClr val="FFFFFF"/>
                    </a:solidFill>
                  </a:tcPr>
                </a:tc>
              </a:tr>
              <a:tr h="215958">
                <a:tc>
                  <a:txBody>
                    <a:bodyPr wrap="none"/>
                    <a:lstStyle/>
                    <a:p>
                      <a:pPr algn="l"/>
                      <a:r>
                        <a:rPr sz="1100" b="1">
                          <a:solidFill>
                            <a:srgbClr val="2E2E2E"/>
                          </a:solidFill>
                          <a:latin typeface="Calibri"/>
                        </a:rPr>
                        <a:t>Coated Films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6,602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6,909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7,239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7,598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7,978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8,417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8,889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9,408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9,985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10,631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11,345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12,125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12,966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13,865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14,818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15,824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6.5%</a:t>
                      </a:r>
                      <a:endParaRPr sz="1100"/>
                    </a:p>
                  </a:txBody>
                  <a:tcPr marL="47625" marR="38100" marT="19050" marB="19050" anchor="ctr">
                    <a:solidFill>
                      <a:srgbClr val="F5F8FA"/>
                    </a:solidFill>
                  </a:tcPr>
                </a:tc>
              </a:tr>
              <a:tr h="215958">
                <a:tc>
                  <a:txBody>
                    <a:bodyPr wrap="none"/>
                    <a:lstStyle/>
                    <a:p>
                      <a:pPr algn="l"/>
                      <a:r>
                        <a:rPr sz="1100" b="1">
                          <a:solidFill>
                            <a:srgbClr val="2E2E2E"/>
                          </a:solidFill>
                          <a:latin typeface="Calibri"/>
                        </a:rPr>
                        <a:t>Metallized Films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7,165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7,497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7,852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8,237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8,650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9,128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9,648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10,213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10,825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11,490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12,212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12,994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13,830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14,721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15,664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16,660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6.2%</a:t>
                      </a:r>
                      <a:endParaRPr sz="1100"/>
                    </a:p>
                  </a:txBody>
                  <a:tcPr marL="47625" marR="38100" marT="19050" marB="19050" anchor="ctr">
                    <a:solidFill>
                      <a:srgbClr val="FFFFFF"/>
                    </a:solidFill>
                  </a:tcPr>
                </a:tc>
              </a:tr>
            </a:tbl>
          </a:graphicData>
        </a:graphic>
      </p:graphicFrame>
      <p:sp>
        <p:nvSpPr>
          <p:cNvPr id="14" name="TextBox 13"/>
          <p:cNvSpPr txBox="1"/>
          <p:nvPr/>
        </p:nvSpPr>
        <p:spPr>
          <a:xfrm>
            <a:off x="219075" y="38385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Material Structure (US$ Mn)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Material Structure, 2021–2036, highlighting the sub-segments driving growth</a:t>
            </a:r>
          </a:p>
        </p:txBody>
      </p:sp>
      <p:sp>
        <p:nvSpPr>
          <p:cNvPr id="10" name="Rounded Rectangle 9"/>
          <p:cNvSpPr/>
          <p:nvPr/>
        </p:nvSpPr>
        <p:spPr>
          <a:xfrm>
            <a:off x="142875" y="981075"/>
            <a:ext cx="11906250" cy="1981200"/>
          </a:xfrm>
          <a:prstGeom prst="roundRect">
            <a:avLst>
              <a:gd name="adj" fmla="val 384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Material Structure (US$ Mn)</a:t>
            </a:r>
          </a:p>
        </p:txBody>
      </p:sp>
      <p:graphicFrame>
        <p:nvGraphicFramePr>
          <p:cNvPr id="12" name="Table 11"/>
          <p:cNvGraphicFramePr>
            <a:graphicFrameLocks noGrp="1"/>
          </p:cNvGraphicFramePr>
          <p:nvPr/>
        </p:nvGraphicFramePr>
        <p:xfrm>
          <a:off x="152400" y="1238250"/>
          <a:ext cx="11887196" cy="1514475"/>
        </p:xfrm>
        <a:graphic>
          <a:graphicData uri="http://schemas.openxmlformats.org/drawingml/2006/table">
            <a:tbl>
              <a:tblPr>
                <a:tableStyleId>{5C22544A-7EE6-4342-B048-85BDC9FD1C3A}</a:tableStyleId>
              </a:tblPr>
              <a:tblGrid>
                <a:gridCol w="2327717"/>
                <a:gridCol w="564056"/>
                <a:gridCol w="564056"/>
                <a:gridCol w="564056"/>
                <a:gridCol w="564056"/>
                <a:gridCol w="564056"/>
                <a:gridCol w="564056"/>
                <a:gridCol w="564056"/>
                <a:gridCol w="564056"/>
                <a:gridCol w="564056"/>
                <a:gridCol w="564056"/>
                <a:gridCol w="564056"/>
                <a:gridCol w="564056"/>
                <a:gridCol w="564056"/>
                <a:gridCol w="564056"/>
                <a:gridCol w="564056"/>
                <a:gridCol w="564056"/>
                <a:gridCol w="534583"/>
              </a:tblGrid>
              <a:tr h="215265">
                <a:tc>
                  <a:txBody>
                    <a:bodyPr wrap="none"/>
                    <a:lstStyle/>
                    <a:p>
                      <a:pPr algn="l"/>
                      <a:r>
                        <a:rPr sz="1100" b="1">
                          <a:solidFill>
                            <a:srgbClr val="0B2E4A"/>
                          </a:solidFill>
                          <a:latin typeface="Calibri"/>
                        </a:rPr>
                        <a:t>Material Structure</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2021A</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2022A</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2023A</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2024A</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2025A</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2026E</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2027F</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2028F</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2029F</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2030F</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2031F</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2032F</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2033F</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2034F</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2035F</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2036F</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F-CAGR</a:t>
                      </a:r>
                      <a:endParaRPr sz="1100"/>
                    </a:p>
                  </a:txBody>
                  <a:tcPr marL="38100" marR="28575" marT="19050" marB="19050" anchor="ctr">
                    <a:solidFill>
                      <a:srgbClr val="E0E8EF"/>
                    </a:solidFill>
                  </a:tcPr>
                </a:tc>
              </a:tr>
              <a:tr h="216535">
                <a:tc>
                  <a:txBody>
                    <a:bodyPr wrap="none"/>
                    <a:lstStyle/>
                    <a:p>
                      <a:pPr algn="l"/>
                      <a:r>
                        <a:rPr sz="1100" b="1">
                          <a:solidFill>
                            <a:srgbClr val="2E2E2E"/>
                          </a:solidFill>
                          <a:latin typeface="Calibri"/>
                        </a:rPr>
                        <a:t>Foil-Laminated Structures</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7,732</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8,069</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8,425</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8,809</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9,222</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9,712</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10,261</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10,874</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11,555</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12,309</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13,135</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14,037</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15,014</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16,064</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17,180</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18,363</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6.6%</a:t>
                      </a:r>
                      <a:endParaRPr sz="1100"/>
                    </a:p>
                  </a:txBody>
                  <a:tcPr marL="38100" marR="28575" marT="19050" marB="19050" anchor="ctr">
                    <a:solidFill>
                      <a:srgbClr val="FFFFFF"/>
                    </a:solidFill>
                  </a:tcPr>
                </a:tc>
              </a:tr>
              <a:tr h="216535">
                <a:tc>
                  <a:txBody>
                    <a:bodyPr wrap="none"/>
                    <a:lstStyle/>
                    <a:p>
                      <a:pPr algn="l"/>
                      <a:r>
                        <a:rPr sz="1100" b="1">
                          <a:solidFill>
                            <a:srgbClr val="2E2E2E"/>
                          </a:solidFill>
                          <a:latin typeface="Calibri"/>
                        </a:rPr>
                        <a:t>Mono-Material Recyclable Structures</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8,109</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8,479</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8,877</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9,314</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9,789</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10,354</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10,985</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11,692</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12,481</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13,368</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14,361</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15,461</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16,655</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17,942</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19,315</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20,771</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7.2%</a:t>
                      </a:r>
                      <a:endParaRPr sz="1100"/>
                    </a:p>
                  </a:txBody>
                  <a:tcPr marL="38100" marR="28575" marT="19050" marB="19050" anchor="ctr">
                    <a:solidFill>
                      <a:srgbClr val="F5F8FA"/>
                    </a:solidFill>
                  </a:tcPr>
                </a:tc>
              </a:tr>
              <a:tr h="216535">
                <a:tc>
                  <a:txBody>
                    <a:bodyPr wrap="none"/>
                    <a:lstStyle/>
                    <a:p>
                      <a:pPr algn="l"/>
                      <a:r>
                        <a:rPr sz="1100" b="1">
                          <a:solidFill>
                            <a:srgbClr val="2E2E2E"/>
                          </a:solidFill>
                          <a:latin typeface="Calibri"/>
                        </a:rPr>
                        <a:t>– PE-Based</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4,610</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4,819</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5,046</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5,294</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5,565</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5,887</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6,248</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6,653</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7,108</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7,621</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8,197</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8,834</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9,525</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10,270</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11,065</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11,908</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7.3%</a:t>
                      </a:r>
                      <a:endParaRPr sz="1100"/>
                    </a:p>
                  </a:txBody>
                  <a:tcPr marL="38100" marR="28575" marT="19050" marB="19050" anchor="ctr">
                    <a:solidFill>
                      <a:srgbClr val="FFFFFF"/>
                    </a:solidFill>
                  </a:tcPr>
                </a:tc>
              </a:tr>
              <a:tr h="216535">
                <a:tc>
                  <a:txBody>
                    <a:bodyPr wrap="none"/>
                    <a:lstStyle/>
                    <a:p>
                      <a:pPr algn="l"/>
                      <a:r>
                        <a:rPr sz="1100" b="1">
                          <a:solidFill>
                            <a:srgbClr val="2E2E2E"/>
                          </a:solidFill>
                          <a:latin typeface="Calibri"/>
                        </a:rPr>
                        <a:t>– PP-Based</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2,428</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2,528</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2,635</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2,753</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2,881</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3,035</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3,210</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3,405</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3,623</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3,871</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4,150</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4,462</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4,803</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5,171</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5,563</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5,979</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7.0%</a:t>
                      </a:r>
                      <a:endParaRPr sz="1100"/>
                    </a:p>
                  </a:txBody>
                  <a:tcPr marL="38100" marR="28575" marT="19050" marB="19050" anchor="ctr">
                    <a:solidFill>
                      <a:srgbClr val="F5F8FA"/>
                    </a:solidFill>
                  </a:tcPr>
                </a:tc>
              </a:tr>
              <a:tr h="216535">
                <a:tc>
                  <a:txBody>
                    <a:bodyPr wrap="none"/>
                    <a:lstStyle/>
                    <a:p>
                      <a:pPr algn="l"/>
                      <a:r>
                        <a:rPr sz="1100" b="1">
                          <a:solidFill>
                            <a:srgbClr val="2E2E2E"/>
                          </a:solidFill>
                          <a:latin typeface="Calibri"/>
                        </a:rPr>
                        <a:t>– PET-Based</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1,071</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1,132</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1,196</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1,267</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1,343</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1,432</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1,528</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1,634</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1,749</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1,876</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2,014</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2,164</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2,327</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2,501</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2,686</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2,884</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7.3%</a:t>
                      </a:r>
                      <a:endParaRPr sz="1100"/>
                    </a:p>
                  </a:txBody>
                  <a:tcPr marL="38100" marR="28575" marT="19050" marB="19050" anchor="ctr">
                    <a:solidFill>
                      <a:srgbClr val="FFFFFF"/>
                    </a:solidFill>
                  </a:tcPr>
                </a:tc>
              </a:tr>
              <a:tr h="216535">
                <a:tc>
                  <a:txBody>
                    <a:bodyPr wrap="none"/>
                    <a:lstStyle/>
                    <a:p>
                      <a:pPr algn="l"/>
                      <a:r>
                        <a:rPr sz="1100" b="1">
                          <a:solidFill>
                            <a:srgbClr val="2E2E2E"/>
                          </a:solidFill>
                          <a:latin typeface="Calibri"/>
                        </a:rPr>
                        <a:t>Total</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101,257</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105,663</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110,360</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115,439</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120,900</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127,346</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134,491</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142,430</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151,246</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161,060</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171,894</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183,758</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196,559</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210,265</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224,814</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240,208</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6.6%</a:t>
                      </a:r>
                      <a:endParaRPr sz="1100"/>
                    </a:p>
                  </a:txBody>
                  <a:tcPr marL="38100" marR="28575" marT="19050" marB="19050" anchor="ctr">
                    <a:solidFill>
                      <a:srgbClr val="E0E8EF"/>
                    </a:solidFill>
                  </a:tcPr>
                </a:tc>
              </a:tr>
            </a:tbl>
          </a:graphicData>
        </a:graphic>
      </p:graphicFrame>
      <p:sp>
        <p:nvSpPr>
          <p:cNvPr id="13" name="TextBox 12"/>
          <p:cNvSpPr txBox="1"/>
          <p:nvPr/>
        </p:nvSpPr>
        <p:spPr>
          <a:xfrm>
            <a:off x="219075" y="27622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095625"/>
            <a:ext cx="11906250" cy="3533775"/>
          </a:xfrm>
          <a:prstGeom prst="roundRect">
            <a:avLst>
              <a:gd name="adj" fmla="val 215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1813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Material Structure</a:t>
            </a:r>
          </a:p>
        </p:txBody>
      </p:sp>
      <p:sp>
        <p:nvSpPr>
          <p:cNvPr id="16" name="Rectangle 15"/>
          <p:cNvSpPr/>
          <p:nvPr/>
        </p:nvSpPr>
        <p:spPr>
          <a:xfrm>
            <a:off x="276225" y="34194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505200"/>
            <a:ext cx="11639550" cy="30480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Coextruded multilayer films segment is projected to register 1.1X higher value than laminated films segment in 2036. Among flexible plastic packaging by material structure, mono-material recyclable structures segment is expected to witness the highest CAGR of 7.2% over the forecast period.</a:t>
            </a:r>
          </a:p>
          <a:p>
            <a:pPr algn="l">
              <a:lnSpc>
                <a:spcPct val="110000"/>
              </a:lnSpc>
              <a:spcBef>
                <a:spcPts val="0"/>
              </a:spcBef>
              <a:spcAft>
                <a:spcPts val="500"/>
              </a:spcAft>
            </a:pPr>
            <a:r>
              <a:rPr sz="1150" b="0">
                <a:solidFill>
                  <a:srgbClr val="2E2E2E"/>
                </a:solidFill>
                <a:latin typeface="Calibri"/>
              </a:rPr>
              <a:t>In terms of value share by material structure, the coextruded multilayer films segment is expected to dominate the market, losing 32 BPS and accounting for 28.8% share by 2036.</a:t>
            </a:r>
          </a:p>
          <a:p>
            <a:pPr algn="l">
              <a:lnSpc>
                <a:spcPct val="110000"/>
              </a:lnSpc>
              <a:spcBef>
                <a:spcPts val="0"/>
              </a:spcBef>
              <a:spcAft>
                <a:spcPts val="500"/>
              </a:spcAft>
            </a:pPr>
            <a:r>
              <a:rPr sz="1150" b="0">
                <a:solidFill>
                  <a:srgbClr val="2E2E2E"/>
                </a:solidFill>
                <a:latin typeface="Calibri"/>
              </a:rPr>
              <a:t>Mono-Material Recyclable Structures gains 52 BPS of value share because brand owners are redesigning multilayer laminates into recyclable mono-PE and mono-PP formats to meet EPR and recycled-content requirements. Its 7.2% CAGR compares with a 6.6% market rate, while Coextruded Multilayer Films loses 32 BPS at 6.4% as complex multilayer constructions are hard to recycle and are being redesigned toward simpler structures. Brand-owner sustainability targets and rising processed-food consumption set the pattern across regions.</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Material Structure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Material Structure in 2021, 2026 and 2036, highlighting share shifts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Material Structure ·  2021 / 2026 / 2036 (US$ Mn)  ·  right axis = BPS share shift</a:t>
            </a:r>
          </a:p>
        </p:txBody>
      </p:sp>
      <p:graphicFrame>
        <p:nvGraphicFramePr>
          <p:cNvPr id="13" name="Chart 12"/>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4" name="TextBox 13"/>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5" name="FMI Lock Anchor"/>
          <p:cNvSpPr txBox="1"/>
          <p:nvPr/>
        </p:nvSpPr>
        <p:spPr>
          <a:xfrm>
            <a:off x="2678811" y="4014597"/>
            <a:ext cx="38100" cy="38100"/>
          </a:xfrm>
          <a:prstGeom prst="rect">
            <a:avLst/>
          </a:prstGeom>
          <a:noFill/>
        </p:spPr>
        <p:txBody>
          <a:bodyPr wrap="none">
            <a:spAutoFit/>
          </a:bodyPr>
          <a:lstStyle/>
          <a:p/>
        </p:txBody>
      </p:sp>
      <p:sp>
        <p:nvSpPr>
          <p:cNvPr id="16" name="FMI Legend Chip"/>
          <p:cNvSpPr/>
          <p:nvPr/>
        </p:nvSpPr>
        <p:spPr>
          <a:xfrm>
            <a:off x="4928997" y="1821863"/>
            <a:ext cx="85725" cy="85725"/>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5090922" y="181710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5233797" y="174090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Coated Films</a:t>
            </a:r>
          </a:p>
        </p:txBody>
      </p:sp>
      <p:sp>
        <p:nvSpPr>
          <p:cNvPr id="19" name="BPS Value 1"/>
          <p:cNvSpPr txBox="1"/>
          <p:nvPr/>
        </p:nvSpPr>
        <p:spPr>
          <a:xfrm>
            <a:off x="6896100" y="1802813"/>
            <a:ext cx="514350" cy="123825"/>
          </a:xfrm>
          <a:prstGeom prst="rect">
            <a:avLst/>
          </a:prstGeom>
          <a:noFill/>
        </p:spPr>
        <p:txBody>
          <a:bodyPr wrap="none" lIns="0" rIns="0" tIns="0" bIns="0" anchor="ctr">
            <a:spAutoFit/>
          </a:bodyPr>
          <a:lstStyle/>
          <a:p>
            <a:pPr algn="r"/>
            <a:r>
              <a:rPr sz="900" b="1">
                <a:solidFill>
                  <a:srgbClr val="E44D3A"/>
                </a:solidFill>
                <a:latin typeface="Calibri"/>
              </a:rPr>
              <a:t>-2</a:t>
            </a:r>
          </a:p>
        </p:txBody>
      </p:sp>
      <p:sp>
        <p:nvSpPr>
          <p:cNvPr id="20" name="FMI Legend Chip"/>
          <p:cNvSpPr/>
          <p:nvPr/>
        </p:nvSpPr>
        <p:spPr>
          <a:xfrm>
            <a:off x="4928997" y="2131030"/>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5090922" y="212626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5233797" y="205006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Metallized Films</a:t>
            </a:r>
          </a:p>
        </p:txBody>
      </p:sp>
      <p:sp>
        <p:nvSpPr>
          <p:cNvPr id="23" name="BPS Value 2"/>
          <p:cNvSpPr txBox="1"/>
          <p:nvPr/>
        </p:nvSpPr>
        <p:spPr>
          <a:xfrm>
            <a:off x="6896100" y="2111980"/>
            <a:ext cx="514350" cy="123825"/>
          </a:xfrm>
          <a:prstGeom prst="rect">
            <a:avLst/>
          </a:prstGeom>
          <a:noFill/>
        </p:spPr>
        <p:txBody>
          <a:bodyPr wrap="none" lIns="0" rIns="0" tIns="0" bIns="0" anchor="ctr">
            <a:spAutoFit/>
          </a:bodyPr>
          <a:lstStyle/>
          <a:p>
            <a:pPr algn="r"/>
            <a:r>
              <a:rPr sz="900" b="1">
                <a:solidFill>
                  <a:srgbClr val="E44D3A"/>
                </a:solidFill>
                <a:latin typeface="Calibri"/>
              </a:rPr>
              <a:t>-23</a:t>
            </a:r>
          </a:p>
        </p:txBody>
      </p:sp>
      <p:sp>
        <p:nvSpPr>
          <p:cNvPr id="24" name="FMI Legend Chip"/>
          <p:cNvSpPr/>
          <p:nvPr/>
        </p:nvSpPr>
        <p:spPr>
          <a:xfrm>
            <a:off x="4928997" y="2464361"/>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5090922" y="245959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3"/>
          <p:cNvSpPr txBox="1"/>
          <p:nvPr/>
        </p:nvSpPr>
        <p:spPr>
          <a:xfrm>
            <a:off x="5233797" y="238339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Foil-Laminated Structures</a:t>
            </a:r>
          </a:p>
        </p:txBody>
      </p:sp>
      <p:sp>
        <p:nvSpPr>
          <p:cNvPr id="27" name="BPS Value 3"/>
          <p:cNvSpPr txBox="1"/>
          <p:nvPr/>
        </p:nvSpPr>
        <p:spPr>
          <a:xfrm>
            <a:off x="6896100" y="2445311"/>
            <a:ext cx="514350" cy="123825"/>
          </a:xfrm>
          <a:prstGeom prst="rect">
            <a:avLst/>
          </a:prstGeom>
          <a:noFill/>
        </p:spPr>
        <p:txBody>
          <a:bodyPr wrap="none" lIns="0" rIns="0" tIns="0" bIns="0" anchor="ctr">
            <a:spAutoFit/>
          </a:bodyPr>
          <a:lstStyle/>
          <a:p>
            <a:pPr algn="r"/>
            <a:r>
              <a:rPr sz="900" b="1">
                <a:solidFill>
                  <a:srgbClr val="2E7D32"/>
                </a:solidFill>
                <a:latin typeface="Calibri"/>
              </a:rPr>
              <a:t>+2</a:t>
            </a:r>
          </a:p>
        </p:txBody>
      </p:sp>
      <p:sp>
        <p:nvSpPr>
          <p:cNvPr id="28" name="FMI Legend Chip"/>
          <p:cNvSpPr/>
          <p:nvPr/>
        </p:nvSpPr>
        <p:spPr>
          <a:xfrm>
            <a:off x="4928997" y="2836819"/>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a:off x="5090922" y="283205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4"/>
          <p:cNvSpPr txBox="1"/>
          <p:nvPr/>
        </p:nvSpPr>
        <p:spPr>
          <a:xfrm>
            <a:off x="5233797" y="275585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Mono-Material Recyclable Structures</a:t>
            </a:r>
          </a:p>
        </p:txBody>
      </p:sp>
      <p:sp>
        <p:nvSpPr>
          <p:cNvPr id="31" name="BPS Value 4"/>
          <p:cNvSpPr txBox="1"/>
          <p:nvPr/>
        </p:nvSpPr>
        <p:spPr>
          <a:xfrm>
            <a:off x="6896100" y="2817769"/>
            <a:ext cx="514350" cy="123825"/>
          </a:xfrm>
          <a:prstGeom prst="rect">
            <a:avLst/>
          </a:prstGeom>
          <a:noFill/>
        </p:spPr>
        <p:txBody>
          <a:bodyPr wrap="none" lIns="0" rIns="0" tIns="0" bIns="0" anchor="ctr">
            <a:spAutoFit/>
          </a:bodyPr>
          <a:lstStyle/>
          <a:p>
            <a:pPr algn="r"/>
            <a:r>
              <a:rPr sz="900" b="1">
                <a:solidFill>
                  <a:srgbClr val="2E7D32"/>
                </a:solidFill>
                <a:latin typeface="Calibri"/>
              </a:rPr>
              <a:t>+52</a:t>
            </a:r>
          </a:p>
        </p:txBody>
      </p:sp>
      <p:sp>
        <p:nvSpPr>
          <p:cNvPr id="32" name="FMI Legend Chip"/>
          <p:cNvSpPr/>
          <p:nvPr/>
        </p:nvSpPr>
        <p:spPr>
          <a:xfrm>
            <a:off x="4928997" y="3402769"/>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a:off x="5090922" y="339800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5"/>
          <p:cNvSpPr txBox="1"/>
          <p:nvPr/>
        </p:nvSpPr>
        <p:spPr>
          <a:xfrm>
            <a:off x="5233797" y="332180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Monolayer Films</a:t>
            </a:r>
          </a:p>
        </p:txBody>
      </p:sp>
      <p:sp>
        <p:nvSpPr>
          <p:cNvPr id="35" name="BPS Value 5"/>
          <p:cNvSpPr txBox="1"/>
          <p:nvPr/>
        </p:nvSpPr>
        <p:spPr>
          <a:xfrm>
            <a:off x="6896100" y="3383719"/>
            <a:ext cx="514350" cy="123825"/>
          </a:xfrm>
          <a:prstGeom prst="rect">
            <a:avLst/>
          </a:prstGeom>
          <a:noFill/>
        </p:spPr>
        <p:txBody>
          <a:bodyPr wrap="none" lIns="0" rIns="0" tIns="0" bIns="0" anchor="ctr">
            <a:spAutoFit/>
          </a:bodyPr>
          <a:lstStyle/>
          <a:p>
            <a:pPr algn="r"/>
            <a:r>
              <a:rPr sz="900" b="1">
                <a:solidFill>
                  <a:srgbClr val="2E7D32"/>
                </a:solidFill>
                <a:latin typeface="Calibri"/>
              </a:rPr>
              <a:t>+26</a:t>
            </a:r>
          </a:p>
        </p:txBody>
      </p:sp>
      <p:sp>
        <p:nvSpPr>
          <p:cNvPr id="36" name="FMI Legend Chip"/>
          <p:cNvSpPr/>
          <p:nvPr/>
        </p:nvSpPr>
        <p:spPr>
          <a:xfrm>
            <a:off x="4928997" y="4348248"/>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Isosceles Triangle 36"/>
          <p:cNvSpPr/>
          <p:nvPr/>
        </p:nvSpPr>
        <p:spPr>
          <a:xfrm rot="10800000">
            <a:off x="5090922" y="434348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PS Name 6"/>
          <p:cNvSpPr txBox="1"/>
          <p:nvPr/>
        </p:nvSpPr>
        <p:spPr>
          <a:xfrm>
            <a:off x="5233797" y="426728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Laminated Films</a:t>
            </a:r>
          </a:p>
        </p:txBody>
      </p:sp>
      <p:sp>
        <p:nvSpPr>
          <p:cNvPr id="39" name="BPS Value 6"/>
          <p:cNvSpPr txBox="1"/>
          <p:nvPr/>
        </p:nvSpPr>
        <p:spPr>
          <a:xfrm>
            <a:off x="6896100" y="4329198"/>
            <a:ext cx="514350" cy="123825"/>
          </a:xfrm>
          <a:prstGeom prst="rect">
            <a:avLst/>
          </a:prstGeom>
          <a:noFill/>
        </p:spPr>
        <p:txBody>
          <a:bodyPr wrap="none" lIns="0" rIns="0" tIns="0" bIns="0" anchor="ctr">
            <a:spAutoFit/>
          </a:bodyPr>
          <a:lstStyle/>
          <a:p>
            <a:pPr algn="r"/>
            <a:r>
              <a:rPr sz="900" b="1">
                <a:solidFill>
                  <a:srgbClr val="E44D3A"/>
                </a:solidFill>
                <a:latin typeface="Calibri"/>
              </a:rPr>
              <a:t>-22</a:t>
            </a:r>
          </a:p>
        </p:txBody>
      </p:sp>
      <p:sp>
        <p:nvSpPr>
          <p:cNvPr id="40" name="FMI Legend Chip"/>
          <p:cNvSpPr/>
          <p:nvPr/>
        </p:nvSpPr>
        <p:spPr>
          <a:xfrm>
            <a:off x="4928997" y="5584551"/>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Isosceles Triangle 40"/>
          <p:cNvSpPr/>
          <p:nvPr/>
        </p:nvSpPr>
        <p:spPr>
          <a:xfrm rot="10800000">
            <a:off x="5090922" y="557978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PS Name 7"/>
          <p:cNvSpPr txBox="1"/>
          <p:nvPr/>
        </p:nvSpPr>
        <p:spPr>
          <a:xfrm>
            <a:off x="5233797" y="550358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Coextruded Multilayer Films</a:t>
            </a:r>
          </a:p>
        </p:txBody>
      </p:sp>
      <p:sp>
        <p:nvSpPr>
          <p:cNvPr id="43" name="BPS Value 7"/>
          <p:cNvSpPr txBox="1"/>
          <p:nvPr/>
        </p:nvSpPr>
        <p:spPr>
          <a:xfrm>
            <a:off x="6896100" y="5565501"/>
            <a:ext cx="514350" cy="123825"/>
          </a:xfrm>
          <a:prstGeom prst="rect">
            <a:avLst/>
          </a:prstGeom>
          <a:noFill/>
        </p:spPr>
        <p:txBody>
          <a:bodyPr wrap="none" lIns="0" rIns="0" tIns="0" bIns="0" anchor="ctr">
            <a:spAutoFit/>
          </a:bodyPr>
          <a:lstStyle/>
          <a:p>
            <a:pPr algn="r"/>
            <a:r>
              <a:rPr sz="900" b="1">
                <a:solidFill>
                  <a:srgbClr val="E44D3A"/>
                </a:solidFill>
                <a:latin typeface="Calibri"/>
              </a:rPr>
              <a:t>-32</a:t>
            </a:r>
          </a:p>
        </p:txBody>
      </p:sp>
      <p:sp>
        <p:nvSpPr>
          <p:cNvPr id="44" name="Rounded Rectangle 43"/>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Material Structure</a:t>
            </a:r>
          </a:p>
        </p:txBody>
      </p:sp>
      <p:sp>
        <p:nvSpPr>
          <p:cNvPr id="46" name="Rectangle 45"/>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Among flexible plastic packaging by material structure, mono-material recyclable structures segment is expected to witness the highest CAGR of 7.2% over the forecast period.</a:t>
            </a:r>
          </a:p>
          <a:p>
            <a:pPr algn="l">
              <a:lnSpc>
                <a:spcPct val="110000"/>
              </a:lnSpc>
              <a:spcBef>
                <a:spcPts val="0"/>
              </a:spcBef>
              <a:spcAft>
                <a:spcPts val="500"/>
              </a:spcAft>
            </a:pPr>
            <a:r>
              <a:rPr sz="1150" b="0">
                <a:solidFill>
                  <a:srgbClr val="2E2E2E"/>
                </a:solidFill>
                <a:latin typeface="Calibri"/>
              </a:rPr>
              <a:t>In terms of value share by material structure, the coextruded multilayer films segment is expected to dominate the market, losing 32 BPS and accounting for 28.8% share by 2036.</a:t>
            </a:r>
          </a:p>
          <a:p>
            <a:pPr algn="l">
              <a:lnSpc>
                <a:spcPct val="110000"/>
              </a:lnSpc>
              <a:spcBef>
                <a:spcPts val="0"/>
              </a:spcBef>
              <a:spcAft>
                <a:spcPts val="500"/>
              </a:spcAft>
            </a:pPr>
            <a:r>
              <a:rPr sz="1150" b="0">
                <a:solidFill>
                  <a:srgbClr val="2E2E2E"/>
                </a:solidFill>
                <a:latin typeface="Calibri"/>
              </a:rPr>
              <a:t>Mono-Material Recyclable Structures grow fastest at 7.2% because regulation and retailer commitments are forcing brands to replace hard-to-recycle laminates with single-polymer designs. Advances in high-barrier PE and PP coatings and orientation technology now let these films protect shelf life without aluminium or PVDC layers. Metallized Films, at 6.2%, grow slowest as they are the structures most exposed to this substitution.</a:t>
            </a:r>
          </a:p>
        </p:txBody>
      </p:sp>
      <p:sp>
        <p:nvSpPr>
          <p:cNvPr id="48" name="TextBox 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YoY Analysis of Global Market Volume, By Material Structure (%)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Year-on-year volume growth by Material Structure, 2022–2036, highlighting acceleration and slowdown</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4133850"/>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YoY Growth, By Material Structure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3" name="Table 12"/>
          <p:cNvGraphicFramePr>
            <a:graphicFrameLocks noGrp="1"/>
          </p:cNvGraphicFramePr>
          <p:nvPr/>
        </p:nvGraphicFramePr>
        <p:xfrm>
          <a:off x="152400" y="1238250"/>
          <a:ext cx="11887197" cy="3667121"/>
        </p:xfrm>
        <a:graphic>
          <a:graphicData uri="http://schemas.openxmlformats.org/drawingml/2006/table">
            <a:tbl>
              <a:tblPr>
                <a:tableStyleId>{5C22544A-7EE6-4342-B048-85BDC9FD1C3A}</a:tableStyleId>
              </a:tblPr>
              <a:tblGrid>
                <a:gridCol w="2576802"/>
                <a:gridCol w="620693"/>
                <a:gridCol w="620693"/>
                <a:gridCol w="620693"/>
                <a:gridCol w="620693"/>
                <a:gridCol w="620693"/>
                <a:gridCol w="620693"/>
                <a:gridCol w="620693"/>
                <a:gridCol w="620693"/>
                <a:gridCol w="620693"/>
                <a:gridCol w="620693"/>
                <a:gridCol w="620693"/>
                <a:gridCol w="620693"/>
                <a:gridCol w="620693"/>
                <a:gridCol w="620693"/>
                <a:gridCol w="620693"/>
              </a:tblGrid>
              <a:tr h="215265">
                <a:tc>
                  <a:txBody>
                    <a:bodyPr wrap="none"/>
                    <a:lstStyle/>
                    <a:p>
                      <a:pPr algn="l"/>
                      <a:r>
                        <a:rPr sz="1100" b="1">
                          <a:solidFill>
                            <a:srgbClr val="0B2E4A"/>
                          </a:solidFill>
                          <a:latin typeface="Calibri"/>
                        </a:rPr>
                        <a:t>Material Structure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2036F</a:t>
                      </a:r>
                      <a:endParaRPr sz="1100"/>
                    </a:p>
                  </a:txBody>
                  <a:tcPr marL="47625" marR="38100" marT="19050" marB="19050" anchor="ctr">
                    <a:solidFill>
                      <a:srgbClr val="E0E8EF"/>
                    </a:solidFill>
                  </a:tcPr>
                </a:tc>
              </a:tr>
              <a:tr h="215741">
                <a:tc>
                  <a:txBody>
                    <a:bodyPr wrap="none"/>
                    <a:lstStyle/>
                    <a:p>
                      <a:pPr algn="l"/>
                      <a:r>
                        <a:rPr sz="1100" b="1">
                          <a:solidFill>
                            <a:srgbClr val="2E2E2E"/>
                          </a:solidFill>
                          <a:latin typeface="Calibri"/>
                        </a:rPr>
                        <a:t>Monolayer Films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5.3%</a:t>
                      </a:r>
                      <a:endParaRPr sz="1100"/>
                    </a:p>
                  </a:txBody>
                  <a:tcPr marL="47625" marR="38100" marT="19050" marB="19050" anchor="ctr">
                    <a:solidFill>
                      <a:srgbClr val="FFFFFF"/>
                    </a:solidFill>
                  </a:tcPr>
                </a:tc>
              </a:tr>
              <a:tr h="215741">
                <a:tc>
                  <a:txBody>
                    <a:bodyPr wrap="none"/>
                    <a:lstStyle/>
                    <a:p>
                      <a:pPr algn="l"/>
                      <a:r>
                        <a:rPr sz="1100" b="1">
                          <a:solidFill>
                            <a:srgbClr val="2E2E2E"/>
                          </a:solidFill>
                          <a:latin typeface="Calibri"/>
                        </a:rPr>
                        <a:t>Coextruded Multilayer Films</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5F8FA"/>
                    </a:solidFill>
                  </a:tcPr>
                </a:tc>
              </a:tr>
              <a:tr h="215741">
                <a:tc>
                  <a:txBody>
                    <a:bodyPr wrap="none"/>
                    <a:lstStyle/>
                    <a:p>
                      <a:pPr algn="l"/>
                      <a:r>
                        <a:rPr sz="1100" b="1">
                          <a:solidFill>
                            <a:srgbClr val="2E2E2E"/>
                          </a:solidFill>
                          <a:latin typeface="Calibri"/>
                        </a:rPr>
                        <a:t>– 3–5 Layer</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3.7%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3.8%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3.9%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4.6%</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FFFFF"/>
                    </a:solidFill>
                  </a:tcPr>
                </a:tc>
              </a:tr>
              <a:tr h="215741">
                <a:tc>
                  <a:txBody>
                    <a:bodyPr wrap="none"/>
                    <a:lstStyle/>
                    <a:p>
                      <a:pPr algn="l"/>
                      <a:r>
                        <a:rPr sz="1100" b="1">
                          <a:solidFill>
                            <a:srgbClr val="2E2E2E"/>
                          </a:solidFill>
                          <a:latin typeface="Calibri"/>
                        </a:rPr>
                        <a:t>– 7 Layer</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5F8FA"/>
                    </a:solidFill>
                  </a:tcPr>
                </a:tc>
              </a:tr>
              <a:tr h="215741">
                <a:tc>
                  <a:txBody>
                    <a:bodyPr wrap="none"/>
                    <a:lstStyle/>
                    <a:p>
                      <a:pPr algn="l"/>
                      <a:r>
                        <a:rPr sz="1100" b="1">
                          <a:solidFill>
                            <a:srgbClr val="2E2E2E"/>
                          </a:solidFill>
                          <a:latin typeface="Calibri"/>
                        </a:rPr>
                        <a:t>– 9 Layer and Above</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3.7%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3.8%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3.8%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3.8%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4.6%</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4.7%</a:t>
                      </a:r>
                      <a:endParaRPr sz="1100"/>
                    </a:p>
                  </a:txBody>
                  <a:tcPr marL="47625" marR="38100" marT="19050" marB="19050" anchor="ctr">
                    <a:solidFill>
                      <a:srgbClr val="FFFFFF"/>
                    </a:solidFill>
                  </a:tcPr>
                </a:tc>
              </a:tr>
              <a:tr h="215741">
                <a:tc>
                  <a:txBody>
                    <a:bodyPr wrap="none"/>
                    <a:lstStyle/>
                    <a:p>
                      <a:pPr algn="l"/>
                      <a:r>
                        <a:rPr sz="1100" b="1">
                          <a:solidFill>
                            <a:srgbClr val="2E2E2E"/>
                          </a:solidFill>
                          <a:latin typeface="Calibri"/>
                        </a:rPr>
                        <a:t>Laminated Films</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4.3%</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5F8FA"/>
                    </a:solidFill>
                  </a:tcPr>
                </a:tc>
              </a:tr>
              <a:tr h="215741">
                <a:tc>
                  <a:txBody>
                    <a:bodyPr wrap="none"/>
                    <a:lstStyle/>
                    <a:p>
                      <a:pPr algn="l"/>
                      <a:r>
                        <a:rPr sz="1100" b="1">
                          <a:solidFill>
                            <a:srgbClr val="2E2E2E"/>
                          </a:solidFill>
                          <a:latin typeface="Calibri"/>
                        </a:rPr>
                        <a:t>– Duplex</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3.7%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3.8%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3.9%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FFFFF"/>
                    </a:solidFill>
                  </a:tcPr>
                </a:tc>
              </a:tr>
              <a:tr h="215741">
                <a:tc>
                  <a:txBody>
                    <a:bodyPr wrap="none"/>
                    <a:lstStyle/>
                    <a:p>
                      <a:pPr algn="l"/>
                      <a:r>
                        <a:rPr sz="1100" b="1">
                          <a:solidFill>
                            <a:srgbClr val="2E2E2E"/>
                          </a:solidFill>
                          <a:latin typeface="Calibri"/>
                        </a:rPr>
                        <a:t>– Triplex</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4.3%</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5.2%</a:t>
                      </a:r>
                      <a:endParaRPr sz="1100"/>
                    </a:p>
                  </a:txBody>
                  <a:tcPr marL="47625" marR="38100" marT="19050" marB="19050" anchor="ctr">
                    <a:solidFill>
                      <a:srgbClr val="F5F8FA"/>
                    </a:solidFill>
                  </a:tcPr>
                </a:tc>
              </a:tr>
              <a:tr h="215741">
                <a:tc>
                  <a:txBody>
                    <a:bodyPr wrap="none"/>
                    <a:lstStyle/>
                    <a:p>
                      <a:pPr algn="l"/>
                      <a:r>
                        <a:rPr sz="1100" b="1">
                          <a:solidFill>
                            <a:srgbClr val="2E2E2E"/>
                          </a:solidFill>
                          <a:latin typeface="Calibri"/>
                        </a:rPr>
                        <a:t>– Multi-Ply</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4.8%</a:t>
                      </a:r>
                      <a:endParaRPr sz="1100"/>
                    </a:p>
                  </a:txBody>
                  <a:tcPr marL="47625" marR="38100" marT="19050" marB="19050" anchor="ctr">
                    <a:solidFill>
                      <a:srgbClr val="FFFFFF"/>
                    </a:solidFill>
                  </a:tcPr>
                </a:tc>
              </a:tr>
              <a:tr h="215741">
                <a:tc>
                  <a:txBody>
                    <a:bodyPr wrap="none"/>
                    <a:lstStyle/>
                    <a:p>
                      <a:pPr algn="l"/>
                      <a:r>
                        <a:rPr sz="1100" b="1">
                          <a:solidFill>
                            <a:srgbClr val="2E2E2E"/>
                          </a:solidFill>
                          <a:latin typeface="Calibri"/>
                        </a:rPr>
                        <a:t>Coated Films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5F8FA"/>
                    </a:solidFill>
                  </a:tcPr>
                </a:tc>
              </a:tr>
              <a:tr h="215741">
                <a:tc>
                  <a:txBody>
                    <a:bodyPr wrap="none"/>
                    <a:lstStyle/>
                    <a:p>
                      <a:pPr algn="l"/>
                      <a:r>
                        <a:rPr sz="1100" b="1">
                          <a:solidFill>
                            <a:srgbClr val="2E2E2E"/>
                          </a:solidFill>
                          <a:latin typeface="Calibri"/>
                        </a:rPr>
                        <a:t>Metallized Films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4.7%</a:t>
                      </a:r>
                      <a:endParaRPr sz="1100"/>
                    </a:p>
                  </a:txBody>
                  <a:tcPr marL="47625" marR="38100" marT="19050" marB="19050" anchor="ctr">
                    <a:solidFill>
                      <a:srgbClr val="FFFFFF"/>
                    </a:solidFill>
                  </a:tcPr>
                </a:tc>
              </a:tr>
              <a:tr h="215741">
                <a:tc>
                  <a:txBody>
                    <a:bodyPr wrap="none"/>
                    <a:lstStyle/>
                    <a:p>
                      <a:pPr algn="l"/>
                      <a:r>
                        <a:rPr sz="1100" b="1">
                          <a:solidFill>
                            <a:srgbClr val="2E2E2E"/>
                          </a:solidFill>
                          <a:latin typeface="Calibri"/>
                        </a:rPr>
                        <a:t>Foil-Laminated Structures</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4.7%</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5.2%</a:t>
                      </a:r>
                      <a:endParaRPr sz="1100"/>
                    </a:p>
                  </a:txBody>
                  <a:tcPr marL="47625" marR="38100" marT="19050" marB="19050" anchor="ctr">
                    <a:solidFill>
                      <a:srgbClr val="F5F8FA"/>
                    </a:solidFill>
                  </a:tcPr>
                </a:tc>
              </a:tr>
              <a:tr h="215741">
                <a:tc>
                  <a:txBody>
                    <a:bodyPr wrap="none"/>
                    <a:lstStyle/>
                    <a:p>
                      <a:pPr algn="l"/>
                      <a:r>
                        <a:rPr sz="1100" b="1">
                          <a:solidFill>
                            <a:srgbClr val="2E2E2E"/>
                          </a:solidFill>
                          <a:latin typeface="Calibri"/>
                        </a:rPr>
                        <a:t>Mono-Material Recyclable Structures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5.9%</a:t>
                      </a:r>
                      <a:endParaRPr sz="1100"/>
                    </a:p>
                  </a:txBody>
                  <a:tcPr marL="47625" marR="38100" marT="19050" marB="19050" anchor="ctr">
                    <a:solidFill>
                      <a:srgbClr val="FFFFFF"/>
                    </a:solidFill>
                  </a:tcPr>
                </a:tc>
              </a:tr>
              <a:tr h="215741">
                <a:tc>
                  <a:txBody>
                    <a:bodyPr wrap="none"/>
                    <a:lstStyle/>
                    <a:p>
                      <a:pPr algn="l"/>
                      <a:r>
                        <a:rPr sz="1100" b="1">
                          <a:solidFill>
                            <a:srgbClr val="2E2E2E"/>
                          </a:solidFill>
                          <a:latin typeface="Calibri"/>
                        </a:rPr>
                        <a:t>– PE-Based</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4.3%</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6.3%</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6.0%</a:t>
                      </a:r>
                      <a:endParaRPr sz="1100"/>
                    </a:p>
                  </a:txBody>
                  <a:tcPr marL="47625" marR="38100" marT="19050" marB="19050" anchor="ctr">
                    <a:solidFill>
                      <a:srgbClr val="F5F8FA"/>
                    </a:solidFill>
                  </a:tcPr>
                </a:tc>
              </a:tr>
              <a:tr h="215741">
                <a:tc>
                  <a:txBody>
                    <a:bodyPr wrap="none"/>
                    <a:lstStyle/>
                    <a:p>
                      <a:pPr algn="l"/>
                      <a:r>
                        <a:rPr sz="1100" b="1">
                          <a:solidFill>
                            <a:srgbClr val="2E2E2E"/>
                          </a:solidFill>
                          <a:latin typeface="Calibri"/>
                        </a:rPr>
                        <a:t>– PP-Based</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3.9%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FFFFF"/>
                    </a:solidFill>
                  </a:tcPr>
                </a:tc>
              </a:tr>
              <a:tr h="215741">
                <a:tc>
                  <a:txBody>
                    <a:bodyPr wrap="none"/>
                    <a:lstStyle/>
                    <a:p>
                      <a:pPr algn="l"/>
                      <a:r>
                        <a:rPr sz="1100" b="1">
                          <a:solidFill>
                            <a:srgbClr val="2E2E2E"/>
                          </a:solidFill>
                          <a:latin typeface="Calibri"/>
                        </a:rPr>
                        <a:t>– PET-Based</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6.1%</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6.1%</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6.1%</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6.1%</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49149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YoY Analysis of Global Market Volume, By Material Structure (%)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Year-on-year volume growth by Material Structure, 2022–2036, highlighting acceleration and slowdown</a:t>
            </a:r>
          </a:p>
        </p:txBody>
      </p:sp>
      <p:sp>
        <p:nvSpPr>
          <p:cNvPr id="10" name="Rounded Rectangle 9"/>
          <p:cNvSpPr/>
          <p:nvPr/>
        </p:nvSpPr>
        <p:spPr>
          <a:xfrm>
            <a:off x="142875" y="981075"/>
            <a:ext cx="11906250"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YoY Heatmap, By Material Structure (%)  ·  light = lower, dark = higher growth</a:t>
            </a:r>
          </a:p>
        </p:txBody>
      </p:sp>
      <p:sp>
        <p:nvSpPr>
          <p:cNvPr id="12" name="TextBox 11"/>
          <p:cNvSpPr txBox="1"/>
          <p:nvPr/>
        </p:nvSpPr>
        <p:spPr>
          <a:xfrm>
            <a:off x="185737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2022</a:t>
            </a:r>
          </a:p>
        </p:txBody>
      </p:sp>
      <p:sp>
        <p:nvSpPr>
          <p:cNvPr id="13" name="TextBox 12"/>
          <p:cNvSpPr txBox="1"/>
          <p:nvPr/>
        </p:nvSpPr>
        <p:spPr>
          <a:xfrm>
            <a:off x="250126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2023</a:t>
            </a:r>
          </a:p>
        </p:txBody>
      </p:sp>
      <p:sp>
        <p:nvSpPr>
          <p:cNvPr id="14" name="TextBox 13"/>
          <p:cNvSpPr txBox="1"/>
          <p:nvPr/>
        </p:nvSpPr>
        <p:spPr>
          <a:xfrm>
            <a:off x="314515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2024</a:t>
            </a:r>
          </a:p>
        </p:txBody>
      </p:sp>
      <p:sp>
        <p:nvSpPr>
          <p:cNvPr id="15" name="TextBox 14"/>
          <p:cNvSpPr txBox="1"/>
          <p:nvPr/>
        </p:nvSpPr>
        <p:spPr>
          <a:xfrm>
            <a:off x="378904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2025</a:t>
            </a:r>
          </a:p>
        </p:txBody>
      </p:sp>
      <p:sp>
        <p:nvSpPr>
          <p:cNvPr id="16" name="TextBox 15"/>
          <p:cNvSpPr txBox="1"/>
          <p:nvPr/>
        </p:nvSpPr>
        <p:spPr>
          <a:xfrm>
            <a:off x="443293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2026</a:t>
            </a:r>
          </a:p>
        </p:txBody>
      </p:sp>
      <p:sp>
        <p:nvSpPr>
          <p:cNvPr id="17" name="TextBox 16"/>
          <p:cNvSpPr txBox="1"/>
          <p:nvPr/>
        </p:nvSpPr>
        <p:spPr>
          <a:xfrm>
            <a:off x="507682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2027</a:t>
            </a:r>
          </a:p>
        </p:txBody>
      </p:sp>
      <p:sp>
        <p:nvSpPr>
          <p:cNvPr id="18" name="TextBox 17"/>
          <p:cNvSpPr txBox="1"/>
          <p:nvPr/>
        </p:nvSpPr>
        <p:spPr>
          <a:xfrm>
            <a:off x="572071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2028</a:t>
            </a:r>
          </a:p>
        </p:txBody>
      </p:sp>
      <p:sp>
        <p:nvSpPr>
          <p:cNvPr id="19" name="TextBox 18"/>
          <p:cNvSpPr txBox="1"/>
          <p:nvPr/>
        </p:nvSpPr>
        <p:spPr>
          <a:xfrm>
            <a:off x="636460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2029</a:t>
            </a:r>
          </a:p>
        </p:txBody>
      </p:sp>
      <p:sp>
        <p:nvSpPr>
          <p:cNvPr id="20" name="TextBox 19"/>
          <p:cNvSpPr txBox="1"/>
          <p:nvPr/>
        </p:nvSpPr>
        <p:spPr>
          <a:xfrm>
            <a:off x="700849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2030</a:t>
            </a:r>
          </a:p>
        </p:txBody>
      </p:sp>
      <p:sp>
        <p:nvSpPr>
          <p:cNvPr id="21" name="TextBox 20"/>
          <p:cNvSpPr txBox="1"/>
          <p:nvPr/>
        </p:nvSpPr>
        <p:spPr>
          <a:xfrm>
            <a:off x="765238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2031</a:t>
            </a:r>
          </a:p>
        </p:txBody>
      </p:sp>
      <p:sp>
        <p:nvSpPr>
          <p:cNvPr id="22" name="TextBox 21"/>
          <p:cNvSpPr txBox="1"/>
          <p:nvPr/>
        </p:nvSpPr>
        <p:spPr>
          <a:xfrm>
            <a:off x="829627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2032</a:t>
            </a:r>
          </a:p>
        </p:txBody>
      </p:sp>
      <p:sp>
        <p:nvSpPr>
          <p:cNvPr id="23" name="TextBox 22"/>
          <p:cNvSpPr txBox="1"/>
          <p:nvPr/>
        </p:nvSpPr>
        <p:spPr>
          <a:xfrm>
            <a:off x="894016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2033</a:t>
            </a:r>
          </a:p>
        </p:txBody>
      </p:sp>
      <p:sp>
        <p:nvSpPr>
          <p:cNvPr id="24" name="TextBox 23"/>
          <p:cNvSpPr txBox="1"/>
          <p:nvPr/>
        </p:nvSpPr>
        <p:spPr>
          <a:xfrm>
            <a:off x="958405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2034</a:t>
            </a:r>
          </a:p>
        </p:txBody>
      </p:sp>
      <p:sp>
        <p:nvSpPr>
          <p:cNvPr id="25" name="TextBox 24"/>
          <p:cNvSpPr txBox="1"/>
          <p:nvPr/>
        </p:nvSpPr>
        <p:spPr>
          <a:xfrm>
            <a:off x="1022794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2035</a:t>
            </a:r>
          </a:p>
        </p:txBody>
      </p:sp>
      <p:sp>
        <p:nvSpPr>
          <p:cNvPr id="26" name="TextBox 25"/>
          <p:cNvSpPr txBox="1"/>
          <p:nvPr/>
        </p:nvSpPr>
        <p:spPr>
          <a:xfrm>
            <a:off x="1087183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2036</a:t>
            </a:r>
          </a:p>
        </p:txBody>
      </p:sp>
      <p:sp>
        <p:nvSpPr>
          <p:cNvPr id="27" name="TextBox 26"/>
          <p:cNvSpPr txBox="1"/>
          <p:nvPr/>
        </p:nvSpPr>
        <p:spPr>
          <a:xfrm>
            <a:off x="238125" y="1409700"/>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Monolayer Films</a:t>
            </a:r>
          </a:p>
        </p:txBody>
      </p:sp>
      <p:sp>
        <p:nvSpPr>
          <p:cNvPr id="28" name="Rectangle 27"/>
          <p:cNvSpPr/>
          <p:nvPr/>
        </p:nvSpPr>
        <p:spPr>
          <a:xfrm>
            <a:off x="1857375" y="1409700"/>
            <a:ext cx="643890" cy="322659"/>
          </a:xfrm>
          <a:prstGeom prst="rect">
            <a:avLst/>
          </a:prstGeom>
          <a:solidFill>
            <a:srgbClr val="D9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01265" y="1409700"/>
            <a:ext cx="643890" cy="322659"/>
          </a:xfrm>
          <a:prstGeom prst="rect">
            <a:avLst/>
          </a:prstGeom>
          <a:solidFill>
            <a:srgbClr val="D9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145155" y="1409700"/>
            <a:ext cx="643890" cy="322659"/>
          </a:xfrm>
          <a:prstGeom prst="rect">
            <a:avLst/>
          </a:prstGeom>
          <a:solidFill>
            <a:srgbClr val="D7E6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789045" y="1409700"/>
            <a:ext cx="643890" cy="322659"/>
          </a:xfrm>
          <a:prstGeom prst="rect">
            <a:avLst/>
          </a:prstGeom>
          <a:solidFill>
            <a:srgbClr val="D2E3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432935" y="1409700"/>
            <a:ext cx="643890" cy="322659"/>
          </a:xfrm>
          <a:prstGeom prst="rect">
            <a:avLst/>
          </a:prstGeom>
          <a:solidFill>
            <a:srgbClr val="C0D7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76825" y="1409700"/>
            <a:ext cx="643890" cy="322659"/>
          </a:xfrm>
          <a:prstGeom prst="rect">
            <a:avLst/>
          </a:prstGeom>
          <a:solidFill>
            <a:srgbClr val="A9CA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720715" y="1409700"/>
            <a:ext cx="643890" cy="322659"/>
          </a:xfrm>
          <a:prstGeom prst="rect">
            <a:avLst/>
          </a:prstGeom>
          <a:solidFill>
            <a:srgbClr val="91BC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364605" y="1409700"/>
            <a:ext cx="643890" cy="322659"/>
          </a:xfrm>
          <a:prstGeom prst="rect">
            <a:avLst/>
          </a:prstGeom>
          <a:solidFill>
            <a:srgbClr val="72ABD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08495" y="1409700"/>
            <a:ext cx="643890" cy="322659"/>
          </a:xfrm>
          <a:prstGeom prst="rect">
            <a:avLst/>
          </a:prstGeom>
          <a:solidFill>
            <a:srgbClr val="539AC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652385" y="1409700"/>
            <a:ext cx="643890" cy="322659"/>
          </a:xfrm>
          <a:prstGeom prst="rect">
            <a:avLst/>
          </a:prstGeom>
          <a:solidFill>
            <a:srgbClr val="3D8E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296275" y="1409700"/>
            <a:ext cx="643890" cy="322659"/>
          </a:xfrm>
          <a:prstGeom prst="rect">
            <a:avLst/>
          </a:prstGeom>
          <a:solidFill>
            <a:srgbClr val="3489C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940165" y="1409700"/>
            <a:ext cx="643890" cy="322659"/>
          </a:xfrm>
          <a:prstGeom prst="rect">
            <a:avLst/>
          </a:prstGeom>
          <a:solidFill>
            <a:srgbClr val="388C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584055" y="1409700"/>
            <a:ext cx="643890" cy="322659"/>
          </a:xfrm>
          <a:prstGeom prst="rect">
            <a:avLst/>
          </a:prstGeom>
          <a:solidFill>
            <a:srgbClr val="4492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227945" y="1409700"/>
            <a:ext cx="643890" cy="322659"/>
          </a:xfrm>
          <a:prstGeom prst="rect">
            <a:avLst/>
          </a:prstGeom>
          <a:solidFill>
            <a:srgbClr val="5B9F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871835" y="1409700"/>
            <a:ext cx="643890" cy="322659"/>
          </a:xfrm>
          <a:prstGeom prst="rect">
            <a:avLst/>
          </a:prstGeom>
          <a:solidFill>
            <a:srgbClr val="73ACD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38125" y="1732359"/>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Coextruded Multilayer Films</a:t>
            </a:r>
          </a:p>
        </p:txBody>
      </p:sp>
      <p:sp>
        <p:nvSpPr>
          <p:cNvPr id="44" name="Rectangle 43"/>
          <p:cNvSpPr/>
          <p:nvPr/>
        </p:nvSpPr>
        <p:spPr>
          <a:xfrm>
            <a:off x="1857375" y="1732359"/>
            <a:ext cx="643890" cy="322659"/>
          </a:xfrm>
          <a:prstGeom prst="rect">
            <a:avLst/>
          </a:prstGeom>
          <a:solidFill>
            <a:srgbClr val="F9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501265" y="1732359"/>
            <a:ext cx="643890" cy="322659"/>
          </a:xfrm>
          <a:prstGeom prst="rect">
            <a:avLst/>
          </a:prstGeom>
          <a:solidFill>
            <a:srgbClr val="F6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145155" y="1732359"/>
            <a:ext cx="643890" cy="322659"/>
          </a:xfrm>
          <a:prstGeom prst="rect">
            <a:avLst/>
          </a:prstGeom>
          <a:solidFill>
            <a:srgbClr val="F2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789045" y="1732359"/>
            <a:ext cx="643890" cy="322659"/>
          </a:xfrm>
          <a:prstGeom prst="rect">
            <a:avLst/>
          </a:prstGeom>
          <a:solidFill>
            <a:srgbClr val="EDF7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432935" y="1732359"/>
            <a:ext cx="643890" cy="322659"/>
          </a:xfrm>
          <a:prstGeom prst="rect">
            <a:avLst/>
          </a:prstGeom>
          <a:solidFill>
            <a:srgbClr val="DFED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076825" y="1732359"/>
            <a:ext cx="643890" cy="322659"/>
          </a:xfrm>
          <a:prstGeom prst="rect">
            <a:avLst/>
          </a:prstGeom>
          <a:solidFill>
            <a:srgbClr val="D2E2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720715" y="1732359"/>
            <a:ext cx="643890" cy="322659"/>
          </a:xfrm>
          <a:prstGeom prst="rect">
            <a:avLst/>
          </a:prstGeom>
          <a:solidFill>
            <a:srgbClr val="BED6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364605" y="1732359"/>
            <a:ext cx="643890" cy="322659"/>
          </a:xfrm>
          <a:prstGeom prst="rect">
            <a:avLst/>
          </a:prstGeom>
          <a:solidFill>
            <a:srgbClr val="A5C7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008495" y="1732359"/>
            <a:ext cx="643890" cy="322659"/>
          </a:xfrm>
          <a:prstGeom prst="rect">
            <a:avLst/>
          </a:prstGeom>
          <a:solidFill>
            <a:srgbClr val="87B7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652385" y="1732359"/>
            <a:ext cx="643890" cy="322659"/>
          </a:xfrm>
          <a:prstGeom prst="rect">
            <a:avLst/>
          </a:prstGeom>
          <a:solidFill>
            <a:srgbClr val="69A6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296275" y="1732359"/>
            <a:ext cx="643890" cy="322659"/>
          </a:xfrm>
          <a:prstGeom prst="rect">
            <a:avLst/>
          </a:prstGeom>
          <a:solidFill>
            <a:srgbClr val="559CC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940165" y="1732359"/>
            <a:ext cx="643890" cy="322659"/>
          </a:xfrm>
          <a:prstGeom prst="rect">
            <a:avLst/>
          </a:prstGeom>
          <a:solidFill>
            <a:srgbClr val="569CC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584055" y="1732359"/>
            <a:ext cx="643890" cy="322659"/>
          </a:xfrm>
          <a:prstGeom prst="rect">
            <a:avLst/>
          </a:prstGeom>
          <a:solidFill>
            <a:srgbClr val="62A3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227945" y="1732359"/>
            <a:ext cx="643890" cy="322659"/>
          </a:xfrm>
          <a:prstGeom prst="rect">
            <a:avLst/>
          </a:prstGeom>
          <a:solidFill>
            <a:srgbClr val="7BB0D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0871835" y="1732359"/>
            <a:ext cx="643890" cy="322659"/>
          </a:xfrm>
          <a:prstGeom prst="rect">
            <a:avLst/>
          </a:prstGeom>
          <a:solidFill>
            <a:srgbClr val="92BD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38125" y="2055019"/>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3–5 Layer</a:t>
            </a:r>
          </a:p>
        </p:txBody>
      </p:sp>
      <p:sp>
        <p:nvSpPr>
          <p:cNvPr id="60" name="Rectangle 59"/>
          <p:cNvSpPr/>
          <p:nvPr/>
        </p:nvSpPr>
        <p:spPr>
          <a:xfrm>
            <a:off x="1857375" y="2055019"/>
            <a:ext cx="643890" cy="322659"/>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501265" y="2055019"/>
            <a:ext cx="643890" cy="322659"/>
          </a:xfrm>
          <a:prstGeom prst="rect">
            <a:avLst/>
          </a:prstGeom>
          <a:solidFill>
            <a:srgbClr val="FA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3145155" y="2055019"/>
            <a:ext cx="643890" cy="322659"/>
          </a:xfrm>
          <a:prstGeom prst="rect">
            <a:avLst/>
          </a:prstGeom>
          <a:solidFill>
            <a:srgbClr val="F4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3789045" y="2055019"/>
            <a:ext cx="643890" cy="322659"/>
          </a:xfrm>
          <a:prstGeom prst="rect">
            <a:avLst/>
          </a:prstGeom>
          <a:solidFill>
            <a:srgbClr val="EB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432935" y="2055019"/>
            <a:ext cx="643890" cy="322659"/>
          </a:xfrm>
          <a:prstGeom prst="rect">
            <a:avLst/>
          </a:prstGeom>
          <a:solidFill>
            <a:srgbClr val="DBEA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076825" y="2055019"/>
            <a:ext cx="643890" cy="322659"/>
          </a:xfrm>
          <a:prstGeom prst="rect">
            <a:avLst/>
          </a:prstGeom>
          <a:solidFill>
            <a:srgbClr val="CBDD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5720715" y="2055019"/>
            <a:ext cx="643890" cy="322659"/>
          </a:xfrm>
          <a:prstGeom prst="rect">
            <a:avLst/>
          </a:prstGeom>
          <a:solidFill>
            <a:srgbClr val="B2CF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364605" y="2055019"/>
            <a:ext cx="643890" cy="322659"/>
          </a:xfrm>
          <a:prstGeom prst="rect">
            <a:avLst/>
          </a:prstGeom>
          <a:solidFill>
            <a:srgbClr val="99C0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7008495" y="2055019"/>
            <a:ext cx="643890" cy="322659"/>
          </a:xfrm>
          <a:prstGeom prst="rect">
            <a:avLst/>
          </a:prstGeom>
          <a:solidFill>
            <a:srgbClr val="70AAD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7652385" y="2055019"/>
            <a:ext cx="643890" cy="322659"/>
          </a:xfrm>
          <a:prstGeom prst="rect">
            <a:avLst/>
          </a:prstGeom>
          <a:solidFill>
            <a:srgbClr val="4894C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8296275" y="2055019"/>
            <a:ext cx="643890" cy="322659"/>
          </a:xfrm>
          <a:prstGeom prst="rect">
            <a:avLst/>
          </a:prstGeom>
          <a:solidFill>
            <a:srgbClr val="3287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8940165" y="2055019"/>
            <a:ext cx="643890" cy="322659"/>
          </a:xfrm>
          <a:prstGeom prst="rect">
            <a:avLst/>
          </a:prstGeom>
          <a:solidFill>
            <a:srgbClr val="3086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9584055" y="2055019"/>
            <a:ext cx="643890" cy="322659"/>
          </a:xfrm>
          <a:prstGeom prst="rect">
            <a:avLst/>
          </a:prstGeom>
          <a:solidFill>
            <a:srgbClr val="378B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0227945" y="2055019"/>
            <a:ext cx="643890" cy="322659"/>
          </a:xfrm>
          <a:prstGeom prst="rect">
            <a:avLst/>
          </a:prstGeom>
          <a:solidFill>
            <a:srgbClr val="4E98C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0871835" y="2055019"/>
            <a:ext cx="643890" cy="322659"/>
          </a:xfrm>
          <a:prstGeom prst="rect">
            <a:avLst/>
          </a:prstGeom>
          <a:solidFill>
            <a:srgbClr val="69A6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38125" y="2377678"/>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7 Layer</a:t>
            </a:r>
          </a:p>
        </p:txBody>
      </p:sp>
      <p:sp>
        <p:nvSpPr>
          <p:cNvPr id="76" name="Rectangle 75"/>
          <p:cNvSpPr/>
          <p:nvPr/>
        </p:nvSpPr>
        <p:spPr>
          <a:xfrm>
            <a:off x="1857375" y="2377678"/>
            <a:ext cx="643890" cy="322659"/>
          </a:xfrm>
          <a:prstGeom prst="rect">
            <a:avLst/>
          </a:prstGeom>
          <a:solidFill>
            <a:srgbClr val="EB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2501265" y="2377678"/>
            <a:ext cx="643890" cy="322659"/>
          </a:xfrm>
          <a:prstGeom prst="rect">
            <a:avLst/>
          </a:prstGeom>
          <a:solidFill>
            <a:srgbClr val="EA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3145155" y="2377678"/>
            <a:ext cx="643890" cy="322659"/>
          </a:xfrm>
          <a:prstGeom prst="rect">
            <a:avLst/>
          </a:prstGeom>
          <a:solidFill>
            <a:srgbClr val="EA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3789045" y="2377678"/>
            <a:ext cx="643890" cy="322659"/>
          </a:xfrm>
          <a:prstGeom prst="rect">
            <a:avLst/>
          </a:prstGeom>
          <a:solidFill>
            <a:srgbClr val="E7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4432935" y="2377678"/>
            <a:ext cx="643890" cy="322659"/>
          </a:xfrm>
          <a:prstGeom prst="rect">
            <a:avLst/>
          </a:prstGeom>
          <a:solidFill>
            <a:srgbClr val="DC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5076825" y="2377678"/>
            <a:ext cx="643890" cy="322659"/>
          </a:xfrm>
          <a:prstGeom prst="rect">
            <a:avLst/>
          </a:prstGeom>
          <a:solidFill>
            <a:srgbClr val="D1E2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5720715" y="2377678"/>
            <a:ext cx="643890" cy="322659"/>
          </a:xfrm>
          <a:prstGeom prst="rect">
            <a:avLst/>
          </a:prstGeom>
          <a:solidFill>
            <a:srgbClr val="BED6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6364605" y="2377678"/>
            <a:ext cx="643890" cy="322659"/>
          </a:xfrm>
          <a:prstGeom prst="rect">
            <a:avLst/>
          </a:prstGeom>
          <a:solidFill>
            <a:srgbClr val="A4C7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7008495" y="2377678"/>
            <a:ext cx="643890" cy="322659"/>
          </a:xfrm>
          <a:prstGeom prst="rect">
            <a:avLst/>
          </a:prstGeom>
          <a:solidFill>
            <a:srgbClr val="8CB9D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7652385" y="2377678"/>
            <a:ext cx="643890" cy="322659"/>
          </a:xfrm>
          <a:prstGeom prst="rect">
            <a:avLst/>
          </a:prstGeom>
          <a:solidFill>
            <a:srgbClr val="7AB0D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8296275" y="2377678"/>
            <a:ext cx="643890" cy="322659"/>
          </a:xfrm>
          <a:prstGeom prst="rect">
            <a:avLst/>
          </a:prstGeom>
          <a:solidFill>
            <a:srgbClr val="76ADD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8940165" y="2377678"/>
            <a:ext cx="643890" cy="322659"/>
          </a:xfrm>
          <a:prstGeom prst="rect">
            <a:avLst/>
          </a:prstGeom>
          <a:solidFill>
            <a:srgbClr val="7FB2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9584055" y="2377678"/>
            <a:ext cx="643890" cy="322659"/>
          </a:xfrm>
          <a:prstGeom prst="rect">
            <a:avLst/>
          </a:prstGeom>
          <a:solidFill>
            <a:srgbClr val="8DBA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10227945" y="2377678"/>
            <a:ext cx="643890" cy="322659"/>
          </a:xfrm>
          <a:prstGeom prst="rect">
            <a:avLst/>
          </a:prstGeom>
          <a:solidFill>
            <a:srgbClr val="9DC3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10871835" y="2377678"/>
            <a:ext cx="643890" cy="322659"/>
          </a:xfrm>
          <a:prstGeom prst="rect">
            <a:avLst/>
          </a:prstGeom>
          <a:solidFill>
            <a:srgbClr val="ADCC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38125" y="2700338"/>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9 Layer and Above</a:t>
            </a:r>
          </a:p>
        </p:txBody>
      </p:sp>
      <p:sp>
        <p:nvSpPr>
          <p:cNvPr id="92" name="Rectangle 91"/>
          <p:cNvSpPr/>
          <p:nvPr/>
        </p:nvSpPr>
        <p:spPr>
          <a:xfrm>
            <a:off x="1857375" y="2700338"/>
            <a:ext cx="643890" cy="322659"/>
          </a:xfrm>
          <a:prstGeom prst="rect">
            <a:avLst/>
          </a:prstGeom>
          <a:solidFill>
            <a:srgbClr val="FEFE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2501265" y="2700338"/>
            <a:ext cx="643890" cy="322659"/>
          </a:xfrm>
          <a:prstGeom prst="rect">
            <a:avLst/>
          </a:prstGeom>
          <a:solidFill>
            <a:srgbClr val="FCFE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3145155" y="2700338"/>
            <a:ext cx="643890" cy="322659"/>
          </a:xfrm>
          <a:prstGeom prst="rect">
            <a:avLst/>
          </a:prstGeom>
          <a:solidFill>
            <a:srgbClr val="FCFE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3789045" y="2700338"/>
            <a:ext cx="643890" cy="322659"/>
          </a:xfrm>
          <a:prstGeom prst="rect">
            <a:avLst/>
          </a:prstGeom>
          <a:solidFill>
            <a:srgbClr val="FA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4432935" y="2700338"/>
            <a:ext cx="643890" cy="322659"/>
          </a:xfrm>
          <a:prstGeom prst="rect">
            <a:avLst/>
          </a:prstGeom>
          <a:solidFill>
            <a:srgbClr val="F0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5076825" y="2700338"/>
            <a:ext cx="643890" cy="322659"/>
          </a:xfrm>
          <a:prstGeom prst="rect">
            <a:avLst/>
          </a:prstGeom>
          <a:solidFill>
            <a:srgbClr val="E5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5720715" y="2700338"/>
            <a:ext cx="643890" cy="322659"/>
          </a:xfrm>
          <a:prstGeom prst="rect">
            <a:avLst/>
          </a:prstGeom>
          <a:solidFill>
            <a:srgbClr val="D8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6364605" y="2700338"/>
            <a:ext cx="643890" cy="322659"/>
          </a:xfrm>
          <a:prstGeom prst="rect">
            <a:avLst/>
          </a:prstGeom>
          <a:solidFill>
            <a:srgbClr val="C9DC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7008495" y="2700338"/>
            <a:ext cx="643890" cy="322659"/>
          </a:xfrm>
          <a:prstGeom prst="rect">
            <a:avLst/>
          </a:prstGeom>
          <a:solidFill>
            <a:srgbClr val="B1CE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7652385" y="2700338"/>
            <a:ext cx="643890" cy="322659"/>
          </a:xfrm>
          <a:prstGeom prst="rect">
            <a:avLst/>
          </a:prstGeom>
          <a:solidFill>
            <a:srgbClr val="A2C6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8296275" y="2700338"/>
            <a:ext cx="643890" cy="322659"/>
          </a:xfrm>
          <a:prstGeom prst="rect">
            <a:avLst/>
          </a:prstGeom>
          <a:solidFill>
            <a:srgbClr val="98C0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8940165" y="2700338"/>
            <a:ext cx="643890" cy="322659"/>
          </a:xfrm>
          <a:prstGeom prst="rect">
            <a:avLst/>
          </a:prstGeom>
          <a:solidFill>
            <a:srgbClr val="98C0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9584055" y="2700338"/>
            <a:ext cx="643890" cy="322659"/>
          </a:xfrm>
          <a:prstGeom prst="rect">
            <a:avLst/>
          </a:prstGeom>
          <a:solidFill>
            <a:srgbClr val="9FC4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0227945" y="2700338"/>
            <a:ext cx="643890" cy="322659"/>
          </a:xfrm>
          <a:prstGeom prst="rect">
            <a:avLst/>
          </a:prstGeom>
          <a:solidFill>
            <a:srgbClr val="AECC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0871835" y="2700338"/>
            <a:ext cx="643890" cy="322659"/>
          </a:xfrm>
          <a:prstGeom prst="rect">
            <a:avLst/>
          </a:prstGeom>
          <a:solidFill>
            <a:srgbClr val="BCD4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238125" y="3022997"/>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Laminated Films</a:t>
            </a:r>
          </a:p>
        </p:txBody>
      </p:sp>
      <p:sp>
        <p:nvSpPr>
          <p:cNvPr id="108" name="Rectangle 107"/>
          <p:cNvSpPr/>
          <p:nvPr/>
        </p:nvSpPr>
        <p:spPr>
          <a:xfrm>
            <a:off x="1857375" y="3022997"/>
            <a:ext cx="643890" cy="322659"/>
          </a:xfrm>
          <a:prstGeom prst="rect">
            <a:avLst/>
          </a:prstGeom>
          <a:solidFill>
            <a:srgbClr val="EC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2501265" y="3022997"/>
            <a:ext cx="643890" cy="322659"/>
          </a:xfrm>
          <a:prstGeom prst="rect">
            <a:avLst/>
          </a:prstGeom>
          <a:solidFill>
            <a:srgbClr val="E7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3145155" y="3022997"/>
            <a:ext cx="643890" cy="322659"/>
          </a:xfrm>
          <a:prstGeom prst="rect">
            <a:avLst/>
          </a:prstGeom>
          <a:solidFill>
            <a:srgbClr val="E1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3789045" y="3022997"/>
            <a:ext cx="643890" cy="322659"/>
          </a:xfrm>
          <a:prstGeom prst="rect">
            <a:avLst/>
          </a:prstGeom>
          <a:solidFill>
            <a:srgbClr val="DA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4432935" y="3022997"/>
            <a:ext cx="643890" cy="322659"/>
          </a:xfrm>
          <a:prstGeom prst="rect">
            <a:avLst/>
          </a:prstGeom>
          <a:solidFill>
            <a:srgbClr val="CEE0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5076825" y="3022997"/>
            <a:ext cx="643890" cy="322659"/>
          </a:xfrm>
          <a:prstGeom prst="rect">
            <a:avLst/>
          </a:prstGeom>
          <a:solidFill>
            <a:srgbClr val="BDD5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5720715" y="3022997"/>
            <a:ext cx="643890" cy="322659"/>
          </a:xfrm>
          <a:prstGeom prst="rect">
            <a:avLst/>
          </a:prstGeom>
          <a:solidFill>
            <a:srgbClr val="A8C9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6364605" y="3022997"/>
            <a:ext cx="643890" cy="322659"/>
          </a:xfrm>
          <a:prstGeom prst="rect">
            <a:avLst/>
          </a:prstGeom>
          <a:solidFill>
            <a:srgbClr val="93BD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7008495" y="3022997"/>
            <a:ext cx="643890" cy="322659"/>
          </a:xfrm>
          <a:prstGeom prst="rect">
            <a:avLst/>
          </a:prstGeom>
          <a:solidFill>
            <a:srgbClr val="7AAFD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7652385" y="3022997"/>
            <a:ext cx="643890" cy="322659"/>
          </a:xfrm>
          <a:prstGeom prst="rect">
            <a:avLst/>
          </a:prstGeom>
          <a:solidFill>
            <a:srgbClr val="68A6C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8296275" y="3022997"/>
            <a:ext cx="643890" cy="322659"/>
          </a:xfrm>
          <a:prstGeom prst="rect">
            <a:avLst/>
          </a:prstGeom>
          <a:solidFill>
            <a:srgbClr val="60A1C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8940165" y="3022997"/>
            <a:ext cx="643890" cy="322659"/>
          </a:xfrm>
          <a:prstGeom prst="rect">
            <a:avLst/>
          </a:prstGeom>
          <a:solidFill>
            <a:srgbClr val="64A4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9584055" y="3022997"/>
            <a:ext cx="643890" cy="322659"/>
          </a:xfrm>
          <a:prstGeom prst="rect">
            <a:avLst/>
          </a:prstGeom>
          <a:solidFill>
            <a:srgbClr val="71ABD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0227945" y="3022997"/>
            <a:ext cx="643890" cy="322659"/>
          </a:xfrm>
          <a:prstGeom prst="rect">
            <a:avLst/>
          </a:prstGeom>
          <a:solidFill>
            <a:srgbClr val="89B8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10871835" y="3022997"/>
            <a:ext cx="643890" cy="322659"/>
          </a:xfrm>
          <a:prstGeom prst="rect">
            <a:avLst/>
          </a:prstGeom>
          <a:solidFill>
            <a:srgbClr val="9CC3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238125" y="3345656"/>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Duplex</a:t>
            </a:r>
          </a:p>
        </p:txBody>
      </p:sp>
      <p:sp>
        <p:nvSpPr>
          <p:cNvPr id="124" name="Rectangle 123"/>
          <p:cNvSpPr/>
          <p:nvPr/>
        </p:nvSpPr>
        <p:spPr>
          <a:xfrm>
            <a:off x="1857375" y="3345656"/>
            <a:ext cx="643890" cy="322659"/>
          </a:xfrm>
          <a:prstGeom prst="rect">
            <a:avLst/>
          </a:prstGeom>
          <a:solidFill>
            <a:srgbClr val="FE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2501265" y="3345656"/>
            <a:ext cx="643890" cy="322659"/>
          </a:xfrm>
          <a:prstGeom prst="rect">
            <a:avLst/>
          </a:prstGeom>
          <a:solidFill>
            <a:srgbClr val="F8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3145155" y="3345656"/>
            <a:ext cx="643890" cy="322659"/>
          </a:xfrm>
          <a:prstGeom prst="rect">
            <a:avLst/>
          </a:prstGeom>
          <a:solidFill>
            <a:srgbClr val="F3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3789045" y="3345656"/>
            <a:ext cx="643890" cy="322659"/>
          </a:xfrm>
          <a:prstGeom prst="rect">
            <a:avLst/>
          </a:prstGeom>
          <a:solidFill>
            <a:srgbClr val="EB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4432935" y="3345656"/>
            <a:ext cx="643890" cy="322659"/>
          </a:xfrm>
          <a:prstGeom prst="rect">
            <a:avLst/>
          </a:prstGeom>
          <a:solidFill>
            <a:srgbClr val="DE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5076825" y="3345656"/>
            <a:ext cx="643890" cy="322659"/>
          </a:xfrm>
          <a:prstGeom prst="rect">
            <a:avLst/>
          </a:prstGeom>
          <a:solidFill>
            <a:srgbClr val="D0E1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5720715" y="3345656"/>
            <a:ext cx="643890" cy="322659"/>
          </a:xfrm>
          <a:prstGeom prst="rect">
            <a:avLst/>
          </a:prstGeom>
          <a:solidFill>
            <a:srgbClr val="B9D3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6364605" y="3345656"/>
            <a:ext cx="643890" cy="322659"/>
          </a:xfrm>
          <a:prstGeom prst="rect">
            <a:avLst/>
          </a:prstGeom>
          <a:solidFill>
            <a:srgbClr val="9FC4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7008495" y="3345656"/>
            <a:ext cx="643890" cy="322659"/>
          </a:xfrm>
          <a:prstGeom prst="rect">
            <a:avLst/>
          </a:prstGeom>
          <a:solidFill>
            <a:srgbClr val="87B6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7652385" y="3345656"/>
            <a:ext cx="643890" cy="322659"/>
          </a:xfrm>
          <a:prstGeom prst="rect">
            <a:avLst/>
          </a:prstGeom>
          <a:solidFill>
            <a:srgbClr val="73ACD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8296275" y="3345656"/>
            <a:ext cx="643890" cy="322659"/>
          </a:xfrm>
          <a:prstGeom prst="rect">
            <a:avLst/>
          </a:prstGeom>
          <a:solidFill>
            <a:srgbClr val="6DA8D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8940165" y="3345656"/>
            <a:ext cx="643890" cy="322659"/>
          </a:xfrm>
          <a:prstGeom prst="rect">
            <a:avLst/>
          </a:prstGeom>
          <a:solidFill>
            <a:srgbClr val="73ACD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9584055" y="3345656"/>
            <a:ext cx="643890" cy="322659"/>
          </a:xfrm>
          <a:prstGeom prst="rect">
            <a:avLst/>
          </a:prstGeom>
          <a:solidFill>
            <a:srgbClr val="7FB2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10227945" y="3345656"/>
            <a:ext cx="643890" cy="322659"/>
          </a:xfrm>
          <a:prstGeom prst="rect">
            <a:avLst/>
          </a:prstGeom>
          <a:solidFill>
            <a:srgbClr val="95BE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10871835" y="3345656"/>
            <a:ext cx="643890" cy="322659"/>
          </a:xfrm>
          <a:prstGeom prst="rect">
            <a:avLst/>
          </a:prstGeom>
          <a:solidFill>
            <a:srgbClr val="A7C9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238125" y="3668316"/>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Triplex</a:t>
            </a:r>
          </a:p>
        </p:txBody>
      </p:sp>
      <p:sp>
        <p:nvSpPr>
          <p:cNvPr id="140" name="Rectangle 139"/>
          <p:cNvSpPr/>
          <p:nvPr/>
        </p:nvSpPr>
        <p:spPr>
          <a:xfrm>
            <a:off x="1857375" y="3668316"/>
            <a:ext cx="643890" cy="322659"/>
          </a:xfrm>
          <a:prstGeom prst="rect">
            <a:avLst/>
          </a:prstGeom>
          <a:solidFill>
            <a:srgbClr val="E1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2501265" y="3668316"/>
            <a:ext cx="643890" cy="322659"/>
          </a:xfrm>
          <a:prstGeom prst="rect">
            <a:avLst/>
          </a:prstGeom>
          <a:solidFill>
            <a:srgbClr val="DC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3145155" y="3668316"/>
            <a:ext cx="643890" cy="322659"/>
          </a:xfrm>
          <a:prstGeom prst="rect">
            <a:avLst/>
          </a:prstGeom>
          <a:solidFill>
            <a:srgbClr val="D6E6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3789045" y="3668316"/>
            <a:ext cx="643890" cy="322659"/>
          </a:xfrm>
          <a:prstGeom prst="rect">
            <a:avLst/>
          </a:prstGeom>
          <a:solidFill>
            <a:srgbClr val="D0E1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4432935" y="3668316"/>
            <a:ext cx="643890" cy="322659"/>
          </a:xfrm>
          <a:prstGeom prst="rect">
            <a:avLst/>
          </a:prstGeom>
          <a:solidFill>
            <a:srgbClr val="BFD6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5076825" y="3668316"/>
            <a:ext cx="643890" cy="322659"/>
          </a:xfrm>
          <a:prstGeom prst="rect">
            <a:avLst/>
          </a:prstGeom>
          <a:solidFill>
            <a:srgbClr val="ABCB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5720715" y="3668316"/>
            <a:ext cx="643890" cy="322659"/>
          </a:xfrm>
          <a:prstGeom prst="rect">
            <a:avLst/>
          </a:prstGeom>
          <a:solidFill>
            <a:srgbClr val="93BD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6364605" y="3668316"/>
            <a:ext cx="643890" cy="322659"/>
          </a:xfrm>
          <a:prstGeom prst="rect">
            <a:avLst/>
          </a:prstGeom>
          <a:solidFill>
            <a:srgbClr val="77AED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7008495" y="3668316"/>
            <a:ext cx="643890" cy="322659"/>
          </a:xfrm>
          <a:prstGeom prst="rect">
            <a:avLst/>
          </a:prstGeom>
          <a:solidFill>
            <a:srgbClr val="5DA0C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7652385" y="3668316"/>
            <a:ext cx="643890" cy="322659"/>
          </a:xfrm>
          <a:prstGeom prst="rect">
            <a:avLst/>
          </a:prstGeom>
          <a:solidFill>
            <a:srgbClr val="4B96C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8296275" y="3668316"/>
            <a:ext cx="643890" cy="322659"/>
          </a:xfrm>
          <a:prstGeom prst="rect">
            <a:avLst/>
          </a:prstGeom>
          <a:solidFill>
            <a:srgbClr val="4291C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8940165" y="3668316"/>
            <a:ext cx="643890" cy="322659"/>
          </a:xfrm>
          <a:prstGeom prst="rect">
            <a:avLst/>
          </a:prstGeom>
          <a:solidFill>
            <a:srgbClr val="4191C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9584055" y="3668316"/>
            <a:ext cx="643890" cy="322659"/>
          </a:xfrm>
          <a:prstGeom prst="rect">
            <a:avLst/>
          </a:prstGeom>
          <a:solidFill>
            <a:srgbClr val="4E97C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10227945" y="3668316"/>
            <a:ext cx="643890" cy="322659"/>
          </a:xfrm>
          <a:prstGeom prst="rect">
            <a:avLst/>
          </a:prstGeom>
          <a:solidFill>
            <a:srgbClr val="66A5C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10871835" y="3668316"/>
            <a:ext cx="643890" cy="322659"/>
          </a:xfrm>
          <a:prstGeom prst="rect">
            <a:avLst/>
          </a:prstGeom>
          <a:solidFill>
            <a:srgbClr val="81B4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238125" y="3990975"/>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Multi-Ply</a:t>
            </a:r>
          </a:p>
        </p:txBody>
      </p:sp>
      <p:sp>
        <p:nvSpPr>
          <p:cNvPr id="156" name="Rectangle 155"/>
          <p:cNvSpPr/>
          <p:nvPr/>
        </p:nvSpPr>
        <p:spPr>
          <a:xfrm>
            <a:off x="1857375" y="3990975"/>
            <a:ext cx="643890" cy="322659"/>
          </a:xfrm>
          <a:prstGeom prst="rect">
            <a:avLst/>
          </a:prstGeom>
          <a:solidFill>
            <a:srgbClr val="C5DA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2501265" y="3990975"/>
            <a:ext cx="643890" cy="322659"/>
          </a:xfrm>
          <a:prstGeom prst="rect">
            <a:avLst/>
          </a:prstGeom>
          <a:solidFill>
            <a:srgbClr val="C5DA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3145155" y="3990975"/>
            <a:ext cx="643890" cy="322659"/>
          </a:xfrm>
          <a:prstGeom prst="rect">
            <a:avLst/>
          </a:prstGeom>
          <a:solidFill>
            <a:srgbClr val="BCD4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3789045" y="3990975"/>
            <a:ext cx="643890" cy="322659"/>
          </a:xfrm>
          <a:prstGeom prst="rect">
            <a:avLst/>
          </a:prstGeom>
          <a:solidFill>
            <a:srgbClr val="B4D0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4432935" y="3990975"/>
            <a:ext cx="643890" cy="322659"/>
          </a:xfrm>
          <a:prstGeom prst="rect">
            <a:avLst/>
          </a:prstGeom>
          <a:solidFill>
            <a:srgbClr val="ABCB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5076825" y="3990975"/>
            <a:ext cx="643890" cy="322659"/>
          </a:xfrm>
          <a:prstGeom prst="rect">
            <a:avLst/>
          </a:prstGeom>
          <a:solidFill>
            <a:srgbClr val="A8C9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5720715" y="3990975"/>
            <a:ext cx="643890" cy="322659"/>
          </a:xfrm>
          <a:prstGeom prst="rect">
            <a:avLst/>
          </a:prstGeom>
          <a:solidFill>
            <a:srgbClr val="A4C7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6364605" y="3990975"/>
            <a:ext cx="643890" cy="322659"/>
          </a:xfrm>
          <a:prstGeom prst="rect">
            <a:avLst/>
          </a:prstGeom>
          <a:solidFill>
            <a:srgbClr val="A0C4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7008495" y="3990975"/>
            <a:ext cx="643890" cy="322659"/>
          </a:xfrm>
          <a:prstGeom prst="rect">
            <a:avLst/>
          </a:prstGeom>
          <a:solidFill>
            <a:srgbClr val="93BD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7652385" y="3990975"/>
            <a:ext cx="643890" cy="322659"/>
          </a:xfrm>
          <a:prstGeom prst="rect">
            <a:avLst/>
          </a:prstGeom>
          <a:solidFill>
            <a:srgbClr val="88B7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8296275" y="3990975"/>
            <a:ext cx="643890" cy="322659"/>
          </a:xfrm>
          <a:prstGeom prst="rect">
            <a:avLst/>
          </a:prstGeom>
          <a:solidFill>
            <a:srgbClr val="7FB2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8940165" y="3990975"/>
            <a:ext cx="643890" cy="322659"/>
          </a:xfrm>
          <a:prstGeom prst="rect">
            <a:avLst/>
          </a:prstGeom>
          <a:solidFill>
            <a:srgbClr val="88B7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9584055" y="3990975"/>
            <a:ext cx="643890" cy="322659"/>
          </a:xfrm>
          <a:prstGeom prst="rect">
            <a:avLst/>
          </a:prstGeom>
          <a:solidFill>
            <a:srgbClr val="95BE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10227945" y="3990975"/>
            <a:ext cx="643890" cy="322659"/>
          </a:xfrm>
          <a:prstGeom prst="rect">
            <a:avLst/>
          </a:prstGeom>
          <a:solidFill>
            <a:srgbClr val="A4C7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10871835" y="3990975"/>
            <a:ext cx="643890" cy="322659"/>
          </a:xfrm>
          <a:prstGeom prst="rect">
            <a:avLst/>
          </a:prstGeom>
          <a:solidFill>
            <a:srgbClr val="B2CF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238125" y="4313634"/>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Coated Films</a:t>
            </a:r>
          </a:p>
        </p:txBody>
      </p:sp>
      <p:sp>
        <p:nvSpPr>
          <p:cNvPr id="172" name="Rectangle 171"/>
          <p:cNvSpPr/>
          <p:nvPr/>
        </p:nvSpPr>
        <p:spPr>
          <a:xfrm>
            <a:off x="1857375" y="4313634"/>
            <a:ext cx="643890" cy="322659"/>
          </a:xfrm>
          <a:prstGeom prst="rect">
            <a:avLst/>
          </a:prstGeom>
          <a:solidFill>
            <a:srgbClr val="D6E6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2501265" y="4313634"/>
            <a:ext cx="643890" cy="322659"/>
          </a:xfrm>
          <a:prstGeom prst="rect">
            <a:avLst/>
          </a:prstGeom>
          <a:solidFill>
            <a:srgbClr val="D1E2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3145155" y="4313634"/>
            <a:ext cx="643890" cy="322659"/>
          </a:xfrm>
          <a:prstGeom prst="rect">
            <a:avLst/>
          </a:prstGeom>
          <a:solidFill>
            <a:srgbClr val="CBDD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3789045" y="4313634"/>
            <a:ext cx="643890" cy="322659"/>
          </a:xfrm>
          <a:prstGeom prst="rect">
            <a:avLst/>
          </a:prstGeom>
          <a:solidFill>
            <a:srgbClr val="C8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Rectangle 175"/>
          <p:cNvSpPr/>
          <p:nvPr/>
        </p:nvSpPr>
        <p:spPr>
          <a:xfrm>
            <a:off x="4432935" y="4313634"/>
            <a:ext cx="643890" cy="322659"/>
          </a:xfrm>
          <a:prstGeom prst="rect">
            <a:avLst/>
          </a:prstGeom>
          <a:solidFill>
            <a:srgbClr val="C1D7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Rectangle 176"/>
          <p:cNvSpPr/>
          <p:nvPr/>
        </p:nvSpPr>
        <p:spPr>
          <a:xfrm>
            <a:off x="5076825" y="4313634"/>
            <a:ext cx="643890" cy="322659"/>
          </a:xfrm>
          <a:prstGeom prst="rect">
            <a:avLst/>
          </a:prstGeom>
          <a:solidFill>
            <a:srgbClr val="BFD6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ectangle 177"/>
          <p:cNvSpPr/>
          <p:nvPr/>
        </p:nvSpPr>
        <p:spPr>
          <a:xfrm>
            <a:off x="5720715" y="4313634"/>
            <a:ext cx="643890" cy="322659"/>
          </a:xfrm>
          <a:prstGeom prst="rect">
            <a:avLst/>
          </a:prstGeom>
          <a:solidFill>
            <a:srgbClr val="B0CE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Rectangle 178"/>
          <p:cNvSpPr/>
          <p:nvPr/>
        </p:nvSpPr>
        <p:spPr>
          <a:xfrm>
            <a:off x="6364605" y="4313634"/>
            <a:ext cx="643890" cy="322659"/>
          </a:xfrm>
          <a:prstGeom prst="rect">
            <a:avLst/>
          </a:prstGeom>
          <a:solidFill>
            <a:srgbClr val="99C1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ectangle 179"/>
          <p:cNvSpPr/>
          <p:nvPr/>
        </p:nvSpPr>
        <p:spPr>
          <a:xfrm>
            <a:off x="7008495" y="4313634"/>
            <a:ext cx="643890" cy="322659"/>
          </a:xfrm>
          <a:prstGeom prst="rect">
            <a:avLst/>
          </a:prstGeom>
          <a:solidFill>
            <a:srgbClr val="74ADD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Rectangle 180"/>
          <p:cNvSpPr/>
          <p:nvPr/>
        </p:nvSpPr>
        <p:spPr>
          <a:xfrm>
            <a:off x="7652385" y="4313634"/>
            <a:ext cx="643890" cy="322659"/>
          </a:xfrm>
          <a:prstGeom prst="rect">
            <a:avLst/>
          </a:prstGeom>
          <a:solidFill>
            <a:srgbClr val="579DC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tangle 181"/>
          <p:cNvSpPr/>
          <p:nvPr/>
        </p:nvSpPr>
        <p:spPr>
          <a:xfrm>
            <a:off x="8296275" y="4313634"/>
            <a:ext cx="643890" cy="322659"/>
          </a:xfrm>
          <a:prstGeom prst="rect">
            <a:avLst/>
          </a:prstGeom>
          <a:solidFill>
            <a:srgbClr val="4B96C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ectangle 182"/>
          <p:cNvSpPr/>
          <p:nvPr/>
        </p:nvSpPr>
        <p:spPr>
          <a:xfrm>
            <a:off x="8940165" y="4313634"/>
            <a:ext cx="643890" cy="322659"/>
          </a:xfrm>
          <a:prstGeom prst="rect">
            <a:avLst/>
          </a:prstGeom>
          <a:solidFill>
            <a:srgbClr val="4F98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9584055" y="4313634"/>
            <a:ext cx="643890" cy="322659"/>
          </a:xfrm>
          <a:prstGeom prst="rect">
            <a:avLst/>
          </a:prstGeom>
          <a:solidFill>
            <a:srgbClr val="5DA0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10227945" y="4313634"/>
            <a:ext cx="643890" cy="322659"/>
          </a:xfrm>
          <a:prstGeom prst="rect">
            <a:avLst/>
          </a:prstGeom>
          <a:solidFill>
            <a:srgbClr val="77AED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10871835" y="4313634"/>
            <a:ext cx="643890" cy="322659"/>
          </a:xfrm>
          <a:prstGeom prst="rect">
            <a:avLst/>
          </a:prstGeom>
          <a:solidFill>
            <a:srgbClr val="91BC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238125" y="4636294"/>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Metallized Films</a:t>
            </a:r>
          </a:p>
        </p:txBody>
      </p:sp>
      <p:sp>
        <p:nvSpPr>
          <p:cNvPr id="188" name="Rectangle 187"/>
          <p:cNvSpPr/>
          <p:nvPr/>
        </p:nvSpPr>
        <p:spPr>
          <a:xfrm>
            <a:off x="1857375" y="4636294"/>
            <a:ext cx="643890" cy="322659"/>
          </a:xfrm>
          <a:prstGeom prst="rect">
            <a:avLst/>
          </a:prstGeom>
          <a:solidFill>
            <a:srgbClr val="D8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2501265" y="4636294"/>
            <a:ext cx="643890" cy="322659"/>
          </a:xfrm>
          <a:prstGeom prst="rect">
            <a:avLst/>
          </a:prstGeom>
          <a:solidFill>
            <a:srgbClr val="D5E5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3145155" y="4636294"/>
            <a:ext cx="643890" cy="322659"/>
          </a:xfrm>
          <a:prstGeom prst="rect">
            <a:avLst/>
          </a:prstGeom>
          <a:solidFill>
            <a:srgbClr val="CFE1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3789045" y="4636294"/>
            <a:ext cx="643890" cy="322659"/>
          </a:xfrm>
          <a:prstGeom prst="rect">
            <a:avLst/>
          </a:prstGeom>
          <a:solidFill>
            <a:srgbClr val="C8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4432935" y="4636294"/>
            <a:ext cx="643890" cy="322659"/>
          </a:xfrm>
          <a:prstGeom prst="rect">
            <a:avLst/>
          </a:prstGeom>
          <a:solidFill>
            <a:srgbClr val="BDD5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5076825" y="4636294"/>
            <a:ext cx="643890" cy="322659"/>
          </a:xfrm>
          <a:prstGeom prst="rect">
            <a:avLst/>
          </a:prstGeom>
          <a:solidFill>
            <a:srgbClr val="B3D0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5720715" y="4636294"/>
            <a:ext cx="643890" cy="322659"/>
          </a:xfrm>
          <a:prstGeom prst="rect">
            <a:avLst/>
          </a:prstGeom>
          <a:solidFill>
            <a:srgbClr val="ACCC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Rectangle 194"/>
          <p:cNvSpPr/>
          <p:nvPr/>
        </p:nvSpPr>
        <p:spPr>
          <a:xfrm>
            <a:off x="6364605" y="4636294"/>
            <a:ext cx="643890" cy="322659"/>
          </a:xfrm>
          <a:prstGeom prst="rect">
            <a:avLst/>
          </a:prstGeom>
          <a:solidFill>
            <a:srgbClr val="A7C8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7008495" y="4636294"/>
            <a:ext cx="643890" cy="322659"/>
          </a:xfrm>
          <a:prstGeom prst="rect">
            <a:avLst/>
          </a:prstGeom>
          <a:solidFill>
            <a:srgbClr val="A0C5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7652385" y="4636294"/>
            <a:ext cx="643890" cy="322659"/>
          </a:xfrm>
          <a:prstGeom prst="rect">
            <a:avLst/>
          </a:prstGeom>
          <a:solidFill>
            <a:srgbClr val="9BC2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ectangle 197"/>
          <p:cNvSpPr/>
          <p:nvPr/>
        </p:nvSpPr>
        <p:spPr>
          <a:xfrm>
            <a:off x="8296275" y="4636294"/>
            <a:ext cx="643890" cy="322659"/>
          </a:xfrm>
          <a:prstGeom prst="rect">
            <a:avLst/>
          </a:prstGeom>
          <a:solidFill>
            <a:srgbClr val="97C0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Rectangle 198"/>
          <p:cNvSpPr/>
          <p:nvPr/>
        </p:nvSpPr>
        <p:spPr>
          <a:xfrm>
            <a:off x="8940165" y="4636294"/>
            <a:ext cx="643890" cy="322659"/>
          </a:xfrm>
          <a:prstGeom prst="rect">
            <a:avLst/>
          </a:prstGeom>
          <a:solidFill>
            <a:srgbClr val="9BC2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9584055" y="4636294"/>
            <a:ext cx="643890" cy="322659"/>
          </a:xfrm>
          <a:prstGeom prst="rect">
            <a:avLst/>
          </a:prstGeom>
          <a:solidFill>
            <a:srgbClr val="A3C6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Rectangle 200"/>
          <p:cNvSpPr/>
          <p:nvPr/>
        </p:nvSpPr>
        <p:spPr>
          <a:xfrm>
            <a:off x="10227945" y="4636294"/>
            <a:ext cx="643890" cy="322659"/>
          </a:xfrm>
          <a:prstGeom prst="rect">
            <a:avLst/>
          </a:prstGeom>
          <a:solidFill>
            <a:srgbClr val="B2CF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Rectangle 201"/>
          <p:cNvSpPr/>
          <p:nvPr/>
        </p:nvSpPr>
        <p:spPr>
          <a:xfrm>
            <a:off x="10871835" y="4636294"/>
            <a:ext cx="643890" cy="322659"/>
          </a:xfrm>
          <a:prstGeom prst="rect">
            <a:avLst/>
          </a:prstGeom>
          <a:solidFill>
            <a:srgbClr val="C0D7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238125" y="4958953"/>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Foil-Laminated Structures</a:t>
            </a:r>
          </a:p>
        </p:txBody>
      </p:sp>
      <p:sp>
        <p:nvSpPr>
          <p:cNvPr id="204" name="Rectangle 203"/>
          <p:cNvSpPr/>
          <p:nvPr/>
        </p:nvSpPr>
        <p:spPr>
          <a:xfrm>
            <a:off x="1857375" y="4958953"/>
            <a:ext cx="643890" cy="322659"/>
          </a:xfrm>
          <a:prstGeom prst="rect">
            <a:avLst/>
          </a:prstGeom>
          <a:solidFill>
            <a:srgbClr val="EDF7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Rectangle 204"/>
          <p:cNvSpPr/>
          <p:nvPr/>
        </p:nvSpPr>
        <p:spPr>
          <a:xfrm>
            <a:off x="2501265" y="4958953"/>
            <a:ext cx="643890" cy="322659"/>
          </a:xfrm>
          <a:prstGeom prst="rect">
            <a:avLst/>
          </a:prstGeom>
          <a:solidFill>
            <a:srgbClr val="EDF7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Rectangle 205"/>
          <p:cNvSpPr/>
          <p:nvPr/>
        </p:nvSpPr>
        <p:spPr>
          <a:xfrm>
            <a:off x="3145155" y="4958953"/>
            <a:ext cx="643890" cy="322659"/>
          </a:xfrm>
          <a:prstGeom prst="rect">
            <a:avLst/>
          </a:prstGeom>
          <a:solidFill>
            <a:srgbClr val="E9F5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Rectangle 206"/>
          <p:cNvSpPr/>
          <p:nvPr/>
        </p:nvSpPr>
        <p:spPr>
          <a:xfrm>
            <a:off x="3789045" y="4958953"/>
            <a:ext cx="643890" cy="322659"/>
          </a:xfrm>
          <a:prstGeom prst="rect">
            <a:avLst/>
          </a:prstGeom>
          <a:solidFill>
            <a:srgbClr val="E3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Rectangle 207"/>
          <p:cNvSpPr/>
          <p:nvPr/>
        </p:nvSpPr>
        <p:spPr>
          <a:xfrm>
            <a:off x="4432935" y="4958953"/>
            <a:ext cx="643890" cy="322659"/>
          </a:xfrm>
          <a:prstGeom prst="rect">
            <a:avLst/>
          </a:prstGeom>
          <a:solidFill>
            <a:srgbClr val="D4E4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ectangle 208"/>
          <p:cNvSpPr/>
          <p:nvPr/>
        </p:nvSpPr>
        <p:spPr>
          <a:xfrm>
            <a:off x="5076825" y="4958953"/>
            <a:ext cx="643890" cy="322659"/>
          </a:xfrm>
          <a:prstGeom prst="rect">
            <a:avLst/>
          </a:prstGeom>
          <a:solidFill>
            <a:srgbClr val="BED6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5720715" y="4958953"/>
            <a:ext cx="643890" cy="322659"/>
          </a:xfrm>
          <a:prstGeom prst="rect">
            <a:avLst/>
          </a:prstGeom>
          <a:solidFill>
            <a:srgbClr val="A2C6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Rectangle 210"/>
          <p:cNvSpPr/>
          <p:nvPr/>
        </p:nvSpPr>
        <p:spPr>
          <a:xfrm>
            <a:off x="6364605" y="4958953"/>
            <a:ext cx="643890" cy="322659"/>
          </a:xfrm>
          <a:prstGeom prst="rect">
            <a:avLst/>
          </a:prstGeom>
          <a:solidFill>
            <a:srgbClr val="87B6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Rectangle 211"/>
          <p:cNvSpPr/>
          <p:nvPr/>
        </p:nvSpPr>
        <p:spPr>
          <a:xfrm>
            <a:off x="7008495" y="4958953"/>
            <a:ext cx="643890" cy="322659"/>
          </a:xfrm>
          <a:prstGeom prst="rect">
            <a:avLst/>
          </a:prstGeom>
          <a:solidFill>
            <a:srgbClr val="69A6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Rectangle 212"/>
          <p:cNvSpPr/>
          <p:nvPr/>
        </p:nvSpPr>
        <p:spPr>
          <a:xfrm>
            <a:off x="7652385" y="4958953"/>
            <a:ext cx="643890" cy="322659"/>
          </a:xfrm>
          <a:prstGeom prst="rect">
            <a:avLst/>
          </a:prstGeom>
          <a:solidFill>
            <a:srgbClr val="589DC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8296275" y="4958953"/>
            <a:ext cx="643890" cy="322659"/>
          </a:xfrm>
          <a:prstGeom prst="rect">
            <a:avLst/>
          </a:prstGeom>
          <a:solidFill>
            <a:srgbClr val="4C97C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Rectangle 214"/>
          <p:cNvSpPr/>
          <p:nvPr/>
        </p:nvSpPr>
        <p:spPr>
          <a:xfrm>
            <a:off x="8940165" y="4958953"/>
            <a:ext cx="643890" cy="322659"/>
          </a:xfrm>
          <a:prstGeom prst="rect">
            <a:avLst/>
          </a:prstGeom>
          <a:solidFill>
            <a:srgbClr val="4995C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Rectangle 215"/>
          <p:cNvSpPr/>
          <p:nvPr/>
        </p:nvSpPr>
        <p:spPr>
          <a:xfrm>
            <a:off x="9584055" y="4958953"/>
            <a:ext cx="643890" cy="322659"/>
          </a:xfrm>
          <a:prstGeom prst="rect">
            <a:avLst/>
          </a:prstGeom>
          <a:solidFill>
            <a:srgbClr val="529A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Rectangle 216"/>
          <p:cNvSpPr/>
          <p:nvPr/>
        </p:nvSpPr>
        <p:spPr>
          <a:xfrm>
            <a:off x="10227945" y="4958953"/>
            <a:ext cx="643890" cy="322659"/>
          </a:xfrm>
          <a:prstGeom prst="rect">
            <a:avLst/>
          </a:prstGeom>
          <a:solidFill>
            <a:srgbClr val="68A6C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Rectangle 217"/>
          <p:cNvSpPr/>
          <p:nvPr/>
        </p:nvSpPr>
        <p:spPr>
          <a:xfrm>
            <a:off x="10871835" y="4958953"/>
            <a:ext cx="643890" cy="322659"/>
          </a:xfrm>
          <a:prstGeom prst="rect">
            <a:avLst/>
          </a:prstGeom>
          <a:solidFill>
            <a:srgbClr val="80B3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TextBox 218"/>
          <p:cNvSpPr txBox="1"/>
          <p:nvPr/>
        </p:nvSpPr>
        <p:spPr>
          <a:xfrm>
            <a:off x="238125" y="5281612"/>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Mono-Material Recyclable Structures</a:t>
            </a:r>
          </a:p>
        </p:txBody>
      </p:sp>
      <p:sp>
        <p:nvSpPr>
          <p:cNvPr id="220" name="Rectangle 219"/>
          <p:cNvSpPr/>
          <p:nvPr/>
        </p:nvSpPr>
        <p:spPr>
          <a:xfrm>
            <a:off x="1857375" y="5281612"/>
            <a:ext cx="643890" cy="322659"/>
          </a:xfrm>
          <a:prstGeom prst="rect">
            <a:avLst/>
          </a:prstGeom>
          <a:solidFill>
            <a:srgbClr val="DFED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ectangle 220"/>
          <p:cNvSpPr/>
          <p:nvPr/>
        </p:nvSpPr>
        <p:spPr>
          <a:xfrm>
            <a:off x="2501265" y="5281612"/>
            <a:ext cx="643890" cy="322659"/>
          </a:xfrm>
          <a:prstGeom prst="rect">
            <a:avLst/>
          </a:prstGeom>
          <a:solidFill>
            <a:srgbClr val="D8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3145155" y="5281612"/>
            <a:ext cx="643890" cy="322659"/>
          </a:xfrm>
          <a:prstGeom prst="rect">
            <a:avLst/>
          </a:prstGeom>
          <a:solidFill>
            <a:srgbClr val="D0E1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ectangle 222"/>
          <p:cNvSpPr/>
          <p:nvPr/>
        </p:nvSpPr>
        <p:spPr>
          <a:xfrm>
            <a:off x="3789045" y="5281612"/>
            <a:ext cx="643890" cy="322659"/>
          </a:xfrm>
          <a:prstGeom prst="rect">
            <a:avLst/>
          </a:prstGeom>
          <a:solidFill>
            <a:srgbClr val="C3D9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Rectangle 223"/>
          <p:cNvSpPr/>
          <p:nvPr/>
        </p:nvSpPr>
        <p:spPr>
          <a:xfrm>
            <a:off x="4432935" y="5281612"/>
            <a:ext cx="643890" cy="322659"/>
          </a:xfrm>
          <a:prstGeom prst="rect">
            <a:avLst/>
          </a:prstGeom>
          <a:solidFill>
            <a:srgbClr val="A6C8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Rectangle 224"/>
          <p:cNvSpPr/>
          <p:nvPr/>
        </p:nvSpPr>
        <p:spPr>
          <a:xfrm>
            <a:off x="5076825" y="5281612"/>
            <a:ext cx="643890" cy="322659"/>
          </a:xfrm>
          <a:prstGeom prst="rect">
            <a:avLst/>
          </a:prstGeom>
          <a:solidFill>
            <a:srgbClr val="89B8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Rectangle 225"/>
          <p:cNvSpPr/>
          <p:nvPr/>
        </p:nvSpPr>
        <p:spPr>
          <a:xfrm>
            <a:off x="5720715" y="5281612"/>
            <a:ext cx="643890" cy="322659"/>
          </a:xfrm>
          <a:prstGeom prst="rect">
            <a:avLst/>
          </a:prstGeom>
          <a:solidFill>
            <a:srgbClr val="61A2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Rectangle 226"/>
          <p:cNvSpPr/>
          <p:nvPr/>
        </p:nvSpPr>
        <p:spPr>
          <a:xfrm>
            <a:off x="6364605" y="5281612"/>
            <a:ext cx="643890" cy="322659"/>
          </a:xfrm>
          <a:prstGeom prst="rect">
            <a:avLst/>
          </a:prstGeom>
          <a:solidFill>
            <a:srgbClr val="3C8E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Rectangle 227"/>
          <p:cNvSpPr/>
          <p:nvPr/>
        </p:nvSpPr>
        <p:spPr>
          <a:xfrm>
            <a:off x="7008495" y="5281612"/>
            <a:ext cx="643890" cy="322659"/>
          </a:xfrm>
          <a:prstGeom prst="rect">
            <a:avLst/>
          </a:prstGeom>
          <a:solidFill>
            <a:srgbClr val="1E7CB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angle 228"/>
          <p:cNvSpPr/>
          <p:nvPr/>
        </p:nvSpPr>
        <p:spPr>
          <a:xfrm>
            <a:off x="7652385" y="5281612"/>
            <a:ext cx="643890" cy="322659"/>
          </a:xfrm>
          <a:prstGeom prst="rect">
            <a:avLst/>
          </a:prstGeom>
          <a:solidFill>
            <a:srgbClr val="0D619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ectangle 229"/>
          <p:cNvSpPr/>
          <p:nvPr/>
        </p:nvSpPr>
        <p:spPr>
          <a:xfrm>
            <a:off x="8296275" y="5281612"/>
            <a:ext cx="643890" cy="322659"/>
          </a:xfrm>
          <a:prstGeom prst="rect">
            <a:avLst/>
          </a:prstGeom>
          <a:solidFill>
            <a:srgbClr val="0C466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8940165" y="5281612"/>
            <a:ext cx="643890" cy="322659"/>
          </a:xfrm>
          <a:prstGeom prst="rect">
            <a:avLst/>
          </a:prstGeom>
          <a:solidFill>
            <a:srgbClr val="0C476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9584055" y="5281612"/>
            <a:ext cx="643890" cy="322659"/>
          </a:xfrm>
          <a:prstGeom prst="rect">
            <a:avLst/>
          </a:prstGeom>
          <a:solidFill>
            <a:srgbClr val="0D558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10227945" y="5281612"/>
            <a:ext cx="643890" cy="322659"/>
          </a:xfrm>
          <a:prstGeom prst="rect">
            <a:avLst/>
          </a:prstGeom>
          <a:solidFill>
            <a:srgbClr val="1073A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10871835" y="5281612"/>
            <a:ext cx="643890" cy="322659"/>
          </a:xfrm>
          <a:prstGeom prst="rect">
            <a:avLst/>
          </a:prstGeom>
          <a:solidFill>
            <a:srgbClr val="2480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238125" y="5604272"/>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PE-Based</a:t>
            </a:r>
          </a:p>
        </p:txBody>
      </p:sp>
      <p:sp>
        <p:nvSpPr>
          <p:cNvPr id="236" name="Rectangle 235"/>
          <p:cNvSpPr/>
          <p:nvPr/>
        </p:nvSpPr>
        <p:spPr>
          <a:xfrm>
            <a:off x="1857375" y="5604272"/>
            <a:ext cx="643890" cy="322659"/>
          </a:xfrm>
          <a:prstGeom prst="rect">
            <a:avLst/>
          </a:prstGeom>
          <a:solidFill>
            <a:srgbClr val="E3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Rectangle 236"/>
          <p:cNvSpPr/>
          <p:nvPr/>
        </p:nvSpPr>
        <p:spPr>
          <a:xfrm>
            <a:off x="2501265" y="5604272"/>
            <a:ext cx="643890" cy="322659"/>
          </a:xfrm>
          <a:prstGeom prst="rect">
            <a:avLst/>
          </a:prstGeom>
          <a:solidFill>
            <a:srgbClr val="DCEA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Rectangle 237"/>
          <p:cNvSpPr/>
          <p:nvPr/>
        </p:nvSpPr>
        <p:spPr>
          <a:xfrm>
            <a:off x="3145155" y="5604272"/>
            <a:ext cx="643890" cy="322659"/>
          </a:xfrm>
          <a:prstGeom prst="rect">
            <a:avLst/>
          </a:prstGeom>
          <a:solidFill>
            <a:srgbClr val="D2E3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Rectangle 238"/>
          <p:cNvSpPr/>
          <p:nvPr/>
        </p:nvSpPr>
        <p:spPr>
          <a:xfrm>
            <a:off x="3789045" y="5604272"/>
            <a:ext cx="643890" cy="322659"/>
          </a:xfrm>
          <a:prstGeom prst="rect">
            <a:avLst/>
          </a:prstGeom>
          <a:solidFill>
            <a:srgbClr val="C8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Rectangle 239"/>
          <p:cNvSpPr/>
          <p:nvPr/>
        </p:nvSpPr>
        <p:spPr>
          <a:xfrm>
            <a:off x="4432935" y="5604272"/>
            <a:ext cx="643890" cy="322659"/>
          </a:xfrm>
          <a:prstGeom prst="rect">
            <a:avLst/>
          </a:prstGeom>
          <a:solidFill>
            <a:srgbClr val="A9CA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5076825" y="5604272"/>
            <a:ext cx="643890" cy="322659"/>
          </a:xfrm>
          <a:prstGeom prst="rect">
            <a:avLst/>
          </a:prstGeom>
          <a:solidFill>
            <a:srgbClr val="8AB8D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5720715" y="5604272"/>
            <a:ext cx="643890" cy="322659"/>
          </a:xfrm>
          <a:prstGeom prst="rect">
            <a:avLst/>
          </a:prstGeom>
          <a:solidFill>
            <a:srgbClr val="5C9F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p:cNvSpPr/>
          <p:nvPr/>
        </p:nvSpPr>
        <p:spPr>
          <a:xfrm>
            <a:off x="6364605" y="5604272"/>
            <a:ext cx="643890" cy="322659"/>
          </a:xfrm>
          <a:prstGeom prst="rect">
            <a:avLst/>
          </a:prstGeom>
          <a:solidFill>
            <a:srgbClr val="3589C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Rectangle 243"/>
          <p:cNvSpPr/>
          <p:nvPr/>
        </p:nvSpPr>
        <p:spPr>
          <a:xfrm>
            <a:off x="7008495" y="5604272"/>
            <a:ext cx="643890" cy="322659"/>
          </a:xfrm>
          <a:prstGeom prst="rect">
            <a:avLst/>
          </a:prstGeom>
          <a:solidFill>
            <a:srgbClr val="1375B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Rectangle 244"/>
          <p:cNvSpPr/>
          <p:nvPr/>
        </p:nvSpPr>
        <p:spPr>
          <a:xfrm>
            <a:off x="7652385" y="5604272"/>
            <a:ext cx="643890" cy="322659"/>
          </a:xfrm>
          <a:prstGeom prst="rect">
            <a:avLst/>
          </a:prstGeom>
          <a:solidFill>
            <a:srgbClr val="0C497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Rectangle 245"/>
          <p:cNvSpPr/>
          <p:nvPr/>
        </p:nvSpPr>
        <p:spPr>
          <a:xfrm>
            <a:off x="8296275" y="5604272"/>
            <a:ext cx="643890" cy="322659"/>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Rectangle 246"/>
          <p:cNvSpPr/>
          <p:nvPr/>
        </p:nvSpPr>
        <p:spPr>
          <a:xfrm>
            <a:off x="8940165" y="5604272"/>
            <a:ext cx="643890" cy="322659"/>
          </a:xfrm>
          <a:prstGeom prst="rect">
            <a:avLst/>
          </a:prstGeom>
          <a:solidFill>
            <a:srgbClr val="0B304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9584055" y="5604272"/>
            <a:ext cx="643890" cy="322659"/>
          </a:xfrm>
          <a:prstGeom prst="rect">
            <a:avLst/>
          </a:prstGeom>
          <a:solidFill>
            <a:srgbClr val="0C406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10227945" y="5604272"/>
            <a:ext cx="643890" cy="322659"/>
          </a:xfrm>
          <a:prstGeom prst="rect">
            <a:avLst/>
          </a:prstGeom>
          <a:solidFill>
            <a:srgbClr val="0D609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p:cNvSpPr/>
          <p:nvPr/>
        </p:nvSpPr>
        <p:spPr>
          <a:xfrm>
            <a:off x="10871835" y="5604272"/>
            <a:ext cx="643890" cy="322659"/>
          </a:xfrm>
          <a:prstGeom prst="rect">
            <a:avLst/>
          </a:prstGeom>
          <a:solidFill>
            <a:srgbClr val="1979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TextBox 250"/>
          <p:cNvSpPr txBox="1"/>
          <p:nvPr/>
        </p:nvSpPr>
        <p:spPr>
          <a:xfrm>
            <a:off x="238125" y="5926931"/>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PP-Based</a:t>
            </a:r>
          </a:p>
        </p:txBody>
      </p:sp>
      <p:sp>
        <p:nvSpPr>
          <p:cNvPr id="252" name="Rectangle 251"/>
          <p:cNvSpPr/>
          <p:nvPr/>
        </p:nvSpPr>
        <p:spPr>
          <a:xfrm>
            <a:off x="1857375" y="5926931"/>
            <a:ext cx="643890" cy="322659"/>
          </a:xfrm>
          <a:prstGeom prst="rect">
            <a:avLst/>
          </a:prstGeom>
          <a:solidFill>
            <a:srgbClr val="F4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Rectangle 252"/>
          <p:cNvSpPr/>
          <p:nvPr/>
        </p:nvSpPr>
        <p:spPr>
          <a:xfrm>
            <a:off x="2501265" y="5926931"/>
            <a:ext cx="643890" cy="322659"/>
          </a:xfrm>
          <a:prstGeom prst="rect">
            <a:avLst/>
          </a:prstGeom>
          <a:solidFill>
            <a:srgbClr val="EF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Rectangle 253"/>
          <p:cNvSpPr/>
          <p:nvPr/>
        </p:nvSpPr>
        <p:spPr>
          <a:xfrm>
            <a:off x="3145155" y="5926931"/>
            <a:ext cx="643890" cy="322659"/>
          </a:xfrm>
          <a:prstGeom prst="rect">
            <a:avLst/>
          </a:prstGeom>
          <a:solidFill>
            <a:srgbClr val="E7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Rectangle 254"/>
          <p:cNvSpPr/>
          <p:nvPr/>
        </p:nvSpPr>
        <p:spPr>
          <a:xfrm>
            <a:off x="3789045" y="5926931"/>
            <a:ext cx="643890" cy="322659"/>
          </a:xfrm>
          <a:prstGeom prst="rect">
            <a:avLst/>
          </a:prstGeom>
          <a:solidFill>
            <a:srgbClr val="DC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Rectangle 255"/>
          <p:cNvSpPr/>
          <p:nvPr/>
        </p:nvSpPr>
        <p:spPr>
          <a:xfrm>
            <a:off x="4432935" y="5926931"/>
            <a:ext cx="643890" cy="322659"/>
          </a:xfrm>
          <a:prstGeom prst="rect">
            <a:avLst/>
          </a:prstGeom>
          <a:solidFill>
            <a:srgbClr val="CADD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Rectangle 256"/>
          <p:cNvSpPr/>
          <p:nvPr/>
        </p:nvSpPr>
        <p:spPr>
          <a:xfrm>
            <a:off x="5076825" y="5926931"/>
            <a:ext cx="643890" cy="322659"/>
          </a:xfrm>
          <a:prstGeom prst="rect">
            <a:avLst/>
          </a:prstGeom>
          <a:solidFill>
            <a:srgbClr val="ACCC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Rectangle 257"/>
          <p:cNvSpPr/>
          <p:nvPr/>
        </p:nvSpPr>
        <p:spPr>
          <a:xfrm>
            <a:off x="5720715" y="5926931"/>
            <a:ext cx="643890" cy="322659"/>
          </a:xfrm>
          <a:prstGeom prst="rect">
            <a:avLst/>
          </a:prstGeom>
          <a:solidFill>
            <a:srgbClr val="92BD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Rectangle 258"/>
          <p:cNvSpPr/>
          <p:nvPr/>
        </p:nvSpPr>
        <p:spPr>
          <a:xfrm>
            <a:off x="6364605" y="5926931"/>
            <a:ext cx="643890" cy="322659"/>
          </a:xfrm>
          <a:prstGeom prst="rect">
            <a:avLst/>
          </a:prstGeom>
          <a:solidFill>
            <a:srgbClr val="6AA7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Rectangle 259"/>
          <p:cNvSpPr/>
          <p:nvPr/>
        </p:nvSpPr>
        <p:spPr>
          <a:xfrm>
            <a:off x="7008495" y="5926931"/>
            <a:ext cx="643890" cy="322659"/>
          </a:xfrm>
          <a:prstGeom prst="rect">
            <a:avLst/>
          </a:prstGeom>
          <a:solidFill>
            <a:srgbClr val="3B8D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Rectangle 260"/>
          <p:cNvSpPr/>
          <p:nvPr/>
        </p:nvSpPr>
        <p:spPr>
          <a:xfrm>
            <a:off x="7652385" y="5926931"/>
            <a:ext cx="643890" cy="322659"/>
          </a:xfrm>
          <a:prstGeom prst="rect">
            <a:avLst/>
          </a:prstGeom>
          <a:solidFill>
            <a:srgbClr val="1C7B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Rectangle 261"/>
          <p:cNvSpPr/>
          <p:nvPr/>
        </p:nvSpPr>
        <p:spPr>
          <a:xfrm>
            <a:off x="8296275" y="5926931"/>
            <a:ext cx="643890" cy="322659"/>
          </a:xfrm>
          <a:prstGeom prst="rect">
            <a:avLst/>
          </a:prstGeom>
          <a:solidFill>
            <a:srgbClr val="0D659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Rectangle 262"/>
          <p:cNvSpPr/>
          <p:nvPr/>
        </p:nvSpPr>
        <p:spPr>
          <a:xfrm>
            <a:off x="8940165" y="5926931"/>
            <a:ext cx="643890" cy="322659"/>
          </a:xfrm>
          <a:prstGeom prst="rect">
            <a:avLst/>
          </a:prstGeom>
          <a:solidFill>
            <a:srgbClr val="0D5F9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Rectangle 263"/>
          <p:cNvSpPr/>
          <p:nvPr/>
        </p:nvSpPr>
        <p:spPr>
          <a:xfrm>
            <a:off x="9584055" y="5926931"/>
            <a:ext cx="643890" cy="322659"/>
          </a:xfrm>
          <a:prstGeom prst="rect">
            <a:avLst/>
          </a:prstGeom>
          <a:solidFill>
            <a:srgbClr val="0E6AA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Rectangle 264"/>
          <p:cNvSpPr/>
          <p:nvPr/>
        </p:nvSpPr>
        <p:spPr>
          <a:xfrm>
            <a:off x="10227945" y="5926931"/>
            <a:ext cx="643890" cy="322659"/>
          </a:xfrm>
          <a:prstGeom prst="rect">
            <a:avLst/>
          </a:prstGeom>
          <a:solidFill>
            <a:srgbClr val="1D7BB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Rectangle 265"/>
          <p:cNvSpPr/>
          <p:nvPr/>
        </p:nvSpPr>
        <p:spPr>
          <a:xfrm>
            <a:off x="10871835" y="5926931"/>
            <a:ext cx="643890" cy="322659"/>
          </a:xfrm>
          <a:prstGeom prst="rect">
            <a:avLst/>
          </a:prstGeom>
          <a:solidFill>
            <a:srgbClr val="3086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238125" y="6249591"/>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PET-Based</a:t>
            </a:r>
          </a:p>
        </p:txBody>
      </p:sp>
      <p:sp>
        <p:nvSpPr>
          <p:cNvPr id="268" name="Rectangle 267"/>
          <p:cNvSpPr/>
          <p:nvPr/>
        </p:nvSpPr>
        <p:spPr>
          <a:xfrm>
            <a:off x="1857375" y="6249591"/>
            <a:ext cx="643890" cy="322659"/>
          </a:xfrm>
          <a:prstGeom prst="rect">
            <a:avLst/>
          </a:prstGeom>
          <a:solidFill>
            <a:srgbClr val="6CA8D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Rectangle 268"/>
          <p:cNvSpPr/>
          <p:nvPr/>
        </p:nvSpPr>
        <p:spPr>
          <a:xfrm>
            <a:off x="2501265" y="6249591"/>
            <a:ext cx="643890" cy="322659"/>
          </a:xfrm>
          <a:prstGeom prst="rect">
            <a:avLst/>
          </a:prstGeom>
          <a:solidFill>
            <a:srgbClr val="63A3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Rectangle 269"/>
          <p:cNvSpPr/>
          <p:nvPr/>
        </p:nvSpPr>
        <p:spPr>
          <a:xfrm>
            <a:off x="3145155" y="6249591"/>
            <a:ext cx="643890" cy="322659"/>
          </a:xfrm>
          <a:prstGeom prst="rect">
            <a:avLst/>
          </a:prstGeom>
          <a:solidFill>
            <a:srgbClr val="529AC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Rectangle 270"/>
          <p:cNvSpPr/>
          <p:nvPr/>
        </p:nvSpPr>
        <p:spPr>
          <a:xfrm>
            <a:off x="3789045" y="6249591"/>
            <a:ext cx="643890" cy="322659"/>
          </a:xfrm>
          <a:prstGeom prst="rect">
            <a:avLst/>
          </a:prstGeom>
          <a:solidFill>
            <a:srgbClr val="4190C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Rectangle 271"/>
          <p:cNvSpPr/>
          <p:nvPr/>
        </p:nvSpPr>
        <p:spPr>
          <a:xfrm>
            <a:off x="4432935" y="6249591"/>
            <a:ext cx="643890" cy="322659"/>
          </a:xfrm>
          <a:prstGeom prst="rect">
            <a:avLst/>
          </a:prstGeom>
          <a:solidFill>
            <a:srgbClr val="3288B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Rectangle 272"/>
          <p:cNvSpPr/>
          <p:nvPr/>
        </p:nvSpPr>
        <p:spPr>
          <a:xfrm>
            <a:off x="5076825" y="6249591"/>
            <a:ext cx="643890" cy="322659"/>
          </a:xfrm>
          <a:prstGeom prst="rect">
            <a:avLst/>
          </a:prstGeom>
          <a:solidFill>
            <a:srgbClr val="2781B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Rectangle 273"/>
          <p:cNvSpPr/>
          <p:nvPr/>
        </p:nvSpPr>
        <p:spPr>
          <a:xfrm>
            <a:off x="5720715" y="6249591"/>
            <a:ext cx="643890" cy="322659"/>
          </a:xfrm>
          <a:prstGeom prst="rect">
            <a:avLst/>
          </a:prstGeom>
          <a:solidFill>
            <a:srgbClr val="1F7CB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Rectangle 274"/>
          <p:cNvSpPr/>
          <p:nvPr/>
        </p:nvSpPr>
        <p:spPr>
          <a:xfrm>
            <a:off x="6364605" y="6249591"/>
            <a:ext cx="643890" cy="322659"/>
          </a:xfrm>
          <a:prstGeom prst="rect">
            <a:avLst/>
          </a:prstGeom>
          <a:solidFill>
            <a:srgbClr val="1979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Rectangle 275"/>
          <p:cNvSpPr/>
          <p:nvPr/>
        </p:nvSpPr>
        <p:spPr>
          <a:xfrm>
            <a:off x="7008495" y="6249591"/>
            <a:ext cx="643890" cy="322659"/>
          </a:xfrm>
          <a:prstGeom prst="rect">
            <a:avLst/>
          </a:prstGeom>
          <a:solidFill>
            <a:srgbClr val="1174A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Rectangle 276"/>
          <p:cNvSpPr/>
          <p:nvPr/>
        </p:nvSpPr>
        <p:spPr>
          <a:xfrm>
            <a:off x="7652385" y="6249591"/>
            <a:ext cx="643890" cy="322659"/>
          </a:xfrm>
          <a:prstGeom prst="rect">
            <a:avLst/>
          </a:prstGeom>
          <a:solidFill>
            <a:srgbClr val="0E6EA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Rectangle 277"/>
          <p:cNvSpPr/>
          <p:nvPr/>
        </p:nvSpPr>
        <p:spPr>
          <a:xfrm>
            <a:off x="8296275" y="6249591"/>
            <a:ext cx="643890" cy="322659"/>
          </a:xfrm>
          <a:prstGeom prst="rect">
            <a:avLst/>
          </a:prstGeom>
          <a:solidFill>
            <a:srgbClr val="0E68A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Rectangle 278"/>
          <p:cNvSpPr/>
          <p:nvPr/>
        </p:nvSpPr>
        <p:spPr>
          <a:xfrm>
            <a:off x="8940165" y="6249591"/>
            <a:ext cx="643890" cy="322659"/>
          </a:xfrm>
          <a:prstGeom prst="rect">
            <a:avLst/>
          </a:prstGeom>
          <a:solidFill>
            <a:srgbClr val="0E71A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Rectangle 279"/>
          <p:cNvSpPr/>
          <p:nvPr/>
        </p:nvSpPr>
        <p:spPr>
          <a:xfrm>
            <a:off x="9584055" y="6249591"/>
            <a:ext cx="643890" cy="322659"/>
          </a:xfrm>
          <a:prstGeom prst="rect">
            <a:avLst/>
          </a:prstGeom>
          <a:solidFill>
            <a:srgbClr val="1878B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Rectangle 280"/>
          <p:cNvSpPr/>
          <p:nvPr/>
        </p:nvSpPr>
        <p:spPr>
          <a:xfrm>
            <a:off x="10227945" y="6249591"/>
            <a:ext cx="643890" cy="322659"/>
          </a:xfrm>
          <a:prstGeom prst="rect">
            <a:avLst/>
          </a:prstGeom>
          <a:solidFill>
            <a:srgbClr val="2A83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Rectangle 281"/>
          <p:cNvSpPr/>
          <p:nvPr/>
        </p:nvSpPr>
        <p:spPr>
          <a:xfrm>
            <a:off x="10871835" y="6249591"/>
            <a:ext cx="643890" cy="322659"/>
          </a:xfrm>
          <a:prstGeom prst="rect">
            <a:avLst/>
          </a:prstGeom>
          <a:solidFill>
            <a:srgbClr val="3B8D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Rectangle 282"/>
          <p:cNvSpPr/>
          <p:nvPr/>
        </p:nvSpPr>
        <p:spPr>
          <a:xfrm>
            <a:off x="11572875" y="1447800"/>
            <a:ext cx="104775" cy="134779"/>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Rectangle 283"/>
          <p:cNvSpPr/>
          <p:nvPr/>
        </p:nvSpPr>
        <p:spPr>
          <a:xfrm>
            <a:off x="11572875" y="1574959"/>
            <a:ext cx="104775" cy="134779"/>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Rectangle 284"/>
          <p:cNvSpPr/>
          <p:nvPr/>
        </p:nvSpPr>
        <p:spPr>
          <a:xfrm>
            <a:off x="11572875" y="1702118"/>
            <a:ext cx="104775" cy="134779"/>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Rectangle 285"/>
          <p:cNvSpPr/>
          <p:nvPr/>
        </p:nvSpPr>
        <p:spPr>
          <a:xfrm>
            <a:off x="11572875" y="1829276"/>
            <a:ext cx="104775" cy="134779"/>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Rectangle 286"/>
          <p:cNvSpPr/>
          <p:nvPr/>
        </p:nvSpPr>
        <p:spPr>
          <a:xfrm>
            <a:off x="11572875" y="1956435"/>
            <a:ext cx="104775" cy="134779"/>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Rectangle 287"/>
          <p:cNvSpPr/>
          <p:nvPr/>
        </p:nvSpPr>
        <p:spPr>
          <a:xfrm>
            <a:off x="11572875" y="2083594"/>
            <a:ext cx="104775" cy="134779"/>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Rectangle 288"/>
          <p:cNvSpPr/>
          <p:nvPr/>
        </p:nvSpPr>
        <p:spPr>
          <a:xfrm>
            <a:off x="11572875" y="2210752"/>
            <a:ext cx="104775" cy="134779"/>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Rectangle 289"/>
          <p:cNvSpPr/>
          <p:nvPr/>
        </p:nvSpPr>
        <p:spPr>
          <a:xfrm>
            <a:off x="11572875" y="2337911"/>
            <a:ext cx="104775" cy="134779"/>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Rectangle 290"/>
          <p:cNvSpPr/>
          <p:nvPr/>
        </p:nvSpPr>
        <p:spPr>
          <a:xfrm>
            <a:off x="11572875" y="2465070"/>
            <a:ext cx="104775" cy="134779"/>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Rectangle 291"/>
          <p:cNvSpPr/>
          <p:nvPr/>
        </p:nvSpPr>
        <p:spPr>
          <a:xfrm>
            <a:off x="11572875" y="2592229"/>
            <a:ext cx="104775" cy="134779"/>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Rectangle 292"/>
          <p:cNvSpPr/>
          <p:nvPr/>
        </p:nvSpPr>
        <p:spPr>
          <a:xfrm>
            <a:off x="11572875" y="2719388"/>
            <a:ext cx="104775" cy="134779"/>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Rectangle 293"/>
          <p:cNvSpPr/>
          <p:nvPr/>
        </p:nvSpPr>
        <p:spPr>
          <a:xfrm>
            <a:off x="11572875" y="2846546"/>
            <a:ext cx="104775" cy="134779"/>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Rectangle 294"/>
          <p:cNvSpPr/>
          <p:nvPr/>
        </p:nvSpPr>
        <p:spPr>
          <a:xfrm>
            <a:off x="11572875" y="2973705"/>
            <a:ext cx="104775" cy="134779"/>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Rectangle 295"/>
          <p:cNvSpPr/>
          <p:nvPr/>
        </p:nvSpPr>
        <p:spPr>
          <a:xfrm>
            <a:off x="11572875" y="3100864"/>
            <a:ext cx="104775" cy="134779"/>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Rectangle 296"/>
          <p:cNvSpPr/>
          <p:nvPr/>
        </p:nvSpPr>
        <p:spPr>
          <a:xfrm>
            <a:off x="11572875" y="3228022"/>
            <a:ext cx="104775" cy="134779"/>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Rectangle 297"/>
          <p:cNvSpPr/>
          <p:nvPr/>
        </p:nvSpPr>
        <p:spPr>
          <a:xfrm>
            <a:off x="11572875" y="3355181"/>
            <a:ext cx="104775" cy="134779"/>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Rectangle 298"/>
          <p:cNvSpPr/>
          <p:nvPr/>
        </p:nvSpPr>
        <p:spPr>
          <a:xfrm>
            <a:off x="11572875" y="3482340"/>
            <a:ext cx="104775" cy="134779"/>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ectangle 299"/>
          <p:cNvSpPr/>
          <p:nvPr/>
        </p:nvSpPr>
        <p:spPr>
          <a:xfrm>
            <a:off x="11572875" y="3609499"/>
            <a:ext cx="104775" cy="134779"/>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Rectangle 300"/>
          <p:cNvSpPr/>
          <p:nvPr/>
        </p:nvSpPr>
        <p:spPr>
          <a:xfrm>
            <a:off x="11572875" y="3736657"/>
            <a:ext cx="104775" cy="134779"/>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Rectangle 301"/>
          <p:cNvSpPr/>
          <p:nvPr/>
        </p:nvSpPr>
        <p:spPr>
          <a:xfrm>
            <a:off x="11572875" y="3863816"/>
            <a:ext cx="104775" cy="134779"/>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ectangle 302"/>
          <p:cNvSpPr/>
          <p:nvPr/>
        </p:nvSpPr>
        <p:spPr>
          <a:xfrm>
            <a:off x="11572875" y="3990975"/>
            <a:ext cx="104775" cy="134779"/>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Rectangle 303"/>
          <p:cNvSpPr/>
          <p:nvPr/>
        </p:nvSpPr>
        <p:spPr>
          <a:xfrm>
            <a:off x="11572875" y="4118134"/>
            <a:ext cx="104775" cy="134779"/>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Rectangle 304"/>
          <p:cNvSpPr/>
          <p:nvPr/>
        </p:nvSpPr>
        <p:spPr>
          <a:xfrm>
            <a:off x="11572875" y="4245292"/>
            <a:ext cx="104775" cy="134779"/>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ectangle 305"/>
          <p:cNvSpPr/>
          <p:nvPr/>
        </p:nvSpPr>
        <p:spPr>
          <a:xfrm>
            <a:off x="11572875" y="4372451"/>
            <a:ext cx="104775" cy="134779"/>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Rectangle 306"/>
          <p:cNvSpPr/>
          <p:nvPr/>
        </p:nvSpPr>
        <p:spPr>
          <a:xfrm>
            <a:off x="11572875" y="4499610"/>
            <a:ext cx="104775" cy="134779"/>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Rectangle 307"/>
          <p:cNvSpPr/>
          <p:nvPr/>
        </p:nvSpPr>
        <p:spPr>
          <a:xfrm>
            <a:off x="11572875" y="4626769"/>
            <a:ext cx="104775" cy="134779"/>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ectangle 308"/>
          <p:cNvSpPr/>
          <p:nvPr/>
        </p:nvSpPr>
        <p:spPr>
          <a:xfrm>
            <a:off x="11572875" y="4753928"/>
            <a:ext cx="104775" cy="134779"/>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Rectangle 309"/>
          <p:cNvSpPr/>
          <p:nvPr/>
        </p:nvSpPr>
        <p:spPr>
          <a:xfrm>
            <a:off x="11572875" y="4881086"/>
            <a:ext cx="104775" cy="134779"/>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Rectangle 310"/>
          <p:cNvSpPr/>
          <p:nvPr/>
        </p:nvSpPr>
        <p:spPr>
          <a:xfrm>
            <a:off x="11572875" y="5008245"/>
            <a:ext cx="104775" cy="134779"/>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ectangle 311"/>
          <p:cNvSpPr/>
          <p:nvPr/>
        </p:nvSpPr>
        <p:spPr>
          <a:xfrm>
            <a:off x="11572875" y="5135404"/>
            <a:ext cx="104775" cy="134779"/>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Rectangle 312"/>
          <p:cNvSpPr/>
          <p:nvPr/>
        </p:nvSpPr>
        <p:spPr>
          <a:xfrm>
            <a:off x="11572875" y="5262562"/>
            <a:ext cx="104775" cy="134779"/>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Rectangle 313"/>
          <p:cNvSpPr/>
          <p:nvPr/>
        </p:nvSpPr>
        <p:spPr>
          <a:xfrm>
            <a:off x="11572875" y="5389721"/>
            <a:ext cx="104775" cy="134779"/>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ectangle 314"/>
          <p:cNvSpPr/>
          <p:nvPr/>
        </p:nvSpPr>
        <p:spPr>
          <a:xfrm>
            <a:off x="11572875" y="5516880"/>
            <a:ext cx="104775" cy="134779"/>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Rectangle 315"/>
          <p:cNvSpPr/>
          <p:nvPr/>
        </p:nvSpPr>
        <p:spPr>
          <a:xfrm>
            <a:off x="11572875" y="5644039"/>
            <a:ext cx="104775" cy="134779"/>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Rectangle 316"/>
          <p:cNvSpPr/>
          <p:nvPr/>
        </p:nvSpPr>
        <p:spPr>
          <a:xfrm>
            <a:off x="11572875" y="5771198"/>
            <a:ext cx="104775" cy="134779"/>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Rectangle 317"/>
          <p:cNvSpPr/>
          <p:nvPr/>
        </p:nvSpPr>
        <p:spPr>
          <a:xfrm>
            <a:off x="11572875" y="5898356"/>
            <a:ext cx="104775" cy="134779"/>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Rectangle 318"/>
          <p:cNvSpPr/>
          <p:nvPr/>
        </p:nvSpPr>
        <p:spPr>
          <a:xfrm>
            <a:off x="11572875" y="6025515"/>
            <a:ext cx="104775" cy="134779"/>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Rectangle 319"/>
          <p:cNvSpPr/>
          <p:nvPr/>
        </p:nvSpPr>
        <p:spPr>
          <a:xfrm>
            <a:off x="11572875" y="6152674"/>
            <a:ext cx="104775" cy="134779"/>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Rectangle 320"/>
          <p:cNvSpPr/>
          <p:nvPr/>
        </p:nvSpPr>
        <p:spPr>
          <a:xfrm>
            <a:off x="11572875" y="6279832"/>
            <a:ext cx="104775" cy="134779"/>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Rectangle 321"/>
          <p:cNvSpPr/>
          <p:nvPr/>
        </p:nvSpPr>
        <p:spPr>
          <a:xfrm>
            <a:off x="11572875" y="6406991"/>
            <a:ext cx="104775" cy="134779"/>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Rectangle 322"/>
          <p:cNvSpPr/>
          <p:nvPr/>
        </p:nvSpPr>
        <p:spPr>
          <a:xfrm>
            <a:off x="11572875" y="1447800"/>
            <a:ext cx="104775" cy="5086350"/>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TextBox 323"/>
          <p:cNvSpPr txBox="1"/>
          <p:nvPr/>
        </p:nvSpPr>
        <p:spPr>
          <a:xfrm>
            <a:off x="11687175" y="1381125"/>
            <a:ext cx="276225" cy="133350"/>
          </a:xfrm>
          <a:prstGeom prst="rect">
            <a:avLst/>
          </a:prstGeom>
          <a:noFill/>
        </p:spPr>
        <p:txBody>
          <a:bodyPr wrap="none" lIns="0" rIns="0" tIns="0" bIns="0" anchor="ctr">
            <a:spAutoFit/>
          </a:bodyPr>
          <a:lstStyle/>
          <a:p>
            <a:pPr algn="l"/>
            <a:r>
              <a:rPr sz="1100" b="0">
                <a:solidFill>
                  <a:srgbClr val="6C7A89"/>
                </a:solidFill>
                <a:latin typeface="Calibri"/>
              </a:rPr>
              <a:t>6%</a:t>
            </a:r>
          </a:p>
        </p:txBody>
      </p:sp>
      <p:sp>
        <p:nvSpPr>
          <p:cNvPr id="325" name="TextBox 324"/>
          <p:cNvSpPr txBox="1"/>
          <p:nvPr/>
        </p:nvSpPr>
        <p:spPr>
          <a:xfrm>
            <a:off x="11687175" y="3924300"/>
            <a:ext cx="276225" cy="133350"/>
          </a:xfrm>
          <a:prstGeom prst="rect">
            <a:avLst/>
          </a:prstGeom>
          <a:noFill/>
        </p:spPr>
        <p:txBody>
          <a:bodyPr wrap="none" lIns="0" rIns="0" tIns="0" bIns="0" anchor="ctr">
            <a:spAutoFit/>
          </a:bodyPr>
          <a:lstStyle/>
          <a:p>
            <a:pPr algn="l"/>
            <a:r>
              <a:rPr sz="1100" b="0">
                <a:solidFill>
                  <a:srgbClr val="6C7A89"/>
                </a:solidFill>
                <a:latin typeface="Calibri"/>
              </a:rPr>
              <a:t>5%</a:t>
            </a:r>
          </a:p>
        </p:txBody>
      </p:sp>
      <p:sp>
        <p:nvSpPr>
          <p:cNvPr id="326" name="TextBox 325"/>
          <p:cNvSpPr txBox="1"/>
          <p:nvPr/>
        </p:nvSpPr>
        <p:spPr>
          <a:xfrm>
            <a:off x="11687175" y="6467475"/>
            <a:ext cx="276225" cy="133350"/>
          </a:xfrm>
          <a:prstGeom prst="rect">
            <a:avLst/>
          </a:prstGeom>
          <a:noFill/>
        </p:spPr>
        <p:txBody>
          <a:bodyPr wrap="none" lIns="0" rIns="0" tIns="0" bIns="0" anchor="ctr">
            <a:spAutoFit/>
          </a:bodyPr>
          <a:lstStyle/>
          <a:p>
            <a:pPr algn="l"/>
            <a:r>
              <a:rPr sz="1100" b="0">
                <a:solidFill>
                  <a:srgbClr val="6C7A89"/>
                </a:solidFill>
                <a:latin typeface="Calibri"/>
              </a:rPr>
              <a:t>4%</a:t>
            </a:r>
          </a:p>
        </p:txBody>
      </p:sp>
      <p:sp>
        <p:nvSpPr>
          <p:cNvPr id="327" name="TextBox 3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YoY Analysis of Global Market Value, By Material Structure (%)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Year-on-year value growth by Material Structure, 2022–2036, highlighting acceleration and slowdown</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4133850"/>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YoY Growth, By Material Structure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3" name="Table 12"/>
          <p:cNvGraphicFramePr>
            <a:graphicFrameLocks noGrp="1"/>
          </p:cNvGraphicFramePr>
          <p:nvPr/>
        </p:nvGraphicFramePr>
        <p:xfrm>
          <a:off x="152400" y="1238250"/>
          <a:ext cx="11887197" cy="3667121"/>
        </p:xfrm>
        <a:graphic>
          <a:graphicData uri="http://schemas.openxmlformats.org/drawingml/2006/table">
            <a:tbl>
              <a:tblPr>
                <a:tableStyleId>{5C22544A-7EE6-4342-B048-85BDC9FD1C3A}</a:tableStyleId>
              </a:tblPr>
              <a:tblGrid>
                <a:gridCol w="2576802"/>
                <a:gridCol w="620693"/>
                <a:gridCol w="620693"/>
                <a:gridCol w="620693"/>
                <a:gridCol w="620693"/>
                <a:gridCol w="620693"/>
                <a:gridCol w="620693"/>
                <a:gridCol w="620693"/>
                <a:gridCol w="620693"/>
                <a:gridCol w="620693"/>
                <a:gridCol w="620693"/>
                <a:gridCol w="620693"/>
                <a:gridCol w="620693"/>
                <a:gridCol w="620693"/>
                <a:gridCol w="620693"/>
                <a:gridCol w="620693"/>
              </a:tblGrid>
              <a:tr h="215265">
                <a:tc>
                  <a:txBody>
                    <a:bodyPr wrap="none"/>
                    <a:lstStyle/>
                    <a:p>
                      <a:pPr algn="l"/>
                      <a:r>
                        <a:rPr sz="1100" b="1">
                          <a:solidFill>
                            <a:srgbClr val="0B2E4A"/>
                          </a:solidFill>
                          <a:latin typeface="Calibri"/>
                        </a:rPr>
                        <a:t>Material Structure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2036F</a:t>
                      </a:r>
                      <a:endParaRPr sz="1100"/>
                    </a:p>
                  </a:txBody>
                  <a:tcPr marL="47625" marR="38100" marT="19050" marB="19050" anchor="ctr">
                    <a:solidFill>
                      <a:srgbClr val="E0E8EF"/>
                    </a:solidFill>
                  </a:tcPr>
                </a:tc>
              </a:tr>
              <a:tr h="215741">
                <a:tc>
                  <a:txBody>
                    <a:bodyPr wrap="none"/>
                    <a:lstStyle/>
                    <a:p>
                      <a:pPr algn="l"/>
                      <a:r>
                        <a:rPr sz="1100" b="1">
                          <a:solidFill>
                            <a:srgbClr val="2E2E2E"/>
                          </a:solidFill>
                          <a:latin typeface="Calibri"/>
                        </a:rPr>
                        <a:t>Monolayer Films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7.0%</a:t>
                      </a:r>
                      <a:endParaRPr sz="1100"/>
                    </a:p>
                  </a:txBody>
                  <a:tcPr marL="47625" marR="38100" marT="19050" marB="19050" anchor="ctr">
                    <a:solidFill>
                      <a:srgbClr val="FFFFFF"/>
                    </a:solidFill>
                  </a:tcPr>
                </a:tc>
              </a:tr>
              <a:tr h="215741">
                <a:tc>
                  <a:txBody>
                    <a:bodyPr wrap="none"/>
                    <a:lstStyle/>
                    <a:p>
                      <a:pPr algn="l"/>
                      <a:r>
                        <a:rPr sz="1100" b="1">
                          <a:solidFill>
                            <a:srgbClr val="2E2E2E"/>
                          </a:solidFill>
                          <a:latin typeface="Calibri"/>
                        </a:rPr>
                        <a:t>Coextruded Multilayer Films</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5F8FA"/>
                    </a:solidFill>
                  </a:tcPr>
                </a:tc>
              </a:tr>
              <a:tr h="215741">
                <a:tc>
                  <a:txBody>
                    <a:bodyPr wrap="none"/>
                    <a:lstStyle/>
                    <a:p>
                      <a:pPr algn="l"/>
                      <a:r>
                        <a:rPr sz="1100" b="1">
                          <a:solidFill>
                            <a:srgbClr val="2E2E2E"/>
                          </a:solidFill>
                          <a:latin typeface="Calibri"/>
                        </a:rPr>
                        <a:t>– 3–5 Layer</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3.9%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7.1%</a:t>
                      </a:r>
                      <a:endParaRPr sz="1100"/>
                    </a:p>
                  </a:txBody>
                  <a:tcPr marL="47625" marR="38100" marT="19050" marB="19050" anchor="ctr">
                    <a:solidFill>
                      <a:srgbClr val="FFFFFF"/>
                    </a:solidFill>
                  </a:tcPr>
                </a:tc>
              </a:tr>
              <a:tr h="215741">
                <a:tc>
                  <a:txBody>
                    <a:bodyPr wrap="none"/>
                    <a:lstStyle/>
                    <a:p>
                      <a:pPr algn="l"/>
                      <a:r>
                        <a:rPr sz="1100" b="1">
                          <a:solidFill>
                            <a:srgbClr val="2E2E2E"/>
                          </a:solidFill>
                          <a:latin typeface="Calibri"/>
                        </a:rPr>
                        <a:t>– 7 Layer</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6.6%</a:t>
                      </a:r>
                      <a:endParaRPr sz="1100"/>
                    </a:p>
                  </a:txBody>
                  <a:tcPr marL="47625" marR="38100" marT="19050" marB="19050" anchor="ctr">
                    <a:solidFill>
                      <a:srgbClr val="F5F8FA"/>
                    </a:solidFill>
                  </a:tcPr>
                </a:tc>
              </a:tr>
              <a:tr h="215741">
                <a:tc>
                  <a:txBody>
                    <a:bodyPr wrap="none"/>
                    <a:lstStyle/>
                    <a:p>
                      <a:pPr algn="l"/>
                      <a:r>
                        <a:rPr sz="1100" b="1">
                          <a:solidFill>
                            <a:srgbClr val="2E2E2E"/>
                          </a:solidFill>
                          <a:latin typeface="Calibri"/>
                        </a:rPr>
                        <a:t>– 9 Layer and Above</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6.4%</a:t>
                      </a:r>
                      <a:endParaRPr sz="1100"/>
                    </a:p>
                  </a:txBody>
                  <a:tcPr marL="47625" marR="38100" marT="19050" marB="19050" anchor="ctr">
                    <a:solidFill>
                      <a:srgbClr val="FFFFFF"/>
                    </a:solidFill>
                  </a:tcPr>
                </a:tc>
              </a:tr>
              <a:tr h="215741">
                <a:tc>
                  <a:txBody>
                    <a:bodyPr wrap="none"/>
                    <a:lstStyle/>
                    <a:p>
                      <a:pPr algn="l"/>
                      <a:r>
                        <a:rPr sz="1100" b="1">
                          <a:solidFill>
                            <a:srgbClr val="2E2E2E"/>
                          </a:solidFill>
                          <a:latin typeface="Calibri"/>
                        </a:rPr>
                        <a:t>Laminated Films</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5F8FA"/>
                    </a:solidFill>
                  </a:tcPr>
                </a:tc>
              </a:tr>
              <a:tr h="215741">
                <a:tc>
                  <a:txBody>
                    <a:bodyPr wrap="none"/>
                    <a:lstStyle/>
                    <a:p>
                      <a:pPr algn="l"/>
                      <a:r>
                        <a:rPr sz="1100" b="1">
                          <a:solidFill>
                            <a:srgbClr val="2E2E2E"/>
                          </a:solidFill>
                          <a:latin typeface="Calibri"/>
                        </a:rPr>
                        <a:t>– Duplex</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3.9%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6.6%</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6.6%</a:t>
                      </a:r>
                      <a:endParaRPr sz="1100"/>
                    </a:p>
                  </a:txBody>
                  <a:tcPr marL="47625" marR="38100" marT="19050" marB="19050" anchor="ctr">
                    <a:solidFill>
                      <a:srgbClr val="FFFFFF"/>
                    </a:solidFill>
                  </a:tcPr>
                </a:tc>
              </a:tr>
              <a:tr h="215741">
                <a:tc>
                  <a:txBody>
                    <a:bodyPr wrap="none"/>
                    <a:lstStyle/>
                    <a:p>
                      <a:pPr algn="l"/>
                      <a:r>
                        <a:rPr sz="1100" b="1">
                          <a:solidFill>
                            <a:srgbClr val="2E2E2E"/>
                          </a:solidFill>
                          <a:latin typeface="Calibri"/>
                        </a:rPr>
                        <a:t>– Triplex</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6.1%</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6.9%</a:t>
                      </a:r>
                      <a:endParaRPr sz="1100"/>
                    </a:p>
                  </a:txBody>
                  <a:tcPr marL="47625" marR="38100" marT="19050" marB="19050" anchor="ctr">
                    <a:solidFill>
                      <a:srgbClr val="F5F8FA"/>
                    </a:solidFill>
                  </a:tcPr>
                </a:tc>
              </a:tr>
              <a:tr h="215741">
                <a:tc>
                  <a:txBody>
                    <a:bodyPr wrap="none"/>
                    <a:lstStyle/>
                    <a:p>
                      <a:pPr algn="l"/>
                      <a:r>
                        <a:rPr sz="1100" b="1">
                          <a:solidFill>
                            <a:srgbClr val="2E2E2E"/>
                          </a:solidFill>
                          <a:latin typeface="Calibri"/>
                        </a:rPr>
                        <a:t>– Multi-Ply</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6.6%</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6.6%</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6.6%</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6.6%</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6.5%</a:t>
                      </a:r>
                      <a:endParaRPr sz="1100"/>
                    </a:p>
                  </a:txBody>
                  <a:tcPr marL="47625" marR="38100" marT="19050" marB="19050" anchor="ctr">
                    <a:solidFill>
                      <a:srgbClr val="FFFFFF"/>
                    </a:solidFill>
                  </a:tcPr>
                </a:tc>
              </a:tr>
              <a:tr h="215741">
                <a:tc>
                  <a:txBody>
                    <a:bodyPr wrap="none"/>
                    <a:lstStyle/>
                    <a:p>
                      <a:pPr algn="l"/>
                      <a:r>
                        <a:rPr sz="1100" b="1">
                          <a:solidFill>
                            <a:srgbClr val="2E2E2E"/>
                          </a:solidFill>
                          <a:latin typeface="Calibri"/>
                        </a:rPr>
                        <a:t>Coated Films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5F8FA"/>
                    </a:solidFill>
                  </a:tcPr>
                </a:tc>
              </a:tr>
              <a:tr h="215741">
                <a:tc>
                  <a:txBody>
                    <a:bodyPr wrap="none"/>
                    <a:lstStyle/>
                    <a:p>
                      <a:pPr algn="l"/>
                      <a:r>
                        <a:rPr sz="1100" b="1">
                          <a:solidFill>
                            <a:srgbClr val="2E2E2E"/>
                          </a:solidFill>
                          <a:latin typeface="Calibri"/>
                        </a:rPr>
                        <a:t>Metallized Films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5.0%</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6.4%</a:t>
                      </a:r>
                      <a:endParaRPr sz="1100"/>
                    </a:p>
                  </a:txBody>
                  <a:tcPr marL="47625" marR="38100" marT="19050" marB="19050" anchor="ctr">
                    <a:solidFill>
                      <a:srgbClr val="FFFFFF"/>
                    </a:solidFill>
                  </a:tcPr>
                </a:tc>
              </a:tr>
              <a:tr h="215741">
                <a:tc>
                  <a:txBody>
                    <a:bodyPr wrap="none"/>
                    <a:lstStyle/>
                    <a:p>
                      <a:pPr algn="l"/>
                      <a:r>
                        <a:rPr sz="1100" b="1">
                          <a:solidFill>
                            <a:srgbClr val="2E2E2E"/>
                          </a:solidFill>
                          <a:latin typeface="Calibri"/>
                        </a:rPr>
                        <a:t>Foil-Laminated Structures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6.3%</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7.0%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6.9%</a:t>
                      </a:r>
                      <a:endParaRPr sz="1100"/>
                    </a:p>
                  </a:txBody>
                  <a:tcPr marL="47625" marR="38100" marT="19050" marB="19050" anchor="ctr">
                    <a:solidFill>
                      <a:srgbClr val="F5F8FA"/>
                    </a:solidFill>
                  </a:tcPr>
                </a:tc>
              </a:tr>
              <a:tr h="215741">
                <a:tc>
                  <a:txBody>
                    <a:bodyPr wrap="none"/>
                    <a:lstStyle/>
                    <a:p>
                      <a:pPr algn="l"/>
                      <a:r>
                        <a:rPr sz="1100" b="1">
                          <a:solidFill>
                            <a:srgbClr val="2E2E2E"/>
                          </a:solidFill>
                          <a:latin typeface="Calibri"/>
                        </a:rPr>
                        <a:t>Mono-Material Recyclable Structures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7.5%</a:t>
                      </a:r>
                      <a:endParaRPr sz="1100"/>
                    </a:p>
                  </a:txBody>
                  <a:tcPr marL="47625" marR="38100" marT="19050" marB="19050" anchor="ctr">
                    <a:solidFill>
                      <a:srgbClr val="FFFFFF"/>
                    </a:solidFill>
                  </a:tcPr>
                </a:tc>
              </a:tr>
              <a:tr h="215741">
                <a:tc>
                  <a:txBody>
                    <a:bodyPr wrap="none"/>
                    <a:lstStyle/>
                    <a:p>
                      <a:pPr algn="l"/>
                      <a:r>
                        <a:rPr sz="1100" b="1">
                          <a:solidFill>
                            <a:srgbClr val="2E2E2E"/>
                          </a:solidFill>
                          <a:latin typeface="Calibri"/>
                        </a:rPr>
                        <a:t>– PE-Based</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6.1%</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7.7%</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7.6%</a:t>
                      </a:r>
                      <a:endParaRPr sz="1100"/>
                    </a:p>
                  </a:txBody>
                  <a:tcPr marL="47625" marR="38100" marT="19050" marB="19050" anchor="ctr">
                    <a:solidFill>
                      <a:srgbClr val="F5F8FA"/>
                    </a:solidFill>
                  </a:tcPr>
                </a:tc>
              </a:tr>
              <a:tr h="215741">
                <a:tc>
                  <a:txBody>
                    <a:bodyPr wrap="none"/>
                    <a:lstStyle/>
                    <a:p>
                      <a:pPr algn="l"/>
                      <a:r>
                        <a:rPr sz="1100" b="1">
                          <a:solidFill>
                            <a:srgbClr val="2E2E2E"/>
                          </a:solidFill>
                          <a:latin typeface="Calibri"/>
                        </a:rPr>
                        <a:t>– PP-Based</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7.5%</a:t>
                      </a:r>
                      <a:endParaRPr sz="1100"/>
                    </a:p>
                  </a:txBody>
                  <a:tcPr marL="47625" marR="38100" marT="19050" marB="19050" anchor="ctr">
                    <a:solidFill>
                      <a:srgbClr val="FFFFFF"/>
                    </a:solidFill>
                  </a:tcPr>
                </a:tc>
              </a:tr>
              <a:tr h="215741">
                <a:tc>
                  <a:txBody>
                    <a:bodyPr wrap="none"/>
                    <a:lstStyle/>
                    <a:p>
                      <a:pPr algn="l"/>
                      <a:r>
                        <a:rPr sz="1100" b="1">
                          <a:solidFill>
                            <a:srgbClr val="2E2E2E"/>
                          </a:solidFill>
                          <a:latin typeface="Calibri"/>
                        </a:rPr>
                        <a:t>– PET-Based</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7.1%</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7.3%</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49149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YoY Analysis of Global Market Value, By Material Structure (%)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Year-on-year value growth by Material Structure, 2022–2036, highlighting acceleration and slowdown</a:t>
            </a:r>
          </a:p>
        </p:txBody>
      </p:sp>
      <p:sp>
        <p:nvSpPr>
          <p:cNvPr id="10" name="Rounded Rectangle 9"/>
          <p:cNvSpPr/>
          <p:nvPr/>
        </p:nvSpPr>
        <p:spPr>
          <a:xfrm>
            <a:off x="142875" y="981075"/>
            <a:ext cx="11906250"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YoY Heatmap, By Material Structure (%)  ·  light = lower, dark = higher growth</a:t>
            </a:r>
          </a:p>
        </p:txBody>
      </p:sp>
      <p:sp>
        <p:nvSpPr>
          <p:cNvPr id="12" name="TextBox 11"/>
          <p:cNvSpPr txBox="1"/>
          <p:nvPr/>
        </p:nvSpPr>
        <p:spPr>
          <a:xfrm>
            <a:off x="185737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2022</a:t>
            </a:r>
          </a:p>
        </p:txBody>
      </p:sp>
      <p:sp>
        <p:nvSpPr>
          <p:cNvPr id="13" name="TextBox 12"/>
          <p:cNvSpPr txBox="1"/>
          <p:nvPr/>
        </p:nvSpPr>
        <p:spPr>
          <a:xfrm>
            <a:off x="250126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2023</a:t>
            </a:r>
          </a:p>
        </p:txBody>
      </p:sp>
      <p:sp>
        <p:nvSpPr>
          <p:cNvPr id="14" name="TextBox 13"/>
          <p:cNvSpPr txBox="1"/>
          <p:nvPr/>
        </p:nvSpPr>
        <p:spPr>
          <a:xfrm>
            <a:off x="314515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2024</a:t>
            </a:r>
          </a:p>
        </p:txBody>
      </p:sp>
      <p:sp>
        <p:nvSpPr>
          <p:cNvPr id="15" name="TextBox 14"/>
          <p:cNvSpPr txBox="1"/>
          <p:nvPr/>
        </p:nvSpPr>
        <p:spPr>
          <a:xfrm>
            <a:off x="378904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2025</a:t>
            </a:r>
          </a:p>
        </p:txBody>
      </p:sp>
      <p:sp>
        <p:nvSpPr>
          <p:cNvPr id="16" name="TextBox 15"/>
          <p:cNvSpPr txBox="1"/>
          <p:nvPr/>
        </p:nvSpPr>
        <p:spPr>
          <a:xfrm>
            <a:off x="443293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2026</a:t>
            </a:r>
          </a:p>
        </p:txBody>
      </p:sp>
      <p:sp>
        <p:nvSpPr>
          <p:cNvPr id="17" name="TextBox 16"/>
          <p:cNvSpPr txBox="1"/>
          <p:nvPr/>
        </p:nvSpPr>
        <p:spPr>
          <a:xfrm>
            <a:off x="507682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2027</a:t>
            </a:r>
          </a:p>
        </p:txBody>
      </p:sp>
      <p:sp>
        <p:nvSpPr>
          <p:cNvPr id="18" name="TextBox 17"/>
          <p:cNvSpPr txBox="1"/>
          <p:nvPr/>
        </p:nvSpPr>
        <p:spPr>
          <a:xfrm>
            <a:off x="572071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2028</a:t>
            </a:r>
          </a:p>
        </p:txBody>
      </p:sp>
      <p:sp>
        <p:nvSpPr>
          <p:cNvPr id="19" name="TextBox 18"/>
          <p:cNvSpPr txBox="1"/>
          <p:nvPr/>
        </p:nvSpPr>
        <p:spPr>
          <a:xfrm>
            <a:off x="636460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2029</a:t>
            </a:r>
          </a:p>
        </p:txBody>
      </p:sp>
      <p:sp>
        <p:nvSpPr>
          <p:cNvPr id="20" name="TextBox 19"/>
          <p:cNvSpPr txBox="1"/>
          <p:nvPr/>
        </p:nvSpPr>
        <p:spPr>
          <a:xfrm>
            <a:off x="700849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2030</a:t>
            </a:r>
          </a:p>
        </p:txBody>
      </p:sp>
      <p:sp>
        <p:nvSpPr>
          <p:cNvPr id="21" name="TextBox 20"/>
          <p:cNvSpPr txBox="1"/>
          <p:nvPr/>
        </p:nvSpPr>
        <p:spPr>
          <a:xfrm>
            <a:off x="765238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2031</a:t>
            </a:r>
          </a:p>
        </p:txBody>
      </p:sp>
      <p:sp>
        <p:nvSpPr>
          <p:cNvPr id="22" name="TextBox 21"/>
          <p:cNvSpPr txBox="1"/>
          <p:nvPr/>
        </p:nvSpPr>
        <p:spPr>
          <a:xfrm>
            <a:off x="829627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2032</a:t>
            </a:r>
          </a:p>
        </p:txBody>
      </p:sp>
      <p:sp>
        <p:nvSpPr>
          <p:cNvPr id="23" name="TextBox 22"/>
          <p:cNvSpPr txBox="1"/>
          <p:nvPr/>
        </p:nvSpPr>
        <p:spPr>
          <a:xfrm>
            <a:off x="894016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2033</a:t>
            </a:r>
          </a:p>
        </p:txBody>
      </p:sp>
      <p:sp>
        <p:nvSpPr>
          <p:cNvPr id="24" name="TextBox 23"/>
          <p:cNvSpPr txBox="1"/>
          <p:nvPr/>
        </p:nvSpPr>
        <p:spPr>
          <a:xfrm>
            <a:off x="958405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2034</a:t>
            </a:r>
          </a:p>
        </p:txBody>
      </p:sp>
      <p:sp>
        <p:nvSpPr>
          <p:cNvPr id="25" name="TextBox 24"/>
          <p:cNvSpPr txBox="1"/>
          <p:nvPr/>
        </p:nvSpPr>
        <p:spPr>
          <a:xfrm>
            <a:off x="1022794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2035</a:t>
            </a:r>
          </a:p>
        </p:txBody>
      </p:sp>
      <p:sp>
        <p:nvSpPr>
          <p:cNvPr id="26" name="TextBox 25"/>
          <p:cNvSpPr txBox="1"/>
          <p:nvPr/>
        </p:nvSpPr>
        <p:spPr>
          <a:xfrm>
            <a:off x="1087183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2036</a:t>
            </a:r>
          </a:p>
        </p:txBody>
      </p:sp>
      <p:sp>
        <p:nvSpPr>
          <p:cNvPr id="27" name="TextBox 26"/>
          <p:cNvSpPr txBox="1"/>
          <p:nvPr/>
        </p:nvSpPr>
        <p:spPr>
          <a:xfrm>
            <a:off x="238125" y="1409700"/>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Monolayer Films</a:t>
            </a:r>
          </a:p>
        </p:txBody>
      </p:sp>
      <p:sp>
        <p:nvSpPr>
          <p:cNvPr id="28" name="Rectangle 27"/>
          <p:cNvSpPr/>
          <p:nvPr/>
        </p:nvSpPr>
        <p:spPr>
          <a:xfrm>
            <a:off x="1857375" y="1409700"/>
            <a:ext cx="643890" cy="322659"/>
          </a:xfrm>
          <a:prstGeom prst="rect">
            <a:avLst/>
          </a:prstGeom>
          <a:solidFill>
            <a:srgbClr val="E4F1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01265" y="1409700"/>
            <a:ext cx="643890" cy="322659"/>
          </a:xfrm>
          <a:prstGeom prst="rect">
            <a:avLst/>
          </a:prstGeom>
          <a:solidFill>
            <a:srgbClr val="E2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145155" y="1409700"/>
            <a:ext cx="643890" cy="322659"/>
          </a:xfrm>
          <a:prstGeom prst="rect">
            <a:avLst/>
          </a:prstGeom>
          <a:solidFill>
            <a:srgbClr val="DC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789045" y="1409700"/>
            <a:ext cx="643890" cy="322659"/>
          </a:xfrm>
          <a:prstGeom prst="rect">
            <a:avLst/>
          </a:prstGeom>
          <a:solidFill>
            <a:srgbClr val="D7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432935" y="1409700"/>
            <a:ext cx="643890" cy="322659"/>
          </a:xfrm>
          <a:prstGeom prst="rect">
            <a:avLst/>
          </a:prstGeom>
          <a:solidFill>
            <a:srgbClr val="B1CE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76825" y="1409700"/>
            <a:ext cx="643890" cy="322659"/>
          </a:xfrm>
          <a:prstGeom prst="rect">
            <a:avLst/>
          </a:prstGeom>
          <a:solidFill>
            <a:srgbClr val="9BC2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720715" y="1409700"/>
            <a:ext cx="643890" cy="322659"/>
          </a:xfrm>
          <a:prstGeom prst="rect">
            <a:avLst/>
          </a:prstGeom>
          <a:solidFill>
            <a:srgbClr val="7FB2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364605" y="1409700"/>
            <a:ext cx="643890" cy="322659"/>
          </a:xfrm>
          <a:prstGeom prst="rect">
            <a:avLst/>
          </a:prstGeom>
          <a:solidFill>
            <a:srgbClr val="5EA1C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08495" y="1409700"/>
            <a:ext cx="643890" cy="322659"/>
          </a:xfrm>
          <a:prstGeom prst="rect">
            <a:avLst/>
          </a:prstGeom>
          <a:solidFill>
            <a:srgbClr val="3D8E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652385" y="1409700"/>
            <a:ext cx="643890" cy="322659"/>
          </a:xfrm>
          <a:prstGeom prst="rect">
            <a:avLst/>
          </a:prstGeom>
          <a:solidFill>
            <a:srgbClr val="2A83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296275" y="1409700"/>
            <a:ext cx="643890" cy="322659"/>
          </a:xfrm>
          <a:prstGeom prst="rect">
            <a:avLst/>
          </a:prstGeom>
          <a:solidFill>
            <a:srgbClr val="1D7BB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940165" y="1409700"/>
            <a:ext cx="643890" cy="322659"/>
          </a:xfrm>
          <a:prstGeom prst="rect">
            <a:avLst/>
          </a:prstGeom>
          <a:solidFill>
            <a:srgbClr val="1A79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584055" y="1409700"/>
            <a:ext cx="643890" cy="322659"/>
          </a:xfrm>
          <a:prstGeom prst="rect">
            <a:avLst/>
          </a:prstGeom>
          <a:solidFill>
            <a:srgbClr val="1A7A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227945" y="1409700"/>
            <a:ext cx="643890" cy="322659"/>
          </a:xfrm>
          <a:prstGeom prst="rect">
            <a:avLst/>
          </a:prstGeom>
          <a:solidFill>
            <a:srgbClr val="1E7CB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871835" y="1409700"/>
            <a:ext cx="643890" cy="322659"/>
          </a:xfrm>
          <a:prstGeom prst="rect">
            <a:avLst/>
          </a:prstGeom>
          <a:solidFill>
            <a:srgbClr val="237F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38125" y="1732359"/>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Coextruded Multilayer Films</a:t>
            </a:r>
          </a:p>
        </p:txBody>
      </p:sp>
      <p:sp>
        <p:nvSpPr>
          <p:cNvPr id="44" name="Rectangle 43"/>
          <p:cNvSpPr/>
          <p:nvPr/>
        </p:nvSpPr>
        <p:spPr>
          <a:xfrm>
            <a:off x="1857375" y="1732359"/>
            <a:ext cx="643890" cy="322659"/>
          </a:xfrm>
          <a:prstGeom prst="rect">
            <a:avLst/>
          </a:prstGeom>
          <a:solidFill>
            <a:srgbClr val="FA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501265" y="1732359"/>
            <a:ext cx="643890" cy="322659"/>
          </a:xfrm>
          <a:prstGeom prst="rect">
            <a:avLst/>
          </a:prstGeom>
          <a:solidFill>
            <a:srgbClr val="F6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145155" y="1732359"/>
            <a:ext cx="643890" cy="322659"/>
          </a:xfrm>
          <a:prstGeom prst="rect">
            <a:avLst/>
          </a:prstGeom>
          <a:solidFill>
            <a:srgbClr val="F1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789045" y="1732359"/>
            <a:ext cx="643890" cy="322659"/>
          </a:xfrm>
          <a:prstGeom prst="rect">
            <a:avLst/>
          </a:prstGeom>
          <a:solidFill>
            <a:srgbClr val="EC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432935" y="1732359"/>
            <a:ext cx="643890" cy="322659"/>
          </a:xfrm>
          <a:prstGeom prst="rect">
            <a:avLst/>
          </a:prstGeom>
          <a:solidFill>
            <a:srgbClr val="D0E1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076825" y="1732359"/>
            <a:ext cx="643890" cy="322659"/>
          </a:xfrm>
          <a:prstGeom prst="rect">
            <a:avLst/>
          </a:prstGeom>
          <a:solidFill>
            <a:srgbClr val="BCD5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720715" y="1732359"/>
            <a:ext cx="643890" cy="322659"/>
          </a:xfrm>
          <a:prstGeom prst="rect">
            <a:avLst/>
          </a:prstGeom>
          <a:solidFill>
            <a:srgbClr val="A4C7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364605" y="1732359"/>
            <a:ext cx="643890" cy="322659"/>
          </a:xfrm>
          <a:prstGeom prst="rect">
            <a:avLst/>
          </a:prstGeom>
          <a:solidFill>
            <a:srgbClr val="89B8D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008495" y="1732359"/>
            <a:ext cx="643890" cy="322659"/>
          </a:xfrm>
          <a:prstGeom prst="rect">
            <a:avLst/>
          </a:prstGeom>
          <a:solidFill>
            <a:srgbClr val="62A2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652385" y="1732359"/>
            <a:ext cx="643890" cy="322659"/>
          </a:xfrm>
          <a:prstGeom prst="rect">
            <a:avLst/>
          </a:prstGeom>
          <a:solidFill>
            <a:srgbClr val="4191C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296275" y="1732359"/>
            <a:ext cx="643890" cy="322659"/>
          </a:xfrm>
          <a:prstGeom prst="rect">
            <a:avLst/>
          </a:prstGeom>
          <a:solidFill>
            <a:srgbClr val="3087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940165" y="1732359"/>
            <a:ext cx="643890" cy="322659"/>
          </a:xfrm>
          <a:prstGeom prst="rect">
            <a:avLst/>
          </a:prstGeom>
          <a:solidFill>
            <a:srgbClr val="2A83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584055" y="1732359"/>
            <a:ext cx="643890" cy="322659"/>
          </a:xfrm>
          <a:prstGeom prst="rect">
            <a:avLst/>
          </a:prstGeom>
          <a:solidFill>
            <a:srgbClr val="2982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227945" y="1732359"/>
            <a:ext cx="643890" cy="322659"/>
          </a:xfrm>
          <a:prstGeom prst="rect">
            <a:avLst/>
          </a:prstGeom>
          <a:solidFill>
            <a:srgbClr val="2E85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0871835" y="1732359"/>
            <a:ext cx="643890" cy="322659"/>
          </a:xfrm>
          <a:prstGeom prst="rect">
            <a:avLst/>
          </a:prstGeom>
          <a:solidFill>
            <a:srgbClr val="3388B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38125" y="2055019"/>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3–5 Layer</a:t>
            </a:r>
          </a:p>
        </p:txBody>
      </p:sp>
      <p:sp>
        <p:nvSpPr>
          <p:cNvPr id="60" name="Rectangle 59"/>
          <p:cNvSpPr/>
          <p:nvPr/>
        </p:nvSpPr>
        <p:spPr>
          <a:xfrm>
            <a:off x="1857375" y="2055019"/>
            <a:ext cx="643890" cy="322659"/>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501265" y="2055019"/>
            <a:ext cx="643890" cy="322659"/>
          </a:xfrm>
          <a:prstGeom prst="rect">
            <a:avLst/>
          </a:prstGeom>
          <a:solidFill>
            <a:srgbClr val="FA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3145155" y="2055019"/>
            <a:ext cx="643890" cy="322659"/>
          </a:xfrm>
          <a:prstGeom prst="rect">
            <a:avLst/>
          </a:prstGeom>
          <a:solidFill>
            <a:srgbClr val="F3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3789045" y="2055019"/>
            <a:ext cx="643890" cy="322659"/>
          </a:xfrm>
          <a:prstGeom prst="rect">
            <a:avLst/>
          </a:prstGeom>
          <a:solidFill>
            <a:srgbClr val="EB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432935" y="2055019"/>
            <a:ext cx="643890" cy="322659"/>
          </a:xfrm>
          <a:prstGeom prst="rect">
            <a:avLst/>
          </a:prstGeom>
          <a:solidFill>
            <a:srgbClr val="CE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076825" y="2055019"/>
            <a:ext cx="643890" cy="322659"/>
          </a:xfrm>
          <a:prstGeom prst="rect">
            <a:avLst/>
          </a:prstGeom>
          <a:solidFill>
            <a:srgbClr val="B5D1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5720715" y="2055019"/>
            <a:ext cx="643890" cy="322659"/>
          </a:xfrm>
          <a:prstGeom prst="rect">
            <a:avLst/>
          </a:prstGeom>
          <a:solidFill>
            <a:srgbClr val="9CC2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364605" y="2055019"/>
            <a:ext cx="643890" cy="322659"/>
          </a:xfrm>
          <a:prstGeom prst="rect">
            <a:avLst/>
          </a:prstGeom>
          <a:solidFill>
            <a:srgbClr val="7DB1D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7008495" y="2055019"/>
            <a:ext cx="643890" cy="322659"/>
          </a:xfrm>
          <a:prstGeom prst="rect">
            <a:avLst/>
          </a:prstGeom>
          <a:solidFill>
            <a:srgbClr val="5199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7652385" y="2055019"/>
            <a:ext cx="643890" cy="322659"/>
          </a:xfrm>
          <a:prstGeom prst="rect">
            <a:avLst/>
          </a:prstGeom>
          <a:solidFill>
            <a:srgbClr val="3087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8296275" y="2055019"/>
            <a:ext cx="643890" cy="322659"/>
          </a:xfrm>
          <a:prstGeom prst="rect">
            <a:avLst/>
          </a:prstGeom>
          <a:solidFill>
            <a:srgbClr val="1B7A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8940165" y="2055019"/>
            <a:ext cx="643890" cy="322659"/>
          </a:xfrm>
          <a:prstGeom prst="rect">
            <a:avLst/>
          </a:prstGeom>
          <a:solidFill>
            <a:srgbClr val="1475B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9584055" y="2055019"/>
            <a:ext cx="643890" cy="322659"/>
          </a:xfrm>
          <a:prstGeom prst="rect">
            <a:avLst/>
          </a:prstGeom>
          <a:solidFill>
            <a:srgbClr val="1275B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0227945" y="2055019"/>
            <a:ext cx="643890" cy="322659"/>
          </a:xfrm>
          <a:prstGeom prst="rect">
            <a:avLst/>
          </a:prstGeom>
          <a:solidFill>
            <a:srgbClr val="1878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0871835" y="2055019"/>
            <a:ext cx="643890" cy="322659"/>
          </a:xfrm>
          <a:prstGeom prst="rect">
            <a:avLst/>
          </a:prstGeom>
          <a:solidFill>
            <a:srgbClr val="1E7CB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38125" y="2377678"/>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7 Layer</a:t>
            </a:r>
          </a:p>
        </p:txBody>
      </p:sp>
      <p:sp>
        <p:nvSpPr>
          <p:cNvPr id="76" name="Rectangle 75"/>
          <p:cNvSpPr/>
          <p:nvPr/>
        </p:nvSpPr>
        <p:spPr>
          <a:xfrm>
            <a:off x="1857375" y="2377678"/>
            <a:ext cx="643890" cy="322659"/>
          </a:xfrm>
          <a:prstGeom prst="rect">
            <a:avLst/>
          </a:prstGeom>
          <a:solidFill>
            <a:srgbClr val="EF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2501265" y="2377678"/>
            <a:ext cx="643890" cy="322659"/>
          </a:xfrm>
          <a:prstGeom prst="rect">
            <a:avLst/>
          </a:prstGeom>
          <a:solidFill>
            <a:srgbClr val="EDF7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3145155" y="2377678"/>
            <a:ext cx="643890" cy="322659"/>
          </a:xfrm>
          <a:prstGeom prst="rect">
            <a:avLst/>
          </a:prstGeom>
          <a:solidFill>
            <a:srgbClr val="EA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3789045" y="2377678"/>
            <a:ext cx="643890" cy="322659"/>
          </a:xfrm>
          <a:prstGeom prst="rect">
            <a:avLst/>
          </a:prstGeom>
          <a:solidFill>
            <a:srgbClr val="E7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4432935" y="2377678"/>
            <a:ext cx="643890" cy="322659"/>
          </a:xfrm>
          <a:prstGeom prst="rect">
            <a:avLst/>
          </a:prstGeom>
          <a:solidFill>
            <a:srgbClr val="CE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5076825" y="2377678"/>
            <a:ext cx="643890" cy="322659"/>
          </a:xfrm>
          <a:prstGeom prst="rect">
            <a:avLst/>
          </a:prstGeom>
          <a:solidFill>
            <a:srgbClr val="BBD4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5720715" y="2377678"/>
            <a:ext cx="643890" cy="322659"/>
          </a:xfrm>
          <a:prstGeom prst="rect">
            <a:avLst/>
          </a:prstGeom>
          <a:solidFill>
            <a:srgbClr val="A3C6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6364605" y="2377678"/>
            <a:ext cx="643890" cy="322659"/>
          </a:xfrm>
          <a:prstGeom prst="rect">
            <a:avLst/>
          </a:prstGeom>
          <a:solidFill>
            <a:srgbClr val="88B7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7008495" y="2377678"/>
            <a:ext cx="643890" cy="322659"/>
          </a:xfrm>
          <a:prstGeom prst="rect">
            <a:avLst/>
          </a:prstGeom>
          <a:solidFill>
            <a:srgbClr val="66A5C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7652385" y="2377678"/>
            <a:ext cx="643890" cy="322659"/>
          </a:xfrm>
          <a:prstGeom prst="rect">
            <a:avLst/>
          </a:prstGeom>
          <a:solidFill>
            <a:srgbClr val="4F98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8296275" y="2377678"/>
            <a:ext cx="643890" cy="322659"/>
          </a:xfrm>
          <a:prstGeom prst="rect">
            <a:avLst/>
          </a:prstGeom>
          <a:solidFill>
            <a:srgbClr val="4191C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8940165" y="2377678"/>
            <a:ext cx="643890" cy="322659"/>
          </a:xfrm>
          <a:prstGeom prst="rect">
            <a:avLst/>
          </a:prstGeom>
          <a:solidFill>
            <a:srgbClr val="3E8F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9584055" y="2377678"/>
            <a:ext cx="643890" cy="322659"/>
          </a:xfrm>
          <a:prstGeom prst="rect">
            <a:avLst/>
          </a:prstGeom>
          <a:solidFill>
            <a:srgbClr val="3E8F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10227945" y="2377678"/>
            <a:ext cx="643890" cy="322659"/>
          </a:xfrm>
          <a:prstGeom prst="rect">
            <a:avLst/>
          </a:prstGeom>
          <a:solidFill>
            <a:srgbClr val="4392C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10871835" y="2377678"/>
            <a:ext cx="643890" cy="322659"/>
          </a:xfrm>
          <a:prstGeom prst="rect">
            <a:avLst/>
          </a:prstGeom>
          <a:solidFill>
            <a:srgbClr val="4A95C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38125" y="2700338"/>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9 Layer and Above</a:t>
            </a:r>
          </a:p>
        </p:txBody>
      </p:sp>
      <p:sp>
        <p:nvSpPr>
          <p:cNvPr id="92" name="Rectangle 91"/>
          <p:cNvSpPr/>
          <p:nvPr/>
        </p:nvSpPr>
        <p:spPr>
          <a:xfrm>
            <a:off x="1857375" y="2700338"/>
            <a:ext cx="643890" cy="322659"/>
          </a:xfrm>
          <a:prstGeom prst="rect">
            <a:avLst/>
          </a:prstGeom>
          <a:solidFill>
            <a:srgbClr val="FB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2501265" y="2700338"/>
            <a:ext cx="643890" cy="322659"/>
          </a:xfrm>
          <a:prstGeom prst="rect">
            <a:avLst/>
          </a:prstGeom>
          <a:solidFill>
            <a:srgbClr val="F9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3145155" y="2700338"/>
            <a:ext cx="643890" cy="322659"/>
          </a:xfrm>
          <a:prstGeom prst="rect">
            <a:avLst/>
          </a:prstGeom>
          <a:solidFill>
            <a:srgbClr val="F6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3789045" y="2700338"/>
            <a:ext cx="643890" cy="322659"/>
          </a:xfrm>
          <a:prstGeom prst="rect">
            <a:avLst/>
          </a:prstGeom>
          <a:solidFill>
            <a:srgbClr val="F4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4432935" y="2700338"/>
            <a:ext cx="643890" cy="322659"/>
          </a:xfrm>
          <a:prstGeom prst="rect">
            <a:avLst/>
          </a:prstGeom>
          <a:solidFill>
            <a:srgbClr val="DCEA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5076825" y="2700338"/>
            <a:ext cx="643890" cy="322659"/>
          </a:xfrm>
          <a:prstGeom prst="rect">
            <a:avLst/>
          </a:prstGeom>
          <a:solidFill>
            <a:srgbClr val="D0E1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5720715" y="2700338"/>
            <a:ext cx="643890" cy="322659"/>
          </a:xfrm>
          <a:prstGeom prst="rect">
            <a:avLst/>
          </a:prstGeom>
          <a:solidFill>
            <a:srgbClr val="BCD4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6364605" y="2700338"/>
            <a:ext cx="643890" cy="322659"/>
          </a:xfrm>
          <a:prstGeom prst="rect">
            <a:avLst/>
          </a:prstGeom>
          <a:solidFill>
            <a:srgbClr val="A4C7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7008495" y="2700338"/>
            <a:ext cx="643890" cy="322659"/>
          </a:xfrm>
          <a:prstGeom prst="rect">
            <a:avLst/>
          </a:prstGeom>
          <a:solidFill>
            <a:srgbClr val="8AB8D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7652385" y="2700338"/>
            <a:ext cx="643890" cy="322659"/>
          </a:xfrm>
          <a:prstGeom prst="rect">
            <a:avLst/>
          </a:prstGeom>
          <a:solidFill>
            <a:srgbClr val="70AAD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8296275" y="2700338"/>
            <a:ext cx="643890" cy="322659"/>
          </a:xfrm>
          <a:prstGeom prst="rect">
            <a:avLst/>
          </a:prstGeom>
          <a:solidFill>
            <a:srgbClr val="5DA0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8940165" y="2700338"/>
            <a:ext cx="643890" cy="322659"/>
          </a:xfrm>
          <a:prstGeom prst="rect">
            <a:avLst/>
          </a:prstGeom>
          <a:solidFill>
            <a:srgbClr val="549BC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9584055" y="2700338"/>
            <a:ext cx="643890" cy="322659"/>
          </a:xfrm>
          <a:prstGeom prst="rect">
            <a:avLst/>
          </a:prstGeom>
          <a:solidFill>
            <a:srgbClr val="539AC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0227945" y="2700338"/>
            <a:ext cx="643890" cy="322659"/>
          </a:xfrm>
          <a:prstGeom prst="rect">
            <a:avLst/>
          </a:prstGeom>
          <a:solidFill>
            <a:srgbClr val="579DC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0871835" y="2700338"/>
            <a:ext cx="643890" cy="322659"/>
          </a:xfrm>
          <a:prstGeom prst="rect">
            <a:avLst/>
          </a:prstGeom>
          <a:solidFill>
            <a:srgbClr val="5DA0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238125" y="3022997"/>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Laminated Films</a:t>
            </a:r>
          </a:p>
        </p:txBody>
      </p:sp>
      <p:sp>
        <p:nvSpPr>
          <p:cNvPr id="108" name="Rectangle 107"/>
          <p:cNvSpPr/>
          <p:nvPr/>
        </p:nvSpPr>
        <p:spPr>
          <a:xfrm>
            <a:off x="1857375" y="3022997"/>
            <a:ext cx="643890" cy="322659"/>
          </a:xfrm>
          <a:prstGeom prst="rect">
            <a:avLst/>
          </a:prstGeom>
          <a:solidFill>
            <a:srgbClr val="F0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2501265" y="3022997"/>
            <a:ext cx="643890" cy="322659"/>
          </a:xfrm>
          <a:prstGeom prst="rect">
            <a:avLst/>
          </a:prstGeom>
          <a:solidFill>
            <a:srgbClr val="EB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3145155" y="3022997"/>
            <a:ext cx="643890" cy="322659"/>
          </a:xfrm>
          <a:prstGeom prst="rect">
            <a:avLst/>
          </a:prstGeom>
          <a:solidFill>
            <a:srgbClr val="E4F1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3789045" y="3022997"/>
            <a:ext cx="643890" cy="322659"/>
          </a:xfrm>
          <a:prstGeom prst="rect">
            <a:avLst/>
          </a:prstGeom>
          <a:solidFill>
            <a:srgbClr val="DE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4432935" y="3022997"/>
            <a:ext cx="643890" cy="322659"/>
          </a:xfrm>
          <a:prstGeom prst="rect">
            <a:avLst/>
          </a:prstGeom>
          <a:solidFill>
            <a:srgbClr val="BFD6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5076825" y="3022997"/>
            <a:ext cx="643890" cy="322659"/>
          </a:xfrm>
          <a:prstGeom prst="rect">
            <a:avLst/>
          </a:prstGeom>
          <a:solidFill>
            <a:srgbClr val="AACB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5720715" y="3022997"/>
            <a:ext cx="643890" cy="322659"/>
          </a:xfrm>
          <a:prstGeom prst="rect">
            <a:avLst/>
          </a:prstGeom>
          <a:solidFill>
            <a:srgbClr val="94BE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6364605" y="3022997"/>
            <a:ext cx="643890" cy="322659"/>
          </a:xfrm>
          <a:prstGeom prst="rect">
            <a:avLst/>
          </a:prstGeom>
          <a:solidFill>
            <a:srgbClr val="77AED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7008495" y="3022997"/>
            <a:ext cx="643890" cy="322659"/>
          </a:xfrm>
          <a:prstGeom prst="rect">
            <a:avLst/>
          </a:prstGeom>
          <a:solidFill>
            <a:srgbClr val="589DC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7652385" y="3022997"/>
            <a:ext cx="643890" cy="322659"/>
          </a:xfrm>
          <a:prstGeom prst="rect">
            <a:avLst/>
          </a:prstGeom>
          <a:solidFill>
            <a:srgbClr val="4191C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8296275" y="3022997"/>
            <a:ext cx="643890" cy="322659"/>
          </a:xfrm>
          <a:prstGeom prst="rect">
            <a:avLst/>
          </a:prstGeom>
          <a:solidFill>
            <a:srgbClr val="358AC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8940165" y="3022997"/>
            <a:ext cx="643890" cy="322659"/>
          </a:xfrm>
          <a:prstGeom prst="rect">
            <a:avLst/>
          </a:prstGeom>
          <a:solidFill>
            <a:srgbClr val="3187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9584055" y="3022997"/>
            <a:ext cx="643890" cy="322659"/>
          </a:xfrm>
          <a:prstGeom prst="rect">
            <a:avLst/>
          </a:prstGeom>
          <a:solidFill>
            <a:srgbClr val="3087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0227945" y="3022997"/>
            <a:ext cx="643890" cy="322659"/>
          </a:xfrm>
          <a:prstGeom prst="rect">
            <a:avLst/>
          </a:prstGeom>
          <a:solidFill>
            <a:srgbClr val="3489B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10871835" y="3022997"/>
            <a:ext cx="643890" cy="322659"/>
          </a:xfrm>
          <a:prstGeom prst="rect">
            <a:avLst/>
          </a:prstGeom>
          <a:solidFill>
            <a:srgbClr val="3A8D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238125" y="3345656"/>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Duplex</a:t>
            </a:r>
          </a:p>
        </p:txBody>
      </p:sp>
      <p:sp>
        <p:nvSpPr>
          <p:cNvPr id="124" name="Rectangle 123"/>
          <p:cNvSpPr/>
          <p:nvPr/>
        </p:nvSpPr>
        <p:spPr>
          <a:xfrm>
            <a:off x="1857375" y="3345656"/>
            <a:ext cx="643890" cy="322659"/>
          </a:xfrm>
          <a:prstGeom prst="rect">
            <a:avLst/>
          </a:prstGeom>
          <a:solidFill>
            <a:srgbClr val="FE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2501265" y="3345656"/>
            <a:ext cx="643890" cy="322659"/>
          </a:xfrm>
          <a:prstGeom prst="rect">
            <a:avLst/>
          </a:prstGeom>
          <a:solidFill>
            <a:srgbClr val="F9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3145155" y="3345656"/>
            <a:ext cx="643890" cy="322659"/>
          </a:xfrm>
          <a:prstGeom prst="rect">
            <a:avLst/>
          </a:prstGeom>
          <a:solidFill>
            <a:srgbClr val="F1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3789045" y="3345656"/>
            <a:ext cx="643890" cy="322659"/>
          </a:xfrm>
          <a:prstGeom prst="rect">
            <a:avLst/>
          </a:prstGeom>
          <a:solidFill>
            <a:srgbClr val="EB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4432935" y="3345656"/>
            <a:ext cx="643890" cy="322659"/>
          </a:xfrm>
          <a:prstGeom prst="rect">
            <a:avLst/>
          </a:prstGeom>
          <a:solidFill>
            <a:srgbClr val="D0E1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5076825" y="3345656"/>
            <a:ext cx="643890" cy="322659"/>
          </a:xfrm>
          <a:prstGeom prst="rect">
            <a:avLst/>
          </a:prstGeom>
          <a:solidFill>
            <a:srgbClr val="BBD4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5720715" y="3345656"/>
            <a:ext cx="643890" cy="322659"/>
          </a:xfrm>
          <a:prstGeom prst="rect">
            <a:avLst/>
          </a:prstGeom>
          <a:solidFill>
            <a:srgbClr val="A1C5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6364605" y="3345656"/>
            <a:ext cx="643890" cy="322659"/>
          </a:xfrm>
          <a:prstGeom prst="rect">
            <a:avLst/>
          </a:prstGeom>
          <a:solidFill>
            <a:srgbClr val="85B6D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7008495" y="3345656"/>
            <a:ext cx="643890" cy="322659"/>
          </a:xfrm>
          <a:prstGeom prst="rect">
            <a:avLst/>
          </a:prstGeom>
          <a:solidFill>
            <a:srgbClr val="62A2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7652385" y="3345656"/>
            <a:ext cx="643890" cy="322659"/>
          </a:xfrm>
          <a:prstGeom prst="rect">
            <a:avLst/>
          </a:prstGeom>
          <a:solidFill>
            <a:srgbClr val="4895C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8296275" y="3345656"/>
            <a:ext cx="643890" cy="322659"/>
          </a:xfrm>
          <a:prstGeom prst="rect">
            <a:avLst/>
          </a:prstGeom>
          <a:solidFill>
            <a:srgbClr val="3A8D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8940165" y="3345656"/>
            <a:ext cx="643890" cy="322659"/>
          </a:xfrm>
          <a:prstGeom prst="rect">
            <a:avLst/>
          </a:prstGeom>
          <a:solidFill>
            <a:srgbClr val="378B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9584055" y="3345656"/>
            <a:ext cx="643890" cy="322659"/>
          </a:xfrm>
          <a:prstGeom prst="rect">
            <a:avLst/>
          </a:prstGeom>
          <a:solidFill>
            <a:srgbClr val="378B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10227945" y="3345656"/>
            <a:ext cx="643890" cy="322659"/>
          </a:xfrm>
          <a:prstGeom prst="rect">
            <a:avLst/>
          </a:prstGeom>
          <a:solidFill>
            <a:srgbClr val="3B8D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10871835" y="3345656"/>
            <a:ext cx="643890" cy="322659"/>
          </a:xfrm>
          <a:prstGeom prst="rect">
            <a:avLst/>
          </a:prstGeom>
          <a:solidFill>
            <a:srgbClr val="4392C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238125" y="3668316"/>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Triplex</a:t>
            </a:r>
          </a:p>
        </p:txBody>
      </p:sp>
      <p:sp>
        <p:nvSpPr>
          <p:cNvPr id="140" name="Rectangle 139"/>
          <p:cNvSpPr/>
          <p:nvPr/>
        </p:nvSpPr>
        <p:spPr>
          <a:xfrm>
            <a:off x="1857375" y="3668316"/>
            <a:ext cx="643890" cy="322659"/>
          </a:xfrm>
          <a:prstGeom prst="rect">
            <a:avLst/>
          </a:prstGeom>
          <a:solidFill>
            <a:srgbClr val="E7F3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2501265" y="3668316"/>
            <a:ext cx="643890" cy="322659"/>
          </a:xfrm>
          <a:prstGeom prst="rect">
            <a:avLst/>
          </a:prstGeom>
          <a:solidFill>
            <a:srgbClr val="E2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3145155" y="3668316"/>
            <a:ext cx="643890" cy="322659"/>
          </a:xfrm>
          <a:prstGeom prst="rect">
            <a:avLst/>
          </a:prstGeom>
          <a:solidFill>
            <a:srgbClr val="DA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3789045" y="3668316"/>
            <a:ext cx="643890" cy="322659"/>
          </a:xfrm>
          <a:prstGeom prst="rect">
            <a:avLst/>
          </a:prstGeom>
          <a:solidFill>
            <a:srgbClr val="D5E5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4432935" y="3668316"/>
            <a:ext cx="643890" cy="322659"/>
          </a:xfrm>
          <a:prstGeom prst="rect">
            <a:avLst/>
          </a:prstGeom>
          <a:solidFill>
            <a:srgbClr val="B0CE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5076825" y="3668316"/>
            <a:ext cx="643890" cy="322659"/>
          </a:xfrm>
          <a:prstGeom prst="rect">
            <a:avLst/>
          </a:prstGeom>
          <a:solidFill>
            <a:srgbClr val="9BC2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5720715" y="3668316"/>
            <a:ext cx="643890" cy="322659"/>
          </a:xfrm>
          <a:prstGeom prst="rect">
            <a:avLst/>
          </a:prstGeom>
          <a:solidFill>
            <a:srgbClr val="7EB2D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6364605" y="3668316"/>
            <a:ext cx="643890" cy="322659"/>
          </a:xfrm>
          <a:prstGeom prst="rect">
            <a:avLst/>
          </a:prstGeom>
          <a:solidFill>
            <a:srgbClr val="5EA0C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7008495" y="3668316"/>
            <a:ext cx="643890" cy="322659"/>
          </a:xfrm>
          <a:prstGeom prst="rect">
            <a:avLst/>
          </a:prstGeom>
          <a:solidFill>
            <a:srgbClr val="4392C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7652385" y="3668316"/>
            <a:ext cx="643890" cy="322659"/>
          </a:xfrm>
          <a:prstGeom prst="rect">
            <a:avLst/>
          </a:prstGeom>
          <a:solidFill>
            <a:srgbClr val="3388B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8296275" y="3668316"/>
            <a:ext cx="643890" cy="322659"/>
          </a:xfrm>
          <a:prstGeom prst="rect">
            <a:avLst/>
          </a:prstGeom>
          <a:solidFill>
            <a:srgbClr val="2882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8940165" y="3668316"/>
            <a:ext cx="643890" cy="322659"/>
          </a:xfrm>
          <a:prstGeom prst="rect">
            <a:avLst/>
          </a:prstGeom>
          <a:solidFill>
            <a:srgbClr val="217EB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9584055" y="3668316"/>
            <a:ext cx="643890" cy="322659"/>
          </a:xfrm>
          <a:prstGeom prst="rect">
            <a:avLst/>
          </a:prstGeom>
          <a:solidFill>
            <a:srgbClr val="217DB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10227945" y="3668316"/>
            <a:ext cx="643890" cy="322659"/>
          </a:xfrm>
          <a:prstGeom prst="rect">
            <a:avLst/>
          </a:prstGeom>
          <a:solidFill>
            <a:srgbClr val="2580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10871835" y="3668316"/>
            <a:ext cx="643890" cy="322659"/>
          </a:xfrm>
          <a:prstGeom prst="rect">
            <a:avLst/>
          </a:prstGeom>
          <a:solidFill>
            <a:srgbClr val="2B84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238125" y="3990975"/>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Multi-Ply</a:t>
            </a:r>
          </a:p>
        </p:txBody>
      </p:sp>
      <p:sp>
        <p:nvSpPr>
          <p:cNvPr id="156" name="Rectangle 155"/>
          <p:cNvSpPr/>
          <p:nvPr/>
        </p:nvSpPr>
        <p:spPr>
          <a:xfrm>
            <a:off x="1857375" y="3990975"/>
            <a:ext cx="643890" cy="322659"/>
          </a:xfrm>
          <a:prstGeom prst="rect">
            <a:avLst/>
          </a:prstGeom>
          <a:solidFill>
            <a:srgbClr val="D7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2501265" y="3990975"/>
            <a:ext cx="643890" cy="322659"/>
          </a:xfrm>
          <a:prstGeom prst="rect">
            <a:avLst/>
          </a:prstGeom>
          <a:solidFill>
            <a:srgbClr val="D6E6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3145155" y="3990975"/>
            <a:ext cx="643890" cy="322659"/>
          </a:xfrm>
          <a:prstGeom prst="rect">
            <a:avLst/>
          </a:prstGeom>
          <a:solidFill>
            <a:srgbClr val="CFE0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3789045" y="3990975"/>
            <a:ext cx="643890" cy="322659"/>
          </a:xfrm>
          <a:prstGeom prst="rect">
            <a:avLst/>
          </a:prstGeom>
          <a:solidFill>
            <a:srgbClr val="CBDD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4432935" y="3990975"/>
            <a:ext cx="643890" cy="322659"/>
          </a:xfrm>
          <a:prstGeom prst="rect">
            <a:avLst/>
          </a:prstGeom>
          <a:solidFill>
            <a:srgbClr val="A7C9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5076825" y="3990975"/>
            <a:ext cx="643890" cy="322659"/>
          </a:xfrm>
          <a:prstGeom prst="rect">
            <a:avLst/>
          </a:prstGeom>
          <a:solidFill>
            <a:srgbClr val="9EC3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5720715" y="3990975"/>
            <a:ext cx="643890" cy="322659"/>
          </a:xfrm>
          <a:prstGeom prst="rect">
            <a:avLst/>
          </a:prstGeom>
          <a:solidFill>
            <a:srgbClr val="94BE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6364605" y="3990975"/>
            <a:ext cx="643890" cy="322659"/>
          </a:xfrm>
          <a:prstGeom prst="rect">
            <a:avLst/>
          </a:prstGeom>
          <a:solidFill>
            <a:srgbClr val="87B6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7008495" y="3990975"/>
            <a:ext cx="643890" cy="322659"/>
          </a:xfrm>
          <a:prstGeom prst="rect">
            <a:avLst/>
          </a:prstGeom>
          <a:solidFill>
            <a:srgbClr val="6DA8D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7652385" y="3990975"/>
            <a:ext cx="643890" cy="322659"/>
          </a:xfrm>
          <a:prstGeom prst="rect">
            <a:avLst/>
          </a:prstGeom>
          <a:solidFill>
            <a:srgbClr val="589DC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8296275" y="3990975"/>
            <a:ext cx="643890" cy="322659"/>
          </a:xfrm>
          <a:prstGeom prst="rect">
            <a:avLst/>
          </a:prstGeom>
          <a:solidFill>
            <a:srgbClr val="4593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8940165" y="3990975"/>
            <a:ext cx="643890" cy="322659"/>
          </a:xfrm>
          <a:prstGeom prst="rect">
            <a:avLst/>
          </a:prstGeom>
          <a:solidFill>
            <a:srgbClr val="4191C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9584055" y="3990975"/>
            <a:ext cx="643890" cy="322659"/>
          </a:xfrm>
          <a:prstGeom prst="rect">
            <a:avLst/>
          </a:prstGeom>
          <a:solidFill>
            <a:srgbClr val="4291C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10227945" y="3990975"/>
            <a:ext cx="643890" cy="322659"/>
          </a:xfrm>
          <a:prstGeom prst="rect">
            <a:avLst/>
          </a:prstGeom>
          <a:solidFill>
            <a:srgbClr val="4794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10871835" y="3990975"/>
            <a:ext cx="643890" cy="322659"/>
          </a:xfrm>
          <a:prstGeom prst="rect">
            <a:avLst/>
          </a:prstGeom>
          <a:solidFill>
            <a:srgbClr val="4D97C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238125" y="4313634"/>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Coated Films</a:t>
            </a:r>
          </a:p>
        </p:txBody>
      </p:sp>
      <p:sp>
        <p:nvSpPr>
          <p:cNvPr id="172" name="Rectangle 171"/>
          <p:cNvSpPr/>
          <p:nvPr/>
        </p:nvSpPr>
        <p:spPr>
          <a:xfrm>
            <a:off x="1857375" y="4313634"/>
            <a:ext cx="643890" cy="322659"/>
          </a:xfrm>
          <a:prstGeom prst="rect">
            <a:avLst/>
          </a:prstGeom>
          <a:solidFill>
            <a:srgbClr val="E1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2501265" y="4313634"/>
            <a:ext cx="643890" cy="322659"/>
          </a:xfrm>
          <a:prstGeom prst="rect">
            <a:avLst/>
          </a:prstGeom>
          <a:solidFill>
            <a:srgbClr val="DC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3145155" y="4313634"/>
            <a:ext cx="643890" cy="322659"/>
          </a:xfrm>
          <a:prstGeom prst="rect">
            <a:avLst/>
          </a:prstGeom>
          <a:solidFill>
            <a:srgbClr val="D5E5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3789045" y="4313634"/>
            <a:ext cx="643890" cy="322659"/>
          </a:xfrm>
          <a:prstGeom prst="rect">
            <a:avLst/>
          </a:prstGeom>
          <a:solidFill>
            <a:srgbClr val="D2E3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Rectangle 175"/>
          <p:cNvSpPr/>
          <p:nvPr/>
        </p:nvSpPr>
        <p:spPr>
          <a:xfrm>
            <a:off x="4432935" y="4313634"/>
            <a:ext cx="643890" cy="322659"/>
          </a:xfrm>
          <a:prstGeom prst="rect">
            <a:avLst/>
          </a:prstGeom>
          <a:solidFill>
            <a:srgbClr val="B2CF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Rectangle 176"/>
          <p:cNvSpPr/>
          <p:nvPr/>
        </p:nvSpPr>
        <p:spPr>
          <a:xfrm>
            <a:off x="5076825" y="4313634"/>
            <a:ext cx="643890" cy="322659"/>
          </a:xfrm>
          <a:prstGeom prst="rect">
            <a:avLst/>
          </a:prstGeom>
          <a:solidFill>
            <a:srgbClr val="A9CA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ectangle 177"/>
          <p:cNvSpPr/>
          <p:nvPr/>
        </p:nvSpPr>
        <p:spPr>
          <a:xfrm>
            <a:off x="5720715" y="4313634"/>
            <a:ext cx="643890" cy="322659"/>
          </a:xfrm>
          <a:prstGeom prst="rect">
            <a:avLst/>
          </a:prstGeom>
          <a:solidFill>
            <a:srgbClr val="97C0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Rectangle 178"/>
          <p:cNvSpPr/>
          <p:nvPr/>
        </p:nvSpPr>
        <p:spPr>
          <a:xfrm>
            <a:off x="6364605" y="4313634"/>
            <a:ext cx="643890" cy="322659"/>
          </a:xfrm>
          <a:prstGeom prst="rect">
            <a:avLst/>
          </a:prstGeom>
          <a:solidFill>
            <a:srgbClr val="7AB0D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ectangle 179"/>
          <p:cNvSpPr/>
          <p:nvPr/>
        </p:nvSpPr>
        <p:spPr>
          <a:xfrm>
            <a:off x="7008495" y="4313634"/>
            <a:ext cx="643890" cy="322659"/>
          </a:xfrm>
          <a:prstGeom prst="rect">
            <a:avLst/>
          </a:prstGeom>
          <a:solidFill>
            <a:srgbClr val="549BC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Rectangle 180"/>
          <p:cNvSpPr/>
          <p:nvPr/>
        </p:nvSpPr>
        <p:spPr>
          <a:xfrm>
            <a:off x="7652385" y="4313634"/>
            <a:ext cx="643890" cy="322659"/>
          </a:xfrm>
          <a:prstGeom prst="rect">
            <a:avLst/>
          </a:prstGeom>
          <a:solidFill>
            <a:srgbClr val="398C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tangle 181"/>
          <p:cNvSpPr/>
          <p:nvPr/>
        </p:nvSpPr>
        <p:spPr>
          <a:xfrm>
            <a:off x="8296275" y="4313634"/>
            <a:ext cx="643890" cy="322659"/>
          </a:xfrm>
          <a:prstGeom prst="rect">
            <a:avLst/>
          </a:prstGeom>
          <a:solidFill>
            <a:srgbClr val="2D85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ectangle 182"/>
          <p:cNvSpPr/>
          <p:nvPr/>
        </p:nvSpPr>
        <p:spPr>
          <a:xfrm>
            <a:off x="8940165" y="4313634"/>
            <a:ext cx="643890" cy="322659"/>
          </a:xfrm>
          <a:prstGeom prst="rect">
            <a:avLst/>
          </a:prstGeom>
          <a:solidFill>
            <a:srgbClr val="2982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9584055" y="4313634"/>
            <a:ext cx="643890" cy="322659"/>
          </a:xfrm>
          <a:prstGeom prst="rect">
            <a:avLst/>
          </a:prstGeom>
          <a:solidFill>
            <a:srgbClr val="2982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10227945" y="4313634"/>
            <a:ext cx="643890" cy="322659"/>
          </a:xfrm>
          <a:prstGeom prst="rect">
            <a:avLst/>
          </a:prstGeom>
          <a:solidFill>
            <a:srgbClr val="2D85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10871835" y="4313634"/>
            <a:ext cx="643890" cy="322659"/>
          </a:xfrm>
          <a:prstGeom prst="rect">
            <a:avLst/>
          </a:prstGeom>
          <a:solidFill>
            <a:srgbClr val="3489B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238125" y="4636294"/>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Metallized Films</a:t>
            </a:r>
          </a:p>
        </p:txBody>
      </p:sp>
      <p:sp>
        <p:nvSpPr>
          <p:cNvPr id="188" name="Rectangle 187"/>
          <p:cNvSpPr/>
          <p:nvPr/>
        </p:nvSpPr>
        <p:spPr>
          <a:xfrm>
            <a:off x="1857375" y="4636294"/>
            <a:ext cx="643890" cy="322659"/>
          </a:xfrm>
          <a:prstGeom prst="rect">
            <a:avLst/>
          </a:prstGeom>
          <a:solidFill>
            <a:srgbClr val="E2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2501265" y="4636294"/>
            <a:ext cx="643890" cy="322659"/>
          </a:xfrm>
          <a:prstGeom prst="rect">
            <a:avLst/>
          </a:prstGeom>
          <a:solidFill>
            <a:srgbClr val="DEED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3145155" y="4636294"/>
            <a:ext cx="643890" cy="322659"/>
          </a:xfrm>
          <a:prstGeom prst="rect">
            <a:avLst/>
          </a:prstGeom>
          <a:solidFill>
            <a:srgbClr val="D7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3789045" y="4636294"/>
            <a:ext cx="643890" cy="322659"/>
          </a:xfrm>
          <a:prstGeom prst="rect">
            <a:avLst/>
          </a:prstGeom>
          <a:solidFill>
            <a:srgbClr val="D2E2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4432935" y="4636294"/>
            <a:ext cx="643890" cy="322659"/>
          </a:xfrm>
          <a:prstGeom prst="rect">
            <a:avLst/>
          </a:prstGeom>
          <a:solidFill>
            <a:srgbClr val="B0CD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5076825" y="4636294"/>
            <a:ext cx="643890" cy="322659"/>
          </a:xfrm>
          <a:prstGeom prst="rect">
            <a:avLst/>
          </a:prstGeom>
          <a:solidFill>
            <a:srgbClr val="A2C6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5720715" y="4636294"/>
            <a:ext cx="643890" cy="322659"/>
          </a:xfrm>
          <a:prstGeom prst="rect">
            <a:avLst/>
          </a:prstGeom>
          <a:solidFill>
            <a:srgbClr val="97BF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Rectangle 194"/>
          <p:cNvSpPr/>
          <p:nvPr/>
        </p:nvSpPr>
        <p:spPr>
          <a:xfrm>
            <a:off x="6364605" y="4636294"/>
            <a:ext cx="643890" cy="322659"/>
          </a:xfrm>
          <a:prstGeom prst="rect">
            <a:avLst/>
          </a:prstGeom>
          <a:solidFill>
            <a:srgbClr val="8AB8D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7008495" y="4636294"/>
            <a:ext cx="643890" cy="322659"/>
          </a:xfrm>
          <a:prstGeom prst="rect">
            <a:avLst/>
          </a:prstGeom>
          <a:solidFill>
            <a:srgbClr val="78AFD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7652385" y="4636294"/>
            <a:ext cx="643890" cy="322659"/>
          </a:xfrm>
          <a:prstGeom prst="rect">
            <a:avLst/>
          </a:prstGeom>
          <a:solidFill>
            <a:srgbClr val="69A6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ectangle 197"/>
          <p:cNvSpPr/>
          <p:nvPr/>
        </p:nvSpPr>
        <p:spPr>
          <a:xfrm>
            <a:off x="8296275" y="4636294"/>
            <a:ext cx="643890" cy="322659"/>
          </a:xfrm>
          <a:prstGeom prst="rect">
            <a:avLst/>
          </a:prstGeom>
          <a:solidFill>
            <a:srgbClr val="5C9F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Rectangle 198"/>
          <p:cNvSpPr/>
          <p:nvPr/>
        </p:nvSpPr>
        <p:spPr>
          <a:xfrm>
            <a:off x="8940165" y="4636294"/>
            <a:ext cx="643890" cy="322659"/>
          </a:xfrm>
          <a:prstGeom prst="rect">
            <a:avLst/>
          </a:prstGeom>
          <a:solidFill>
            <a:srgbClr val="579DC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9584055" y="4636294"/>
            <a:ext cx="643890" cy="322659"/>
          </a:xfrm>
          <a:prstGeom prst="rect">
            <a:avLst/>
          </a:prstGeom>
          <a:solidFill>
            <a:srgbClr val="569CC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Rectangle 200"/>
          <p:cNvSpPr/>
          <p:nvPr/>
        </p:nvSpPr>
        <p:spPr>
          <a:xfrm>
            <a:off x="10227945" y="4636294"/>
            <a:ext cx="643890" cy="322659"/>
          </a:xfrm>
          <a:prstGeom prst="rect">
            <a:avLst/>
          </a:prstGeom>
          <a:solidFill>
            <a:srgbClr val="5B9F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Rectangle 201"/>
          <p:cNvSpPr/>
          <p:nvPr/>
        </p:nvSpPr>
        <p:spPr>
          <a:xfrm>
            <a:off x="10871835" y="4636294"/>
            <a:ext cx="643890" cy="322659"/>
          </a:xfrm>
          <a:prstGeom prst="rect">
            <a:avLst/>
          </a:prstGeom>
          <a:solidFill>
            <a:srgbClr val="60A1C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238125" y="4958953"/>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Foil-Laminated Structures</a:t>
            </a:r>
          </a:p>
        </p:txBody>
      </p:sp>
      <p:sp>
        <p:nvSpPr>
          <p:cNvPr id="204" name="Rectangle 203"/>
          <p:cNvSpPr/>
          <p:nvPr/>
        </p:nvSpPr>
        <p:spPr>
          <a:xfrm>
            <a:off x="1857375" y="4958953"/>
            <a:ext cx="643890" cy="322659"/>
          </a:xfrm>
          <a:prstGeom prst="rect">
            <a:avLst/>
          </a:prstGeom>
          <a:solidFill>
            <a:srgbClr val="EE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Rectangle 204"/>
          <p:cNvSpPr/>
          <p:nvPr/>
        </p:nvSpPr>
        <p:spPr>
          <a:xfrm>
            <a:off x="2501265" y="4958953"/>
            <a:ext cx="643890" cy="322659"/>
          </a:xfrm>
          <a:prstGeom prst="rect">
            <a:avLst/>
          </a:prstGeom>
          <a:solidFill>
            <a:srgbClr val="EC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Rectangle 205"/>
          <p:cNvSpPr/>
          <p:nvPr/>
        </p:nvSpPr>
        <p:spPr>
          <a:xfrm>
            <a:off x="3145155" y="4958953"/>
            <a:ext cx="643890" cy="322659"/>
          </a:xfrm>
          <a:prstGeom prst="rect">
            <a:avLst/>
          </a:prstGeom>
          <a:solidFill>
            <a:srgbClr val="E6F3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Rectangle 206"/>
          <p:cNvSpPr/>
          <p:nvPr/>
        </p:nvSpPr>
        <p:spPr>
          <a:xfrm>
            <a:off x="3789045" y="4958953"/>
            <a:ext cx="643890" cy="322659"/>
          </a:xfrm>
          <a:prstGeom prst="rect">
            <a:avLst/>
          </a:prstGeom>
          <a:solidFill>
            <a:srgbClr val="E0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Rectangle 207"/>
          <p:cNvSpPr/>
          <p:nvPr/>
        </p:nvSpPr>
        <p:spPr>
          <a:xfrm>
            <a:off x="4432935" y="4958953"/>
            <a:ext cx="643890" cy="322659"/>
          </a:xfrm>
          <a:prstGeom prst="rect">
            <a:avLst/>
          </a:prstGeom>
          <a:solidFill>
            <a:srgbClr val="C0D7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ectangle 208"/>
          <p:cNvSpPr/>
          <p:nvPr/>
        </p:nvSpPr>
        <p:spPr>
          <a:xfrm>
            <a:off x="5076825" y="4958953"/>
            <a:ext cx="643890" cy="322659"/>
          </a:xfrm>
          <a:prstGeom prst="rect">
            <a:avLst/>
          </a:prstGeom>
          <a:solidFill>
            <a:srgbClr val="A6C8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5720715" y="4958953"/>
            <a:ext cx="643890" cy="322659"/>
          </a:xfrm>
          <a:prstGeom prst="rect">
            <a:avLst/>
          </a:prstGeom>
          <a:solidFill>
            <a:srgbClr val="8CB9D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Rectangle 210"/>
          <p:cNvSpPr/>
          <p:nvPr/>
        </p:nvSpPr>
        <p:spPr>
          <a:xfrm>
            <a:off x="6364605" y="4958953"/>
            <a:ext cx="643890" cy="322659"/>
          </a:xfrm>
          <a:prstGeom prst="rect">
            <a:avLst/>
          </a:prstGeom>
          <a:solidFill>
            <a:srgbClr val="6BA7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Rectangle 211"/>
          <p:cNvSpPr/>
          <p:nvPr/>
        </p:nvSpPr>
        <p:spPr>
          <a:xfrm>
            <a:off x="7008495" y="4958953"/>
            <a:ext cx="643890" cy="322659"/>
          </a:xfrm>
          <a:prstGeom prst="rect">
            <a:avLst/>
          </a:prstGeom>
          <a:solidFill>
            <a:srgbClr val="4D97C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Rectangle 212"/>
          <p:cNvSpPr/>
          <p:nvPr/>
        </p:nvSpPr>
        <p:spPr>
          <a:xfrm>
            <a:off x="7652385" y="4958953"/>
            <a:ext cx="643890" cy="322659"/>
          </a:xfrm>
          <a:prstGeom prst="rect">
            <a:avLst/>
          </a:prstGeom>
          <a:solidFill>
            <a:srgbClr val="3A8C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8296275" y="4958953"/>
            <a:ext cx="643890" cy="322659"/>
          </a:xfrm>
          <a:prstGeom prst="rect">
            <a:avLst/>
          </a:prstGeom>
          <a:solidFill>
            <a:srgbClr val="2E85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Rectangle 214"/>
          <p:cNvSpPr/>
          <p:nvPr/>
        </p:nvSpPr>
        <p:spPr>
          <a:xfrm>
            <a:off x="8940165" y="4958953"/>
            <a:ext cx="643890" cy="322659"/>
          </a:xfrm>
          <a:prstGeom prst="rect">
            <a:avLst/>
          </a:prstGeom>
          <a:solidFill>
            <a:srgbClr val="2681B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Rectangle 215"/>
          <p:cNvSpPr/>
          <p:nvPr/>
        </p:nvSpPr>
        <p:spPr>
          <a:xfrm>
            <a:off x="9584055" y="4958953"/>
            <a:ext cx="643890" cy="322659"/>
          </a:xfrm>
          <a:prstGeom prst="rect">
            <a:avLst/>
          </a:prstGeom>
          <a:solidFill>
            <a:srgbClr val="247F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Rectangle 216"/>
          <p:cNvSpPr/>
          <p:nvPr/>
        </p:nvSpPr>
        <p:spPr>
          <a:xfrm>
            <a:off x="10227945" y="4958953"/>
            <a:ext cx="643890" cy="322659"/>
          </a:xfrm>
          <a:prstGeom prst="rect">
            <a:avLst/>
          </a:prstGeom>
          <a:solidFill>
            <a:srgbClr val="2781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Rectangle 217"/>
          <p:cNvSpPr/>
          <p:nvPr/>
        </p:nvSpPr>
        <p:spPr>
          <a:xfrm>
            <a:off x="10871835" y="4958953"/>
            <a:ext cx="643890" cy="322659"/>
          </a:xfrm>
          <a:prstGeom prst="rect">
            <a:avLst/>
          </a:prstGeom>
          <a:solidFill>
            <a:srgbClr val="2C84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TextBox 218"/>
          <p:cNvSpPr txBox="1"/>
          <p:nvPr/>
        </p:nvSpPr>
        <p:spPr>
          <a:xfrm>
            <a:off x="238125" y="5281612"/>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Mono-Material Recyclable Structures</a:t>
            </a:r>
          </a:p>
        </p:txBody>
      </p:sp>
      <p:sp>
        <p:nvSpPr>
          <p:cNvPr id="220" name="Rectangle 219"/>
          <p:cNvSpPr/>
          <p:nvPr/>
        </p:nvSpPr>
        <p:spPr>
          <a:xfrm>
            <a:off x="1857375" y="5281612"/>
            <a:ext cx="643890" cy="322659"/>
          </a:xfrm>
          <a:prstGeom prst="rect">
            <a:avLst/>
          </a:prstGeom>
          <a:solidFill>
            <a:srgbClr val="E6F3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ectangle 220"/>
          <p:cNvSpPr/>
          <p:nvPr/>
        </p:nvSpPr>
        <p:spPr>
          <a:xfrm>
            <a:off x="2501265" y="5281612"/>
            <a:ext cx="643890" cy="322659"/>
          </a:xfrm>
          <a:prstGeom prst="rect">
            <a:avLst/>
          </a:prstGeom>
          <a:solidFill>
            <a:srgbClr val="E0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3145155" y="5281612"/>
            <a:ext cx="643890" cy="322659"/>
          </a:xfrm>
          <a:prstGeom prst="rect">
            <a:avLst/>
          </a:prstGeom>
          <a:solidFill>
            <a:srgbClr val="D6E6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ectangle 222"/>
          <p:cNvSpPr/>
          <p:nvPr/>
        </p:nvSpPr>
        <p:spPr>
          <a:xfrm>
            <a:off x="3789045" y="5281612"/>
            <a:ext cx="643890" cy="322659"/>
          </a:xfrm>
          <a:prstGeom prst="rect">
            <a:avLst/>
          </a:prstGeom>
          <a:solidFill>
            <a:srgbClr val="CE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Rectangle 223"/>
          <p:cNvSpPr/>
          <p:nvPr/>
        </p:nvSpPr>
        <p:spPr>
          <a:xfrm>
            <a:off x="4432935" y="5281612"/>
            <a:ext cx="643890" cy="322659"/>
          </a:xfrm>
          <a:prstGeom prst="rect">
            <a:avLst/>
          </a:prstGeom>
          <a:solidFill>
            <a:srgbClr val="9DC3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Rectangle 224"/>
          <p:cNvSpPr/>
          <p:nvPr/>
        </p:nvSpPr>
        <p:spPr>
          <a:xfrm>
            <a:off x="5076825" y="5281612"/>
            <a:ext cx="643890" cy="322659"/>
          </a:xfrm>
          <a:prstGeom prst="rect">
            <a:avLst/>
          </a:prstGeom>
          <a:solidFill>
            <a:srgbClr val="7EB1D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Rectangle 225"/>
          <p:cNvSpPr/>
          <p:nvPr/>
        </p:nvSpPr>
        <p:spPr>
          <a:xfrm>
            <a:off x="5720715" y="5281612"/>
            <a:ext cx="643890" cy="322659"/>
          </a:xfrm>
          <a:prstGeom prst="rect">
            <a:avLst/>
          </a:prstGeom>
          <a:solidFill>
            <a:srgbClr val="589DC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Rectangle 226"/>
          <p:cNvSpPr/>
          <p:nvPr/>
        </p:nvSpPr>
        <p:spPr>
          <a:xfrm>
            <a:off x="6364605" y="5281612"/>
            <a:ext cx="643890" cy="322659"/>
          </a:xfrm>
          <a:prstGeom prst="rect">
            <a:avLst/>
          </a:prstGeom>
          <a:solidFill>
            <a:srgbClr val="378B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Rectangle 227"/>
          <p:cNvSpPr/>
          <p:nvPr/>
        </p:nvSpPr>
        <p:spPr>
          <a:xfrm>
            <a:off x="7008495" y="5281612"/>
            <a:ext cx="643890" cy="322659"/>
          </a:xfrm>
          <a:prstGeom prst="rect">
            <a:avLst/>
          </a:prstGeom>
          <a:solidFill>
            <a:srgbClr val="1B7A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angle 228"/>
          <p:cNvSpPr/>
          <p:nvPr/>
        </p:nvSpPr>
        <p:spPr>
          <a:xfrm>
            <a:off x="7652385" y="5281612"/>
            <a:ext cx="643890" cy="322659"/>
          </a:xfrm>
          <a:prstGeom prst="rect">
            <a:avLst/>
          </a:prstGeom>
          <a:solidFill>
            <a:srgbClr val="0D609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ectangle 229"/>
          <p:cNvSpPr/>
          <p:nvPr/>
        </p:nvSpPr>
        <p:spPr>
          <a:xfrm>
            <a:off x="8296275" y="5281612"/>
            <a:ext cx="643890" cy="322659"/>
          </a:xfrm>
          <a:prstGeom prst="rect">
            <a:avLst/>
          </a:prstGeom>
          <a:solidFill>
            <a:srgbClr val="0C436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8940165" y="5281612"/>
            <a:ext cx="643890" cy="322659"/>
          </a:xfrm>
          <a:prstGeom prst="rect">
            <a:avLst/>
          </a:prstGeom>
          <a:solidFill>
            <a:srgbClr val="0C3A5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9584055" y="5281612"/>
            <a:ext cx="643890" cy="322659"/>
          </a:xfrm>
          <a:prstGeom prst="rect">
            <a:avLst/>
          </a:prstGeom>
          <a:solidFill>
            <a:srgbClr val="0C3A5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10227945" y="5281612"/>
            <a:ext cx="643890" cy="322659"/>
          </a:xfrm>
          <a:prstGeom prst="rect">
            <a:avLst/>
          </a:prstGeom>
          <a:solidFill>
            <a:srgbClr val="0C446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10871835" y="5281612"/>
            <a:ext cx="643890" cy="322659"/>
          </a:xfrm>
          <a:prstGeom prst="rect">
            <a:avLst/>
          </a:prstGeom>
          <a:solidFill>
            <a:srgbClr val="0D527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238125" y="5604272"/>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PE-Based</a:t>
            </a:r>
          </a:p>
        </p:txBody>
      </p:sp>
      <p:sp>
        <p:nvSpPr>
          <p:cNvPr id="236" name="Rectangle 235"/>
          <p:cNvSpPr/>
          <p:nvPr/>
        </p:nvSpPr>
        <p:spPr>
          <a:xfrm>
            <a:off x="1857375" y="5604272"/>
            <a:ext cx="643890" cy="322659"/>
          </a:xfrm>
          <a:prstGeom prst="rect">
            <a:avLst/>
          </a:prstGeom>
          <a:solidFill>
            <a:srgbClr val="E6F3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Rectangle 236"/>
          <p:cNvSpPr/>
          <p:nvPr/>
        </p:nvSpPr>
        <p:spPr>
          <a:xfrm>
            <a:off x="2501265" y="5604272"/>
            <a:ext cx="643890" cy="322659"/>
          </a:xfrm>
          <a:prstGeom prst="rect">
            <a:avLst/>
          </a:prstGeom>
          <a:solidFill>
            <a:srgbClr val="E0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Rectangle 237"/>
          <p:cNvSpPr/>
          <p:nvPr/>
        </p:nvSpPr>
        <p:spPr>
          <a:xfrm>
            <a:off x="3145155" y="5604272"/>
            <a:ext cx="643890" cy="322659"/>
          </a:xfrm>
          <a:prstGeom prst="rect">
            <a:avLst/>
          </a:prstGeom>
          <a:solidFill>
            <a:srgbClr val="D6E6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Rectangle 238"/>
          <p:cNvSpPr/>
          <p:nvPr/>
        </p:nvSpPr>
        <p:spPr>
          <a:xfrm>
            <a:off x="3789045" y="5604272"/>
            <a:ext cx="643890" cy="322659"/>
          </a:xfrm>
          <a:prstGeom prst="rect">
            <a:avLst/>
          </a:prstGeom>
          <a:solidFill>
            <a:srgbClr val="CE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Rectangle 239"/>
          <p:cNvSpPr/>
          <p:nvPr/>
        </p:nvSpPr>
        <p:spPr>
          <a:xfrm>
            <a:off x="4432935" y="5604272"/>
            <a:ext cx="643890" cy="322659"/>
          </a:xfrm>
          <a:prstGeom prst="rect">
            <a:avLst/>
          </a:prstGeom>
          <a:solidFill>
            <a:srgbClr val="9CC2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5076825" y="5604272"/>
            <a:ext cx="643890" cy="322659"/>
          </a:xfrm>
          <a:prstGeom prst="rect">
            <a:avLst/>
          </a:prstGeom>
          <a:solidFill>
            <a:srgbClr val="7AB0D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5720715" y="5604272"/>
            <a:ext cx="643890" cy="322659"/>
          </a:xfrm>
          <a:prstGeom prst="rect">
            <a:avLst/>
          </a:prstGeom>
          <a:solidFill>
            <a:srgbClr val="5199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p:cNvSpPr/>
          <p:nvPr/>
        </p:nvSpPr>
        <p:spPr>
          <a:xfrm>
            <a:off x="6364605" y="5604272"/>
            <a:ext cx="643890" cy="322659"/>
          </a:xfrm>
          <a:prstGeom prst="rect">
            <a:avLst/>
          </a:prstGeom>
          <a:solidFill>
            <a:srgbClr val="3087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Rectangle 243"/>
          <p:cNvSpPr/>
          <p:nvPr/>
        </p:nvSpPr>
        <p:spPr>
          <a:xfrm>
            <a:off x="7008495" y="5604272"/>
            <a:ext cx="643890" cy="322659"/>
          </a:xfrm>
          <a:prstGeom prst="rect">
            <a:avLst/>
          </a:prstGeom>
          <a:solidFill>
            <a:srgbClr val="1375B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Rectangle 244"/>
          <p:cNvSpPr/>
          <p:nvPr/>
        </p:nvSpPr>
        <p:spPr>
          <a:xfrm>
            <a:off x="7652385" y="5604272"/>
            <a:ext cx="643890" cy="322659"/>
          </a:xfrm>
          <a:prstGeom prst="rect">
            <a:avLst/>
          </a:prstGeom>
          <a:solidFill>
            <a:srgbClr val="0D507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Rectangle 245"/>
          <p:cNvSpPr/>
          <p:nvPr/>
        </p:nvSpPr>
        <p:spPr>
          <a:xfrm>
            <a:off x="8296275" y="5604272"/>
            <a:ext cx="643890" cy="322659"/>
          </a:xfrm>
          <a:prstGeom prst="rect">
            <a:avLst/>
          </a:prstGeom>
          <a:solidFill>
            <a:srgbClr val="0B355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Rectangle 246"/>
          <p:cNvSpPr/>
          <p:nvPr/>
        </p:nvSpPr>
        <p:spPr>
          <a:xfrm>
            <a:off x="8940165" y="5604272"/>
            <a:ext cx="643890" cy="322659"/>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9584055" y="5604272"/>
            <a:ext cx="643890" cy="322659"/>
          </a:xfrm>
          <a:prstGeom prst="rect">
            <a:avLst/>
          </a:prstGeom>
          <a:solidFill>
            <a:srgbClr val="0B2F4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10227945" y="5604272"/>
            <a:ext cx="643890" cy="322659"/>
          </a:xfrm>
          <a:prstGeom prst="rect">
            <a:avLst/>
          </a:prstGeom>
          <a:solidFill>
            <a:srgbClr val="0B395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p:cNvSpPr/>
          <p:nvPr/>
        </p:nvSpPr>
        <p:spPr>
          <a:xfrm>
            <a:off x="10871835" y="5604272"/>
            <a:ext cx="643890" cy="322659"/>
          </a:xfrm>
          <a:prstGeom prst="rect">
            <a:avLst/>
          </a:prstGeom>
          <a:solidFill>
            <a:srgbClr val="0C487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TextBox 250"/>
          <p:cNvSpPr txBox="1"/>
          <p:nvPr/>
        </p:nvSpPr>
        <p:spPr>
          <a:xfrm>
            <a:off x="238125" y="5926931"/>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PP-Based</a:t>
            </a:r>
          </a:p>
        </p:txBody>
      </p:sp>
      <p:sp>
        <p:nvSpPr>
          <p:cNvPr id="252" name="Rectangle 251"/>
          <p:cNvSpPr/>
          <p:nvPr/>
        </p:nvSpPr>
        <p:spPr>
          <a:xfrm>
            <a:off x="1857375" y="5926931"/>
            <a:ext cx="643890" cy="322659"/>
          </a:xfrm>
          <a:prstGeom prst="rect">
            <a:avLst/>
          </a:prstGeom>
          <a:solidFill>
            <a:srgbClr val="F7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Rectangle 252"/>
          <p:cNvSpPr/>
          <p:nvPr/>
        </p:nvSpPr>
        <p:spPr>
          <a:xfrm>
            <a:off x="2501265" y="5926931"/>
            <a:ext cx="643890" cy="322659"/>
          </a:xfrm>
          <a:prstGeom prst="rect">
            <a:avLst/>
          </a:prstGeom>
          <a:solidFill>
            <a:srgbClr val="F2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Rectangle 253"/>
          <p:cNvSpPr/>
          <p:nvPr/>
        </p:nvSpPr>
        <p:spPr>
          <a:xfrm>
            <a:off x="3145155" y="5926931"/>
            <a:ext cx="643890" cy="322659"/>
          </a:xfrm>
          <a:prstGeom prst="rect">
            <a:avLst/>
          </a:prstGeom>
          <a:solidFill>
            <a:srgbClr val="EA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Rectangle 254"/>
          <p:cNvSpPr/>
          <p:nvPr/>
        </p:nvSpPr>
        <p:spPr>
          <a:xfrm>
            <a:off x="3789045" y="5926931"/>
            <a:ext cx="643890" cy="322659"/>
          </a:xfrm>
          <a:prstGeom prst="rect">
            <a:avLst/>
          </a:prstGeom>
          <a:solidFill>
            <a:srgbClr val="E1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Rectangle 255"/>
          <p:cNvSpPr/>
          <p:nvPr/>
        </p:nvSpPr>
        <p:spPr>
          <a:xfrm>
            <a:off x="4432935" y="5926931"/>
            <a:ext cx="643890" cy="322659"/>
          </a:xfrm>
          <a:prstGeom prst="rect">
            <a:avLst/>
          </a:prstGeom>
          <a:solidFill>
            <a:srgbClr val="BCD5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Rectangle 256"/>
          <p:cNvSpPr/>
          <p:nvPr/>
        </p:nvSpPr>
        <p:spPr>
          <a:xfrm>
            <a:off x="5076825" y="5926931"/>
            <a:ext cx="643890" cy="322659"/>
          </a:xfrm>
          <a:prstGeom prst="rect">
            <a:avLst/>
          </a:prstGeom>
          <a:solidFill>
            <a:srgbClr val="9FC4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Rectangle 257"/>
          <p:cNvSpPr/>
          <p:nvPr/>
        </p:nvSpPr>
        <p:spPr>
          <a:xfrm>
            <a:off x="5720715" y="5926931"/>
            <a:ext cx="643890" cy="322659"/>
          </a:xfrm>
          <a:prstGeom prst="rect">
            <a:avLst/>
          </a:prstGeom>
          <a:solidFill>
            <a:srgbClr val="80B3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Rectangle 258"/>
          <p:cNvSpPr/>
          <p:nvPr/>
        </p:nvSpPr>
        <p:spPr>
          <a:xfrm>
            <a:off x="6364605" y="5926931"/>
            <a:ext cx="643890" cy="322659"/>
          </a:xfrm>
          <a:prstGeom prst="rect">
            <a:avLst/>
          </a:prstGeom>
          <a:solidFill>
            <a:srgbClr val="589DC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Rectangle 259"/>
          <p:cNvSpPr/>
          <p:nvPr/>
        </p:nvSpPr>
        <p:spPr>
          <a:xfrm>
            <a:off x="7008495" y="5926931"/>
            <a:ext cx="643890" cy="322659"/>
          </a:xfrm>
          <a:prstGeom prst="rect">
            <a:avLst/>
          </a:prstGeom>
          <a:solidFill>
            <a:srgbClr val="3087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Rectangle 260"/>
          <p:cNvSpPr/>
          <p:nvPr/>
        </p:nvSpPr>
        <p:spPr>
          <a:xfrm>
            <a:off x="7652385" y="5926931"/>
            <a:ext cx="643890" cy="322659"/>
          </a:xfrm>
          <a:prstGeom prst="rect">
            <a:avLst/>
          </a:prstGeom>
          <a:solidFill>
            <a:srgbClr val="1375B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Rectangle 261"/>
          <p:cNvSpPr/>
          <p:nvPr/>
        </p:nvSpPr>
        <p:spPr>
          <a:xfrm>
            <a:off x="8296275" y="5926931"/>
            <a:ext cx="643890" cy="322659"/>
          </a:xfrm>
          <a:prstGeom prst="rect">
            <a:avLst/>
          </a:prstGeom>
          <a:solidFill>
            <a:srgbClr val="0D548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Rectangle 262"/>
          <p:cNvSpPr/>
          <p:nvPr/>
        </p:nvSpPr>
        <p:spPr>
          <a:xfrm>
            <a:off x="8940165" y="5926931"/>
            <a:ext cx="643890" cy="322659"/>
          </a:xfrm>
          <a:prstGeom prst="rect">
            <a:avLst/>
          </a:prstGeom>
          <a:solidFill>
            <a:srgbClr val="0C456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Rectangle 263"/>
          <p:cNvSpPr/>
          <p:nvPr/>
        </p:nvSpPr>
        <p:spPr>
          <a:xfrm>
            <a:off x="9584055" y="5926931"/>
            <a:ext cx="643890" cy="322659"/>
          </a:xfrm>
          <a:prstGeom prst="rect">
            <a:avLst/>
          </a:prstGeom>
          <a:solidFill>
            <a:srgbClr val="0C436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Rectangle 264"/>
          <p:cNvSpPr/>
          <p:nvPr/>
        </p:nvSpPr>
        <p:spPr>
          <a:xfrm>
            <a:off x="10227945" y="5926931"/>
            <a:ext cx="643890" cy="322659"/>
          </a:xfrm>
          <a:prstGeom prst="rect">
            <a:avLst/>
          </a:prstGeom>
          <a:solidFill>
            <a:srgbClr val="0C4E7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Rectangle 265"/>
          <p:cNvSpPr/>
          <p:nvPr/>
        </p:nvSpPr>
        <p:spPr>
          <a:xfrm>
            <a:off x="10871835" y="5926931"/>
            <a:ext cx="643890" cy="322659"/>
          </a:xfrm>
          <a:prstGeom prst="rect">
            <a:avLst/>
          </a:prstGeom>
          <a:solidFill>
            <a:srgbClr val="0D598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238125" y="6249591"/>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PET-Based</a:t>
            </a:r>
          </a:p>
        </p:txBody>
      </p:sp>
      <p:sp>
        <p:nvSpPr>
          <p:cNvPr id="268" name="Rectangle 267"/>
          <p:cNvSpPr/>
          <p:nvPr/>
        </p:nvSpPr>
        <p:spPr>
          <a:xfrm>
            <a:off x="1857375" y="6249591"/>
            <a:ext cx="643890" cy="322659"/>
          </a:xfrm>
          <a:prstGeom prst="rect">
            <a:avLst/>
          </a:prstGeom>
          <a:solidFill>
            <a:srgbClr val="A8C9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Rectangle 268"/>
          <p:cNvSpPr/>
          <p:nvPr/>
        </p:nvSpPr>
        <p:spPr>
          <a:xfrm>
            <a:off x="2501265" y="6249591"/>
            <a:ext cx="643890" cy="322659"/>
          </a:xfrm>
          <a:prstGeom prst="rect">
            <a:avLst/>
          </a:prstGeom>
          <a:solidFill>
            <a:srgbClr val="A1C5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Rectangle 269"/>
          <p:cNvSpPr/>
          <p:nvPr/>
        </p:nvSpPr>
        <p:spPr>
          <a:xfrm>
            <a:off x="3145155" y="6249591"/>
            <a:ext cx="643890" cy="322659"/>
          </a:xfrm>
          <a:prstGeom prst="rect">
            <a:avLst/>
          </a:prstGeom>
          <a:solidFill>
            <a:srgbClr val="93BD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Rectangle 270"/>
          <p:cNvSpPr/>
          <p:nvPr/>
        </p:nvSpPr>
        <p:spPr>
          <a:xfrm>
            <a:off x="3789045" y="6249591"/>
            <a:ext cx="643890" cy="322659"/>
          </a:xfrm>
          <a:prstGeom prst="rect">
            <a:avLst/>
          </a:prstGeom>
          <a:solidFill>
            <a:srgbClr val="85B6D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Rectangle 271"/>
          <p:cNvSpPr/>
          <p:nvPr/>
        </p:nvSpPr>
        <p:spPr>
          <a:xfrm>
            <a:off x="4432935" y="6249591"/>
            <a:ext cx="643890" cy="322659"/>
          </a:xfrm>
          <a:prstGeom prst="rect">
            <a:avLst/>
          </a:prstGeom>
          <a:solidFill>
            <a:srgbClr val="4895C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Rectangle 272"/>
          <p:cNvSpPr/>
          <p:nvPr/>
        </p:nvSpPr>
        <p:spPr>
          <a:xfrm>
            <a:off x="5076825" y="6249591"/>
            <a:ext cx="643890" cy="322659"/>
          </a:xfrm>
          <a:prstGeom prst="rect">
            <a:avLst/>
          </a:prstGeom>
          <a:solidFill>
            <a:srgbClr val="378A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Rectangle 273"/>
          <p:cNvSpPr/>
          <p:nvPr/>
        </p:nvSpPr>
        <p:spPr>
          <a:xfrm>
            <a:off x="5720715" y="6249591"/>
            <a:ext cx="643890" cy="322659"/>
          </a:xfrm>
          <a:prstGeom prst="rect">
            <a:avLst/>
          </a:prstGeom>
          <a:solidFill>
            <a:srgbClr val="2A83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Rectangle 274"/>
          <p:cNvSpPr/>
          <p:nvPr/>
        </p:nvSpPr>
        <p:spPr>
          <a:xfrm>
            <a:off x="6364605" y="6249591"/>
            <a:ext cx="643890" cy="322659"/>
          </a:xfrm>
          <a:prstGeom prst="rect">
            <a:avLst/>
          </a:prstGeom>
          <a:solidFill>
            <a:srgbClr val="1F7CB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Rectangle 275"/>
          <p:cNvSpPr/>
          <p:nvPr/>
        </p:nvSpPr>
        <p:spPr>
          <a:xfrm>
            <a:off x="7008495" y="6249591"/>
            <a:ext cx="643890" cy="322659"/>
          </a:xfrm>
          <a:prstGeom prst="rect">
            <a:avLst/>
          </a:prstGeom>
          <a:solidFill>
            <a:srgbClr val="1274B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Rectangle 276"/>
          <p:cNvSpPr/>
          <p:nvPr/>
        </p:nvSpPr>
        <p:spPr>
          <a:xfrm>
            <a:off x="7652385" y="6249591"/>
            <a:ext cx="643890" cy="322659"/>
          </a:xfrm>
          <a:prstGeom prst="rect">
            <a:avLst/>
          </a:prstGeom>
          <a:solidFill>
            <a:srgbClr val="0E689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Rectangle 277"/>
          <p:cNvSpPr/>
          <p:nvPr/>
        </p:nvSpPr>
        <p:spPr>
          <a:xfrm>
            <a:off x="8296275" y="6249591"/>
            <a:ext cx="643890" cy="322659"/>
          </a:xfrm>
          <a:prstGeom prst="rect">
            <a:avLst/>
          </a:prstGeom>
          <a:solidFill>
            <a:srgbClr val="0D598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Rectangle 278"/>
          <p:cNvSpPr/>
          <p:nvPr/>
        </p:nvSpPr>
        <p:spPr>
          <a:xfrm>
            <a:off x="8940165" y="6249591"/>
            <a:ext cx="643890" cy="322659"/>
          </a:xfrm>
          <a:prstGeom prst="rect">
            <a:avLst/>
          </a:prstGeom>
          <a:solidFill>
            <a:srgbClr val="0D578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Rectangle 279"/>
          <p:cNvSpPr/>
          <p:nvPr/>
        </p:nvSpPr>
        <p:spPr>
          <a:xfrm>
            <a:off x="9584055" y="6249591"/>
            <a:ext cx="643890" cy="322659"/>
          </a:xfrm>
          <a:prstGeom prst="rect">
            <a:avLst/>
          </a:prstGeom>
          <a:solidFill>
            <a:srgbClr val="0D588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Rectangle 280"/>
          <p:cNvSpPr/>
          <p:nvPr/>
        </p:nvSpPr>
        <p:spPr>
          <a:xfrm>
            <a:off x="10227945" y="6249591"/>
            <a:ext cx="643890" cy="322659"/>
          </a:xfrm>
          <a:prstGeom prst="rect">
            <a:avLst/>
          </a:prstGeom>
          <a:solidFill>
            <a:srgbClr val="0D619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Rectangle 281"/>
          <p:cNvSpPr/>
          <p:nvPr/>
        </p:nvSpPr>
        <p:spPr>
          <a:xfrm>
            <a:off x="10871835" y="6249591"/>
            <a:ext cx="643890" cy="322659"/>
          </a:xfrm>
          <a:prstGeom prst="rect">
            <a:avLst/>
          </a:prstGeom>
          <a:solidFill>
            <a:srgbClr val="0E6AA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Rectangle 282"/>
          <p:cNvSpPr/>
          <p:nvPr/>
        </p:nvSpPr>
        <p:spPr>
          <a:xfrm>
            <a:off x="11572875" y="1447800"/>
            <a:ext cx="104775" cy="134779"/>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Rectangle 283"/>
          <p:cNvSpPr/>
          <p:nvPr/>
        </p:nvSpPr>
        <p:spPr>
          <a:xfrm>
            <a:off x="11572875" y="1574959"/>
            <a:ext cx="104775" cy="134779"/>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Rectangle 284"/>
          <p:cNvSpPr/>
          <p:nvPr/>
        </p:nvSpPr>
        <p:spPr>
          <a:xfrm>
            <a:off x="11572875" y="1702118"/>
            <a:ext cx="104775" cy="134779"/>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Rectangle 285"/>
          <p:cNvSpPr/>
          <p:nvPr/>
        </p:nvSpPr>
        <p:spPr>
          <a:xfrm>
            <a:off x="11572875" y="1829276"/>
            <a:ext cx="104775" cy="134779"/>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Rectangle 286"/>
          <p:cNvSpPr/>
          <p:nvPr/>
        </p:nvSpPr>
        <p:spPr>
          <a:xfrm>
            <a:off x="11572875" y="1956435"/>
            <a:ext cx="104775" cy="134779"/>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Rectangle 287"/>
          <p:cNvSpPr/>
          <p:nvPr/>
        </p:nvSpPr>
        <p:spPr>
          <a:xfrm>
            <a:off x="11572875" y="2083594"/>
            <a:ext cx="104775" cy="134779"/>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Rectangle 288"/>
          <p:cNvSpPr/>
          <p:nvPr/>
        </p:nvSpPr>
        <p:spPr>
          <a:xfrm>
            <a:off x="11572875" y="2210752"/>
            <a:ext cx="104775" cy="134779"/>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Rectangle 289"/>
          <p:cNvSpPr/>
          <p:nvPr/>
        </p:nvSpPr>
        <p:spPr>
          <a:xfrm>
            <a:off x="11572875" y="2337911"/>
            <a:ext cx="104775" cy="134779"/>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Rectangle 290"/>
          <p:cNvSpPr/>
          <p:nvPr/>
        </p:nvSpPr>
        <p:spPr>
          <a:xfrm>
            <a:off x="11572875" y="2465070"/>
            <a:ext cx="104775" cy="134779"/>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Rectangle 291"/>
          <p:cNvSpPr/>
          <p:nvPr/>
        </p:nvSpPr>
        <p:spPr>
          <a:xfrm>
            <a:off x="11572875" y="2592229"/>
            <a:ext cx="104775" cy="134779"/>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Rectangle 292"/>
          <p:cNvSpPr/>
          <p:nvPr/>
        </p:nvSpPr>
        <p:spPr>
          <a:xfrm>
            <a:off x="11572875" y="2719388"/>
            <a:ext cx="104775" cy="134779"/>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Rectangle 293"/>
          <p:cNvSpPr/>
          <p:nvPr/>
        </p:nvSpPr>
        <p:spPr>
          <a:xfrm>
            <a:off x="11572875" y="2846546"/>
            <a:ext cx="104775" cy="134779"/>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Rectangle 294"/>
          <p:cNvSpPr/>
          <p:nvPr/>
        </p:nvSpPr>
        <p:spPr>
          <a:xfrm>
            <a:off x="11572875" y="2973705"/>
            <a:ext cx="104775" cy="134779"/>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Rectangle 295"/>
          <p:cNvSpPr/>
          <p:nvPr/>
        </p:nvSpPr>
        <p:spPr>
          <a:xfrm>
            <a:off x="11572875" y="3100864"/>
            <a:ext cx="104775" cy="134779"/>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Rectangle 296"/>
          <p:cNvSpPr/>
          <p:nvPr/>
        </p:nvSpPr>
        <p:spPr>
          <a:xfrm>
            <a:off x="11572875" y="3228022"/>
            <a:ext cx="104775" cy="134779"/>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Rectangle 297"/>
          <p:cNvSpPr/>
          <p:nvPr/>
        </p:nvSpPr>
        <p:spPr>
          <a:xfrm>
            <a:off x="11572875" y="3355181"/>
            <a:ext cx="104775" cy="134779"/>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Rectangle 298"/>
          <p:cNvSpPr/>
          <p:nvPr/>
        </p:nvSpPr>
        <p:spPr>
          <a:xfrm>
            <a:off x="11572875" y="3482340"/>
            <a:ext cx="104775" cy="134779"/>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ectangle 299"/>
          <p:cNvSpPr/>
          <p:nvPr/>
        </p:nvSpPr>
        <p:spPr>
          <a:xfrm>
            <a:off x="11572875" y="3609499"/>
            <a:ext cx="104775" cy="134779"/>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Rectangle 300"/>
          <p:cNvSpPr/>
          <p:nvPr/>
        </p:nvSpPr>
        <p:spPr>
          <a:xfrm>
            <a:off x="11572875" y="3736657"/>
            <a:ext cx="104775" cy="134779"/>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Rectangle 301"/>
          <p:cNvSpPr/>
          <p:nvPr/>
        </p:nvSpPr>
        <p:spPr>
          <a:xfrm>
            <a:off x="11572875" y="3863816"/>
            <a:ext cx="104775" cy="134779"/>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ectangle 302"/>
          <p:cNvSpPr/>
          <p:nvPr/>
        </p:nvSpPr>
        <p:spPr>
          <a:xfrm>
            <a:off x="11572875" y="3990975"/>
            <a:ext cx="104775" cy="134779"/>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Rectangle 303"/>
          <p:cNvSpPr/>
          <p:nvPr/>
        </p:nvSpPr>
        <p:spPr>
          <a:xfrm>
            <a:off x="11572875" y="4118134"/>
            <a:ext cx="104775" cy="134779"/>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Rectangle 304"/>
          <p:cNvSpPr/>
          <p:nvPr/>
        </p:nvSpPr>
        <p:spPr>
          <a:xfrm>
            <a:off x="11572875" y="4245292"/>
            <a:ext cx="104775" cy="134779"/>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ectangle 305"/>
          <p:cNvSpPr/>
          <p:nvPr/>
        </p:nvSpPr>
        <p:spPr>
          <a:xfrm>
            <a:off x="11572875" y="4372451"/>
            <a:ext cx="104775" cy="134779"/>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Rectangle 306"/>
          <p:cNvSpPr/>
          <p:nvPr/>
        </p:nvSpPr>
        <p:spPr>
          <a:xfrm>
            <a:off x="11572875" y="4499610"/>
            <a:ext cx="104775" cy="134779"/>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Rectangle 307"/>
          <p:cNvSpPr/>
          <p:nvPr/>
        </p:nvSpPr>
        <p:spPr>
          <a:xfrm>
            <a:off x="11572875" y="4626769"/>
            <a:ext cx="104775" cy="134779"/>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ectangle 308"/>
          <p:cNvSpPr/>
          <p:nvPr/>
        </p:nvSpPr>
        <p:spPr>
          <a:xfrm>
            <a:off x="11572875" y="4753928"/>
            <a:ext cx="104775" cy="134779"/>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Rectangle 309"/>
          <p:cNvSpPr/>
          <p:nvPr/>
        </p:nvSpPr>
        <p:spPr>
          <a:xfrm>
            <a:off x="11572875" y="4881086"/>
            <a:ext cx="104775" cy="134779"/>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Rectangle 310"/>
          <p:cNvSpPr/>
          <p:nvPr/>
        </p:nvSpPr>
        <p:spPr>
          <a:xfrm>
            <a:off x="11572875" y="5008245"/>
            <a:ext cx="104775" cy="134779"/>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ectangle 311"/>
          <p:cNvSpPr/>
          <p:nvPr/>
        </p:nvSpPr>
        <p:spPr>
          <a:xfrm>
            <a:off x="11572875" y="5135404"/>
            <a:ext cx="104775" cy="134779"/>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Rectangle 312"/>
          <p:cNvSpPr/>
          <p:nvPr/>
        </p:nvSpPr>
        <p:spPr>
          <a:xfrm>
            <a:off x="11572875" y="5262562"/>
            <a:ext cx="104775" cy="134779"/>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Rectangle 313"/>
          <p:cNvSpPr/>
          <p:nvPr/>
        </p:nvSpPr>
        <p:spPr>
          <a:xfrm>
            <a:off x="11572875" y="5389721"/>
            <a:ext cx="104775" cy="134779"/>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ectangle 314"/>
          <p:cNvSpPr/>
          <p:nvPr/>
        </p:nvSpPr>
        <p:spPr>
          <a:xfrm>
            <a:off x="11572875" y="5516880"/>
            <a:ext cx="104775" cy="134779"/>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Rectangle 315"/>
          <p:cNvSpPr/>
          <p:nvPr/>
        </p:nvSpPr>
        <p:spPr>
          <a:xfrm>
            <a:off x="11572875" y="5644039"/>
            <a:ext cx="104775" cy="134779"/>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Rectangle 316"/>
          <p:cNvSpPr/>
          <p:nvPr/>
        </p:nvSpPr>
        <p:spPr>
          <a:xfrm>
            <a:off x="11572875" y="5771198"/>
            <a:ext cx="104775" cy="134779"/>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Rectangle 317"/>
          <p:cNvSpPr/>
          <p:nvPr/>
        </p:nvSpPr>
        <p:spPr>
          <a:xfrm>
            <a:off x="11572875" y="5898356"/>
            <a:ext cx="104775" cy="134779"/>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Rectangle 318"/>
          <p:cNvSpPr/>
          <p:nvPr/>
        </p:nvSpPr>
        <p:spPr>
          <a:xfrm>
            <a:off x="11572875" y="6025515"/>
            <a:ext cx="104775" cy="134779"/>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Rectangle 319"/>
          <p:cNvSpPr/>
          <p:nvPr/>
        </p:nvSpPr>
        <p:spPr>
          <a:xfrm>
            <a:off x="11572875" y="6152674"/>
            <a:ext cx="104775" cy="134779"/>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Rectangle 320"/>
          <p:cNvSpPr/>
          <p:nvPr/>
        </p:nvSpPr>
        <p:spPr>
          <a:xfrm>
            <a:off x="11572875" y="6279832"/>
            <a:ext cx="104775" cy="134779"/>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Rectangle 321"/>
          <p:cNvSpPr/>
          <p:nvPr/>
        </p:nvSpPr>
        <p:spPr>
          <a:xfrm>
            <a:off x="11572875" y="6406991"/>
            <a:ext cx="104775" cy="134779"/>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Rectangle 322"/>
          <p:cNvSpPr/>
          <p:nvPr/>
        </p:nvSpPr>
        <p:spPr>
          <a:xfrm>
            <a:off x="11572875" y="1447800"/>
            <a:ext cx="104775" cy="5086350"/>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TextBox 323"/>
          <p:cNvSpPr txBox="1"/>
          <p:nvPr/>
        </p:nvSpPr>
        <p:spPr>
          <a:xfrm>
            <a:off x="11687175" y="1381125"/>
            <a:ext cx="276225" cy="133350"/>
          </a:xfrm>
          <a:prstGeom prst="rect">
            <a:avLst/>
          </a:prstGeom>
          <a:noFill/>
        </p:spPr>
        <p:txBody>
          <a:bodyPr wrap="none" lIns="0" rIns="0" tIns="0" bIns="0" anchor="ctr">
            <a:spAutoFit/>
          </a:bodyPr>
          <a:lstStyle/>
          <a:p>
            <a:pPr algn="l"/>
            <a:r>
              <a:rPr sz="1100" b="0">
                <a:solidFill>
                  <a:srgbClr val="6C7A89"/>
                </a:solidFill>
                <a:latin typeface="Calibri"/>
              </a:rPr>
              <a:t>8%</a:t>
            </a:r>
          </a:p>
        </p:txBody>
      </p:sp>
      <p:sp>
        <p:nvSpPr>
          <p:cNvPr id="325" name="TextBox 324"/>
          <p:cNvSpPr txBox="1"/>
          <p:nvPr/>
        </p:nvSpPr>
        <p:spPr>
          <a:xfrm>
            <a:off x="11687175" y="3924300"/>
            <a:ext cx="276225" cy="133350"/>
          </a:xfrm>
          <a:prstGeom prst="rect">
            <a:avLst/>
          </a:prstGeom>
          <a:noFill/>
        </p:spPr>
        <p:txBody>
          <a:bodyPr wrap="none" lIns="0" rIns="0" tIns="0" bIns="0" anchor="ctr">
            <a:spAutoFit/>
          </a:bodyPr>
          <a:lstStyle/>
          <a:p>
            <a:pPr algn="l"/>
            <a:r>
              <a:rPr sz="1100" b="0">
                <a:solidFill>
                  <a:srgbClr val="6C7A89"/>
                </a:solidFill>
                <a:latin typeface="Calibri"/>
              </a:rPr>
              <a:t>6%</a:t>
            </a:r>
          </a:p>
        </p:txBody>
      </p:sp>
      <p:sp>
        <p:nvSpPr>
          <p:cNvPr id="326" name="TextBox 325"/>
          <p:cNvSpPr txBox="1"/>
          <p:nvPr/>
        </p:nvSpPr>
        <p:spPr>
          <a:xfrm>
            <a:off x="11687175" y="6467475"/>
            <a:ext cx="276225" cy="133350"/>
          </a:xfrm>
          <a:prstGeom prst="rect">
            <a:avLst/>
          </a:prstGeom>
          <a:noFill/>
        </p:spPr>
        <p:txBody>
          <a:bodyPr wrap="none" lIns="0" rIns="0" tIns="0" bIns="0" anchor="ctr">
            <a:spAutoFit/>
          </a:bodyPr>
          <a:lstStyle/>
          <a:p>
            <a:pPr algn="l"/>
            <a:r>
              <a:rPr sz="1100" b="0">
                <a:solidFill>
                  <a:srgbClr val="6C7A89"/>
                </a:solidFill>
                <a:latin typeface="Calibri"/>
              </a:rPr>
              <a:t>4%</a:t>
            </a:r>
          </a:p>
        </p:txBody>
      </p:sp>
      <p:sp>
        <p:nvSpPr>
          <p:cNvPr id="327" name="TextBox 3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Flexible Plastic Packaging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Barrier Level</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Barrier Level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Volume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Barrier Level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4 sub-segments of Barrier Level,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TextBox 10"/>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Barrier Level segment categorizes the market by barrier level. Each sub-category is evaluated on market size, growth outlook and adoption trends across the forecast period.</a:t>
            </a:r>
          </a:p>
        </p:txBody>
      </p:sp>
      <p:sp>
        <p:nvSpPr>
          <p:cNvPr id="12" name="Rectangle 11"/>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4" name="Rectangle 13"/>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6" name="Rectangle 15"/>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8" name="Rectangle 17"/>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20" name="Rounded Rectangle 19"/>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Medium-Barrier Films</a:t>
            </a:r>
          </a:p>
        </p:txBody>
      </p:sp>
      <p:sp>
        <p:nvSpPr>
          <p:cNvPr id="23" name="Rectangle 22"/>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42,429</a:t>
            </a:r>
          </a:p>
        </p:txBody>
      </p:sp>
      <p:sp>
        <p:nvSpPr>
          <p:cNvPr id="24" name="Rectangle 23"/>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77,020</a:t>
            </a:r>
          </a:p>
        </p:txBody>
      </p:sp>
      <p:sp>
        <p:nvSpPr>
          <p:cNvPr id="25" name="Rectangle 24"/>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6.1%</a:t>
            </a:r>
          </a:p>
        </p:txBody>
      </p:sp>
      <p:sp>
        <p:nvSpPr>
          <p:cNvPr id="26" name="Oval 25"/>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High-Barrier Films</a:t>
            </a:r>
          </a:p>
        </p:txBody>
      </p:sp>
      <p:sp>
        <p:nvSpPr>
          <p:cNvPr id="30" name="Rectangle 29"/>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40,913</a:t>
            </a:r>
          </a:p>
        </p:txBody>
      </p:sp>
      <p:sp>
        <p:nvSpPr>
          <p:cNvPr id="31" name="Rectangle 30"/>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80,412</a:t>
            </a:r>
          </a:p>
        </p:txBody>
      </p:sp>
      <p:sp>
        <p:nvSpPr>
          <p:cNvPr id="32" name="Rectangle 31"/>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7.0%</a:t>
            </a:r>
          </a:p>
        </p:txBody>
      </p:sp>
      <p:sp>
        <p:nvSpPr>
          <p:cNvPr id="33" name="Oval 32"/>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Low-Barrier Films</a:t>
            </a:r>
          </a:p>
        </p:txBody>
      </p:sp>
      <p:sp>
        <p:nvSpPr>
          <p:cNvPr id="37" name="Rectangle 36"/>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26,785</a:t>
            </a:r>
          </a:p>
        </p:txBody>
      </p:sp>
      <p:sp>
        <p:nvSpPr>
          <p:cNvPr id="38" name="Rectangle 37"/>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50,050</a:t>
            </a:r>
          </a:p>
        </p:txBody>
      </p:sp>
      <p:sp>
        <p:nvSpPr>
          <p:cNvPr id="39" name="Rectangle 38"/>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6.5%</a:t>
            </a:r>
          </a:p>
        </p:txBody>
      </p:sp>
      <p:sp>
        <p:nvSpPr>
          <p:cNvPr id="40" name="Oval 39"/>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1" name="Rounded Rectangle 40"/>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Ultra-High-Barrier Films</a:t>
            </a:r>
          </a:p>
        </p:txBody>
      </p:sp>
      <p:sp>
        <p:nvSpPr>
          <p:cNvPr id="44" name="Rectangle 43"/>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17,220</a:t>
            </a:r>
          </a:p>
        </p:txBody>
      </p:sp>
      <p:sp>
        <p:nvSpPr>
          <p:cNvPr id="45" name="Rectangle 44"/>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32,726</a:t>
            </a:r>
          </a:p>
        </p:txBody>
      </p:sp>
      <p:sp>
        <p:nvSpPr>
          <p:cNvPr id="46" name="Rectangle 45"/>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6.6%</a:t>
            </a:r>
          </a:p>
        </p:txBody>
      </p:sp>
      <p:sp>
        <p:nvSpPr>
          <p:cNvPr id="47" name="Oval 46"/>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8" name="Rounded Rectangle 47"/>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50" name="Rectangle 49"/>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72AE"/>
                </a:solidFill>
                <a:latin typeface="Calibri"/>
              </a:rPr>
              <a:t>▪  </a:t>
            </a:r>
            <a:r>
              <a:rPr sz="1100" b="0">
                <a:solidFill>
                  <a:srgbClr val="2E2E2E"/>
                </a:solidFill>
                <a:latin typeface="Calibri"/>
              </a:rPr>
              <a:t>¶ Among flexible plastic packaging by barrier level, high-barrier films segment is expected to witness the highest CAGR of 7.0% over the forecast period. In terms of value share by barrier level, the high-barrier films segment is expected to dominate the market, gaining 135 BPS and accounting for 33.5% share by 2036.</a:t>
            </a:r>
          </a:p>
          <a:p>
            <a:pPr algn="l">
              <a:lnSpc>
                <a:spcPct val="110000"/>
              </a:lnSpc>
              <a:spcBef>
                <a:spcPts val="0"/>
              </a:spcBef>
              <a:spcAft>
                <a:spcPts val="500"/>
              </a:spcAft>
            </a:pPr>
            <a:r>
              <a:rPr sz="1100" b="0">
                <a:solidFill>
                  <a:srgbClr val="0E72AE"/>
                </a:solidFill>
                <a:latin typeface="Calibri"/>
              </a:rPr>
              <a:t>▪  </a:t>
            </a:r>
            <a:r>
              <a:rPr sz="1100" b="0">
                <a:solidFill>
                  <a:srgbClr val="2E2E2E"/>
                </a:solidFill>
                <a:latin typeface="Calibri"/>
              </a:rPr>
              <a:t>¶ High-barrier films segment is projected to register 1.0X higher value than medium-barrier films segment in 2036.</a:t>
            </a:r>
          </a:p>
        </p:txBody>
      </p:sp>
      <p:sp>
        <p:nvSpPr>
          <p:cNvPr id="52" name="Rounded Rectangle 51"/>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4" name="Rectangle 53"/>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t>
            </a:r>
            <a:r>
              <a:rPr sz="1100" b="1">
                <a:solidFill>
                  <a:srgbClr val="0B2E4A"/>
                </a:solidFill>
                <a:latin typeface="Calibri"/>
              </a:rPr>
              <a:t>Medium-Barrier Films: </a:t>
            </a:r>
            <a:r>
              <a:rPr sz="1100" b="0">
                <a:solidFill>
                  <a:srgbClr val="2E2E2E"/>
                </a:solidFill>
                <a:latin typeface="Calibri"/>
              </a:rPr>
              <a:t>33% of 2026 value · 6.1% CAGR leads the segment.</a:t>
            </a:r>
          </a:p>
          <a:p>
            <a:pPr algn="l">
              <a:lnSpc>
                <a:spcPct val="110000"/>
              </a:lnSpc>
              <a:spcBef>
                <a:spcPts val="0"/>
              </a:spcBef>
              <a:spcAft>
                <a:spcPts val="500"/>
              </a:spcAft>
            </a:pPr>
            <a:r>
              <a:rPr sz="1100" b="0">
                <a:solidFill>
                  <a:srgbClr val="0E72AE"/>
                </a:solidFill>
                <a:latin typeface="Calibri"/>
              </a:rPr>
              <a:t>●  </a:t>
            </a:r>
            <a:r>
              <a:rPr sz="1100" b="1">
                <a:solidFill>
                  <a:srgbClr val="0E72AE"/>
                </a:solidFill>
                <a:latin typeface="Calibri"/>
              </a:rPr>
              <a:t>High-Barrier Films: </a:t>
            </a:r>
            <a:r>
              <a:rPr sz="1100" b="0">
                <a:solidFill>
                  <a:srgbClr val="2E2E2E"/>
                </a:solidFill>
                <a:latin typeface="Calibri"/>
              </a:rPr>
              <a:t>32% of 2026 value · 7.0% CAGR grows fastest.</a:t>
            </a:r>
          </a:p>
          <a:p>
            <a:pPr algn="l">
              <a:lnSpc>
                <a:spcPct val="110000"/>
              </a:lnSpc>
              <a:spcBef>
                <a:spcPts val="0"/>
              </a:spcBef>
              <a:spcAft>
                <a:spcPts val="500"/>
              </a:spcAft>
            </a:pPr>
            <a:r>
              <a:rPr sz="1100" b="0">
                <a:solidFill>
                  <a:srgbClr val="008189"/>
                </a:solidFill>
                <a:latin typeface="Calibri"/>
              </a:rPr>
              <a:t>●  </a:t>
            </a:r>
            <a:r>
              <a:rPr sz="1100" b="1">
                <a:solidFill>
                  <a:srgbClr val="008189"/>
                </a:solidFill>
                <a:latin typeface="Calibri"/>
              </a:rPr>
              <a:t>Low-Barrier Films: </a:t>
            </a:r>
            <a:r>
              <a:rPr sz="1100" b="0">
                <a:solidFill>
                  <a:srgbClr val="2E2E2E"/>
                </a:solidFill>
                <a:latin typeface="Calibri"/>
              </a:rPr>
              <a:t>21% of 2026 value · 6.5% CAGR serves a niche.</a:t>
            </a:r>
          </a:p>
          <a:p>
            <a:pPr algn="l">
              <a:lnSpc>
                <a:spcPct val="110000"/>
              </a:lnSpc>
              <a:spcBef>
                <a:spcPts val="0"/>
              </a:spcBef>
              <a:spcAft>
                <a:spcPts val="500"/>
              </a:spcAft>
            </a:pPr>
            <a:r>
              <a:rPr sz="1100" b="0">
                <a:solidFill>
                  <a:srgbClr val="6F3CC2"/>
                </a:solidFill>
                <a:latin typeface="Calibri"/>
              </a:rPr>
              <a:t>●  </a:t>
            </a:r>
            <a:r>
              <a:rPr sz="1100" b="1">
                <a:solidFill>
                  <a:srgbClr val="6F3CC2"/>
                </a:solidFill>
                <a:latin typeface="Calibri"/>
              </a:rPr>
              <a:t>Ultra-High-Barrier Films: </a:t>
            </a:r>
            <a:r>
              <a:rPr sz="1100" b="0">
                <a:solidFill>
                  <a:srgbClr val="2E2E2E"/>
                </a:solidFill>
                <a:latin typeface="Calibri"/>
              </a:rPr>
              <a:t>14% of 2026 value · 6.6% CAGR serves a niche.</a:t>
            </a:r>
          </a:p>
        </p:txBody>
      </p:sp>
      <p:sp>
        <p:nvSpPr>
          <p:cNvPr id="56" name="Rounded Rectangle 55"/>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8" name="Rectangle 57"/>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Barrier Level split shows how demand is distributed across barrier level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60" name="Rectangle 59"/>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The Barrier Level segment is projected to grow at a CAGR of 6.6% from 2026 to 2036.</a:t>
            </a:r>
          </a:p>
        </p:txBody>
      </p:sp>
      <p:sp>
        <p:nvSpPr>
          <p:cNvPr id="62" name="TextBox 61"/>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3" name="TextBox 6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Barrier Level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Barrier Level mix within each region and the attractiveness of each sub-segment on growth and size</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6343650" cy="4191000"/>
          </a:xfrm>
          <a:prstGeom prst="roundRect">
            <a:avLst>
              <a:gd name="adj" fmla="val 18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Barrier Level mix within each region (share of 2036 value) · row label = region size (US$ Mn), largest first</a:t>
            </a:r>
          </a:p>
        </p:txBody>
      </p:sp>
      <p:graphicFrame>
        <p:nvGraphicFramePr>
          <p:cNvPr id="13" name="Chart 12"/>
          <p:cNvGraphicFramePr>
            <a:graphicFrameLocks noGrp="1"/>
          </p:cNvGraphicFramePr>
          <p:nvPr/>
        </p:nvGraphicFramePr>
        <p:xfrm>
          <a:off x="238125" y="1438275"/>
          <a:ext cx="6153150" cy="3676650"/>
        </p:xfrm>
        <a:graphic>
          <a:graphicData uri="http://schemas.openxmlformats.org/drawingml/2006/chart">
            <c:chart xmlns:c="http://schemas.openxmlformats.org/drawingml/2006/chart" r:id="rId3"/>
          </a:graphicData>
        </a:graphic>
      </p:graphicFrame>
      <p:sp>
        <p:nvSpPr>
          <p:cNvPr id="14" name="Rounded Rectangle 13"/>
          <p:cNvSpPr/>
          <p:nvPr/>
        </p:nvSpPr>
        <p:spPr>
          <a:xfrm>
            <a:off x="6638925" y="981075"/>
            <a:ext cx="5400675" cy="4191000"/>
          </a:xfrm>
          <a:prstGeom prst="roundRect">
            <a:avLst>
              <a:gd name="adj" fmla="val 18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Barrier Level · Bubble size represents 2036 value</a:t>
            </a:r>
          </a:p>
        </p:txBody>
      </p:sp>
      <p:graphicFrame>
        <p:nvGraphicFramePr>
          <p:cNvPr id="16" name="Chart 15"/>
          <p:cNvGraphicFramePr>
            <a:graphicFrameLocks noGrp="1"/>
          </p:cNvGraphicFramePr>
          <p:nvPr/>
        </p:nvGraphicFramePr>
        <p:xfrm>
          <a:off x="6734175" y="1438275"/>
          <a:ext cx="5210175" cy="367665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5305425"/>
            <a:ext cx="11906250" cy="1323975"/>
          </a:xfrm>
          <a:prstGeom prst="roundRect">
            <a:avLst>
              <a:gd name="adj" fmla="val 57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High-barrier films followed by medium-barrier films are expected to be the two most attractive barrier level segments in the global flexible plastic packaging market in terms of value over the forecast period. High-Barrier films and Medium-Barrier films exhibit a CAGR index of 107 and 94 and a market share index of 129 and 133 respectively, against the segment average of 100. The ultra-high-barrier films segment is expected to be less attractive as compared to other segments over the forecast period, owing to its lower CAGR and incremental opportunity. High-Barrier Films rank most attractive because they combine a 32.1% share with the fastest growth at 7.0%, ahead of the 6.6% market. Longer shelf life for protein, cheese, snacks and ready meals drives upgrades, helped by e-commerce, rising packaged-food consumption in emerging markets and brand-owner recyclability targets, while Medium-Barrier Films at 6.1% grow slowest despite their size. Bubbles right of the CAGR-Index line grow faster than the segment average.</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Barrier Level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Barrier Level and the absolute $ opportunity each sub-segment adds,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Low-Barrier Films</a:t>
            </a:r>
          </a:p>
        </p:txBody>
      </p:sp>
      <p:graphicFrame>
        <p:nvGraphicFramePr>
          <p:cNvPr id="13" name="Chart 12"/>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Medium-Barrier Films</a:t>
            </a:r>
          </a:p>
        </p:txBody>
      </p:sp>
      <p:graphicFrame>
        <p:nvGraphicFramePr>
          <p:cNvPr id="16" name="Chart 15"/>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High-Barrier Films</a:t>
            </a:r>
          </a:p>
        </p:txBody>
      </p:sp>
      <p:graphicFrame>
        <p:nvGraphicFramePr>
          <p:cNvPr id="19" name="Chart 18"/>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20" name="Rounded Rectangle 19"/>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Ultra-High-Barrier Films</a:t>
            </a:r>
          </a:p>
        </p:txBody>
      </p:sp>
      <p:graphicFrame>
        <p:nvGraphicFramePr>
          <p:cNvPr id="22" name="Chart 21"/>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Volume Analysis, By Barrier Level (Thousand MT)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by Barrier Level,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1762125"/>
          </a:xfrm>
          <a:prstGeom prst="roundRect">
            <a:avLst>
              <a:gd name="adj" fmla="val 43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By Barrier Level (Thousand MT)</a:t>
            </a:r>
          </a:p>
        </p:txBody>
      </p:sp>
      <p:graphicFrame>
        <p:nvGraphicFramePr>
          <p:cNvPr id="13" name="Table 12"/>
          <p:cNvGraphicFramePr>
            <a:graphicFrameLocks noGrp="1"/>
          </p:cNvGraphicFramePr>
          <p:nvPr/>
        </p:nvGraphicFramePr>
        <p:xfrm>
          <a:off x="152400" y="1238250"/>
          <a:ext cx="11887205" cy="1295400"/>
        </p:xfrm>
        <a:graphic>
          <a:graphicData uri="http://schemas.openxmlformats.org/drawingml/2006/table">
            <a:tbl>
              <a:tblPr>
                <a:tableStyleId>{5C22544A-7EE6-4342-B048-85BDC9FD1C3A}</a:tableStyleId>
              </a:tblPr>
              <a:tblGrid>
                <a:gridCol w="1657557"/>
                <a:gridCol w="601744"/>
                <a:gridCol w="601744"/>
                <a:gridCol w="601744"/>
                <a:gridCol w="601744"/>
                <a:gridCol w="601744"/>
                <a:gridCol w="601744"/>
                <a:gridCol w="601744"/>
                <a:gridCol w="601744"/>
                <a:gridCol w="601744"/>
                <a:gridCol w="601744"/>
                <a:gridCol w="601744"/>
                <a:gridCol w="601744"/>
                <a:gridCol w="601744"/>
                <a:gridCol w="601744"/>
                <a:gridCol w="601744"/>
                <a:gridCol w="601744"/>
                <a:gridCol w="601744"/>
              </a:tblGrid>
              <a:tr h="215265">
                <a:tc>
                  <a:txBody>
                    <a:bodyPr wrap="none"/>
                    <a:lstStyle/>
                    <a:p>
                      <a:pPr algn="l"/>
                      <a:r>
                        <a:rPr sz="1100" b="1">
                          <a:solidFill>
                            <a:srgbClr val="0B2E4A"/>
                          </a:solidFill>
                          <a:latin typeface="Calibri"/>
                        </a:rPr>
                        <a:t>Barrier Level</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F-CAGR</a:t>
                      </a:r>
                      <a:endParaRPr sz="1100"/>
                    </a:p>
                  </a:txBody>
                  <a:tcPr marL="47625" marR="38100" marT="19050" marB="19050" anchor="ctr">
                    <a:solidFill>
                      <a:srgbClr val="E0E8EF"/>
                    </a:solidFill>
                  </a:tcPr>
                </a:tc>
              </a:tr>
              <a:tr h="216027">
                <a:tc>
                  <a:txBody>
                    <a:bodyPr wrap="none"/>
                    <a:lstStyle/>
                    <a:p>
                      <a:pPr algn="l"/>
                      <a:r>
                        <a:rPr sz="1100" b="1">
                          <a:solidFill>
                            <a:srgbClr val="2E2E2E"/>
                          </a:solidFill>
                          <a:latin typeface="Calibri"/>
                        </a:rPr>
                        <a:t>Low-Barrier Films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7,039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7,323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7,621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7,933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8,267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8,631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9,030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9,466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9,947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10,474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11,043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11,647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12,277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12,931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13,600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14,283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5.2%</a:t>
                      </a:r>
                      <a:endParaRPr sz="1100"/>
                    </a:p>
                  </a:txBody>
                  <a:tcPr marL="47625" marR="38100" marT="19050" marB="19050" anchor="ctr">
                    <a:solidFill>
                      <a:srgbClr val="FFFFFF"/>
                    </a:solidFill>
                  </a:tcPr>
                </a:tc>
              </a:tr>
              <a:tr h="216027">
                <a:tc>
                  <a:txBody>
                    <a:bodyPr wrap="none"/>
                    <a:lstStyle/>
                    <a:p>
                      <a:pPr algn="l"/>
                      <a:r>
                        <a:rPr sz="1100" b="1">
                          <a:solidFill>
                            <a:srgbClr val="2E2E2E"/>
                          </a:solidFill>
                          <a:latin typeface="Calibri"/>
                        </a:rPr>
                        <a:t>Medium-Barrier Films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11,368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11,784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12,221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12,678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13,161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13,689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14,266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14,898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15,592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16,356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17,185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18,076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19,014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19,988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20,984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22,001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4.9%</a:t>
                      </a:r>
                      <a:endParaRPr sz="1100"/>
                    </a:p>
                  </a:txBody>
                  <a:tcPr marL="47625" marR="38100" marT="19050" marB="19050" anchor="ctr">
                    <a:solidFill>
                      <a:srgbClr val="F5F8FA"/>
                    </a:solidFill>
                  </a:tcPr>
                </a:tc>
              </a:tr>
              <a:tr h="216027">
                <a:tc>
                  <a:txBody>
                    <a:bodyPr wrap="none"/>
                    <a:lstStyle/>
                    <a:p>
                      <a:pPr algn="l"/>
                      <a:r>
                        <a:rPr sz="1100" b="1">
                          <a:solidFill>
                            <a:srgbClr val="2E2E2E"/>
                          </a:solidFill>
                          <a:latin typeface="Calibri"/>
                        </a:rPr>
                        <a:t>High-Barrier Films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10,559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11,016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11,505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12,030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12,593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13,212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13,890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14,635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15,451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16,340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17,305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18,341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19,440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20,590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21,774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22,988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5.7%</a:t>
                      </a:r>
                      <a:endParaRPr sz="1100"/>
                    </a:p>
                  </a:txBody>
                  <a:tcPr marL="47625" marR="38100" marT="19050" marB="19050" anchor="ctr">
                    <a:solidFill>
                      <a:srgbClr val="FFFFFF"/>
                    </a:solidFill>
                  </a:tcPr>
                </a:tc>
              </a:tr>
              <a:tr h="216027">
                <a:tc>
                  <a:txBody>
                    <a:bodyPr wrap="none"/>
                    <a:lstStyle/>
                    <a:p>
                      <a:pPr algn="l"/>
                      <a:r>
                        <a:rPr sz="1100" b="1">
                          <a:solidFill>
                            <a:srgbClr val="2E2E2E"/>
                          </a:solidFill>
                          <a:latin typeface="Calibri"/>
                        </a:rPr>
                        <a:t>Ultra-High-Barrier Films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4,371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4,579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4,798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5,032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5,282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5,551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5,837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6,140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6,462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6,810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7,184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7,584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8,003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8,437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8,883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9,339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5.3%</a:t>
                      </a:r>
                      <a:endParaRPr sz="1100"/>
                    </a:p>
                  </a:txBody>
                  <a:tcPr marL="47625" marR="38100" marT="19050" marB="19050" anchor="ctr">
                    <a:solidFill>
                      <a:srgbClr val="F5F8FA"/>
                    </a:solidFill>
                  </a:tcPr>
                </a:tc>
              </a:tr>
              <a:tr h="21602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33,337</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34,702</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36,143</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37,672</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39,304</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41,083</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43,022</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45,139</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47,452</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49,980</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52,717</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55,648</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58,734</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61,946</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65,241</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68,611</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5.3%</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25431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2876550"/>
            <a:ext cx="11906250" cy="3752850"/>
          </a:xfrm>
          <a:prstGeom prst="roundRect">
            <a:avLst>
              <a:gd name="adj" fmla="val 203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296227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Volume Analysis, By Barrier Level</a:t>
            </a:r>
          </a:p>
        </p:txBody>
      </p:sp>
      <p:sp>
        <p:nvSpPr>
          <p:cNvPr id="17" name="Rectangle 16"/>
          <p:cNvSpPr/>
          <p:nvPr/>
        </p:nvSpPr>
        <p:spPr>
          <a:xfrm>
            <a:off x="276225" y="32004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3286125"/>
            <a:ext cx="11639550" cy="32670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High-barrier films segment is projected to register 1.0X higher volume than medium-barrier films segment in 2036. Among flexible plastic packaging by barrier level, high-barrier films segment is expected to witness the highest CAGR of 5.7% over the forecast period.</a:t>
            </a:r>
          </a:p>
          <a:p>
            <a:pPr algn="l">
              <a:lnSpc>
                <a:spcPct val="110000"/>
              </a:lnSpc>
              <a:spcBef>
                <a:spcPts val="0"/>
              </a:spcBef>
              <a:spcAft>
                <a:spcPts val="500"/>
              </a:spcAft>
            </a:pPr>
            <a:r>
              <a:rPr sz="1150" b="0">
                <a:solidFill>
                  <a:srgbClr val="2E2E2E"/>
                </a:solidFill>
                <a:latin typeface="Calibri"/>
              </a:rPr>
              <a:t>In terms of volume share by barrier level, the high-barrier films segment is expected to dominate the market, gaining 135 BPS and accounting for 33.5% share by 2036. The medium-barrier films segment is expected to lose 125 BPS over the forecast period to account for 32.1% share by 2036.</a:t>
            </a:r>
          </a:p>
          <a:p>
            <a:pPr algn="l">
              <a:lnSpc>
                <a:spcPct val="110000"/>
              </a:lnSpc>
              <a:spcBef>
                <a:spcPts val="0"/>
              </a:spcBef>
              <a:spcAft>
                <a:spcPts val="500"/>
              </a:spcAft>
            </a:pPr>
            <a:r>
              <a:rPr sz="1150" b="0">
                <a:solidFill>
                  <a:srgbClr val="2E2E2E"/>
                </a:solidFill>
                <a:latin typeface="Calibri"/>
              </a:rPr>
              <a:t>High-Barrier Films gains 135 BPS of volume share because protein, ready meals and e-commerce-delivered food need longer shelf life and lower spoilage, which pulls demand up from medium-barrier grades. Its 5.7% CAGR compares with a 5.3% market rate, while Medium-Barrier Films loses 125 BPS at 4.9% as demand polarises between cost-led low-barrier grades and performance-led high-barrier grades. Brand-owner sustainability targets and rising processed-food consumption set the pattern across regions.</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Barrier Level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Barrier Level,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1762125"/>
          </a:xfrm>
          <a:prstGeom prst="roundRect">
            <a:avLst>
              <a:gd name="adj" fmla="val 43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Barrier Level (US$ Mn)</a:t>
            </a:r>
          </a:p>
        </p:txBody>
      </p:sp>
      <p:graphicFrame>
        <p:nvGraphicFramePr>
          <p:cNvPr id="13" name="Table 12"/>
          <p:cNvGraphicFramePr>
            <a:graphicFrameLocks noGrp="1"/>
          </p:cNvGraphicFramePr>
          <p:nvPr/>
        </p:nvGraphicFramePr>
        <p:xfrm>
          <a:off x="152400" y="1238250"/>
          <a:ext cx="11887200" cy="1295400"/>
        </p:xfrm>
        <a:graphic>
          <a:graphicData uri="http://schemas.openxmlformats.org/drawingml/2006/table">
            <a:tbl>
              <a:tblPr>
                <a:tableStyleId>{5C22544A-7EE6-4342-B048-85BDC9FD1C3A}</a:tableStyleId>
              </a:tblPr>
              <a:tblGrid>
                <a:gridCol w="1584945"/>
                <a:gridCol w="606015"/>
                <a:gridCol w="606015"/>
                <a:gridCol w="606015"/>
                <a:gridCol w="606015"/>
                <a:gridCol w="606015"/>
                <a:gridCol w="606015"/>
                <a:gridCol w="606015"/>
                <a:gridCol w="606015"/>
                <a:gridCol w="606015"/>
                <a:gridCol w="606015"/>
                <a:gridCol w="606015"/>
                <a:gridCol w="606015"/>
                <a:gridCol w="606015"/>
                <a:gridCol w="606015"/>
                <a:gridCol w="606015"/>
                <a:gridCol w="606015"/>
                <a:gridCol w="606015"/>
              </a:tblGrid>
              <a:tr h="215265">
                <a:tc>
                  <a:txBody>
                    <a:bodyPr wrap="none"/>
                    <a:lstStyle/>
                    <a:p>
                      <a:pPr algn="l"/>
                      <a:r>
                        <a:rPr sz="1100" b="1">
                          <a:solidFill>
                            <a:srgbClr val="0B2E4A"/>
                          </a:solidFill>
                          <a:latin typeface="Calibri"/>
                        </a:rPr>
                        <a:t>Barrier Level</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F-CAGR</a:t>
                      </a:r>
                      <a:endParaRPr sz="1100"/>
                    </a:p>
                  </a:txBody>
                  <a:tcPr marL="47625" marR="38100" marT="19050" marB="19050" anchor="ctr">
                    <a:solidFill>
                      <a:srgbClr val="E0E8EF"/>
                    </a:solidFill>
                  </a:tcPr>
                </a:tc>
              </a:tr>
              <a:tr h="216027">
                <a:tc>
                  <a:txBody>
                    <a:bodyPr wrap="none"/>
                    <a:lstStyle/>
                    <a:p>
                      <a:pPr algn="l"/>
                      <a:r>
                        <a:rPr sz="1100" b="1">
                          <a:solidFill>
                            <a:srgbClr val="2E2E2E"/>
                          </a:solidFill>
                          <a:latin typeface="Calibri"/>
                        </a:rPr>
                        <a:t>Low-Barrier Films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21,421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22,332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23,300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24,340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25,458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26,785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28,260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29,904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31,739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33,786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36,039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38,491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41,120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43,928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46,904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50,050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6.5%</a:t>
                      </a:r>
                      <a:endParaRPr sz="1100"/>
                    </a:p>
                  </a:txBody>
                  <a:tcPr marL="47625" marR="38100" marT="19050" marB="19050" anchor="ctr">
                    <a:solidFill>
                      <a:srgbClr val="FFFFFF"/>
                    </a:solidFill>
                  </a:tcPr>
                </a:tc>
              </a:tr>
              <a:tr h="216027">
                <a:tc>
                  <a:txBody>
                    <a:bodyPr wrap="none"/>
                    <a:lstStyle/>
                    <a:p>
                      <a:pPr algn="l"/>
                      <a:r>
                        <a:rPr sz="1100" b="1">
                          <a:solidFill>
                            <a:srgbClr val="2E2E2E"/>
                          </a:solidFill>
                          <a:latin typeface="Calibri"/>
                        </a:rPr>
                        <a:t>Medium-Barrier Films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34,518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35,872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37,306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38,840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40,478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42,429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44,597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47,010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49,701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52,714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56,050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59,709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63,648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67,856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72,311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77,020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6.1%</a:t>
                      </a:r>
                      <a:endParaRPr sz="1100"/>
                    </a:p>
                  </a:txBody>
                  <a:tcPr marL="47625" marR="38100" marT="19050" marB="19050" anchor="ctr">
                    <a:solidFill>
                      <a:srgbClr val="F5F8FA"/>
                    </a:solidFill>
                  </a:tcPr>
                </a:tc>
              </a:tr>
              <a:tr h="216027">
                <a:tc>
                  <a:txBody>
                    <a:bodyPr wrap="none"/>
                    <a:lstStyle/>
                    <a:p>
                      <a:pPr algn="l"/>
                      <a:r>
                        <a:rPr sz="1100" b="1">
                          <a:solidFill>
                            <a:srgbClr val="2E2E2E"/>
                          </a:solidFill>
                          <a:latin typeface="Calibri"/>
                        </a:rPr>
                        <a:t>High-Barrier Films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32,004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33,482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35,074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36,814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38,695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40,913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43,384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46,147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49,221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52,631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56,397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60,525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65,012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69,836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74,973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80,412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7.0%</a:t>
                      </a:r>
                      <a:endParaRPr sz="1100"/>
                    </a:p>
                  </a:txBody>
                  <a:tcPr marL="47625" marR="38100" marT="19050" marB="19050" anchor="ctr">
                    <a:solidFill>
                      <a:srgbClr val="FFFFFF"/>
                    </a:solidFill>
                  </a:tcPr>
                </a:tc>
              </a:tr>
              <a:tr h="216027">
                <a:tc>
                  <a:txBody>
                    <a:bodyPr wrap="none"/>
                    <a:lstStyle/>
                    <a:p>
                      <a:pPr algn="l"/>
                      <a:r>
                        <a:rPr sz="1100" b="1">
                          <a:solidFill>
                            <a:srgbClr val="2E2E2E"/>
                          </a:solidFill>
                          <a:latin typeface="Calibri"/>
                        </a:rPr>
                        <a:t>Ultra-High-Barrier Films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13,314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13,978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14,680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15,445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16,268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17,220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18,251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19,369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20,585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21,928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23,408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25,033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26,779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28,645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30,626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32,726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6.6%</a:t>
                      </a:r>
                      <a:endParaRPr sz="1100"/>
                    </a:p>
                  </a:txBody>
                  <a:tcPr marL="47625" marR="38100" marT="19050" marB="19050" anchor="ctr">
                    <a:solidFill>
                      <a:srgbClr val="F5F8FA"/>
                    </a:solidFill>
                  </a:tcPr>
                </a:tc>
              </a:tr>
              <a:tr h="21602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101,257</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105,663</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110,360</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115,439</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120,900</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127,346</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134,491</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142,430</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151,246</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161,060</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171,894</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183,758</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196,559</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210,265</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224,814</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240,208</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6.6%</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25431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2876550"/>
            <a:ext cx="11906250" cy="3752850"/>
          </a:xfrm>
          <a:prstGeom prst="roundRect">
            <a:avLst>
              <a:gd name="adj" fmla="val 203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296227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Barrier Level</a:t>
            </a:r>
          </a:p>
        </p:txBody>
      </p:sp>
      <p:sp>
        <p:nvSpPr>
          <p:cNvPr id="17" name="Rectangle 16"/>
          <p:cNvSpPr/>
          <p:nvPr/>
        </p:nvSpPr>
        <p:spPr>
          <a:xfrm>
            <a:off x="276225" y="32004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3286125"/>
            <a:ext cx="11639550" cy="32670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High-barrier films segment is projected to register 1.0X higher value than medium-barrier films segment in 2036. Among flexible plastic packaging by barrier level, high-barrier films segment is expected to witness the highest CAGR of 7.0% over the forecast period.</a:t>
            </a:r>
          </a:p>
          <a:p>
            <a:pPr algn="l">
              <a:lnSpc>
                <a:spcPct val="110000"/>
              </a:lnSpc>
              <a:spcBef>
                <a:spcPts val="0"/>
              </a:spcBef>
              <a:spcAft>
                <a:spcPts val="500"/>
              </a:spcAft>
            </a:pPr>
            <a:r>
              <a:rPr sz="1150" b="0">
                <a:solidFill>
                  <a:srgbClr val="2E2E2E"/>
                </a:solidFill>
                <a:latin typeface="Calibri"/>
              </a:rPr>
              <a:t>In terms of value share by barrier level, the high-barrier films segment is expected to dominate the market, gaining 135 BPS and accounting for 33.5% share by 2036. The medium-barrier films segment is expected to lose 125 BPS over the forecast period to account for 32.1% share by 2036.</a:t>
            </a:r>
          </a:p>
          <a:p>
            <a:pPr algn="l">
              <a:lnSpc>
                <a:spcPct val="110000"/>
              </a:lnSpc>
              <a:spcBef>
                <a:spcPts val="0"/>
              </a:spcBef>
              <a:spcAft>
                <a:spcPts val="500"/>
              </a:spcAft>
            </a:pPr>
            <a:r>
              <a:rPr sz="1150" b="0">
                <a:solidFill>
                  <a:srgbClr val="2E2E2E"/>
                </a:solidFill>
                <a:latin typeface="Calibri"/>
              </a:rPr>
              <a:t>High-Barrier Films gain 135 BPS and grow at 7.0% because packed fresh meat, cheese, ready meals and pharmaceuticals need longer shelf life and lower food waste, and brands pay a premium for that protection. Medium-Barrier Films lose 125 BPS, growing at 6.1%, as applications upgrade to higher barrier or are redesigned for recyclability. Low-Barrier and Ultra-High-Barrier Films stay broadly flat in share.</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Barrier Level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Barrier Level in 2021, 2026 and 2036, highlighting share shifts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Barrier Level ·  2021 / 2026 / 2036 (US$ Mn)  ·  right axis = BPS share shift</a:t>
            </a:r>
          </a:p>
        </p:txBody>
      </p:sp>
      <p:graphicFrame>
        <p:nvGraphicFramePr>
          <p:cNvPr id="13" name="Chart 12"/>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4" name="TextBox 13"/>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5" name="FMI Lock Anchor"/>
          <p:cNvSpPr txBox="1"/>
          <p:nvPr/>
        </p:nvSpPr>
        <p:spPr>
          <a:xfrm>
            <a:off x="2678811" y="4014597"/>
            <a:ext cx="38100" cy="38100"/>
          </a:xfrm>
          <a:prstGeom prst="rect">
            <a:avLst/>
          </a:prstGeom>
          <a:noFill/>
        </p:spPr>
        <p:txBody>
          <a:bodyPr wrap="none">
            <a:spAutoFit/>
          </a:bodyPr>
          <a:lstStyle/>
          <a:p/>
        </p:txBody>
      </p:sp>
      <p:sp>
        <p:nvSpPr>
          <p:cNvPr id="16" name="FMI Legend Chip"/>
          <p:cNvSpPr/>
          <p:nvPr/>
        </p:nvSpPr>
        <p:spPr>
          <a:xfrm>
            <a:off x="4928997" y="1982729"/>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5090922" y="197796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5233797" y="190176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Ultra-High-Barrier Films</a:t>
            </a:r>
          </a:p>
        </p:txBody>
      </p:sp>
      <p:sp>
        <p:nvSpPr>
          <p:cNvPr id="19" name="BPS Value 1"/>
          <p:cNvSpPr txBox="1"/>
          <p:nvPr/>
        </p:nvSpPr>
        <p:spPr>
          <a:xfrm>
            <a:off x="6896100" y="1963679"/>
            <a:ext cx="514350" cy="123825"/>
          </a:xfrm>
          <a:prstGeom prst="rect">
            <a:avLst/>
          </a:prstGeom>
          <a:noFill/>
        </p:spPr>
        <p:txBody>
          <a:bodyPr wrap="none" lIns="0" rIns="0" tIns="0" bIns="0" anchor="ctr">
            <a:spAutoFit/>
          </a:bodyPr>
          <a:lstStyle/>
          <a:p>
            <a:pPr algn="r"/>
            <a:r>
              <a:rPr sz="900" b="1">
                <a:solidFill>
                  <a:srgbClr val="2E7D32"/>
                </a:solidFill>
                <a:latin typeface="Calibri"/>
              </a:rPr>
              <a:t>+10</a:t>
            </a:r>
          </a:p>
        </p:txBody>
      </p:sp>
      <p:sp>
        <p:nvSpPr>
          <p:cNvPr id="20" name="FMI Legend Chip"/>
          <p:cNvSpPr/>
          <p:nvPr/>
        </p:nvSpPr>
        <p:spPr>
          <a:xfrm>
            <a:off x="4928997" y="2770556"/>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5090922" y="276579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5233797" y="268959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Low-Barrier Films</a:t>
            </a:r>
          </a:p>
        </p:txBody>
      </p:sp>
      <p:sp>
        <p:nvSpPr>
          <p:cNvPr id="23" name="BPS Value 2"/>
          <p:cNvSpPr txBox="1"/>
          <p:nvPr/>
        </p:nvSpPr>
        <p:spPr>
          <a:xfrm>
            <a:off x="6896100" y="2751506"/>
            <a:ext cx="514350" cy="123825"/>
          </a:xfrm>
          <a:prstGeom prst="rect">
            <a:avLst/>
          </a:prstGeom>
          <a:noFill/>
        </p:spPr>
        <p:txBody>
          <a:bodyPr wrap="none" lIns="0" rIns="0" tIns="0" bIns="0" anchor="ctr">
            <a:spAutoFit/>
          </a:bodyPr>
          <a:lstStyle/>
          <a:p>
            <a:pPr algn="r"/>
            <a:r>
              <a:rPr sz="900" b="1">
                <a:solidFill>
                  <a:srgbClr val="E44D3A"/>
                </a:solidFill>
                <a:latin typeface="Calibri"/>
              </a:rPr>
              <a:t>-20</a:t>
            </a:r>
          </a:p>
        </p:txBody>
      </p:sp>
      <p:sp>
        <p:nvSpPr>
          <p:cNvPr id="24" name="FMI Legend Chip"/>
          <p:cNvSpPr/>
          <p:nvPr/>
        </p:nvSpPr>
        <p:spPr>
          <a:xfrm>
            <a:off x="4928997" y="3979951"/>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rot="10800000">
            <a:off x="5090922" y="397518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3"/>
          <p:cNvSpPr txBox="1"/>
          <p:nvPr/>
        </p:nvSpPr>
        <p:spPr>
          <a:xfrm>
            <a:off x="5233797" y="389898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Medium-Barrier Films</a:t>
            </a:r>
          </a:p>
        </p:txBody>
      </p:sp>
      <p:sp>
        <p:nvSpPr>
          <p:cNvPr id="27" name="BPS Value 3"/>
          <p:cNvSpPr txBox="1"/>
          <p:nvPr/>
        </p:nvSpPr>
        <p:spPr>
          <a:xfrm>
            <a:off x="6896100" y="3960901"/>
            <a:ext cx="514350" cy="123825"/>
          </a:xfrm>
          <a:prstGeom prst="rect">
            <a:avLst/>
          </a:prstGeom>
          <a:noFill/>
        </p:spPr>
        <p:txBody>
          <a:bodyPr wrap="none" lIns="0" rIns="0" tIns="0" bIns="0" anchor="ctr">
            <a:spAutoFit/>
          </a:bodyPr>
          <a:lstStyle/>
          <a:p>
            <a:pPr algn="r"/>
            <a:r>
              <a:rPr sz="900" b="1">
                <a:solidFill>
                  <a:srgbClr val="E44D3A"/>
                </a:solidFill>
                <a:latin typeface="Calibri"/>
              </a:rPr>
              <a:t>-125</a:t>
            </a:r>
          </a:p>
        </p:txBody>
      </p:sp>
      <p:sp>
        <p:nvSpPr>
          <p:cNvPr id="28" name="FMI Legend Chip"/>
          <p:cNvSpPr/>
          <p:nvPr/>
        </p:nvSpPr>
        <p:spPr>
          <a:xfrm>
            <a:off x="4928997" y="5478314"/>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a:off x="5090922" y="547355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4"/>
          <p:cNvSpPr txBox="1"/>
          <p:nvPr/>
        </p:nvSpPr>
        <p:spPr>
          <a:xfrm>
            <a:off x="5233797" y="539735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High-Barrier Films</a:t>
            </a:r>
          </a:p>
        </p:txBody>
      </p:sp>
      <p:sp>
        <p:nvSpPr>
          <p:cNvPr id="31" name="BPS Value 4"/>
          <p:cNvSpPr txBox="1"/>
          <p:nvPr/>
        </p:nvSpPr>
        <p:spPr>
          <a:xfrm>
            <a:off x="6896100" y="5459264"/>
            <a:ext cx="514350" cy="123825"/>
          </a:xfrm>
          <a:prstGeom prst="rect">
            <a:avLst/>
          </a:prstGeom>
          <a:noFill/>
        </p:spPr>
        <p:txBody>
          <a:bodyPr wrap="none" lIns="0" rIns="0" tIns="0" bIns="0" anchor="ctr">
            <a:spAutoFit/>
          </a:bodyPr>
          <a:lstStyle/>
          <a:p>
            <a:pPr algn="r"/>
            <a:r>
              <a:rPr sz="900" b="1">
                <a:solidFill>
                  <a:srgbClr val="2E7D32"/>
                </a:solidFill>
                <a:latin typeface="Calibri"/>
              </a:rPr>
              <a:t>+135</a:t>
            </a:r>
          </a:p>
        </p:txBody>
      </p:sp>
      <p:sp>
        <p:nvSpPr>
          <p:cNvPr id="32" name="Rounded Rectangle 31"/>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Barrier Level</a:t>
            </a:r>
          </a:p>
        </p:txBody>
      </p:sp>
      <p:sp>
        <p:nvSpPr>
          <p:cNvPr id="34" name="Rectangle 33"/>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Among flexible plastic packaging by barrier level, high-barrier films segment is expected to witness the highest CAGR of 7.0% over the forecast period. In terms of value share by barrier level, the high-barrier films segment is expected to dominate the market, gaining 135 BPS and accounting for 33.5% share by 2036.</a:t>
            </a:r>
          </a:p>
          <a:p>
            <a:pPr algn="l">
              <a:lnSpc>
                <a:spcPct val="110000"/>
              </a:lnSpc>
              <a:spcBef>
                <a:spcPts val="0"/>
              </a:spcBef>
              <a:spcAft>
                <a:spcPts val="500"/>
              </a:spcAft>
            </a:pPr>
            <a:r>
              <a:rPr sz="1150" b="0">
                <a:solidFill>
                  <a:srgbClr val="2E2E2E"/>
                </a:solidFill>
                <a:latin typeface="Calibri"/>
              </a:rPr>
              <a:t>The medium-barrier films segment is expected to lose 125 BPS over the forecast period to account for 32.1% share by 2036.</a:t>
            </a:r>
          </a:p>
          <a:p>
            <a:pPr algn="l">
              <a:lnSpc>
                <a:spcPct val="110000"/>
              </a:lnSpc>
              <a:spcBef>
                <a:spcPts val="0"/>
              </a:spcBef>
              <a:spcAft>
                <a:spcPts val="500"/>
              </a:spcAft>
            </a:pPr>
            <a:r>
              <a:rPr sz="1150" b="0">
                <a:solidFill>
                  <a:srgbClr val="2E2E2E"/>
                </a:solidFill>
                <a:latin typeface="Calibri"/>
              </a:rPr>
              <a:t>High-Barrier Films grow fastest at 7.0% against the 6.6% market because fresh protein, cheese, snacks and ready meals need longer shelf life and less food waste, and brand owners keep upgrading packs. Demand is reinforced by e-commerce, rising packaged-food consumption in emerging markets and brand-owner recyclability targets, while Medium-Barrier Films at 6.1% lose share to the trade-up.</a:t>
            </a:r>
          </a:p>
        </p:txBody>
      </p:sp>
      <p:sp>
        <p:nvSpPr>
          <p:cNvPr id="36" name="TextBox 3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YoY Analysis of Global Market Volume, By Barrier Level (%)</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Year-on-year volume growth by Barrier Level, 2022–2036, highlighting acceleration and slowdown</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1543050"/>
          </a:xfrm>
          <a:prstGeom prst="roundRect">
            <a:avLst>
              <a:gd name="adj" fmla="val 493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YoY Growth, By Barrier Level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3" name="Table 12"/>
          <p:cNvGraphicFramePr>
            <a:graphicFrameLocks noGrp="1"/>
          </p:cNvGraphicFramePr>
          <p:nvPr/>
        </p:nvGraphicFramePr>
        <p:xfrm>
          <a:off x="152400" y="1238250"/>
          <a:ext cx="11887203" cy="1076325"/>
        </p:xfrm>
        <a:graphic>
          <a:graphicData uri="http://schemas.openxmlformats.org/drawingml/2006/table">
            <a:tbl>
              <a:tblPr>
                <a:tableStyleId>{5C22544A-7EE6-4342-B048-85BDC9FD1C3A}</a:tableStyleId>
              </a:tblPr>
              <a:tblGrid>
                <a:gridCol w="1812063"/>
                <a:gridCol w="671676"/>
                <a:gridCol w="671676"/>
                <a:gridCol w="671676"/>
                <a:gridCol w="671676"/>
                <a:gridCol w="671676"/>
                <a:gridCol w="671676"/>
                <a:gridCol w="671676"/>
                <a:gridCol w="671676"/>
                <a:gridCol w="671676"/>
                <a:gridCol w="671676"/>
                <a:gridCol w="671676"/>
                <a:gridCol w="671676"/>
                <a:gridCol w="671676"/>
                <a:gridCol w="671676"/>
                <a:gridCol w="671676"/>
              </a:tblGrid>
              <a:tr h="215265">
                <a:tc>
                  <a:txBody>
                    <a:bodyPr wrap="none"/>
                    <a:lstStyle/>
                    <a:p>
                      <a:pPr algn="l"/>
                      <a:r>
                        <a:rPr sz="1100" b="1">
                          <a:solidFill>
                            <a:srgbClr val="0B2E4A"/>
                          </a:solidFill>
                          <a:latin typeface="Calibri"/>
                        </a:rPr>
                        <a:t>Barrier Level</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2036F</a:t>
                      </a:r>
                      <a:endParaRPr sz="1100"/>
                    </a:p>
                  </a:txBody>
                  <a:tcPr marL="47625" marR="38100" marT="19050" marB="19050" anchor="ctr">
                    <a:solidFill>
                      <a:srgbClr val="E0E8EF"/>
                    </a:solidFill>
                  </a:tcPr>
                </a:tc>
              </a:tr>
              <a:tr h="215265">
                <a:tc>
                  <a:txBody>
                    <a:bodyPr wrap="none"/>
                    <a:lstStyle/>
                    <a:p>
                      <a:pPr algn="l"/>
                      <a:r>
                        <a:rPr sz="1100" b="1">
                          <a:solidFill>
                            <a:srgbClr val="2E2E2E"/>
                          </a:solidFill>
                          <a:latin typeface="Calibri"/>
                        </a:rPr>
                        <a:t>Low-Barrier Films</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4.6%</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FFFFF"/>
                    </a:solidFill>
                  </a:tcPr>
                </a:tc>
              </a:tr>
              <a:tr h="215265">
                <a:tc>
                  <a:txBody>
                    <a:bodyPr wrap="none"/>
                    <a:lstStyle/>
                    <a:p>
                      <a:pPr algn="l"/>
                      <a:r>
                        <a:rPr sz="1100" b="1">
                          <a:solidFill>
                            <a:srgbClr val="2E2E2E"/>
                          </a:solidFill>
                          <a:latin typeface="Calibri"/>
                        </a:rPr>
                        <a:t>Medium-Barrier Films</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4.8%</a:t>
                      </a:r>
                      <a:endParaRPr sz="1100"/>
                    </a:p>
                  </a:txBody>
                  <a:tcPr marL="47625" marR="38100" marT="19050" marB="19050" anchor="ctr">
                    <a:solidFill>
                      <a:srgbClr val="F5F8FA"/>
                    </a:solidFill>
                  </a:tcPr>
                </a:tc>
              </a:tr>
              <a:tr h="215265">
                <a:tc>
                  <a:txBody>
                    <a:bodyPr wrap="none"/>
                    <a:lstStyle/>
                    <a:p>
                      <a:pPr algn="l"/>
                      <a:r>
                        <a:rPr sz="1100" b="1">
                          <a:solidFill>
                            <a:srgbClr val="2E2E2E"/>
                          </a:solidFill>
                          <a:latin typeface="Calibri"/>
                        </a:rPr>
                        <a:t>High-Barrier Films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6.0%</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6.0%</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r>
              <a:tr h="215265">
                <a:tc>
                  <a:txBody>
                    <a:bodyPr wrap="none"/>
                    <a:lstStyle/>
                    <a:p>
                      <a:pPr algn="l"/>
                      <a:r>
                        <a:rPr sz="1100" b="1">
                          <a:solidFill>
                            <a:srgbClr val="2E2E2E"/>
                          </a:solidFill>
                          <a:latin typeface="Calibri"/>
                        </a:rPr>
                        <a:t>Ultra-High-Barrier Films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23241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2657475"/>
            <a:ext cx="11906250" cy="3971925"/>
          </a:xfrm>
          <a:prstGeom prst="roundRect">
            <a:avLst>
              <a:gd name="adj" fmla="val 19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27146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YoY Heatmap, By Barrier Level (%)  ·  light = lower, dark = higher growth</a:t>
            </a:r>
          </a:p>
        </p:txBody>
      </p:sp>
      <p:sp>
        <p:nvSpPr>
          <p:cNvPr id="17" name="TextBox 16"/>
          <p:cNvSpPr txBox="1"/>
          <p:nvPr/>
        </p:nvSpPr>
        <p:spPr>
          <a:xfrm>
            <a:off x="1857375" y="2943225"/>
            <a:ext cx="643890" cy="142875"/>
          </a:xfrm>
          <a:prstGeom prst="rect">
            <a:avLst/>
          </a:prstGeom>
          <a:noFill/>
        </p:spPr>
        <p:txBody>
          <a:bodyPr wrap="none" lIns="0" rIns="0" tIns="0" bIns="0" anchor="ctr">
            <a:spAutoFit/>
          </a:bodyPr>
          <a:lstStyle/>
          <a:p>
            <a:pPr algn="ctr"/>
            <a:r>
              <a:rPr sz="1100" b="1">
                <a:solidFill>
                  <a:srgbClr val="6C7A89"/>
                </a:solidFill>
                <a:latin typeface="Calibri"/>
              </a:rPr>
              <a:t>2022</a:t>
            </a:r>
          </a:p>
        </p:txBody>
      </p:sp>
      <p:sp>
        <p:nvSpPr>
          <p:cNvPr id="18" name="TextBox 17"/>
          <p:cNvSpPr txBox="1"/>
          <p:nvPr/>
        </p:nvSpPr>
        <p:spPr>
          <a:xfrm>
            <a:off x="2501265" y="2943225"/>
            <a:ext cx="643890" cy="142875"/>
          </a:xfrm>
          <a:prstGeom prst="rect">
            <a:avLst/>
          </a:prstGeom>
          <a:noFill/>
        </p:spPr>
        <p:txBody>
          <a:bodyPr wrap="none" lIns="0" rIns="0" tIns="0" bIns="0" anchor="ctr">
            <a:spAutoFit/>
          </a:bodyPr>
          <a:lstStyle/>
          <a:p>
            <a:pPr algn="ctr"/>
            <a:r>
              <a:rPr sz="1100" b="1">
                <a:solidFill>
                  <a:srgbClr val="6C7A89"/>
                </a:solidFill>
                <a:latin typeface="Calibri"/>
              </a:rPr>
              <a:t>2023</a:t>
            </a:r>
          </a:p>
        </p:txBody>
      </p:sp>
      <p:sp>
        <p:nvSpPr>
          <p:cNvPr id="19" name="TextBox 18"/>
          <p:cNvSpPr txBox="1"/>
          <p:nvPr/>
        </p:nvSpPr>
        <p:spPr>
          <a:xfrm>
            <a:off x="3145155" y="2943225"/>
            <a:ext cx="643890" cy="142875"/>
          </a:xfrm>
          <a:prstGeom prst="rect">
            <a:avLst/>
          </a:prstGeom>
          <a:noFill/>
        </p:spPr>
        <p:txBody>
          <a:bodyPr wrap="none" lIns="0" rIns="0" tIns="0" bIns="0" anchor="ctr">
            <a:spAutoFit/>
          </a:bodyPr>
          <a:lstStyle/>
          <a:p>
            <a:pPr algn="ctr"/>
            <a:r>
              <a:rPr sz="1100" b="1">
                <a:solidFill>
                  <a:srgbClr val="6C7A89"/>
                </a:solidFill>
                <a:latin typeface="Calibri"/>
              </a:rPr>
              <a:t>2024</a:t>
            </a:r>
          </a:p>
        </p:txBody>
      </p:sp>
      <p:sp>
        <p:nvSpPr>
          <p:cNvPr id="20" name="TextBox 19"/>
          <p:cNvSpPr txBox="1"/>
          <p:nvPr/>
        </p:nvSpPr>
        <p:spPr>
          <a:xfrm>
            <a:off x="3789045" y="2943225"/>
            <a:ext cx="643890" cy="142875"/>
          </a:xfrm>
          <a:prstGeom prst="rect">
            <a:avLst/>
          </a:prstGeom>
          <a:noFill/>
        </p:spPr>
        <p:txBody>
          <a:bodyPr wrap="none" lIns="0" rIns="0" tIns="0" bIns="0" anchor="ctr">
            <a:spAutoFit/>
          </a:bodyPr>
          <a:lstStyle/>
          <a:p>
            <a:pPr algn="ctr"/>
            <a:r>
              <a:rPr sz="1100" b="1">
                <a:solidFill>
                  <a:srgbClr val="6C7A89"/>
                </a:solidFill>
                <a:latin typeface="Calibri"/>
              </a:rPr>
              <a:t>2025</a:t>
            </a:r>
          </a:p>
        </p:txBody>
      </p:sp>
      <p:sp>
        <p:nvSpPr>
          <p:cNvPr id="21" name="TextBox 20"/>
          <p:cNvSpPr txBox="1"/>
          <p:nvPr/>
        </p:nvSpPr>
        <p:spPr>
          <a:xfrm>
            <a:off x="4432935" y="2943225"/>
            <a:ext cx="643890" cy="142875"/>
          </a:xfrm>
          <a:prstGeom prst="rect">
            <a:avLst/>
          </a:prstGeom>
          <a:noFill/>
        </p:spPr>
        <p:txBody>
          <a:bodyPr wrap="none" lIns="0" rIns="0" tIns="0" bIns="0" anchor="ctr">
            <a:spAutoFit/>
          </a:bodyPr>
          <a:lstStyle/>
          <a:p>
            <a:pPr algn="ctr"/>
            <a:r>
              <a:rPr sz="1100" b="1">
                <a:solidFill>
                  <a:srgbClr val="6C7A89"/>
                </a:solidFill>
                <a:latin typeface="Calibri"/>
              </a:rPr>
              <a:t>2026</a:t>
            </a:r>
          </a:p>
        </p:txBody>
      </p:sp>
      <p:sp>
        <p:nvSpPr>
          <p:cNvPr id="22" name="TextBox 21"/>
          <p:cNvSpPr txBox="1"/>
          <p:nvPr/>
        </p:nvSpPr>
        <p:spPr>
          <a:xfrm>
            <a:off x="5076825" y="2943225"/>
            <a:ext cx="643890" cy="142875"/>
          </a:xfrm>
          <a:prstGeom prst="rect">
            <a:avLst/>
          </a:prstGeom>
          <a:noFill/>
        </p:spPr>
        <p:txBody>
          <a:bodyPr wrap="none" lIns="0" rIns="0" tIns="0" bIns="0" anchor="ctr">
            <a:spAutoFit/>
          </a:bodyPr>
          <a:lstStyle/>
          <a:p>
            <a:pPr algn="ctr"/>
            <a:r>
              <a:rPr sz="1100" b="1">
                <a:solidFill>
                  <a:srgbClr val="6C7A89"/>
                </a:solidFill>
                <a:latin typeface="Calibri"/>
              </a:rPr>
              <a:t>2027</a:t>
            </a:r>
          </a:p>
        </p:txBody>
      </p:sp>
      <p:sp>
        <p:nvSpPr>
          <p:cNvPr id="23" name="TextBox 22"/>
          <p:cNvSpPr txBox="1"/>
          <p:nvPr/>
        </p:nvSpPr>
        <p:spPr>
          <a:xfrm>
            <a:off x="5720715" y="2943225"/>
            <a:ext cx="643890" cy="142875"/>
          </a:xfrm>
          <a:prstGeom prst="rect">
            <a:avLst/>
          </a:prstGeom>
          <a:noFill/>
        </p:spPr>
        <p:txBody>
          <a:bodyPr wrap="none" lIns="0" rIns="0" tIns="0" bIns="0" anchor="ctr">
            <a:spAutoFit/>
          </a:bodyPr>
          <a:lstStyle/>
          <a:p>
            <a:pPr algn="ctr"/>
            <a:r>
              <a:rPr sz="1100" b="1">
                <a:solidFill>
                  <a:srgbClr val="6C7A89"/>
                </a:solidFill>
                <a:latin typeface="Calibri"/>
              </a:rPr>
              <a:t>2028</a:t>
            </a:r>
          </a:p>
        </p:txBody>
      </p:sp>
      <p:sp>
        <p:nvSpPr>
          <p:cNvPr id="24" name="TextBox 23"/>
          <p:cNvSpPr txBox="1"/>
          <p:nvPr/>
        </p:nvSpPr>
        <p:spPr>
          <a:xfrm>
            <a:off x="6364605" y="2943225"/>
            <a:ext cx="643890" cy="142875"/>
          </a:xfrm>
          <a:prstGeom prst="rect">
            <a:avLst/>
          </a:prstGeom>
          <a:noFill/>
        </p:spPr>
        <p:txBody>
          <a:bodyPr wrap="none" lIns="0" rIns="0" tIns="0" bIns="0" anchor="ctr">
            <a:spAutoFit/>
          </a:bodyPr>
          <a:lstStyle/>
          <a:p>
            <a:pPr algn="ctr"/>
            <a:r>
              <a:rPr sz="1100" b="1">
                <a:solidFill>
                  <a:srgbClr val="6C7A89"/>
                </a:solidFill>
                <a:latin typeface="Calibri"/>
              </a:rPr>
              <a:t>2029</a:t>
            </a:r>
          </a:p>
        </p:txBody>
      </p:sp>
      <p:sp>
        <p:nvSpPr>
          <p:cNvPr id="25" name="TextBox 24"/>
          <p:cNvSpPr txBox="1"/>
          <p:nvPr/>
        </p:nvSpPr>
        <p:spPr>
          <a:xfrm>
            <a:off x="7008495" y="2943225"/>
            <a:ext cx="643890" cy="142875"/>
          </a:xfrm>
          <a:prstGeom prst="rect">
            <a:avLst/>
          </a:prstGeom>
          <a:noFill/>
        </p:spPr>
        <p:txBody>
          <a:bodyPr wrap="none" lIns="0" rIns="0" tIns="0" bIns="0" anchor="ctr">
            <a:spAutoFit/>
          </a:bodyPr>
          <a:lstStyle/>
          <a:p>
            <a:pPr algn="ctr"/>
            <a:r>
              <a:rPr sz="1100" b="1">
                <a:solidFill>
                  <a:srgbClr val="6C7A89"/>
                </a:solidFill>
                <a:latin typeface="Calibri"/>
              </a:rPr>
              <a:t>2030</a:t>
            </a:r>
          </a:p>
        </p:txBody>
      </p:sp>
      <p:sp>
        <p:nvSpPr>
          <p:cNvPr id="26" name="TextBox 25"/>
          <p:cNvSpPr txBox="1"/>
          <p:nvPr/>
        </p:nvSpPr>
        <p:spPr>
          <a:xfrm>
            <a:off x="7652385" y="2943225"/>
            <a:ext cx="643890" cy="142875"/>
          </a:xfrm>
          <a:prstGeom prst="rect">
            <a:avLst/>
          </a:prstGeom>
          <a:noFill/>
        </p:spPr>
        <p:txBody>
          <a:bodyPr wrap="none" lIns="0" rIns="0" tIns="0" bIns="0" anchor="ctr">
            <a:spAutoFit/>
          </a:bodyPr>
          <a:lstStyle/>
          <a:p>
            <a:pPr algn="ctr"/>
            <a:r>
              <a:rPr sz="1100" b="1">
                <a:solidFill>
                  <a:srgbClr val="6C7A89"/>
                </a:solidFill>
                <a:latin typeface="Calibri"/>
              </a:rPr>
              <a:t>2031</a:t>
            </a:r>
          </a:p>
        </p:txBody>
      </p:sp>
      <p:sp>
        <p:nvSpPr>
          <p:cNvPr id="27" name="TextBox 26"/>
          <p:cNvSpPr txBox="1"/>
          <p:nvPr/>
        </p:nvSpPr>
        <p:spPr>
          <a:xfrm>
            <a:off x="8296275" y="2943225"/>
            <a:ext cx="643890" cy="142875"/>
          </a:xfrm>
          <a:prstGeom prst="rect">
            <a:avLst/>
          </a:prstGeom>
          <a:noFill/>
        </p:spPr>
        <p:txBody>
          <a:bodyPr wrap="none" lIns="0" rIns="0" tIns="0" bIns="0" anchor="ctr">
            <a:spAutoFit/>
          </a:bodyPr>
          <a:lstStyle/>
          <a:p>
            <a:pPr algn="ctr"/>
            <a:r>
              <a:rPr sz="1100" b="1">
                <a:solidFill>
                  <a:srgbClr val="6C7A89"/>
                </a:solidFill>
                <a:latin typeface="Calibri"/>
              </a:rPr>
              <a:t>2032</a:t>
            </a:r>
          </a:p>
        </p:txBody>
      </p:sp>
      <p:sp>
        <p:nvSpPr>
          <p:cNvPr id="28" name="TextBox 27"/>
          <p:cNvSpPr txBox="1"/>
          <p:nvPr/>
        </p:nvSpPr>
        <p:spPr>
          <a:xfrm>
            <a:off x="8940165" y="2943225"/>
            <a:ext cx="643890" cy="142875"/>
          </a:xfrm>
          <a:prstGeom prst="rect">
            <a:avLst/>
          </a:prstGeom>
          <a:noFill/>
        </p:spPr>
        <p:txBody>
          <a:bodyPr wrap="none" lIns="0" rIns="0" tIns="0" bIns="0" anchor="ctr">
            <a:spAutoFit/>
          </a:bodyPr>
          <a:lstStyle/>
          <a:p>
            <a:pPr algn="ctr"/>
            <a:r>
              <a:rPr sz="1100" b="1">
                <a:solidFill>
                  <a:srgbClr val="6C7A89"/>
                </a:solidFill>
                <a:latin typeface="Calibri"/>
              </a:rPr>
              <a:t>2033</a:t>
            </a:r>
          </a:p>
        </p:txBody>
      </p:sp>
      <p:sp>
        <p:nvSpPr>
          <p:cNvPr id="29" name="TextBox 28"/>
          <p:cNvSpPr txBox="1"/>
          <p:nvPr/>
        </p:nvSpPr>
        <p:spPr>
          <a:xfrm>
            <a:off x="9584055" y="2943225"/>
            <a:ext cx="643890" cy="142875"/>
          </a:xfrm>
          <a:prstGeom prst="rect">
            <a:avLst/>
          </a:prstGeom>
          <a:noFill/>
        </p:spPr>
        <p:txBody>
          <a:bodyPr wrap="none" lIns="0" rIns="0" tIns="0" bIns="0" anchor="ctr">
            <a:spAutoFit/>
          </a:bodyPr>
          <a:lstStyle/>
          <a:p>
            <a:pPr algn="ctr"/>
            <a:r>
              <a:rPr sz="1100" b="1">
                <a:solidFill>
                  <a:srgbClr val="6C7A89"/>
                </a:solidFill>
                <a:latin typeface="Calibri"/>
              </a:rPr>
              <a:t>2034</a:t>
            </a:r>
          </a:p>
        </p:txBody>
      </p:sp>
      <p:sp>
        <p:nvSpPr>
          <p:cNvPr id="30" name="TextBox 29"/>
          <p:cNvSpPr txBox="1"/>
          <p:nvPr/>
        </p:nvSpPr>
        <p:spPr>
          <a:xfrm>
            <a:off x="10227945" y="2943225"/>
            <a:ext cx="643890" cy="142875"/>
          </a:xfrm>
          <a:prstGeom prst="rect">
            <a:avLst/>
          </a:prstGeom>
          <a:noFill/>
        </p:spPr>
        <p:txBody>
          <a:bodyPr wrap="none" lIns="0" rIns="0" tIns="0" bIns="0" anchor="ctr">
            <a:spAutoFit/>
          </a:bodyPr>
          <a:lstStyle/>
          <a:p>
            <a:pPr algn="ctr"/>
            <a:r>
              <a:rPr sz="1100" b="1">
                <a:solidFill>
                  <a:srgbClr val="6C7A89"/>
                </a:solidFill>
                <a:latin typeface="Calibri"/>
              </a:rPr>
              <a:t>2035</a:t>
            </a:r>
          </a:p>
        </p:txBody>
      </p:sp>
      <p:sp>
        <p:nvSpPr>
          <p:cNvPr id="31" name="TextBox 30"/>
          <p:cNvSpPr txBox="1"/>
          <p:nvPr/>
        </p:nvSpPr>
        <p:spPr>
          <a:xfrm>
            <a:off x="10871835" y="2943225"/>
            <a:ext cx="643890" cy="142875"/>
          </a:xfrm>
          <a:prstGeom prst="rect">
            <a:avLst/>
          </a:prstGeom>
          <a:noFill/>
        </p:spPr>
        <p:txBody>
          <a:bodyPr wrap="none" lIns="0" rIns="0" tIns="0" bIns="0" anchor="ctr">
            <a:spAutoFit/>
          </a:bodyPr>
          <a:lstStyle/>
          <a:p>
            <a:pPr algn="ctr"/>
            <a:r>
              <a:rPr sz="1100" b="1">
                <a:solidFill>
                  <a:srgbClr val="6C7A89"/>
                </a:solidFill>
                <a:latin typeface="Calibri"/>
              </a:rPr>
              <a:t>2036</a:t>
            </a:r>
          </a:p>
        </p:txBody>
      </p:sp>
      <p:sp>
        <p:nvSpPr>
          <p:cNvPr id="32" name="TextBox 31"/>
          <p:cNvSpPr txBox="1"/>
          <p:nvPr/>
        </p:nvSpPr>
        <p:spPr>
          <a:xfrm>
            <a:off x="238125" y="3086100"/>
            <a:ext cx="1590675" cy="871538"/>
          </a:xfrm>
          <a:prstGeom prst="rect">
            <a:avLst/>
          </a:prstGeom>
          <a:noFill/>
        </p:spPr>
        <p:txBody>
          <a:bodyPr wrap="square" lIns="28575" rIns="28575" tIns="9525" bIns="9525" anchor="ctr">
            <a:spAutoFit/>
          </a:bodyPr>
          <a:lstStyle/>
          <a:p>
            <a:pPr algn="l"/>
            <a:r>
              <a:rPr sz="1100" b="0">
                <a:solidFill>
                  <a:srgbClr val="2E2E2E"/>
                </a:solidFill>
                <a:latin typeface="Calibri"/>
              </a:rPr>
              <a:t>Low-Barrier Films</a:t>
            </a:r>
          </a:p>
        </p:txBody>
      </p:sp>
      <p:sp>
        <p:nvSpPr>
          <p:cNvPr id="33" name="Rectangle 32"/>
          <p:cNvSpPr/>
          <p:nvPr/>
        </p:nvSpPr>
        <p:spPr>
          <a:xfrm>
            <a:off x="1857375" y="3086100"/>
            <a:ext cx="643890" cy="871538"/>
          </a:xfrm>
          <a:prstGeom prst="rect">
            <a:avLst/>
          </a:prstGeom>
          <a:solidFill>
            <a:srgbClr val="E7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501265" y="3086100"/>
            <a:ext cx="643890" cy="871538"/>
          </a:xfrm>
          <a:prstGeom prst="rect">
            <a:avLst/>
          </a:prstGeom>
          <a:solidFill>
            <a:srgbClr val="E4F1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145155" y="3086100"/>
            <a:ext cx="643890" cy="871538"/>
          </a:xfrm>
          <a:prstGeom prst="rect">
            <a:avLst/>
          </a:prstGeom>
          <a:solidFill>
            <a:srgbClr val="E1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789045" y="3086100"/>
            <a:ext cx="643890" cy="871538"/>
          </a:xfrm>
          <a:prstGeom prst="rect">
            <a:avLst/>
          </a:prstGeom>
          <a:solidFill>
            <a:srgbClr val="DA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432935" y="3086100"/>
            <a:ext cx="643890" cy="871538"/>
          </a:xfrm>
          <a:prstGeom prst="rect">
            <a:avLst/>
          </a:prstGeom>
          <a:solidFill>
            <a:srgbClr val="CADD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76825" y="3086100"/>
            <a:ext cx="643890" cy="871538"/>
          </a:xfrm>
          <a:prstGeom prst="rect">
            <a:avLst/>
          </a:prstGeom>
          <a:solidFill>
            <a:srgbClr val="B1CE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720715" y="3086100"/>
            <a:ext cx="643890" cy="871538"/>
          </a:xfrm>
          <a:prstGeom prst="rect">
            <a:avLst/>
          </a:prstGeom>
          <a:solidFill>
            <a:srgbClr val="93BE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364605" y="3086100"/>
            <a:ext cx="643890" cy="871538"/>
          </a:xfrm>
          <a:prstGeom prst="rect">
            <a:avLst/>
          </a:prstGeom>
          <a:solidFill>
            <a:srgbClr val="68A6C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008495" y="3086100"/>
            <a:ext cx="643890" cy="871538"/>
          </a:xfrm>
          <a:prstGeom prst="rect">
            <a:avLst/>
          </a:prstGeom>
          <a:solidFill>
            <a:srgbClr val="3D8E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652385" y="3086100"/>
            <a:ext cx="643890" cy="871538"/>
          </a:xfrm>
          <a:prstGeom prst="rect">
            <a:avLst/>
          </a:prstGeom>
          <a:solidFill>
            <a:srgbClr val="2C84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296275" y="3086100"/>
            <a:ext cx="643890" cy="871538"/>
          </a:xfrm>
          <a:prstGeom prst="rect">
            <a:avLst/>
          </a:prstGeom>
          <a:solidFill>
            <a:srgbClr val="2781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940165" y="3086100"/>
            <a:ext cx="643890" cy="871538"/>
          </a:xfrm>
          <a:prstGeom prst="rect">
            <a:avLst/>
          </a:prstGeom>
          <a:solidFill>
            <a:srgbClr val="2F86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584055" y="3086100"/>
            <a:ext cx="643890" cy="871538"/>
          </a:xfrm>
          <a:prstGeom prst="rect">
            <a:avLst/>
          </a:prstGeom>
          <a:solidFill>
            <a:srgbClr val="3A8D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227945" y="3086100"/>
            <a:ext cx="643890" cy="871538"/>
          </a:xfrm>
          <a:prstGeom prst="rect">
            <a:avLst/>
          </a:prstGeom>
          <a:solidFill>
            <a:srgbClr val="559BC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871835" y="3086100"/>
            <a:ext cx="643890" cy="871538"/>
          </a:xfrm>
          <a:prstGeom prst="rect">
            <a:avLst/>
          </a:prstGeom>
          <a:solidFill>
            <a:srgbClr val="71ABD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38125" y="3957638"/>
            <a:ext cx="1590675" cy="871538"/>
          </a:xfrm>
          <a:prstGeom prst="rect">
            <a:avLst/>
          </a:prstGeom>
          <a:noFill/>
        </p:spPr>
        <p:txBody>
          <a:bodyPr wrap="square" lIns="28575" rIns="28575" tIns="9525" bIns="9525" anchor="ctr">
            <a:spAutoFit/>
          </a:bodyPr>
          <a:lstStyle/>
          <a:p>
            <a:pPr algn="l"/>
            <a:r>
              <a:rPr sz="1100" b="0">
                <a:solidFill>
                  <a:srgbClr val="2E2E2E"/>
                </a:solidFill>
                <a:latin typeface="Calibri"/>
              </a:rPr>
              <a:t>Medium-Barrier Films</a:t>
            </a:r>
          </a:p>
        </p:txBody>
      </p:sp>
      <p:sp>
        <p:nvSpPr>
          <p:cNvPr id="49" name="Rectangle 48"/>
          <p:cNvSpPr/>
          <p:nvPr/>
        </p:nvSpPr>
        <p:spPr>
          <a:xfrm>
            <a:off x="1857375" y="3957638"/>
            <a:ext cx="643890" cy="871538"/>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501265" y="3957638"/>
            <a:ext cx="643890" cy="871538"/>
          </a:xfrm>
          <a:prstGeom prst="rect">
            <a:avLst/>
          </a:prstGeom>
          <a:solidFill>
            <a:srgbClr val="FCFE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145155" y="3957638"/>
            <a:ext cx="643890" cy="871538"/>
          </a:xfrm>
          <a:prstGeom prst="rect">
            <a:avLst/>
          </a:prstGeom>
          <a:solidFill>
            <a:srgbClr val="FA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789045" y="3957638"/>
            <a:ext cx="643890" cy="871538"/>
          </a:xfrm>
          <a:prstGeom prst="rect">
            <a:avLst/>
          </a:prstGeom>
          <a:solidFill>
            <a:srgbClr val="F5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432935" y="3957638"/>
            <a:ext cx="643890" cy="871538"/>
          </a:xfrm>
          <a:prstGeom prst="rect">
            <a:avLst/>
          </a:prstGeom>
          <a:solidFill>
            <a:srgbClr val="E8F5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076825" y="3957638"/>
            <a:ext cx="643890" cy="871538"/>
          </a:xfrm>
          <a:prstGeom prst="rect">
            <a:avLst/>
          </a:prstGeom>
          <a:solidFill>
            <a:srgbClr val="D9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720715" y="3957638"/>
            <a:ext cx="643890" cy="871538"/>
          </a:xfrm>
          <a:prstGeom prst="rect">
            <a:avLst/>
          </a:prstGeom>
          <a:solidFill>
            <a:srgbClr val="C8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364605" y="3957638"/>
            <a:ext cx="643890" cy="871538"/>
          </a:xfrm>
          <a:prstGeom prst="rect">
            <a:avLst/>
          </a:prstGeom>
          <a:solidFill>
            <a:srgbClr val="ABCB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7008495" y="3957638"/>
            <a:ext cx="643890" cy="871538"/>
          </a:xfrm>
          <a:prstGeom prst="rect">
            <a:avLst/>
          </a:prstGeom>
          <a:solidFill>
            <a:srgbClr val="8AB8D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652385" y="3957638"/>
            <a:ext cx="643890" cy="871538"/>
          </a:xfrm>
          <a:prstGeom prst="rect">
            <a:avLst/>
          </a:prstGeom>
          <a:solidFill>
            <a:srgbClr val="68A6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296275" y="3957638"/>
            <a:ext cx="643890" cy="871538"/>
          </a:xfrm>
          <a:prstGeom prst="rect">
            <a:avLst/>
          </a:prstGeom>
          <a:solidFill>
            <a:srgbClr val="539AC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940165" y="3957638"/>
            <a:ext cx="643890" cy="871538"/>
          </a:xfrm>
          <a:prstGeom prst="rect">
            <a:avLst/>
          </a:prstGeom>
          <a:solidFill>
            <a:srgbClr val="529A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584055" y="3957638"/>
            <a:ext cx="643890" cy="871538"/>
          </a:xfrm>
          <a:prstGeom prst="rect">
            <a:avLst/>
          </a:prstGeom>
          <a:solidFill>
            <a:srgbClr val="5FA1C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0227945" y="3957638"/>
            <a:ext cx="643890" cy="871538"/>
          </a:xfrm>
          <a:prstGeom prst="rect">
            <a:avLst/>
          </a:prstGeom>
          <a:solidFill>
            <a:srgbClr val="7AAFD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0871835" y="3957638"/>
            <a:ext cx="643890" cy="871538"/>
          </a:xfrm>
          <a:prstGeom prst="rect">
            <a:avLst/>
          </a:prstGeom>
          <a:solidFill>
            <a:srgbClr val="93BD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38125" y="4829175"/>
            <a:ext cx="1590675" cy="871538"/>
          </a:xfrm>
          <a:prstGeom prst="rect">
            <a:avLst/>
          </a:prstGeom>
          <a:noFill/>
        </p:spPr>
        <p:txBody>
          <a:bodyPr wrap="square" lIns="28575" rIns="28575" tIns="9525" bIns="9525" anchor="ctr">
            <a:spAutoFit/>
          </a:bodyPr>
          <a:lstStyle/>
          <a:p>
            <a:pPr algn="l"/>
            <a:r>
              <a:rPr sz="1100" b="0">
                <a:solidFill>
                  <a:srgbClr val="2E2E2E"/>
                </a:solidFill>
                <a:latin typeface="Calibri"/>
              </a:rPr>
              <a:t>High-Barrier Films</a:t>
            </a:r>
          </a:p>
        </p:txBody>
      </p:sp>
      <p:sp>
        <p:nvSpPr>
          <p:cNvPr id="65" name="Rectangle 64"/>
          <p:cNvSpPr/>
          <p:nvPr/>
        </p:nvSpPr>
        <p:spPr>
          <a:xfrm>
            <a:off x="1857375" y="4829175"/>
            <a:ext cx="643890" cy="871538"/>
          </a:xfrm>
          <a:prstGeom prst="rect">
            <a:avLst/>
          </a:prstGeom>
          <a:solidFill>
            <a:srgbClr val="D1E2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2501265" y="4829175"/>
            <a:ext cx="643890" cy="871538"/>
          </a:xfrm>
          <a:prstGeom prst="rect">
            <a:avLst/>
          </a:prstGeom>
          <a:solidFill>
            <a:srgbClr val="C8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3145155" y="4829175"/>
            <a:ext cx="643890" cy="871538"/>
          </a:xfrm>
          <a:prstGeom prst="rect">
            <a:avLst/>
          </a:prstGeom>
          <a:solidFill>
            <a:srgbClr val="B7D2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3789045" y="4829175"/>
            <a:ext cx="643890" cy="871538"/>
          </a:xfrm>
          <a:prstGeom prst="rect">
            <a:avLst/>
          </a:prstGeom>
          <a:solidFill>
            <a:srgbClr val="A7C9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4432935" y="4829175"/>
            <a:ext cx="643890" cy="871538"/>
          </a:xfrm>
          <a:prstGeom prst="rect">
            <a:avLst/>
          </a:prstGeom>
          <a:solidFill>
            <a:srgbClr val="88B7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076825" y="4829175"/>
            <a:ext cx="643890" cy="871538"/>
          </a:xfrm>
          <a:prstGeom prst="rect">
            <a:avLst/>
          </a:prstGeom>
          <a:solidFill>
            <a:srgbClr val="5DA0C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5720715" y="4829175"/>
            <a:ext cx="643890" cy="871538"/>
          </a:xfrm>
          <a:prstGeom prst="rect">
            <a:avLst/>
          </a:prstGeom>
          <a:solidFill>
            <a:srgbClr val="3489C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364605" y="4829175"/>
            <a:ext cx="643890" cy="871538"/>
          </a:xfrm>
          <a:prstGeom prst="rect">
            <a:avLst/>
          </a:prstGeom>
          <a:solidFill>
            <a:srgbClr val="1A79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7008495" y="4829175"/>
            <a:ext cx="643890" cy="871538"/>
          </a:xfrm>
          <a:prstGeom prst="rect">
            <a:avLst/>
          </a:prstGeom>
          <a:solidFill>
            <a:srgbClr val="0D5F9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7652385" y="4829175"/>
            <a:ext cx="643890" cy="871538"/>
          </a:xfrm>
          <a:prstGeom prst="rect">
            <a:avLst/>
          </a:prstGeom>
          <a:solidFill>
            <a:srgbClr val="0C406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8296275" y="4829175"/>
            <a:ext cx="643890" cy="871538"/>
          </a:xfrm>
          <a:prstGeom prst="rect">
            <a:avLst/>
          </a:prstGeom>
          <a:solidFill>
            <a:srgbClr val="0B2F4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940165" y="4829175"/>
            <a:ext cx="643890" cy="871538"/>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9584055" y="4829175"/>
            <a:ext cx="643890" cy="871538"/>
          </a:xfrm>
          <a:prstGeom prst="rect">
            <a:avLst/>
          </a:prstGeom>
          <a:solidFill>
            <a:srgbClr val="0C3E6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0227945" y="4829175"/>
            <a:ext cx="643890" cy="871538"/>
          </a:xfrm>
          <a:prstGeom prst="rect">
            <a:avLst/>
          </a:prstGeom>
          <a:solidFill>
            <a:srgbClr val="0D5F9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0871835" y="4829175"/>
            <a:ext cx="643890" cy="871538"/>
          </a:xfrm>
          <a:prstGeom prst="rect">
            <a:avLst/>
          </a:prstGeom>
          <a:solidFill>
            <a:srgbClr val="1A79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38125" y="5700712"/>
            <a:ext cx="1590675" cy="871538"/>
          </a:xfrm>
          <a:prstGeom prst="rect">
            <a:avLst/>
          </a:prstGeom>
          <a:noFill/>
        </p:spPr>
        <p:txBody>
          <a:bodyPr wrap="square" lIns="28575" rIns="28575" tIns="9525" bIns="9525" anchor="ctr">
            <a:spAutoFit/>
          </a:bodyPr>
          <a:lstStyle/>
          <a:p>
            <a:pPr algn="l"/>
            <a:r>
              <a:rPr sz="1100" b="0">
                <a:solidFill>
                  <a:srgbClr val="2E2E2E"/>
                </a:solidFill>
                <a:latin typeface="Calibri"/>
              </a:rPr>
              <a:t>Ultra-High-Barrier Films</a:t>
            </a:r>
          </a:p>
        </p:txBody>
      </p:sp>
      <p:sp>
        <p:nvSpPr>
          <p:cNvPr id="81" name="Rectangle 80"/>
          <p:cNvSpPr/>
          <p:nvPr/>
        </p:nvSpPr>
        <p:spPr>
          <a:xfrm>
            <a:off x="1857375" y="5700712"/>
            <a:ext cx="643890" cy="871538"/>
          </a:xfrm>
          <a:prstGeom prst="rect">
            <a:avLst/>
          </a:prstGeom>
          <a:solidFill>
            <a:srgbClr val="9DC3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2501265" y="5700712"/>
            <a:ext cx="643890" cy="871538"/>
          </a:xfrm>
          <a:prstGeom prst="rect">
            <a:avLst/>
          </a:prstGeom>
          <a:solidFill>
            <a:srgbClr val="9DC3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3145155" y="5700712"/>
            <a:ext cx="643890" cy="871538"/>
          </a:xfrm>
          <a:prstGeom prst="rect">
            <a:avLst/>
          </a:prstGeom>
          <a:solidFill>
            <a:srgbClr val="8EBA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789045" y="5700712"/>
            <a:ext cx="643890" cy="871538"/>
          </a:xfrm>
          <a:prstGeom prst="rect">
            <a:avLst/>
          </a:prstGeom>
          <a:solidFill>
            <a:srgbClr val="7AB0D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4432935" y="5700712"/>
            <a:ext cx="643890" cy="871538"/>
          </a:xfrm>
          <a:prstGeom prst="rect">
            <a:avLst/>
          </a:prstGeom>
          <a:solidFill>
            <a:srgbClr val="65A4C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5076825" y="5700712"/>
            <a:ext cx="643890" cy="871538"/>
          </a:xfrm>
          <a:prstGeom prst="rect">
            <a:avLst/>
          </a:prstGeom>
          <a:solidFill>
            <a:srgbClr val="5A9E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5720715" y="5700712"/>
            <a:ext cx="643890" cy="871538"/>
          </a:xfrm>
          <a:prstGeom prst="rect">
            <a:avLst/>
          </a:prstGeom>
          <a:solidFill>
            <a:srgbClr val="529A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6364605" y="5700712"/>
            <a:ext cx="643890" cy="871538"/>
          </a:xfrm>
          <a:prstGeom prst="rect">
            <a:avLst/>
          </a:prstGeom>
          <a:solidFill>
            <a:srgbClr val="4794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7008495" y="5700712"/>
            <a:ext cx="643890" cy="871538"/>
          </a:xfrm>
          <a:prstGeom prst="rect">
            <a:avLst/>
          </a:prstGeom>
          <a:solidFill>
            <a:srgbClr val="3288B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7652385" y="5700712"/>
            <a:ext cx="643890" cy="871538"/>
          </a:xfrm>
          <a:prstGeom prst="rect">
            <a:avLst/>
          </a:prstGeom>
          <a:solidFill>
            <a:srgbClr val="247F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8296275" y="5700712"/>
            <a:ext cx="643890" cy="871538"/>
          </a:xfrm>
          <a:prstGeom prst="rect">
            <a:avLst/>
          </a:prstGeom>
          <a:solidFill>
            <a:srgbClr val="1A79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8940165" y="5700712"/>
            <a:ext cx="643890" cy="871538"/>
          </a:xfrm>
          <a:prstGeom prst="rect">
            <a:avLst/>
          </a:prstGeom>
          <a:solidFill>
            <a:srgbClr val="217DB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9584055" y="5700712"/>
            <a:ext cx="643890" cy="871538"/>
          </a:xfrm>
          <a:prstGeom prst="rect">
            <a:avLst/>
          </a:prstGeom>
          <a:solidFill>
            <a:srgbClr val="2D85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10227945" y="5700712"/>
            <a:ext cx="643890" cy="871538"/>
          </a:xfrm>
          <a:prstGeom prst="rect">
            <a:avLst/>
          </a:prstGeom>
          <a:solidFill>
            <a:srgbClr val="4190C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0871835" y="5700712"/>
            <a:ext cx="643890" cy="871538"/>
          </a:xfrm>
          <a:prstGeom prst="rect">
            <a:avLst/>
          </a:prstGeom>
          <a:solidFill>
            <a:srgbClr val="5C9F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1572875" y="3124200"/>
            <a:ext cx="104775" cy="92869"/>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1572875" y="3209449"/>
            <a:ext cx="104775" cy="92869"/>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1572875" y="3294698"/>
            <a:ext cx="104775" cy="92869"/>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1572875" y="3379946"/>
            <a:ext cx="104775" cy="92869"/>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11572875" y="3465195"/>
            <a:ext cx="104775" cy="92869"/>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1572875" y="3550444"/>
            <a:ext cx="104775" cy="92869"/>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11572875" y="3635692"/>
            <a:ext cx="104775" cy="92869"/>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11572875" y="3720941"/>
            <a:ext cx="104775" cy="92869"/>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11572875" y="3806190"/>
            <a:ext cx="104775" cy="92869"/>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1572875" y="3891439"/>
            <a:ext cx="104775" cy="92869"/>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1572875" y="3976688"/>
            <a:ext cx="104775" cy="92869"/>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11572875" y="4061936"/>
            <a:ext cx="104775" cy="92869"/>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1572875" y="4147185"/>
            <a:ext cx="104775" cy="92869"/>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11572875" y="4232434"/>
            <a:ext cx="104775" cy="92869"/>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11572875" y="4317682"/>
            <a:ext cx="104775" cy="92869"/>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1572875" y="4402931"/>
            <a:ext cx="104775" cy="92869"/>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11572875" y="4488180"/>
            <a:ext cx="104775" cy="92869"/>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11572875" y="4573429"/>
            <a:ext cx="104775" cy="92869"/>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1572875" y="4658678"/>
            <a:ext cx="104775" cy="92869"/>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11572875" y="4743926"/>
            <a:ext cx="104775" cy="92869"/>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11572875" y="4829175"/>
            <a:ext cx="104775" cy="92869"/>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11572875" y="4914424"/>
            <a:ext cx="104775" cy="92869"/>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11572875" y="4999672"/>
            <a:ext cx="104775" cy="92869"/>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11572875" y="5084921"/>
            <a:ext cx="104775" cy="92869"/>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11572875" y="5170170"/>
            <a:ext cx="104775" cy="92869"/>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1572875" y="5255419"/>
            <a:ext cx="104775" cy="92869"/>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11572875" y="5340668"/>
            <a:ext cx="104775" cy="92869"/>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11572875" y="5425916"/>
            <a:ext cx="104775" cy="92869"/>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11572875" y="5511165"/>
            <a:ext cx="104775" cy="92869"/>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11572875" y="5596414"/>
            <a:ext cx="104775" cy="92869"/>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11572875" y="5681662"/>
            <a:ext cx="104775" cy="92869"/>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11572875" y="5766911"/>
            <a:ext cx="104775" cy="92869"/>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11572875" y="5852160"/>
            <a:ext cx="104775" cy="92869"/>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11572875" y="5937409"/>
            <a:ext cx="104775" cy="92869"/>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11572875" y="6022658"/>
            <a:ext cx="104775" cy="92869"/>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11572875" y="6107906"/>
            <a:ext cx="104775" cy="92869"/>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11572875" y="6193155"/>
            <a:ext cx="104775" cy="92869"/>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11572875" y="6278404"/>
            <a:ext cx="104775" cy="92869"/>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11572875" y="6363652"/>
            <a:ext cx="104775" cy="92869"/>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11572875" y="6448901"/>
            <a:ext cx="104775" cy="92869"/>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11572875" y="3124200"/>
            <a:ext cx="104775" cy="3409950"/>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11687175" y="3057525"/>
            <a:ext cx="276225" cy="133350"/>
          </a:xfrm>
          <a:prstGeom prst="rect">
            <a:avLst/>
          </a:prstGeom>
          <a:noFill/>
        </p:spPr>
        <p:txBody>
          <a:bodyPr wrap="none" lIns="0" rIns="0" tIns="0" bIns="0" anchor="ctr">
            <a:spAutoFit/>
          </a:bodyPr>
          <a:lstStyle/>
          <a:p>
            <a:pPr algn="l"/>
            <a:r>
              <a:rPr sz="1100" b="0">
                <a:solidFill>
                  <a:srgbClr val="6C7A89"/>
                </a:solidFill>
                <a:latin typeface="Calibri"/>
              </a:rPr>
              <a:t>6%</a:t>
            </a:r>
          </a:p>
        </p:txBody>
      </p:sp>
      <p:sp>
        <p:nvSpPr>
          <p:cNvPr id="138" name="TextBox 137"/>
          <p:cNvSpPr txBox="1"/>
          <p:nvPr/>
        </p:nvSpPr>
        <p:spPr>
          <a:xfrm>
            <a:off x="11687175" y="4762500"/>
            <a:ext cx="276225" cy="133350"/>
          </a:xfrm>
          <a:prstGeom prst="rect">
            <a:avLst/>
          </a:prstGeom>
          <a:noFill/>
        </p:spPr>
        <p:txBody>
          <a:bodyPr wrap="none" lIns="0" rIns="0" tIns="0" bIns="0" anchor="ctr">
            <a:spAutoFit/>
          </a:bodyPr>
          <a:lstStyle/>
          <a:p>
            <a:pPr algn="l"/>
            <a:r>
              <a:rPr sz="1100" b="0">
                <a:solidFill>
                  <a:srgbClr val="6C7A89"/>
                </a:solidFill>
                <a:latin typeface="Calibri"/>
              </a:rPr>
              <a:t>5%</a:t>
            </a:r>
          </a:p>
        </p:txBody>
      </p:sp>
      <p:sp>
        <p:nvSpPr>
          <p:cNvPr id="139" name="TextBox 138"/>
          <p:cNvSpPr txBox="1"/>
          <p:nvPr/>
        </p:nvSpPr>
        <p:spPr>
          <a:xfrm>
            <a:off x="11687175" y="6467475"/>
            <a:ext cx="276225" cy="133350"/>
          </a:xfrm>
          <a:prstGeom prst="rect">
            <a:avLst/>
          </a:prstGeom>
          <a:noFill/>
        </p:spPr>
        <p:txBody>
          <a:bodyPr wrap="none" lIns="0" rIns="0" tIns="0" bIns="0" anchor="ctr">
            <a:spAutoFit/>
          </a:bodyPr>
          <a:lstStyle/>
          <a:p>
            <a:pPr algn="l"/>
            <a:r>
              <a:rPr sz="1100" b="0">
                <a:solidFill>
                  <a:srgbClr val="6C7A89"/>
                </a:solidFill>
                <a:latin typeface="Calibri"/>
              </a:rPr>
              <a:t>4%</a:t>
            </a:r>
          </a:p>
        </p:txBody>
      </p:sp>
      <p:sp>
        <p:nvSpPr>
          <p:cNvPr id="140" name="TextBox 13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YoY Analysis of Global Market Value, By Barrier Level (%)</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Year-on-year value growth by Barrier Level, 2022–2036, highlighting acceleration and slowdown</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1543050"/>
          </a:xfrm>
          <a:prstGeom prst="roundRect">
            <a:avLst>
              <a:gd name="adj" fmla="val 493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YoY Growth, By Barrier Level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3" name="Table 12"/>
          <p:cNvGraphicFramePr>
            <a:graphicFrameLocks noGrp="1"/>
          </p:cNvGraphicFramePr>
          <p:nvPr/>
        </p:nvGraphicFramePr>
        <p:xfrm>
          <a:off x="152400" y="1238250"/>
          <a:ext cx="11887203" cy="1076325"/>
        </p:xfrm>
        <a:graphic>
          <a:graphicData uri="http://schemas.openxmlformats.org/drawingml/2006/table">
            <a:tbl>
              <a:tblPr>
                <a:tableStyleId>{5C22544A-7EE6-4342-B048-85BDC9FD1C3A}</a:tableStyleId>
              </a:tblPr>
              <a:tblGrid>
                <a:gridCol w="1812063"/>
                <a:gridCol w="671676"/>
                <a:gridCol w="671676"/>
                <a:gridCol w="671676"/>
                <a:gridCol w="671676"/>
                <a:gridCol w="671676"/>
                <a:gridCol w="671676"/>
                <a:gridCol w="671676"/>
                <a:gridCol w="671676"/>
                <a:gridCol w="671676"/>
                <a:gridCol w="671676"/>
                <a:gridCol w="671676"/>
                <a:gridCol w="671676"/>
                <a:gridCol w="671676"/>
                <a:gridCol w="671676"/>
                <a:gridCol w="671676"/>
              </a:tblGrid>
              <a:tr h="215265">
                <a:tc>
                  <a:txBody>
                    <a:bodyPr wrap="none"/>
                    <a:lstStyle/>
                    <a:p>
                      <a:pPr algn="l"/>
                      <a:r>
                        <a:rPr sz="1100" b="1">
                          <a:solidFill>
                            <a:srgbClr val="0B2E4A"/>
                          </a:solidFill>
                          <a:latin typeface="Calibri"/>
                        </a:rPr>
                        <a:t>Barrier Level</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2036F</a:t>
                      </a:r>
                      <a:endParaRPr sz="1100"/>
                    </a:p>
                  </a:txBody>
                  <a:tcPr marL="47625" marR="38100" marT="19050" marB="19050" anchor="ctr">
                    <a:solidFill>
                      <a:srgbClr val="E0E8EF"/>
                    </a:solidFill>
                  </a:tcPr>
                </a:tc>
              </a:tr>
              <a:tr h="215265">
                <a:tc>
                  <a:txBody>
                    <a:bodyPr wrap="none"/>
                    <a:lstStyle/>
                    <a:p>
                      <a:pPr algn="l"/>
                      <a:r>
                        <a:rPr sz="1100" b="1">
                          <a:solidFill>
                            <a:srgbClr val="2E2E2E"/>
                          </a:solidFill>
                          <a:latin typeface="Calibri"/>
                        </a:rPr>
                        <a:t>Low-Barrier Films</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4.6%</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FFFFF"/>
                    </a:solidFill>
                  </a:tcPr>
                </a:tc>
              </a:tr>
              <a:tr h="215265">
                <a:tc>
                  <a:txBody>
                    <a:bodyPr wrap="none"/>
                    <a:lstStyle/>
                    <a:p>
                      <a:pPr algn="l"/>
                      <a:r>
                        <a:rPr sz="1100" b="1">
                          <a:solidFill>
                            <a:srgbClr val="2E2E2E"/>
                          </a:solidFill>
                          <a:latin typeface="Calibri"/>
                        </a:rPr>
                        <a:t>Medium-Barrier Films</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6.5%</a:t>
                      </a:r>
                      <a:endParaRPr sz="1100"/>
                    </a:p>
                  </a:txBody>
                  <a:tcPr marL="47625" marR="38100" marT="19050" marB="19050" anchor="ctr">
                    <a:solidFill>
                      <a:srgbClr val="F5F8FA"/>
                    </a:solidFill>
                  </a:tcPr>
                </a:tc>
              </a:tr>
              <a:tr h="215265">
                <a:tc>
                  <a:txBody>
                    <a:bodyPr wrap="none"/>
                    <a:lstStyle/>
                    <a:p>
                      <a:pPr algn="l"/>
                      <a:r>
                        <a:rPr sz="1100" b="1">
                          <a:solidFill>
                            <a:srgbClr val="2E2E2E"/>
                          </a:solidFill>
                          <a:latin typeface="Calibri"/>
                        </a:rPr>
                        <a:t>High-Barrier Films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5.0%</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6.0%</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7.3%</a:t>
                      </a:r>
                      <a:endParaRPr sz="1100"/>
                    </a:p>
                  </a:txBody>
                  <a:tcPr marL="47625" marR="38100" marT="19050" marB="19050" anchor="ctr">
                    <a:solidFill>
                      <a:srgbClr val="FFFFFF"/>
                    </a:solidFill>
                  </a:tcPr>
                </a:tc>
              </a:tr>
              <a:tr h="215265">
                <a:tc>
                  <a:txBody>
                    <a:bodyPr wrap="none"/>
                    <a:lstStyle/>
                    <a:p>
                      <a:pPr algn="l"/>
                      <a:r>
                        <a:rPr sz="1100" b="1">
                          <a:solidFill>
                            <a:srgbClr val="2E2E2E"/>
                          </a:solidFill>
                          <a:latin typeface="Calibri"/>
                        </a:rPr>
                        <a:t>Ultra-High-Barrier Films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6.1%</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6.3%</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6.7%</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7.0%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6.9%</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23241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2657475"/>
            <a:ext cx="11906250" cy="3971925"/>
          </a:xfrm>
          <a:prstGeom prst="roundRect">
            <a:avLst>
              <a:gd name="adj" fmla="val 19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27146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YoY Heatmap, By Barrier Level (%)  ·  light = lower, dark = higher growth</a:t>
            </a:r>
          </a:p>
        </p:txBody>
      </p:sp>
      <p:sp>
        <p:nvSpPr>
          <p:cNvPr id="17" name="TextBox 16"/>
          <p:cNvSpPr txBox="1"/>
          <p:nvPr/>
        </p:nvSpPr>
        <p:spPr>
          <a:xfrm>
            <a:off x="1857375" y="2943225"/>
            <a:ext cx="643890" cy="142875"/>
          </a:xfrm>
          <a:prstGeom prst="rect">
            <a:avLst/>
          </a:prstGeom>
          <a:noFill/>
        </p:spPr>
        <p:txBody>
          <a:bodyPr wrap="none" lIns="0" rIns="0" tIns="0" bIns="0" anchor="ctr">
            <a:spAutoFit/>
          </a:bodyPr>
          <a:lstStyle/>
          <a:p>
            <a:pPr algn="ctr"/>
            <a:r>
              <a:rPr sz="1100" b="1">
                <a:solidFill>
                  <a:srgbClr val="6C7A89"/>
                </a:solidFill>
                <a:latin typeface="Calibri"/>
              </a:rPr>
              <a:t>2022</a:t>
            </a:r>
          </a:p>
        </p:txBody>
      </p:sp>
      <p:sp>
        <p:nvSpPr>
          <p:cNvPr id="18" name="TextBox 17"/>
          <p:cNvSpPr txBox="1"/>
          <p:nvPr/>
        </p:nvSpPr>
        <p:spPr>
          <a:xfrm>
            <a:off x="2501265" y="2943225"/>
            <a:ext cx="643890" cy="142875"/>
          </a:xfrm>
          <a:prstGeom prst="rect">
            <a:avLst/>
          </a:prstGeom>
          <a:noFill/>
        </p:spPr>
        <p:txBody>
          <a:bodyPr wrap="none" lIns="0" rIns="0" tIns="0" bIns="0" anchor="ctr">
            <a:spAutoFit/>
          </a:bodyPr>
          <a:lstStyle/>
          <a:p>
            <a:pPr algn="ctr"/>
            <a:r>
              <a:rPr sz="1100" b="1">
                <a:solidFill>
                  <a:srgbClr val="6C7A89"/>
                </a:solidFill>
                <a:latin typeface="Calibri"/>
              </a:rPr>
              <a:t>2023</a:t>
            </a:r>
          </a:p>
        </p:txBody>
      </p:sp>
      <p:sp>
        <p:nvSpPr>
          <p:cNvPr id="19" name="TextBox 18"/>
          <p:cNvSpPr txBox="1"/>
          <p:nvPr/>
        </p:nvSpPr>
        <p:spPr>
          <a:xfrm>
            <a:off x="3145155" y="2943225"/>
            <a:ext cx="643890" cy="142875"/>
          </a:xfrm>
          <a:prstGeom prst="rect">
            <a:avLst/>
          </a:prstGeom>
          <a:noFill/>
        </p:spPr>
        <p:txBody>
          <a:bodyPr wrap="none" lIns="0" rIns="0" tIns="0" bIns="0" anchor="ctr">
            <a:spAutoFit/>
          </a:bodyPr>
          <a:lstStyle/>
          <a:p>
            <a:pPr algn="ctr"/>
            <a:r>
              <a:rPr sz="1100" b="1">
                <a:solidFill>
                  <a:srgbClr val="6C7A89"/>
                </a:solidFill>
                <a:latin typeface="Calibri"/>
              </a:rPr>
              <a:t>2024</a:t>
            </a:r>
          </a:p>
        </p:txBody>
      </p:sp>
      <p:sp>
        <p:nvSpPr>
          <p:cNvPr id="20" name="TextBox 19"/>
          <p:cNvSpPr txBox="1"/>
          <p:nvPr/>
        </p:nvSpPr>
        <p:spPr>
          <a:xfrm>
            <a:off x="3789045" y="2943225"/>
            <a:ext cx="643890" cy="142875"/>
          </a:xfrm>
          <a:prstGeom prst="rect">
            <a:avLst/>
          </a:prstGeom>
          <a:noFill/>
        </p:spPr>
        <p:txBody>
          <a:bodyPr wrap="none" lIns="0" rIns="0" tIns="0" bIns="0" anchor="ctr">
            <a:spAutoFit/>
          </a:bodyPr>
          <a:lstStyle/>
          <a:p>
            <a:pPr algn="ctr"/>
            <a:r>
              <a:rPr sz="1100" b="1">
                <a:solidFill>
                  <a:srgbClr val="6C7A89"/>
                </a:solidFill>
                <a:latin typeface="Calibri"/>
              </a:rPr>
              <a:t>2025</a:t>
            </a:r>
          </a:p>
        </p:txBody>
      </p:sp>
      <p:sp>
        <p:nvSpPr>
          <p:cNvPr id="21" name="TextBox 20"/>
          <p:cNvSpPr txBox="1"/>
          <p:nvPr/>
        </p:nvSpPr>
        <p:spPr>
          <a:xfrm>
            <a:off x="4432935" y="2943225"/>
            <a:ext cx="643890" cy="142875"/>
          </a:xfrm>
          <a:prstGeom prst="rect">
            <a:avLst/>
          </a:prstGeom>
          <a:noFill/>
        </p:spPr>
        <p:txBody>
          <a:bodyPr wrap="none" lIns="0" rIns="0" tIns="0" bIns="0" anchor="ctr">
            <a:spAutoFit/>
          </a:bodyPr>
          <a:lstStyle/>
          <a:p>
            <a:pPr algn="ctr"/>
            <a:r>
              <a:rPr sz="1100" b="1">
                <a:solidFill>
                  <a:srgbClr val="6C7A89"/>
                </a:solidFill>
                <a:latin typeface="Calibri"/>
              </a:rPr>
              <a:t>2026</a:t>
            </a:r>
          </a:p>
        </p:txBody>
      </p:sp>
      <p:sp>
        <p:nvSpPr>
          <p:cNvPr id="22" name="TextBox 21"/>
          <p:cNvSpPr txBox="1"/>
          <p:nvPr/>
        </p:nvSpPr>
        <p:spPr>
          <a:xfrm>
            <a:off x="5076825" y="2943225"/>
            <a:ext cx="643890" cy="142875"/>
          </a:xfrm>
          <a:prstGeom prst="rect">
            <a:avLst/>
          </a:prstGeom>
          <a:noFill/>
        </p:spPr>
        <p:txBody>
          <a:bodyPr wrap="none" lIns="0" rIns="0" tIns="0" bIns="0" anchor="ctr">
            <a:spAutoFit/>
          </a:bodyPr>
          <a:lstStyle/>
          <a:p>
            <a:pPr algn="ctr"/>
            <a:r>
              <a:rPr sz="1100" b="1">
                <a:solidFill>
                  <a:srgbClr val="6C7A89"/>
                </a:solidFill>
                <a:latin typeface="Calibri"/>
              </a:rPr>
              <a:t>2027</a:t>
            </a:r>
          </a:p>
        </p:txBody>
      </p:sp>
      <p:sp>
        <p:nvSpPr>
          <p:cNvPr id="23" name="TextBox 22"/>
          <p:cNvSpPr txBox="1"/>
          <p:nvPr/>
        </p:nvSpPr>
        <p:spPr>
          <a:xfrm>
            <a:off x="5720715" y="2943225"/>
            <a:ext cx="643890" cy="142875"/>
          </a:xfrm>
          <a:prstGeom prst="rect">
            <a:avLst/>
          </a:prstGeom>
          <a:noFill/>
        </p:spPr>
        <p:txBody>
          <a:bodyPr wrap="none" lIns="0" rIns="0" tIns="0" bIns="0" anchor="ctr">
            <a:spAutoFit/>
          </a:bodyPr>
          <a:lstStyle/>
          <a:p>
            <a:pPr algn="ctr"/>
            <a:r>
              <a:rPr sz="1100" b="1">
                <a:solidFill>
                  <a:srgbClr val="6C7A89"/>
                </a:solidFill>
                <a:latin typeface="Calibri"/>
              </a:rPr>
              <a:t>2028</a:t>
            </a:r>
          </a:p>
        </p:txBody>
      </p:sp>
      <p:sp>
        <p:nvSpPr>
          <p:cNvPr id="24" name="TextBox 23"/>
          <p:cNvSpPr txBox="1"/>
          <p:nvPr/>
        </p:nvSpPr>
        <p:spPr>
          <a:xfrm>
            <a:off x="6364605" y="2943225"/>
            <a:ext cx="643890" cy="142875"/>
          </a:xfrm>
          <a:prstGeom prst="rect">
            <a:avLst/>
          </a:prstGeom>
          <a:noFill/>
        </p:spPr>
        <p:txBody>
          <a:bodyPr wrap="none" lIns="0" rIns="0" tIns="0" bIns="0" anchor="ctr">
            <a:spAutoFit/>
          </a:bodyPr>
          <a:lstStyle/>
          <a:p>
            <a:pPr algn="ctr"/>
            <a:r>
              <a:rPr sz="1100" b="1">
                <a:solidFill>
                  <a:srgbClr val="6C7A89"/>
                </a:solidFill>
                <a:latin typeface="Calibri"/>
              </a:rPr>
              <a:t>2029</a:t>
            </a:r>
          </a:p>
        </p:txBody>
      </p:sp>
      <p:sp>
        <p:nvSpPr>
          <p:cNvPr id="25" name="TextBox 24"/>
          <p:cNvSpPr txBox="1"/>
          <p:nvPr/>
        </p:nvSpPr>
        <p:spPr>
          <a:xfrm>
            <a:off x="7008495" y="2943225"/>
            <a:ext cx="643890" cy="142875"/>
          </a:xfrm>
          <a:prstGeom prst="rect">
            <a:avLst/>
          </a:prstGeom>
          <a:noFill/>
        </p:spPr>
        <p:txBody>
          <a:bodyPr wrap="none" lIns="0" rIns="0" tIns="0" bIns="0" anchor="ctr">
            <a:spAutoFit/>
          </a:bodyPr>
          <a:lstStyle/>
          <a:p>
            <a:pPr algn="ctr"/>
            <a:r>
              <a:rPr sz="1100" b="1">
                <a:solidFill>
                  <a:srgbClr val="6C7A89"/>
                </a:solidFill>
                <a:latin typeface="Calibri"/>
              </a:rPr>
              <a:t>2030</a:t>
            </a:r>
          </a:p>
        </p:txBody>
      </p:sp>
      <p:sp>
        <p:nvSpPr>
          <p:cNvPr id="26" name="TextBox 25"/>
          <p:cNvSpPr txBox="1"/>
          <p:nvPr/>
        </p:nvSpPr>
        <p:spPr>
          <a:xfrm>
            <a:off x="7652385" y="2943225"/>
            <a:ext cx="643890" cy="142875"/>
          </a:xfrm>
          <a:prstGeom prst="rect">
            <a:avLst/>
          </a:prstGeom>
          <a:noFill/>
        </p:spPr>
        <p:txBody>
          <a:bodyPr wrap="none" lIns="0" rIns="0" tIns="0" bIns="0" anchor="ctr">
            <a:spAutoFit/>
          </a:bodyPr>
          <a:lstStyle/>
          <a:p>
            <a:pPr algn="ctr"/>
            <a:r>
              <a:rPr sz="1100" b="1">
                <a:solidFill>
                  <a:srgbClr val="6C7A89"/>
                </a:solidFill>
                <a:latin typeface="Calibri"/>
              </a:rPr>
              <a:t>2031</a:t>
            </a:r>
          </a:p>
        </p:txBody>
      </p:sp>
      <p:sp>
        <p:nvSpPr>
          <p:cNvPr id="27" name="TextBox 26"/>
          <p:cNvSpPr txBox="1"/>
          <p:nvPr/>
        </p:nvSpPr>
        <p:spPr>
          <a:xfrm>
            <a:off x="8296275" y="2943225"/>
            <a:ext cx="643890" cy="142875"/>
          </a:xfrm>
          <a:prstGeom prst="rect">
            <a:avLst/>
          </a:prstGeom>
          <a:noFill/>
        </p:spPr>
        <p:txBody>
          <a:bodyPr wrap="none" lIns="0" rIns="0" tIns="0" bIns="0" anchor="ctr">
            <a:spAutoFit/>
          </a:bodyPr>
          <a:lstStyle/>
          <a:p>
            <a:pPr algn="ctr"/>
            <a:r>
              <a:rPr sz="1100" b="1">
                <a:solidFill>
                  <a:srgbClr val="6C7A89"/>
                </a:solidFill>
                <a:latin typeface="Calibri"/>
              </a:rPr>
              <a:t>2032</a:t>
            </a:r>
          </a:p>
        </p:txBody>
      </p:sp>
      <p:sp>
        <p:nvSpPr>
          <p:cNvPr id="28" name="TextBox 27"/>
          <p:cNvSpPr txBox="1"/>
          <p:nvPr/>
        </p:nvSpPr>
        <p:spPr>
          <a:xfrm>
            <a:off x="8940165" y="2943225"/>
            <a:ext cx="643890" cy="142875"/>
          </a:xfrm>
          <a:prstGeom prst="rect">
            <a:avLst/>
          </a:prstGeom>
          <a:noFill/>
        </p:spPr>
        <p:txBody>
          <a:bodyPr wrap="none" lIns="0" rIns="0" tIns="0" bIns="0" anchor="ctr">
            <a:spAutoFit/>
          </a:bodyPr>
          <a:lstStyle/>
          <a:p>
            <a:pPr algn="ctr"/>
            <a:r>
              <a:rPr sz="1100" b="1">
                <a:solidFill>
                  <a:srgbClr val="6C7A89"/>
                </a:solidFill>
                <a:latin typeface="Calibri"/>
              </a:rPr>
              <a:t>2033</a:t>
            </a:r>
          </a:p>
        </p:txBody>
      </p:sp>
      <p:sp>
        <p:nvSpPr>
          <p:cNvPr id="29" name="TextBox 28"/>
          <p:cNvSpPr txBox="1"/>
          <p:nvPr/>
        </p:nvSpPr>
        <p:spPr>
          <a:xfrm>
            <a:off x="9584055" y="2943225"/>
            <a:ext cx="643890" cy="142875"/>
          </a:xfrm>
          <a:prstGeom prst="rect">
            <a:avLst/>
          </a:prstGeom>
          <a:noFill/>
        </p:spPr>
        <p:txBody>
          <a:bodyPr wrap="none" lIns="0" rIns="0" tIns="0" bIns="0" anchor="ctr">
            <a:spAutoFit/>
          </a:bodyPr>
          <a:lstStyle/>
          <a:p>
            <a:pPr algn="ctr"/>
            <a:r>
              <a:rPr sz="1100" b="1">
                <a:solidFill>
                  <a:srgbClr val="6C7A89"/>
                </a:solidFill>
                <a:latin typeface="Calibri"/>
              </a:rPr>
              <a:t>2034</a:t>
            </a:r>
          </a:p>
        </p:txBody>
      </p:sp>
      <p:sp>
        <p:nvSpPr>
          <p:cNvPr id="30" name="TextBox 29"/>
          <p:cNvSpPr txBox="1"/>
          <p:nvPr/>
        </p:nvSpPr>
        <p:spPr>
          <a:xfrm>
            <a:off x="10227945" y="2943225"/>
            <a:ext cx="643890" cy="142875"/>
          </a:xfrm>
          <a:prstGeom prst="rect">
            <a:avLst/>
          </a:prstGeom>
          <a:noFill/>
        </p:spPr>
        <p:txBody>
          <a:bodyPr wrap="none" lIns="0" rIns="0" tIns="0" bIns="0" anchor="ctr">
            <a:spAutoFit/>
          </a:bodyPr>
          <a:lstStyle/>
          <a:p>
            <a:pPr algn="ctr"/>
            <a:r>
              <a:rPr sz="1100" b="1">
                <a:solidFill>
                  <a:srgbClr val="6C7A89"/>
                </a:solidFill>
                <a:latin typeface="Calibri"/>
              </a:rPr>
              <a:t>2035</a:t>
            </a:r>
          </a:p>
        </p:txBody>
      </p:sp>
      <p:sp>
        <p:nvSpPr>
          <p:cNvPr id="31" name="TextBox 30"/>
          <p:cNvSpPr txBox="1"/>
          <p:nvPr/>
        </p:nvSpPr>
        <p:spPr>
          <a:xfrm>
            <a:off x="10871835" y="2943225"/>
            <a:ext cx="643890" cy="142875"/>
          </a:xfrm>
          <a:prstGeom prst="rect">
            <a:avLst/>
          </a:prstGeom>
          <a:noFill/>
        </p:spPr>
        <p:txBody>
          <a:bodyPr wrap="none" lIns="0" rIns="0" tIns="0" bIns="0" anchor="ctr">
            <a:spAutoFit/>
          </a:bodyPr>
          <a:lstStyle/>
          <a:p>
            <a:pPr algn="ctr"/>
            <a:r>
              <a:rPr sz="1100" b="1">
                <a:solidFill>
                  <a:srgbClr val="6C7A89"/>
                </a:solidFill>
                <a:latin typeface="Calibri"/>
              </a:rPr>
              <a:t>2036</a:t>
            </a:r>
          </a:p>
        </p:txBody>
      </p:sp>
      <p:sp>
        <p:nvSpPr>
          <p:cNvPr id="32" name="TextBox 31"/>
          <p:cNvSpPr txBox="1"/>
          <p:nvPr/>
        </p:nvSpPr>
        <p:spPr>
          <a:xfrm>
            <a:off x="238125" y="3086100"/>
            <a:ext cx="1590675" cy="871538"/>
          </a:xfrm>
          <a:prstGeom prst="rect">
            <a:avLst/>
          </a:prstGeom>
          <a:noFill/>
        </p:spPr>
        <p:txBody>
          <a:bodyPr wrap="square" lIns="28575" rIns="28575" tIns="9525" bIns="9525" anchor="ctr">
            <a:spAutoFit/>
          </a:bodyPr>
          <a:lstStyle/>
          <a:p>
            <a:pPr algn="l"/>
            <a:r>
              <a:rPr sz="1100" b="0">
                <a:solidFill>
                  <a:srgbClr val="2E2E2E"/>
                </a:solidFill>
                <a:latin typeface="Calibri"/>
              </a:rPr>
              <a:t>Low-Barrier Films</a:t>
            </a:r>
          </a:p>
        </p:txBody>
      </p:sp>
      <p:sp>
        <p:nvSpPr>
          <p:cNvPr id="33" name="Rectangle 32"/>
          <p:cNvSpPr/>
          <p:nvPr/>
        </p:nvSpPr>
        <p:spPr>
          <a:xfrm>
            <a:off x="1857375" y="3086100"/>
            <a:ext cx="643890" cy="871538"/>
          </a:xfrm>
          <a:prstGeom prst="rect">
            <a:avLst/>
          </a:prstGeom>
          <a:solidFill>
            <a:srgbClr val="F1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501265" y="3086100"/>
            <a:ext cx="643890" cy="871538"/>
          </a:xfrm>
          <a:prstGeom prst="rect">
            <a:avLst/>
          </a:prstGeom>
          <a:solidFill>
            <a:srgbClr val="EDF7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145155" y="3086100"/>
            <a:ext cx="643890" cy="871538"/>
          </a:xfrm>
          <a:prstGeom prst="rect">
            <a:avLst/>
          </a:prstGeom>
          <a:solidFill>
            <a:srgbClr val="E7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789045" y="3086100"/>
            <a:ext cx="643890" cy="871538"/>
          </a:xfrm>
          <a:prstGeom prst="rect">
            <a:avLst/>
          </a:prstGeom>
          <a:solidFill>
            <a:srgbClr val="E1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432935" y="3086100"/>
            <a:ext cx="643890" cy="871538"/>
          </a:xfrm>
          <a:prstGeom prst="rect">
            <a:avLst/>
          </a:prstGeom>
          <a:solidFill>
            <a:srgbClr val="BCD5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76825" y="3086100"/>
            <a:ext cx="643890" cy="871538"/>
          </a:xfrm>
          <a:prstGeom prst="rect">
            <a:avLst/>
          </a:prstGeom>
          <a:solidFill>
            <a:srgbClr val="A3C6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720715" y="3086100"/>
            <a:ext cx="643890" cy="871538"/>
          </a:xfrm>
          <a:prstGeom prst="rect">
            <a:avLst/>
          </a:prstGeom>
          <a:solidFill>
            <a:srgbClr val="85B5D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364605" y="3086100"/>
            <a:ext cx="643890" cy="871538"/>
          </a:xfrm>
          <a:prstGeom prst="rect">
            <a:avLst/>
          </a:prstGeom>
          <a:solidFill>
            <a:srgbClr val="5C9F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008495" y="3086100"/>
            <a:ext cx="643890" cy="871538"/>
          </a:xfrm>
          <a:prstGeom prst="rect">
            <a:avLst/>
          </a:prstGeom>
          <a:solidFill>
            <a:srgbClr val="378B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652385" y="3086100"/>
            <a:ext cx="643890" cy="871538"/>
          </a:xfrm>
          <a:prstGeom prst="rect">
            <a:avLst/>
          </a:prstGeom>
          <a:solidFill>
            <a:srgbClr val="2480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296275" y="3086100"/>
            <a:ext cx="643890" cy="871538"/>
          </a:xfrm>
          <a:prstGeom prst="rect">
            <a:avLst/>
          </a:prstGeom>
          <a:solidFill>
            <a:srgbClr val="1978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940165" y="3086100"/>
            <a:ext cx="643890" cy="871538"/>
          </a:xfrm>
          <a:prstGeom prst="rect">
            <a:avLst/>
          </a:prstGeom>
          <a:solidFill>
            <a:srgbClr val="1777B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584055" y="3086100"/>
            <a:ext cx="643890" cy="871538"/>
          </a:xfrm>
          <a:prstGeom prst="rect">
            <a:avLst/>
          </a:prstGeom>
          <a:solidFill>
            <a:srgbClr val="1777B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227945" y="3086100"/>
            <a:ext cx="643890" cy="871538"/>
          </a:xfrm>
          <a:prstGeom prst="rect">
            <a:avLst/>
          </a:prstGeom>
          <a:solidFill>
            <a:srgbClr val="1B7A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871835" y="3086100"/>
            <a:ext cx="643890" cy="871538"/>
          </a:xfrm>
          <a:prstGeom prst="rect">
            <a:avLst/>
          </a:prstGeom>
          <a:solidFill>
            <a:srgbClr val="217DB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38125" y="3957638"/>
            <a:ext cx="1590675" cy="871538"/>
          </a:xfrm>
          <a:prstGeom prst="rect">
            <a:avLst/>
          </a:prstGeom>
          <a:noFill/>
        </p:spPr>
        <p:txBody>
          <a:bodyPr wrap="square" lIns="28575" rIns="28575" tIns="9525" bIns="9525" anchor="ctr">
            <a:spAutoFit/>
          </a:bodyPr>
          <a:lstStyle/>
          <a:p>
            <a:pPr algn="l"/>
            <a:r>
              <a:rPr sz="1100" b="0">
                <a:solidFill>
                  <a:srgbClr val="2E2E2E"/>
                </a:solidFill>
                <a:latin typeface="Calibri"/>
              </a:rPr>
              <a:t>Medium-Barrier Films</a:t>
            </a:r>
          </a:p>
        </p:txBody>
      </p:sp>
      <p:sp>
        <p:nvSpPr>
          <p:cNvPr id="49" name="Rectangle 48"/>
          <p:cNvSpPr/>
          <p:nvPr/>
        </p:nvSpPr>
        <p:spPr>
          <a:xfrm>
            <a:off x="1857375" y="3957638"/>
            <a:ext cx="643890" cy="871538"/>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501265" y="3957638"/>
            <a:ext cx="643890" cy="871538"/>
          </a:xfrm>
          <a:prstGeom prst="rect">
            <a:avLst/>
          </a:prstGeom>
          <a:solidFill>
            <a:srgbClr val="FCFE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145155" y="3957638"/>
            <a:ext cx="643890" cy="871538"/>
          </a:xfrm>
          <a:prstGeom prst="rect">
            <a:avLst/>
          </a:prstGeom>
          <a:solidFill>
            <a:srgbClr val="F7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789045" y="3957638"/>
            <a:ext cx="643890" cy="871538"/>
          </a:xfrm>
          <a:prstGeom prst="rect">
            <a:avLst/>
          </a:prstGeom>
          <a:solidFill>
            <a:srgbClr val="F2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432935" y="3957638"/>
            <a:ext cx="643890" cy="871538"/>
          </a:xfrm>
          <a:prstGeom prst="rect">
            <a:avLst/>
          </a:prstGeom>
          <a:solidFill>
            <a:srgbClr val="D6E6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076825" y="3957638"/>
            <a:ext cx="643890" cy="871538"/>
          </a:xfrm>
          <a:prstGeom prst="rect">
            <a:avLst/>
          </a:prstGeom>
          <a:solidFill>
            <a:srgbClr val="C5DA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720715" y="3957638"/>
            <a:ext cx="643890" cy="871538"/>
          </a:xfrm>
          <a:prstGeom prst="rect">
            <a:avLst/>
          </a:prstGeom>
          <a:solidFill>
            <a:srgbClr val="ABCB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364605" y="3957638"/>
            <a:ext cx="643890" cy="871538"/>
          </a:xfrm>
          <a:prstGeom prst="rect">
            <a:avLst/>
          </a:prstGeom>
          <a:solidFill>
            <a:srgbClr val="90BC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7008495" y="3957638"/>
            <a:ext cx="643890" cy="871538"/>
          </a:xfrm>
          <a:prstGeom prst="rect">
            <a:avLst/>
          </a:prstGeom>
          <a:solidFill>
            <a:srgbClr val="65A4C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652385" y="3957638"/>
            <a:ext cx="643890" cy="871538"/>
          </a:xfrm>
          <a:prstGeom prst="rect">
            <a:avLst/>
          </a:prstGeom>
          <a:solidFill>
            <a:srgbClr val="4392C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296275" y="3957638"/>
            <a:ext cx="643890" cy="871538"/>
          </a:xfrm>
          <a:prstGeom prst="rect">
            <a:avLst/>
          </a:prstGeom>
          <a:solidFill>
            <a:srgbClr val="3187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940165" y="3957638"/>
            <a:ext cx="643890" cy="871538"/>
          </a:xfrm>
          <a:prstGeom prst="rect">
            <a:avLst/>
          </a:prstGeom>
          <a:solidFill>
            <a:srgbClr val="2A83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584055" y="3957638"/>
            <a:ext cx="643890" cy="871538"/>
          </a:xfrm>
          <a:prstGeom prst="rect">
            <a:avLst/>
          </a:prstGeom>
          <a:solidFill>
            <a:srgbClr val="2983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0227945" y="3957638"/>
            <a:ext cx="643890" cy="871538"/>
          </a:xfrm>
          <a:prstGeom prst="rect">
            <a:avLst/>
          </a:prstGeom>
          <a:solidFill>
            <a:srgbClr val="2D85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0871835" y="3957638"/>
            <a:ext cx="643890" cy="871538"/>
          </a:xfrm>
          <a:prstGeom prst="rect">
            <a:avLst/>
          </a:prstGeom>
          <a:solidFill>
            <a:srgbClr val="3288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38125" y="4829175"/>
            <a:ext cx="1590675" cy="871538"/>
          </a:xfrm>
          <a:prstGeom prst="rect">
            <a:avLst/>
          </a:prstGeom>
          <a:noFill/>
        </p:spPr>
        <p:txBody>
          <a:bodyPr wrap="square" lIns="28575" rIns="28575" tIns="9525" bIns="9525" anchor="ctr">
            <a:spAutoFit/>
          </a:bodyPr>
          <a:lstStyle/>
          <a:p>
            <a:pPr algn="l"/>
            <a:r>
              <a:rPr sz="1100" b="0">
                <a:solidFill>
                  <a:srgbClr val="2E2E2E"/>
                </a:solidFill>
                <a:latin typeface="Calibri"/>
              </a:rPr>
              <a:t>High-Barrier Films</a:t>
            </a:r>
          </a:p>
        </p:txBody>
      </p:sp>
      <p:sp>
        <p:nvSpPr>
          <p:cNvPr id="65" name="Rectangle 64"/>
          <p:cNvSpPr/>
          <p:nvPr/>
        </p:nvSpPr>
        <p:spPr>
          <a:xfrm>
            <a:off x="1857375" y="4829175"/>
            <a:ext cx="643890" cy="871538"/>
          </a:xfrm>
          <a:prstGeom prst="rect">
            <a:avLst/>
          </a:prstGeom>
          <a:solidFill>
            <a:srgbClr val="E0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2501265" y="4829175"/>
            <a:ext cx="643890" cy="871538"/>
          </a:xfrm>
          <a:prstGeom prst="rect">
            <a:avLst/>
          </a:prstGeom>
          <a:solidFill>
            <a:srgbClr val="D9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3145155" y="4829175"/>
            <a:ext cx="643890" cy="871538"/>
          </a:xfrm>
          <a:prstGeom prst="rect">
            <a:avLst/>
          </a:prstGeom>
          <a:solidFill>
            <a:srgbClr val="CFE0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3789045" y="4829175"/>
            <a:ext cx="643890" cy="871538"/>
          </a:xfrm>
          <a:prstGeom prst="rect">
            <a:avLst/>
          </a:prstGeom>
          <a:solidFill>
            <a:srgbClr val="C5DA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4432935" y="4829175"/>
            <a:ext cx="643890" cy="871538"/>
          </a:xfrm>
          <a:prstGeom prst="rect">
            <a:avLst/>
          </a:prstGeom>
          <a:solidFill>
            <a:srgbClr val="90BB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076825" y="4829175"/>
            <a:ext cx="643890" cy="871538"/>
          </a:xfrm>
          <a:prstGeom prst="rect">
            <a:avLst/>
          </a:prstGeom>
          <a:solidFill>
            <a:srgbClr val="69A6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5720715" y="4829175"/>
            <a:ext cx="643890" cy="871538"/>
          </a:xfrm>
          <a:prstGeom prst="rect">
            <a:avLst/>
          </a:prstGeom>
          <a:solidFill>
            <a:srgbClr val="3E8F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364605" y="4829175"/>
            <a:ext cx="643890" cy="871538"/>
          </a:xfrm>
          <a:prstGeom prst="rect">
            <a:avLst/>
          </a:prstGeom>
          <a:solidFill>
            <a:srgbClr val="2580B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7008495" y="4829175"/>
            <a:ext cx="643890" cy="871538"/>
          </a:xfrm>
          <a:prstGeom prst="rect">
            <a:avLst/>
          </a:prstGeom>
          <a:solidFill>
            <a:srgbClr val="0E72A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7652385" y="4829175"/>
            <a:ext cx="643890" cy="871538"/>
          </a:xfrm>
          <a:prstGeom prst="rect">
            <a:avLst/>
          </a:prstGeom>
          <a:solidFill>
            <a:srgbClr val="0D538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8296275" y="4829175"/>
            <a:ext cx="643890" cy="871538"/>
          </a:xfrm>
          <a:prstGeom prst="rect">
            <a:avLst/>
          </a:prstGeom>
          <a:solidFill>
            <a:srgbClr val="0C3C5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940165" y="4829175"/>
            <a:ext cx="643890" cy="871538"/>
          </a:xfrm>
          <a:prstGeom prst="rect">
            <a:avLst/>
          </a:prstGeom>
          <a:solidFill>
            <a:srgbClr val="0B2F4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9584055" y="4829175"/>
            <a:ext cx="643890" cy="871538"/>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0227945" y="4829175"/>
            <a:ext cx="643890" cy="871538"/>
          </a:xfrm>
          <a:prstGeom prst="rect">
            <a:avLst/>
          </a:prstGeom>
          <a:solidFill>
            <a:srgbClr val="0B375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0871835" y="4829175"/>
            <a:ext cx="643890" cy="871538"/>
          </a:xfrm>
          <a:prstGeom prst="rect">
            <a:avLst/>
          </a:prstGeom>
          <a:solidFill>
            <a:srgbClr val="0C456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38125" y="5700712"/>
            <a:ext cx="1590675" cy="871538"/>
          </a:xfrm>
          <a:prstGeom prst="rect">
            <a:avLst/>
          </a:prstGeom>
          <a:noFill/>
        </p:spPr>
        <p:txBody>
          <a:bodyPr wrap="square" lIns="28575" rIns="28575" tIns="9525" bIns="9525" anchor="ctr">
            <a:spAutoFit/>
          </a:bodyPr>
          <a:lstStyle/>
          <a:p>
            <a:pPr algn="l"/>
            <a:r>
              <a:rPr sz="1100" b="0">
                <a:solidFill>
                  <a:srgbClr val="2E2E2E"/>
                </a:solidFill>
                <a:latin typeface="Calibri"/>
              </a:rPr>
              <a:t>Ultra-High-Barrier Films</a:t>
            </a:r>
          </a:p>
        </p:txBody>
      </p:sp>
      <p:sp>
        <p:nvSpPr>
          <p:cNvPr id="81" name="Rectangle 80"/>
          <p:cNvSpPr/>
          <p:nvPr/>
        </p:nvSpPr>
        <p:spPr>
          <a:xfrm>
            <a:off x="1857375" y="5700712"/>
            <a:ext cx="643890" cy="871538"/>
          </a:xfrm>
          <a:prstGeom prst="rect">
            <a:avLst/>
          </a:prstGeom>
          <a:solidFill>
            <a:srgbClr val="CE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2501265" y="5700712"/>
            <a:ext cx="643890" cy="871538"/>
          </a:xfrm>
          <a:prstGeom prst="rect">
            <a:avLst/>
          </a:prstGeom>
          <a:solidFill>
            <a:srgbClr val="CCDE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3145155" y="5700712"/>
            <a:ext cx="643890" cy="871538"/>
          </a:xfrm>
          <a:prstGeom prst="rect">
            <a:avLst/>
          </a:prstGeom>
          <a:solidFill>
            <a:srgbClr val="BCD5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789045" y="5700712"/>
            <a:ext cx="643890" cy="871538"/>
          </a:xfrm>
          <a:prstGeom prst="rect">
            <a:avLst/>
          </a:prstGeom>
          <a:solidFill>
            <a:srgbClr val="B2CF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4432935" y="5700712"/>
            <a:ext cx="643890" cy="871538"/>
          </a:xfrm>
          <a:prstGeom prst="rect">
            <a:avLst/>
          </a:prstGeom>
          <a:solidFill>
            <a:srgbClr val="81B3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5076825" y="5700712"/>
            <a:ext cx="643890" cy="871538"/>
          </a:xfrm>
          <a:prstGeom prst="rect">
            <a:avLst/>
          </a:prstGeom>
          <a:solidFill>
            <a:srgbClr val="6FAAD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5720715" y="5700712"/>
            <a:ext cx="643890" cy="871538"/>
          </a:xfrm>
          <a:prstGeom prst="rect">
            <a:avLst/>
          </a:prstGeom>
          <a:solidFill>
            <a:srgbClr val="5EA0C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6364605" y="5700712"/>
            <a:ext cx="643890" cy="871538"/>
          </a:xfrm>
          <a:prstGeom prst="rect">
            <a:avLst/>
          </a:prstGeom>
          <a:solidFill>
            <a:srgbClr val="4A96C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7008495" y="5700712"/>
            <a:ext cx="643890" cy="871538"/>
          </a:xfrm>
          <a:prstGeom prst="rect">
            <a:avLst/>
          </a:prstGeom>
          <a:solidFill>
            <a:srgbClr val="3187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7652385" y="5700712"/>
            <a:ext cx="643890" cy="871538"/>
          </a:xfrm>
          <a:prstGeom prst="rect">
            <a:avLst/>
          </a:prstGeom>
          <a:solidFill>
            <a:srgbClr val="1E7BB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8296275" y="5700712"/>
            <a:ext cx="643890" cy="871538"/>
          </a:xfrm>
          <a:prstGeom prst="rect">
            <a:avLst/>
          </a:prstGeom>
          <a:solidFill>
            <a:srgbClr val="0E70A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8940165" y="5700712"/>
            <a:ext cx="643890" cy="871538"/>
          </a:xfrm>
          <a:prstGeom prst="rect">
            <a:avLst/>
          </a:prstGeom>
          <a:solidFill>
            <a:srgbClr val="0E6CA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9584055" y="5700712"/>
            <a:ext cx="643890" cy="871538"/>
          </a:xfrm>
          <a:prstGeom prst="rect">
            <a:avLst/>
          </a:prstGeom>
          <a:solidFill>
            <a:srgbClr val="0E6DA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10227945" y="5700712"/>
            <a:ext cx="643890" cy="871538"/>
          </a:xfrm>
          <a:prstGeom prst="rect">
            <a:avLst/>
          </a:prstGeom>
          <a:solidFill>
            <a:srgbClr val="0F73A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0871835" y="5700712"/>
            <a:ext cx="643890" cy="871538"/>
          </a:xfrm>
          <a:prstGeom prst="rect">
            <a:avLst/>
          </a:prstGeom>
          <a:solidFill>
            <a:srgbClr val="1476B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1572875" y="3124200"/>
            <a:ext cx="104775" cy="92869"/>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1572875" y="3209449"/>
            <a:ext cx="104775" cy="92869"/>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1572875" y="3294698"/>
            <a:ext cx="104775" cy="92869"/>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1572875" y="3379946"/>
            <a:ext cx="104775" cy="92869"/>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11572875" y="3465195"/>
            <a:ext cx="104775" cy="92869"/>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1572875" y="3550444"/>
            <a:ext cx="104775" cy="92869"/>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11572875" y="3635692"/>
            <a:ext cx="104775" cy="92869"/>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11572875" y="3720941"/>
            <a:ext cx="104775" cy="92869"/>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11572875" y="3806190"/>
            <a:ext cx="104775" cy="92869"/>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1572875" y="3891439"/>
            <a:ext cx="104775" cy="92869"/>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1572875" y="3976688"/>
            <a:ext cx="104775" cy="92869"/>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11572875" y="4061936"/>
            <a:ext cx="104775" cy="92869"/>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1572875" y="4147185"/>
            <a:ext cx="104775" cy="92869"/>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11572875" y="4232434"/>
            <a:ext cx="104775" cy="92869"/>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11572875" y="4317682"/>
            <a:ext cx="104775" cy="92869"/>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1572875" y="4402931"/>
            <a:ext cx="104775" cy="92869"/>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11572875" y="4488180"/>
            <a:ext cx="104775" cy="92869"/>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11572875" y="4573429"/>
            <a:ext cx="104775" cy="92869"/>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1572875" y="4658678"/>
            <a:ext cx="104775" cy="92869"/>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11572875" y="4743926"/>
            <a:ext cx="104775" cy="92869"/>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11572875" y="4829175"/>
            <a:ext cx="104775" cy="92869"/>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11572875" y="4914424"/>
            <a:ext cx="104775" cy="92869"/>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11572875" y="4999672"/>
            <a:ext cx="104775" cy="92869"/>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11572875" y="5084921"/>
            <a:ext cx="104775" cy="92869"/>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11572875" y="5170170"/>
            <a:ext cx="104775" cy="92869"/>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1572875" y="5255419"/>
            <a:ext cx="104775" cy="92869"/>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11572875" y="5340668"/>
            <a:ext cx="104775" cy="92869"/>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11572875" y="5425916"/>
            <a:ext cx="104775" cy="92869"/>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11572875" y="5511165"/>
            <a:ext cx="104775" cy="92869"/>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11572875" y="5596414"/>
            <a:ext cx="104775" cy="92869"/>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11572875" y="5681662"/>
            <a:ext cx="104775" cy="92869"/>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11572875" y="5766911"/>
            <a:ext cx="104775" cy="92869"/>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11572875" y="5852160"/>
            <a:ext cx="104775" cy="92869"/>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11572875" y="5937409"/>
            <a:ext cx="104775" cy="92869"/>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11572875" y="6022658"/>
            <a:ext cx="104775" cy="92869"/>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11572875" y="6107906"/>
            <a:ext cx="104775" cy="92869"/>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11572875" y="6193155"/>
            <a:ext cx="104775" cy="92869"/>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11572875" y="6278404"/>
            <a:ext cx="104775" cy="92869"/>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11572875" y="6363652"/>
            <a:ext cx="104775" cy="92869"/>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11572875" y="6448901"/>
            <a:ext cx="104775" cy="92869"/>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11572875" y="3124200"/>
            <a:ext cx="104775" cy="3409950"/>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11687175" y="3057525"/>
            <a:ext cx="276225" cy="133350"/>
          </a:xfrm>
          <a:prstGeom prst="rect">
            <a:avLst/>
          </a:prstGeom>
          <a:noFill/>
        </p:spPr>
        <p:txBody>
          <a:bodyPr wrap="none" lIns="0" rIns="0" tIns="0" bIns="0" anchor="ctr">
            <a:spAutoFit/>
          </a:bodyPr>
          <a:lstStyle/>
          <a:p>
            <a:pPr algn="l"/>
            <a:r>
              <a:rPr sz="1100" b="0">
                <a:solidFill>
                  <a:srgbClr val="6C7A89"/>
                </a:solidFill>
                <a:latin typeface="Calibri"/>
              </a:rPr>
              <a:t>7%</a:t>
            </a:r>
          </a:p>
        </p:txBody>
      </p:sp>
      <p:sp>
        <p:nvSpPr>
          <p:cNvPr id="138" name="TextBox 137"/>
          <p:cNvSpPr txBox="1"/>
          <p:nvPr/>
        </p:nvSpPr>
        <p:spPr>
          <a:xfrm>
            <a:off x="11687175" y="4762500"/>
            <a:ext cx="276225" cy="133350"/>
          </a:xfrm>
          <a:prstGeom prst="rect">
            <a:avLst/>
          </a:prstGeom>
          <a:noFill/>
        </p:spPr>
        <p:txBody>
          <a:bodyPr wrap="none" lIns="0" rIns="0" tIns="0" bIns="0" anchor="ctr">
            <a:spAutoFit/>
          </a:bodyPr>
          <a:lstStyle/>
          <a:p>
            <a:pPr algn="l"/>
            <a:r>
              <a:rPr sz="1100" b="0">
                <a:solidFill>
                  <a:srgbClr val="6C7A89"/>
                </a:solidFill>
                <a:latin typeface="Calibri"/>
              </a:rPr>
              <a:t>6%</a:t>
            </a:r>
          </a:p>
        </p:txBody>
      </p:sp>
      <p:sp>
        <p:nvSpPr>
          <p:cNvPr id="139" name="TextBox 138"/>
          <p:cNvSpPr txBox="1"/>
          <p:nvPr/>
        </p:nvSpPr>
        <p:spPr>
          <a:xfrm>
            <a:off x="11687175" y="6467475"/>
            <a:ext cx="276225" cy="133350"/>
          </a:xfrm>
          <a:prstGeom prst="rect">
            <a:avLst/>
          </a:prstGeom>
          <a:noFill/>
        </p:spPr>
        <p:txBody>
          <a:bodyPr wrap="none" lIns="0" rIns="0" tIns="0" bIns="0" anchor="ctr">
            <a:spAutoFit/>
          </a:bodyPr>
          <a:lstStyle/>
          <a:p>
            <a:pPr algn="l"/>
            <a:r>
              <a:rPr sz="1100" b="0">
                <a:solidFill>
                  <a:srgbClr val="6C7A89"/>
                </a:solidFill>
                <a:latin typeface="Calibri"/>
              </a:rPr>
              <a:t>4%</a:t>
            </a:r>
          </a:p>
        </p:txBody>
      </p:sp>
      <p:sp>
        <p:nvSpPr>
          <p:cNvPr id="140" name="TextBox 13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Flexible Plastic Packaging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Application</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Application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Volume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Application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2 sub-segments of Application,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TextBox 10"/>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Application segment categorizes the market by application. Each sub-category is evaluated on market size, growth outlook and adoption trends across the forecast period.</a:t>
            </a:r>
          </a:p>
        </p:txBody>
      </p:sp>
      <p:sp>
        <p:nvSpPr>
          <p:cNvPr id="12" name="Rectangle 11"/>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4" name="Rectangle 13"/>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6" name="Rectangle 15"/>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8" name="Rectangle 17"/>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20" name="Rounded Rectangle 19"/>
          <p:cNvSpPr/>
          <p:nvPr/>
        </p:nvSpPr>
        <p:spPr>
          <a:xfrm>
            <a:off x="1866900" y="1773916"/>
            <a:ext cx="494347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992961"/>
            <a:ext cx="494347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Food Packaging</a:t>
            </a:r>
          </a:p>
        </p:txBody>
      </p:sp>
      <p:sp>
        <p:nvSpPr>
          <p:cNvPr id="23" name="Rectangle 22"/>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106,432</a:t>
            </a:r>
          </a:p>
        </p:txBody>
      </p:sp>
      <p:sp>
        <p:nvSpPr>
          <p:cNvPr id="24" name="Rectangle 23"/>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200,977</a:t>
            </a:r>
          </a:p>
        </p:txBody>
      </p:sp>
      <p:sp>
        <p:nvSpPr>
          <p:cNvPr id="25" name="Rectangle 24"/>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6.6%</a:t>
            </a:r>
          </a:p>
        </p:txBody>
      </p:sp>
      <p:sp>
        <p:nvSpPr>
          <p:cNvPr id="26" name="Oval 25"/>
          <p:cNvSpPr/>
          <p:nvPr/>
        </p:nvSpPr>
        <p:spPr>
          <a:xfrm>
            <a:off x="4176712"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6924675" y="1773916"/>
            <a:ext cx="494347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924675" y="1992961"/>
            <a:ext cx="494347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Non-Food Packaging</a:t>
            </a:r>
          </a:p>
        </p:txBody>
      </p:sp>
      <p:sp>
        <p:nvSpPr>
          <p:cNvPr id="30" name="Rectangle 29"/>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20,914</a:t>
            </a:r>
          </a:p>
        </p:txBody>
      </p:sp>
      <p:sp>
        <p:nvSpPr>
          <p:cNvPr id="31" name="Rectangle 30"/>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39,231</a:t>
            </a:r>
          </a:p>
        </p:txBody>
      </p:sp>
      <p:sp>
        <p:nvSpPr>
          <p:cNvPr id="32" name="Rectangle 31"/>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6.5%</a:t>
            </a:r>
          </a:p>
        </p:txBody>
      </p:sp>
      <p:sp>
        <p:nvSpPr>
          <p:cNvPr id="33" name="Oval 32"/>
          <p:cNvSpPr/>
          <p:nvPr/>
        </p:nvSpPr>
        <p:spPr>
          <a:xfrm>
            <a:off x="9234488"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6" name="Rectangle 35"/>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72AE"/>
                </a:solidFill>
                <a:latin typeface="Calibri"/>
              </a:rPr>
              <a:t>▪  </a:t>
            </a:r>
            <a:r>
              <a:rPr sz="1100" b="0">
                <a:solidFill>
                  <a:srgbClr val="2E2E2E"/>
                </a:solidFill>
                <a:latin typeface="Calibri"/>
              </a:rPr>
              <a:t>¶ Among flexible plastic packaging by application, food packaging segment is expected to witness the highest CAGR of 6.6% over the forecast period. In terms of value share by application, the food packaging segment is expected to dominate the market, maintaining its share and accounting for 83.7% share by 2036.</a:t>
            </a:r>
          </a:p>
          <a:p>
            <a:pPr algn="l">
              <a:lnSpc>
                <a:spcPct val="110000"/>
              </a:lnSpc>
              <a:spcBef>
                <a:spcPts val="0"/>
              </a:spcBef>
              <a:spcAft>
                <a:spcPts val="500"/>
              </a:spcAft>
            </a:pPr>
            <a:r>
              <a:rPr sz="1100" b="0">
                <a:solidFill>
                  <a:srgbClr val="0E72AE"/>
                </a:solidFill>
                <a:latin typeface="Calibri"/>
              </a:rPr>
              <a:t>▪  </a:t>
            </a:r>
            <a:r>
              <a:rPr sz="1100" b="0">
                <a:solidFill>
                  <a:srgbClr val="2E2E2E"/>
                </a:solidFill>
                <a:latin typeface="Calibri"/>
              </a:rPr>
              <a:t>¶ Food packaging segment is projected to register 5.1X higher value than non-food packaging segment in 2036.</a:t>
            </a:r>
          </a:p>
        </p:txBody>
      </p:sp>
      <p:sp>
        <p:nvSpPr>
          <p:cNvPr id="38" name="Rounded Rectangle 37"/>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0" name="Rectangle 39"/>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t>
            </a:r>
            <a:r>
              <a:rPr sz="1100" b="1">
                <a:solidFill>
                  <a:srgbClr val="0B2E4A"/>
                </a:solidFill>
                <a:latin typeface="Calibri"/>
              </a:rPr>
              <a:t>Food Packaging: </a:t>
            </a:r>
            <a:r>
              <a:rPr sz="1100" b="0">
                <a:solidFill>
                  <a:srgbClr val="2E2E2E"/>
                </a:solidFill>
                <a:latin typeface="Calibri"/>
              </a:rPr>
              <a:t>84% of 2026 value · 6.6% CAGR leads the segment.</a:t>
            </a:r>
          </a:p>
          <a:p>
            <a:pPr algn="l">
              <a:lnSpc>
                <a:spcPct val="110000"/>
              </a:lnSpc>
              <a:spcBef>
                <a:spcPts val="0"/>
              </a:spcBef>
              <a:spcAft>
                <a:spcPts val="500"/>
              </a:spcAft>
            </a:pPr>
            <a:r>
              <a:rPr sz="1100" b="0">
                <a:solidFill>
                  <a:srgbClr val="0E72AE"/>
                </a:solidFill>
                <a:latin typeface="Calibri"/>
              </a:rPr>
              <a:t>●  </a:t>
            </a:r>
            <a:r>
              <a:rPr sz="1100" b="1">
                <a:solidFill>
                  <a:srgbClr val="0E72AE"/>
                </a:solidFill>
                <a:latin typeface="Calibri"/>
              </a:rPr>
              <a:t>Non-Food Packaging: </a:t>
            </a:r>
            <a:r>
              <a:rPr sz="1100" b="0">
                <a:solidFill>
                  <a:srgbClr val="2E2E2E"/>
                </a:solidFill>
                <a:latin typeface="Calibri"/>
              </a:rPr>
              <a:t>16% of 2026 value · 6.5% CAGR serves a niche.</a:t>
            </a:r>
          </a:p>
        </p:txBody>
      </p:sp>
      <p:sp>
        <p:nvSpPr>
          <p:cNvPr id="42" name="Rounded Rectangle 41"/>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44" name="Rectangle 43"/>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Application split shows how demand is distributed across application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46" name="Rectangle 45"/>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The Application segment is projected to grow at a CAGR of 6.6% from 2026 to 2036.</a:t>
            </a:r>
          </a:p>
        </p:txBody>
      </p:sp>
      <p:sp>
        <p:nvSpPr>
          <p:cNvPr id="48" name="TextBox 47"/>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49" name="TextBox 4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Application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Application mix within each region and the attractiveness of each sub-segment on growth and size</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6343650" cy="4276725"/>
          </a:xfrm>
          <a:prstGeom prst="roundRect">
            <a:avLst>
              <a:gd name="adj" fmla="val 178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Application mix within each region (share of 2036 value) · row label = region size (US$ Mn), largest first</a:t>
            </a:r>
          </a:p>
        </p:txBody>
      </p:sp>
      <p:graphicFrame>
        <p:nvGraphicFramePr>
          <p:cNvPr id="13" name="Chart 12"/>
          <p:cNvGraphicFramePr>
            <a:graphicFrameLocks noGrp="1"/>
          </p:cNvGraphicFramePr>
          <p:nvPr/>
        </p:nvGraphicFramePr>
        <p:xfrm>
          <a:off x="238125" y="1438275"/>
          <a:ext cx="6153150" cy="3762375"/>
        </p:xfrm>
        <a:graphic>
          <a:graphicData uri="http://schemas.openxmlformats.org/drawingml/2006/chart">
            <c:chart xmlns:c="http://schemas.openxmlformats.org/drawingml/2006/chart" r:id="rId3"/>
          </a:graphicData>
        </a:graphic>
      </p:graphicFrame>
      <p:sp>
        <p:nvSpPr>
          <p:cNvPr id="14" name="Rounded Rectangle 13"/>
          <p:cNvSpPr/>
          <p:nvPr/>
        </p:nvSpPr>
        <p:spPr>
          <a:xfrm>
            <a:off x="6638925" y="981075"/>
            <a:ext cx="5400675" cy="4276725"/>
          </a:xfrm>
          <a:prstGeom prst="roundRect">
            <a:avLst>
              <a:gd name="adj" fmla="val 178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Application · Bubble size represents 2036 value</a:t>
            </a:r>
          </a:p>
        </p:txBody>
      </p:sp>
      <p:graphicFrame>
        <p:nvGraphicFramePr>
          <p:cNvPr id="16" name="Chart 15"/>
          <p:cNvGraphicFramePr>
            <a:graphicFrameLocks noGrp="1"/>
          </p:cNvGraphicFramePr>
          <p:nvPr/>
        </p:nvGraphicFramePr>
        <p:xfrm>
          <a:off x="6734175" y="1266825"/>
          <a:ext cx="5210175" cy="3933825"/>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5391150"/>
            <a:ext cx="11906250" cy="1228725"/>
          </a:xfrm>
          <a:prstGeom prst="roundRect">
            <a:avLst>
              <a:gd name="adj" fmla="val 620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Food packaging followed by non-food packaging are expected to be the two most attractive application segments in the global flexible plastic packaging market in terms of value over the forecast period. Food packaging and Non-Food packaging exhibit a CAGR index of 100 and 99 and a market share index of 167 and 33 respectively, against the segment average of 100. Food Packaging is the more attractive application because it holds 83.6% of value and edges ahead at 6.6% growth. Demand rides on packaged and processed food, protein, ready meals, snacks and food delivery, all of which need flexible barrier film for shelf life and portability. Non-Food Packaging grows slightly slower at 6.5%, so it cedes 9 BPS. Bubbles right of the CAGR-Index line grow faster than the segment average.</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Application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Application and the absolute $ opportunity each sub-segment adds,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Food Packaging</a:t>
            </a:r>
          </a:p>
        </p:txBody>
      </p:sp>
      <p:graphicFrame>
        <p:nvGraphicFramePr>
          <p:cNvPr id="13" name="Chart 12"/>
          <p:cNvGraphicFramePr>
            <a:graphicFrameLocks noGrp="1"/>
          </p:cNvGraphicFramePr>
          <p:nvPr/>
        </p:nvGraphicFramePr>
        <p:xfrm>
          <a:off x="238125" y="1266825"/>
          <a:ext cx="5686425" cy="530542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Non-Food Packaging</a:t>
            </a:r>
          </a:p>
        </p:txBody>
      </p:sp>
      <p:graphicFrame>
        <p:nvGraphicFramePr>
          <p:cNvPr id="16" name="Chart 15"/>
          <p:cNvGraphicFramePr>
            <a:graphicFrameLocks noGrp="1"/>
          </p:cNvGraphicFramePr>
          <p:nvPr/>
        </p:nvGraphicFramePr>
        <p:xfrm>
          <a:off x="6267450" y="1438275"/>
          <a:ext cx="5686425" cy="5133975"/>
        </p:xfrm>
        <a:graphic>
          <a:graphicData uri="http://schemas.openxmlformats.org/drawingml/2006/chart">
            <c:chart xmlns:c="http://schemas.openxmlformats.org/drawingml/2006/chart" r:id="rId4"/>
          </a:graphicData>
        </a:graphic>
      </p:graphicFrame>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Volume Analysis, By Application (Thousand MT)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by Application,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3324225"/>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By Application (Thousand MT)</a:t>
            </a:r>
          </a:p>
        </p:txBody>
      </p:sp>
      <p:graphicFrame>
        <p:nvGraphicFramePr>
          <p:cNvPr id="13" name="Table 12"/>
          <p:cNvGraphicFramePr>
            <a:graphicFrameLocks noGrp="1"/>
          </p:cNvGraphicFramePr>
          <p:nvPr/>
        </p:nvGraphicFramePr>
        <p:xfrm>
          <a:off x="152400" y="1238250"/>
          <a:ext cx="11887193" cy="2857498"/>
        </p:xfrm>
        <a:graphic>
          <a:graphicData uri="http://schemas.openxmlformats.org/drawingml/2006/table">
            <a:tbl>
              <a:tblPr>
                <a:tableStyleId>{5C22544A-7EE6-4342-B048-85BDC9FD1C3A}</a:tableStyleId>
              </a:tblPr>
              <a:tblGrid>
                <a:gridCol w="2284301"/>
                <a:gridCol w="564876"/>
                <a:gridCol w="564876"/>
                <a:gridCol w="564876"/>
                <a:gridCol w="564876"/>
                <a:gridCol w="564876"/>
                <a:gridCol w="564876"/>
                <a:gridCol w="564876"/>
                <a:gridCol w="564876"/>
                <a:gridCol w="564876"/>
                <a:gridCol w="564876"/>
                <a:gridCol w="564876"/>
                <a:gridCol w="564876"/>
                <a:gridCol w="564876"/>
                <a:gridCol w="564876"/>
                <a:gridCol w="564876"/>
                <a:gridCol w="564876"/>
                <a:gridCol w="564876"/>
              </a:tblGrid>
              <a:tr h="215265">
                <a:tc>
                  <a:txBody>
                    <a:bodyPr wrap="none"/>
                    <a:lstStyle/>
                    <a:p>
                      <a:pPr algn="l"/>
                      <a:r>
                        <a:rPr sz="1100" b="1">
                          <a:solidFill>
                            <a:srgbClr val="0B2E4A"/>
                          </a:solidFill>
                          <a:latin typeface="Calibri"/>
                        </a:rPr>
                        <a:t>Application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F-CAGR</a:t>
                      </a:r>
                      <a:endParaRPr sz="1100"/>
                    </a:p>
                  </a:txBody>
                  <a:tcPr marL="47625" marR="38100" marT="19050" marB="19050" anchor="ctr">
                    <a:solidFill>
                      <a:srgbClr val="E0E8EF"/>
                    </a:solidFill>
                  </a:tcPr>
                </a:tc>
              </a:tr>
              <a:tr h="240203">
                <a:tc>
                  <a:txBody>
                    <a:bodyPr wrap="none"/>
                    <a:lstStyle/>
                    <a:p>
                      <a:pPr algn="l"/>
                      <a:r>
                        <a:rPr sz="1100" b="1">
                          <a:solidFill>
                            <a:srgbClr val="2E2E2E"/>
                          </a:solidFill>
                          <a:latin typeface="Calibri"/>
                        </a:rPr>
                        <a:t>Food Packaging</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27,849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28,990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30,193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31,469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32,831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34,317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35,938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37,710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39,647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41,764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44,056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46,510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49,095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51,787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54,549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57,375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5.3%</a:t>
                      </a:r>
                      <a:endParaRPr sz="1100"/>
                    </a:p>
                  </a:txBody>
                  <a:tcPr marL="47625" marR="38100" marT="19050" marB="19050" anchor="ctr">
                    <a:solidFill>
                      <a:srgbClr val="FFFFFF"/>
                    </a:solidFill>
                  </a:tcPr>
                </a:tc>
              </a:tr>
              <a:tr h="240203">
                <a:tc>
                  <a:txBody>
                    <a:bodyPr wrap="none"/>
                    <a:lstStyle/>
                    <a:p>
                      <a:pPr algn="l"/>
                      <a:r>
                        <a:rPr sz="1100" b="1">
                          <a:solidFill>
                            <a:srgbClr val="2E2E2E"/>
                          </a:solidFill>
                          <a:latin typeface="Calibri"/>
                        </a:rPr>
                        <a:t>– Meat and Processed Meat</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5,054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5,269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5,495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5,737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5,995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6,279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6,590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6,930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7,303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7,711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8,154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8,628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9,128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9,651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10,188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10,740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5.5%</a:t>
                      </a:r>
                      <a:endParaRPr sz="1100"/>
                    </a:p>
                  </a:txBody>
                  <a:tcPr marL="47625" marR="38100" marT="19050" marB="19050" anchor="ctr">
                    <a:solidFill>
                      <a:srgbClr val="F5F8FA"/>
                    </a:solidFill>
                  </a:tcPr>
                </a:tc>
              </a:tr>
              <a:tr h="240203">
                <a:tc>
                  <a:txBody>
                    <a:bodyPr wrap="none"/>
                    <a:lstStyle/>
                    <a:p>
                      <a:pPr algn="l"/>
                      <a:r>
                        <a:rPr sz="1100" b="1">
                          <a:solidFill>
                            <a:srgbClr val="2E2E2E"/>
                          </a:solidFill>
                          <a:latin typeface="Calibri"/>
                        </a:rPr>
                        <a:t>– Poultry</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2,784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2,892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3,006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3,126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3,255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3,394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3,546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3,712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3,892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4,089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4,302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4,528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4,766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5,012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5,265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5,522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5.0%</a:t>
                      </a:r>
                      <a:endParaRPr sz="1100"/>
                    </a:p>
                  </a:txBody>
                  <a:tcPr marL="47625" marR="38100" marT="19050" marB="19050" anchor="ctr">
                    <a:solidFill>
                      <a:srgbClr val="FFFFFF"/>
                    </a:solidFill>
                  </a:tcPr>
                </a:tc>
              </a:tr>
              <a:tr h="240203">
                <a:tc>
                  <a:txBody>
                    <a:bodyPr wrap="none"/>
                    <a:lstStyle/>
                    <a:p>
                      <a:pPr algn="l"/>
                      <a:r>
                        <a:rPr sz="1100" b="1">
                          <a:solidFill>
                            <a:srgbClr val="2E2E2E"/>
                          </a:solidFill>
                          <a:latin typeface="Calibri"/>
                        </a:rPr>
                        <a:t>– Fish and Seafood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2,870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2,978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3,093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3,215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3,345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3,487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3,641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3,810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3,995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4,199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4,421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4,660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4,912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5,174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5,442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5,715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5.1%</a:t>
                      </a:r>
                      <a:endParaRPr sz="1100"/>
                    </a:p>
                  </a:txBody>
                  <a:tcPr marL="47625" marR="38100" marT="19050" marB="19050" anchor="ctr">
                    <a:solidFill>
                      <a:srgbClr val="F5F8FA"/>
                    </a:solidFill>
                  </a:tcPr>
                </a:tc>
              </a:tr>
              <a:tr h="240203">
                <a:tc>
                  <a:txBody>
                    <a:bodyPr wrap="none"/>
                    <a:lstStyle/>
                    <a:p>
                      <a:pPr algn="l"/>
                      <a:r>
                        <a:rPr sz="1100" b="1">
                          <a:solidFill>
                            <a:srgbClr val="2E2E2E"/>
                          </a:solidFill>
                          <a:latin typeface="Calibri"/>
                        </a:rPr>
                        <a:t>– Dairy and Cheese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3,454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3,602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3,758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3,925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4,103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4,294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4,498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4,717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4,951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5,206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5,479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5,772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6,077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6,395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6,719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7,050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5.1%</a:t>
                      </a:r>
                      <a:endParaRPr sz="1100"/>
                    </a:p>
                  </a:txBody>
                  <a:tcPr marL="47625" marR="38100" marT="19050" marB="19050" anchor="ctr">
                    <a:solidFill>
                      <a:srgbClr val="FFFFFF"/>
                    </a:solidFill>
                  </a:tcPr>
                </a:tc>
              </a:tr>
              <a:tr h="240203">
                <a:tc>
                  <a:txBody>
                    <a:bodyPr wrap="none"/>
                    <a:lstStyle/>
                    <a:p>
                      <a:pPr algn="l"/>
                      <a:r>
                        <a:rPr sz="1100" b="1">
                          <a:solidFill>
                            <a:srgbClr val="2E2E2E"/>
                          </a:solidFill>
                          <a:latin typeface="Calibri"/>
                        </a:rPr>
                        <a:t>– Ready Meals and Prepared Foods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3,352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3,489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3,635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3,790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3,958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4,144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4,348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4,571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4,816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5,085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5,376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5,689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6,019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6,362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6,716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7,077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5.5%</a:t>
                      </a:r>
                      <a:endParaRPr sz="1100"/>
                    </a:p>
                  </a:txBody>
                  <a:tcPr marL="47625" marR="38100" marT="19050" marB="19050" anchor="ctr">
                    <a:solidFill>
                      <a:srgbClr val="F5F8FA"/>
                    </a:solidFill>
                  </a:tcPr>
                </a:tc>
              </a:tr>
              <a:tr h="240203">
                <a:tc>
                  <a:txBody>
                    <a:bodyPr wrap="none"/>
                    <a:lstStyle/>
                    <a:p>
                      <a:pPr algn="l"/>
                      <a:r>
                        <a:rPr sz="1100" b="1">
                          <a:solidFill>
                            <a:srgbClr val="2E2E2E"/>
                          </a:solidFill>
                          <a:latin typeface="Calibri"/>
                        </a:rPr>
                        <a:t>– Bakery, Confectionery and Snacks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2,656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2,770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2,889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3,014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3,147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3,291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3,448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3,619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3,805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4,008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4,227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4,461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4,708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4,963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5,225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5,494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5.3%</a:t>
                      </a:r>
                      <a:endParaRPr sz="1100"/>
                    </a:p>
                  </a:txBody>
                  <a:tcPr marL="47625" marR="38100" marT="19050" marB="19050" anchor="ctr">
                    <a:solidFill>
                      <a:srgbClr val="FFFFFF"/>
                    </a:solidFill>
                  </a:tcPr>
                </a:tc>
              </a:tr>
              <a:tr h="240203">
                <a:tc>
                  <a:txBody>
                    <a:bodyPr wrap="none"/>
                    <a:lstStyle/>
                    <a:p>
                      <a:pPr algn="l"/>
                      <a:r>
                        <a:rPr sz="1100" b="1">
                          <a:solidFill>
                            <a:srgbClr val="2E2E2E"/>
                          </a:solidFill>
                          <a:latin typeface="Calibri"/>
                        </a:rPr>
                        <a:t>– Dry Foods and Powders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2,741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2,843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2,951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3,065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3,187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3,320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3,466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3,624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3,798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3,988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4,196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4,419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4,653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4,897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5,146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5,399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5.0%</a:t>
                      </a:r>
                      <a:endParaRPr sz="1100"/>
                    </a:p>
                  </a:txBody>
                  <a:tcPr marL="47625" marR="38100" marT="19050" marB="19050" anchor="ctr">
                    <a:solidFill>
                      <a:srgbClr val="F5F8FA"/>
                    </a:solidFill>
                  </a:tcPr>
                </a:tc>
              </a:tr>
              <a:tr h="240203">
                <a:tc>
                  <a:txBody>
                    <a:bodyPr wrap="none"/>
                    <a:lstStyle/>
                    <a:p>
                      <a:pPr algn="l"/>
                      <a:r>
                        <a:rPr sz="1100" b="1">
                          <a:solidFill>
                            <a:srgbClr val="2E2E2E"/>
                          </a:solidFill>
                          <a:latin typeface="Calibri"/>
                        </a:rPr>
                        <a:t>– Pet Food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1,875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1,961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2,051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2,147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2,250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2,362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2,484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2,618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2,765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2,927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3,103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3,292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3,491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3,699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3,914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4,134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5.8%</a:t>
                      </a:r>
                      <a:endParaRPr sz="1100"/>
                    </a:p>
                  </a:txBody>
                  <a:tcPr marL="47625" marR="38100" marT="19050" marB="19050" anchor="ctr">
                    <a:solidFill>
                      <a:srgbClr val="FFFFFF"/>
                    </a:solidFill>
                  </a:tcPr>
                </a:tc>
              </a:tr>
              <a:tr h="240203">
                <a:tc>
                  <a:txBody>
                    <a:bodyPr wrap="none"/>
                    <a:lstStyle/>
                    <a:p>
                      <a:pPr algn="l"/>
                      <a:r>
                        <a:rPr sz="1100" b="1">
                          <a:solidFill>
                            <a:srgbClr val="2E2E2E"/>
                          </a:solidFill>
                          <a:latin typeface="Calibri"/>
                        </a:rPr>
                        <a:t>– Other Food Products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3,062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3,185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3,314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3,449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3,591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3,746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3,918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4,109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4,321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4,551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4,798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5,061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5,341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5,634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5,935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6,243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5.2%</a:t>
                      </a:r>
                      <a:endParaRPr sz="1100"/>
                    </a:p>
                  </a:txBody>
                  <a:tcPr marL="47625" marR="38100" marT="19050" marB="19050" anchor="ctr">
                    <a:solidFill>
                      <a:srgbClr val="F5F8FA"/>
                    </a:solidFill>
                  </a:tcPr>
                </a:tc>
              </a:tr>
              <a:tr h="240203">
                <a:tc>
                  <a:txBody>
                    <a:bodyPr wrap="none"/>
                    <a:lstStyle/>
                    <a:p>
                      <a:pPr algn="l"/>
                      <a:r>
                        <a:rPr sz="1100" b="1">
                          <a:solidFill>
                            <a:srgbClr val="2E2E2E"/>
                          </a:solidFill>
                          <a:latin typeface="Calibri"/>
                        </a:rPr>
                        <a:t>Non-Food Packaging</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5,488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5,712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5,950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6,203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6,473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6,766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7,084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7,430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7,805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8,216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8,661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9,138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9,639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10,159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10,692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11,236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5.2%</a:t>
                      </a:r>
                      <a:endParaRPr sz="1100"/>
                    </a:p>
                  </a:txBody>
                  <a:tcPr marL="47625" marR="38100" marT="19050" marB="19050" anchor="ctr">
                    <a:solidFill>
                      <a:srgbClr val="FFFFFF"/>
                    </a:solidFill>
                  </a:tcPr>
                </a:tc>
              </a:tr>
            </a:tbl>
          </a:graphicData>
        </a:graphic>
      </p:graphicFrame>
      <p:sp>
        <p:nvSpPr>
          <p:cNvPr id="14" name="TextBox 13"/>
          <p:cNvSpPr txBox="1"/>
          <p:nvPr/>
        </p:nvSpPr>
        <p:spPr>
          <a:xfrm>
            <a:off x="219075" y="41052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Volume Analysis, By Application (Thousand MT)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by Application, 2021–2036, highlighting the sub-segments driving growth</a:t>
            </a:r>
          </a:p>
        </p:txBody>
      </p:sp>
      <p:sp>
        <p:nvSpPr>
          <p:cNvPr id="10" name="Rounded Rectangle 9"/>
          <p:cNvSpPr/>
          <p:nvPr/>
        </p:nvSpPr>
        <p:spPr>
          <a:xfrm>
            <a:off x="142875" y="981075"/>
            <a:ext cx="11906250" cy="1981200"/>
          </a:xfrm>
          <a:prstGeom prst="roundRect">
            <a:avLst>
              <a:gd name="adj" fmla="val 384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By Application (Thousand MT)</a:t>
            </a:r>
          </a:p>
        </p:txBody>
      </p:sp>
      <p:graphicFrame>
        <p:nvGraphicFramePr>
          <p:cNvPr id="12" name="Table 11"/>
          <p:cNvGraphicFramePr>
            <a:graphicFrameLocks noGrp="1"/>
          </p:cNvGraphicFramePr>
          <p:nvPr/>
        </p:nvGraphicFramePr>
        <p:xfrm>
          <a:off x="152400" y="1238250"/>
          <a:ext cx="11887203" cy="1514475"/>
        </p:xfrm>
        <a:graphic>
          <a:graphicData uri="http://schemas.openxmlformats.org/drawingml/2006/table">
            <a:tbl>
              <a:tblPr>
                <a:tableStyleId>{5C22544A-7EE6-4342-B048-85BDC9FD1C3A}</a:tableStyleId>
              </a:tblPr>
              <a:tblGrid>
                <a:gridCol w="2318549"/>
                <a:gridCol w="562862"/>
                <a:gridCol w="562862"/>
                <a:gridCol w="562862"/>
                <a:gridCol w="562862"/>
                <a:gridCol w="562862"/>
                <a:gridCol w="562862"/>
                <a:gridCol w="562862"/>
                <a:gridCol w="562862"/>
                <a:gridCol w="562862"/>
                <a:gridCol w="562862"/>
                <a:gridCol w="562862"/>
                <a:gridCol w="562862"/>
                <a:gridCol w="562862"/>
                <a:gridCol w="562862"/>
                <a:gridCol w="562862"/>
                <a:gridCol w="562862"/>
                <a:gridCol w="562862"/>
              </a:tblGrid>
              <a:tr h="215265">
                <a:tc>
                  <a:txBody>
                    <a:bodyPr wrap="none"/>
                    <a:lstStyle/>
                    <a:p>
                      <a:pPr algn="l"/>
                      <a:r>
                        <a:rPr sz="1100" b="1">
                          <a:solidFill>
                            <a:srgbClr val="0B2E4A"/>
                          </a:solidFill>
                          <a:latin typeface="Calibri"/>
                        </a:rPr>
                        <a:t>Application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F-CAGR</a:t>
                      </a:r>
                      <a:endParaRPr sz="1100"/>
                    </a:p>
                  </a:txBody>
                  <a:tcPr marL="47625" marR="38100" marT="19050" marB="19050" anchor="ctr">
                    <a:solidFill>
                      <a:srgbClr val="E0E8EF"/>
                    </a:solidFill>
                  </a:tcPr>
                </a:tc>
              </a:tr>
              <a:tr h="216535">
                <a:tc>
                  <a:txBody>
                    <a:bodyPr wrap="none"/>
                    <a:lstStyle/>
                    <a:p>
                      <a:pPr algn="l"/>
                      <a:r>
                        <a:rPr sz="1100" b="1">
                          <a:solidFill>
                            <a:srgbClr val="2E2E2E"/>
                          </a:solidFill>
                          <a:latin typeface="Calibri"/>
                        </a:rPr>
                        <a:t>– Pharmaceutical and Healthcare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1,534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1,605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1,680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1,760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1,845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1,938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2,038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2,147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2,266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2,395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2,536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2,689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2,849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3,016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3,188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3,365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5.7%</a:t>
                      </a:r>
                      <a:endParaRPr sz="1100"/>
                    </a:p>
                  </a:txBody>
                  <a:tcPr marL="47625" marR="38100" marT="19050" marB="19050" anchor="ctr">
                    <a:solidFill>
                      <a:srgbClr val="FFFFFF"/>
                    </a:solidFill>
                  </a:tcPr>
                </a:tc>
              </a:tr>
              <a:tr h="216535">
                <a:tc>
                  <a:txBody>
                    <a:bodyPr wrap="none"/>
                    <a:lstStyle/>
                    <a:p>
                      <a:pPr algn="l"/>
                      <a:r>
                        <a:rPr sz="1100" b="1">
                          <a:solidFill>
                            <a:srgbClr val="2E2E2E"/>
                          </a:solidFill>
                          <a:latin typeface="Calibri"/>
                        </a:rPr>
                        <a:t>– Personal Care and Cosmetics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1,255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1,303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1,354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1,408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1,466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1,528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1,597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1,671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1,753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1,843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1,940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2,045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2,154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2,268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2,385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2,504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5.1%</a:t>
                      </a:r>
                      <a:endParaRPr sz="1100"/>
                    </a:p>
                  </a:txBody>
                  <a:tcPr marL="47625" marR="38100" marT="19050" marB="19050" anchor="ctr">
                    <a:solidFill>
                      <a:srgbClr val="F5F8FA"/>
                    </a:solidFill>
                  </a:tcPr>
                </a:tc>
              </a:tr>
              <a:tr h="216535">
                <a:tc>
                  <a:txBody>
                    <a:bodyPr wrap="none"/>
                    <a:lstStyle/>
                    <a:p>
                      <a:pPr algn="l"/>
                      <a:r>
                        <a:rPr sz="1100" b="1">
                          <a:solidFill>
                            <a:srgbClr val="2E2E2E"/>
                          </a:solidFill>
                          <a:latin typeface="Calibri"/>
                        </a:rPr>
                        <a:t>– Household Care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1,066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1,108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1,153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1,200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1,251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1,305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1,363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1,425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1,492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1,565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1,643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1,726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1,813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1,903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1,994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2,087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4.8%</a:t>
                      </a:r>
                      <a:endParaRPr sz="1100"/>
                    </a:p>
                  </a:txBody>
                  <a:tcPr marL="47625" marR="38100" marT="19050" marB="19050" anchor="ctr">
                    <a:solidFill>
                      <a:srgbClr val="FFFFFF"/>
                    </a:solidFill>
                  </a:tcPr>
                </a:tc>
              </a:tr>
              <a:tr h="216535">
                <a:tc>
                  <a:txBody>
                    <a:bodyPr wrap="none"/>
                    <a:lstStyle/>
                    <a:p>
                      <a:pPr algn="l"/>
                      <a:r>
                        <a:rPr sz="1100" b="1">
                          <a:solidFill>
                            <a:srgbClr val="2E2E2E"/>
                          </a:solidFill>
                          <a:latin typeface="Calibri"/>
                        </a:rPr>
                        <a:t>– Chemicals and Agrochemicals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842.8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876.3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911.8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949.7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990.4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1,035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1,084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1,137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1,195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1,258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1,326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1,399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1,476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1,555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1,637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1,720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5.2%</a:t>
                      </a:r>
                      <a:endParaRPr sz="1100"/>
                    </a:p>
                  </a:txBody>
                  <a:tcPr marL="47625" marR="38100" marT="19050" marB="19050" anchor="ctr">
                    <a:solidFill>
                      <a:srgbClr val="F5F8FA"/>
                    </a:solidFill>
                  </a:tcPr>
                </a:tc>
              </a:tr>
              <a:tr h="216535">
                <a:tc>
                  <a:txBody>
                    <a:bodyPr wrap="none"/>
                    <a:lstStyle/>
                    <a:p>
                      <a:pPr algn="l"/>
                      <a:r>
                        <a:rPr sz="1100" b="1">
                          <a:solidFill>
                            <a:srgbClr val="2E2E2E"/>
                          </a:solidFill>
                          <a:latin typeface="Calibri"/>
                        </a:rPr>
                        <a:t>– Electronics and Technical Products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790.5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820.3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851.9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885.5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921.2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960.1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1,003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1,049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1,100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1,155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1,215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1,279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1,347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1,416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1,488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1,560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5.0%</a:t>
                      </a:r>
                      <a:endParaRPr sz="1100"/>
                    </a:p>
                  </a:txBody>
                  <a:tcPr marL="47625" marR="38100" marT="19050" marB="19050" anchor="ctr">
                    <a:solidFill>
                      <a:srgbClr val="FFFFFF"/>
                    </a:solidFill>
                  </a:tcPr>
                </a:tc>
              </a:tr>
              <a:tr h="216535">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33,337</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34,702</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36,143</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37,672</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39,304</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41,083</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43,022</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45,139</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47,452</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49,980</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52,717</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55,648</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58,734</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61,946</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65,241</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68,611</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5.3%</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7622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095625"/>
            <a:ext cx="11906250" cy="3533775"/>
          </a:xfrm>
          <a:prstGeom prst="roundRect">
            <a:avLst>
              <a:gd name="adj" fmla="val 215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1813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Volume Analysis, By Application</a:t>
            </a:r>
          </a:p>
        </p:txBody>
      </p:sp>
      <p:sp>
        <p:nvSpPr>
          <p:cNvPr id="16" name="Rectangle 15"/>
          <p:cNvSpPr/>
          <p:nvPr/>
        </p:nvSpPr>
        <p:spPr>
          <a:xfrm>
            <a:off x="276225" y="34194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505200"/>
            <a:ext cx="11639550" cy="30480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Food packaging segment is projected to register 5.1X higher volume than non-food packaging segment in 2036. Among flexible plastic packaging by application, food packaging segment is expected to witness the highest CAGR of 5.3% over the forecast period.</a:t>
            </a:r>
          </a:p>
          <a:p>
            <a:pPr algn="l">
              <a:lnSpc>
                <a:spcPct val="110000"/>
              </a:lnSpc>
              <a:spcBef>
                <a:spcPts val="0"/>
              </a:spcBef>
              <a:spcAft>
                <a:spcPts val="500"/>
              </a:spcAft>
            </a:pPr>
            <a:r>
              <a:rPr sz="1150" b="0">
                <a:solidFill>
                  <a:srgbClr val="2E2E2E"/>
                </a:solidFill>
                <a:latin typeface="Calibri"/>
              </a:rPr>
              <a:t>In terms of volume share by application, the food packaging segment is expected to dominate the market, maintaining its share and accounting for 83.6% share by 2036.</a:t>
            </a:r>
          </a:p>
          <a:p>
            <a:pPr algn="l">
              <a:lnSpc>
                <a:spcPct val="110000"/>
              </a:lnSpc>
              <a:spcBef>
                <a:spcPts val="0"/>
              </a:spcBef>
              <a:spcAft>
                <a:spcPts val="500"/>
              </a:spcAft>
            </a:pPr>
            <a:r>
              <a:rPr sz="1150" b="0">
                <a:solidFill>
                  <a:srgbClr val="2E2E2E"/>
                </a:solidFill>
                <a:latin typeface="Calibri"/>
              </a:rPr>
              <a:t>Food Packaging gains a marginal 9 BPS and grows at 5.3% because packaged and convenience food, chilled protein, snacks and food delivery keep expanding, and food remains the main user of barrier film. Non-Food Packaging, covering household care, personal care and industrial uses, grows at 5.2% and cedes a little share. The two move almost in step, so the mix shifts only slightly.</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Application (US$ Mn)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Application,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3476625"/>
          </a:xfrm>
          <a:prstGeom prst="roundRect">
            <a:avLst>
              <a:gd name="adj" fmla="val 219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Application (US$ Mn)</a:t>
            </a:r>
          </a:p>
        </p:txBody>
      </p:sp>
      <p:graphicFrame>
        <p:nvGraphicFramePr>
          <p:cNvPr id="13" name="Table 12"/>
          <p:cNvGraphicFramePr>
            <a:graphicFrameLocks noGrp="1"/>
          </p:cNvGraphicFramePr>
          <p:nvPr/>
        </p:nvGraphicFramePr>
        <p:xfrm>
          <a:off x="152400" y="1238250"/>
          <a:ext cx="11887203" cy="3009903"/>
        </p:xfrm>
        <a:graphic>
          <a:graphicData uri="http://schemas.openxmlformats.org/drawingml/2006/table">
            <a:tbl>
              <a:tblPr>
                <a:tableStyleId>{5C22544A-7EE6-4342-B048-85BDC9FD1C3A}</a:tableStyleId>
              </a:tblPr>
              <a:tblGrid>
                <a:gridCol w="2250074"/>
                <a:gridCol w="512077"/>
                <a:gridCol w="512077"/>
                <a:gridCol w="512077"/>
                <a:gridCol w="512077"/>
                <a:gridCol w="586034"/>
                <a:gridCol w="586034"/>
                <a:gridCol w="586034"/>
                <a:gridCol w="586034"/>
                <a:gridCol w="586034"/>
                <a:gridCol w="586034"/>
                <a:gridCol w="586034"/>
                <a:gridCol w="586034"/>
                <a:gridCol w="586034"/>
                <a:gridCol w="586034"/>
                <a:gridCol w="586034"/>
                <a:gridCol w="586034"/>
                <a:gridCol w="556413"/>
              </a:tblGrid>
              <a:tr h="215265">
                <a:tc>
                  <a:txBody>
                    <a:bodyPr wrap="none"/>
                    <a:lstStyle/>
                    <a:p>
                      <a:pPr algn="l"/>
                      <a:r>
                        <a:rPr sz="1100" b="1">
                          <a:solidFill>
                            <a:srgbClr val="0B2E4A"/>
                          </a:solidFill>
                          <a:latin typeface="Calibri"/>
                        </a:rPr>
                        <a:t>Application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F-CAGR</a:t>
                      </a:r>
                      <a:endParaRPr sz="1100"/>
                    </a:p>
                  </a:txBody>
                  <a:tcPr marL="47625" marR="38100" marT="19050" marB="19050" anchor="ctr">
                    <a:solidFill>
                      <a:srgbClr val="E0E8EF"/>
                    </a:solidFill>
                  </a:tcPr>
                </a:tc>
              </a:tr>
              <a:tr h="254058">
                <a:tc>
                  <a:txBody>
                    <a:bodyPr wrap="none"/>
                    <a:lstStyle/>
                    <a:p>
                      <a:pPr algn="l"/>
                      <a:r>
                        <a:rPr sz="1100" b="1">
                          <a:solidFill>
                            <a:srgbClr val="2E2E2E"/>
                          </a:solidFill>
                          <a:latin typeface="Calibri"/>
                        </a:rPr>
                        <a:t>Food Packaging</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84,640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88,323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92,245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96,487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101,046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106,432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112,408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119,053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126,436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134,656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143,729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153,665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164,391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175,878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188,072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200,977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6.6%</a:t>
                      </a:r>
                      <a:endParaRPr sz="1100"/>
                    </a:p>
                  </a:txBody>
                  <a:tcPr marL="47625" marR="38100" marT="19050" marB="19050" anchor="ctr">
                    <a:solidFill>
                      <a:srgbClr val="FFFFFF"/>
                    </a:solidFill>
                  </a:tcPr>
                </a:tc>
              </a:tr>
              <a:tr h="254058">
                <a:tc>
                  <a:txBody>
                    <a:bodyPr wrap="none"/>
                    <a:lstStyle/>
                    <a:p>
                      <a:pPr algn="l"/>
                      <a:r>
                        <a:rPr sz="1100" b="1">
                          <a:solidFill>
                            <a:srgbClr val="2E2E2E"/>
                          </a:solidFill>
                          <a:latin typeface="Calibri"/>
                        </a:rPr>
                        <a:t>– Meat and Processed Meat</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15,316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16,009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16,747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17,547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18,412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19,435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20,573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21,842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23,252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24,823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26,558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28,459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30,513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32,718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35,062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37,549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6.8%</a:t>
                      </a:r>
                      <a:endParaRPr sz="1100"/>
                    </a:p>
                  </a:txBody>
                  <a:tcPr marL="47625" marR="38100" marT="19050" marB="19050" anchor="ctr">
                    <a:solidFill>
                      <a:srgbClr val="F5F8FA"/>
                    </a:solidFill>
                  </a:tcPr>
                </a:tc>
              </a:tr>
              <a:tr h="254058">
                <a:tc>
                  <a:txBody>
                    <a:bodyPr wrap="none"/>
                    <a:lstStyle/>
                    <a:p>
                      <a:pPr algn="l"/>
                      <a:r>
                        <a:rPr sz="1100" b="1">
                          <a:solidFill>
                            <a:srgbClr val="2E2E2E"/>
                          </a:solidFill>
                          <a:latin typeface="Calibri"/>
                        </a:rPr>
                        <a:t>– Poultry</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8,480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8,833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9,208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9,612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10,048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10,562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11,132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11,763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12,463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13,239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14,091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15,018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16,015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17,080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18,209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19,402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6.3%</a:t>
                      </a:r>
                      <a:endParaRPr sz="1100"/>
                    </a:p>
                  </a:txBody>
                  <a:tcPr marL="47625" marR="38100" marT="19050" marB="19050" anchor="ctr">
                    <a:solidFill>
                      <a:srgbClr val="FFFFFF"/>
                    </a:solidFill>
                  </a:tcPr>
                </a:tc>
              </a:tr>
              <a:tr h="254058">
                <a:tc>
                  <a:txBody>
                    <a:bodyPr wrap="none"/>
                    <a:lstStyle/>
                    <a:p>
                      <a:pPr algn="l"/>
                      <a:r>
                        <a:rPr sz="1100" b="1">
                          <a:solidFill>
                            <a:srgbClr val="2E2E2E"/>
                          </a:solidFill>
                          <a:latin typeface="Calibri"/>
                        </a:rPr>
                        <a:t>– Fish and Seafood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8,737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9,090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9,467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9,875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10,312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10,832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11,409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12,050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12,763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13,560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14,446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15,421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16,473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17,598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18,790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20,049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6.3%</a:t>
                      </a:r>
                      <a:endParaRPr sz="1100"/>
                    </a:p>
                  </a:txBody>
                  <a:tcPr marL="47625" marR="38100" marT="19050" marB="19050" anchor="ctr">
                    <a:solidFill>
                      <a:srgbClr val="F5F8FA"/>
                    </a:solidFill>
                  </a:tcPr>
                </a:tc>
              </a:tr>
              <a:tr h="254058">
                <a:tc>
                  <a:txBody>
                    <a:bodyPr wrap="none"/>
                    <a:lstStyle/>
                    <a:p>
                      <a:pPr algn="l"/>
                      <a:r>
                        <a:rPr sz="1100" b="1">
                          <a:solidFill>
                            <a:srgbClr val="2E2E2E"/>
                          </a:solidFill>
                          <a:latin typeface="Calibri"/>
                        </a:rPr>
                        <a:t>– Dairy and Cheese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10,502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10,982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11,494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12,050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12,645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13,335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14,087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14,909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15,809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16,804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17,897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19,090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20,373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21,743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23,194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24,726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6.4%</a:t>
                      </a:r>
                      <a:endParaRPr sz="1100"/>
                    </a:p>
                  </a:txBody>
                  <a:tcPr marL="47625" marR="38100" marT="19050" marB="19050" anchor="ctr">
                    <a:solidFill>
                      <a:srgbClr val="FFFFFF"/>
                    </a:solidFill>
                  </a:tcPr>
                </a:tc>
              </a:tr>
              <a:tr h="254058">
                <a:tc>
                  <a:txBody>
                    <a:bodyPr wrap="none"/>
                    <a:lstStyle/>
                    <a:p>
                      <a:pPr algn="l"/>
                      <a:r>
                        <a:rPr sz="1100" b="1">
                          <a:solidFill>
                            <a:srgbClr val="2E2E2E"/>
                          </a:solidFill>
                          <a:latin typeface="Calibri"/>
                        </a:rPr>
                        <a:t>– Ready Meals and Prepared Foods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10,188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10,628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11,100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11,615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12,174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12,839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13,582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14,411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15,335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16,366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17,510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18,767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20,125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21,582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23,131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24,771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6.8%</a:t>
                      </a:r>
                      <a:endParaRPr sz="1100"/>
                    </a:p>
                  </a:txBody>
                  <a:tcPr marL="47625" marR="38100" marT="19050" marB="19050" anchor="ctr">
                    <a:solidFill>
                      <a:srgbClr val="F5F8FA"/>
                    </a:solidFill>
                  </a:tcPr>
                </a:tc>
              </a:tr>
              <a:tr h="254058">
                <a:tc>
                  <a:txBody>
                    <a:bodyPr wrap="none"/>
                    <a:lstStyle/>
                    <a:p>
                      <a:pPr algn="l"/>
                      <a:r>
                        <a:rPr sz="1100" b="1">
                          <a:solidFill>
                            <a:srgbClr val="2E2E2E"/>
                          </a:solidFill>
                          <a:latin typeface="Calibri"/>
                        </a:rPr>
                        <a:t>– Bakery, Confectionery and Snacks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8,080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8,446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8,833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9,248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9,692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10,215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10,793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11,432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12,140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12,926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13,795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14,747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15,771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16,864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18,026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19,257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6.5%</a:t>
                      </a:r>
                      <a:endParaRPr sz="1100"/>
                    </a:p>
                  </a:txBody>
                  <a:tcPr marL="47625" marR="38100" marT="19050" marB="19050" anchor="ctr">
                    <a:solidFill>
                      <a:srgbClr val="FFFFFF"/>
                    </a:solidFill>
                  </a:tcPr>
                </a:tc>
              </a:tr>
              <a:tr h="254058">
                <a:tc>
                  <a:txBody>
                    <a:bodyPr wrap="none"/>
                    <a:lstStyle/>
                    <a:p>
                      <a:pPr algn="l"/>
                      <a:r>
                        <a:rPr sz="1100" b="1">
                          <a:solidFill>
                            <a:srgbClr val="2E2E2E"/>
                          </a:solidFill>
                          <a:latin typeface="Calibri"/>
                        </a:rPr>
                        <a:t>– Dry Foods and Powders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8,318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8,648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9,001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9,383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9,793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10,280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10,821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11,422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12,091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12,838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13,667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14,576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15,556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16,603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17,712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18,882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6.3%</a:t>
                      </a:r>
                      <a:endParaRPr sz="1100"/>
                    </a:p>
                  </a:txBody>
                  <a:tcPr marL="47625" marR="38100" marT="19050" marB="19050" anchor="ctr">
                    <a:solidFill>
                      <a:srgbClr val="F5F8FA"/>
                    </a:solidFill>
                  </a:tcPr>
                </a:tc>
              </a:tr>
              <a:tr h="254058">
                <a:tc>
                  <a:txBody>
                    <a:bodyPr wrap="none"/>
                    <a:lstStyle/>
                    <a:p>
                      <a:pPr algn="l"/>
                      <a:r>
                        <a:rPr sz="1100" b="1">
                          <a:solidFill>
                            <a:srgbClr val="2E2E2E"/>
                          </a:solidFill>
                          <a:latin typeface="Calibri"/>
                        </a:rPr>
                        <a:t>– Pet Food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5,702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5,975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6,267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6,582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6,922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7,323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7,768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8,264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8,818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9,439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10,125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10,878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11,691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12,564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13,492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14,479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7.1%</a:t>
                      </a:r>
                      <a:endParaRPr sz="1100"/>
                    </a:p>
                  </a:txBody>
                  <a:tcPr marL="47625" marR="38100" marT="19050" marB="19050" anchor="ctr">
                    <a:solidFill>
                      <a:srgbClr val="FFFFFF"/>
                    </a:solidFill>
                  </a:tcPr>
                </a:tc>
              </a:tr>
              <a:tr h="254058">
                <a:tc>
                  <a:txBody>
                    <a:bodyPr wrap="none"/>
                    <a:lstStyle/>
                    <a:p>
                      <a:pPr algn="l"/>
                      <a:r>
                        <a:rPr sz="1100" b="1">
                          <a:solidFill>
                            <a:srgbClr val="2E2E2E"/>
                          </a:solidFill>
                          <a:latin typeface="Calibri"/>
                        </a:rPr>
                        <a:t>– Other Food Products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9,318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9,713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10,129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10,574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11,048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11,610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12,243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12,959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13,765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14,660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15,640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16,710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17,874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19,126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20,456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21,863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6.5%</a:t>
                      </a:r>
                      <a:endParaRPr sz="1100"/>
                    </a:p>
                  </a:txBody>
                  <a:tcPr marL="47625" marR="38100" marT="19050" marB="19050" anchor="ctr">
                    <a:solidFill>
                      <a:srgbClr val="F5F8FA"/>
                    </a:solidFill>
                  </a:tcPr>
                </a:tc>
              </a:tr>
              <a:tr h="254058">
                <a:tc>
                  <a:txBody>
                    <a:bodyPr wrap="none"/>
                    <a:lstStyle/>
                    <a:p>
                      <a:pPr algn="l"/>
                      <a:r>
                        <a:rPr sz="1100" b="1">
                          <a:solidFill>
                            <a:srgbClr val="2E2E2E"/>
                          </a:solidFill>
                          <a:latin typeface="Calibri"/>
                        </a:rPr>
                        <a:t>Non-Food Packaging</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16,617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17,341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18,114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18,953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19,854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20,914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22,084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23,378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24,810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26,403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28,164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30,093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32,168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34,388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36,742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39,231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6.5%</a:t>
                      </a:r>
                      <a:endParaRPr sz="1100"/>
                    </a:p>
                  </a:txBody>
                  <a:tcPr marL="47625" marR="38100" marT="19050" marB="19050" anchor="ctr">
                    <a:solidFill>
                      <a:srgbClr val="FFFFFF"/>
                    </a:solidFill>
                  </a:tcPr>
                </a:tc>
              </a:tr>
            </a:tbl>
          </a:graphicData>
        </a:graphic>
      </p:graphicFrame>
      <p:sp>
        <p:nvSpPr>
          <p:cNvPr id="14" name="TextBox 13"/>
          <p:cNvSpPr txBox="1"/>
          <p:nvPr/>
        </p:nvSpPr>
        <p:spPr>
          <a:xfrm>
            <a:off x="219075" y="4257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Application (US$ Mn)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Application, 2021–2036, highlighting the sub-segments driving growth</a:t>
            </a:r>
          </a:p>
        </p:txBody>
      </p:sp>
      <p:sp>
        <p:nvSpPr>
          <p:cNvPr id="10" name="Rounded Rectangle 9"/>
          <p:cNvSpPr/>
          <p:nvPr/>
        </p:nvSpPr>
        <p:spPr>
          <a:xfrm>
            <a:off x="142875" y="981075"/>
            <a:ext cx="11906250" cy="1981200"/>
          </a:xfrm>
          <a:prstGeom prst="roundRect">
            <a:avLst>
              <a:gd name="adj" fmla="val 384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Application (US$ Mn)</a:t>
            </a:r>
          </a:p>
        </p:txBody>
      </p:sp>
      <p:graphicFrame>
        <p:nvGraphicFramePr>
          <p:cNvPr id="12" name="Table 11"/>
          <p:cNvGraphicFramePr>
            <a:graphicFrameLocks noGrp="1"/>
          </p:cNvGraphicFramePr>
          <p:nvPr/>
        </p:nvGraphicFramePr>
        <p:xfrm>
          <a:off x="152400" y="1238250"/>
          <a:ext cx="11887204" cy="1514475"/>
        </p:xfrm>
        <a:graphic>
          <a:graphicData uri="http://schemas.openxmlformats.org/drawingml/2006/table">
            <a:tbl>
              <a:tblPr>
                <a:tableStyleId>{5C22544A-7EE6-4342-B048-85BDC9FD1C3A}</a:tableStyleId>
              </a:tblPr>
              <a:tblGrid>
                <a:gridCol w="2268502"/>
                <a:gridCol w="565806"/>
                <a:gridCol w="565806"/>
                <a:gridCol w="565806"/>
                <a:gridCol w="565806"/>
                <a:gridCol w="565806"/>
                <a:gridCol w="565806"/>
                <a:gridCol w="565806"/>
                <a:gridCol w="565806"/>
                <a:gridCol w="565806"/>
                <a:gridCol w="565806"/>
                <a:gridCol w="565806"/>
                <a:gridCol w="565806"/>
                <a:gridCol w="565806"/>
                <a:gridCol w="565806"/>
                <a:gridCol w="565806"/>
                <a:gridCol w="565806"/>
                <a:gridCol w="565806"/>
              </a:tblGrid>
              <a:tr h="215265">
                <a:tc>
                  <a:txBody>
                    <a:bodyPr wrap="none"/>
                    <a:lstStyle/>
                    <a:p>
                      <a:pPr algn="l"/>
                      <a:r>
                        <a:rPr sz="1100" b="1">
                          <a:solidFill>
                            <a:srgbClr val="0B2E4A"/>
                          </a:solidFill>
                          <a:latin typeface="Calibri"/>
                        </a:rPr>
                        <a:t>Application</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2021A</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2022A</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2023A</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2024A</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2025A</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2026E</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2027F</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2028F</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2029F</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2030F</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2031F</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2032F</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2033F</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2034F</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2035F</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2036F</a:t>
                      </a:r>
                      <a:endParaRPr sz="1100"/>
                    </a:p>
                  </a:txBody>
                  <a:tcPr marL="38100" marR="28575" marT="19050" marB="19050" anchor="ctr">
                    <a:solidFill>
                      <a:srgbClr val="E0E8EF"/>
                    </a:solidFill>
                  </a:tcPr>
                </a:tc>
                <a:tc>
                  <a:txBody>
                    <a:bodyPr wrap="none"/>
                    <a:lstStyle/>
                    <a:p>
                      <a:pPr algn="l"/>
                      <a:r>
                        <a:rPr sz="1100" b="1">
                          <a:solidFill>
                            <a:srgbClr val="0B2E4A"/>
                          </a:solidFill>
                          <a:latin typeface="Calibri"/>
                        </a:rPr>
                        <a:t>F-CAGR</a:t>
                      </a:r>
                      <a:endParaRPr sz="1100"/>
                    </a:p>
                  </a:txBody>
                  <a:tcPr marL="38100" marR="28575" marT="19050" marB="19050" anchor="ctr">
                    <a:solidFill>
                      <a:srgbClr val="E0E8EF"/>
                    </a:solidFill>
                  </a:tcPr>
                </a:tc>
              </a:tr>
              <a:tr h="216535">
                <a:tc>
                  <a:txBody>
                    <a:bodyPr wrap="none"/>
                    <a:lstStyle/>
                    <a:p>
                      <a:pPr algn="l"/>
                      <a:r>
                        <a:rPr sz="1100" b="1">
                          <a:solidFill>
                            <a:srgbClr val="2E2E2E"/>
                          </a:solidFill>
                          <a:latin typeface="Calibri"/>
                        </a:rPr>
                        <a:t>– Pharmaceutical and Healthcare</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4,647</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4,874</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5,116</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5,379</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5,662</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5,993</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6,358</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6,760</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7,206</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7,703</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8,253</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8,859</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9,514</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10,215</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10,962</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11,755</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7.0%</a:t>
                      </a:r>
                      <a:endParaRPr sz="1100"/>
                    </a:p>
                  </a:txBody>
                  <a:tcPr marL="38100" marR="28575" marT="19050" marB="19050" anchor="ctr">
                    <a:solidFill>
                      <a:srgbClr val="FFFFFF"/>
                    </a:solidFill>
                  </a:tcPr>
                </a:tc>
              </a:tr>
              <a:tr h="216535">
                <a:tc>
                  <a:txBody>
                    <a:bodyPr wrap="none"/>
                    <a:lstStyle/>
                    <a:p>
                      <a:pPr algn="l"/>
                      <a:r>
                        <a:rPr sz="1100" b="1">
                          <a:solidFill>
                            <a:srgbClr val="2E2E2E"/>
                          </a:solidFill>
                          <a:latin typeface="Calibri"/>
                        </a:rPr>
                        <a:t>– Personal Care and Cosmetics</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3,793</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3,949</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4,117</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4,297</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4,491</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4,720</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4,973</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5,256</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5,570</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5,920</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6,307</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6,730</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7,186</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7,673</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8,190</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8,734</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6.3%</a:t>
                      </a:r>
                      <a:endParaRPr sz="1100"/>
                    </a:p>
                  </a:txBody>
                  <a:tcPr marL="38100" marR="28575" marT="19050" marB="19050" anchor="ctr">
                    <a:solidFill>
                      <a:srgbClr val="F5F8FA"/>
                    </a:solidFill>
                  </a:tcPr>
                </a:tc>
              </a:tr>
              <a:tr h="216535">
                <a:tc>
                  <a:txBody>
                    <a:bodyPr wrap="none"/>
                    <a:lstStyle/>
                    <a:p>
                      <a:pPr algn="l"/>
                      <a:r>
                        <a:rPr sz="1100" b="1">
                          <a:solidFill>
                            <a:srgbClr val="2E2E2E"/>
                          </a:solidFill>
                          <a:latin typeface="Calibri"/>
                        </a:rPr>
                        <a:t>– Household Care</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3,234</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3,370</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3,516</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3,674</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3,844</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4,041</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4,256</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4,492</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4,750</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5,036</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5,350</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5,692</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6,060</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6,451</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6,865</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7,301</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6.1%</a:t>
                      </a:r>
                      <a:endParaRPr sz="1100"/>
                    </a:p>
                  </a:txBody>
                  <a:tcPr marL="38100" marR="28575" marT="19050" marB="19050" anchor="ctr">
                    <a:solidFill>
                      <a:srgbClr val="FFFFFF"/>
                    </a:solidFill>
                  </a:tcPr>
                </a:tc>
              </a:tr>
              <a:tr h="216535">
                <a:tc>
                  <a:txBody>
                    <a:bodyPr wrap="none"/>
                    <a:lstStyle/>
                    <a:p>
                      <a:pPr algn="l"/>
                      <a:r>
                        <a:rPr sz="1100" b="1">
                          <a:solidFill>
                            <a:srgbClr val="2E2E2E"/>
                          </a:solidFill>
                          <a:latin typeface="Calibri"/>
                        </a:rPr>
                        <a:t>– Chemicals and Agrochemicals</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2,551</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2,659</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2,773</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2,899</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3,034</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3,195</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3,373</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3,572</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3,792</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4,036</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4,306</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4,601</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4,918</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5,257</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5,617</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5,997</a:t>
                      </a:r>
                      <a:endParaRPr sz="1100"/>
                    </a:p>
                  </a:txBody>
                  <a:tcPr marL="38100" marR="28575" marT="19050" marB="19050" anchor="ctr">
                    <a:solidFill>
                      <a:srgbClr val="F5F8FA"/>
                    </a:solidFill>
                  </a:tcPr>
                </a:tc>
                <a:tc>
                  <a:txBody>
                    <a:bodyPr wrap="none"/>
                    <a:lstStyle/>
                    <a:p>
                      <a:pPr algn="l"/>
                      <a:r>
                        <a:rPr sz="1100" b="0">
                          <a:solidFill>
                            <a:srgbClr val="2E2E2E"/>
                          </a:solidFill>
                          <a:latin typeface="Calibri"/>
                        </a:rPr>
                        <a:t>6.5%</a:t>
                      </a:r>
                      <a:endParaRPr sz="1100"/>
                    </a:p>
                  </a:txBody>
                  <a:tcPr marL="38100" marR="28575" marT="19050" marB="19050" anchor="ctr">
                    <a:solidFill>
                      <a:srgbClr val="F5F8FA"/>
                    </a:solidFill>
                  </a:tcPr>
                </a:tc>
              </a:tr>
              <a:tr h="216535">
                <a:tc>
                  <a:txBody>
                    <a:bodyPr wrap="none"/>
                    <a:lstStyle/>
                    <a:p>
                      <a:pPr algn="l"/>
                      <a:r>
                        <a:rPr sz="1100" b="1">
                          <a:solidFill>
                            <a:srgbClr val="2E2E2E"/>
                          </a:solidFill>
                          <a:latin typeface="Calibri"/>
                        </a:rPr>
                        <a:t>– Electronics and Technical Products</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2,392</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2,488</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2,591</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2,703</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2,823</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2,965</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3,123</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3,298</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3,492</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3,709</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3,948</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4,210</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4,491</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4,791</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5,108</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5,444</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6.3%</a:t>
                      </a:r>
                      <a:endParaRPr sz="1100"/>
                    </a:p>
                  </a:txBody>
                  <a:tcPr marL="38100" marR="28575" marT="19050" marB="19050" anchor="ctr">
                    <a:solidFill>
                      <a:srgbClr val="FFFFFF"/>
                    </a:solidFill>
                  </a:tcPr>
                </a:tc>
              </a:tr>
              <a:tr h="216535">
                <a:tc>
                  <a:txBody>
                    <a:bodyPr wrap="none"/>
                    <a:lstStyle/>
                    <a:p>
                      <a:pPr algn="l"/>
                      <a:r>
                        <a:rPr sz="1100" b="1">
                          <a:solidFill>
                            <a:srgbClr val="2E2E2E"/>
                          </a:solidFill>
                          <a:latin typeface="Calibri"/>
                        </a:rPr>
                        <a:t>Total</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101,257</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105,663</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110,360</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115,439</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120,900</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127,346</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134,491</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142,430</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151,246</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161,060</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171,894</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183,758</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196,559</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210,265</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224,814</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240,208</a:t>
                      </a:r>
                      <a:endParaRPr sz="1100"/>
                    </a:p>
                  </a:txBody>
                  <a:tcPr marL="38100" marR="28575" marT="19050" marB="19050" anchor="ctr">
                    <a:solidFill>
                      <a:srgbClr val="E0E8EF"/>
                    </a:solidFill>
                  </a:tcPr>
                </a:tc>
                <a:tc>
                  <a:txBody>
                    <a:bodyPr wrap="none"/>
                    <a:lstStyle/>
                    <a:p>
                      <a:pPr algn="l"/>
                      <a:r>
                        <a:rPr sz="1100" b="1">
                          <a:solidFill>
                            <a:srgbClr val="2E2E2E"/>
                          </a:solidFill>
                          <a:latin typeface="Calibri"/>
                        </a:rPr>
                        <a:t>6.6%</a:t>
                      </a:r>
                      <a:endParaRPr sz="1100"/>
                    </a:p>
                  </a:txBody>
                  <a:tcPr marL="38100" marR="28575" marT="19050" marB="19050" anchor="ctr">
                    <a:solidFill>
                      <a:srgbClr val="E0E8EF"/>
                    </a:solidFill>
                  </a:tcPr>
                </a:tc>
              </a:tr>
            </a:tbl>
          </a:graphicData>
        </a:graphic>
      </p:graphicFrame>
      <p:sp>
        <p:nvSpPr>
          <p:cNvPr id="13" name="TextBox 12"/>
          <p:cNvSpPr txBox="1"/>
          <p:nvPr/>
        </p:nvSpPr>
        <p:spPr>
          <a:xfrm>
            <a:off x="219075" y="27622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095625"/>
            <a:ext cx="11906250" cy="3533775"/>
          </a:xfrm>
          <a:prstGeom prst="roundRect">
            <a:avLst>
              <a:gd name="adj" fmla="val 215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1813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Application</a:t>
            </a:r>
          </a:p>
        </p:txBody>
      </p:sp>
      <p:sp>
        <p:nvSpPr>
          <p:cNvPr id="16" name="Rectangle 15"/>
          <p:cNvSpPr/>
          <p:nvPr/>
        </p:nvSpPr>
        <p:spPr>
          <a:xfrm>
            <a:off x="276225" y="34194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505200"/>
            <a:ext cx="11639550" cy="30480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Food packaging segment is projected to register 5.1X higher value than non-food packaging segment in 2036. Among flexible plastic packaging by application, food packaging segment is expected to witness the highest CAGR of 6.6% over the forecast period.</a:t>
            </a:r>
          </a:p>
          <a:p>
            <a:pPr algn="l">
              <a:lnSpc>
                <a:spcPct val="110000"/>
              </a:lnSpc>
              <a:spcBef>
                <a:spcPts val="0"/>
              </a:spcBef>
              <a:spcAft>
                <a:spcPts val="500"/>
              </a:spcAft>
            </a:pPr>
            <a:r>
              <a:rPr sz="1150" b="0">
                <a:solidFill>
                  <a:srgbClr val="2E2E2E"/>
                </a:solidFill>
                <a:latin typeface="Calibri"/>
              </a:rPr>
              <a:t>In terms of value share by application, the food packaging segment is expected to dominate the market, maintaining its share and accounting for 83.7% share by 2036.</a:t>
            </a:r>
          </a:p>
          <a:p>
            <a:pPr algn="l">
              <a:lnSpc>
                <a:spcPct val="110000"/>
              </a:lnSpc>
              <a:spcBef>
                <a:spcPts val="0"/>
              </a:spcBef>
              <a:spcAft>
                <a:spcPts val="500"/>
              </a:spcAft>
            </a:pPr>
            <a:r>
              <a:rPr sz="1150" b="0">
                <a:solidFill>
                  <a:srgbClr val="2E2E2E"/>
                </a:solidFill>
                <a:latin typeface="Calibri"/>
              </a:rPr>
              <a:t>Food Packaging gains 9 BPS of value share because shelf-life extension, protein and ready-meal growth and food delivery all depend on flexible barrier formats, reinforced by e-commerce, rising packaged-food consumption in emerging markets and brand-owner recyclability targets. Non-Food Packaging, covering personal care, household and healthcare, still grows at 6.5% but trails the 6.6% of food, so it concedes 9 BPS in a narrow shift.</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Application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Application in 2021, 2026 and 2036, highlighting share shifts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7210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Application ·  2021 / 2026 / 2036 (US$ Mn)  ·  right axis = BPS share shift</a:t>
            </a:r>
          </a:p>
        </p:txBody>
      </p:sp>
      <p:graphicFrame>
        <p:nvGraphicFramePr>
          <p:cNvPr id="13" name="Chart 12"/>
          <p:cNvGraphicFramePr>
            <a:graphicFrameLocks noGrp="1"/>
          </p:cNvGraphicFramePr>
          <p:nvPr/>
        </p:nvGraphicFramePr>
        <p:xfrm>
          <a:off x="238125" y="1409700"/>
          <a:ext cx="4614672" cy="5162550"/>
        </p:xfrm>
        <a:graphic>
          <a:graphicData uri="http://schemas.openxmlformats.org/drawingml/2006/chart">
            <c:chart xmlns:c="http://schemas.openxmlformats.org/drawingml/2006/chart" r:id="rId3"/>
          </a:graphicData>
        </a:graphic>
      </p:graphicFrame>
      <p:sp>
        <p:nvSpPr>
          <p:cNvPr id="14" name="TextBox 13"/>
          <p:cNvSpPr txBox="1"/>
          <p:nvPr/>
        </p:nvSpPr>
        <p:spPr>
          <a:xfrm>
            <a:off x="4852797" y="1419225"/>
            <a:ext cx="2595753" cy="177927"/>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5" name="FMI Lock Anchor"/>
          <p:cNvSpPr txBox="1"/>
          <p:nvPr/>
        </p:nvSpPr>
        <p:spPr>
          <a:xfrm>
            <a:off x="2678811" y="3932301"/>
            <a:ext cx="38100" cy="38100"/>
          </a:xfrm>
          <a:prstGeom prst="rect">
            <a:avLst/>
          </a:prstGeom>
          <a:noFill/>
        </p:spPr>
        <p:txBody>
          <a:bodyPr wrap="none">
            <a:spAutoFit/>
          </a:bodyPr>
          <a:lstStyle/>
          <a:p/>
        </p:txBody>
      </p:sp>
      <p:sp>
        <p:nvSpPr>
          <p:cNvPr id="16" name="FMI Legend Chip"/>
          <p:cNvSpPr/>
          <p:nvPr/>
        </p:nvSpPr>
        <p:spPr>
          <a:xfrm>
            <a:off x="4928997" y="1893491"/>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5090922" y="188872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5233797" y="181252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Non-Food Packaging</a:t>
            </a:r>
          </a:p>
        </p:txBody>
      </p:sp>
      <p:sp>
        <p:nvSpPr>
          <p:cNvPr id="19" name="BPS Value 1"/>
          <p:cNvSpPr txBox="1"/>
          <p:nvPr/>
        </p:nvSpPr>
        <p:spPr>
          <a:xfrm>
            <a:off x="6896100" y="1874441"/>
            <a:ext cx="514350" cy="123825"/>
          </a:xfrm>
          <a:prstGeom prst="rect">
            <a:avLst/>
          </a:prstGeom>
          <a:noFill/>
        </p:spPr>
        <p:txBody>
          <a:bodyPr wrap="none" lIns="0" rIns="0" tIns="0" bIns="0" anchor="ctr">
            <a:spAutoFit/>
          </a:bodyPr>
          <a:lstStyle/>
          <a:p>
            <a:pPr algn="r"/>
            <a:r>
              <a:rPr sz="900" b="1">
                <a:solidFill>
                  <a:srgbClr val="E44D3A"/>
                </a:solidFill>
                <a:latin typeface="Calibri"/>
              </a:rPr>
              <a:t>-9</a:t>
            </a:r>
          </a:p>
        </p:txBody>
      </p:sp>
      <p:sp>
        <p:nvSpPr>
          <p:cNvPr id="20" name="FMI Legend Chip"/>
          <p:cNvSpPr/>
          <p:nvPr/>
        </p:nvSpPr>
        <p:spPr>
          <a:xfrm>
            <a:off x="4928997" y="4261978"/>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a:off x="5090922" y="425721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5233797" y="418101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Food Packaging</a:t>
            </a:r>
          </a:p>
        </p:txBody>
      </p:sp>
      <p:sp>
        <p:nvSpPr>
          <p:cNvPr id="23" name="BPS Value 2"/>
          <p:cNvSpPr txBox="1"/>
          <p:nvPr/>
        </p:nvSpPr>
        <p:spPr>
          <a:xfrm>
            <a:off x="6896100" y="4242928"/>
            <a:ext cx="514350" cy="123825"/>
          </a:xfrm>
          <a:prstGeom prst="rect">
            <a:avLst/>
          </a:prstGeom>
          <a:noFill/>
        </p:spPr>
        <p:txBody>
          <a:bodyPr wrap="none" lIns="0" rIns="0" tIns="0" bIns="0" anchor="ctr">
            <a:spAutoFit/>
          </a:bodyPr>
          <a:lstStyle/>
          <a:p>
            <a:pPr algn="r"/>
            <a:r>
              <a:rPr sz="900" b="1">
                <a:solidFill>
                  <a:srgbClr val="2E7D32"/>
                </a:solidFill>
                <a:latin typeface="Calibri"/>
              </a:rPr>
              <a:t>+9</a:t>
            </a:r>
          </a:p>
        </p:txBody>
      </p:sp>
      <p:sp>
        <p:nvSpPr>
          <p:cNvPr id="24" name="Rounded Rectangle 23"/>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Application</a:t>
            </a:r>
          </a:p>
        </p:txBody>
      </p:sp>
      <p:sp>
        <p:nvSpPr>
          <p:cNvPr id="26" name="Rectangle 25"/>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Among flexible plastic packaging by application, food packaging segment is expected to witness the highest CAGR of 6.6% over the forecast period.</a:t>
            </a:r>
          </a:p>
          <a:p>
            <a:pPr algn="l">
              <a:lnSpc>
                <a:spcPct val="110000"/>
              </a:lnSpc>
              <a:spcBef>
                <a:spcPts val="0"/>
              </a:spcBef>
              <a:spcAft>
                <a:spcPts val="500"/>
              </a:spcAft>
            </a:pPr>
            <a:r>
              <a:rPr sz="1150" b="0">
                <a:solidFill>
                  <a:srgbClr val="2E2E2E"/>
                </a:solidFill>
                <a:latin typeface="Calibri"/>
              </a:rPr>
              <a:t>In terms of value share by application, the food packaging segment is expected to dominate the market, maintaining its share and accounting for 83.7% share by 2036.</a:t>
            </a:r>
          </a:p>
          <a:p>
            <a:pPr algn="l">
              <a:lnSpc>
                <a:spcPct val="110000"/>
              </a:lnSpc>
              <a:spcBef>
                <a:spcPts val="0"/>
              </a:spcBef>
              <a:spcAft>
                <a:spcPts val="500"/>
              </a:spcAft>
            </a:pPr>
            <a:r>
              <a:rPr sz="1150" b="0">
                <a:solidFill>
                  <a:srgbClr val="2E2E2E"/>
                </a:solidFill>
                <a:latin typeface="Calibri"/>
              </a:rPr>
              <a:t>Food Packaging grows fastest at 6.6% because flexible formats suit the expansion of ready meals, protein, snacks, dairy and food delivery, where barrier films cut waste and extend shelf life. Urbanisation and busier households keep shifting consumption toward packaged food. Non-Food Packaging, covering personal care, household, pharma and industrial uses, expands only marginally slower at 6.5%, so the gap between the two is narrow.</a:t>
            </a: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YoY Analysis of Global Market Volume, By Application (%)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Year-on-year volume growth by Application, 2022–2036, highlighting acceleration and slowdown</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4267200"/>
          </a:xfrm>
          <a:prstGeom prst="roundRect">
            <a:avLst>
              <a:gd name="adj" fmla="val 178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YoY Growth, By Application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3" name="Table 12"/>
          <p:cNvGraphicFramePr>
            <a:graphicFrameLocks noGrp="1"/>
          </p:cNvGraphicFramePr>
          <p:nvPr/>
        </p:nvGraphicFramePr>
        <p:xfrm>
          <a:off x="152400" y="1238250"/>
          <a:ext cx="11887204" cy="3800481"/>
        </p:xfrm>
        <a:graphic>
          <a:graphicData uri="http://schemas.openxmlformats.org/drawingml/2006/table">
            <a:tbl>
              <a:tblPr>
                <a:tableStyleId>{5C22544A-7EE6-4342-B048-85BDC9FD1C3A}</a:tableStyleId>
              </a:tblPr>
              <a:tblGrid>
                <a:gridCol w="2519494"/>
                <a:gridCol w="624514"/>
                <a:gridCol w="624514"/>
                <a:gridCol w="624514"/>
                <a:gridCol w="624514"/>
                <a:gridCol w="624514"/>
                <a:gridCol w="624514"/>
                <a:gridCol w="624514"/>
                <a:gridCol w="624514"/>
                <a:gridCol w="624514"/>
                <a:gridCol w="624514"/>
                <a:gridCol w="624514"/>
                <a:gridCol w="624514"/>
                <a:gridCol w="624514"/>
                <a:gridCol w="624514"/>
                <a:gridCol w="624514"/>
              </a:tblGrid>
              <a:tr h="215265">
                <a:tc>
                  <a:txBody>
                    <a:bodyPr wrap="none"/>
                    <a:lstStyle/>
                    <a:p>
                      <a:pPr algn="l"/>
                      <a:r>
                        <a:rPr sz="1100" b="1">
                          <a:solidFill>
                            <a:srgbClr val="0B2E4A"/>
                          </a:solidFill>
                          <a:latin typeface="Calibri"/>
                        </a:rPr>
                        <a:t>Application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2036F</a:t>
                      </a:r>
                      <a:endParaRPr sz="1100"/>
                    </a:p>
                  </a:txBody>
                  <a:tcPr marL="47625" marR="38100" marT="19050" marB="19050" anchor="ctr">
                    <a:solidFill>
                      <a:srgbClr val="E0E8EF"/>
                    </a:solidFill>
                  </a:tcPr>
                </a:tc>
              </a:tr>
              <a:tr h="224076">
                <a:tc>
                  <a:txBody>
                    <a:bodyPr wrap="none"/>
                    <a:lstStyle/>
                    <a:p>
                      <a:pPr algn="l"/>
                      <a:r>
                        <a:rPr sz="1100" b="1">
                          <a:solidFill>
                            <a:srgbClr val="2E2E2E"/>
                          </a:solidFill>
                          <a:latin typeface="Calibri"/>
                        </a:rPr>
                        <a:t>Food Packaging</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5.2%</a:t>
                      </a:r>
                      <a:endParaRPr sz="1100"/>
                    </a:p>
                  </a:txBody>
                  <a:tcPr marL="47625" marR="38100" marT="19050" marB="19050" anchor="ctr">
                    <a:solidFill>
                      <a:srgbClr val="FFFFFF"/>
                    </a:solidFill>
                  </a:tcPr>
                </a:tc>
              </a:tr>
              <a:tr h="224076">
                <a:tc>
                  <a:txBody>
                    <a:bodyPr wrap="none"/>
                    <a:lstStyle/>
                    <a:p>
                      <a:pPr algn="l"/>
                      <a:r>
                        <a:rPr sz="1100" b="1">
                          <a:solidFill>
                            <a:srgbClr val="2E2E2E"/>
                          </a:solidFill>
                          <a:latin typeface="Calibri"/>
                        </a:rPr>
                        <a:t>– Meat and Processed Meat</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4.3%</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4.3%</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5F8FA"/>
                    </a:solidFill>
                  </a:tcPr>
                </a:tc>
              </a:tr>
              <a:tr h="224076">
                <a:tc>
                  <a:txBody>
                    <a:bodyPr wrap="none"/>
                    <a:lstStyle/>
                    <a:p>
                      <a:pPr algn="l"/>
                      <a:r>
                        <a:rPr sz="1100" b="1">
                          <a:solidFill>
                            <a:srgbClr val="2E2E2E"/>
                          </a:solidFill>
                          <a:latin typeface="Calibri"/>
                        </a:rPr>
                        <a:t>– Poultry</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3.9%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3.9%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FFFFF"/>
                    </a:solidFill>
                  </a:tcPr>
                </a:tc>
              </a:tr>
              <a:tr h="224076">
                <a:tc>
                  <a:txBody>
                    <a:bodyPr wrap="none"/>
                    <a:lstStyle/>
                    <a:p>
                      <a:pPr algn="l"/>
                      <a:r>
                        <a:rPr sz="1100" b="1">
                          <a:solidFill>
                            <a:srgbClr val="2E2E2E"/>
                          </a:solidFill>
                          <a:latin typeface="Calibri"/>
                        </a:rPr>
                        <a:t>– Fish and Seafood</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5F8FA"/>
                    </a:solidFill>
                  </a:tcPr>
                </a:tc>
              </a:tr>
              <a:tr h="224076">
                <a:tc>
                  <a:txBody>
                    <a:bodyPr wrap="none"/>
                    <a:lstStyle/>
                    <a:p>
                      <a:pPr algn="l"/>
                      <a:r>
                        <a:rPr sz="1100" b="1">
                          <a:solidFill>
                            <a:srgbClr val="2E2E2E"/>
                          </a:solidFill>
                          <a:latin typeface="Calibri"/>
                        </a:rPr>
                        <a:t>– Dairy and Cheese</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FFFFF"/>
                    </a:solidFill>
                  </a:tcPr>
                </a:tc>
              </a:tr>
              <a:tr h="224076">
                <a:tc>
                  <a:txBody>
                    <a:bodyPr wrap="none"/>
                    <a:lstStyle/>
                    <a:p>
                      <a:pPr algn="l"/>
                      <a:r>
                        <a:rPr sz="1100" b="1">
                          <a:solidFill>
                            <a:srgbClr val="2E2E2E"/>
                          </a:solidFill>
                          <a:latin typeface="Calibri"/>
                        </a:rPr>
                        <a:t>– Ready Meals and Prepared Foods</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4.3%</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5F8FA"/>
                    </a:solidFill>
                  </a:tcPr>
                </a:tc>
              </a:tr>
              <a:tr h="224076">
                <a:tc>
                  <a:txBody>
                    <a:bodyPr wrap="none"/>
                    <a:lstStyle/>
                    <a:p>
                      <a:pPr algn="l"/>
                      <a:r>
                        <a:rPr sz="1100" b="1">
                          <a:solidFill>
                            <a:srgbClr val="2E2E2E"/>
                          </a:solidFill>
                          <a:latin typeface="Calibri"/>
                        </a:rPr>
                        <a:t>– Bakery, Confectionery and Snacks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5.0%</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FFFFF"/>
                    </a:solidFill>
                  </a:tcPr>
                </a:tc>
              </a:tr>
              <a:tr h="224076">
                <a:tc>
                  <a:txBody>
                    <a:bodyPr wrap="none"/>
                    <a:lstStyle/>
                    <a:p>
                      <a:pPr algn="l"/>
                      <a:r>
                        <a:rPr sz="1100" b="1">
                          <a:solidFill>
                            <a:srgbClr val="2E2E2E"/>
                          </a:solidFill>
                          <a:latin typeface="Calibri"/>
                        </a:rPr>
                        <a:t>– Dry Foods and Powders</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5F8FA"/>
                    </a:solidFill>
                  </a:tcPr>
                </a:tc>
              </a:tr>
              <a:tr h="224076">
                <a:tc>
                  <a:txBody>
                    <a:bodyPr wrap="none"/>
                    <a:lstStyle/>
                    <a:p>
                      <a:pPr algn="l"/>
                      <a:r>
                        <a:rPr sz="1100" b="1">
                          <a:solidFill>
                            <a:srgbClr val="2E2E2E"/>
                          </a:solidFill>
                          <a:latin typeface="Calibri"/>
                        </a:rPr>
                        <a:t>– Pet Food</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5.0%</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6.0%</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6.0%</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r>
              <a:tr h="224076">
                <a:tc>
                  <a:txBody>
                    <a:bodyPr wrap="none"/>
                    <a:lstStyle/>
                    <a:p>
                      <a:pPr algn="l"/>
                      <a:r>
                        <a:rPr sz="1100" b="1">
                          <a:solidFill>
                            <a:srgbClr val="2E2E2E"/>
                          </a:solidFill>
                          <a:latin typeface="Calibri"/>
                        </a:rPr>
                        <a:t>– Other Food Products</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5.2%</a:t>
                      </a:r>
                      <a:endParaRPr sz="1100"/>
                    </a:p>
                  </a:txBody>
                  <a:tcPr marL="47625" marR="38100" marT="19050" marB="19050" anchor="ctr">
                    <a:solidFill>
                      <a:srgbClr val="F5F8FA"/>
                    </a:solidFill>
                  </a:tcPr>
                </a:tc>
              </a:tr>
              <a:tr h="224076">
                <a:tc>
                  <a:txBody>
                    <a:bodyPr wrap="none"/>
                    <a:lstStyle/>
                    <a:p>
                      <a:pPr algn="l"/>
                      <a:r>
                        <a:rPr sz="1100" b="1">
                          <a:solidFill>
                            <a:srgbClr val="2E2E2E"/>
                          </a:solidFill>
                          <a:latin typeface="Calibri"/>
                        </a:rPr>
                        <a:t>Non-Food Packaging</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FFFFF"/>
                    </a:solidFill>
                  </a:tcPr>
                </a:tc>
              </a:tr>
              <a:tr h="224076">
                <a:tc>
                  <a:txBody>
                    <a:bodyPr wrap="none"/>
                    <a:lstStyle/>
                    <a:p>
                      <a:pPr algn="l"/>
                      <a:r>
                        <a:rPr sz="1100" b="1">
                          <a:solidFill>
                            <a:srgbClr val="2E2E2E"/>
                          </a:solidFill>
                          <a:latin typeface="Calibri"/>
                        </a:rPr>
                        <a:t>– Pharmaceutical and Healthcare</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5F8FA"/>
                    </a:solidFill>
                  </a:tcPr>
                </a:tc>
              </a:tr>
              <a:tr h="224076">
                <a:tc>
                  <a:txBody>
                    <a:bodyPr wrap="none"/>
                    <a:lstStyle/>
                    <a:p>
                      <a:pPr algn="l"/>
                      <a:r>
                        <a:rPr sz="1100" b="1">
                          <a:solidFill>
                            <a:srgbClr val="2E2E2E"/>
                          </a:solidFill>
                          <a:latin typeface="Calibri"/>
                        </a:rPr>
                        <a:t>– Personal Care and Cosmetics</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3.8%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3.9%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FFFFF"/>
                    </a:solidFill>
                  </a:tcPr>
                </a:tc>
              </a:tr>
              <a:tr h="224076">
                <a:tc>
                  <a:txBody>
                    <a:bodyPr wrap="none"/>
                    <a:lstStyle/>
                    <a:p>
                      <a:pPr algn="l"/>
                      <a:r>
                        <a:rPr sz="1100" b="1">
                          <a:solidFill>
                            <a:srgbClr val="2E2E2E"/>
                          </a:solidFill>
                          <a:latin typeface="Calibri"/>
                        </a:rPr>
                        <a:t>– Household Care</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4.7%</a:t>
                      </a:r>
                      <a:endParaRPr sz="1100"/>
                    </a:p>
                  </a:txBody>
                  <a:tcPr marL="47625" marR="38100" marT="19050" marB="19050" anchor="ctr">
                    <a:solidFill>
                      <a:srgbClr val="F5F8FA"/>
                    </a:solidFill>
                  </a:tcPr>
                </a:tc>
              </a:tr>
              <a:tr h="224076">
                <a:tc>
                  <a:txBody>
                    <a:bodyPr wrap="none"/>
                    <a:lstStyle/>
                    <a:p>
                      <a:pPr algn="l"/>
                      <a:r>
                        <a:rPr sz="1100" b="1">
                          <a:solidFill>
                            <a:srgbClr val="2E2E2E"/>
                          </a:solidFill>
                          <a:latin typeface="Calibri"/>
                        </a:rPr>
                        <a:t>– Chemicals and Agrochemicals</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FFFFF"/>
                    </a:solidFill>
                  </a:tcPr>
                </a:tc>
              </a:tr>
              <a:tr h="224076">
                <a:tc>
                  <a:txBody>
                    <a:bodyPr wrap="none"/>
                    <a:lstStyle/>
                    <a:p>
                      <a:pPr algn="l"/>
                      <a:r>
                        <a:rPr sz="1100" b="1">
                          <a:solidFill>
                            <a:srgbClr val="2E2E2E"/>
                          </a:solidFill>
                          <a:latin typeface="Calibri"/>
                        </a:rPr>
                        <a:t>– Electronics and Technical Products</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50482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YoY Analysis of Global Market Volume, By Application (%)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Year-on-year volume growth by Application, 2022–2036, highlighting acceleration and slowdown</a:t>
            </a:r>
          </a:p>
        </p:txBody>
      </p:sp>
      <p:sp>
        <p:nvSpPr>
          <p:cNvPr id="10" name="Rounded Rectangle 9"/>
          <p:cNvSpPr/>
          <p:nvPr/>
        </p:nvSpPr>
        <p:spPr>
          <a:xfrm>
            <a:off x="142875" y="981075"/>
            <a:ext cx="11906250"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YoY Heatmap, By Application (%)  ·  light = lower, dark = higher growth</a:t>
            </a:r>
          </a:p>
        </p:txBody>
      </p:sp>
      <p:sp>
        <p:nvSpPr>
          <p:cNvPr id="12" name="TextBox 11"/>
          <p:cNvSpPr txBox="1"/>
          <p:nvPr/>
        </p:nvSpPr>
        <p:spPr>
          <a:xfrm>
            <a:off x="185737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2022</a:t>
            </a:r>
          </a:p>
        </p:txBody>
      </p:sp>
      <p:sp>
        <p:nvSpPr>
          <p:cNvPr id="13" name="TextBox 12"/>
          <p:cNvSpPr txBox="1"/>
          <p:nvPr/>
        </p:nvSpPr>
        <p:spPr>
          <a:xfrm>
            <a:off x="250126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2023</a:t>
            </a:r>
          </a:p>
        </p:txBody>
      </p:sp>
      <p:sp>
        <p:nvSpPr>
          <p:cNvPr id="14" name="TextBox 13"/>
          <p:cNvSpPr txBox="1"/>
          <p:nvPr/>
        </p:nvSpPr>
        <p:spPr>
          <a:xfrm>
            <a:off x="314515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2024</a:t>
            </a:r>
          </a:p>
        </p:txBody>
      </p:sp>
      <p:sp>
        <p:nvSpPr>
          <p:cNvPr id="15" name="TextBox 14"/>
          <p:cNvSpPr txBox="1"/>
          <p:nvPr/>
        </p:nvSpPr>
        <p:spPr>
          <a:xfrm>
            <a:off x="378904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2025</a:t>
            </a:r>
          </a:p>
        </p:txBody>
      </p:sp>
      <p:sp>
        <p:nvSpPr>
          <p:cNvPr id="16" name="TextBox 15"/>
          <p:cNvSpPr txBox="1"/>
          <p:nvPr/>
        </p:nvSpPr>
        <p:spPr>
          <a:xfrm>
            <a:off x="443293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2026</a:t>
            </a:r>
          </a:p>
        </p:txBody>
      </p:sp>
      <p:sp>
        <p:nvSpPr>
          <p:cNvPr id="17" name="TextBox 16"/>
          <p:cNvSpPr txBox="1"/>
          <p:nvPr/>
        </p:nvSpPr>
        <p:spPr>
          <a:xfrm>
            <a:off x="507682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2027</a:t>
            </a:r>
          </a:p>
        </p:txBody>
      </p:sp>
      <p:sp>
        <p:nvSpPr>
          <p:cNvPr id="18" name="TextBox 17"/>
          <p:cNvSpPr txBox="1"/>
          <p:nvPr/>
        </p:nvSpPr>
        <p:spPr>
          <a:xfrm>
            <a:off x="572071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2028</a:t>
            </a:r>
          </a:p>
        </p:txBody>
      </p:sp>
      <p:sp>
        <p:nvSpPr>
          <p:cNvPr id="19" name="TextBox 18"/>
          <p:cNvSpPr txBox="1"/>
          <p:nvPr/>
        </p:nvSpPr>
        <p:spPr>
          <a:xfrm>
            <a:off x="636460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2029</a:t>
            </a:r>
          </a:p>
        </p:txBody>
      </p:sp>
      <p:sp>
        <p:nvSpPr>
          <p:cNvPr id="20" name="TextBox 19"/>
          <p:cNvSpPr txBox="1"/>
          <p:nvPr/>
        </p:nvSpPr>
        <p:spPr>
          <a:xfrm>
            <a:off x="700849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2030</a:t>
            </a:r>
          </a:p>
        </p:txBody>
      </p:sp>
      <p:sp>
        <p:nvSpPr>
          <p:cNvPr id="21" name="TextBox 20"/>
          <p:cNvSpPr txBox="1"/>
          <p:nvPr/>
        </p:nvSpPr>
        <p:spPr>
          <a:xfrm>
            <a:off x="765238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2031</a:t>
            </a:r>
          </a:p>
        </p:txBody>
      </p:sp>
      <p:sp>
        <p:nvSpPr>
          <p:cNvPr id="22" name="TextBox 21"/>
          <p:cNvSpPr txBox="1"/>
          <p:nvPr/>
        </p:nvSpPr>
        <p:spPr>
          <a:xfrm>
            <a:off x="829627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2032</a:t>
            </a:r>
          </a:p>
        </p:txBody>
      </p:sp>
      <p:sp>
        <p:nvSpPr>
          <p:cNvPr id="23" name="TextBox 22"/>
          <p:cNvSpPr txBox="1"/>
          <p:nvPr/>
        </p:nvSpPr>
        <p:spPr>
          <a:xfrm>
            <a:off x="894016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2033</a:t>
            </a:r>
          </a:p>
        </p:txBody>
      </p:sp>
      <p:sp>
        <p:nvSpPr>
          <p:cNvPr id="24" name="TextBox 23"/>
          <p:cNvSpPr txBox="1"/>
          <p:nvPr/>
        </p:nvSpPr>
        <p:spPr>
          <a:xfrm>
            <a:off x="958405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2034</a:t>
            </a:r>
          </a:p>
        </p:txBody>
      </p:sp>
      <p:sp>
        <p:nvSpPr>
          <p:cNvPr id="25" name="TextBox 24"/>
          <p:cNvSpPr txBox="1"/>
          <p:nvPr/>
        </p:nvSpPr>
        <p:spPr>
          <a:xfrm>
            <a:off x="1022794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2035</a:t>
            </a:r>
          </a:p>
        </p:txBody>
      </p:sp>
      <p:sp>
        <p:nvSpPr>
          <p:cNvPr id="26" name="TextBox 25"/>
          <p:cNvSpPr txBox="1"/>
          <p:nvPr/>
        </p:nvSpPr>
        <p:spPr>
          <a:xfrm>
            <a:off x="1087183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2036</a:t>
            </a:r>
          </a:p>
        </p:txBody>
      </p:sp>
      <p:sp>
        <p:nvSpPr>
          <p:cNvPr id="27" name="TextBox 26"/>
          <p:cNvSpPr txBox="1"/>
          <p:nvPr/>
        </p:nvSpPr>
        <p:spPr>
          <a:xfrm>
            <a:off x="238125" y="1409700"/>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Food Packaging</a:t>
            </a:r>
          </a:p>
        </p:txBody>
      </p:sp>
      <p:sp>
        <p:nvSpPr>
          <p:cNvPr id="28" name="Rectangle 27"/>
          <p:cNvSpPr/>
          <p:nvPr/>
        </p:nvSpPr>
        <p:spPr>
          <a:xfrm>
            <a:off x="1857375" y="1409700"/>
            <a:ext cx="643890" cy="322659"/>
          </a:xfrm>
          <a:prstGeom prst="rect">
            <a:avLst/>
          </a:prstGeom>
          <a:solidFill>
            <a:srgbClr val="E6F3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01265" y="1409700"/>
            <a:ext cx="643890" cy="322659"/>
          </a:xfrm>
          <a:prstGeom prst="rect">
            <a:avLst/>
          </a:prstGeom>
          <a:solidFill>
            <a:srgbClr val="E2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145155" y="1409700"/>
            <a:ext cx="643890" cy="322659"/>
          </a:xfrm>
          <a:prstGeom prst="rect">
            <a:avLst/>
          </a:prstGeom>
          <a:solidFill>
            <a:srgbClr val="DDEB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789045" y="1409700"/>
            <a:ext cx="643890" cy="322659"/>
          </a:xfrm>
          <a:prstGeom prst="rect">
            <a:avLst/>
          </a:prstGeom>
          <a:solidFill>
            <a:srgbClr val="D6E6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432935" y="1409700"/>
            <a:ext cx="643890" cy="322659"/>
          </a:xfrm>
          <a:prstGeom prst="rect">
            <a:avLst/>
          </a:prstGeom>
          <a:solidFill>
            <a:srgbClr val="C4D9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76825" y="1409700"/>
            <a:ext cx="643890" cy="322659"/>
          </a:xfrm>
          <a:prstGeom prst="rect">
            <a:avLst/>
          </a:prstGeom>
          <a:solidFill>
            <a:srgbClr val="ACCB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720715" y="1409700"/>
            <a:ext cx="643890" cy="322659"/>
          </a:xfrm>
          <a:prstGeom prst="rect">
            <a:avLst/>
          </a:prstGeom>
          <a:solidFill>
            <a:srgbClr val="92BC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364605" y="1409700"/>
            <a:ext cx="643890" cy="322659"/>
          </a:xfrm>
          <a:prstGeom prst="rect">
            <a:avLst/>
          </a:prstGeom>
          <a:solidFill>
            <a:srgbClr val="6CA8D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08495" y="1409700"/>
            <a:ext cx="643890" cy="322659"/>
          </a:xfrm>
          <a:prstGeom prst="rect">
            <a:avLst/>
          </a:prstGeom>
          <a:solidFill>
            <a:srgbClr val="4593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652385" y="1409700"/>
            <a:ext cx="643890" cy="322659"/>
          </a:xfrm>
          <a:prstGeom prst="rect">
            <a:avLst/>
          </a:prstGeom>
          <a:solidFill>
            <a:srgbClr val="3087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296275" y="1409700"/>
            <a:ext cx="643890" cy="322659"/>
          </a:xfrm>
          <a:prstGeom prst="rect">
            <a:avLst/>
          </a:prstGeom>
          <a:solidFill>
            <a:srgbClr val="2680B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940165" y="1409700"/>
            <a:ext cx="643890" cy="322659"/>
          </a:xfrm>
          <a:prstGeom prst="rect">
            <a:avLst/>
          </a:prstGeom>
          <a:solidFill>
            <a:srgbClr val="2881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584055" y="1409700"/>
            <a:ext cx="643890" cy="322659"/>
          </a:xfrm>
          <a:prstGeom prst="rect">
            <a:avLst/>
          </a:prstGeom>
          <a:solidFill>
            <a:srgbClr val="3187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227945" y="1409700"/>
            <a:ext cx="643890" cy="322659"/>
          </a:xfrm>
          <a:prstGeom prst="rect">
            <a:avLst/>
          </a:prstGeom>
          <a:solidFill>
            <a:srgbClr val="4794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871835" y="1409700"/>
            <a:ext cx="643890" cy="322659"/>
          </a:xfrm>
          <a:prstGeom prst="rect">
            <a:avLst/>
          </a:prstGeom>
          <a:solidFill>
            <a:srgbClr val="64A4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38125" y="1732359"/>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Meat and Processed Meat</a:t>
            </a:r>
          </a:p>
        </p:txBody>
      </p:sp>
      <p:sp>
        <p:nvSpPr>
          <p:cNvPr id="44" name="Rectangle 43"/>
          <p:cNvSpPr/>
          <p:nvPr/>
        </p:nvSpPr>
        <p:spPr>
          <a:xfrm>
            <a:off x="1857375" y="1732359"/>
            <a:ext cx="643890" cy="322659"/>
          </a:xfrm>
          <a:prstGeom prst="rect">
            <a:avLst/>
          </a:prstGeom>
          <a:solidFill>
            <a:srgbClr val="DBEA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501265" y="1732359"/>
            <a:ext cx="643890" cy="322659"/>
          </a:xfrm>
          <a:prstGeom prst="rect">
            <a:avLst/>
          </a:prstGeom>
          <a:solidFill>
            <a:srgbClr val="D8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145155" y="1732359"/>
            <a:ext cx="643890" cy="322659"/>
          </a:xfrm>
          <a:prstGeom prst="rect">
            <a:avLst/>
          </a:prstGeom>
          <a:solidFill>
            <a:srgbClr val="D1E2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789045" y="1732359"/>
            <a:ext cx="643890" cy="322659"/>
          </a:xfrm>
          <a:prstGeom prst="rect">
            <a:avLst/>
          </a:prstGeom>
          <a:solidFill>
            <a:srgbClr val="C7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432935" y="1732359"/>
            <a:ext cx="643890" cy="322659"/>
          </a:xfrm>
          <a:prstGeom prst="rect">
            <a:avLst/>
          </a:prstGeom>
          <a:solidFill>
            <a:srgbClr val="ABCB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076825" y="1732359"/>
            <a:ext cx="643890" cy="322659"/>
          </a:xfrm>
          <a:prstGeom prst="rect">
            <a:avLst/>
          </a:prstGeom>
          <a:solidFill>
            <a:srgbClr val="8FBB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720715" y="1732359"/>
            <a:ext cx="643890" cy="322659"/>
          </a:xfrm>
          <a:prstGeom prst="rect">
            <a:avLst/>
          </a:prstGeom>
          <a:solidFill>
            <a:srgbClr val="65A4C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364605" y="1732359"/>
            <a:ext cx="643890" cy="322659"/>
          </a:xfrm>
          <a:prstGeom prst="rect">
            <a:avLst/>
          </a:prstGeom>
          <a:solidFill>
            <a:srgbClr val="3E8F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008495" y="1732359"/>
            <a:ext cx="643890" cy="322659"/>
          </a:xfrm>
          <a:prstGeom prst="rect">
            <a:avLst/>
          </a:prstGeom>
          <a:solidFill>
            <a:srgbClr val="237F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652385" y="1732359"/>
            <a:ext cx="643890" cy="322659"/>
          </a:xfrm>
          <a:prstGeom prst="rect">
            <a:avLst/>
          </a:prstGeom>
          <a:solidFill>
            <a:srgbClr val="1174A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296275" y="1732359"/>
            <a:ext cx="643890" cy="322659"/>
          </a:xfrm>
          <a:prstGeom prst="rect">
            <a:avLst/>
          </a:prstGeom>
          <a:solidFill>
            <a:srgbClr val="0E679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940165" y="1732359"/>
            <a:ext cx="643890" cy="322659"/>
          </a:xfrm>
          <a:prstGeom prst="rect">
            <a:avLst/>
          </a:prstGeom>
          <a:solidFill>
            <a:srgbClr val="0E6AA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584055" y="1732359"/>
            <a:ext cx="643890" cy="322659"/>
          </a:xfrm>
          <a:prstGeom prst="rect">
            <a:avLst/>
          </a:prstGeom>
          <a:solidFill>
            <a:srgbClr val="1375B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227945" y="1732359"/>
            <a:ext cx="643890" cy="322659"/>
          </a:xfrm>
          <a:prstGeom prst="rect">
            <a:avLst/>
          </a:prstGeom>
          <a:solidFill>
            <a:srgbClr val="2681B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0871835" y="1732359"/>
            <a:ext cx="643890" cy="322659"/>
          </a:xfrm>
          <a:prstGeom prst="rect">
            <a:avLst/>
          </a:prstGeom>
          <a:solidFill>
            <a:srgbClr val="3A8D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38125" y="2055019"/>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Poultry</a:t>
            </a:r>
          </a:p>
        </p:txBody>
      </p:sp>
      <p:sp>
        <p:nvSpPr>
          <p:cNvPr id="60" name="Rectangle 59"/>
          <p:cNvSpPr/>
          <p:nvPr/>
        </p:nvSpPr>
        <p:spPr>
          <a:xfrm>
            <a:off x="1857375" y="2055019"/>
            <a:ext cx="643890" cy="322659"/>
          </a:xfrm>
          <a:prstGeom prst="rect">
            <a:avLst/>
          </a:prstGeom>
          <a:solidFill>
            <a:srgbClr val="F3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501265" y="2055019"/>
            <a:ext cx="643890" cy="322659"/>
          </a:xfrm>
          <a:prstGeom prst="rect">
            <a:avLst/>
          </a:prstGeom>
          <a:solidFill>
            <a:srgbClr val="F1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3145155" y="2055019"/>
            <a:ext cx="643890" cy="322659"/>
          </a:xfrm>
          <a:prstGeom prst="rect">
            <a:avLst/>
          </a:prstGeom>
          <a:solidFill>
            <a:srgbClr val="ED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3789045" y="2055019"/>
            <a:ext cx="643890" cy="322659"/>
          </a:xfrm>
          <a:prstGeom prst="rect">
            <a:avLst/>
          </a:prstGeom>
          <a:solidFill>
            <a:srgbClr val="E6F3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432935" y="2055019"/>
            <a:ext cx="643890" cy="322659"/>
          </a:xfrm>
          <a:prstGeom prst="rect">
            <a:avLst/>
          </a:prstGeom>
          <a:solidFill>
            <a:srgbClr val="D8E8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076825" y="2055019"/>
            <a:ext cx="643890" cy="322659"/>
          </a:xfrm>
          <a:prstGeom prst="rect">
            <a:avLst/>
          </a:prstGeom>
          <a:solidFill>
            <a:srgbClr val="CBDD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5720715" y="2055019"/>
            <a:ext cx="643890" cy="322659"/>
          </a:xfrm>
          <a:prstGeom prst="rect">
            <a:avLst/>
          </a:prstGeom>
          <a:solidFill>
            <a:srgbClr val="B3CF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364605" y="2055019"/>
            <a:ext cx="643890" cy="322659"/>
          </a:xfrm>
          <a:prstGeom prst="rect">
            <a:avLst/>
          </a:prstGeom>
          <a:solidFill>
            <a:srgbClr val="9AC1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7008495" y="2055019"/>
            <a:ext cx="643890" cy="322659"/>
          </a:xfrm>
          <a:prstGeom prst="rect">
            <a:avLst/>
          </a:prstGeom>
          <a:solidFill>
            <a:srgbClr val="79AFD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7652385" y="2055019"/>
            <a:ext cx="643890" cy="322659"/>
          </a:xfrm>
          <a:prstGeom prst="rect">
            <a:avLst/>
          </a:prstGeom>
          <a:solidFill>
            <a:srgbClr val="61A2C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8296275" y="2055019"/>
            <a:ext cx="643890" cy="322659"/>
          </a:xfrm>
          <a:prstGeom prst="rect">
            <a:avLst/>
          </a:prstGeom>
          <a:solidFill>
            <a:srgbClr val="559BC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8940165" y="2055019"/>
            <a:ext cx="643890" cy="322659"/>
          </a:xfrm>
          <a:prstGeom prst="rect">
            <a:avLst/>
          </a:prstGeom>
          <a:solidFill>
            <a:srgbClr val="589DC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9584055" y="2055019"/>
            <a:ext cx="643890" cy="322659"/>
          </a:xfrm>
          <a:prstGeom prst="rect">
            <a:avLst/>
          </a:prstGeom>
          <a:solidFill>
            <a:srgbClr val="65A4C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0227945" y="2055019"/>
            <a:ext cx="643890" cy="322659"/>
          </a:xfrm>
          <a:prstGeom prst="rect">
            <a:avLst/>
          </a:prstGeom>
          <a:solidFill>
            <a:srgbClr val="7FB2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0871835" y="2055019"/>
            <a:ext cx="643890" cy="322659"/>
          </a:xfrm>
          <a:prstGeom prst="rect">
            <a:avLst/>
          </a:prstGeom>
          <a:solidFill>
            <a:srgbClr val="96BF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38125" y="2377678"/>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Fish and Seafood</a:t>
            </a:r>
          </a:p>
        </p:txBody>
      </p:sp>
      <p:sp>
        <p:nvSpPr>
          <p:cNvPr id="76" name="Rectangle 75"/>
          <p:cNvSpPr/>
          <p:nvPr/>
        </p:nvSpPr>
        <p:spPr>
          <a:xfrm>
            <a:off x="1857375" y="2377678"/>
            <a:ext cx="643890" cy="322659"/>
          </a:xfrm>
          <a:prstGeom prst="rect">
            <a:avLst/>
          </a:prstGeom>
          <a:solidFill>
            <a:srgbClr val="FB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2501265" y="2377678"/>
            <a:ext cx="643890" cy="322659"/>
          </a:xfrm>
          <a:prstGeom prst="rect">
            <a:avLst/>
          </a:prstGeom>
          <a:solidFill>
            <a:srgbClr val="F6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3145155" y="2377678"/>
            <a:ext cx="643890" cy="322659"/>
          </a:xfrm>
          <a:prstGeom prst="rect">
            <a:avLst/>
          </a:prstGeom>
          <a:solidFill>
            <a:srgbClr val="F1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3789045" y="2377678"/>
            <a:ext cx="643890" cy="322659"/>
          </a:xfrm>
          <a:prstGeom prst="rect">
            <a:avLst/>
          </a:prstGeom>
          <a:solidFill>
            <a:srgbClr val="EA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4432935" y="2377678"/>
            <a:ext cx="643890" cy="322659"/>
          </a:xfrm>
          <a:prstGeom prst="rect">
            <a:avLst/>
          </a:prstGeom>
          <a:solidFill>
            <a:srgbClr val="DC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5076825" y="2377678"/>
            <a:ext cx="643890" cy="322659"/>
          </a:xfrm>
          <a:prstGeom prst="rect">
            <a:avLst/>
          </a:prstGeom>
          <a:solidFill>
            <a:srgbClr val="CE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5720715" y="2377678"/>
            <a:ext cx="643890" cy="322659"/>
          </a:xfrm>
          <a:prstGeom prst="rect">
            <a:avLst/>
          </a:prstGeom>
          <a:solidFill>
            <a:srgbClr val="B6D1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6364605" y="2377678"/>
            <a:ext cx="643890" cy="322659"/>
          </a:xfrm>
          <a:prstGeom prst="rect">
            <a:avLst/>
          </a:prstGeom>
          <a:solidFill>
            <a:srgbClr val="9CC2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7008495" y="2377678"/>
            <a:ext cx="643890" cy="322659"/>
          </a:xfrm>
          <a:prstGeom prst="rect">
            <a:avLst/>
          </a:prstGeom>
          <a:solidFill>
            <a:srgbClr val="74ADD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7652385" y="2377678"/>
            <a:ext cx="643890" cy="322659"/>
          </a:xfrm>
          <a:prstGeom prst="rect">
            <a:avLst/>
          </a:prstGeom>
          <a:solidFill>
            <a:srgbClr val="4F98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8296275" y="2377678"/>
            <a:ext cx="643890" cy="322659"/>
          </a:xfrm>
          <a:prstGeom prst="rect">
            <a:avLst/>
          </a:prstGeom>
          <a:solidFill>
            <a:srgbClr val="3A8C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8940165" y="2377678"/>
            <a:ext cx="643890" cy="322659"/>
          </a:xfrm>
          <a:prstGeom prst="rect">
            <a:avLst/>
          </a:prstGeom>
          <a:solidFill>
            <a:srgbClr val="3B8D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9584055" y="2377678"/>
            <a:ext cx="643890" cy="322659"/>
          </a:xfrm>
          <a:prstGeom prst="rect">
            <a:avLst/>
          </a:prstGeom>
          <a:solidFill>
            <a:srgbClr val="4794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10227945" y="2377678"/>
            <a:ext cx="643890" cy="322659"/>
          </a:xfrm>
          <a:prstGeom prst="rect">
            <a:avLst/>
          </a:prstGeom>
          <a:solidFill>
            <a:srgbClr val="64A4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10871835" y="2377678"/>
            <a:ext cx="643890" cy="322659"/>
          </a:xfrm>
          <a:prstGeom prst="rect">
            <a:avLst/>
          </a:prstGeom>
          <a:solidFill>
            <a:srgbClr val="82B4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38125" y="2700338"/>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Dairy and Cheese</a:t>
            </a:r>
          </a:p>
        </p:txBody>
      </p:sp>
      <p:sp>
        <p:nvSpPr>
          <p:cNvPr id="92" name="Rectangle 91"/>
          <p:cNvSpPr/>
          <p:nvPr/>
        </p:nvSpPr>
        <p:spPr>
          <a:xfrm>
            <a:off x="1857375" y="2700338"/>
            <a:ext cx="643890" cy="322659"/>
          </a:xfrm>
          <a:prstGeom prst="rect">
            <a:avLst/>
          </a:prstGeom>
          <a:solidFill>
            <a:srgbClr val="DA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2501265" y="2700338"/>
            <a:ext cx="643890" cy="322659"/>
          </a:xfrm>
          <a:prstGeom prst="rect">
            <a:avLst/>
          </a:prstGeom>
          <a:solidFill>
            <a:srgbClr val="D5E5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3145155" y="2700338"/>
            <a:ext cx="643890" cy="322659"/>
          </a:xfrm>
          <a:prstGeom prst="rect">
            <a:avLst/>
          </a:prstGeom>
          <a:solidFill>
            <a:srgbClr val="CD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3789045" y="2700338"/>
            <a:ext cx="643890" cy="322659"/>
          </a:xfrm>
          <a:prstGeom prst="rect">
            <a:avLst/>
          </a:prstGeom>
          <a:solidFill>
            <a:srgbClr val="C4D9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4432935" y="2700338"/>
            <a:ext cx="643890" cy="322659"/>
          </a:xfrm>
          <a:prstGeom prst="rect">
            <a:avLst/>
          </a:prstGeom>
          <a:solidFill>
            <a:srgbClr val="B4D0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5076825" y="2700338"/>
            <a:ext cx="643890" cy="322659"/>
          </a:xfrm>
          <a:prstGeom prst="rect">
            <a:avLst/>
          </a:prstGeom>
          <a:solidFill>
            <a:srgbClr val="A8C9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5720715" y="2700338"/>
            <a:ext cx="643890" cy="322659"/>
          </a:xfrm>
          <a:prstGeom prst="rect">
            <a:avLst/>
          </a:prstGeom>
          <a:solidFill>
            <a:srgbClr val="9AC1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6364605" y="2700338"/>
            <a:ext cx="643890" cy="322659"/>
          </a:xfrm>
          <a:prstGeom prst="rect">
            <a:avLst/>
          </a:prstGeom>
          <a:solidFill>
            <a:srgbClr val="8AB8D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7008495" y="2700338"/>
            <a:ext cx="643890" cy="322659"/>
          </a:xfrm>
          <a:prstGeom prst="rect">
            <a:avLst/>
          </a:prstGeom>
          <a:solidFill>
            <a:srgbClr val="6CA8D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7652385" y="2700338"/>
            <a:ext cx="643890" cy="322659"/>
          </a:xfrm>
          <a:prstGeom prst="rect">
            <a:avLst/>
          </a:prstGeom>
          <a:solidFill>
            <a:srgbClr val="559BC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8296275" y="2700338"/>
            <a:ext cx="643890" cy="322659"/>
          </a:xfrm>
          <a:prstGeom prst="rect">
            <a:avLst/>
          </a:prstGeom>
          <a:solidFill>
            <a:srgbClr val="4794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8940165" y="2700338"/>
            <a:ext cx="643890" cy="322659"/>
          </a:xfrm>
          <a:prstGeom prst="rect">
            <a:avLst/>
          </a:prstGeom>
          <a:solidFill>
            <a:srgbClr val="4D97C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9584055" y="2700338"/>
            <a:ext cx="643890" cy="322659"/>
          </a:xfrm>
          <a:prstGeom prst="rect">
            <a:avLst/>
          </a:prstGeom>
          <a:solidFill>
            <a:srgbClr val="5DA0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0227945" y="2700338"/>
            <a:ext cx="643890" cy="322659"/>
          </a:xfrm>
          <a:prstGeom prst="rect">
            <a:avLst/>
          </a:prstGeom>
          <a:solidFill>
            <a:srgbClr val="78AED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0871835" y="2700338"/>
            <a:ext cx="643890" cy="322659"/>
          </a:xfrm>
          <a:prstGeom prst="rect">
            <a:avLst/>
          </a:prstGeom>
          <a:solidFill>
            <a:srgbClr val="92BD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238125" y="3022997"/>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Ready Meals and Prepared Foods</a:t>
            </a:r>
          </a:p>
        </p:txBody>
      </p:sp>
      <p:sp>
        <p:nvSpPr>
          <p:cNvPr id="108" name="Rectangle 107"/>
          <p:cNvSpPr/>
          <p:nvPr/>
        </p:nvSpPr>
        <p:spPr>
          <a:xfrm>
            <a:off x="1857375" y="3022997"/>
            <a:ext cx="643890" cy="322659"/>
          </a:xfrm>
          <a:prstGeom prst="rect">
            <a:avLst/>
          </a:prstGeom>
          <a:solidFill>
            <a:srgbClr val="E8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2501265" y="3022997"/>
            <a:ext cx="643890" cy="322659"/>
          </a:xfrm>
          <a:prstGeom prst="rect">
            <a:avLst/>
          </a:prstGeom>
          <a:solidFill>
            <a:srgbClr val="E1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3145155" y="3022997"/>
            <a:ext cx="643890" cy="322659"/>
          </a:xfrm>
          <a:prstGeom prst="rect">
            <a:avLst/>
          </a:prstGeom>
          <a:solidFill>
            <a:srgbClr val="D9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3789045" y="3022997"/>
            <a:ext cx="643890" cy="322659"/>
          </a:xfrm>
          <a:prstGeom prst="rect">
            <a:avLst/>
          </a:prstGeom>
          <a:solidFill>
            <a:srgbClr val="CEE0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4432935" y="3022997"/>
            <a:ext cx="643890" cy="322659"/>
          </a:xfrm>
          <a:prstGeom prst="rect">
            <a:avLst/>
          </a:prstGeom>
          <a:solidFill>
            <a:srgbClr val="B1CE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5076825" y="3022997"/>
            <a:ext cx="643890" cy="322659"/>
          </a:xfrm>
          <a:prstGeom prst="rect">
            <a:avLst/>
          </a:prstGeom>
          <a:solidFill>
            <a:srgbClr val="93BD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5720715" y="3022997"/>
            <a:ext cx="643890" cy="322659"/>
          </a:xfrm>
          <a:prstGeom prst="rect">
            <a:avLst/>
          </a:prstGeom>
          <a:solidFill>
            <a:srgbClr val="6AA7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6364605" y="3022997"/>
            <a:ext cx="643890" cy="322659"/>
          </a:xfrm>
          <a:prstGeom prst="rect">
            <a:avLst/>
          </a:prstGeom>
          <a:solidFill>
            <a:srgbClr val="4291C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7008495" y="3022997"/>
            <a:ext cx="643890" cy="322659"/>
          </a:xfrm>
          <a:prstGeom prst="rect">
            <a:avLst/>
          </a:prstGeom>
          <a:solidFill>
            <a:srgbClr val="2680B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7652385" y="3022997"/>
            <a:ext cx="643890" cy="322659"/>
          </a:xfrm>
          <a:prstGeom prst="rect">
            <a:avLst/>
          </a:prstGeom>
          <a:solidFill>
            <a:srgbClr val="1174B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8296275" y="3022997"/>
            <a:ext cx="643890" cy="322659"/>
          </a:xfrm>
          <a:prstGeom prst="rect">
            <a:avLst/>
          </a:prstGeom>
          <a:solidFill>
            <a:srgbClr val="0D669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8940165" y="3022997"/>
            <a:ext cx="643890" cy="322659"/>
          </a:xfrm>
          <a:prstGeom prst="rect">
            <a:avLst/>
          </a:prstGeom>
          <a:solidFill>
            <a:srgbClr val="0E6CA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9584055" y="3022997"/>
            <a:ext cx="643890" cy="322659"/>
          </a:xfrm>
          <a:prstGeom prst="rect">
            <a:avLst/>
          </a:prstGeom>
          <a:solidFill>
            <a:srgbClr val="1476B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0227945" y="3022997"/>
            <a:ext cx="643890" cy="322659"/>
          </a:xfrm>
          <a:prstGeom prst="rect">
            <a:avLst/>
          </a:prstGeom>
          <a:solidFill>
            <a:srgbClr val="2982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10871835" y="3022997"/>
            <a:ext cx="643890" cy="322659"/>
          </a:xfrm>
          <a:prstGeom prst="rect">
            <a:avLst/>
          </a:prstGeom>
          <a:solidFill>
            <a:srgbClr val="3D8F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238125" y="3345656"/>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Bakery, Confectionery and Snacks</a:t>
            </a:r>
          </a:p>
        </p:txBody>
      </p:sp>
      <p:sp>
        <p:nvSpPr>
          <p:cNvPr id="124" name="Rectangle 123"/>
          <p:cNvSpPr/>
          <p:nvPr/>
        </p:nvSpPr>
        <p:spPr>
          <a:xfrm>
            <a:off x="1857375" y="3345656"/>
            <a:ext cx="643890" cy="322659"/>
          </a:xfrm>
          <a:prstGeom prst="rect">
            <a:avLst/>
          </a:prstGeom>
          <a:solidFill>
            <a:srgbClr val="D8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2501265" y="3345656"/>
            <a:ext cx="643890" cy="322659"/>
          </a:xfrm>
          <a:prstGeom prst="rect">
            <a:avLst/>
          </a:prstGeom>
          <a:solidFill>
            <a:srgbClr val="D7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3145155" y="3345656"/>
            <a:ext cx="643890" cy="322659"/>
          </a:xfrm>
          <a:prstGeom prst="rect">
            <a:avLst/>
          </a:prstGeom>
          <a:solidFill>
            <a:srgbClr val="D5E5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3789045" y="3345656"/>
            <a:ext cx="643890" cy="322659"/>
          </a:xfrm>
          <a:prstGeom prst="rect">
            <a:avLst/>
          </a:prstGeom>
          <a:solidFill>
            <a:srgbClr val="D1E2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4432935" y="3345656"/>
            <a:ext cx="643890" cy="322659"/>
          </a:xfrm>
          <a:prstGeom prst="rect">
            <a:avLst/>
          </a:prstGeom>
          <a:solidFill>
            <a:srgbClr val="BDD5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5076825" y="3345656"/>
            <a:ext cx="643890" cy="322659"/>
          </a:xfrm>
          <a:prstGeom prst="rect">
            <a:avLst/>
          </a:prstGeom>
          <a:solidFill>
            <a:srgbClr val="A6C8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5720715" y="3345656"/>
            <a:ext cx="643890" cy="322659"/>
          </a:xfrm>
          <a:prstGeom prst="rect">
            <a:avLst/>
          </a:prstGeom>
          <a:solidFill>
            <a:srgbClr val="8DBA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6364605" y="3345656"/>
            <a:ext cx="643890" cy="322659"/>
          </a:xfrm>
          <a:prstGeom prst="rect">
            <a:avLst/>
          </a:prstGeom>
          <a:solidFill>
            <a:srgbClr val="6CA8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7008495" y="3345656"/>
            <a:ext cx="643890" cy="322659"/>
          </a:xfrm>
          <a:prstGeom prst="rect">
            <a:avLst/>
          </a:prstGeom>
          <a:solidFill>
            <a:srgbClr val="4895C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7652385" y="3345656"/>
            <a:ext cx="643890" cy="322659"/>
          </a:xfrm>
          <a:prstGeom prst="rect">
            <a:avLst/>
          </a:prstGeom>
          <a:solidFill>
            <a:srgbClr val="3388B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8296275" y="3345656"/>
            <a:ext cx="643890" cy="322659"/>
          </a:xfrm>
          <a:prstGeom prst="rect">
            <a:avLst/>
          </a:prstGeom>
          <a:solidFill>
            <a:srgbClr val="2882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8940165" y="3345656"/>
            <a:ext cx="643890" cy="322659"/>
          </a:xfrm>
          <a:prstGeom prst="rect">
            <a:avLst/>
          </a:prstGeom>
          <a:solidFill>
            <a:srgbClr val="2D85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9584055" y="3345656"/>
            <a:ext cx="643890" cy="322659"/>
          </a:xfrm>
          <a:prstGeom prst="rect">
            <a:avLst/>
          </a:prstGeom>
          <a:solidFill>
            <a:srgbClr val="388B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10227945" y="3345656"/>
            <a:ext cx="643890" cy="322659"/>
          </a:xfrm>
          <a:prstGeom prst="rect">
            <a:avLst/>
          </a:prstGeom>
          <a:solidFill>
            <a:srgbClr val="5099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10871835" y="3345656"/>
            <a:ext cx="643890" cy="322659"/>
          </a:xfrm>
          <a:prstGeom prst="rect">
            <a:avLst/>
          </a:prstGeom>
          <a:solidFill>
            <a:srgbClr val="6BA7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238125" y="3668316"/>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Dry Foods and Powders</a:t>
            </a:r>
          </a:p>
        </p:txBody>
      </p:sp>
      <p:sp>
        <p:nvSpPr>
          <p:cNvPr id="140" name="Rectangle 139"/>
          <p:cNvSpPr/>
          <p:nvPr/>
        </p:nvSpPr>
        <p:spPr>
          <a:xfrm>
            <a:off x="1857375" y="3668316"/>
            <a:ext cx="643890" cy="322659"/>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2501265" y="3668316"/>
            <a:ext cx="643890" cy="322659"/>
          </a:xfrm>
          <a:prstGeom prst="rect">
            <a:avLst/>
          </a:prstGeom>
          <a:solidFill>
            <a:srgbClr val="FA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3145155" y="3668316"/>
            <a:ext cx="643890" cy="322659"/>
          </a:xfrm>
          <a:prstGeom prst="rect">
            <a:avLst/>
          </a:prstGeom>
          <a:solidFill>
            <a:srgbClr val="F5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3789045" y="3668316"/>
            <a:ext cx="643890" cy="322659"/>
          </a:xfrm>
          <a:prstGeom prst="rect">
            <a:avLst/>
          </a:prstGeom>
          <a:solidFill>
            <a:srgbClr val="EE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4432935" y="3668316"/>
            <a:ext cx="643890" cy="322659"/>
          </a:xfrm>
          <a:prstGeom prst="rect">
            <a:avLst/>
          </a:prstGeom>
          <a:solidFill>
            <a:srgbClr val="E1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5076825" y="3668316"/>
            <a:ext cx="643890" cy="322659"/>
          </a:xfrm>
          <a:prstGeom prst="rect">
            <a:avLst/>
          </a:prstGeom>
          <a:solidFill>
            <a:srgbClr val="D2E3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5720715" y="3668316"/>
            <a:ext cx="643890" cy="322659"/>
          </a:xfrm>
          <a:prstGeom prst="rect">
            <a:avLst/>
          </a:prstGeom>
          <a:solidFill>
            <a:srgbClr val="BED6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6364605" y="3668316"/>
            <a:ext cx="643890" cy="322659"/>
          </a:xfrm>
          <a:prstGeom prst="rect">
            <a:avLst/>
          </a:prstGeom>
          <a:solidFill>
            <a:srgbClr val="A3C7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7008495" y="3668316"/>
            <a:ext cx="643890" cy="322659"/>
          </a:xfrm>
          <a:prstGeom prst="rect">
            <a:avLst/>
          </a:prstGeom>
          <a:solidFill>
            <a:srgbClr val="82B4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7652385" y="3668316"/>
            <a:ext cx="643890" cy="322659"/>
          </a:xfrm>
          <a:prstGeom prst="rect">
            <a:avLst/>
          </a:prstGeom>
          <a:solidFill>
            <a:srgbClr val="5FA1C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8296275" y="3668316"/>
            <a:ext cx="643890" cy="322659"/>
          </a:xfrm>
          <a:prstGeom prst="rect">
            <a:avLst/>
          </a:prstGeom>
          <a:solidFill>
            <a:srgbClr val="4A96C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8940165" y="3668316"/>
            <a:ext cx="643890" cy="322659"/>
          </a:xfrm>
          <a:prstGeom prst="rect">
            <a:avLst/>
          </a:prstGeom>
          <a:solidFill>
            <a:srgbClr val="4D97C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9584055" y="3668316"/>
            <a:ext cx="643890" cy="322659"/>
          </a:xfrm>
          <a:prstGeom prst="rect">
            <a:avLst/>
          </a:prstGeom>
          <a:solidFill>
            <a:srgbClr val="5A9E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10227945" y="3668316"/>
            <a:ext cx="643890" cy="322659"/>
          </a:xfrm>
          <a:prstGeom prst="rect">
            <a:avLst/>
          </a:prstGeom>
          <a:solidFill>
            <a:srgbClr val="76AED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10871835" y="3668316"/>
            <a:ext cx="643890" cy="322659"/>
          </a:xfrm>
          <a:prstGeom prst="rect">
            <a:avLst/>
          </a:prstGeom>
          <a:solidFill>
            <a:srgbClr val="92BD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238125" y="3990975"/>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Pet Food</a:t>
            </a:r>
          </a:p>
        </p:txBody>
      </p:sp>
      <p:sp>
        <p:nvSpPr>
          <p:cNvPr id="156" name="Rectangle 155"/>
          <p:cNvSpPr/>
          <p:nvPr/>
        </p:nvSpPr>
        <p:spPr>
          <a:xfrm>
            <a:off x="1857375" y="3990975"/>
            <a:ext cx="643890" cy="322659"/>
          </a:xfrm>
          <a:prstGeom prst="rect">
            <a:avLst/>
          </a:prstGeom>
          <a:solidFill>
            <a:srgbClr val="C0D7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2501265" y="3990975"/>
            <a:ext cx="643890" cy="322659"/>
          </a:xfrm>
          <a:prstGeom prst="rect">
            <a:avLst/>
          </a:prstGeom>
          <a:solidFill>
            <a:srgbClr val="BAD3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3145155" y="3990975"/>
            <a:ext cx="643890" cy="322659"/>
          </a:xfrm>
          <a:prstGeom prst="rect">
            <a:avLst/>
          </a:prstGeom>
          <a:solidFill>
            <a:srgbClr val="B2CF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3789045" y="3990975"/>
            <a:ext cx="643890" cy="322659"/>
          </a:xfrm>
          <a:prstGeom prst="rect">
            <a:avLst/>
          </a:prstGeom>
          <a:solidFill>
            <a:srgbClr val="A5C8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4432935" y="3990975"/>
            <a:ext cx="643890" cy="322659"/>
          </a:xfrm>
          <a:prstGeom prst="rect">
            <a:avLst/>
          </a:prstGeom>
          <a:solidFill>
            <a:srgbClr val="89B8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5076825" y="3990975"/>
            <a:ext cx="643890" cy="322659"/>
          </a:xfrm>
          <a:prstGeom prst="rect">
            <a:avLst/>
          </a:prstGeom>
          <a:solidFill>
            <a:srgbClr val="66A5C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5720715" y="3990975"/>
            <a:ext cx="643890" cy="322659"/>
          </a:xfrm>
          <a:prstGeom prst="rect">
            <a:avLst/>
          </a:prstGeom>
          <a:solidFill>
            <a:srgbClr val="3D8F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6364605" y="3990975"/>
            <a:ext cx="643890" cy="322659"/>
          </a:xfrm>
          <a:prstGeom prst="rect">
            <a:avLst/>
          </a:prstGeom>
          <a:solidFill>
            <a:srgbClr val="207DB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7008495" y="3990975"/>
            <a:ext cx="643890" cy="322659"/>
          </a:xfrm>
          <a:prstGeom prst="rect">
            <a:avLst/>
          </a:prstGeom>
          <a:solidFill>
            <a:srgbClr val="0D5E9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7652385" y="3990975"/>
            <a:ext cx="643890" cy="322659"/>
          </a:xfrm>
          <a:prstGeom prst="rect">
            <a:avLst/>
          </a:prstGeom>
          <a:solidFill>
            <a:srgbClr val="0C3D5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8296275" y="3990975"/>
            <a:ext cx="643890" cy="322659"/>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8940165" y="3990975"/>
            <a:ext cx="643890" cy="322659"/>
          </a:xfrm>
          <a:prstGeom prst="rect">
            <a:avLst/>
          </a:prstGeom>
          <a:solidFill>
            <a:srgbClr val="0B365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9584055" y="3990975"/>
            <a:ext cx="643890" cy="322659"/>
          </a:xfrm>
          <a:prstGeom prst="rect">
            <a:avLst/>
          </a:prstGeom>
          <a:solidFill>
            <a:srgbClr val="0C497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10227945" y="3990975"/>
            <a:ext cx="643890" cy="322659"/>
          </a:xfrm>
          <a:prstGeom prst="rect">
            <a:avLst/>
          </a:prstGeom>
          <a:solidFill>
            <a:srgbClr val="0E6BA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10871835" y="3990975"/>
            <a:ext cx="643890" cy="322659"/>
          </a:xfrm>
          <a:prstGeom prst="rect">
            <a:avLst/>
          </a:prstGeom>
          <a:solidFill>
            <a:srgbClr val="1F7CB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238125" y="4313634"/>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Other Food Products (Fresh Produce, Plant-Based Foods, Condiments and Dressings, Foodservice Products)</a:t>
            </a:r>
          </a:p>
        </p:txBody>
      </p:sp>
      <p:sp>
        <p:nvSpPr>
          <p:cNvPr id="172" name="Rectangle 171"/>
          <p:cNvSpPr/>
          <p:nvPr/>
        </p:nvSpPr>
        <p:spPr>
          <a:xfrm>
            <a:off x="1857375" y="4313634"/>
            <a:ext cx="643890" cy="322659"/>
          </a:xfrm>
          <a:prstGeom prst="rect">
            <a:avLst/>
          </a:prstGeom>
          <a:solidFill>
            <a:srgbClr val="EC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2501265" y="4313634"/>
            <a:ext cx="643890" cy="322659"/>
          </a:xfrm>
          <a:prstGeom prst="rect">
            <a:avLst/>
          </a:prstGeom>
          <a:solidFill>
            <a:srgbClr val="EA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3145155" y="4313634"/>
            <a:ext cx="643890" cy="322659"/>
          </a:xfrm>
          <a:prstGeom prst="rect">
            <a:avLst/>
          </a:prstGeom>
          <a:solidFill>
            <a:srgbClr val="E8F5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3789045" y="4313634"/>
            <a:ext cx="643890" cy="322659"/>
          </a:xfrm>
          <a:prstGeom prst="rect">
            <a:avLst/>
          </a:prstGeom>
          <a:solidFill>
            <a:srgbClr val="E4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Rectangle 175"/>
          <p:cNvSpPr/>
          <p:nvPr/>
        </p:nvSpPr>
        <p:spPr>
          <a:xfrm>
            <a:off x="4432935" y="4313634"/>
            <a:ext cx="643890" cy="322659"/>
          </a:xfrm>
          <a:prstGeom prst="rect">
            <a:avLst/>
          </a:prstGeom>
          <a:solidFill>
            <a:srgbClr val="D6E6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Rectangle 176"/>
          <p:cNvSpPr/>
          <p:nvPr/>
        </p:nvSpPr>
        <p:spPr>
          <a:xfrm>
            <a:off x="5076825" y="4313634"/>
            <a:ext cx="643890" cy="322659"/>
          </a:xfrm>
          <a:prstGeom prst="rect">
            <a:avLst/>
          </a:prstGeom>
          <a:solidFill>
            <a:srgbClr val="BFD6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ectangle 177"/>
          <p:cNvSpPr/>
          <p:nvPr/>
        </p:nvSpPr>
        <p:spPr>
          <a:xfrm>
            <a:off x="5720715" y="4313634"/>
            <a:ext cx="643890" cy="322659"/>
          </a:xfrm>
          <a:prstGeom prst="rect">
            <a:avLst/>
          </a:prstGeom>
          <a:solidFill>
            <a:srgbClr val="98C0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Rectangle 178"/>
          <p:cNvSpPr/>
          <p:nvPr/>
        </p:nvSpPr>
        <p:spPr>
          <a:xfrm>
            <a:off x="6364605" y="4313634"/>
            <a:ext cx="643890" cy="322659"/>
          </a:xfrm>
          <a:prstGeom prst="rect">
            <a:avLst/>
          </a:prstGeom>
          <a:solidFill>
            <a:srgbClr val="67A5C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ectangle 179"/>
          <p:cNvSpPr/>
          <p:nvPr/>
        </p:nvSpPr>
        <p:spPr>
          <a:xfrm>
            <a:off x="7008495" y="4313634"/>
            <a:ext cx="643890" cy="322659"/>
          </a:xfrm>
          <a:prstGeom prst="rect">
            <a:avLst/>
          </a:prstGeom>
          <a:solidFill>
            <a:srgbClr val="4694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Rectangle 180"/>
          <p:cNvSpPr/>
          <p:nvPr/>
        </p:nvSpPr>
        <p:spPr>
          <a:xfrm>
            <a:off x="7652385" y="4313634"/>
            <a:ext cx="643890" cy="322659"/>
          </a:xfrm>
          <a:prstGeom prst="rect">
            <a:avLst/>
          </a:prstGeom>
          <a:solidFill>
            <a:srgbClr val="398C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tangle 181"/>
          <p:cNvSpPr/>
          <p:nvPr/>
        </p:nvSpPr>
        <p:spPr>
          <a:xfrm>
            <a:off x="8296275" y="4313634"/>
            <a:ext cx="643890" cy="322659"/>
          </a:xfrm>
          <a:prstGeom prst="rect">
            <a:avLst/>
          </a:prstGeom>
          <a:solidFill>
            <a:srgbClr val="3288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ectangle 182"/>
          <p:cNvSpPr/>
          <p:nvPr/>
        </p:nvSpPr>
        <p:spPr>
          <a:xfrm>
            <a:off x="8940165" y="4313634"/>
            <a:ext cx="643890" cy="322659"/>
          </a:xfrm>
          <a:prstGeom prst="rect">
            <a:avLst/>
          </a:prstGeom>
          <a:solidFill>
            <a:srgbClr val="2A83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9584055" y="4313634"/>
            <a:ext cx="643890" cy="322659"/>
          </a:xfrm>
          <a:prstGeom prst="rect">
            <a:avLst/>
          </a:prstGeom>
          <a:solidFill>
            <a:srgbClr val="3087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10227945" y="4313634"/>
            <a:ext cx="643890" cy="322659"/>
          </a:xfrm>
          <a:prstGeom prst="rect">
            <a:avLst/>
          </a:prstGeom>
          <a:solidFill>
            <a:srgbClr val="4492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10871835" y="4313634"/>
            <a:ext cx="643890" cy="322659"/>
          </a:xfrm>
          <a:prstGeom prst="rect">
            <a:avLst/>
          </a:prstGeom>
          <a:solidFill>
            <a:srgbClr val="63A3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238125" y="4636294"/>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Non-Food Packaging</a:t>
            </a:r>
          </a:p>
        </p:txBody>
      </p:sp>
      <p:sp>
        <p:nvSpPr>
          <p:cNvPr id="188" name="Rectangle 187"/>
          <p:cNvSpPr/>
          <p:nvPr/>
        </p:nvSpPr>
        <p:spPr>
          <a:xfrm>
            <a:off x="1857375" y="4636294"/>
            <a:ext cx="643890" cy="322659"/>
          </a:xfrm>
          <a:prstGeom prst="rect">
            <a:avLst/>
          </a:prstGeom>
          <a:solidFill>
            <a:srgbClr val="E7F3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2501265" y="4636294"/>
            <a:ext cx="643890" cy="322659"/>
          </a:xfrm>
          <a:prstGeom prst="rect">
            <a:avLst/>
          </a:prstGeom>
          <a:solidFill>
            <a:srgbClr val="E2EF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3145155" y="4636294"/>
            <a:ext cx="643890" cy="322659"/>
          </a:xfrm>
          <a:prstGeom prst="rect">
            <a:avLst/>
          </a:prstGeom>
          <a:solidFill>
            <a:srgbClr val="DBEA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3789045" y="4636294"/>
            <a:ext cx="643890" cy="322659"/>
          </a:xfrm>
          <a:prstGeom prst="rect">
            <a:avLst/>
          </a:prstGeom>
          <a:solidFill>
            <a:srgbClr val="D4E4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4432935" y="4636294"/>
            <a:ext cx="643890" cy="322659"/>
          </a:xfrm>
          <a:prstGeom prst="rect">
            <a:avLst/>
          </a:prstGeom>
          <a:solidFill>
            <a:srgbClr val="C4D9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5076825" y="4636294"/>
            <a:ext cx="643890" cy="322659"/>
          </a:xfrm>
          <a:prstGeom prst="rect">
            <a:avLst/>
          </a:prstGeom>
          <a:solidFill>
            <a:srgbClr val="AFCD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5720715" y="4636294"/>
            <a:ext cx="643890" cy="322659"/>
          </a:xfrm>
          <a:prstGeom prst="rect">
            <a:avLst/>
          </a:prstGeom>
          <a:solidFill>
            <a:srgbClr val="98C0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Rectangle 194"/>
          <p:cNvSpPr/>
          <p:nvPr/>
        </p:nvSpPr>
        <p:spPr>
          <a:xfrm>
            <a:off x="6364605" y="4636294"/>
            <a:ext cx="643890" cy="322659"/>
          </a:xfrm>
          <a:prstGeom prst="rect">
            <a:avLst/>
          </a:prstGeom>
          <a:solidFill>
            <a:srgbClr val="7BB0D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7008495" y="4636294"/>
            <a:ext cx="643890" cy="322659"/>
          </a:xfrm>
          <a:prstGeom prst="rect">
            <a:avLst/>
          </a:prstGeom>
          <a:solidFill>
            <a:srgbClr val="549BC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7652385" y="4636294"/>
            <a:ext cx="643890" cy="322659"/>
          </a:xfrm>
          <a:prstGeom prst="rect">
            <a:avLst/>
          </a:prstGeom>
          <a:solidFill>
            <a:srgbClr val="398C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ectangle 197"/>
          <p:cNvSpPr/>
          <p:nvPr/>
        </p:nvSpPr>
        <p:spPr>
          <a:xfrm>
            <a:off x="8296275" y="4636294"/>
            <a:ext cx="643890" cy="322659"/>
          </a:xfrm>
          <a:prstGeom prst="rect">
            <a:avLst/>
          </a:prstGeom>
          <a:solidFill>
            <a:srgbClr val="2E85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Rectangle 198"/>
          <p:cNvSpPr/>
          <p:nvPr/>
        </p:nvSpPr>
        <p:spPr>
          <a:xfrm>
            <a:off x="8940165" y="4636294"/>
            <a:ext cx="643890" cy="322659"/>
          </a:xfrm>
          <a:prstGeom prst="rect">
            <a:avLst/>
          </a:prstGeom>
          <a:solidFill>
            <a:srgbClr val="3288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9584055" y="4636294"/>
            <a:ext cx="643890" cy="322659"/>
          </a:xfrm>
          <a:prstGeom prst="rect">
            <a:avLst/>
          </a:prstGeom>
          <a:solidFill>
            <a:srgbClr val="3C8E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Rectangle 200"/>
          <p:cNvSpPr/>
          <p:nvPr/>
        </p:nvSpPr>
        <p:spPr>
          <a:xfrm>
            <a:off x="10227945" y="4636294"/>
            <a:ext cx="643890" cy="322659"/>
          </a:xfrm>
          <a:prstGeom prst="rect">
            <a:avLst/>
          </a:prstGeom>
          <a:solidFill>
            <a:srgbClr val="579DC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Rectangle 201"/>
          <p:cNvSpPr/>
          <p:nvPr/>
        </p:nvSpPr>
        <p:spPr>
          <a:xfrm>
            <a:off x="10871835" y="4636294"/>
            <a:ext cx="643890" cy="322659"/>
          </a:xfrm>
          <a:prstGeom prst="rect">
            <a:avLst/>
          </a:prstGeom>
          <a:solidFill>
            <a:srgbClr val="74ADD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238125" y="4958953"/>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Pharmaceutical and Healthcare</a:t>
            </a:r>
          </a:p>
        </p:txBody>
      </p:sp>
      <p:sp>
        <p:nvSpPr>
          <p:cNvPr id="204" name="Rectangle 203"/>
          <p:cNvSpPr/>
          <p:nvPr/>
        </p:nvSpPr>
        <p:spPr>
          <a:xfrm>
            <a:off x="1857375" y="4958953"/>
            <a:ext cx="643890" cy="322659"/>
          </a:xfrm>
          <a:prstGeom prst="rect">
            <a:avLst/>
          </a:prstGeom>
          <a:solidFill>
            <a:srgbClr val="B8D2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Rectangle 204"/>
          <p:cNvSpPr/>
          <p:nvPr/>
        </p:nvSpPr>
        <p:spPr>
          <a:xfrm>
            <a:off x="2501265" y="4958953"/>
            <a:ext cx="643890" cy="322659"/>
          </a:xfrm>
          <a:prstGeom prst="rect">
            <a:avLst/>
          </a:prstGeom>
          <a:solidFill>
            <a:srgbClr val="B2CF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Rectangle 205"/>
          <p:cNvSpPr/>
          <p:nvPr/>
        </p:nvSpPr>
        <p:spPr>
          <a:xfrm>
            <a:off x="3145155" y="4958953"/>
            <a:ext cx="643890" cy="322659"/>
          </a:xfrm>
          <a:prstGeom prst="rect">
            <a:avLst/>
          </a:prstGeom>
          <a:solidFill>
            <a:srgbClr val="A7C9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Rectangle 206"/>
          <p:cNvSpPr/>
          <p:nvPr/>
        </p:nvSpPr>
        <p:spPr>
          <a:xfrm>
            <a:off x="3789045" y="4958953"/>
            <a:ext cx="643890" cy="322659"/>
          </a:xfrm>
          <a:prstGeom prst="rect">
            <a:avLst/>
          </a:prstGeom>
          <a:solidFill>
            <a:srgbClr val="9CC2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Rectangle 207"/>
          <p:cNvSpPr/>
          <p:nvPr/>
        </p:nvSpPr>
        <p:spPr>
          <a:xfrm>
            <a:off x="4432935" y="4958953"/>
            <a:ext cx="643890" cy="322659"/>
          </a:xfrm>
          <a:prstGeom prst="rect">
            <a:avLst/>
          </a:prstGeom>
          <a:solidFill>
            <a:srgbClr val="80B3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ectangle 208"/>
          <p:cNvSpPr/>
          <p:nvPr/>
        </p:nvSpPr>
        <p:spPr>
          <a:xfrm>
            <a:off x="5076825" y="4958953"/>
            <a:ext cx="643890" cy="322659"/>
          </a:xfrm>
          <a:prstGeom prst="rect">
            <a:avLst/>
          </a:prstGeom>
          <a:solidFill>
            <a:srgbClr val="63A3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5720715" y="4958953"/>
            <a:ext cx="643890" cy="322659"/>
          </a:xfrm>
          <a:prstGeom prst="rect">
            <a:avLst/>
          </a:prstGeom>
          <a:solidFill>
            <a:srgbClr val="4392C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Rectangle 210"/>
          <p:cNvSpPr/>
          <p:nvPr/>
        </p:nvSpPr>
        <p:spPr>
          <a:xfrm>
            <a:off x="6364605" y="4958953"/>
            <a:ext cx="643890" cy="322659"/>
          </a:xfrm>
          <a:prstGeom prst="rect">
            <a:avLst/>
          </a:prstGeom>
          <a:solidFill>
            <a:srgbClr val="2D85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Rectangle 211"/>
          <p:cNvSpPr/>
          <p:nvPr/>
        </p:nvSpPr>
        <p:spPr>
          <a:xfrm>
            <a:off x="7008495" y="4958953"/>
            <a:ext cx="643890" cy="322659"/>
          </a:xfrm>
          <a:prstGeom prst="rect">
            <a:avLst/>
          </a:prstGeom>
          <a:solidFill>
            <a:srgbClr val="1275B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Rectangle 212"/>
          <p:cNvSpPr/>
          <p:nvPr/>
        </p:nvSpPr>
        <p:spPr>
          <a:xfrm>
            <a:off x="7652385" y="4958953"/>
            <a:ext cx="643890" cy="322659"/>
          </a:xfrm>
          <a:prstGeom prst="rect">
            <a:avLst/>
          </a:prstGeom>
          <a:solidFill>
            <a:srgbClr val="0D578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8296275" y="4958953"/>
            <a:ext cx="643890" cy="322659"/>
          </a:xfrm>
          <a:prstGeom prst="rect">
            <a:avLst/>
          </a:prstGeom>
          <a:solidFill>
            <a:srgbClr val="0C426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Rectangle 214"/>
          <p:cNvSpPr/>
          <p:nvPr/>
        </p:nvSpPr>
        <p:spPr>
          <a:xfrm>
            <a:off x="8940165" y="4958953"/>
            <a:ext cx="643890" cy="322659"/>
          </a:xfrm>
          <a:prstGeom prst="rect">
            <a:avLst/>
          </a:prstGeom>
          <a:solidFill>
            <a:srgbClr val="0C497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Rectangle 215"/>
          <p:cNvSpPr/>
          <p:nvPr/>
        </p:nvSpPr>
        <p:spPr>
          <a:xfrm>
            <a:off x="9584055" y="4958953"/>
            <a:ext cx="643890" cy="322659"/>
          </a:xfrm>
          <a:prstGeom prst="rect">
            <a:avLst/>
          </a:prstGeom>
          <a:solidFill>
            <a:srgbClr val="0D5C8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Rectangle 216"/>
          <p:cNvSpPr/>
          <p:nvPr/>
        </p:nvSpPr>
        <p:spPr>
          <a:xfrm>
            <a:off x="10227945" y="4958953"/>
            <a:ext cx="643890" cy="322659"/>
          </a:xfrm>
          <a:prstGeom prst="rect">
            <a:avLst/>
          </a:prstGeom>
          <a:solidFill>
            <a:srgbClr val="1576B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Rectangle 217"/>
          <p:cNvSpPr/>
          <p:nvPr/>
        </p:nvSpPr>
        <p:spPr>
          <a:xfrm>
            <a:off x="10871835" y="4958953"/>
            <a:ext cx="643890" cy="322659"/>
          </a:xfrm>
          <a:prstGeom prst="rect">
            <a:avLst/>
          </a:prstGeom>
          <a:solidFill>
            <a:srgbClr val="2983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TextBox 218"/>
          <p:cNvSpPr txBox="1"/>
          <p:nvPr/>
        </p:nvSpPr>
        <p:spPr>
          <a:xfrm>
            <a:off x="238125" y="5281612"/>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Personal Care and Cosmetics</a:t>
            </a:r>
          </a:p>
        </p:txBody>
      </p:sp>
      <p:sp>
        <p:nvSpPr>
          <p:cNvPr id="220" name="Rectangle 219"/>
          <p:cNvSpPr/>
          <p:nvPr/>
        </p:nvSpPr>
        <p:spPr>
          <a:xfrm>
            <a:off x="1857375" y="5281612"/>
            <a:ext cx="643890" cy="322659"/>
          </a:xfrm>
          <a:prstGeom prst="rect">
            <a:avLst/>
          </a:prstGeom>
          <a:solidFill>
            <a:srgbClr val="F8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ectangle 220"/>
          <p:cNvSpPr/>
          <p:nvPr/>
        </p:nvSpPr>
        <p:spPr>
          <a:xfrm>
            <a:off x="2501265" y="5281612"/>
            <a:ext cx="643890" cy="322659"/>
          </a:xfrm>
          <a:prstGeom prst="rect">
            <a:avLst/>
          </a:prstGeom>
          <a:solidFill>
            <a:srgbClr val="F2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3145155" y="5281612"/>
            <a:ext cx="643890" cy="322659"/>
          </a:xfrm>
          <a:prstGeom prst="rect">
            <a:avLst/>
          </a:prstGeom>
          <a:solidFill>
            <a:srgbClr val="EDF7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ectangle 222"/>
          <p:cNvSpPr/>
          <p:nvPr/>
        </p:nvSpPr>
        <p:spPr>
          <a:xfrm>
            <a:off x="3789045" y="5281612"/>
            <a:ext cx="643890" cy="322659"/>
          </a:xfrm>
          <a:prstGeom prst="rect">
            <a:avLst/>
          </a:prstGeom>
          <a:solidFill>
            <a:srgbClr val="E8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Rectangle 223"/>
          <p:cNvSpPr/>
          <p:nvPr/>
        </p:nvSpPr>
        <p:spPr>
          <a:xfrm>
            <a:off x="4432935" y="5281612"/>
            <a:ext cx="643890" cy="322659"/>
          </a:xfrm>
          <a:prstGeom prst="rect">
            <a:avLst/>
          </a:prstGeom>
          <a:solidFill>
            <a:srgbClr val="DA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Rectangle 224"/>
          <p:cNvSpPr/>
          <p:nvPr/>
        </p:nvSpPr>
        <p:spPr>
          <a:xfrm>
            <a:off x="5076825" y="5281612"/>
            <a:ext cx="643890" cy="322659"/>
          </a:xfrm>
          <a:prstGeom prst="rect">
            <a:avLst/>
          </a:prstGeom>
          <a:solidFill>
            <a:srgbClr val="CBDD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Rectangle 225"/>
          <p:cNvSpPr/>
          <p:nvPr/>
        </p:nvSpPr>
        <p:spPr>
          <a:xfrm>
            <a:off x="5720715" y="5281612"/>
            <a:ext cx="643890" cy="322659"/>
          </a:xfrm>
          <a:prstGeom prst="rect">
            <a:avLst/>
          </a:prstGeom>
          <a:solidFill>
            <a:srgbClr val="B1CE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Rectangle 226"/>
          <p:cNvSpPr/>
          <p:nvPr/>
        </p:nvSpPr>
        <p:spPr>
          <a:xfrm>
            <a:off x="6364605" y="5281612"/>
            <a:ext cx="643890" cy="322659"/>
          </a:xfrm>
          <a:prstGeom prst="rect">
            <a:avLst/>
          </a:prstGeom>
          <a:solidFill>
            <a:srgbClr val="96BF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Rectangle 227"/>
          <p:cNvSpPr/>
          <p:nvPr/>
        </p:nvSpPr>
        <p:spPr>
          <a:xfrm>
            <a:off x="7008495" y="5281612"/>
            <a:ext cx="643890" cy="322659"/>
          </a:xfrm>
          <a:prstGeom prst="rect">
            <a:avLst/>
          </a:prstGeom>
          <a:solidFill>
            <a:srgbClr val="70AAD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angle 228"/>
          <p:cNvSpPr/>
          <p:nvPr/>
        </p:nvSpPr>
        <p:spPr>
          <a:xfrm>
            <a:off x="7652385" y="5281612"/>
            <a:ext cx="643890" cy="322659"/>
          </a:xfrm>
          <a:prstGeom prst="rect">
            <a:avLst/>
          </a:prstGeom>
          <a:solidFill>
            <a:srgbClr val="4F98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ectangle 229"/>
          <p:cNvSpPr/>
          <p:nvPr/>
        </p:nvSpPr>
        <p:spPr>
          <a:xfrm>
            <a:off x="8296275" y="5281612"/>
            <a:ext cx="643890" cy="322659"/>
          </a:xfrm>
          <a:prstGeom prst="rect">
            <a:avLst/>
          </a:prstGeom>
          <a:solidFill>
            <a:srgbClr val="3E8F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8940165" y="5281612"/>
            <a:ext cx="643890" cy="322659"/>
          </a:xfrm>
          <a:prstGeom prst="rect">
            <a:avLst/>
          </a:prstGeom>
          <a:solidFill>
            <a:srgbClr val="4191C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9584055" y="5281612"/>
            <a:ext cx="643890" cy="322659"/>
          </a:xfrm>
          <a:prstGeom prst="rect">
            <a:avLst/>
          </a:prstGeom>
          <a:solidFill>
            <a:srgbClr val="5099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10227945" y="5281612"/>
            <a:ext cx="643890" cy="322659"/>
          </a:xfrm>
          <a:prstGeom prst="rect">
            <a:avLst/>
          </a:prstGeom>
          <a:solidFill>
            <a:srgbClr val="6CA8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10871835" y="5281612"/>
            <a:ext cx="643890" cy="322659"/>
          </a:xfrm>
          <a:prstGeom prst="rect">
            <a:avLst/>
          </a:prstGeom>
          <a:solidFill>
            <a:srgbClr val="8AB9D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238125" y="5604272"/>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Household Care</a:t>
            </a:r>
          </a:p>
        </p:txBody>
      </p:sp>
      <p:sp>
        <p:nvSpPr>
          <p:cNvPr id="236" name="Rectangle 235"/>
          <p:cNvSpPr/>
          <p:nvPr/>
        </p:nvSpPr>
        <p:spPr>
          <a:xfrm>
            <a:off x="1857375" y="5604272"/>
            <a:ext cx="643890" cy="322659"/>
          </a:xfrm>
          <a:prstGeom prst="rect">
            <a:avLst/>
          </a:prstGeom>
          <a:solidFill>
            <a:srgbClr val="F1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Rectangle 236"/>
          <p:cNvSpPr/>
          <p:nvPr/>
        </p:nvSpPr>
        <p:spPr>
          <a:xfrm>
            <a:off x="2501265" y="5604272"/>
            <a:ext cx="643890" cy="322659"/>
          </a:xfrm>
          <a:prstGeom prst="rect">
            <a:avLst/>
          </a:prstGeom>
          <a:solidFill>
            <a:srgbClr val="EC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Rectangle 237"/>
          <p:cNvSpPr/>
          <p:nvPr/>
        </p:nvSpPr>
        <p:spPr>
          <a:xfrm>
            <a:off x="3145155" y="5604272"/>
            <a:ext cx="643890" cy="322659"/>
          </a:xfrm>
          <a:prstGeom prst="rect">
            <a:avLst/>
          </a:prstGeom>
          <a:solidFill>
            <a:srgbClr val="E5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Rectangle 238"/>
          <p:cNvSpPr/>
          <p:nvPr/>
        </p:nvSpPr>
        <p:spPr>
          <a:xfrm>
            <a:off x="3789045" y="5604272"/>
            <a:ext cx="643890" cy="322659"/>
          </a:xfrm>
          <a:prstGeom prst="rect">
            <a:avLst/>
          </a:prstGeom>
          <a:solidFill>
            <a:srgbClr val="DE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Rectangle 239"/>
          <p:cNvSpPr/>
          <p:nvPr/>
        </p:nvSpPr>
        <p:spPr>
          <a:xfrm>
            <a:off x="4432935" y="5604272"/>
            <a:ext cx="643890" cy="322659"/>
          </a:xfrm>
          <a:prstGeom prst="rect">
            <a:avLst/>
          </a:prstGeom>
          <a:solidFill>
            <a:srgbClr val="D4E5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5076825" y="5604272"/>
            <a:ext cx="643890" cy="322659"/>
          </a:xfrm>
          <a:prstGeom prst="rect">
            <a:avLst/>
          </a:prstGeom>
          <a:solidFill>
            <a:srgbClr val="CD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5720715" y="5604272"/>
            <a:ext cx="643890" cy="322659"/>
          </a:xfrm>
          <a:prstGeom prst="rect">
            <a:avLst/>
          </a:prstGeom>
          <a:solidFill>
            <a:srgbClr val="BFD6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p:cNvSpPr/>
          <p:nvPr/>
        </p:nvSpPr>
        <p:spPr>
          <a:xfrm>
            <a:off x="6364605" y="5604272"/>
            <a:ext cx="643890" cy="322659"/>
          </a:xfrm>
          <a:prstGeom prst="rect">
            <a:avLst/>
          </a:prstGeom>
          <a:solidFill>
            <a:srgbClr val="AFCD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Rectangle 243"/>
          <p:cNvSpPr/>
          <p:nvPr/>
        </p:nvSpPr>
        <p:spPr>
          <a:xfrm>
            <a:off x="7008495" y="5604272"/>
            <a:ext cx="643890" cy="322659"/>
          </a:xfrm>
          <a:prstGeom prst="rect">
            <a:avLst/>
          </a:prstGeom>
          <a:solidFill>
            <a:srgbClr val="9AC1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Rectangle 244"/>
          <p:cNvSpPr/>
          <p:nvPr/>
        </p:nvSpPr>
        <p:spPr>
          <a:xfrm>
            <a:off x="7652385" y="5604272"/>
            <a:ext cx="643890" cy="322659"/>
          </a:xfrm>
          <a:prstGeom prst="rect">
            <a:avLst/>
          </a:prstGeom>
          <a:solidFill>
            <a:srgbClr val="87B7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Rectangle 245"/>
          <p:cNvSpPr/>
          <p:nvPr/>
        </p:nvSpPr>
        <p:spPr>
          <a:xfrm>
            <a:off x="8296275" y="5604272"/>
            <a:ext cx="643890" cy="322659"/>
          </a:xfrm>
          <a:prstGeom prst="rect">
            <a:avLst/>
          </a:prstGeom>
          <a:solidFill>
            <a:srgbClr val="79AFD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Rectangle 246"/>
          <p:cNvSpPr/>
          <p:nvPr/>
        </p:nvSpPr>
        <p:spPr>
          <a:xfrm>
            <a:off x="8940165" y="5604272"/>
            <a:ext cx="643890" cy="322659"/>
          </a:xfrm>
          <a:prstGeom prst="rect">
            <a:avLst/>
          </a:prstGeom>
          <a:solidFill>
            <a:srgbClr val="80B3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9584055" y="5604272"/>
            <a:ext cx="643890" cy="322659"/>
          </a:xfrm>
          <a:prstGeom prst="rect">
            <a:avLst/>
          </a:prstGeom>
          <a:solidFill>
            <a:srgbClr val="8FBB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10227945" y="5604272"/>
            <a:ext cx="643890" cy="322659"/>
          </a:xfrm>
          <a:prstGeom prst="rect">
            <a:avLst/>
          </a:prstGeom>
          <a:solidFill>
            <a:srgbClr val="A0C5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p:cNvSpPr/>
          <p:nvPr/>
        </p:nvSpPr>
        <p:spPr>
          <a:xfrm>
            <a:off x="10871835" y="5604272"/>
            <a:ext cx="643890" cy="322659"/>
          </a:xfrm>
          <a:prstGeom prst="rect">
            <a:avLst/>
          </a:prstGeom>
          <a:solidFill>
            <a:srgbClr val="B2CF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TextBox 250"/>
          <p:cNvSpPr txBox="1"/>
          <p:nvPr/>
        </p:nvSpPr>
        <p:spPr>
          <a:xfrm>
            <a:off x="238125" y="5926931"/>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Chemicals and Agrochemicals</a:t>
            </a:r>
          </a:p>
        </p:txBody>
      </p:sp>
      <p:sp>
        <p:nvSpPr>
          <p:cNvPr id="252" name="Rectangle 251"/>
          <p:cNvSpPr/>
          <p:nvPr/>
        </p:nvSpPr>
        <p:spPr>
          <a:xfrm>
            <a:off x="1857375" y="5926931"/>
            <a:ext cx="643890" cy="322659"/>
          </a:xfrm>
          <a:prstGeom prst="rect">
            <a:avLst/>
          </a:prstGeom>
          <a:solidFill>
            <a:srgbClr val="EE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Rectangle 252"/>
          <p:cNvSpPr/>
          <p:nvPr/>
        </p:nvSpPr>
        <p:spPr>
          <a:xfrm>
            <a:off x="2501265" y="5926931"/>
            <a:ext cx="643890" cy="322659"/>
          </a:xfrm>
          <a:prstGeom prst="rect">
            <a:avLst/>
          </a:prstGeom>
          <a:solidFill>
            <a:srgbClr val="EA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Rectangle 253"/>
          <p:cNvSpPr/>
          <p:nvPr/>
        </p:nvSpPr>
        <p:spPr>
          <a:xfrm>
            <a:off x="3145155" y="5926931"/>
            <a:ext cx="643890" cy="322659"/>
          </a:xfrm>
          <a:prstGeom prst="rect">
            <a:avLst/>
          </a:prstGeom>
          <a:solidFill>
            <a:srgbClr val="E2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Rectangle 254"/>
          <p:cNvSpPr/>
          <p:nvPr/>
        </p:nvSpPr>
        <p:spPr>
          <a:xfrm>
            <a:off x="3789045" y="5926931"/>
            <a:ext cx="643890" cy="322659"/>
          </a:xfrm>
          <a:prstGeom prst="rect">
            <a:avLst/>
          </a:prstGeom>
          <a:solidFill>
            <a:srgbClr val="D9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Rectangle 255"/>
          <p:cNvSpPr/>
          <p:nvPr/>
        </p:nvSpPr>
        <p:spPr>
          <a:xfrm>
            <a:off x="4432935" y="5926931"/>
            <a:ext cx="643890" cy="322659"/>
          </a:xfrm>
          <a:prstGeom prst="rect">
            <a:avLst/>
          </a:prstGeom>
          <a:solidFill>
            <a:srgbClr val="C7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Rectangle 256"/>
          <p:cNvSpPr/>
          <p:nvPr/>
        </p:nvSpPr>
        <p:spPr>
          <a:xfrm>
            <a:off x="5076825" y="5926931"/>
            <a:ext cx="643890" cy="322659"/>
          </a:xfrm>
          <a:prstGeom prst="rect">
            <a:avLst/>
          </a:prstGeom>
          <a:solidFill>
            <a:srgbClr val="AFCD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Rectangle 257"/>
          <p:cNvSpPr/>
          <p:nvPr/>
        </p:nvSpPr>
        <p:spPr>
          <a:xfrm>
            <a:off x="5720715" y="5926931"/>
            <a:ext cx="643890" cy="322659"/>
          </a:xfrm>
          <a:prstGeom prst="rect">
            <a:avLst/>
          </a:prstGeom>
          <a:solidFill>
            <a:srgbClr val="95BF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Rectangle 258"/>
          <p:cNvSpPr/>
          <p:nvPr/>
        </p:nvSpPr>
        <p:spPr>
          <a:xfrm>
            <a:off x="6364605" y="5926931"/>
            <a:ext cx="643890" cy="322659"/>
          </a:xfrm>
          <a:prstGeom prst="rect">
            <a:avLst/>
          </a:prstGeom>
          <a:solidFill>
            <a:srgbClr val="74ACD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Rectangle 259"/>
          <p:cNvSpPr/>
          <p:nvPr/>
        </p:nvSpPr>
        <p:spPr>
          <a:xfrm>
            <a:off x="7008495" y="5926931"/>
            <a:ext cx="643890" cy="322659"/>
          </a:xfrm>
          <a:prstGeom prst="rect">
            <a:avLst/>
          </a:prstGeom>
          <a:solidFill>
            <a:srgbClr val="4E98C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Rectangle 260"/>
          <p:cNvSpPr/>
          <p:nvPr/>
        </p:nvSpPr>
        <p:spPr>
          <a:xfrm>
            <a:off x="7652385" y="5926931"/>
            <a:ext cx="643890" cy="322659"/>
          </a:xfrm>
          <a:prstGeom prst="rect">
            <a:avLst/>
          </a:prstGeom>
          <a:solidFill>
            <a:srgbClr val="378B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Rectangle 261"/>
          <p:cNvSpPr/>
          <p:nvPr/>
        </p:nvSpPr>
        <p:spPr>
          <a:xfrm>
            <a:off x="8296275" y="5926931"/>
            <a:ext cx="643890" cy="322659"/>
          </a:xfrm>
          <a:prstGeom prst="rect">
            <a:avLst/>
          </a:prstGeom>
          <a:solidFill>
            <a:srgbClr val="2F86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Rectangle 262"/>
          <p:cNvSpPr/>
          <p:nvPr/>
        </p:nvSpPr>
        <p:spPr>
          <a:xfrm>
            <a:off x="8940165" y="5926931"/>
            <a:ext cx="643890" cy="322659"/>
          </a:xfrm>
          <a:prstGeom prst="rect">
            <a:avLst/>
          </a:prstGeom>
          <a:solidFill>
            <a:srgbClr val="3388B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Rectangle 263"/>
          <p:cNvSpPr/>
          <p:nvPr/>
        </p:nvSpPr>
        <p:spPr>
          <a:xfrm>
            <a:off x="9584055" y="5926931"/>
            <a:ext cx="643890" cy="322659"/>
          </a:xfrm>
          <a:prstGeom prst="rect">
            <a:avLst/>
          </a:prstGeom>
          <a:solidFill>
            <a:srgbClr val="3D8E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Rectangle 264"/>
          <p:cNvSpPr/>
          <p:nvPr/>
        </p:nvSpPr>
        <p:spPr>
          <a:xfrm>
            <a:off x="10227945" y="5926931"/>
            <a:ext cx="643890" cy="322659"/>
          </a:xfrm>
          <a:prstGeom prst="rect">
            <a:avLst/>
          </a:prstGeom>
          <a:solidFill>
            <a:srgbClr val="599DC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Rectangle 265"/>
          <p:cNvSpPr/>
          <p:nvPr/>
        </p:nvSpPr>
        <p:spPr>
          <a:xfrm>
            <a:off x="10871835" y="5926931"/>
            <a:ext cx="643890" cy="322659"/>
          </a:xfrm>
          <a:prstGeom prst="rect">
            <a:avLst/>
          </a:prstGeom>
          <a:solidFill>
            <a:srgbClr val="75ADD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238125" y="6249591"/>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Electronics and Technical Products</a:t>
            </a:r>
          </a:p>
        </p:txBody>
      </p:sp>
      <p:sp>
        <p:nvSpPr>
          <p:cNvPr id="268" name="Rectangle 267"/>
          <p:cNvSpPr/>
          <p:nvPr/>
        </p:nvSpPr>
        <p:spPr>
          <a:xfrm>
            <a:off x="1857375" y="6249591"/>
            <a:ext cx="643890" cy="322659"/>
          </a:xfrm>
          <a:prstGeom prst="rect">
            <a:avLst/>
          </a:prstGeom>
          <a:solidFill>
            <a:srgbClr val="FB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Rectangle 268"/>
          <p:cNvSpPr/>
          <p:nvPr/>
        </p:nvSpPr>
        <p:spPr>
          <a:xfrm>
            <a:off x="2501265" y="6249591"/>
            <a:ext cx="643890" cy="322659"/>
          </a:xfrm>
          <a:prstGeom prst="rect">
            <a:avLst/>
          </a:prstGeom>
          <a:solidFill>
            <a:srgbClr val="F6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Rectangle 269"/>
          <p:cNvSpPr/>
          <p:nvPr/>
        </p:nvSpPr>
        <p:spPr>
          <a:xfrm>
            <a:off x="3145155" y="6249591"/>
            <a:ext cx="643890" cy="322659"/>
          </a:xfrm>
          <a:prstGeom prst="rect">
            <a:avLst/>
          </a:prstGeom>
          <a:solidFill>
            <a:srgbClr val="F1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Rectangle 270"/>
          <p:cNvSpPr/>
          <p:nvPr/>
        </p:nvSpPr>
        <p:spPr>
          <a:xfrm>
            <a:off x="3789045" y="6249591"/>
            <a:ext cx="643890" cy="322659"/>
          </a:xfrm>
          <a:prstGeom prst="rect">
            <a:avLst/>
          </a:prstGeom>
          <a:solidFill>
            <a:srgbClr val="EB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Rectangle 271"/>
          <p:cNvSpPr/>
          <p:nvPr/>
        </p:nvSpPr>
        <p:spPr>
          <a:xfrm>
            <a:off x="4432935" y="6249591"/>
            <a:ext cx="643890" cy="322659"/>
          </a:xfrm>
          <a:prstGeom prst="rect">
            <a:avLst/>
          </a:prstGeom>
          <a:solidFill>
            <a:srgbClr val="DDEB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Rectangle 272"/>
          <p:cNvSpPr/>
          <p:nvPr/>
        </p:nvSpPr>
        <p:spPr>
          <a:xfrm>
            <a:off x="5076825" y="6249591"/>
            <a:ext cx="643890" cy="322659"/>
          </a:xfrm>
          <a:prstGeom prst="rect">
            <a:avLst/>
          </a:prstGeom>
          <a:solidFill>
            <a:srgbClr val="CFE0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Rectangle 273"/>
          <p:cNvSpPr/>
          <p:nvPr/>
        </p:nvSpPr>
        <p:spPr>
          <a:xfrm>
            <a:off x="5720715" y="6249591"/>
            <a:ext cx="643890" cy="322659"/>
          </a:xfrm>
          <a:prstGeom prst="rect">
            <a:avLst/>
          </a:prstGeom>
          <a:solidFill>
            <a:srgbClr val="B7D2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Rectangle 274"/>
          <p:cNvSpPr/>
          <p:nvPr/>
        </p:nvSpPr>
        <p:spPr>
          <a:xfrm>
            <a:off x="6364605" y="6249591"/>
            <a:ext cx="643890" cy="322659"/>
          </a:xfrm>
          <a:prstGeom prst="rect">
            <a:avLst/>
          </a:prstGeom>
          <a:solidFill>
            <a:srgbClr val="9EC3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Rectangle 275"/>
          <p:cNvSpPr/>
          <p:nvPr/>
        </p:nvSpPr>
        <p:spPr>
          <a:xfrm>
            <a:off x="7008495" y="6249591"/>
            <a:ext cx="643890" cy="322659"/>
          </a:xfrm>
          <a:prstGeom prst="rect">
            <a:avLst/>
          </a:prstGeom>
          <a:solidFill>
            <a:srgbClr val="7EB2D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Rectangle 276"/>
          <p:cNvSpPr/>
          <p:nvPr/>
        </p:nvSpPr>
        <p:spPr>
          <a:xfrm>
            <a:off x="7652385" y="6249591"/>
            <a:ext cx="643890" cy="322659"/>
          </a:xfrm>
          <a:prstGeom prst="rect">
            <a:avLst/>
          </a:prstGeom>
          <a:solidFill>
            <a:srgbClr val="60A2C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Rectangle 277"/>
          <p:cNvSpPr/>
          <p:nvPr/>
        </p:nvSpPr>
        <p:spPr>
          <a:xfrm>
            <a:off x="8296275" y="6249591"/>
            <a:ext cx="643890" cy="322659"/>
          </a:xfrm>
          <a:prstGeom prst="rect">
            <a:avLst/>
          </a:prstGeom>
          <a:solidFill>
            <a:srgbClr val="5099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Rectangle 278"/>
          <p:cNvSpPr/>
          <p:nvPr/>
        </p:nvSpPr>
        <p:spPr>
          <a:xfrm>
            <a:off x="8940165" y="6249591"/>
            <a:ext cx="643890" cy="322659"/>
          </a:xfrm>
          <a:prstGeom prst="rect">
            <a:avLst/>
          </a:prstGeom>
          <a:solidFill>
            <a:srgbClr val="559CC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Rectangle 279"/>
          <p:cNvSpPr/>
          <p:nvPr/>
        </p:nvSpPr>
        <p:spPr>
          <a:xfrm>
            <a:off x="9584055" y="6249591"/>
            <a:ext cx="643890" cy="322659"/>
          </a:xfrm>
          <a:prstGeom prst="rect">
            <a:avLst/>
          </a:prstGeom>
          <a:solidFill>
            <a:srgbClr val="63A3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Rectangle 280"/>
          <p:cNvSpPr/>
          <p:nvPr/>
        </p:nvSpPr>
        <p:spPr>
          <a:xfrm>
            <a:off x="10227945" y="6249591"/>
            <a:ext cx="643890" cy="322659"/>
          </a:xfrm>
          <a:prstGeom prst="rect">
            <a:avLst/>
          </a:prstGeom>
          <a:solidFill>
            <a:srgbClr val="7FB2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Rectangle 281"/>
          <p:cNvSpPr/>
          <p:nvPr/>
        </p:nvSpPr>
        <p:spPr>
          <a:xfrm>
            <a:off x="10871835" y="6249591"/>
            <a:ext cx="643890" cy="322659"/>
          </a:xfrm>
          <a:prstGeom prst="rect">
            <a:avLst/>
          </a:prstGeom>
          <a:solidFill>
            <a:srgbClr val="98C0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Rectangle 282"/>
          <p:cNvSpPr/>
          <p:nvPr/>
        </p:nvSpPr>
        <p:spPr>
          <a:xfrm>
            <a:off x="11572875" y="1447800"/>
            <a:ext cx="104775" cy="134779"/>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Rectangle 283"/>
          <p:cNvSpPr/>
          <p:nvPr/>
        </p:nvSpPr>
        <p:spPr>
          <a:xfrm>
            <a:off x="11572875" y="1574959"/>
            <a:ext cx="104775" cy="134779"/>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Rectangle 284"/>
          <p:cNvSpPr/>
          <p:nvPr/>
        </p:nvSpPr>
        <p:spPr>
          <a:xfrm>
            <a:off x="11572875" y="1702118"/>
            <a:ext cx="104775" cy="134779"/>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Rectangle 285"/>
          <p:cNvSpPr/>
          <p:nvPr/>
        </p:nvSpPr>
        <p:spPr>
          <a:xfrm>
            <a:off x="11572875" y="1829276"/>
            <a:ext cx="104775" cy="134779"/>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Rectangle 286"/>
          <p:cNvSpPr/>
          <p:nvPr/>
        </p:nvSpPr>
        <p:spPr>
          <a:xfrm>
            <a:off x="11572875" y="1956435"/>
            <a:ext cx="104775" cy="134779"/>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Rectangle 287"/>
          <p:cNvSpPr/>
          <p:nvPr/>
        </p:nvSpPr>
        <p:spPr>
          <a:xfrm>
            <a:off x="11572875" y="2083594"/>
            <a:ext cx="104775" cy="134779"/>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Rectangle 288"/>
          <p:cNvSpPr/>
          <p:nvPr/>
        </p:nvSpPr>
        <p:spPr>
          <a:xfrm>
            <a:off x="11572875" y="2210752"/>
            <a:ext cx="104775" cy="134779"/>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Rectangle 289"/>
          <p:cNvSpPr/>
          <p:nvPr/>
        </p:nvSpPr>
        <p:spPr>
          <a:xfrm>
            <a:off x="11572875" y="2337911"/>
            <a:ext cx="104775" cy="134779"/>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Rectangle 290"/>
          <p:cNvSpPr/>
          <p:nvPr/>
        </p:nvSpPr>
        <p:spPr>
          <a:xfrm>
            <a:off x="11572875" y="2465070"/>
            <a:ext cx="104775" cy="134779"/>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Rectangle 291"/>
          <p:cNvSpPr/>
          <p:nvPr/>
        </p:nvSpPr>
        <p:spPr>
          <a:xfrm>
            <a:off x="11572875" y="2592229"/>
            <a:ext cx="104775" cy="134779"/>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Rectangle 292"/>
          <p:cNvSpPr/>
          <p:nvPr/>
        </p:nvSpPr>
        <p:spPr>
          <a:xfrm>
            <a:off x="11572875" y="2719388"/>
            <a:ext cx="104775" cy="134779"/>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Rectangle 293"/>
          <p:cNvSpPr/>
          <p:nvPr/>
        </p:nvSpPr>
        <p:spPr>
          <a:xfrm>
            <a:off x="11572875" y="2846546"/>
            <a:ext cx="104775" cy="134779"/>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Rectangle 294"/>
          <p:cNvSpPr/>
          <p:nvPr/>
        </p:nvSpPr>
        <p:spPr>
          <a:xfrm>
            <a:off x="11572875" y="2973705"/>
            <a:ext cx="104775" cy="134779"/>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Rectangle 295"/>
          <p:cNvSpPr/>
          <p:nvPr/>
        </p:nvSpPr>
        <p:spPr>
          <a:xfrm>
            <a:off x="11572875" y="3100864"/>
            <a:ext cx="104775" cy="134779"/>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Rectangle 296"/>
          <p:cNvSpPr/>
          <p:nvPr/>
        </p:nvSpPr>
        <p:spPr>
          <a:xfrm>
            <a:off x="11572875" y="3228022"/>
            <a:ext cx="104775" cy="134779"/>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Rectangle 297"/>
          <p:cNvSpPr/>
          <p:nvPr/>
        </p:nvSpPr>
        <p:spPr>
          <a:xfrm>
            <a:off x="11572875" y="3355181"/>
            <a:ext cx="104775" cy="134779"/>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Rectangle 298"/>
          <p:cNvSpPr/>
          <p:nvPr/>
        </p:nvSpPr>
        <p:spPr>
          <a:xfrm>
            <a:off x="11572875" y="3482340"/>
            <a:ext cx="104775" cy="134779"/>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ectangle 299"/>
          <p:cNvSpPr/>
          <p:nvPr/>
        </p:nvSpPr>
        <p:spPr>
          <a:xfrm>
            <a:off x="11572875" y="3609499"/>
            <a:ext cx="104775" cy="134779"/>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Rectangle 300"/>
          <p:cNvSpPr/>
          <p:nvPr/>
        </p:nvSpPr>
        <p:spPr>
          <a:xfrm>
            <a:off x="11572875" y="3736657"/>
            <a:ext cx="104775" cy="134779"/>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Rectangle 301"/>
          <p:cNvSpPr/>
          <p:nvPr/>
        </p:nvSpPr>
        <p:spPr>
          <a:xfrm>
            <a:off x="11572875" y="3863816"/>
            <a:ext cx="104775" cy="134779"/>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ectangle 302"/>
          <p:cNvSpPr/>
          <p:nvPr/>
        </p:nvSpPr>
        <p:spPr>
          <a:xfrm>
            <a:off x="11572875" y="3990975"/>
            <a:ext cx="104775" cy="134779"/>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Rectangle 303"/>
          <p:cNvSpPr/>
          <p:nvPr/>
        </p:nvSpPr>
        <p:spPr>
          <a:xfrm>
            <a:off x="11572875" y="4118134"/>
            <a:ext cx="104775" cy="134779"/>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Rectangle 304"/>
          <p:cNvSpPr/>
          <p:nvPr/>
        </p:nvSpPr>
        <p:spPr>
          <a:xfrm>
            <a:off x="11572875" y="4245292"/>
            <a:ext cx="104775" cy="134779"/>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ectangle 305"/>
          <p:cNvSpPr/>
          <p:nvPr/>
        </p:nvSpPr>
        <p:spPr>
          <a:xfrm>
            <a:off x="11572875" y="4372451"/>
            <a:ext cx="104775" cy="134779"/>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Rectangle 306"/>
          <p:cNvSpPr/>
          <p:nvPr/>
        </p:nvSpPr>
        <p:spPr>
          <a:xfrm>
            <a:off x="11572875" y="4499610"/>
            <a:ext cx="104775" cy="134779"/>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Rectangle 307"/>
          <p:cNvSpPr/>
          <p:nvPr/>
        </p:nvSpPr>
        <p:spPr>
          <a:xfrm>
            <a:off x="11572875" y="4626769"/>
            <a:ext cx="104775" cy="134779"/>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ectangle 308"/>
          <p:cNvSpPr/>
          <p:nvPr/>
        </p:nvSpPr>
        <p:spPr>
          <a:xfrm>
            <a:off x="11572875" y="4753928"/>
            <a:ext cx="104775" cy="134779"/>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Rectangle 309"/>
          <p:cNvSpPr/>
          <p:nvPr/>
        </p:nvSpPr>
        <p:spPr>
          <a:xfrm>
            <a:off x="11572875" y="4881086"/>
            <a:ext cx="104775" cy="134779"/>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Rectangle 310"/>
          <p:cNvSpPr/>
          <p:nvPr/>
        </p:nvSpPr>
        <p:spPr>
          <a:xfrm>
            <a:off x="11572875" y="5008245"/>
            <a:ext cx="104775" cy="134779"/>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ectangle 311"/>
          <p:cNvSpPr/>
          <p:nvPr/>
        </p:nvSpPr>
        <p:spPr>
          <a:xfrm>
            <a:off x="11572875" y="5135404"/>
            <a:ext cx="104775" cy="134779"/>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Rectangle 312"/>
          <p:cNvSpPr/>
          <p:nvPr/>
        </p:nvSpPr>
        <p:spPr>
          <a:xfrm>
            <a:off x="11572875" y="5262562"/>
            <a:ext cx="104775" cy="134779"/>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Rectangle 313"/>
          <p:cNvSpPr/>
          <p:nvPr/>
        </p:nvSpPr>
        <p:spPr>
          <a:xfrm>
            <a:off x="11572875" y="5389721"/>
            <a:ext cx="104775" cy="134779"/>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ectangle 314"/>
          <p:cNvSpPr/>
          <p:nvPr/>
        </p:nvSpPr>
        <p:spPr>
          <a:xfrm>
            <a:off x="11572875" y="5516880"/>
            <a:ext cx="104775" cy="134779"/>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Rectangle 315"/>
          <p:cNvSpPr/>
          <p:nvPr/>
        </p:nvSpPr>
        <p:spPr>
          <a:xfrm>
            <a:off x="11572875" y="5644039"/>
            <a:ext cx="104775" cy="134779"/>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Rectangle 316"/>
          <p:cNvSpPr/>
          <p:nvPr/>
        </p:nvSpPr>
        <p:spPr>
          <a:xfrm>
            <a:off x="11572875" y="5771198"/>
            <a:ext cx="104775" cy="134779"/>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Rectangle 317"/>
          <p:cNvSpPr/>
          <p:nvPr/>
        </p:nvSpPr>
        <p:spPr>
          <a:xfrm>
            <a:off x="11572875" y="5898356"/>
            <a:ext cx="104775" cy="134779"/>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Rectangle 318"/>
          <p:cNvSpPr/>
          <p:nvPr/>
        </p:nvSpPr>
        <p:spPr>
          <a:xfrm>
            <a:off x="11572875" y="6025515"/>
            <a:ext cx="104775" cy="134779"/>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Rectangle 319"/>
          <p:cNvSpPr/>
          <p:nvPr/>
        </p:nvSpPr>
        <p:spPr>
          <a:xfrm>
            <a:off x="11572875" y="6152674"/>
            <a:ext cx="104775" cy="134779"/>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Rectangle 320"/>
          <p:cNvSpPr/>
          <p:nvPr/>
        </p:nvSpPr>
        <p:spPr>
          <a:xfrm>
            <a:off x="11572875" y="6279832"/>
            <a:ext cx="104775" cy="134779"/>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Rectangle 321"/>
          <p:cNvSpPr/>
          <p:nvPr/>
        </p:nvSpPr>
        <p:spPr>
          <a:xfrm>
            <a:off x="11572875" y="6406991"/>
            <a:ext cx="104775" cy="134779"/>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Rectangle 322"/>
          <p:cNvSpPr/>
          <p:nvPr/>
        </p:nvSpPr>
        <p:spPr>
          <a:xfrm>
            <a:off x="11572875" y="1447800"/>
            <a:ext cx="104775" cy="5086350"/>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TextBox 323"/>
          <p:cNvSpPr txBox="1"/>
          <p:nvPr/>
        </p:nvSpPr>
        <p:spPr>
          <a:xfrm>
            <a:off x="11687175" y="1381125"/>
            <a:ext cx="276225" cy="133350"/>
          </a:xfrm>
          <a:prstGeom prst="rect">
            <a:avLst/>
          </a:prstGeom>
          <a:noFill/>
        </p:spPr>
        <p:txBody>
          <a:bodyPr wrap="none" lIns="0" rIns="0" tIns="0" bIns="0" anchor="ctr">
            <a:spAutoFit/>
          </a:bodyPr>
          <a:lstStyle/>
          <a:p>
            <a:pPr algn="l"/>
            <a:r>
              <a:rPr sz="1100" b="0">
                <a:solidFill>
                  <a:srgbClr val="6C7A89"/>
                </a:solidFill>
                <a:latin typeface="Calibri"/>
              </a:rPr>
              <a:t>6%</a:t>
            </a:r>
          </a:p>
        </p:txBody>
      </p:sp>
      <p:sp>
        <p:nvSpPr>
          <p:cNvPr id="325" name="TextBox 324"/>
          <p:cNvSpPr txBox="1"/>
          <p:nvPr/>
        </p:nvSpPr>
        <p:spPr>
          <a:xfrm>
            <a:off x="11687175" y="3924300"/>
            <a:ext cx="276225" cy="133350"/>
          </a:xfrm>
          <a:prstGeom prst="rect">
            <a:avLst/>
          </a:prstGeom>
          <a:noFill/>
        </p:spPr>
        <p:txBody>
          <a:bodyPr wrap="none" lIns="0" rIns="0" tIns="0" bIns="0" anchor="ctr">
            <a:spAutoFit/>
          </a:bodyPr>
          <a:lstStyle/>
          <a:p>
            <a:pPr algn="l"/>
            <a:r>
              <a:rPr sz="1100" b="0">
                <a:solidFill>
                  <a:srgbClr val="6C7A89"/>
                </a:solidFill>
                <a:latin typeface="Calibri"/>
              </a:rPr>
              <a:t>5%</a:t>
            </a:r>
          </a:p>
        </p:txBody>
      </p:sp>
      <p:sp>
        <p:nvSpPr>
          <p:cNvPr id="326" name="TextBox 325"/>
          <p:cNvSpPr txBox="1"/>
          <p:nvPr/>
        </p:nvSpPr>
        <p:spPr>
          <a:xfrm>
            <a:off x="11687175" y="6467475"/>
            <a:ext cx="276225" cy="133350"/>
          </a:xfrm>
          <a:prstGeom prst="rect">
            <a:avLst/>
          </a:prstGeom>
          <a:noFill/>
        </p:spPr>
        <p:txBody>
          <a:bodyPr wrap="none" lIns="0" rIns="0" tIns="0" bIns="0" anchor="ctr">
            <a:spAutoFit/>
          </a:bodyPr>
          <a:lstStyle/>
          <a:p>
            <a:pPr algn="l"/>
            <a:r>
              <a:rPr sz="1100" b="0">
                <a:solidFill>
                  <a:srgbClr val="6C7A89"/>
                </a:solidFill>
                <a:latin typeface="Calibri"/>
              </a:rPr>
              <a:t>4%</a:t>
            </a:r>
          </a:p>
        </p:txBody>
      </p:sp>
      <p:sp>
        <p:nvSpPr>
          <p:cNvPr id="327" name="TextBox 3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YoY Analysis of Global Market Value, By Application (%)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Year-on-year value growth by Application, 2022–2036, highlighting acceleration and slowdown</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4267200"/>
          </a:xfrm>
          <a:prstGeom prst="roundRect">
            <a:avLst>
              <a:gd name="adj" fmla="val 178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YoY Growth, By Application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3" name="Table 12"/>
          <p:cNvGraphicFramePr>
            <a:graphicFrameLocks noGrp="1"/>
          </p:cNvGraphicFramePr>
          <p:nvPr/>
        </p:nvGraphicFramePr>
        <p:xfrm>
          <a:off x="152400" y="1238250"/>
          <a:ext cx="11887204" cy="3800481"/>
        </p:xfrm>
        <a:graphic>
          <a:graphicData uri="http://schemas.openxmlformats.org/drawingml/2006/table">
            <a:tbl>
              <a:tblPr>
                <a:tableStyleId>{5C22544A-7EE6-4342-B048-85BDC9FD1C3A}</a:tableStyleId>
              </a:tblPr>
              <a:tblGrid>
                <a:gridCol w="2519494"/>
                <a:gridCol w="624514"/>
                <a:gridCol w="624514"/>
                <a:gridCol w="624514"/>
                <a:gridCol w="624514"/>
                <a:gridCol w="624514"/>
                <a:gridCol w="624514"/>
                <a:gridCol w="624514"/>
                <a:gridCol w="624514"/>
                <a:gridCol w="624514"/>
                <a:gridCol w="624514"/>
                <a:gridCol w="624514"/>
                <a:gridCol w="624514"/>
                <a:gridCol w="624514"/>
                <a:gridCol w="624514"/>
                <a:gridCol w="624514"/>
              </a:tblGrid>
              <a:tr h="215265">
                <a:tc>
                  <a:txBody>
                    <a:bodyPr wrap="none"/>
                    <a:lstStyle/>
                    <a:p>
                      <a:pPr algn="l"/>
                      <a:r>
                        <a:rPr sz="1100" b="1">
                          <a:solidFill>
                            <a:srgbClr val="0B2E4A"/>
                          </a:solidFill>
                          <a:latin typeface="Calibri"/>
                        </a:rPr>
                        <a:t>Application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2036F</a:t>
                      </a:r>
                      <a:endParaRPr sz="1100"/>
                    </a:p>
                  </a:txBody>
                  <a:tcPr marL="47625" marR="38100" marT="19050" marB="19050" anchor="ctr">
                    <a:solidFill>
                      <a:srgbClr val="E0E8EF"/>
                    </a:solidFill>
                  </a:tcPr>
                </a:tc>
              </a:tr>
              <a:tr h="224076">
                <a:tc>
                  <a:txBody>
                    <a:bodyPr wrap="none"/>
                    <a:lstStyle/>
                    <a:p>
                      <a:pPr algn="l"/>
                      <a:r>
                        <a:rPr sz="1100" b="1">
                          <a:solidFill>
                            <a:srgbClr val="2E2E2E"/>
                          </a:solidFill>
                          <a:latin typeface="Calibri"/>
                        </a:rPr>
                        <a:t>Food Packaging</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4.6%</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7.0%</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7.0%</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6.9%</a:t>
                      </a:r>
                      <a:endParaRPr sz="1100"/>
                    </a:p>
                  </a:txBody>
                  <a:tcPr marL="47625" marR="38100" marT="19050" marB="19050" anchor="ctr">
                    <a:solidFill>
                      <a:srgbClr val="FFFFFF"/>
                    </a:solidFill>
                  </a:tcPr>
                </a:tc>
              </a:tr>
              <a:tr h="224076">
                <a:tc>
                  <a:txBody>
                    <a:bodyPr wrap="none"/>
                    <a:lstStyle/>
                    <a:p>
                      <a:pPr algn="l"/>
                      <a:r>
                        <a:rPr sz="1100" b="1">
                          <a:solidFill>
                            <a:srgbClr val="2E2E2E"/>
                          </a:solidFill>
                          <a:latin typeface="Calibri"/>
                        </a:rPr>
                        <a:t>– Meat and Processed Meat</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7.1%</a:t>
                      </a:r>
                      <a:endParaRPr sz="1100"/>
                    </a:p>
                  </a:txBody>
                  <a:tcPr marL="47625" marR="38100" marT="19050" marB="19050" anchor="ctr">
                    <a:solidFill>
                      <a:srgbClr val="F5F8FA"/>
                    </a:solidFill>
                  </a:tcPr>
                </a:tc>
              </a:tr>
              <a:tr h="224076">
                <a:tc>
                  <a:txBody>
                    <a:bodyPr wrap="none"/>
                    <a:lstStyle/>
                    <a:p>
                      <a:pPr algn="l"/>
                      <a:r>
                        <a:rPr sz="1100" b="1">
                          <a:solidFill>
                            <a:srgbClr val="2E2E2E"/>
                          </a:solidFill>
                          <a:latin typeface="Calibri"/>
                        </a:rPr>
                        <a:t>– Poultry</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6.6%</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6.6%</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6.6%</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6.6%</a:t>
                      </a:r>
                      <a:endParaRPr sz="1100"/>
                    </a:p>
                  </a:txBody>
                  <a:tcPr marL="47625" marR="38100" marT="19050" marB="19050" anchor="ctr">
                    <a:solidFill>
                      <a:srgbClr val="FFFFFF"/>
                    </a:solidFill>
                  </a:tcPr>
                </a:tc>
              </a:tr>
              <a:tr h="224076">
                <a:tc>
                  <a:txBody>
                    <a:bodyPr wrap="none"/>
                    <a:lstStyle/>
                    <a:p>
                      <a:pPr algn="l"/>
                      <a:r>
                        <a:rPr sz="1100" b="1">
                          <a:solidFill>
                            <a:srgbClr val="2E2E2E"/>
                          </a:solidFill>
                          <a:latin typeface="Calibri"/>
                        </a:rPr>
                        <a:t>– Fish and Seafood</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5F8FA"/>
                    </a:solidFill>
                  </a:tcPr>
                </a:tc>
              </a:tr>
              <a:tr h="224076">
                <a:tc>
                  <a:txBody>
                    <a:bodyPr wrap="none"/>
                    <a:lstStyle/>
                    <a:p>
                      <a:pPr algn="l"/>
                      <a:r>
                        <a:rPr sz="1100" b="1">
                          <a:solidFill>
                            <a:srgbClr val="2E2E2E"/>
                          </a:solidFill>
                          <a:latin typeface="Calibri"/>
                        </a:rPr>
                        <a:t>– Dairy and Cheese</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6.6%</a:t>
                      </a:r>
                      <a:endParaRPr sz="1100"/>
                    </a:p>
                  </a:txBody>
                  <a:tcPr marL="47625" marR="38100" marT="19050" marB="19050" anchor="ctr">
                    <a:solidFill>
                      <a:srgbClr val="FFFFFF"/>
                    </a:solidFill>
                  </a:tcPr>
                </a:tc>
              </a:tr>
              <a:tr h="224076">
                <a:tc>
                  <a:txBody>
                    <a:bodyPr wrap="none"/>
                    <a:lstStyle/>
                    <a:p>
                      <a:pPr algn="l"/>
                      <a:r>
                        <a:rPr sz="1100" b="1">
                          <a:solidFill>
                            <a:srgbClr val="2E2E2E"/>
                          </a:solidFill>
                          <a:latin typeface="Calibri"/>
                        </a:rPr>
                        <a:t>– Ready Meals and Prepared Foods</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6.1%</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6.7%</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7.1%</a:t>
                      </a:r>
                      <a:endParaRPr sz="1100"/>
                    </a:p>
                  </a:txBody>
                  <a:tcPr marL="47625" marR="38100" marT="19050" marB="19050" anchor="ctr">
                    <a:solidFill>
                      <a:srgbClr val="F5F8FA"/>
                    </a:solidFill>
                  </a:tcPr>
                </a:tc>
              </a:tr>
              <a:tr h="224076">
                <a:tc>
                  <a:txBody>
                    <a:bodyPr wrap="none"/>
                    <a:lstStyle/>
                    <a:p>
                      <a:pPr algn="l"/>
                      <a:r>
                        <a:rPr sz="1100" b="1">
                          <a:solidFill>
                            <a:srgbClr val="2E2E2E"/>
                          </a:solidFill>
                          <a:latin typeface="Calibri"/>
                        </a:rPr>
                        <a:t>– Bakery, Confectionery and Snacks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FFFFF"/>
                    </a:solidFill>
                  </a:tcPr>
                </a:tc>
              </a:tr>
              <a:tr h="224076">
                <a:tc>
                  <a:txBody>
                    <a:bodyPr wrap="none"/>
                    <a:lstStyle/>
                    <a:p>
                      <a:pPr algn="l"/>
                      <a:r>
                        <a:rPr sz="1100" b="1">
                          <a:solidFill>
                            <a:srgbClr val="2E2E2E"/>
                          </a:solidFill>
                          <a:latin typeface="Calibri"/>
                        </a:rPr>
                        <a:t>– Dry Foods and Powders</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6.6%</a:t>
                      </a:r>
                      <a:endParaRPr sz="1100"/>
                    </a:p>
                  </a:txBody>
                  <a:tcPr marL="47625" marR="38100" marT="19050" marB="19050" anchor="ctr">
                    <a:solidFill>
                      <a:srgbClr val="F5F8FA"/>
                    </a:solidFill>
                  </a:tcPr>
                </a:tc>
              </a:tr>
              <a:tr h="224076">
                <a:tc>
                  <a:txBody>
                    <a:bodyPr wrap="none"/>
                    <a:lstStyle/>
                    <a:p>
                      <a:pPr algn="l"/>
                      <a:r>
                        <a:rPr sz="1100" b="1">
                          <a:solidFill>
                            <a:srgbClr val="2E2E2E"/>
                          </a:solidFill>
                          <a:latin typeface="Calibri"/>
                        </a:rPr>
                        <a:t>– Pet Food</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5.0%</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7.0%</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7.3%</a:t>
                      </a:r>
                      <a:endParaRPr sz="1100"/>
                    </a:p>
                  </a:txBody>
                  <a:tcPr marL="47625" marR="38100" marT="19050" marB="19050" anchor="ctr">
                    <a:solidFill>
                      <a:srgbClr val="FFFFFF"/>
                    </a:solidFill>
                  </a:tcPr>
                </a:tc>
              </a:tr>
              <a:tr h="224076">
                <a:tc>
                  <a:txBody>
                    <a:bodyPr wrap="none"/>
                    <a:lstStyle/>
                    <a:p>
                      <a:pPr algn="l"/>
                      <a:r>
                        <a:rPr sz="1100" b="1">
                          <a:solidFill>
                            <a:srgbClr val="2E2E2E"/>
                          </a:solidFill>
                          <a:latin typeface="Calibri"/>
                        </a:rPr>
                        <a:t>– Other Food Products</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6.9%</a:t>
                      </a:r>
                      <a:endParaRPr sz="1100"/>
                    </a:p>
                  </a:txBody>
                  <a:tcPr marL="47625" marR="38100" marT="19050" marB="19050" anchor="ctr">
                    <a:solidFill>
                      <a:srgbClr val="F5F8FA"/>
                    </a:solidFill>
                  </a:tcPr>
                </a:tc>
              </a:tr>
              <a:tr h="224076">
                <a:tc>
                  <a:txBody>
                    <a:bodyPr wrap="none"/>
                    <a:lstStyle/>
                    <a:p>
                      <a:pPr algn="l"/>
                      <a:r>
                        <a:rPr sz="1100" b="1">
                          <a:solidFill>
                            <a:srgbClr val="2E2E2E"/>
                          </a:solidFill>
                          <a:latin typeface="Calibri"/>
                        </a:rPr>
                        <a:t>Non-Food Packaging</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FFFFF"/>
                    </a:solidFill>
                  </a:tcPr>
                </a:tc>
              </a:tr>
              <a:tr h="224076">
                <a:tc>
                  <a:txBody>
                    <a:bodyPr wrap="none"/>
                    <a:lstStyle/>
                    <a:p>
                      <a:pPr algn="l"/>
                      <a:r>
                        <a:rPr sz="1100" b="1">
                          <a:solidFill>
                            <a:srgbClr val="2E2E2E"/>
                          </a:solidFill>
                          <a:latin typeface="Calibri"/>
                        </a:rPr>
                        <a:t>– Pharmaceutical and Healthcare</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6.1%</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6.3%</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7.3%</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7.3%</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5F8FA"/>
                    </a:solidFill>
                  </a:tcPr>
                </a:tc>
              </a:tr>
              <a:tr h="224076">
                <a:tc>
                  <a:txBody>
                    <a:bodyPr wrap="none"/>
                    <a:lstStyle/>
                    <a:p>
                      <a:pPr algn="l"/>
                      <a:r>
                        <a:rPr sz="1100" b="1">
                          <a:solidFill>
                            <a:srgbClr val="2E2E2E"/>
                          </a:solidFill>
                          <a:latin typeface="Calibri"/>
                        </a:rPr>
                        <a:t>– Personal Care and Cosmetics</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6.6%</a:t>
                      </a:r>
                      <a:endParaRPr sz="1100"/>
                    </a:p>
                  </a:txBody>
                  <a:tcPr marL="47625" marR="38100" marT="19050" marB="19050" anchor="ctr">
                    <a:solidFill>
                      <a:srgbClr val="FFFFFF"/>
                    </a:solidFill>
                  </a:tcPr>
                </a:tc>
              </a:tr>
              <a:tr h="224076">
                <a:tc>
                  <a:txBody>
                    <a:bodyPr wrap="none"/>
                    <a:lstStyle/>
                    <a:p>
                      <a:pPr algn="l"/>
                      <a:r>
                        <a:rPr sz="1100" b="1">
                          <a:solidFill>
                            <a:srgbClr val="2E2E2E"/>
                          </a:solidFill>
                          <a:latin typeface="Calibri"/>
                        </a:rPr>
                        <a:t>– Household Care</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6.4%</a:t>
                      </a:r>
                      <a:endParaRPr sz="1100"/>
                    </a:p>
                  </a:txBody>
                  <a:tcPr marL="47625" marR="38100" marT="19050" marB="19050" anchor="ctr">
                    <a:solidFill>
                      <a:srgbClr val="F5F8FA"/>
                    </a:solidFill>
                  </a:tcPr>
                </a:tc>
              </a:tr>
              <a:tr h="224076">
                <a:tc>
                  <a:txBody>
                    <a:bodyPr wrap="none"/>
                    <a:lstStyle/>
                    <a:p>
                      <a:pPr algn="l"/>
                      <a:r>
                        <a:rPr sz="1100" b="1">
                          <a:solidFill>
                            <a:srgbClr val="2E2E2E"/>
                          </a:solidFill>
                          <a:latin typeface="Calibri"/>
                        </a:rPr>
                        <a:t>– Chemicals and Agrochemicals</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FFFFF"/>
                    </a:solidFill>
                  </a:tcPr>
                </a:tc>
              </a:tr>
              <a:tr h="224076">
                <a:tc>
                  <a:txBody>
                    <a:bodyPr wrap="none"/>
                    <a:lstStyle/>
                    <a:p>
                      <a:pPr algn="l"/>
                      <a:r>
                        <a:rPr sz="1100" b="1">
                          <a:solidFill>
                            <a:srgbClr val="2E2E2E"/>
                          </a:solidFill>
                          <a:latin typeface="Calibri"/>
                        </a:rPr>
                        <a:t>– Electronics and Technical Products</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6.6%</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50482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YoY Analysis of Global Market Value, By Application (%)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Year-on-year value growth by Application, 2022–2036, highlighting acceleration and slowdown</a:t>
            </a:r>
          </a:p>
        </p:txBody>
      </p:sp>
      <p:sp>
        <p:nvSpPr>
          <p:cNvPr id="10" name="Rounded Rectangle 9"/>
          <p:cNvSpPr/>
          <p:nvPr/>
        </p:nvSpPr>
        <p:spPr>
          <a:xfrm>
            <a:off x="142875" y="981075"/>
            <a:ext cx="11906250"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YoY Heatmap, By Application (%)  ·  light = lower, dark = higher growth</a:t>
            </a:r>
          </a:p>
        </p:txBody>
      </p:sp>
      <p:sp>
        <p:nvSpPr>
          <p:cNvPr id="12" name="TextBox 11"/>
          <p:cNvSpPr txBox="1"/>
          <p:nvPr/>
        </p:nvSpPr>
        <p:spPr>
          <a:xfrm>
            <a:off x="185737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2022</a:t>
            </a:r>
          </a:p>
        </p:txBody>
      </p:sp>
      <p:sp>
        <p:nvSpPr>
          <p:cNvPr id="13" name="TextBox 12"/>
          <p:cNvSpPr txBox="1"/>
          <p:nvPr/>
        </p:nvSpPr>
        <p:spPr>
          <a:xfrm>
            <a:off x="250126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2023</a:t>
            </a:r>
          </a:p>
        </p:txBody>
      </p:sp>
      <p:sp>
        <p:nvSpPr>
          <p:cNvPr id="14" name="TextBox 13"/>
          <p:cNvSpPr txBox="1"/>
          <p:nvPr/>
        </p:nvSpPr>
        <p:spPr>
          <a:xfrm>
            <a:off x="314515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2024</a:t>
            </a:r>
          </a:p>
        </p:txBody>
      </p:sp>
      <p:sp>
        <p:nvSpPr>
          <p:cNvPr id="15" name="TextBox 14"/>
          <p:cNvSpPr txBox="1"/>
          <p:nvPr/>
        </p:nvSpPr>
        <p:spPr>
          <a:xfrm>
            <a:off x="378904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2025</a:t>
            </a:r>
          </a:p>
        </p:txBody>
      </p:sp>
      <p:sp>
        <p:nvSpPr>
          <p:cNvPr id="16" name="TextBox 15"/>
          <p:cNvSpPr txBox="1"/>
          <p:nvPr/>
        </p:nvSpPr>
        <p:spPr>
          <a:xfrm>
            <a:off x="443293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2026</a:t>
            </a:r>
          </a:p>
        </p:txBody>
      </p:sp>
      <p:sp>
        <p:nvSpPr>
          <p:cNvPr id="17" name="TextBox 16"/>
          <p:cNvSpPr txBox="1"/>
          <p:nvPr/>
        </p:nvSpPr>
        <p:spPr>
          <a:xfrm>
            <a:off x="507682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2027</a:t>
            </a:r>
          </a:p>
        </p:txBody>
      </p:sp>
      <p:sp>
        <p:nvSpPr>
          <p:cNvPr id="18" name="TextBox 17"/>
          <p:cNvSpPr txBox="1"/>
          <p:nvPr/>
        </p:nvSpPr>
        <p:spPr>
          <a:xfrm>
            <a:off x="572071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2028</a:t>
            </a:r>
          </a:p>
        </p:txBody>
      </p:sp>
      <p:sp>
        <p:nvSpPr>
          <p:cNvPr id="19" name="TextBox 18"/>
          <p:cNvSpPr txBox="1"/>
          <p:nvPr/>
        </p:nvSpPr>
        <p:spPr>
          <a:xfrm>
            <a:off x="636460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2029</a:t>
            </a:r>
          </a:p>
        </p:txBody>
      </p:sp>
      <p:sp>
        <p:nvSpPr>
          <p:cNvPr id="20" name="TextBox 19"/>
          <p:cNvSpPr txBox="1"/>
          <p:nvPr/>
        </p:nvSpPr>
        <p:spPr>
          <a:xfrm>
            <a:off x="700849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2030</a:t>
            </a:r>
          </a:p>
        </p:txBody>
      </p:sp>
      <p:sp>
        <p:nvSpPr>
          <p:cNvPr id="21" name="TextBox 20"/>
          <p:cNvSpPr txBox="1"/>
          <p:nvPr/>
        </p:nvSpPr>
        <p:spPr>
          <a:xfrm>
            <a:off x="765238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2031</a:t>
            </a:r>
          </a:p>
        </p:txBody>
      </p:sp>
      <p:sp>
        <p:nvSpPr>
          <p:cNvPr id="22" name="TextBox 21"/>
          <p:cNvSpPr txBox="1"/>
          <p:nvPr/>
        </p:nvSpPr>
        <p:spPr>
          <a:xfrm>
            <a:off x="829627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2032</a:t>
            </a:r>
          </a:p>
        </p:txBody>
      </p:sp>
      <p:sp>
        <p:nvSpPr>
          <p:cNvPr id="23" name="TextBox 22"/>
          <p:cNvSpPr txBox="1"/>
          <p:nvPr/>
        </p:nvSpPr>
        <p:spPr>
          <a:xfrm>
            <a:off x="894016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2033</a:t>
            </a:r>
          </a:p>
        </p:txBody>
      </p:sp>
      <p:sp>
        <p:nvSpPr>
          <p:cNvPr id="24" name="TextBox 23"/>
          <p:cNvSpPr txBox="1"/>
          <p:nvPr/>
        </p:nvSpPr>
        <p:spPr>
          <a:xfrm>
            <a:off x="958405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2034</a:t>
            </a:r>
          </a:p>
        </p:txBody>
      </p:sp>
      <p:sp>
        <p:nvSpPr>
          <p:cNvPr id="25" name="TextBox 24"/>
          <p:cNvSpPr txBox="1"/>
          <p:nvPr/>
        </p:nvSpPr>
        <p:spPr>
          <a:xfrm>
            <a:off x="1022794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2035</a:t>
            </a:r>
          </a:p>
        </p:txBody>
      </p:sp>
      <p:sp>
        <p:nvSpPr>
          <p:cNvPr id="26" name="TextBox 25"/>
          <p:cNvSpPr txBox="1"/>
          <p:nvPr/>
        </p:nvSpPr>
        <p:spPr>
          <a:xfrm>
            <a:off x="1087183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2036</a:t>
            </a:r>
          </a:p>
        </p:txBody>
      </p:sp>
      <p:sp>
        <p:nvSpPr>
          <p:cNvPr id="27" name="TextBox 26"/>
          <p:cNvSpPr txBox="1"/>
          <p:nvPr/>
        </p:nvSpPr>
        <p:spPr>
          <a:xfrm>
            <a:off x="238125" y="1409700"/>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Food Packaging</a:t>
            </a:r>
          </a:p>
        </p:txBody>
      </p:sp>
      <p:sp>
        <p:nvSpPr>
          <p:cNvPr id="28" name="Rectangle 27"/>
          <p:cNvSpPr/>
          <p:nvPr/>
        </p:nvSpPr>
        <p:spPr>
          <a:xfrm>
            <a:off x="1857375" y="1409700"/>
            <a:ext cx="643890" cy="322659"/>
          </a:xfrm>
          <a:prstGeom prst="rect">
            <a:avLst/>
          </a:prstGeom>
          <a:solidFill>
            <a:srgbClr val="EF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01265" y="1409700"/>
            <a:ext cx="643890" cy="322659"/>
          </a:xfrm>
          <a:prstGeom prst="rect">
            <a:avLst/>
          </a:prstGeom>
          <a:solidFill>
            <a:srgbClr val="EB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145155" y="1409700"/>
            <a:ext cx="643890" cy="322659"/>
          </a:xfrm>
          <a:prstGeom prst="rect">
            <a:avLst/>
          </a:prstGeom>
          <a:solidFill>
            <a:srgbClr val="E3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789045" y="1409700"/>
            <a:ext cx="643890" cy="322659"/>
          </a:xfrm>
          <a:prstGeom prst="rect">
            <a:avLst/>
          </a:prstGeom>
          <a:solidFill>
            <a:srgbClr val="DD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432935" y="1409700"/>
            <a:ext cx="643890" cy="322659"/>
          </a:xfrm>
          <a:prstGeom prst="rect">
            <a:avLst/>
          </a:prstGeom>
          <a:solidFill>
            <a:srgbClr val="B6D1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76825" y="1409700"/>
            <a:ext cx="643890" cy="322659"/>
          </a:xfrm>
          <a:prstGeom prst="rect">
            <a:avLst/>
          </a:prstGeom>
          <a:solidFill>
            <a:srgbClr val="9EC4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720715" y="1409700"/>
            <a:ext cx="643890" cy="322659"/>
          </a:xfrm>
          <a:prstGeom prst="rect">
            <a:avLst/>
          </a:prstGeom>
          <a:solidFill>
            <a:srgbClr val="80B3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364605" y="1409700"/>
            <a:ext cx="643890" cy="322659"/>
          </a:xfrm>
          <a:prstGeom prst="rect">
            <a:avLst/>
          </a:prstGeom>
          <a:solidFill>
            <a:srgbClr val="5A9E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08495" y="1409700"/>
            <a:ext cx="643890" cy="322659"/>
          </a:xfrm>
          <a:prstGeom prst="rect">
            <a:avLst/>
          </a:prstGeom>
          <a:solidFill>
            <a:srgbClr val="378B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652385" y="1409700"/>
            <a:ext cx="643890" cy="322659"/>
          </a:xfrm>
          <a:prstGeom prst="rect">
            <a:avLst/>
          </a:prstGeom>
          <a:solidFill>
            <a:srgbClr val="237F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296275" y="1409700"/>
            <a:ext cx="643890" cy="322659"/>
          </a:xfrm>
          <a:prstGeom prst="rect">
            <a:avLst/>
          </a:prstGeom>
          <a:solidFill>
            <a:srgbClr val="1476B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940165" y="1409700"/>
            <a:ext cx="643890" cy="322659"/>
          </a:xfrm>
          <a:prstGeom prst="rect">
            <a:avLst/>
          </a:prstGeom>
          <a:solidFill>
            <a:srgbClr val="0E72A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584055" y="1409700"/>
            <a:ext cx="643890" cy="322659"/>
          </a:xfrm>
          <a:prstGeom prst="rect">
            <a:avLst/>
          </a:prstGeom>
          <a:solidFill>
            <a:srgbClr val="0E71A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227945" y="1409700"/>
            <a:ext cx="643890" cy="322659"/>
          </a:xfrm>
          <a:prstGeom prst="rect">
            <a:avLst/>
          </a:prstGeom>
          <a:solidFill>
            <a:srgbClr val="1275B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871835" y="1409700"/>
            <a:ext cx="643890" cy="322659"/>
          </a:xfrm>
          <a:prstGeom prst="rect">
            <a:avLst/>
          </a:prstGeom>
          <a:solidFill>
            <a:srgbClr val="1878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38125" y="1732359"/>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Meat and Processed Meat</a:t>
            </a:r>
          </a:p>
        </p:txBody>
      </p:sp>
      <p:sp>
        <p:nvSpPr>
          <p:cNvPr id="44" name="Rectangle 43"/>
          <p:cNvSpPr/>
          <p:nvPr/>
        </p:nvSpPr>
        <p:spPr>
          <a:xfrm>
            <a:off x="1857375" y="1732359"/>
            <a:ext cx="643890" cy="322659"/>
          </a:xfrm>
          <a:prstGeom prst="rect">
            <a:avLst/>
          </a:prstGeom>
          <a:solidFill>
            <a:srgbClr val="E7F3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501265" y="1732359"/>
            <a:ext cx="643890" cy="322659"/>
          </a:xfrm>
          <a:prstGeom prst="rect">
            <a:avLst/>
          </a:prstGeom>
          <a:solidFill>
            <a:srgbClr val="E2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145155" y="1732359"/>
            <a:ext cx="643890" cy="322659"/>
          </a:xfrm>
          <a:prstGeom prst="rect">
            <a:avLst/>
          </a:prstGeom>
          <a:solidFill>
            <a:srgbClr val="DA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789045" y="1732359"/>
            <a:ext cx="643890" cy="322659"/>
          </a:xfrm>
          <a:prstGeom prst="rect">
            <a:avLst/>
          </a:prstGeom>
          <a:solidFill>
            <a:srgbClr val="D3E3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432935" y="1732359"/>
            <a:ext cx="643890" cy="322659"/>
          </a:xfrm>
          <a:prstGeom prst="rect">
            <a:avLst/>
          </a:prstGeom>
          <a:solidFill>
            <a:srgbClr val="A3C6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076825" y="1732359"/>
            <a:ext cx="643890" cy="322659"/>
          </a:xfrm>
          <a:prstGeom prst="rect">
            <a:avLst/>
          </a:prstGeom>
          <a:solidFill>
            <a:srgbClr val="86B6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720715" y="1732359"/>
            <a:ext cx="643890" cy="322659"/>
          </a:xfrm>
          <a:prstGeom prst="rect">
            <a:avLst/>
          </a:prstGeom>
          <a:solidFill>
            <a:srgbClr val="5FA1C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364605" y="1732359"/>
            <a:ext cx="643890" cy="322659"/>
          </a:xfrm>
          <a:prstGeom prst="rect">
            <a:avLst/>
          </a:prstGeom>
          <a:solidFill>
            <a:srgbClr val="3B8D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008495" y="1732359"/>
            <a:ext cx="643890" cy="322659"/>
          </a:xfrm>
          <a:prstGeom prst="rect">
            <a:avLst/>
          </a:prstGeom>
          <a:solidFill>
            <a:srgbClr val="217EB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652385" y="1732359"/>
            <a:ext cx="643890" cy="322659"/>
          </a:xfrm>
          <a:prstGeom prst="rect">
            <a:avLst/>
          </a:prstGeom>
          <a:solidFill>
            <a:srgbClr val="0E71A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296275" y="1732359"/>
            <a:ext cx="643890" cy="322659"/>
          </a:xfrm>
          <a:prstGeom prst="rect">
            <a:avLst/>
          </a:prstGeom>
          <a:solidFill>
            <a:srgbClr val="0D5A8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940165" y="1732359"/>
            <a:ext cx="643890" cy="322659"/>
          </a:xfrm>
          <a:prstGeom prst="rect">
            <a:avLst/>
          </a:prstGeom>
          <a:solidFill>
            <a:srgbClr val="0D517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584055" y="1732359"/>
            <a:ext cx="643890" cy="322659"/>
          </a:xfrm>
          <a:prstGeom prst="rect">
            <a:avLst/>
          </a:prstGeom>
          <a:solidFill>
            <a:srgbClr val="0D517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227945" y="1732359"/>
            <a:ext cx="643890" cy="322659"/>
          </a:xfrm>
          <a:prstGeom prst="rect">
            <a:avLst/>
          </a:prstGeom>
          <a:solidFill>
            <a:srgbClr val="0D598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0871835" y="1732359"/>
            <a:ext cx="643890" cy="322659"/>
          </a:xfrm>
          <a:prstGeom prst="rect">
            <a:avLst/>
          </a:prstGeom>
          <a:solidFill>
            <a:srgbClr val="0D639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38125" y="2055019"/>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Poultry</a:t>
            </a:r>
          </a:p>
        </p:txBody>
      </p:sp>
      <p:sp>
        <p:nvSpPr>
          <p:cNvPr id="60" name="Rectangle 59"/>
          <p:cNvSpPr/>
          <p:nvPr/>
        </p:nvSpPr>
        <p:spPr>
          <a:xfrm>
            <a:off x="1857375" y="2055019"/>
            <a:ext cx="643890" cy="322659"/>
          </a:xfrm>
          <a:prstGeom prst="rect">
            <a:avLst/>
          </a:prstGeom>
          <a:solidFill>
            <a:srgbClr val="F7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501265" y="2055019"/>
            <a:ext cx="643890" cy="322659"/>
          </a:xfrm>
          <a:prstGeom prst="rect">
            <a:avLst/>
          </a:prstGeom>
          <a:solidFill>
            <a:srgbClr val="F3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3145155" y="2055019"/>
            <a:ext cx="643890" cy="322659"/>
          </a:xfrm>
          <a:prstGeom prst="rect">
            <a:avLst/>
          </a:prstGeom>
          <a:solidFill>
            <a:srgbClr val="EDF7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3789045" y="2055019"/>
            <a:ext cx="643890" cy="322659"/>
          </a:xfrm>
          <a:prstGeom prst="rect">
            <a:avLst/>
          </a:prstGeom>
          <a:solidFill>
            <a:srgbClr val="E7F3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432935" y="2055019"/>
            <a:ext cx="643890" cy="322659"/>
          </a:xfrm>
          <a:prstGeom prst="rect">
            <a:avLst/>
          </a:prstGeom>
          <a:solidFill>
            <a:srgbClr val="C8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076825" y="2055019"/>
            <a:ext cx="643890" cy="322659"/>
          </a:xfrm>
          <a:prstGeom prst="rect">
            <a:avLst/>
          </a:prstGeom>
          <a:solidFill>
            <a:srgbClr val="B1CE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5720715" y="2055019"/>
            <a:ext cx="643890" cy="322659"/>
          </a:xfrm>
          <a:prstGeom prst="rect">
            <a:avLst/>
          </a:prstGeom>
          <a:solidFill>
            <a:srgbClr val="99C1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364605" y="2055019"/>
            <a:ext cx="643890" cy="322659"/>
          </a:xfrm>
          <a:prstGeom prst="rect">
            <a:avLst/>
          </a:prstGeom>
          <a:solidFill>
            <a:srgbClr val="7BB0D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7008495" y="2055019"/>
            <a:ext cx="643890" cy="322659"/>
          </a:xfrm>
          <a:prstGeom prst="rect">
            <a:avLst/>
          </a:prstGeom>
          <a:solidFill>
            <a:srgbClr val="579DC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7652385" y="2055019"/>
            <a:ext cx="643890" cy="322659"/>
          </a:xfrm>
          <a:prstGeom prst="rect">
            <a:avLst/>
          </a:prstGeom>
          <a:solidFill>
            <a:srgbClr val="3D8E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8296275" y="2055019"/>
            <a:ext cx="643890" cy="322659"/>
          </a:xfrm>
          <a:prstGeom prst="rect">
            <a:avLst/>
          </a:prstGeom>
          <a:solidFill>
            <a:srgbClr val="3087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8940165" y="2055019"/>
            <a:ext cx="643890" cy="322659"/>
          </a:xfrm>
          <a:prstGeom prst="rect">
            <a:avLst/>
          </a:prstGeom>
          <a:solidFill>
            <a:srgbClr val="2B84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9584055" y="2055019"/>
            <a:ext cx="643890" cy="322659"/>
          </a:xfrm>
          <a:prstGeom prst="rect">
            <a:avLst/>
          </a:prstGeom>
          <a:solidFill>
            <a:srgbClr val="2A83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0227945" y="2055019"/>
            <a:ext cx="643890" cy="322659"/>
          </a:xfrm>
          <a:prstGeom prst="rect">
            <a:avLst/>
          </a:prstGeom>
          <a:solidFill>
            <a:srgbClr val="2E85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0871835" y="2055019"/>
            <a:ext cx="643890" cy="322659"/>
          </a:xfrm>
          <a:prstGeom prst="rect">
            <a:avLst/>
          </a:prstGeom>
          <a:solidFill>
            <a:srgbClr val="3388B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38125" y="2377678"/>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Fish and Seafood</a:t>
            </a:r>
          </a:p>
        </p:txBody>
      </p:sp>
      <p:sp>
        <p:nvSpPr>
          <p:cNvPr id="76" name="Rectangle 75"/>
          <p:cNvSpPr/>
          <p:nvPr/>
        </p:nvSpPr>
        <p:spPr>
          <a:xfrm>
            <a:off x="1857375" y="2377678"/>
            <a:ext cx="643890" cy="322659"/>
          </a:xfrm>
          <a:prstGeom prst="rect">
            <a:avLst/>
          </a:prstGeom>
          <a:solidFill>
            <a:srgbClr val="FCFE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2501265" y="2377678"/>
            <a:ext cx="643890" cy="322659"/>
          </a:xfrm>
          <a:prstGeom prst="rect">
            <a:avLst/>
          </a:prstGeom>
          <a:solidFill>
            <a:srgbClr val="F7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3145155" y="2377678"/>
            <a:ext cx="643890" cy="322659"/>
          </a:xfrm>
          <a:prstGeom prst="rect">
            <a:avLst/>
          </a:prstGeom>
          <a:solidFill>
            <a:srgbClr val="F1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3789045" y="2377678"/>
            <a:ext cx="643890" cy="322659"/>
          </a:xfrm>
          <a:prstGeom prst="rect">
            <a:avLst/>
          </a:prstGeom>
          <a:solidFill>
            <a:srgbClr val="EB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4432935" y="2377678"/>
            <a:ext cx="643890" cy="322659"/>
          </a:xfrm>
          <a:prstGeom prst="rect">
            <a:avLst/>
          </a:prstGeom>
          <a:solidFill>
            <a:srgbClr val="CD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5076825" y="2377678"/>
            <a:ext cx="643890" cy="322659"/>
          </a:xfrm>
          <a:prstGeom prst="rect">
            <a:avLst/>
          </a:prstGeom>
          <a:solidFill>
            <a:srgbClr val="B7D1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5720715" y="2377678"/>
            <a:ext cx="643890" cy="322659"/>
          </a:xfrm>
          <a:prstGeom prst="rect">
            <a:avLst/>
          </a:prstGeom>
          <a:solidFill>
            <a:srgbClr val="9EC3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6364605" y="2377678"/>
            <a:ext cx="643890" cy="322659"/>
          </a:xfrm>
          <a:prstGeom prst="rect">
            <a:avLst/>
          </a:prstGeom>
          <a:solidFill>
            <a:srgbClr val="7FB2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7008495" y="2377678"/>
            <a:ext cx="643890" cy="322659"/>
          </a:xfrm>
          <a:prstGeom prst="rect">
            <a:avLst/>
          </a:prstGeom>
          <a:solidFill>
            <a:srgbClr val="549BC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7652385" y="2377678"/>
            <a:ext cx="643890" cy="322659"/>
          </a:xfrm>
          <a:prstGeom prst="rect">
            <a:avLst/>
          </a:prstGeom>
          <a:solidFill>
            <a:srgbClr val="3589C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8296275" y="2377678"/>
            <a:ext cx="643890" cy="322659"/>
          </a:xfrm>
          <a:prstGeom prst="rect">
            <a:avLst/>
          </a:prstGeom>
          <a:solidFill>
            <a:srgbClr val="227EB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8940165" y="2377678"/>
            <a:ext cx="643890" cy="322659"/>
          </a:xfrm>
          <a:prstGeom prst="rect">
            <a:avLst/>
          </a:prstGeom>
          <a:solidFill>
            <a:srgbClr val="1C7A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9584055" y="2377678"/>
            <a:ext cx="643890" cy="322659"/>
          </a:xfrm>
          <a:prstGeom prst="rect">
            <a:avLst/>
          </a:prstGeom>
          <a:solidFill>
            <a:srgbClr val="1B7A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10227945" y="2377678"/>
            <a:ext cx="643890" cy="322659"/>
          </a:xfrm>
          <a:prstGeom prst="rect">
            <a:avLst/>
          </a:prstGeom>
          <a:solidFill>
            <a:srgbClr val="207DB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10871835" y="2377678"/>
            <a:ext cx="643890" cy="322659"/>
          </a:xfrm>
          <a:prstGeom prst="rect">
            <a:avLst/>
          </a:prstGeom>
          <a:solidFill>
            <a:srgbClr val="2681B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38125" y="2700338"/>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Dairy and Cheese</a:t>
            </a:r>
          </a:p>
        </p:txBody>
      </p:sp>
      <p:sp>
        <p:nvSpPr>
          <p:cNvPr id="92" name="Rectangle 91"/>
          <p:cNvSpPr/>
          <p:nvPr/>
        </p:nvSpPr>
        <p:spPr>
          <a:xfrm>
            <a:off x="1857375" y="2700338"/>
            <a:ext cx="643890" cy="322659"/>
          </a:xfrm>
          <a:prstGeom prst="rect">
            <a:avLst/>
          </a:prstGeom>
          <a:solidFill>
            <a:srgbClr val="E5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2501265" y="2700338"/>
            <a:ext cx="643890" cy="322659"/>
          </a:xfrm>
          <a:prstGeom prst="rect">
            <a:avLst/>
          </a:prstGeom>
          <a:solidFill>
            <a:srgbClr val="E0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3145155" y="2700338"/>
            <a:ext cx="643890" cy="322659"/>
          </a:xfrm>
          <a:prstGeom prst="rect">
            <a:avLst/>
          </a:prstGeom>
          <a:solidFill>
            <a:srgbClr val="D7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3789045" y="2700338"/>
            <a:ext cx="643890" cy="322659"/>
          </a:xfrm>
          <a:prstGeom prst="rect">
            <a:avLst/>
          </a:prstGeom>
          <a:solidFill>
            <a:srgbClr val="D2E3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4432935" y="2700338"/>
            <a:ext cx="643890" cy="322659"/>
          </a:xfrm>
          <a:prstGeom prst="rect">
            <a:avLst/>
          </a:prstGeom>
          <a:solidFill>
            <a:srgbClr val="ACCB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5076825" y="2700338"/>
            <a:ext cx="643890" cy="322659"/>
          </a:xfrm>
          <a:prstGeom prst="rect">
            <a:avLst/>
          </a:prstGeom>
          <a:solidFill>
            <a:srgbClr val="9CC3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5720715" y="2700338"/>
            <a:ext cx="643890" cy="322659"/>
          </a:xfrm>
          <a:prstGeom prst="rect">
            <a:avLst/>
          </a:prstGeom>
          <a:solidFill>
            <a:srgbClr val="89B8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6364605" y="2700338"/>
            <a:ext cx="643890" cy="322659"/>
          </a:xfrm>
          <a:prstGeom prst="rect">
            <a:avLst/>
          </a:prstGeom>
          <a:solidFill>
            <a:srgbClr val="6FA9D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7008495" y="2700338"/>
            <a:ext cx="643890" cy="322659"/>
          </a:xfrm>
          <a:prstGeom prst="rect">
            <a:avLst/>
          </a:prstGeom>
          <a:solidFill>
            <a:srgbClr val="4F98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7652385" y="2700338"/>
            <a:ext cx="643890" cy="322659"/>
          </a:xfrm>
          <a:prstGeom prst="rect">
            <a:avLst/>
          </a:prstGeom>
          <a:solidFill>
            <a:srgbClr val="378B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8296275" y="2700338"/>
            <a:ext cx="643890" cy="322659"/>
          </a:xfrm>
          <a:prstGeom prst="rect">
            <a:avLst/>
          </a:prstGeom>
          <a:solidFill>
            <a:srgbClr val="2982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8940165" y="2700338"/>
            <a:ext cx="643890" cy="322659"/>
          </a:xfrm>
          <a:prstGeom prst="rect">
            <a:avLst/>
          </a:prstGeom>
          <a:solidFill>
            <a:srgbClr val="2480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9584055" y="2700338"/>
            <a:ext cx="643890" cy="322659"/>
          </a:xfrm>
          <a:prstGeom prst="rect">
            <a:avLst/>
          </a:prstGeom>
          <a:solidFill>
            <a:srgbClr val="247F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0227945" y="2700338"/>
            <a:ext cx="643890" cy="322659"/>
          </a:xfrm>
          <a:prstGeom prst="rect">
            <a:avLst/>
          </a:prstGeom>
          <a:solidFill>
            <a:srgbClr val="2882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0871835" y="2700338"/>
            <a:ext cx="643890" cy="322659"/>
          </a:xfrm>
          <a:prstGeom prst="rect">
            <a:avLst/>
          </a:prstGeom>
          <a:solidFill>
            <a:srgbClr val="2E85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238125" y="3022997"/>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Ready Meals and Prepared Foods</a:t>
            </a:r>
          </a:p>
        </p:txBody>
      </p:sp>
      <p:sp>
        <p:nvSpPr>
          <p:cNvPr id="108" name="Rectangle 107"/>
          <p:cNvSpPr/>
          <p:nvPr/>
        </p:nvSpPr>
        <p:spPr>
          <a:xfrm>
            <a:off x="1857375" y="3022997"/>
            <a:ext cx="643890" cy="322659"/>
          </a:xfrm>
          <a:prstGeom prst="rect">
            <a:avLst/>
          </a:prstGeom>
          <a:solidFill>
            <a:srgbClr val="F0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2501265" y="3022997"/>
            <a:ext cx="643890" cy="322659"/>
          </a:xfrm>
          <a:prstGeom prst="rect">
            <a:avLst/>
          </a:prstGeom>
          <a:solidFill>
            <a:srgbClr val="EB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3145155" y="3022997"/>
            <a:ext cx="643890" cy="322659"/>
          </a:xfrm>
          <a:prstGeom prst="rect">
            <a:avLst/>
          </a:prstGeom>
          <a:solidFill>
            <a:srgbClr val="E1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3789045" y="3022997"/>
            <a:ext cx="643890" cy="322659"/>
          </a:xfrm>
          <a:prstGeom prst="rect">
            <a:avLst/>
          </a:prstGeom>
          <a:solidFill>
            <a:srgbClr val="D9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4432935" y="3022997"/>
            <a:ext cx="643890" cy="322659"/>
          </a:xfrm>
          <a:prstGeom prst="rect">
            <a:avLst/>
          </a:prstGeom>
          <a:solidFill>
            <a:srgbClr val="ABCB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5076825" y="3022997"/>
            <a:ext cx="643890" cy="322659"/>
          </a:xfrm>
          <a:prstGeom prst="rect">
            <a:avLst/>
          </a:prstGeom>
          <a:solidFill>
            <a:srgbClr val="8FBB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5720715" y="3022997"/>
            <a:ext cx="643890" cy="322659"/>
          </a:xfrm>
          <a:prstGeom prst="rect">
            <a:avLst/>
          </a:prstGeom>
          <a:solidFill>
            <a:srgbClr val="67A5C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6364605" y="3022997"/>
            <a:ext cx="643890" cy="322659"/>
          </a:xfrm>
          <a:prstGeom prst="rect">
            <a:avLst/>
          </a:prstGeom>
          <a:solidFill>
            <a:srgbClr val="4090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7008495" y="3022997"/>
            <a:ext cx="643890" cy="322659"/>
          </a:xfrm>
          <a:prstGeom prst="rect">
            <a:avLst/>
          </a:prstGeom>
          <a:solidFill>
            <a:srgbClr val="247F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7652385" y="3022997"/>
            <a:ext cx="643890" cy="322659"/>
          </a:xfrm>
          <a:prstGeom prst="rect">
            <a:avLst/>
          </a:prstGeom>
          <a:solidFill>
            <a:srgbClr val="0E71A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8296275" y="3022997"/>
            <a:ext cx="643890" cy="322659"/>
          </a:xfrm>
          <a:prstGeom prst="rect">
            <a:avLst/>
          </a:prstGeom>
          <a:solidFill>
            <a:srgbClr val="0D578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8940165" y="3022997"/>
            <a:ext cx="643890" cy="322659"/>
          </a:xfrm>
          <a:prstGeom prst="rect">
            <a:avLst/>
          </a:prstGeom>
          <a:solidFill>
            <a:srgbClr val="0C4F7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9584055" y="3022997"/>
            <a:ext cx="643890" cy="322659"/>
          </a:xfrm>
          <a:prstGeom prst="rect">
            <a:avLst/>
          </a:prstGeom>
          <a:solidFill>
            <a:srgbClr val="0C4E7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0227945" y="3022997"/>
            <a:ext cx="643890" cy="322659"/>
          </a:xfrm>
          <a:prstGeom prst="rect">
            <a:avLst/>
          </a:prstGeom>
          <a:solidFill>
            <a:srgbClr val="0D588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10871835" y="3022997"/>
            <a:ext cx="643890" cy="322659"/>
          </a:xfrm>
          <a:prstGeom prst="rect">
            <a:avLst/>
          </a:prstGeom>
          <a:solidFill>
            <a:srgbClr val="0D639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238125" y="3345656"/>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Bakery, Confectionery and Snacks</a:t>
            </a:r>
          </a:p>
        </p:txBody>
      </p:sp>
      <p:sp>
        <p:nvSpPr>
          <p:cNvPr id="124" name="Rectangle 123"/>
          <p:cNvSpPr/>
          <p:nvPr/>
        </p:nvSpPr>
        <p:spPr>
          <a:xfrm>
            <a:off x="1857375" y="3345656"/>
            <a:ext cx="643890" cy="322659"/>
          </a:xfrm>
          <a:prstGeom prst="rect">
            <a:avLst/>
          </a:prstGeom>
          <a:solidFill>
            <a:srgbClr val="E7F3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2501265" y="3345656"/>
            <a:ext cx="643890" cy="322659"/>
          </a:xfrm>
          <a:prstGeom prst="rect">
            <a:avLst/>
          </a:prstGeom>
          <a:solidFill>
            <a:srgbClr val="E4F1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3145155" y="3345656"/>
            <a:ext cx="643890" cy="322659"/>
          </a:xfrm>
          <a:prstGeom prst="rect">
            <a:avLst/>
          </a:prstGeom>
          <a:solidFill>
            <a:srgbClr val="DE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3789045" y="3345656"/>
            <a:ext cx="643890" cy="322659"/>
          </a:xfrm>
          <a:prstGeom prst="rect">
            <a:avLst/>
          </a:prstGeom>
          <a:solidFill>
            <a:srgbClr val="D9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4432935" y="3345656"/>
            <a:ext cx="643890" cy="322659"/>
          </a:xfrm>
          <a:prstGeom prst="rect">
            <a:avLst/>
          </a:prstGeom>
          <a:solidFill>
            <a:srgbClr val="B1CE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5076825" y="3345656"/>
            <a:ext cx="643890" cy="322659"/>
          </a:xfrm>
          <a:prstGeom prst="rect">
            <a:avLst/>
          </a:prstGeom>
          <a:solidFill>
            <a:srgbClr val="9BC2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5720715" y="3345656"/>
            <a:ext cx="643890" cy="322659"/>
          </a:xfrm>
          <a:prstGeom prst="rect">
            <a:avLst/>
          </a:prstGeom>
          <a:solidFill>
            <a:srgbClr val="7EB2D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6364605" y="3345656"/>
            <a:ext cx="643890" cy="322659"/>
          </a:xfrm>
          <a:prstGeom prst="rect">
            <a:avLst/>
          </a:prstGeom>
          <a:solidFill>
            <a:srgbClr val="5C9F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7008495" y="3345656"/>
            <a:ext cx="643890" cy="322659"/>
          </a:xfrm>
          <a:prstGeom prst="rect">
            <a:avLst/>
          </a:prstGeom>
          <a:solidFill>
            <a:srgbClr val="398C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7652385" y="3345656"/>
            <a:ext cx="643890" cy="322659"/>
          </a:xfrm>
          <a:prstGeom prst="rect">
            <a:avLst/>
          </a:prstGeom>
          <a:solidFill>
            <a:srgbClr val="247F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8296275" y="3345656"/>
            <a:ext cx="643890" cy="322659"/>
          </a:xfrm>
          <a:prstGeom prst="rect">
            <a:avLst/>
          </a:prstGeom>
          <a:solidFill>
            <a:srgbClr val="1576B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8940165" y="3345656"/>
            <a:ext cx="643890" cy="322659"/>
          </a:xfrm>
          <a:prstGeom prst="rect">
            <a:avLst/>
          </a:prstGeom>
          <a:solidFill>
            <a:srgbClr val="1174B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9584055" y="3345656"/>
            <a:ext cx="643890" cy="322659"/>
          </a:xfrm>
          <a:prstGeom prst="rect">
            <a:avLst/>
          </a:prstGeom>
          <a:solidFill>
            <a:srgbClr val="1274B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10227945" y="3345656"/>
            <a:ext cx="643890" cy="322659"/>
          </a:xfrm>
          <a:prstGeom prst="rect">
            <a:avLst/>
          </a:prstGeom>
          <a:solidFill>
            <a:srgbClr val="1677B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10871835" y="3345656"/>
            <a:ext cx="643890" cy="322659"/>
          </a:xfrm>
          <a:prstGeom prst="rect">
            <a:avLst/>
          </a:prstGeom>
          <a:solidFill>
            <a:srgbClr val="1B7A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238125" y="3668316"/>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Dry Foods and Powders</a:t>
            </a:r>
          </a:p>
        </p:txBody>
      </p:sp>
      <p:sp>
        <p:nvSpPr>
          <p:cNvPr id="140" name="Rectangle 139"/>
          <p:cNvSpPr/>
          <p:nvPr/>
        </p:nvSpPr>
        <p:spPr>
          <a:xfrm>
            <a:off x="1857375" y="3668316"/>
            <a:ext cx="643890" cy="322659"/>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2501265" y="3668316"/>
            <a:ext cx="643890" cy="322659"/>
          </a:xfrm>
          <a:prstGeom prst="rect">
            <a:avLst/>
          </a:prstGeom>
          <a:solidFill>
            <a:srgbClr val="FA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3145155" y="3668316"/>
            <a:ext cx="643890" cy="322659"/>
          </a:xfrm>
          <a:prstGeom prst="rect">
            <a:avLst/>
          </a:prstGeom>
          <a:solidFill>
            <a:srgbClr val="F3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3789045" y="3668316"/>
            <a:ext cx="643890" cy="322659"/>
          </a:xfrm>
          <a:prstGeom prst="rect">
            <a:avLst/>
          </a:prstGeom>
          <a:solidFill>
            <a:srgbClr val="EE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4432935" y="3668316"/>
            <a:ext cx="643890" cy="322659"/>
          </a:xfrm>
          <a:prstGeom prst="rect">
            <a:avLst/>
          </a:prstGeom>
          <a:solidFill>
            <a:srgbClr val="D1E2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5076825" y="3668316"/>
            <a:ext cx="643890" cy="322659"/>
          </a:xfrm>
          <a:prstGeom prst="rect">
            <a:avLst/>
          </a:prstGeom>
          <a:solidFill>
            <a:srgbClr val="BCD5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5720715" y="3668316"/>
            <a:ext cx="643890" cy="322659"/>
          </a:xfrm>
          <a:prstGeom prst="rect">
            <a:avLst/>
          </a:prstGeom>
          <a:solidFill>
            <a:srgbClr val="A3C6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6364605" y="3668316"/>
            <a:ext cx="643890" cy="322659"/>
          </a:xfrm>
          <a:prstGeom prst="rect">
            <a:avLst/>
          </a:prstGeom>
          <a:solidFill>
            <a:srgbClr val="87B7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7008495" y="3668316"/>
            <a:ext cx="643890" cy="322659"/>
          </a:xfrm>
          <a:prstGeom prst="rect">
            <a:avLst/>
          </a:prstGeom>
          <a:solidFill>
            <a:srgbClr val="5DA0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7652385" y="3668316"/>
            <a:ext cx="643890" cy="322659"/>
          </a:xfrm>
          <a:prstGeom prst="rect">
            <a:avLst/>
          </a:prstGeom>
          <a:solidFill>
            <a:srgbClr val="3B8D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8296275" y="3668316"/>
            <a:ext cx="643890" cy="322659"/>
          </a:xfrm>
          <a:prstGeom prst="rect">
            <a:avLst/>
          </a:prstGeom>
          <a:solidFill>
            <a:srgbClr val="2A83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8940165" y="3668316"/>
            <a:ext cx="643890" cy="322659"/>
          </a:xfrm>
          <a:prstGeom prst="rect">
            <a:avLst/>
          </a:prstGeom>
          <a:solidFill>
            <a:srgbClr val="2480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9584055" y="3668316"/>
            <a:ext cx="643890" cy="322659"/>
          </a:xfrm>
          <a:prstGeom prst="rect">
            <a:avLst/>
          </a:prstGeom>
          <a:solidFill>
            <a:srgbClr val="237F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10227945" y="3668316"/>
            <a:ext cx="643890" cy="322659"/>
          </a:xfrm>
          <a:prstGeom prst="rect">
            <a:avLst/>
          </a:prstGeom>
          <a:solidFill>
            <a:srgbClr val="2882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10871835" y="3668316"/>
            <a:ext cx="643890" cy="322659"/>
          </a:xfrm>
          <a:prstGeom prst="rect">
            <a:avLst/>
          </a:prstGeom>
          <a:solidFill>
            <a:srgbClr val="2E86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238125" y="3990975"/>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Pet Food</a:t>
            </a:r>
          </a:p>
        </p:txBody>
      </p:sp>
      <p:sp>
        <p:nvSpPr>
          <p:cNvPr id="156" name="Rectangle 155"/>
          <p:cNvSpPr/>
          <p:nvPr/>
        </p:nvSpPr>
        <p:spPr>
          <a:xfrm>
            <a:off x="1857375" y="3990975"/>
            <a:ext cx="643890" cy="322659"/>
          </a:xfrm>
          <a:prstGeom prst="rect">
            <a:avLst/>
          </a:prstGeom>
          <a:solidFill>
            <a:srgbClr val="D9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2501265" y="3990975"/>
            <a:ext cx="643890" cy="322659"/>
          </a:xfrm>
          <a:prstGeom prst="rect">
            <a:avLst/>
          </a:prstGeom>
          <a:solidFill>
            <a:srgbClr val="D5E5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3145155" y="3990975"/>
            <a:ext cx="643890" cy="322659"/>
          </a:xfrm>
          <a:prstGeom prst="rect">
            <a:avLst/>
          </a:prstGeom>
          <a:solidFill>
            <a:srgbClr val="CE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3789045" y="3990975"/>
            <a:ext cx="643890" cy="322659"/>
          </a:xfrm>
          <a:prstGeom prst="rect">
            <a:avLst/>
          </a:prstGeom>
          <a:solidFill>
            <a:srgbClr val="C4D9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4432935" y="3990975"/>
            <a:ext cx="643890" cy="322659"/>
          </a:xfrm>
          <a:prstGeom prst="rect">
            <a:avLst/>
          </a:prstGeom>
          <a:solidFill>
            <a:srgbClr val="8FBB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5076825" y="3990975"/>
            <a:ext cx="643890" cy="322659"/>
          </a:xfrm>
          <a:prstGeom prst="rect">
            <a:avLst/>
          </a:prstGeom>
          <a:solidFill>
            <a:srgbClr val="6BA7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5720715" y="3990975"/>
            <a:ext cx="643890" cy="322659"/>
          </a:xfrm>
          <a:prstGeom prst="rect">
            <a:avLst/>
          </a:prstGeom>
          <a:solidFill>
            <a:srgbClr val="4291C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6364605" y="3990975"/>
            <a:ext cx="643890" cy="322659"/>
          </a:xfrm>
          <a:prstGeom prst="rect">
            <a:avLst/>
          </a:prstGeom>
          <a:solidFill>
            <a:srgbClr val="2680B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7008495" y="3990975"/>
            <a:ext cx="643890" cy="322659"/>
          </a:xfrm>
          <a:prstGeom prst="rect">
            <a:avLst/>
          </a:prstGeom>
          <a:solidFill>
            <a:srgbClr val="0E6BA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7652385" y="3990975"/>
            <a:ext cx="643890" cy="322659"/>
          </a:xfrm>
          <a:prstGeom prst="rect">
            <a:avLst/>
          </a:prstGeom>
          <a:solidFill>
            <a:srgbClr val="0C497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8296275" y="3990975"/>
            <a:ext cx="643890" cy="322659"/>
          </a:xfrm>
          <a:prstGeom prst="rect">
            <a:avLst/>
          </a:prstGeom>
          <a:solidFill>
            <a:srgbClr val="0B345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8940165" y="3990975"/>
            <a:ext cx="643890" cy="322659"/>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9584055" y="3990975"/>
            <a:ext cx="643890" cy="322659"/>
          </a:xfrm>
          <a:prstGeom prst="rect">
            <a:avLst/>
          </a:prstGeom>
          <a:solidFill>
            <a:srgbClr val="0B2F4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10227945" y="3990975"/>
            <a:ext cx="643890" cy="322659"/>
          </a:xfrm>
          <a:prstGeom prst="rect">
            <a:avLst/>
          </a:prstGeom>
          <a:solidFill>
            <a:srgbClr val="0B395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10871835" y="3990975"/>
            <a:ext cx="643890" cy="322659"/>
          </a:xfrm>
          <a:prstGeom prst="rect">
            <a:avLst/>
          </a:prstGeom>
          <a:solidFill>
            <a:srgbClr val="0C456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238125" y="4313634"/>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Other Food Products (Fresh Produce, Plant-Based Foods, Condiments and Dressings, Foodservice Products)</a:t>
            </a:r>
          </a:p>
        </p:txBody>
      </p:sp>
      <p:sp>
        <p:nvSpPr>
          <p:cNvPr id="172" name="Rectangle 171"/>
          <p:cNvSpPr/>
          <p:nvPr/>
        </p:nvSpPr>
        <p:spPr>
          <a:xfrm>
            <a:off x="1857375" y="4313634"/>
            <a:ext cx="643890" cy="322659"/>
          </a:xfrm>
          <a:prstGeom prst="rect">
            <a:avLst/>
          </a:prstGeom>
          <a:solidFill>
            <a:srgbClr val="F4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2501265" y="4313634"/>
            <a:ext cx="643890" cy="322659"/>
          </a:xfrm>
          <a:prstGeom prst="rect">
            <a:avLst/>
          </a:prstGeom>
          <a:solidFill>
            <a:srgbClr val="F1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3145155" y="4313634"/>
            <a:ext cx="643890" cy="322659"/>
          </a:xfrm>
          <a:prstGeom prst="rect">
            <a:avLst/>
          </a:prstGeom>
          <a:solidFill>
            <a:srgbClr val="EDF7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3789045" y="4313634"/>
            <a:ext cx="643890" cy="322659"/>
          </a:xfrm>
          <a:prstGeom prst="rect">
            <a:avLst/>
          </a:prstGeom>
          <a:solidFill>
            <a:srgbClr val="E9F5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Rectangle 175"/>
          <p:cNvSpPr/>
          <p:nvPr/>
        </p:nvSpPr>
        <p:spPr>
          <a:xfrm>
            <a:off x="4432935" y="4313634"/>
            <a:ext cx="643890" cy="322659"/>
          </a:xfrm>
          <a:prstGeom prst="rect">
            <a:avLst/>
          </a:prstGeom>
          <a:solidFill>
            <a:srgbClr val="CBDD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Rectangle 176"/>
          <p:cNvSpPr/>
          <p:nvPr/>
        </p:nvSpPr>
        <p:spPr>
          <a:xfrm>
            <a:off x="5076825" y="4313634"/>
            <a:ext cx="643890" cy="322659"/>
          </a:xfrm>
          <a:prstGeom prst="rect">
            <a:avLst/>
          </a:prstGeom>
          <a:solidFill>
            <a:srgbClr val="ACCC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ectangle 177"/>
          <p:cNvSpPr/>
          <p:nvPr/>
        </p:nvSpPr>
        <p:spPr>
          <a:xfrm>
            <a:off x="5720715" y="4313634"/>
            <a:ext cx="643890" cy="322659"/>
          </a:xfrm>
          <a:prstGeom prst="rect">
            <a:avLst/>
          </a:prstGeom>
          <a:solidFill>
            <a:srgbClr val="88B7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Rectangle 178"/>
          <p:cNvSpPr/>
          <p:nvPr/>
        </p:nvSpPr>
        <p:spPr>
          <a:xfrm>
            <a:off x="6364605" y="4313634"/>
            <a:ext cx="643890" cy="322659"/>
          </a:xfrm>
          <a:prstGeom prst="rect">
            <a:avLst/>
          </a:prstGeom>
          <a:solidFill>
            <a:srgbClr val="589DC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ectangle 179"/>
          <p:cNvSpPr/>
          <p:nvPr/>
        </p:nvSpPr>
        <p:spPr>
          <a:xfrm>
            <a:off x="7008495" y="4313634"/>
            <a:ext cx="643890" cy="322659"/>
          </a:xfrm>
          <a:prstGeom prst="rect">
            <a:avLst/>
          </a:prstGeom>
          <a:solidFill>
            <a:srgbClr val="378B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Rectangle 180"/>
          <p:cNvSpPr/>
          <p:nvPr/>
        </p:nvSpPr>
        <p:spPr>
          <a:xfrm>
            <a:off x="7652385" y="4313634"/>
            <a:ext cx="643890" cy="322659"/>
          </a:xfrm>
          <a:prstGeom prst="rect">
            <a:avLst/>
          </a:prstGeom>
          <a:solidFill>
            <a:srgbClr val="2881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tangle 181"/>
          <p:cNvSpPr/>
          <p:nvPr/>
        </p:nvSpPr>
        <p:spPr>
          <a:xfrm>
            <a:off x="8296275" y="4313634"/>
            <a:ext cx="643890" cy="322659"/>
          </a:xfrm>
          <a:prstGeom prst="rect">
            <a:avLst/>
          </a:prstGeom>
          <a:solidFill>
            <a:srgbClr val="1A79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ectangle 182"/>
          <p:cNvSpPr/>
          <p:nvPr/>
        </p:nvSpPr>
        <p:spPr>
          <a:xfrm>
            <a:off x="8940165" y="4313634"/>
            <a:ext cx="643890" cy="322659"/>
          </a:xfrm>
          <a:prstGeom prst="rect">
            <a:avLst/>
          </a:prstGeom>
          <a:solidFill>
            <a:srgbClr val="0F73A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9584055" y="4313634"/>
            <a:ext cx="643890" cy="322659"/>
          </a:xfrm>
          <a:prstGeom prst="rect">
            <a:avLst/>
          </a:prstGeom>
          <a:solidFill>
            <a:srgbClr val="0E6FA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10227945" y="4313634"/>
            <a:ext cx="643890" cy="322659"/>
          </a:xfrm>
          <a:prstGeom prst="rect">
            <a:avLst/>
          </a:prstGeom>
          <a:solidFill>
            <a:srgbClr val="1073A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10871835" y="4313634"/>
            <a:ext cx="643890" cy="322659"/>
          </a:xfrm>
          <a:prstGeom prst="rect">
            <a:avLst/>
          </a:prstGeom>
          <a:solidFill>
            <a:srgbClr val="1777B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238125" y="4636294"/>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Non-Food Packaging</a:t>
            </a:r>
          </a:p>
        </p:txBody>
      </p:sp>
      <p:sp>
        <p:nvSpPr>
          <p:cNvPr id="188" name="Rectangle 187"/>
          <p:cNvSpPr/>
          <p:nvPr/>
        </p:nvSpPr>
        <p:spPr>
          <a:xfrm>
            <a:off x="1857375" y="4636294"/>
            <a:ext cx="643890" cy="322659"/>
          </a:xfrm>
          <a:prstGeom prst="rect">
            <a:avLst/>
          </a:prstGeom>
          <a:solidFill>
            <a:srgbClr val="EE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2501265" y="4636294"/>
            <a:ext cx="643890" cy="322659"/>
          </a:xfrm>
          <a:prstGeom prst="rect">
            <a:avLst/>
          </a:prstGeom>
          <a:solidFill>
            <a:srgbClr val="EA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3145155" y="4636294"/>
            <a:ext cx="643890" cy="322659"/>
          </a:xfrm>
          <a:prstGeom prst="rect">
            <a:avLst/>
          </a:prstGeom>
          <a:solidFill>
            <a:srgbClr val="E2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3789045" y="4636294"/>
            <a:ext cx="643890" cy="322659"/>
          </a:xfrm>
          <a:prstGeom prst="rect">
            <a:avLst/>
          </a:prstGeom>
          <a:solidFill>
            <a:srgbClr val="DBEA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4432935" y="4636294"/>
            <a:ext cx="643890" cy="322659"/>
          </a:xfrm>
          <a:prstGeom prst="rect">
            <a:avLst/>
          </a:prstGeom>
          <a:solidFill>
            <a:srgbClr val="B6D1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5076825" y="4636294"/>
            <a:ext cx="643890" cy="322659"/>
          </a:xfrm>
          <a:prstGeom prst="rect">
            <a:avLst/>
          </a:prstGeom>
          <a:solidFill>
            <a:srgbClr val="A0C5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5720715" y="4636294"/>
            <a:ext cx="643890" cy="322659"/>
          </a:xfrm>
          <a:prstGeom prst="rect">
            <a:avLst/>
          </a:prstGeom>
          <a:solidFill>
            <a:srgbClr val="86B6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Rectangle 194"/>
          <p:cNvSpPr/>
          <p:nvPr/>
        </p:nvSpPr>
        <p:spPr>
          <a:xfrm>
            <a:off x="6364605" y="4636294"/>
            <a:ext cx="643890" cy="322659"/>
          </a:xfrm>
          <a:prstGeom prst="rect">
            <a:avLst/>
          </a:prstGeom>
          <a:solidFill>
            <a:srgbClr val="64A4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7008495" y="4636294"/>
            <a:ext cx="643890" cy="322659"/>
          </a:xfrm>
          <a:prstGeom prst="rect">
            <a:avLst/>
          </a:prstGeom>
          <a:solidFill>
            <a:srgbClr val="3E8F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7652385" y="4636294"/>
            <a:ext cx="643890" cy="322659"/>
          </a:xfrm>
          <a:prstGeom prst="rect">
            <a:avLst/>
          </a:prstGeom>
          <a:solidFill>
            <a:srgbClr val="2982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ectangle 197"/>
          <p:cNvSpPr/>
          <p:nvPr/>
        </p:nvSpPr>
        <p:spPr>
          <a:xfrm>
            <a:off x="8296275" y="4636294"/>
            <a:ext cx="643890" cy="322659"/>
          </a:xfrm>
          <a:prstGeom prst="rect">
            <a:avLst/>
          </a:prstGeom>
          <a:solidFill>
            <a:srgbClr val="1A79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Rectangle 198"/>
          <p:cNvSpPr/>
          <p:nvPr/>
        </p:nvSpPr>
        <p:spPr>
          <a:xfrm>
            <a:off x="8940165" y="4636294"/>
            <a:ext cx="643890" cy="322659"/>
          </a:xfrm>
          <a:prstGeom prst="rect">
            <a:avLst/>
          </a:prstGeom>
          <a:solidFill>
            <a:srgbClr val="1576B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9584055" y="4636294"/>
            <a:ext cx="643890" cy="322659"/>
          </a:xfrm>
          <a:prstGeom prst="rect">
            <a:avLst/>
          </a:prstGeom>
          <a:solidFill>
            <a:srgbClr val="1576B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Rectangle 200"/>
          <p:cNvSpPr/>
          <p:nvPr/>
        </p:nvSpPr>
        <p:spPr>
          <a:xfrm>
            <a:off x="10227945" y="4636294"/>
            <a:ext cx="643890" cy="322659"/>
          </a:xfrm>
          <a:prstGeom prst="rect">
            <a:avLst/>
          </a:prstGeom>
          <a:solidFill>
            <a:srgbClr val="1A79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Rectangle 201"/>
          <p:cNvSpPr/>
          <p:nvPr/>
        </p:nvSpPr>
        <p:spPr>
          <a:xfrm>
            <a:off x="10871835" y="4636294"/>
            <a:ext cx="643890" cy="322659"/>
          </a:xfrm>
          <a:prstGeom prst="rect">
            <a:avLst/>
          </a:prstGeom>
          <a:solidFill>
            <a:srgbClr val="207DB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238125" y="4958953"/>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Pharmaceutical and Healthcare</a:t>
            </a:r>
          </a:p>
        </p:txBody>
      </p:sp>
      <p:sp>
        <p:nvSpPr>
          <p:cNvPr id="204" name="Rectangle 203"/>
          <p:cNvSpPr/>
          <p:nvPr/>
        </p:nvSpPr>
        <p:spPr>
          <a:xfrm>
            <a:off x="1857375" y="4958953"/>
            <a:ext cx="643890" cy="322659"/>
          </a:xfrm>
          <a:prstGeom prst="rect">
            <a:avLst/>
          </a:prstGeom>
          <a:solidFill>
            <a:srgbClr val="D5E5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Rectangle 204"/>
          <p:cNvSpPr/>
          <p:nvPr/>
        </p:nvSpPr>
        <p:spPr>
          <a:xfrm>
            <a:off x="2501265" y="4958953"/>
            <a:ext cx="643890" cy="322659"/>
          </a:xfrm>
          <a:prstGeom prst="rect">
            <a:avLst/>
          </a:prstGeom>
          <a:solidFill>
            <a:srgbClr val="D1E2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Rectangle 205"/>
          <p:cNvSpPr/>
          <p:nvPr/>
        </p:nvSpPr>
        <p:spPr>
          <a:xfrm>
            <a:off x="3145155" y="4958953"/>
            <a:ext cx="643890" cy="322659"/>
          </a:xfrm>
          <a:prstGeom prst="rect">
            <a:avLst/>
          </a:prstGeom>
          <a:solidFill>
            <a:srgbClr val="C7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Rectangle 206"/>
          <p:cNvSpPr/>
          <p:nvPr/>
        </p:nvSpPr>
        <p:spPr>
          <a:xfrm>
            <a:off x="3789045" y="4958953"/>
            <a:ext cx="643890" cy="322659"/>
          </a:xfrm>
          <a:prstGeom prst="rect">
            <a:avLst/>
          </a:prstGeom>
          <a:solidFill>
            <a:srgbClr val="BDD5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Rectangle 207"/>
          <p:cNvSpPr/>
          <p:nvPr/>
        </p:nvSpPr>
        <p:spPr>
          <a:xfrm>
            <a:off x="4432935" y="4958953"/>
            <a:ext cx="643890" cy="322659"/>
          </a:xfrm>
          <a:prstGeom prst="rect">
            <a:avLst/>
          </a:prstGeom>
          <a:solidFill>
            <a:srgbClr val="88B7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ectangle 208"/>
          <p:cNvSpPr/>
          <p:nvPr/>
        </p:nvSpPr>
        <p:spPr>
          <a:xfrm>
            <a:off x="5076825" y="4958953"/>
            <a:ext cx="643890" cy="322659"/>
          </a:xfrm>
          <a:prstGeom prst="rect">
            <a:avLst/>
          </a:prstGeom>
          <a:solidFill>
            <a:srgbClr val="6AA7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5720715" y="4958953"/>
            <a:ext cx="643890" cy="322659"/>
          </a:xfrm>
          <a:prstGeom prst="rect">
            <a:avLst/>
          </a:prstGeom>
          <a:solidFill>
            <a:srgbClr val="4995C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Rectangle 210"/>
          <p:cNvSpPr/>
          <p:nvPr/>
        </p:nvSpPr>
        <p:spPr>
          <a:xfrm>
            <a:off x="6364605" y="4958953"/>
            <a:ext cx="643890" cy="322659"/>
          </a:xfrm>
          <a:prstGeom prst="rect">
            <a:avLst/>
          </a:prstGeom>
          <a:solidFill>
            <a:srgbClr val="3086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Rectangle 211"/>
          <p:cNvSpPr/>
          <p:nvPr/>
        </p:nvSpPr>
        <p:spPr>
          <a:xfrm>
            <a:off x="7008495" y="4958953"/>
            <a:ext cx="643890" cy="322659"/>
          </a:xfrm>
          <a:prstGeom prst="rect">
            <a:avLst/>
          </a:prstGeom>
          <a:solidFill>
            <a:srgbClr val="1677B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Rectangle 212"/>
          <p:cNvSpPr/>
          <p:nvPr/>
        </p:nvSpPr>
        <p:spPr>
          <a:xfrm>
            <a:off x="7652385" y="4958953"/>
            <a:ext cx="643890" cy="322659"/>
          </a:xfrm>
          <a:prstGeom prst="rect">
            <a:avLst/>
          </a:prstGeom>
          <a:solidFill>
            <a:srgbClr val="0D5B8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8296275" y="4958953"/>
            <a:ext cx="643890" cy="322659"/>
          </a:xfrm>
          <a:prstGeom prst="rect">
            <a:avLst/>
          </a:prstGeom>
          <a:solidFill>
            <a:srgbClr val="0C406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Rectangle 214"/>
          <p:cNvSpPr/>
          <p:nvPr/>
        </p:nvSpPr>
        <p:spPr>
          <a:xfrm>
            <a:off x="8940165" y="4958953"/>
            <a:ext cx="643890" cy="322659"/>
          </a:xfrm>
          <a:prstGeom prst="rect">
            <a:avLst/>
          </a:prstGeom>
          <a:solidFill>
            <a:srgbClr val="0C3A5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Rectangle 215"/>
          <p:cNvSpPr/>
          <p:nvPr/>
        </p:nvSpPr>
        <p:spPr>
          <a:xfrm>
            <a:off x="9584055" y="4958953"/>
            <a:ext cx="643890" cy="322659"/>
          </a:xfrm>
          <a:prstGeom prst="rect">
            <a:avLst/>
          </a:prstGeom>
          <a:solidFill>
            <a:srgbClr val="0C3C5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Rectangle 216"/>
          <p:cNvSpPr/>
          <p:nvPr/>
        </p:nvSpPr>
        <p:spPr>
          <a:xfrm>
            <a:off x="10227945" y="4958953"/>
            <a:ext cx="643890" cy="322659"/>
          </a:xfrm>
          <a:prstGeom prst="rect">
            <a:avLst/>
          </a:prstGeom>
          <a:solidFill>
            <a:srgbClr val="0C456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Rectangle 217"/>
          <p:cNvSpPr/>
          <p:nvPr/>
        </p:nvSpPr>
        <p:spPr>
          <a:xfrm>
            <a:off x="10871835" y="4958953"/>
            <a:ext cx="643890" cy="322659"/>
          </a:xfrm>
          <a:prstGeom prst="rect">
            <a:avLst/>
          </a:prstGeom>
          <a:solidFill>
            <a:srgbClr val="0C507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TextBox 218"/>
          <p:cNvSpPr txBox="1"/>
          <p:nvPr/>
        </p:nvSpPr>
        <p:spPr>
          <a:xfrm>
            <a:off x="238125" y="5281612"/>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Personal Care and Cosmetics</a:t>
            </a:r>
          </a:p>
        </p:txBody>
      </p:sp>
      <p:sp>
        <p:nvSpPr>
          <p:cNvPr id="220" name="Rectangle 219"/>
          <p:cNvSpPr/>
          <p:nvPr/>
        </p:nvSpPr>
        <p:spPr>
          <a:xfrm>
            <a:off x="1857375" y="5281612"/>
            <a:ext cx="643890" cy="322659"/>
          </a:xfrm>
          <a:prstGeom prst="rect">
            <a:avLst/>
          </a:prstGeom>
          <a:solidFill>
            <a:srgbClr val="F8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ectangle 220"/>
          <p:cNvSpPr/>
          <p:nvPr/>
        </p:nvSpPr>
        <p:spPr>
          <a:xfrm>
            <a:off x="2501265" y="5281612"/>
            <a:ext cx="643890" cy="322659"/>
          </a:xfrm>
          <a:prstGeom prst="rect">
            <a:avLst/>
          </a:prstGeom>
          <a:solidFill>
            <a:srgbClr val="F3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3145155" y="5281612"/>
            <a:ext cx="643890" cy="322659"/>
          </a:xfrm>
          <a:prstGeom prst="rect">
            <a:avLst/>
          </a:prstGeom>
          <a:solidFill>
            <a:srgbClr val="EDF7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ectangle 222"/>
          <p:cNvSpPr/>
          <p:nvPr/>
        </p:nvSpPr>
        <p:spPr>
          <a:xfrm>
            <a:off x="3789045" y="5281612"/>
            <a:ext cx="643890" cy="322659"/>
          </a:xfrm>
          <a:prstGeom prst="rect">
            <a:avLst/>
          </a:prstGeom>
          <a:solidFill>
            <a:srgbClr val="E8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Rectangle 223"/>
          <p:cNvSpPr/>
          <p:nvPr/>
        </p:nvSpPr>
        <p:spPr>
          <a:xfrm>
            <a:off x="4432935" y="5281612"/>
            <a:ext cx="643890" cy="322659"/>
          </a:xfrm>
          <a:prstGeom prst="rect">
            <a:avLst/>
          </a:prstGeom>
          <a:solidFill>
            <a:srgbClr val="CADD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Rectangle 224"/>
          <p:cNvSpPr/>
          <p:nvPr/>
        </p:nvSpPr>
        <p:spPr>
          <a:xfrm>
            <a:off x="5076825" y="5281612"/>
            <a:ext cx="643890" cy="322659"/>
          </a:xfrm>
          <a:prstGeom prst="rect">
            <a:avLst/>
          </a:prstGeom>
          <a:solidFill>
            <a:srgbClr val="B2CF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Rectangle 225"/>
          <p:cNvSpPr/>
          <p:nvPr/>
        </p:nvSpPr>
        <p:spPr>
          <a:xfrm>
            <a:off x="5720715" y="5281612"/>
            <a:ext cx="643890" cy="322659"/>
          </a:xfrm>
          <a:prstGeom prst="rect">
            <a:avLst/>
          </a:prstGeom>
          <a:solidFill>
            <a:srgbClr val="99C0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Rectangle 226"/>
          <p:cNvSpPr/>
          <p:nvPr/>
        </p:nvSpPr>
        <p:spPr>
          <a:xfrm>
            <a:off x="6364605" y="5281612"/>
            <a:ext cx="643890" cy="322659"/>
          </a:xfrm>
          <a:prstGeom prst="rect">
            <a:avLst/>
          </a:prstGeom>
          <a:solidFill>
            <a:srgbClr val="77AED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Rectangle 227"/>
          <p:cNvSpPr/>
          <p:nvPr/>
        </p:nvSpPr>
        <p:spPr>
          <a:xfrm>
            <a:off x="7008495" y="5281612"/>
            <a:ext cx="643890" cy="322659"/>
          </a:xfrm>
          <a:prstGeom prst="rect">
            <a:avLst/>
          </a:prstGeom>
          <a:solidFill>
            <a:srgbClr val="5099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angle 228"/>
          <p:cNvSpPr/>
          <p:nvPr/>
        </p:nvSpPr>
        <p:spPr>
          <a:xfrm>
            <a:off x="7652385" y="5281612"/>
            <a:ext cx="643890" cy="322659"/>
          </a:xfrm>
          <a:prstGeom prst="rect">
            <a:avLst/>
          </a:prstGeom>
          <a:solidFill>
            <a:srgbClr val="3489C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ectangle 229"/>
          <p:cNvSpPr/>
          <p:nvPr/>
        </p:nvSpPr>
        <p:spPr>
          <a:xfrm>
            <a:off x="8296275" y="5281612"/>
            <a:ext cx="643890" cy="322659"/>
          </a:xfrm>
          <a:prstGeom prst="rect">
            <a:avLst/>
          </a:prstGeom>
          <a:solidFill>
            <a:srgbClr val="2580B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8940165" y="5281612"/>
            <a:ext cx="643890" cy="322659"/>
          </a:xfrm>
          <a:prstGeom prst="rect">
            <a:avLst/>
          </a:prstGeom>
          <a:solidFill>
            <a:srgbClr val="207DB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9584055" y="5281612"/>
            <a:ext cx="643890" cy="322659"/>
          </a:xfrm>
          <a:prstGeom prst="rect">
            <a:avLst/>
          </a:prstGeom>
          <a:solidFill>
            <a:srgbClr val="1F7CB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10227945" y="5281612"/>
            <a:ext cx="643890" cy="322659"/>
          </a:xfrm>
          <a:prstGeom prst="rect">
            <a:avLst/>
          </a:prstGeom>
          <a:solidFill>
            <a:srgbClr val="247F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10871835" y="5281612"/>
            <a:ext cx="643890" cy="322659"/>
          </a:xfrm>
          <a:prstGeom prst="rect">
            <a:avLst/>
          </a:prstGeom>
          <a:solidFill>
            <a:srgbClr val="2B83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238125" y="5604272"/>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Household Care</a:t>
            </a:r>
          </a:p>
        </p:txBody>
      </p:sp>
      <p:sp>
        <p:nvSpPr>
          <p:cNvPr id="236" name="Rectangle 235"/>
          <p:cNvSpPr/>
          <p:nvPr/>
        </p:nvSpPr>
        <p:spPr>
          <a:xfrm>
            <a:off x="1857375" y="5604272"/>
            <a:ext cx="643890" cy="322659"/>
          </a:xfrm>
          <a:prstGeom prst="rect">
            <a:avLst/>
          </a:prstGeom>
          <a:solidFill>
            <a:srgbClr val="F4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Rectangle 236"/>
          <p:cNvSpPr/>
          <p:nvPr/>
        </p:nvSpPr>
        <p:spPr>
          <a:xfrm>
            <a:off x="2501265" y="5604272"/>
            <a:ext cx="643890" cy="322659"/>
          </a:xfrm>
          <a:prstGeom prst="rect">
            <a:avLst/>
          </a:prstGeom>
          <a:solidFill>
            <a:srgbClr val="F0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Rectangle 237"/>
          <p:cNvSpPr/>
          <p:nvPr/>
        </p:nvSpPr>
        <p:spPr>
          <a:xfrm>
            <a:off x="3145155" y="5604272"/>
            <a:ext cx="643890" cy="322659"/>
          </a:xfrm>
          <a:prstGeom prst="rect">
            <a:avLst/>
          </a:prstGeom>
          <a:solidFill>
            <a:srgbClr val="E8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Rectangle 238"/>
          <p:cNvSpPr/>
          <p:nvPr/>
        </p:nvSpPr>
        <p:spPr>
          <a:xfrm>
            <a:off x="3789045" y="5604272"/>
            <a:ext cx="643890" cy="322659"/>
          </a:xfrm>
          <a:prstGeom prst="rect">
            <a:avLst/>
          </a:prstGeom>
          <a:solidFill>
            <a:srgbClr val="E3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Rectangle 239"/>
          <p:cNvSpPr/>
          <p:nvPr/>
        </p:nvSpPr>
        <p:spPr>
          <a:xfrm>
            <a:off x="4432935" y="5604272"/>
            <a:ext cx="643890" cy="322659"/>
          </a:xfrm>
          <a:prstGeom prst="rect">
            <a:avLst/>
          </a:prstGeom>
          <a:solidFill>
            <a:srgbClr val="C7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5076825" y="5604272"/>
            <a:ext cx="643890" cy="322659"/>
          </a:xfrm>
          <a:prstGeom prst="rect">
            <a:avLst/>
          </a:prstGeom>
          <a:solidFill>
            <a:srgbClr val="B7D2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5720715" y="5604272"/>
            <a:ext cx="643890" cy="322659"/>
          </a:xfrm>
          <a:prstGeom prst="rect">
            <a:avLst/>
          </a:prstGeom>
          <a:solidFill>
            <a:srgbClr val="A5C8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p:cNvSpPr/>
          <p:nvPr/>
        </p:nvSpPr>
        <p:spPr>
          <a:xfrm>
            <a:off x="6364605" y="5604272"/>
            <a:ext cx="643890" cy="322659"/>
          </a:xfrm>
          <a:prstGeom prst="rect">
            <a:avLst/>
          </a:prstGeom>
          <a:solidFill>
            <a:srgbClr val="92BD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Rectangle 243"/>
          <p:cNvSpPr/>
          <p:nvPr/>
        </p:nvSpPr>
        <p:spPr>
          <a:xfrm>
            <a:off x="7008495" y="5604272"/>
            <a:ext cx="643890" cy="322659"/>
          </a:xfrm>
          <a:prstGeom prst="rect">
            <a:avLst/>
          </a:prstGeom>
          <a:solidFill>
            <a:srgbClr val="72ABD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Rectangle 244"/>
          <p:cNvSpPr/>
          <p:nvPr/>
        </p:nvSpPr>
        <p:spPr>
          <a:xfrm>
            <a:off x="7652385" y="5604272"/>
            <a:ext cx="643890" cy="322659"/>
          </a:xfrm>
          <a:prstGeom prst="rect">
            <a:avLst/>
          </a:prstGeom>
          <a:solidFill>
            <a:srgbClr val="569CC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Rectangle 245"/>
          <p:cNvSpPr/>
          <p:nvPr/>
        </p:nvSpPr>
        <p:spPr>
          <a:xfrm>
            <a:off x="8296275" y="5604272"/>
            <a:ext cx="643890" cy="322659"/>
          </a:xfrm>
          <a:prstGeom prst="rect">
            <a:avLst/>
          </a:prstGeom>
          <a:solidFill>
            <a:srgbClr val="4090C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Rectangle 246"/>
          <p:cNvSpPr/>
          <p:nvPr/>
        </p:nvSpPr>
        <p:spPr>
          <a:xfrm>
            <a:off x="8940165" y="5604272"/>
            <a:ext cx="643890" cy="322659"/>
          </a:xfrm>
          <a:prstGeom prst="rect">
            <a:avLst/>
          </a:prstGeom>
          <a:solidFill>
            <a:srgbClr val="3B8D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9584055" y="5604272"/>
            <a:ext cx="643890" cy="322659"/>
          </a:xfrm>
          <a:prstGeom prst="rect">
            <a:avLst/>
          </a:prstGeom>
          <a:solidFill>
            <a:srgbClr val="3B8D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10227945" y="5604272"/>
            <a:ext cx="643890" cy="322659"/>
          </a:xfrm>
          <a:prstGeom prst="rect">
            <a:avLst/>
          </a:prstGeom>
          <a:solidFill>
            <a:srgbClr val="3F8F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p:cNvSpPr/>
          <p:nvPr/>
        </p:nvSpPr>
        <p:spPr>
          <a:xfrm>
            <a:off x="10871835" y="5604272"/>
            <a:ext cx="643890" cy="322659"/>
          </a:xfrm>
          <a:prstGeom prst="rect">
            <a:avLst/>
          </a:prstGeom>
          <a:solidFill>
            <a:srgbClr val="4794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TextBox 250"/>
          <p:cNvSpPr txBox="1"/>
          <p:nvPr/>
        </p:nvSpPr>
        <p:spPr>
          <a:xfrm>
            <a:off x="238125" y="5926931"/>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Chemicals and Agrochemicals</a:t>
            </a:r>
          </a:p>
        </p:txBody>
      </p:sp>
      <p:sp>
        <p:nvSpPr>
          <p:cNvPr id="252" name="Rectangle 251"/>
          <p:cNvSpPr/>
          <p:nvPr/>
        </p:nvSpPr>
        <p:spPr>
          <a:xfrm>
            <a:off x="1857375" y="5926931"/>
            <a:ext cx="643890" cy="322659"/>
          </a:xfrm>
          <a:prstGeom prst="rect">
            <a:avLst/>
          </a:prstGeom>
          <a:solidFill>
            <a:srgbClr val="F4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Rectangle 252"/>
          <p:cNvSpPr/>
          <p:nvPr/>
        </p:nvSpPr>
        <p:spPr>
          <a:xfrm>
            <a:off x="2501265" y="5926931"/>
            <a:ext cx="643890" cy="322659"/>
          </a:xfrm>
          <a:prstGeom prst="rect">
            <a:avLst/>
          </a:prstGeom>
          <a:solidFill>
            <a:srgbClr val="F0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Rectangle 253"/>
          <p:cNvSpPr/>
          <p:nvPr/>
        </p:nvSpPr>
        <p:spPr>
          <a:xfrm>
            <a:off x="3145155" y="5926931"/>
            <a:ext cx="643890" cy="322659"/>
          </a:xfrm>
          <a:prstGeom prst="rect">
            <a:avLst/>
          </a:prstGeom>
          <a:solidFill>
            <a:srgbClr val="E7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Rectangle 254"/>
          <p:cNvSpPr/>
          <p:nvPr/>
        </p:nvSpPr>
        <p:spPr>
          <a:xfrm>
            <a:off x="3789045" y="5926931"/>
            <a:ext cx="643890" cy="322659"/>
          </a:xfrm>
          <a:prstGeom prst="rect">
            <a:avLst/>
          </a:prstGeom>
          <a:solidFill>
            <a:srgbClr val="DFED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Rectangle 255"/>
          <p:cNvSpPr/>
          <p:nvPr/>
        </p:nvSpPr>
        <p:spPr>
          <a:xfrm>
            <a:off x="4432935" y="5926931"/>
            <a:ext cx="643890" cy="322659"/>
          </a:xfrm>
          <a:prstGeom prst="rect">
            <a:avLst/>
          </a:prstGeom>
          <a:solidFill>
            <a:srgbClr val="B9D3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Rectangle 256"/>
          <p:cNvSpPr/>
          <p:nvPr/>
        </p:nvSpPr>
        <p:spPr>
          <a:xfrm>
            <a:off x="5076825" y="5926931"/>
            <a:ext cx="643890" cy="322659"/>
          </a:xfrm>
          <a:prstGeom prst="rect">
            <a:avLst/>
          </a:prstGeom>
          <a:solidFill>
            <a:srgbClr val="A0C5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Rectangle 257"/>
          <p:cNvSpPr/>
          <p:nvPr/>
        </p:nvSpPr>
        <p:spPr>
          <a:xfrm>
            <a:off x="5720715" y="5926931"/>
            <a:ext cx="643890" cy="322659"/>
          </a:xfrm>
          <a:prstGeom prst="rect">
            <a:avLst/>
          </a:prstGeom>
          <a:solidFill>
            <a:srgbClr val="84B5D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Rectangle 258"/>
          <p:cNvSpPr/>
          <p:nvPr/>
        </p:nvSpPr>
        <p:spPr>
          <a:xfrm>
            <a:off x="6364605" y="5926931"/>
            <a:ext cx="643890" cy="322659"/>
          </a:xfrm>
          <a:prstGeom prst="rect">
            <a:avLst/>
          </a:prstGeom>
          <a:solidFill>
            <a:srgbClr val="60A1C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Rectangle 259"/>
          <p:cNvSpPr/>
          <p:nvPr/>
        </p:nvSpPr>
        <p:spPr>
          <a:xfrm>
            <a:off x="7008495" y="5926931"/>
            <a:ext cx="643890" cy="322659"/>
          </a:xfrm>
          <a:prstGeom prst="rect">
            <a:avLst/>
          </a:prstGeom>
          <a:solidFill>
            <a:srgbClr val="3B8D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Rectangle 260"/>
          <p:cNvSpPr/>
          <p:nvPr/>
        </p:nvSpPr>
        <p:spPr>
          <a:xfrm>
            <a:off x="7652385" y="5926931"/>
            <a:ext cx="643890" cy="322659"/>
          </a:xfrm>
          <a:prstGeom prst="rect">
            <a:avLst/>
          </a:prstGeom>
          <a:solidFill>
            <a:srgbClr val="2781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Rectangle 261"/>
          <p:cNvSpPr/>
          <p:nvPr/>
        </p:nvSpPr>
        <p:spPr>
          <a:xfrm>
            <a:off x="8296275" y="5926931"/>
            <a:ext cx="643890" cy="322659"/>
          </a:xfrm>
          <a:prstGeom prst="rect">
            <a:avLst/>
          </a:prstGeom>
          <a:solidFill>
            <a:srgbClr val="1A79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Rectangle 262"/>
          <p:cNvSpPr/>
          <p:nvPr/>
        </p:nvSpPr>
        <p:spPr>
          <a:xfrm>
            <a:off x="8940165" y="5926931"/>
            <a:ext cx="643890" cy="322659"/>
          </a:xfrm>
          <a:prstGeom prst="rect">
            <a:avLst/>
          </a:prstGeom>
          <a:solidFill>
            <a:srgbClr val="1677B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Rectangle 263"/>
          <p:cNvSpPr/>
          <p:nvPr/>
        </p:nvSpPr>
        <p:spPr>
          <a:xfrm>
            <a:off x="9584055" y="5926931"/>
            <a:ext cx="643890" cy="322659"/>
          </a:xfrm>
          <a:prstGeom prst="rect">
            <a:avLst/>
          </a:prstGeom>
          <a:solidFill>
            <a:srgbClr val="1677B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Rectangle 264"/>
          <p:cNvSpPr/>
          <p:nvPr/>
        </p:nvSpPr>
        <p:spPr>
          <a:xfrm>
            <a:off x="10227945" y="5926931"/>
            <a:ext cx="643890" cy="322659"/>
          </a:xfrm>
          <a:prstGeom prst="rect">
            <a:avLst/>
          </a:prstGeom>
          <a:solidFill>
            <a:srgbClr val="1A79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Rectangle 265"/>
          <p:cNvSpPr/>
          <p:nvPr/>
        </p:nvSpPr>
        <p:spPr>
          <a:xfrm>
            <a:off x="10871835" y="5926931"/>
            <a:ext cx="643890" cy="322659"/>
          </a:xfrm>
          <a:prstGeom prst="rect">
            <a:avLst/>
          </a:prstGeom>
          <a:solidFill>
            <a:srgbClr val="207DB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238125" y="6249591"/>
            <a:ext cx="1590675" cy="322659"/>
          </a:xfrm>
          <a:prstGeom prst="rect">
            <a:avLst/>
          </a:prstGeom>
          <a:noFill/>
        </p:spPr>
        <p:txBody>
          <a:bodyPr wrap="square" lIns="28575" rIns="28575" tIns="9525" bIns="9525" anchor="ctr">
            <a:spAutoFit/>
          </a:bodyPr>
          <a:lstStyle/>
          <a:p>
            <a:pPr algn="l"/>
            <a:r>
              <a:rPr sz="1100" b="0">
                <a:solidFill>
                  <a:srgbClr val="2E2E2E"/>
                </a:solidFill>
                <a:latin typeface="Calibri"/>
              </a:rPr>
              <a:t>– Electronics and Technical Products</a:t>
            </a:r>
          </a:p>
        </p:txBody>
      </p:sp>
      <p:sp>
        <p:nvSpPr>
          <p:cNvPr id="268" name="Rectangle 267"/>
          <p:cNvSpPr/>
          <p:nvPr/>
        </p:nvSpPr>
        <p:spPr>
          <a:xfrm>
            <a:off x="1857375" y="6249591"/>
            <a:ext cx="643890" cy="322659"/>
          </a:xfrm>
          <a:prstGeom prst="rect">
            <a:avLst/>
          </a:prstGeom>
          <a:solidFill>
            <a:srgbClr val="FCFE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Rectangle 268"/>
          <p:cNvSpPr/>
          <p:nvPr/>
        </p:nvSpPr>
        <p:spPr>
          <a:xfrm>
            <a:off x="2501265" y="6249591"/>
            <a:ext cx="643890" cy="322659"/>
          </a:xfrm>
          <a:prstGeom prst="rect">
            <a:avLst/>
          </a:prstGeom>
          <a:solidFill>
            <a:srgbClr val="F7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Rectangle 269"/>
          <p:cNvSpPr/>
          <p:nvPr/>
        </p:nvSpPr>
        <p:spPr>
          <a:xfrm>
            <a:off x="3145155" y="6249591"/>
            <a:ext cx="643890" cy="322659"/>
          </a:xfrm>
          <a:prstGeom prst="rect">
            <a:avLst/>
          </a:prstGeom>
          <a:solidFill>
            <a:srgbClr val="F0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Rectangle 270"/>
          <p:cNvSpPr/>
          <p:nvPr/>
        </p:nvSpPr>
        <p:spPr>
          <a:xfrm>
            <a:off x="3789045" y="6249591"/>
            <a:ext cx="643890" cy="322659"/>
          </a:xfrm>
          <a:prstGeom prst="rect">
            <a:avLst/>
          </a:prstGeom>
          <a:solidFill>
            <a:srgbClr val="EB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Rectangle 271"/>
          <p:cNvSpPr/>
          <p:nvPr/>
        </p:nvSpPr>
        <p:spPr>
          <a:xfrm>
            <a:off x="4432935" y="6249591"/>
            <a:ext cx="643890" cy="322659"/>
          </a:xfrm>
          <a:prstGeom prst="rect">
            <a:avLst/>
          </a:prstGeom>
          <a:solidFill>
            <a:srgbClr val="CE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Rectangle 272"/>
          <p:cNvSpPr/>
          <p:nvPr/>
        </p:nvSpPr>
        <p:spPr>
          <a:xfrm>
            <a:off x="5076825" y="6249591"/>
            <a:ext cx="643890" cy="322659"/>
          </a:xfrm>
          <a:prstGeom prst="rect">
            <a:avLst/>
          </a:prstGeom>
          <a:solidFill>
            <a:srgbClr val="B8D2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Rectangle 273"/>
          <p:cNvSpPr/>
          <p:nvPr/>
        </p:nvSpPr>
        <p:spPr>
          <a:xfrm>
            <a:off x="5720715" y="6249591"/>
            <a:ext cx="643890" cy="322659"/>
          </a:xfrm>
          <a:prstGeom prst="rect">
            <a:avLst/>
          </a:prstGeom>
          <a:solidFill>
            <a:srgbClr val="9FC4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Rectangle 274"/>
          <p:cNvSpPr/>
          <p:nvPr/>
        </p:nvSpPr>
        <p:spPr>
          <a:xfrm>
            <a:off x="6364605" y="6249591"/>
            <a:ext cx="643890" cy="322659"/>
          </a:xfrm>
          <a:prstGeom prst="rect">
            <a:avLst/>
          </a:prstGeom>
          <a:solidFill>
            <a:srgbClr val="82B4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Rectangle 275"/>
          <p:cNvSpPr/>
          <p:nvPr/>
        </p:nvSpPr>
        <p:spPr>
          <a:xfrm>
            <a:off x="7008495" y="6249591"/>
            <a:ext cx="643890" cy="322659"/>
          </a:xfrm>
          <a:prstGeom prst="rect">
            <a:avLst/>
          </a:prstGeom>
          <a:solidFill>
            <a:srgbClr val="5B9F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Rectangle 276"/>
          <p:cNvSpPr/>
          <p:nvPr/>
        </p:nvSpPr>
        <p:spPr>
          <a:xfrm>
            <a:off x="7652385" y="6249591"/>
            <a:ext cx="643890" cy="322659"/>
          </a:xfrm>
          <a:prstGeom prst="rect">
            <a:avLst/>
          </a:prstGeom>
          <a:solidFill>
            <a:srgbClr val="3C8E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Rectangle 277"/>
          <p:cNvSpPr/>
          <p:nvPr/>
        </p:nvSpPr>
        <p:spPr>
          <a:xfrm>
            <a:off x="8296275" y="6249591"/>
            <a:ext cx="643890" cy="322659"/>
          </a:xfrm>
          <a:prstGeom prst="rect">
            <a:avLst/>
          </a:prstGeom>
          <a:solidFill>
            <a:srgbClr val="2D84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Rectangle 278"/>
          <p:cNvSpPr/>
          <p:nvPr/>
        </p:nvSpPr>
        <p:spPr>
          <a:xfrm>
            <a:off x="8940165" y="6249591"/>
            <a:ext cx="643890" cy="322659"/>
          </a:xfrm>
          <a:prstGeom prst="rect">
            <a:avLst/>
          </a:prstGeom>
          <a:solidFill>
            <a:srgbClr val="2882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Rectangle 279"/>
          <p:cNvSpPr/>
          <p:nvPr/>
        </p:nvSpPr>
        <p:spPr>
          <a:xfrm>
            <a:off x="9584055" y="6249591"/>
            <a:ext cx="643890" cy="322659"/>
          </a:xfrm>
          <a:prstGeom prst="rect">
            <a:avLst/>
          </a:prstGeom>
          <a:solidFill>
            <a:srgbClr val="2882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Rectangle 280"/>
          <p:cNvSpPr/>
          <p:nvPr/>
        </p:nvSpPr>
        <p:spPr>
          <a:xfrm>
            <a:off x="10227945" y="6249591"/>
            <a:ext cx="643890" cy="322659"/>
          </a:xfrm>
          <a:prstGeom prst="rect">
            <a:avLst/>
          </a:prstGeom>
          <a:solidFill>
            <a:srgbClr val="2C84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Rectangle 281"/>
          <p:cNvSpPr/>
          <p:nvPr/>
        </p:nvSpPr>
        <p:spPr>
          <a:xfrm>
            <a:off x="10871835" y="6249591"/>
            <a:ext cx="643890" cy="322659"/>
          </a:xfrm>
          <a:prstGeom prst="rect">
            <a:avLst/>
          </a:prstGeom>
          <a:solidFill>
            <a:srgbClr val="3288B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Rectangle 282"/>
          <p:cNvSpPr/>
          <p:nvPr/>
        </p:nvSpPr>
        <p:spPr>
          <a:xfrm>
            <a:off x="11572875" y="1447800"/>
            <a:ext cx="104775" cy="134779"/>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Rectangle 283"/>
          <p:cNvSpPr/>
          <p:nvPr/>
        </p:nvSpPr>
        <p:spPr>
          <a:xfrm>
            <a:off x="11572875" y="1574959"/>
            <a:ext cx="104775" cy="134779"/>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Rectangle 284"/>
          <p:cNvSpPr/>
          <p:nvPr/>
        </p:nvSpPr>
        <p:spPr>
          <a:xfrm>
            <a:off x="11572875" y="1702118"/>
            <a:ext cx="104775" cy="134779"/>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Rectangle 285"/>
          <p:cNvSpPr/>
          <p:nvPr/>
        </p:nvSpPr>
        <p:spPr>
          <a:xfrm>
            <a:off x="11572875" y="1829276"/>
            <a:ext cx="104775" cy="134779"/>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Rectangle 286"/>
          <p:cNvSpPr/>
          <p:nvPr/>
        </p:nvSpPr>
        <p:spPr>
          <a:xfrm>
            <a:off x="11572875" y="1956435"/>
            <a:ext cx="104775" cy="134779"/>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Rectangle 287"/>
          <p:cNvSpPr/>
          <p:nvPr/>
        </p:nvSpPr>
        <p:spPr>
          <a:xfrm>
            <a:off x="11572875" y="2083594"/>
            <a:ext cx="104775" cy="134779"/>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Rectangle 288"/>
          <p:cNvSpPr/>
          <p:nvPr/>
        </p:nvSpPr>
        <p:spPr>
          <a:xfrm>
            <a:off x="11572875" y="2210752"/>
            <a:ext cx="104775" cy="134779"/>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Rectangle 289"/>
          <p:cNvSpPr/>
          <p:nvPr/>
        </p:nvSpPr>
        <p:spPr>
          <a:xfrm>
            <a:off x="11572875" y="2337911"/>
            <a:ext cx="104775" cy="134779"/>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Rectangle 290"/>
          <p:cNvSpPr/>
          <p:nvPr/>
        </p:nvSpPr>
        <p:spPr>
          <a:xfrm>
            <a:off x="11572875" y="2465070"/>
            <a:ext cx="104775" cy="134779"/>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Rectangle 291"/>
          <p:cNvSpPr/>
          <p:nvPr/>
        </p:nvSpPr>
        <p:spPr>
          <a:xfrm>
            <a:off x="11572875" y="2592229"/>
            <a:ext cx="104775" cy="134779"/>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Rectangle 292"/>
          <p:cNvSpPr/>
          <p:nvPr/>
        </p:nvSpPr>
        <p:spPr>
          <a:xfrm>
            <a:off x="11572875" y="2719388"/>
            <a:ext cx="104775" cy="134779"/>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Rectangle 293"/>
          <p:cNvSpPr/>
          <p:nvPr/>
        </p:nvSpPr>
        <p:spPr>
          <a:xfrm>
            <a:off x="11572875" y="2846546"/>
            <a:ext cx="104775" cy="134779"/>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Rectangle 294"/>
          <p:cNvSpPr/>
          <p:nvPr/>
        </p:nvSpPr>
        <p:spPr>
          <a:xfrm>
            <a:off x="11572875" y="2973705"/>
            <a:ext cx="104775" cy="134779"/>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Rectangle 295"/>
          <p:cNvSpPr/>
          <p:nvPr/>
        </p:nvSpPr>
        <p:spPr>
          <a:xfrm>
            <a:off x="11572875" y="3100864"/>
            <a:ext cx="104775" cy="134779"/>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Rectangle 296"/>
          <p:cNvSpPr/>
          <p:nvPr/>
        </p:nvSpPr>
        <p:spPr>
          <a:xfrm>
            <a:off x="11572875" y="3228022"/>
            <a:ext cx="104775" cy="134779"/>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Rectangle 297"/>
          <p:cNvSpPr/>
          <p:nvPr/>
        </p:nvSpPr>
        <p:spPr>
          <a:xfrm>
            <a:off x="11572875" y="3355181"/>
            <a:ext cx="104775" cy="134779"/>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Rectangle 298"/>
          <p:cNvSpPr/>
          <p:nvPr/>
        </p:nvSpPr>
        <p:spPr>
          <a:xfrm>
            <a:off x="11572875" y="3482340"/>
            <a:ext cx="104775" cy="134779"/>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ectangle 299"/>
          <p:cNvSpPr/>
          <p:nvPr/>
        </p:nvSpPr>
        <p:spPr>
          <a:xfrm>
            <a:off x="11572875" y="3609499"/>
            <a:ext cx="104775" cy="134779"/>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Rectangle 300"/>
          <p:cNvSpPr/>
          <p:nvPr/>
        </p:nvSpPr>
        <p:spPr>
          <a:xfrm>
            <a:off x="11572875" y="3736657"/>
            <a:ext cx="104775" cy="134779"/>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Rectangle 301"/>
          <p:cNvSpPr/>
          <p:nvPr/>
        </p:nvSpPr>
        <p:spPr>
          <a:xfrm>
            <a:off x="11572875" y="3863816"/>
            <a:ext cx="104775" cy="134779"/>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ectangle 302"/>
          <p:cNvSpPr/>
          <p:nvPr/>
        </p:nvSpPr>
        <p:spPr>
          <a:xfrm>
            <a:off x="11572875" y="3990975"/>
            <a:ext cx="104775" cy="134779"/>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Rectangle 303"/>
          <p:cNvSpPr/>
          <p:nvPr/>
        </p:nvSpPr>
        <p:spPr>
          <a:xfrm>
            <a:off x="11572875" y="4118134"/>
            <a:ext cx="104775" cy="134779"/>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Rectangle 304"/>
          <p:cNvSpPr/>
          <p:nvPr/>
        </p:nvSpPr>
        <p:spPr>
          <a:xfrm>
            <a:off x="11572875" y="4245292"/>
            <a:ext cx="104775" cy="134779"/>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ectangle 305"/>
          <p:cNvSpPr/>
          <p:nvPr/>
        </p:nvSpPr>
        <p:spPr>
          <a:xfrm>
            <a:off x="11572875" y="4372451"/>
            <a:ext cx="104775" cy="134779"/>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Rectangle 306"/>
          <p:cNvSpPr/>
          <p:nvPr/>
        </p:nvSpPr>
        <p:spPr>
          <a:xfrm>
            <a:off x="11572875" y="4499610"/>
            <a:ext cx="104775" cy="134779"/>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Rectangle 307"/>
          <p:cNvSpPr/>
          <p:nvPr/>
        </p:nvSpPr>
        <p:spPr>
          <a:xfrm>
            <a:off x="11572875" y="4626769"/>
            <a:ext cx="104775" cy="134779"/>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ectangle 308"/>
          <p:cNvSpPr/>
          <p:nvPr/>
        </p:nvSpPr>
        <p:spPr>
          <a:xfrm>
            <a:off x="11572875" y="4753928"/>
            <a:ext cx="104775" cy="134779"/>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Rectangle 309"/>
          <p:cNvSpPr/>
          <p:nvPr/>
        </p:nvSpPr>
        <p:spPr>
          <a:xfrm>
            <a:off x="11572875" y="4881086"/>
            <a:ext cx="104775" cy="134779"/>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Rectangle 310"/>
          <p:cNvSpPr/>
          <p:nvPr/>
        </p:nvSpPr>
        <p:spPr>
          <a:xfrm>
            <a:off x="11572875" y="5008245"/>
            <a:ext cx="104775" cy="134779"/>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ectangle 311"/>
          <p:cNvSpPr/>
          <p:nvPr/>
        </p:nvSpPr>
        <p:spPr>
          <a:xfrm>
            <a:off x="11572875" y="5135404"/>
            <a:ext cx="104775" cy="134779"/>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Rectangle 312"/>
          <p:cNvSpPr/>
          <p:nvPr/>
        </p:nvSpPr>
        <p:spPr>
          <a:xfrm>
            <a:off x="11572875" y="5262562"/>
            <a:ext cx="104775" cy="134779"/>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Rectangle 313"/>
          <p:cNvSpPr/>
          <p:nvPr/>
        </p:nvSpPr>
        <p:spPr>
          <a:xfrm>
            <a:off x="11572875" y="5389721"/>
            <a:ext cx="104775" cy="134779"/>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ectangle 314"/>
          <p:cNvSpPr/>
          <p:nvPr/>
        </p:nvSpPr>
        <p:spPr>
          <a:xfrm>
            <a:off x="11572875" y="5516880"/>
            <a:ext cx="104775" cy="134779"/>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Rectangle 315"/>
          <p:cNvSpPr/>
          <p:nvPr/>
        </p:nvSpPr>
        <p:spPr>
          <a:xfrm>
            <a:off x="11572875" y="5644039"/>
            <a:ext cx="104775" cy="134779"/>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Rectangle 316"/>
          <p:cNvSpPr/>
          <p:nvPr/>
        </p:nvSpPr>
        <p:spPr>
          <a:xfrm>
            <a:off x="11572875" y="5771198"/>
            <a:ext cx="104775" cy="134779"/>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Rectangle 317"/>
          <p:cNvSpPr/>
          <p:nvPr/>
        </p:nvSpPr>
        <p:spPr>
          <a:xfrm>
            <a:off x="11572875" y="5898356"/>
            <a:ext cx="104775" cy="134779"/>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Rectangle 318"/>
          <p:cNvSpPr/>
          <p:nvPr/>
        </p:nvSpPr>
        <p:spPr>
          <a:xfrm>
            <a:off x="11572875" y="6025515"/>
            <a:ext cx="104775" cy="134779"/>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Rectangle 319"/>
          <p:cNvSpPr/>
          <p:nvPr/>
        </p:nvSpPr>
        <p:spPr>
          <a:xfrm>
            <a:off x="11572875" y="6152674"/>
            <a:ext cx="104775" cy="134779"/>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Rectangle 320"/>
          <p:cNvSpPr/>
          <p:nvPr/>
        </p:nvSpPr>
        <p:spPr>
          <a:xfrm>
            <a:off x="11572875" y="6279832"/>
            <a:ext cx="104775" cy="134779"/>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Rectangle 321"/>
          <p:cNvSpPr/>
          <p:nvPr/>
        </p:nvSpPr>
        <p:spPr>
          <a:xfrm>
            <a:off x="11572875" y="6406991"/>
            <a:ext cx="104775" cy="134779"/>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Rectangle 322"/>
          <p:cNvSpPr/>
          <p:nvPr/>
        </p:nvSpPr>
        <p:spPr>
          <a:xfrm>
            <a:off x="11572875" y="1447800"/>
            <a:ext cx="104775" cy="5086350"/>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TextBox 323"/>
          <p:cNvSpPr txBox="1"/>
          <p:nvPr/>
        </p:nvSpPr>
        <p:spPr>
          <a:xfrm>
            <a:off x="11687175" y="1381125"/>
            <a:ext cx="276225" cy="133350"/>
          </a:xfrm>
          <a:prstGeom prst="rect">
            <a:avLst/>
          </a:prstGeom>
          <a:noFill/>
        </p:spPr>
        <p:txBody>
          <a:bodyPr wrap="none" lIns="0" rIns="0" tIns="0" bIns="0" anchor="ctr">
            <a:spAutoFit/>
          </a:bodyPr>
          <a:lstStyle/>
          <a:p>
            <a:pPr algn="l"/>
            <a:r>
              <a:rPr sz="1100" b="0">
                <a:solidFill>
                  <a:srgbClr val="6C7A89"/>
                </a:solidFill>
                <a:latin typeface="Calibri"/>
              </a:rPr>
              <a:t>7%</a:t>
            </a:r>
          </a:p>
        </p:txBody>
      </p:sp>
      <p:sp>
        <p:nvSpPr>
          <p:cNvPr id="325" name="TextBox 324"/>
          <p:cNvSpPr txBox="1"/>
          <p:nvPr/>
        </p:nvSpPr>
        <p:spPr>
          <a:xfrm>
            <a:off x="11687175" y="3924300"/>
            <a:ext cx="276225" cy="133350"/>
          </a:xfrm>
          <a:prstGeom prst="rect">
            <a:avLst/>
          </a:prstGeom>
          <a:noFill/>
        </p:spPr>
        <p:txBody>
          <a:bodyPr wrap="none" lIns="0" rIns="0" tIns="0" bIns="0" anchor="ctr">
            <a:spAutoFit/>
          </a:bodyPr>
          <a:lstStyle/>
          <a:p>
            <a:pPr algn="l"/>
            <a:r>
              <a:rPr sz="1100" b="0">
                <a:solidFill>
                  <a:srgbClr val="6C7A89"/>
                </a:solidFill>
                <a:latin typeface="Calibri"/>
              </a:rPr>
              <a:t>6%</a:t>
            </a:r>
          </a:p>
        </p:txBody>
      </p:sp>
      <p:sp>
        <p:nvSpPr>
          <p:cNvPr id="326" name="TextBox 325"/>
          <p:cNvSpPr txBox="1"/>
          <p:nvPr/>
        </p:nvSpPr>
        <p:spPr>
          <a:xfrm>
            <a:off x="11687175" y="6467475"/>
            <a:ext cx="276225" cy="133350"/>
          </a:xfrm>
          <a:prstGeom prst="rect">
            <a:avLst/>
          </a:prstGeom>
          <a:noFill/>
        </p:spPr>
        <p:txBody>
          <a:bodyPr wrap="none" lIns="0" rIns="0" tIns="0" bIns="0" anchor="ctr">
            <a:spAutoFit/>
          </a:bodyPr>
          <a:lstStyle/>
          <a:p>
            <a:pPr algn="l"/>
            <a:r>
              <a:rPr sz="1100" b="0">
                <a:solidFill>
                  <a:srgbClr val="6C7A89"/>
                </a:solidFill>
                <a:latin typeface="Calibri"/>
              </a:rPr>
              <a:t>4%</a:t>
            </a:r>
          </a:p>
        </p:txBody>
      </p:sp>
      <p:sp>
        <p:nvSpPr>
          <p:cNvPr id="327" name="TextBox 3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Flexible Plastic Packaging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Barrier Level Vs Application</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Barrier Level Vs Application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Volume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Barrier Level Vs Application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4 sub-segments of Barrier Level Vs Application,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TextBox 10"/>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Barrier Level Vs Application segment categorizes the market by barrier level vs application. Each sub-category is evaluated on market size, growth outlook and adoption trends across the forecast period.</a:t>
            </a:r>
          </a:p>
        </p:txBody>
      </p:sp>
      <p:sp>
        <p:nvSpPr>
          <p:cNvPr id="12" name="Rectangle 11"/>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4" name="Rectangle 13"/>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6" name="Rectangle 15"/>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8" name="Rectangle 17"/>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20" name="Rounded Rectangle 19"/>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Medium-Barrier Films</a:t>
            </a:r>
          </a:p>
        </p:txBody>
      </p:sp>
      <p:sp>
        <p:nvSpPr>
          <p:cNvPr id="23" name="Rectangle 22"/>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42,429</a:t>
            </a:r>
          </a:p>
        </p:txBody>
      </p:sp>
      <p:sp>
        <p:nvSpPr>
          <p:cNvPr id="24" name="Rectangle 23"/>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77,020</a:t>
            </a:r>
          </a:p>
        </p:txBody>
      </p:sp>
      <p:sp>
        <p:nvSpPr>
          <p:cNvPr id="25" name="Rectangle 24"/>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6.1%</a:t>
            </a:r>
          </a:p>
        </p:txBody>
      </p:sp>
      <p:sp>
        <p:nvSpPr>
          <p:cNvPr id="26" name="Oval 25"/>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High-Barrier Films</a:t>
            </a:r>
          </a:p>
        </p:txBody>
      </p:sp>
      <p:sp>
        <p:nvSpPr>
          <p:cNvPr id="30" name="Rectangle 29"/>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40,913</a:t>
            </a:r>
          </a:p>
        </p:txBody>
      </p:sp>
      <p:sp>
        <p:nvSpPr>
          <p:cNvPr id="31" name="Rectangle 30"/>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80,412</a:t>
            </a:r>
          </a:p>
        </p:txBody>
      </p:sp>
      <p:sp>
        <p:nvSpPr>
          <p:cNvPr id="32" name="Rectangle 31"/>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7.0%</a:t>
            </a:r>
          </a:p>
        </p:txBody>
      </p:sp>
      <p:sp>
        <p:nvSpPr>
          <p:cNvPr id="33" name="Oval 32"/>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Low-Barrier Films</a:t>
            </a:r>
          </a:p>
        </p:txBody>
      </p:sp>
      <p:sp>
        <p:nvSpPr>
          <p:cNvPr id="37" name="Rectangle 36"/>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26,785</a:t>
            </a:r>
          </a:p>
        </p:txBody>
      </p:sp>
      <p:sp>
        <p:nvSpPr>
          <p:cNvPr id="38" name="Rectangle 37"/>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50,050</a:t>
            </a:r>
          </a:p>
        </p:txBody>
      </p:sp>
      <p:sp>
        <p:nvSpPr>
          <p:cNvPr id="39" name="Rectangle 38"/>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6.5%</a:t>
            </a:r>
          </a:p>
        </p:txBody>
      </p:sp>
      <p:sp>
        <p:nvSpPr>
          <p:cNvPr id="40" name="Oval 39"/>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1" name="Rounded Rectangle 40"/>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Ultra-High-Barrier Films</a:t>
            </a:r>
          </a:p>
        </p:txBody>
      </p:sp>
      <p:sp>
        <p:nvSpPr>
          <p:cNvPr id="44" name="Rectangle 43"/>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17,220</a:t>
            </a:r>
          </a:p>
        </p:txBody>
      </p:sp>
      <p:sp>
        <p:nvSpPr>
          <p:cNvPr id="45" name="Rectangle 44"/>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32,726</a:t>
            </a:r>
          </a:p>
        </p:txBody>
      </p:sp>
      <p:sp>
        <p:nvSpPr>
          <p:cNvPr id="46" name="Rectangle 45"/>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6.6%</a:t>
            </a:r>
          </a:p>
        </p:txBody>
      </p:sp>
      <p:sp>
        <p:nvSpPr>
          <p:cNvPr id="47" name="Oval 46"/>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8" name="Rounded Rectangle 47"/>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50" name="Rectangle 49"/>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72AE"/>
                </a:solidFill>
                <a:latin typeface="Calibri"/>
              </a:rPr>
              <a:t>▪  </a:t>
            </a:r>
            <a:r>
              <a:rPr sz="1100" b="0">
                <a:solidFill>
                  <a:srgbClr val="2E2E2E"/>
                </a:solidFill>
                <a:latin typeface="Calibri"/>
              </a:rPr>
              <a:t>¶ Among flexible plastic packaging by barrier level vs application, high-barrier films segment is expected to witness the highest CAGR of 7.0% over the forecast period. In terms of value share by barrier level vs application, the high-barrier films segment is expected to dominate the market, gaining 135 BPS and accounting for 33.5% share by 2036.</a:t>
            </a:r>
          </a:p>
          <a:p>
            <a:pPr algn="l">
              <a:lnSpc>
                <a:spcPct val="110000"/>
              </a:lnSpc>
              <a:spcBef>
                <a:spcPts val="0"/>
              </a:spcBef>
              <a:spcAft>
                <a:spcPts val="500"/>
              </a:spcAft>
            </a:pPr>
            <a:r>
              <a:rPr sz="1100" b="0">
                <a:solidFill>
                  <a:srgbClr val="0E72AE"/>
                </a:solidFill>
                <a:latin typeface="Calibri"/>
              </a:rPr>
              <a:t>▪  </a:t>
            </a:r>
            <a:r>
              <a:rPr sz="1100" b="0">
                <a:solidFill>
                  <a:srgbClr val="2E2E2E"/>
                </a:solidFill>
                <a:latin typeface="Calibri"/>
              </a:rPr>
              <a:t>¶ High-barrier films segment is projected to register 1.0X higher value than medium-barrier films segment in 2036.</a:t>
            </a:r>
          </a:p>
        </p:txBody>
      </p:sp>
      <p:sp>
        <p:nvSpPr>
          <p:cNvPr id="52" name="Rounded Rectangle 51"/>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4" name="Rectangle 53"/>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t>
            </a:r>
            <a:r>
              <a:rPr sz="1100" b="1">
                <a:solidFill>
                  <a:srgbClr val="0B2E4A"/>
                </a:solidFill>
                <a:latin typeface="Calibri"/>
              </a:rPr>
              <a:t>Medium-Barrier Films: </a:t>
            </a:r>
            <a:r>
              <a:rPr sz="1100" b="0">
                <a:solidFill>
                  <a:srgbClr val="2E2E2E"/>
                </a:solidFill>
                <a:latin typeface="Calibri"/>
              </a:rPr>
              <a:t>33% of 2026 value · 6.1% CAGR leads the segment.</a:t>
            </a:r>
          </a:p>
          <a:p>
            <a:pPr algn="l">
              <a:lnSpc>
                <a:spcPct val="110000"/>
              </a:lnSpc>
              <a:spcBef>
                <a:spcPts val="0"/>
              </a:spcBef>
              <a:spcAft>
                <a:spcPts val="500"/>
              </a:spcAft>
            </a:pPr>
            <a:r>
              <a:rPr sz="1100" b="0">
                <a:solidFill>
                  <a:srgbClr val="0E72AE"/>
                </a:solidFill>
                <a:latin typeface="Calibri"/>
              </a:rPr>
              <a:t>●  </a:t>
            </a:r>
            <a:r>
              <a:rPr sz="1100" b="1">
                <a:solidFill>
                  <a:srgbClr val="0E72AE"/>
                </a:solidFill>
                <a:latin typeface="Calibri"/>
              </a:rPr>
              <a:t>High-Barrier Films: </a:t>
            </a:r>
            <a:r>
              <a:rPr sz="1100" b="0">
                <a:solidFill>
                  <a:srgbClr val="2E2E2E"/>
                </a:solidFill>
                <a:latin typeface="Calibri"/>
              </a:rPr>
              <a:t>32% of 2026 value · 7.0% CAGR grows fastest.</a:t>
            </a:r>
          </a:p>
          <a:p>
            <a:pPr algn="l">
              <a:lnSpc>
                <a:spcPct val="110000"/>
              </a:lnSpc>
              <a:spcBef>
                <a:spcPts val="0"/>
              </a:spcBef>
              <a:spcAft>
                <a:spcPts val="500"/>
              </a:spcAft>
            </a:pPr>
            <a:r>
              <a:rPr sz="1100" b="0">
                <a:solidFill>
                  <a:srgbClr val="008189"/>
                </a:solidFill>
                <a:latin typeface="Calibri"/>
              </a:rPr>
              <a:t>●  </a:t>
            </a:r>
            <a:r>
              <a:rPr sz="1100" b="1">
                <a:solidFill>
                  <a:srgbClr val="008189"/>
                </a:solidFill>
                <a:latin typeface="Calibri"/>
              </a:rPr>
              <a:t>Low-Barrier Films: </a:t>
            </a:r>
            <a:r>
              <a:rPr sz="1100" b="0">
                <a:solidFill>
                  <a:srgbClr val="2E2E2E"/>
                </a:solidFill>
                <a:latin typeface="Calibri"/>
              </a:rPr>
              <a:t>21% of 2026 value · 6.5% CAGR serves a niche.</a:t>
            </a:r>
          </a:p>
          <a:p>
            <a:pPr algn="l">
              <a:lnSpc>
                <a:spcPct val="110000"/>
              </a:lnSpc>
              <a:spcBef>
                <a:spcPts val="0"/>
              </a:spcBef>
              <a:spcAft>
                <a:spcPts val="500"/>
              </a:spcAft>
            </a:pPr>
            <a:r>
              <a:rPr sz="1100" b="0">
                <a:solidFill>
                  <a:srgbClr val="6F3CC2"/>
                </a:solidFill>
                <a:latin typeface="Calibri"/>
              </a:rPr>
              <a:t>●  </a:t>
            </a:r>
            <a:r>
              <a:rPr sz="1100" b="1">
                <a:solidFill>
                  <a:srgbClr val="6F3CC2"/>
                </a:solidFill>
                <a:latin typeface="Calibri"/>
              </a:rPr>
              <a:t>Ultra-High-Barrier Films: </a:t>
            </a:r>
            <a:r>
              <a:rPr sz="1100" b="0">
                <a:solidFill>
                  <a:srgbClr val="2E2E2E"/>
                </a:solidFill>
                <a:latin typeface="Calibri"/>
              </a:rPr>
              <a:t>14% of 2026 value · 6.6% CAGR serves a niche.</a:t>
            </a:r>
          </a:p>
        </p:txBody>
      </p:sp>
      <p:sp>
        <p:nvSpPr>
          <p:cNvPr id="56" name="Rounded Rectangle 55"/>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8" name="Rectangle 57"/>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Barrier Level Vs Application split shows how demand is distributed across barrier level vs application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60" name="Rectangle 59"/>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The Barrier Level Vs Application segment is projected to grow at a CAGR of 6.6% from 2026 to 2036.</a:t>
            </a:r>
          </a:p>
        </p:txBody>
      </p:sp>
      <p:sp>
        <p:nvSpPr>
          <p:cNvPr id="62" name="TextBox 61"/>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3" name="TextBox 6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Barrier Level Vs Application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Barrier Level Vs Application mix within each region and the attractiveness of each sub-segment on growth and size</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6343650" cy="4191000"/>
          </a:xfrm>
          <a:prstGeom prst="roundRect">
            <a:avLst>
              <a:gd name="adj" fmla="val 18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Barrier Level Vs Application mix within each region (share of 2036 value) · row label = region size (US$ Mn), largest first</a:t>
            </a:r>
          </a:p>
        </p:txBody>
      </p:sp>
      <p:graphicFrame>
        <p:nvGraphicFramePr>
          <p:cNvPr id="13" name="Chart 12"/>
          <p:cNvGraphicFramePr>
            <a:graphicFrameLocks noGrp="1"/>
          </p:cNvGraphicFramePr>
          <p:nvPr/>
        </p:nvGraphicFramePr>
        <p:xfrm>
          <a:off x="238125" y="1438275"/>
          <a:ext cx="6153150" cy="3676650"/>
        </p:xfrm>
        <a:graphic>
          <a:graphicData uri="http://schemas.openxmlformats.org/drawingml/2006/chart">
            <c:chart xmlns:c="http://schemas.openxmlformats.org/drawingml/2006/chart" r:id="rId3"/>
          </a:graphicData>
        </a:graphic>
      </p:graphicFrame>
      <p:sp>
        <p:nvSpPr>
          <p:cNvPr id="14" name="Rounded Rectangle 13"/>
          <p:cNvSpPr/>
          <p:nvPr/>
        </p:nvSpPr>
        <p:spPr>
          <a:xfrm>
            <a:off x="6638925" y="981075"/>
            <a:ext cx="5400675" cy="4191000"/>
          </a:xfrm>
          <a:prstGeom prst="roundRect">
            <a:avLst>
              <a:gd name="adj" fmla="val 18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Barrier Level Vs Application · Bubble size represents 2036 value</a:t>
            </a:r>
          </a:p>
        </p:txBody>
      </p:sp>
      <p:graphicFrame>
        <p:nvGraphicFramePr>
          <p:cNvPr id="16" name="Chart 15"/>
          <p:cNvGraphicFramePr>
            <a:graphicFrameLocks noGrp="1"/>
          </p:cNvGraphicFramePr>
          <p:nvPr/>
        </p:nvGraphicFramePr>
        <p:xfrm>
          <a:off x="6734175" y="1438275"/>
          <a:ext cx="5210175" cy="367665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5305425"/>
            <a:ext cx="11906250" cy="1323975"/>
          </a:xfrm>
          <a:prstGeom prst="roundRect">
            <a:avLst>
              <a:gd name="adj" fmla="val 57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High-barrier films followed by medium-barrier films are expected to be the two most attractive barrier level vs application segments in the global flexible plastic packaging market in terms of value over the forecast period. High-Barrier films and Medium-Barrier films exhibit a CAGR index of 107 and 94 and a market share index of 129 and 133 respectively, against the segment average of 100. The ultra-high-barrier films segment is expected to be less attractive as compared to other segments over the forecast period, owing to its lower CAGR and incremental opportunity. High-Barrier Films and Medium-Barrier Films rank as the most attractive because they pair scale with growth. High-barrier grades combine a large base with shelf-life-driven demand from protein, ready meals and delivered food, with 32.1% of 2026 value growing at 7.0%. For Medium-Barrier Films, medium-barrier films retain a large installed base in fresh produce, bakery and dairy, at 33.3% share and 6.1% CAGR. Brand-owner sustainability targets and rising processed-food consumption set the pattern across regions. Bubbles right of the CAGR-Index line grow faster than the segment average.</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Barrier Level Vs Application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Barrier Level Vs Application and the absolute $ opportunity each sub-segment adds,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Low-Barrier Films</a:t>
            </a:r>
          </a:p>
        </p:txBody>
      </p:sp>
      <p:graphicFrame>
        <p:nvGraphicFramePr>
          <p:cNvPr id="13" name="Chart 12"/>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Medium-Barrier Films</a:t>
            </a:r>
          </a:p>
        </p:txBody>
      </p:sp>
      <p:graphicFrame>
        <p:nvGraphicFramePr>
          <p:cNvPr id="16" name="Chart 15"/>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High-Barrier Films</a:t>
            </a:r>
          </a:p>
        </p:txBody>
      </p:sp>
      <p:graphicFrame>
        <p:nvGraphicFramePr>
          <p:cNvPr id="19" name="Chart 18"/>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20" name="Rounded Rectangle 19"/>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Ultra-High-Barrier Films</a:t>
            </a:r>
          </a:p>
        </p:txBody>
      </p:sp>
      <p:graphicFrame>
        <p:nvGraphicFramePr>
          <p:cNvPr id="22" name="Chart 21"/>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Volume Analysis, By Barrier Level Vs Application (Thousand MT)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by Barrier Level Vs Application,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3486150"/>
          </a:xfrm>
          <a:prstGeom prst="roundRect">
            <a:avLst>
              <a:gd name="adj" fmla="val 218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By Barrier Level Vs Application (Thousand MT)</a:t>
            </a:r>
          </a:p>
        </p:txBody>
      </p:sp>
      <p:graphicFrame>
        <p:nvGraphicFramePr>
          <p:cNvPr id="13" name="Table 12"/>
          <p:cNvGraphicFramePr>
            <a:graphicFrameLocks noGrp="1"/>
          </p:cNvGraphicFramePr>
          <p:nvPr/>
        </p:nvGraphicFramePr>
        <p:xfrm>
          <a:off x="152400" y="1238250"/>
          <a:ext cx="11887200" cy="3019430"/>
        </p:xfrm>
        <a:graphic>
          <a:graphicData uri="http://schemas.openxmlformats.org/drawingml/2006/table">
            <a:tbl>
              <a:tblPr>
                <a:tableStyleId>{5C22544A-7EE6-4342-B048-85BDC9FD1C3A}</a:tableStyleId>
              </a:tblPr>
              <a:tblGrid>
                <a:gridCol w="1870970"/>
                <a:gridCol w="589190"/>
                <a:gridCol w="589190"/>
                <a:gridCol w="589190"/>
                <a:gridCol w="589190"/>
                <a:gridCol w="589190"/>
                <a:gridCol w="589190"/>
                <a:gridCol w="589190"/>
                <a:gridCol w="589190"/>
                <a:gridCol w="589190"/>
                <a:gridCol w="589190"/>
                <a:gridCol w="589190"/>
                <a:gridCol w="589190"/>
                <a:gridCol w="589190"/>
                <a:gridCol w="589190"/>
                <a:gridCol w="589190"/>
                <a:gridCol w="589190"/>
                <a:gridCol w="589190"/>
              </a:tblGrid>
              <a:tr h="215265">
                <a:tc>
                  <a:txBody>
                    <a:bodyPr wrap="none"/>
                    <a:lstStyle/>
                    <a:p>
                      <a:pPr algn="l"/>
                      <a:r>
                        <a:rPr sz="1100" b="1">
                          <a:solidFill>
                            <a:srgbClr val="0B2E4A"/>
                          </a:solidFill>
                          <a:latin typeface="Calibri"/>
                        </a:rPr>
                        <a:t>Barrier Level Vs Application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F-CAGR</a:t>
                      </a:r>
                      <a:endParaRPr sz="1100"/>
                    </a:p>
                  </a:txBody>
                  <a:tcPr marL="47625" marR="38100" marT="19050" marB="19050" anchor="ctr">
                    <a:solidFill>
                      <a:srgbClr val="E0E8EF"/>
                    </a:solidFill>
                  </a:tcPr>
                </a:tc>
              </a:tr>
              <a:tr h="215705">
                <a:tc>
                  <a:txBody>
                    <a:bodyPr wrap="none"/>
                    <a:lstStyle/>
                    <a:p>
                      <a:pPr algn="l"/>
                      <a:r>
                        <a:rPr sz="1100" b="1">
                          <a:solidFill>
                            <a:srgbClr val="2E2E2E"/>
                          </a:solidFill>
                          <a:latin typeface="Calibri"/>
                        </a:rPr>
                        <a:t>Low-Barrier Films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7,039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7,323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7,621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7,933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8,267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8,631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9,030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9,466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9,947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10,474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11,043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11,647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12,277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12,931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13,600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14,283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5.2%</a:t>
                      </a:r>
                      <a:endParaRPr sz="1100"/>
                    </a:p>
                  </a:txBody>
                  <a:tcPr marL="47625" marR="38100" marT="19050" marB="19050" anchor="ctr">
                    <a:solidFill>
                      <a:srgbClr val="FFFFFF"/>
                    </a:solidFill>
                  </a:tcPr>
                </a:tc>
              </a:tr>
              <a:tr h="215705">
                <a:tc>
                  <a:txBody>
                    <a:bodyPr wrap="none"/>
                    <a:lstStyle/>
                    <a:p>
                      <a:pPr algn="l"/>
                      <a:r>
                        <a:rPr sz="1100" b="1">
                          <a:solidFill>
                            <a:srgbClr val="2E2E2E"/>
                          </a:solidFill>
                          <a:latin typeface="Calibri"/>
                        </a:rPr>
                        <a:t>– Food Packaging</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5,804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6,038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6,284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6,542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6,816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7,117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7,445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7,805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8,203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8,639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9,110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9,609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10,130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10,671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11,224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11,790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5.2%</a:t>
                      </a:r>
                      <a:endParaRPr sz="1100"/>
                    </a:p>
                  </a:txBody>
                  <a:tcPr marL="47625" marR="38100" marT="19050" marB="19050" anchor="ctr">
                    <a:solidFill>
                      <a:srgbClr val="F5F8FA"/>
                    </a:solidFill>
                  </a:tcPr>
                </a:tc>
              </a:tr>
              <a:tr h="215705">
                <a:tc>
                  <a:txBody>
                    <a:bodyPr wrap="none"/>
                    <a:lstStyle/>
                    <a:p>
                      <a:pPr algn="l"/>
                      <a:r>
                        <a:rPr sz="1100" b="1">
                          <a:solidFill>
                            <a:srgbClr val="2E2E2E"/>
                          </a:solidFill>
                          <a:latin typeface="Calibri"/>
                        </a:rPr>
                        <a:t>– Non-Food Packaging</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1,235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1,284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1,336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1,391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1,450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1,515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1,585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1,661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1,744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1,835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1,933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2,038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2,147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2,260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2,375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2,493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5.1%</a:t>
                      </a:r>
                      <a:endParaRPr sz="1100"/>
                    </a:p>
                  </a:txBody>
                  <a:tcPr marL="47625" marR="38100" marT="19050" marB="19050" anchor="ctr">
                    <a:solidFill>
                      <a:srgbClr val="FFFFFF"/>
                    </a:solidFill>
                  </a:tcPr>
                </a:tc>
              </a:tr>
              <a:tr h="215705">
                <a:tc>
                  <a:txBody>
                    <a:bodyPr wrap="none"/>
                    <a:lstStyle/>
                    <a:p>
                      <a:pPr algn="l"/>
                      <a:r>
                        <a:rPr sz="1100" b="1">
                          <a:solidFill>
                            <a:srgbClr val="2E2E2E"/>
                          </a:solidFill>
                          <a:latin typeface="Calibri"/>
                        </a:rPr>
                        <a:t>Medium-Barrier Films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11,368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11,784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12,221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12,678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13,161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13,689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14,266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14,898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15,592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16,356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17,185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18,076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19,014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19,988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20,984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22,001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4.9%</a:t>
                      </a:r>
                      <a:endParaRPr sz="1100"/>
                    </a:p>
                  </a:txBody>
                  <a:tcPr marL="47625" marR="38100" marT="19050" marB="19050" anchor="ctr">
                    <a:solidFill>
                      <a:srgbClr val="F5F8FA"/>
                    </a:solidFill>
                  </a:tcPr>
                </a:tc>
              </a:tr>
              <a:tr h="215705">
                <a:tc>
                  <a:txBody>
                    <a:bodyPr wrap="none"/>
                    <a:lstStyle/>
                    <a:p>
                      <a:pPr algn="l"/>
                      <a:r>
                        <a:rPr sz="1100" b="1">
                          <a:solidFill>
                            <a:srgbClr val="2E2E2E"/>
                          </a:solidFill>
                          <a:latin typeface="Calibri"/>
                        </a:rPr>
                        <a:t>– Food Packaging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9,529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9,878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10,244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10,625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11,029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11,470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11,953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12,484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13,068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13,710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14,408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15,157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15,945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16,764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17,601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18,456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4.9%</a:t>
                      </a:r>
                      <a:endParaRPr sz="1100"/>
                    </a:p>
                  </a:txBody>
                  <a:tcPr marL="47625" marR="38100" marT="19050" marB="19050" anchor="ctr">
                    <a:solidFill>
                      <a:srgbClr val="FFFFFF"/>
                    </a:solidFill>
                  </a:tcPr>
                </a:tc>
              </a:tr>
              <a:tr h="215705">
                <a:tc>
                  <a:txBody>
                    <a:bodyPr wrap="none"/>
                    <a:lstStyle/>
                    <a:p>
                      <a:pPr algn="l"/>
                      <a:r>
                        <a:rPr sz="1100" b="1">
                          <a:solidFill>
                            <a:srgbClr val="2E2E2E"/>
                          </a:solidFill>
                          <a:latin typeface="Calibri"/>
                        </a:rPr>
                        <a:t>– Non-Food Packaging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1,838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1,906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1,977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2,053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2,133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2,219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2,313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2,414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2,524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2,645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2,777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2,920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3,069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3,225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3,384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3,546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4.8%</a:t>
                      </a:r>
                      <a:endParaRPr sz="1100"/>
                    </a:p>
                  </a:txBody>
                  <a:tcPr marL="47625" marR="38100" marT="19050" marB="19050" anchor="ctr">
                    <a:solidFill>
                      <a:srgbClr val="F5F8FA"/>
                    </a:solidFill>
                  </a:tcPr>
                </a:tc>
              </a:tr>
              <a:tr h="215705">
                <a:tc>
                  <a:txBody>
                    <a:bodyPr wrap="none"/>
                    <a:lstStyle/>
                    <a:p>
                      <a:pPr algn="l"/>
                      <a:r>
                        <a:rPr sz="1100" b="1">
                          <a:solidFill>
                            <a:srgbClr val="2E2E2E"/>
                          </a:solidFill>
                          <a:latin typeface="Calibri"/>
                        </a:rPr>
                        <a:t>High-Barrier Films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10,559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11,016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11,505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12,030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12,593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13,212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13,890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14,635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15,451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16,340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17,305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18,341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19,440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20,590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21,774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22,988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5.7%</a:t>
                      </a:r>
                      <a:endParaRPr sz="1100"/>
                    </a:p>
                  </a:txBody>
                  <a:tcPr marL="47625" marR="38100" marT="19050" marB="19050" anchor="ctr">
                    <a:solidFill>
                      <a:srgbClr val="FFFFFF"/>
                    </a:solidFill>
                  </a:tcPr>
                </a:tc>
              </a:tr>
              <a:tr h="215705">
                <a:tc>
                  <a:txBody>
                    <a:bodyPr wrap="none"/>
                    <a:lstStyle/>
                    <a:p>
                      <a:pPr algn="l"/>
                      <a:r>
                        <a:rPr sz="1100" b="1">
                          <a:solidFill>
                            <a:srgbClr val="2E2E2E"/>
                          </a:solidFill>
                          <a:latin typeface="Calibri"/>
                        </a:rPr>
                        <a:t>– Food Packaging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8,859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9,240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9,648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10,087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10,559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11,076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11,644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12,269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12,953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13,699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14,509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15,380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16,305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17,274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18,272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19,294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5.7%</a:t>
                      </a:r>
                      <a:endParaRPr sz="1100"/>
                    </a:p>
                  </a:txBody>
                  <a:tcPr marL="47625" marR="38100" marT="19050" marB="19050" anchor="ctr">
                    <a:solidFill>
                      <a:srgbClr val="F5F8FA"/>
                    </a:solidFill>
                  </a:tcPr>
                </a:tc>
              </a:tr>
              <a:tr h="215705">
                <a:tc>
                  <a:txBody>
                    <a:bodyPr wrap="none"/>
                    <a:lstStyle/>
                    <a:p>
                      <a:pPr algn="l"/>
                      <a:r>
                        <a:rPr sz="1100" b="1">
                          <a:solidFill>
                            <a:srgbClr val="2E2E2E"/>
                          </a:solidFill>
                          <a:latin typeface="Calibri"/>
                        </a:rPr>
                        <a:t>– Non-Food Packaging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1,700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1,776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1,857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1,943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2,035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2,135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2,245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2,366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2,498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2,641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2,796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2,961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3,135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3,316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3,502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3,693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5.6%</a:t>
                      </a:r>
                      <a:endParaRPr sz="1100"/>
                    </a:p>
                  </a:txBody>
                  <a:tcPr marL="47625" marR="38100" marT="19050" marB="19050" anchor="ctr">
                    <a:solidFill>
                      <a:srgbClr val="FFFFFF"/>
                    </a:solidFill>
                  </a:tcPr>
                </a:tc>
              </a:tr>
              <a:tr h="215705">
                <a:tc>
                  <a:txBody>
                    <a:bodyPr wrap="none"/>
                    <a:lstStyle/>
                    <a:p>
                      <a:pPr algn="l"/>
                      <a:r>
                        <a:rPr sz="1100" b="1">
                          <a:solidFill>
                            <a:srgbClr val="2E2E2E"/>
                          </a:solidFill>
                          <a:latin typeface="Calibri"/>
                        </a:rPr>
                        <a:t>Ultra-High-Barrier Films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4,371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4,579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4,798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5,032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5,282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5,551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5,837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6,140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6,462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6,810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7,184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7,584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8,003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8,437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8,883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9,339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5.3%</a:t>
                      </a:r>
                      <a:endParaRPr sz="1100"/>
                    </a:p>
                  </a:txBody>
                  <a:tcPr marL="47625" marR="38100" marT="19050" marB="19050" anchor="ctr">
                    <a:solidFill>
                      <a:srgbClr val="F5F8FA"/>
                    </a:solidFill>
                  </a:tcPr>
                </a:tc>
              </a:tr>
              <a:tr h="215705">
                <a:tc>
                  <a:txBody>
                    <a:bodyPr wrap="none"/>
                    <a:lstStyle/>
                    <a:p>
                      <a:pPr algn="l"/>
                      <a:r>
                        <a:rPr sz="1100" b="1">
                          <a:solidFill>
                            <a:srgbClr val="2E2E2E"/>
                          </a:solidFill>
                          <a:latin typeface="Calibri"/>
                        </a:rPr>
                        <a:t>– Food Packaging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3,656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3,833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4,017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4,215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4,427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4,654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4,895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5,151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5,423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5,715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6,029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6,364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6,715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7,079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7,452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7,835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5.3%</a:t>
                      </a:r>
                      <a:endParaRPr sz="1100"/>
                    </a:p>
                  </a:txBody>
                  <a:tcPr marL="47625" marR="38100" marT="19050" marB="19050" anchor="ctr">
                    <a:solidFill>
                      <a:srgbClr val="FFFFFF"/>
                    </a:solidFill>
                  </a:tcPr>
                </a:tc>
              </a:tr>
              <a:tr h="215705">
                <a:tc>
                  <a:txBody>
                    <a:bodyPr wrap="none"/>
                    <a:lstStyle/>
                    <a:p>
                      <a:pPr algn="l"/>
                      <a:r>
                        <a:rPr sz="1100" b="1">
                          <a:solidFill>
                            <a:srgbClr val="2E2E2E"/>
                          </a:solidFill>
                          <a:latin typeface="Calibri"/>
                        </a:rPr>
                        <a:t>– Non-Food Packaging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715.0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746.6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780.1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816.2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854.9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896.7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941.2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988.6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1,039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1,095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1,155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1,220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1,288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1,358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1,430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1,504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5.3%</a:t>
                      </a:r>
                      <a:endParaRPr sz="1100"/>
                    </a:p>
                  </a:txBody>
                  <a:tcPr marL="47625" marR="38100" marT="19050" marB="19050" anchor="ctr">
                    <a:solidFill>
                      <a:srgbClr val="F5F8FA"/>
                    </a:solidFill>
                  </a:tcPr>
                </a:tc>
              </a:tr>
              <a:tr h="215705">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33,337</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34,702</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36,143</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37,672</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39,304</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41,083</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43,022</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45,139</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47,452</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49,980</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52,717</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55,648</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58,734</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61,946</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65,241</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68,611</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5.3%</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42672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4600575"/>
            <a:ext cx="11906250" cy="2028825"/>
          </a:xfrm>
          <a:prstGeom prst="roundRect">
            <a:avLst>
              <a:gd name="adj" fmla="val 37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68630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Volume Analysis, By Barrier Level Vs Application</a:t>
            </a:r>
          </a:p>
        </p:txBody>
      </p:sp>
      <p:sp>
        <p:nvSpPr>
          <p:cNvPr id="17" name="Rectangle 16"/>
          <p:cNvSpPr/>
          <p:nvPr/>
        </p:nvSpPr>
        <p:spPr>
          <a:xfrm>
            <a:off x="276225" y="49244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5010150"/>
            <a:ext cx="11639550" cy="15430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E2E2E"/>
                </a:solidFill>
                <a:latin typeface="Calibri"/>
              </a:rPr>
              <a:t>High-barrier films segment is projected to register 1.0X higher volume than medium-barrier films segment in 2036. Among flexible plastic packaging by barrier level vs application, high-barrier films segment is expected to witness the highest CAGR of 5.7% over the forecast period.</a:t>
            </a:r>
          </a:p>
          <a:p>
            <a:pPr algn="l">
              <a:lnSpc>
                <a:spcPct val="110000"/>
              </a:lnSpc>
              <a:spcBef>
                <a:spcPts val="0"/>
              </a:spcBef>
              <a:spcAft>
                <a:spcPts val="500"/>
              </a:spcAft>
            </a:pPr>
            <a:r>
              <a:rPr sz="1100" b="0">
                <a:solidFill>
                  <a:srgbClr val="2E2E2E"/>
                </a:solidFill>
                <a:latin typeface="Calibri"/>
              </a:rPr>
              <a:t>In terms of volume share by barrier level vs application, the high-barrier films segment is expected to dominate the market, gaining 135 BPS and accounting for 33.5% share by 2036. The medium-barrier films segment is expected to lose 125 BPS over the forecast period to account for 32.1% share by 2036.</a:t>
            </a:r>
          </a:p>
          <a:p>
            <a:pPr algn="l">
              <a:lnSpc>
                <a:spcPct val="110000"/>
              </a:lnSpc>
              <a:spcBef>
                <a:spcPts val="0"/>
              </a:spcBef>
              <a:spcAft>
                <a:spcPts val="500"/>
              </a:spcAft>
            </a:pPr>
            <a:r>
              <a:rPr sz="1100" b="0">
                <a:solidFill>
                  <a:srgbClr val="2E2E2E"/>
                </a:solidFill>
                <a:latin typeface="Calibri"/>
              </a:rPr>
              <a:t>High-Barrier Films add 135 BPS of volume share at 5.7% growth because fresh protein, cheese, snacks and ready meals need longer shelf life and lower food waste, and brands keep upgrading packs, supported by e-commerce, rising packaged-food consumption in emerging markets and brand-owner recyclability targets. Medium-Barrier Films lose 125 BPS at 4.9%, as those applications trade up to higher barrier and ultra-high-barrier films take the premium niches.</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Barrier Level Vs Application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Barrier Level Vs Application,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3486150"/>
          </a:xfrm>
          <a:prstGeom prst="roundRect">
            <a:avLst>
              <a:gd name="adj" fmla="val 218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Barrier Level Vs Application (US$ Mn)</a:t>
            </a:r>
          </a:p>
        </p:txBody>
      </p:sp>
      <p:graphicFrame>
        <p:nvGraphicFramePr>
          <p:cNvPr id="13" name="Table 12"/>
          <p:cNvGraphicFramePr>
            <a:graphicFrameLocks noGrp="1"/>
          </p:cNvGraphicFramePr>
          <p:nvPr/>
        </p:nvGraphicFramePr>
        <p:xfrm>
          <a:off x="152400" y="1238250"/>
          <a:ext cx="11887202" cy="3019430"/>
        </p:xfrm>
        <a:graphic>
          <a:graphicData uri="http://schemas.openxmlformats.org/drawingml/2006/table">
            <a:tbl>
              <a:tblPr>
                <a:tableStyleId>{5C22544A-7EE6-4342-B048-85BDC9FD1C3A}</a:tableStyleId>
              </a:tblPr>
              <a:tblGrid>
                <a:gridCol w="1790647"/>
                <a:gridCol w="593915"/>
                <a:gridCol w="593915"/>
                <a:gridCol w="593915"/>
                <a:gridCol w="593915"/>
                <a:gridCol w="593915"/>
                <a:gridCol w="593915"/>
                <a:gridCol w="593915"/>
                <a:gridCol w="593915"/>
                <a:gridCol w="593915"/>
                <a:gridCol w="593915"/>
                <a:gridCol w="593915"/>
                <a:gridCol w="593915"/>
                <a:gridCol w="593915"/>
                <a:gridCol w="593915"/>
                <a:gridCol w="593915"/>
                <a:gridCol w="593915"/>
                <a:gridCol w="593915"/>
              </a:tblGrid>
              <a:tr h="215265">
                <a:tc>
                  <a:txBody>
                    <a:bodyPr wrap="none"/>
                    <a:lstStyle/>
                    <a:p>
                      <a:pPr algn="l"/>
                      <a:r>
                        <a:rPr sz="1100" b="1">
                          <a:solidFill>
                            <a:srgbClr val="0B2E4A"/>
                          </a:solidFill>
                          <a:latin typeface="Calibri"/>
                        </a:rPr>
                        <a:t>Barrier Level Vs Application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F-CAGR</a:t>
                      </a:r>
                      <a:endParaRPr sz="1100"/>
                    </a:p>
                  </a:txBody>
                  <a:tcPr marL="47625" marR="38100" marT="19050" marB="19050" anchor="ctr">
                    <a:solidFill>
                      <a:srgbClr val="E0E8EF"/>
                    </a:solidFill>
                  </a:tcPr>
                </a:tc>
              </a:tr>
              <a:tr h="215705">
                <a:tc>
                  <a:txBody>
                    <a:bodyPr wrap="none"/>
                    <a:lstStyle/>
                    <a:p>
                      <a:pPr algn="l"/>
                      <a:r>
                        <a:rPr sz="1100" b="1">
                          <a:solidFill>
                            <a:srgbClr val="2E2E2E"/>
                          </a:solidFill>
                          <a:latin typeface="Calibri"/>
                        </a:rPr>
                        <a:t>Low-Barrier Films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21,421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22,332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23,300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24,340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25,458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26,785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28,260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29,904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31,739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33,786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36,039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38,491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41,120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43,928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46,904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50,050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6.5%</a:t>
                      </a:r>
                      <a:endParaRPr sz="1100"/>
                    </a:p>
                  </a:txBody>
                  <a:tcPr marL="47625" marR="38100" marT="19050" marB="19050" anchor="ctr">
                    <a:solidFill>
                      <a:srgbClr val="FFFFFF"/>
                    </a:solidFill>
                  </a:tcPr>
                </a:tc>
              </a:tr>
              <a:tr h="215705">
                <a:tc>
                  <a:txBody>
                    <a:bodyPr wrap="none"/>
                    <a:lstStyle/>
                    <a:p>
                      <a:pPr algn="l"/>
                      <a:r>
                        <a:rPr sz="1100" b="1">
                          <a:solidFill>
                            <a:srgbClr val="2E2E2E"/>
                          </a:solidFill>
                          <a:latin typeface="Calibri"/>
                        </a:rPr>
                        <a:t>– Food Packaging</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17,664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18,417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19,217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20,074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20,996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22,090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23,306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24,665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26,183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27,876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29,739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31,765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33,938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36,260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38,720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41,323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6.5%</a:t>
                      </a:r>
                      <a:endParaRPr sz="1100"/>
                    </a:p>
                  </a:txBody>
                  <a:tcPr marL="47625" marR="38100" marT="19050" marB="19050" anchor="ctr">
                    <a:solidFill>
                      <a:srgbClr val="F5F8FA"/>
                    </a:solidFill>
                  </a:tcPr>
                </a:tc>
              </a:tr>
              <a:tr h="215705">
                <a:tc>
                  <a:txBody>
                    <a:bodyPr wrap="none"/>
                    <a:lstStyle/>
                    <a:p>
                      <a:pPr algn="l"/>
                      <a:r>
                        <a:rPr sz="1100" b="1">
                          <a:solidFill>
                            <a:srgbClr val="2E2E2E"/>
                          </a:solidFill>
                          <a:latin typeface="Calibri"/>
                        </a:rPr>
                        <a:t>– Non-Food Packaging</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3,757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3,915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4,084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4,266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4,462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4,695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4,953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5,239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5,556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5,910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6,300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6,726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7,182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7,668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8,183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8,727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6.4%</a:t>
                      </a:r>
                      <a:endParaRPr sz="1100"/>
                    </a:p>
                  </a:txBody>
                  <a:tcPr marL="47625" marR="38100" marT="19050" marB="19050" anchor="ctr">
                    <a:solidFill>
                      <a:srgbClr val="FFFFFF"/>
                    </a:solidFill>
                  </a:tcPr>
                </a:tc>
              </a:tr>
              <a:tr h="215705">
                <a:tc>
                  <a:txBody>
                    <a:bodyPr wrap="none"/>
                    <a:lstStyle/>
                    <a:p>
                      <a:pPr algn="l"/>
                      <a:r>
                        <a:rPr sz="1100" b="1">
                          <a:solidFill>
                            <a:srgbClr val="2E2E2E"/>
                          </a:solidFill>
                          <a:latin typeface="Calibri"/>
                        </a:rPr>
                        <a:t>Medium-Barrier Films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34,518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35,872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37,306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38,840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40,478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42,429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44,597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47,010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49,701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52,714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56,050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59,709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63,648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67,856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72,311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77,020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6.1%</a:t>
                      </a:r>
                      <a:endParaRPr sz="1100"/>
                    </a:p>
                  </a:txBody>
                  <a:tcPr marL="47625" marR="38100" marT="19050" marB="19050" anchor="ctr">
                    <a:solidFill>
                      <a:srgbClr val="F5F8FA"/>
                    </a:solidFill>
                  </a:tcPr>
                </a:tc>
              </a:tr>
              <a:tr h="215705">
                <a:tc>
                  <a:txBody>
                    <a:bodyPr wrap="none"/>
                    <a:lstStyle/>
                    <a:p>
                      <a:pPr algn="l"/>
                      <a:r>
                        <a:rPr sz="1100" b="1">
                          <a:solidFill>
                            <a:srgbClr val="2E2E2E"/>
                          </a:solidFill>
                          <a:latin typeface="Calibri"/>
                        </a:rPr>
                        <a:t>– Food Packaging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28,975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30,107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31,305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32,584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33,950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35,581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37,397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39,424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41,686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44,220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47,026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50,103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53,416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56,955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60,702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64,663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6.2%</a:t>
                      </a:r>
                      <a:endParaRPr sz="1100"/>
                    </a:p>
                  </a:txBody>
                  <a:tcPr marL="47625" marR="38100" marT="19050" marB="19050" anchor="ctr">
                    <a:solidFill>
                      <a:srgbClr val="FFFFFF"/>
                    </a:solidFill>
                  </a:tcPr>
                </a:tc>
              </a:tr>
              <a:tr h="215705">
                <a:tc>
                  <a:txBody>
                    <a:bodyPr wrap="none"/>
                    <a:lstStyle/>
                    <a:p>
                      <a:pPr algn="l"/>
                      <a:r>
                        <a:rPr sz="1100" b="1">
                          <a:solidFill>
                            <a:srgbClr val="2E2E2E"/>
                          </a:solidFill>
                          <a:latin typeface="Calibri"/>
                        </a:rPr>
                        <a:t>– Non-Food Packaging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5,543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5,764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6,001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6,256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6,528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6,848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7,199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7,587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8,015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8,494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9,024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9,606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10,232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10,901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11,609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12,357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6.1%</a:t>
                      </a:r>
                      <a:endParaRPr sz="1100"/>
                    </a:p>
                  </a:txBody>
                  <a:tcPr marL="47625" marR="38100" marT="19050" marB="19050" anchor="ctr">
                    <a:solidFill>
                      <a:srgbClr val="F5F8FA"/>
                    </a:solidFill>
                  </a:tcPr>
                </a:tc>
              </a:tr>
              <a:tr h="215705">
                <a:tc>
                  <a:txBody>
                    <a:bodyPr wrap="none"/>
                    <a:lstStyle/>
                    <a:p>
                      <a:pPr algn="l"/>
                      <a:r>
                        <a:rPr sz="1100" b="1">
                          <a:solidFill>
                            <a:srgbClr val="2E2E2E"/>
                          </a:solidFill>
                          <a:latin typeface="Calibri"/>
                        </a:rPr>
                        <a:t>High-Barrier Films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32,004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33,482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35,074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36,814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38,695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40,913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43,384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46,147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49,221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52,631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56,397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60,525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65,012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69,836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74,973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80,412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7.0%</a:t>
                      </a:r>
                      <a:endParaRPr sz="1100"/>
                    </a:p>
                  </a:txBody>
                  <a:tcPr marL="47625" marR="38100" marT="19050" marB="19050" anchor="ctr">
                    <a:solidFill>
                      <a:srgbClr val="FFFFFF"/>
                    </a:solidFill>
                  </a:tcPr>
                </a:tc>
              </a:tr>
              <a:tr h="215705">
                <a:tc>
                  <a:txBody>
                    <a:bodyPr wrap="none"/>
                    <a:lstStyle/>
                    <a:p>
                      <a:pPr algn="l"/>
                      <a:r>
                        <a:rPr sz="1100" b="1">
                          <a:solidFill>
                            <a:srgbClr val="2E2E2E"/>
                          </a:solidFill>
                          <a:latin typeface="Calibri"/>
                        </a:rPr>
                        <a:t>– Food Packaging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26,863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28,097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29,428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30,885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32,461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34,320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36,392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38,709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41,288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44,151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47,314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50,785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54,560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58,622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62,947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67,527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7.0%</a:t>
                      </a:r>
                      <a:endParaRPr sz="1100"/>
                    </a:p>
                  </a:txBody>
                  <a:tcPr marL="47625" marR="38100" marT="19050" marB="19050" anchor="ctr">
                    <a:solidFill>
                      <a:srgbClr val="F5F8FA"/>
                    </a:solidFill>
                  </a:tcPr>
                </a:tc>
              </a:tr>
              <a:tr h="215705">
                <a:tc>
                  <a:txBody>
                    <a:bodyPr wrap="none"/>
                    <a:lstStyle/>
                    <a:p>
                      <a:pPr algn="l"/>
                      <a:r>
                        <a:rPr sz="1100" b="1">
                          <a:solidFill>
                            <a:srgbClr val="2E2E2E"/>
                          </a:solidFill>
                          <a:latin typeface="Calibri"/>
                        </a:rPr>
                        <a:t>– Non-Food Packaging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5,141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5,385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5,646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5,929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6,234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6,593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6,992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7,438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7,933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8,480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9,083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9,740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10,452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11,214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12,026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12,885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6.9%</a:t>
                      </a:r>
                      <a:endParaRPr sz="1100"/>
                    </a:p>
                  </a:txBody>
                  <a:tcPr marL="47625" marR="38100" marT="19050" marB="19050" anchor="ctr">
                    <a:solidFill>
                      <a:srgbClr val="FFFFFF"/>
                    </a:solidFill>
                  </a:tcPr>
                </a:tc>
              </a:tr>
              <a:tr h="215705">
                <a:tc>
                  <a:txBody>
                    <a:bodyPr wrap="none"/>
                    <a:lstStyle/>
                    <a:p>
                      <a:pPr algn="l"/>
                      <a:r>
                        <a:rPr sz="1100" b="1">
                          <a:solidFill>
                            <a:srgbClr val="2E2E2E"/>
                          </a:solidFill>
                          <a:latin typeface="Calibri"/>
                        </a:rPr>
                        <a:t>Ultra-High-Barrier Films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13,314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13,978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14,680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15,445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16,268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17,220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18,251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19,369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20,585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21,928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23,408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25,033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26,779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28,645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30,626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32,726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6.6%</a:t>
                      </a:r>
                      <a:endParaRPr sz="1100"/>
                    </a:p>
                  </a:txBody>
                  <a:tcPr marL="47625" marR="38100" marT="19050" marB="19050" anchor="ctr">
                    <a:solidFill>
                      <a:srgbClr val="F5F8FA"/>
                    </a:solidFill>
                  </a:tcPr>
                </a:tc>
              </a:tr>
              <a:tr h="215705">
                <a:tc>
                  <a:txBody>
                    <a:bodyPr wrap="none"/>
                    <a:lstStyle/>
                    <a:p>
                      <a:pPr algn="l"/>
                      <a:r>
                        <a:rPr sz="1100" b="1">
                          <a:solidFill>
                            <a:srgbClr val="2E2E2E"/>
                          </a:solidFill>
                          <a:latin typeface="Calibri"/>
                        </a:rPr>
                        <a:t>– Food Packaging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11,138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11,701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12,295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12,943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13,639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14,442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15,313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16,255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17,280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18,409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19,651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21,013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22,477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24,041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25,702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27,463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6.6%</a:t>
                      </a:r>
                      <a:endParaRPr sz="1100"/>
                    </a:p>
                  </a:txBody>
                  <a:tcPr marL="47625" marR="38100" marT="19050" marB="19050" anchor="ctr">
                    <a:solidFill>
                      <a:srgbClr val="FFFFFF"/>
                    </a:solidFill>
                  </a:tcPr>
                </a:tc>
              </a:tr>
              <a:tr h="215705">
                <a:tc>
                  <a:txBody>
                    <a:bodyPr wrap="none"/>
                    <a:lstStyle/>
                    <a:p>
                      <a:pPr algn="l"/>
                      <a:r>
                        <a:rPr sz="1100" b="1">
                          <a:solidFill>
                            <a:srgbClr val="2E2E2E"/>
                          </a:solidFill>
                          <a:latin typeface="Calibri"/>
                        </a:rPr>
                        <a:t>– Non-Food Packaging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2,176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2,277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2,384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2,502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2,629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2,777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2,939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3,114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3,305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3,519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3,757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4,020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4,302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4,604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4,924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5,263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6.6%</a:t>
                      </a:r>
                      <a:endParaRPr sz="1100"/>
                    </a:p>
                  </a:txBody>
                  <a:tcPr marL="47625" marR="38100" marT="19050" marB="19050" anchor="ctr">
                    <a:solidFill>
                      <a:srgbClr val="F5F8FA"/>
                    </a:solidFill>
                  </a:tcPr>
                </a:tc>
              </a:tr>
              <a:tr h="215705">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101,257</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105,663</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110,360</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115,439</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120,900</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127,346</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134,491</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142,430</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151,246</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161,060</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171,894</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183,758</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196,559</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210,265</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224,814</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240,208</a:t>
                      </a:r>
                      <a:endParaRPr sz="1100"/>
                    </a:p>
                  </a:txBody>
                  <a:tcPr marL="47625" marR="38100" marT="19050" marB="19050" anchor="ctr">
                    <a:solidFill>
                      <a:srgbClr val="E0E8EF"/>
                    </a:solidFill>
                  </a:tcPr>
                </a:tc>
                <a:tc>
                  <a:txBody>
                    <a:bodyPr wrap="none"/>
                    <a:lstStyle/>
                    <a:p>
                      <a:pPr algn="l"/>
                      <a:r>
                        <a:rPr sz="1100" b="1">
                          <a:solidFill>
                            <a:srgbClr val="2E2E2E"/>
                          </a:solidFill>
                          <a:latin typeface="Calibri"/>
                        </a:rPr>
                        <a:t>6.6%</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42672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4600575"/>
            <a:ext cx="11906250" cy="2028825"/>
          </a:xfrm>
          <a:prstGeom prst="roundRect">
            <a:avLst>
              <a:gd name="adj" fmla="val 37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68630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Barrier Level Vs Application</a:t>
            </a:r>
          </a:p>
        </p:txBody>
      </p:sp>
      <p:sp>
        <p:nvSpPr>
          <p:cNvPr id="17" name="Rectangle 16"/>
          <p:cNvSpPr/>
          <p:nvPr/>
        </p:nvSpPr>
        <p:spPr>
          <a:xfrm>
            <a:off x="276225" y="49244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5010150"/>
            <a:ext cx="11639550" cy="15430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E2E2E"/>
                </a:solidFill>
                <a:latin typeface="Calibri"/>
              </a:rPr>
              <a:t>High-barrier films segment is projected to register 1.0X higher value than medium-barrier films segment in 2036. Among flexible plastic packaging by barrier level vs application, high-barrier films segment is expected to witness the highest CAGR of 7.0% over the forecast period.</a:t>
            </a:r>
          </a:p>
          <a:p>
            <a:pPr algn="l">
              <a:lnSpc>
                <a:spcPct val="110000"/>
              </a:lnSpc>
              <a:spcBef>
                <a:spcPts val="0"/>
              </a:spcBef>
              <a:spcAft>
                <a:spcPts val="500"/>
              </a:spcAft>
            </a:pPr>
            <a:r>
              <a:rPr sz="1100" b="0">
                <a:solidFill>
                  <a:srgbClr val="2E2E2E"/>
                </a:solidFill>
                <a:latin typeface="Calibri"/>
              </a:rPr>
              <a:t>In terms of value share by barrier level vs application, the high-barrier films segment is expected to dominate the market, gaining 135 BPS and accounting for 33.5% share by 2036. The medium-barrier films segment is expected to lose 125 BPS over the forecast period to account for 32.1% share by 2036.</a:t>
            </a:r>
          </a:p>
          <a:p>
            <a:pPr algn="l">
              <a:lnSpc>
                <a:spcPct val="110000"/>
              </a:lnSpc>
              <a:spcBef>
                <a:spcPts val="0"/>
              </a:spcBef>
              <a:spcAft>
                <a:spcPts val="500"/>
              </a:spcAft>
            </a:pPr>
            <a:r>
              <a:rPr sz="1100" b="0">
                <a:solidFill>
                  <a:srgbClr val="2E2E2E"/>
                </a:solidFill>
                <a:latin typeface="Calibri"/>
              </a:rPr>
              <a:t>High-Barrier Films gain 135 BPS because food applications such as fresh protein, cheese, ready meals and snacks increasingly need oxygen and moisture protection to extend shelf life, and pharma and medical uses demand the same. Medium-Barrier Films lose 125 BPS and grow just 6.1% as buyers upgrade specifications. High-Barrier Films outgrow the field at 7.0%.</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Barrier Level Vs Application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Barrier Level Vs Application in 2021, 2026 and 2036, highlighting share shifts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Barrier Level Vs Application ·  2021 / 2026 / 2036 (US$ Mn)  ·  right axis = BPS share shift</a:t>
            </a:r>
          </a:p>
        </p:txBody>
      </p:sp>
      <p:graphicFrame>
        <p:nvGraphicFramePr>
          <p:cNvPr id="13" name="Chart 12"/>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4" name="TextBox 13"/>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5" name="FMI Lock Anchor"/>
          <p:cNvSpPr txBox="1"/>
          <p:nvPr/>
        </p:nvSpPr>
        <p:spPr>
          <a:xfrm>
            <a:off x="2678811" y="4014597"/>
            <a:ext cx="38100" cy="38100"/>
          </a:xfrm>
          <a:prstGeom prst="rect">
            <a:avLst/>
          </a:prstGeom>
          <a:noFill/>
        </p:spPr>
        <p:txBody>
          <a:bodyPr wrap="none">
            <a:spAutoFit/>
          </a:bodyPr>
          <a:lstStyle/>
          <a:p/>
        </p:txBody>
      </p:sp>
      <p:sp>
        <p:nvSpPr>
          <p:cNvPr id="16" name="FMI Legend Chip"/>
          <p:cNvSpPr/>
          <p:nvPr/>
        </p:nvSpPr>
        <p:spPr>
          <a:xfrm>
            <a:off x="4928997" y="1982729"/>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5090922" y="197796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5233797" y="190176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Ultra-High-Barrier Films</a:t>
            </a:r>
          </a:p>
        </p:txBody>
      </p:sp>
      <p:sp>
        <p:nvSpPr>
          <p:cNvPr id="19" name="BPS Value 1"/>
          <p:cNvSpPr txBox="1"/>
          <p:nvPr/>
        </p:nvSpPr>
        <p:spPr>
          <a:xfrm>
            <a:off x="6896100" y="1963679"/>
            <a:ext cx="514350" cy="123825"/>
          </a:xfrm>
          <a:prstGeom prst="rect">
            <a:avLst/>
          </a:prstGeom>
          <a:noFill/>
        </p:spPr>
        <p:txBody>
          <a:bodyPr wrap="none" lIns="0" rIns="0" tIns="0" bIns="0" anchor="ctr">
            <a:spAutoFit/>
          </a:bodyPr>
          <a:lstStyle/>
          <a:p>
            <a:pPr algn="r"/>
            <a:r>
              <a:rPr sz="900" b="1">
                <a:solidFill>
                  <a:srgbClr val="2E7D32"/>
                </a:solidFill>
                <a:latin typeface="Calibri"/>
              </a:rPr>
              <a:t>+10</a:t>
            </a:r>
          </a:p>
        </p:txBody>
      </p:sp>
      <p:sp>
        <p:nvSpPr>
          <p:cNvPr id="20" name="FMI Legend Chip"/>
          <p:cNvSpPr/>
          <p:nvPr/>
        </p:nvSpPr>
        <p:spPr>
          <a:xfrm>
            <a:off x="4928997" y="2770556"/>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5090922" y="276579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5233797" y="268959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Low-Barrier Films</a:t>
            </a:r>
          </a:p>
        </p:txBody>
      </p:sp>
      <p:sp>
        <p:nvSpPr>
          <p:cNvPr id="23" name="BPS Value 2"/>
          <p:cNvSpPr txBox="1"/>
          <p:nvPr/>
        </p:nvSpPr>
        <p:spPr>
          <a:xfrm>
            <a:off x="6896100" y="2751506"/>
            <a:ext cx="514350" cy="123825"/>
          </a:xfrm>
          <a:prstGeom prst="rect">
            <a:avLst/>
          </a:prstGeom>
          <a:noFill/>
        </p:spPr>
        <p:txBody>
          <a:bodyPr wrap="none" lIns="0" rIns="0" tIns="0" bIns="0" anchor="ctr">
            <a:spAutoFit/>
          </a:bodyPr>
          <a:lstStyle/>
          <a:p>
            <a:pPr algn="r"/>
            <a:r>
              <a:rPr sz="900" b="1">
                <a:solidFill>
                  <a:srgbClr val="E44D3A"/>
                </a:solidFill>
                <a:latin typeface="Calibri"/>
              </a:rPr>
              <a:t>-20</a:t>
            </a:r>
          </a:p>
        </p:txBody>
      </p:sp>
      <p:sp>
        <p:nvSpPr>
          <p:cNvPr id="24" name="FMI Legend Chip"/>
          <p:cNvSpPr/>
          <p:nvPr/>
        </p:nvSpPr>
        <p:spPr>
          <a:xfrm>
            <a:off x="4928997" y="3979951"/>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rot="10800000">
            <a:off x="5090922" y="397518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3"/>
          <p:cNvSpPr txBox="1"/>
          <p:nvPr/>
        </p:nvSpPr>
        <p:spPr>
          <a:xfrm>
            <a:off x="5233797" y="389898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Medium-Barrier Films</a:t>
            </a:r>
          </a:p>
        </p:txBody>
      </p:sp>
      <p:sp>
        <p:nvSpPr>
          <p:cNvPr id="27" name="BPS Value 3"/>
          <p:cNvSpPr txBox="1"/>
          <p:nvPr/>
        </p:nvSpPr>
        <p:spPr>
          <a:xfrm>
            <a:off x="6896100" y="3960901"/>
            <a:ext cx="514350" cy="123825"/>
          </a:xfrm>
          <a:prstGeom prst="rect">
            <a:avLst/>
          </a:prstGeom>
          <a:noFill/>
        </p:spPr>
        <p:txBody>
          <a:bodyPr wrap="none" lIns="0" rIns="0" tIns="0" bIns="0" anchor="ctr">
            <a:spAutoFit/>
          </a:bodyPr>
          <a:lstStyle/>
          <a:p>
            <a:pPr algn="r"/>
            <a:r>
              <a:rPr sz="900" b="1">
                <a:solidFill>
                  <a:srgbClr val="E44D3A"/>
                </a:solidFill>
                <a:latin typeface="Calibri"/>
              </a:rPr>
              <a:t>-125</a:t>
            </a:r>
          </a:p>
        </p:txBody>
      </p:sp>
      <p:sp>
        <p:nvSpPr>
          <p:cNvPr id="28" name="FMI Legend Chip"/>
          <p:cNvSpPr/>
          <p:nvPr/>
        </p:nvSpPr>
        <p:spPr>
          <a:xfrm>
            <a:off x="4928997" y="5478314"/>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a:off x="5090922" y="547355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4"/>
          <p:cNvSpPr txBox="1"/>
          <p:nvPr/>
        </p:nvSpPr>
        <p:spPr>
          <a:xfrm>
            <a:off x="5233797" y="539735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High-Barrier Films</a:t>
            </a:r>
          </a:p>
        </p:txBody>
      </p:sp>
      <p:sp>
        <p:nvSpPr>
          <p:cNvPr id="31" name="BPS Value 4"/>
          <p:cNvSpPr txBox="1"/>
          <p:nvPr/>
        </p:nvSpPr>
        <p:spPr>
          <a:xfrm>
            <a:off x="6896100" y="5459264"/>
            <a:ext cx="514350" cy="123825"/>
          </a:xfrm>
          <a:prstGeom prst="rect">
            <a:avLst/>
          </a:prstGeom>
          <a:noFill/>
        </p:spPr>
        <p:txBody>
          <a:bodyPr wrap="none" lIns="0" rIns="0" tIns="0" bIns="0" anchor="ctr">
            <a:spAutoFit/>
          </a:bodyPr>
          <a:lstStyle/>
          <a:p>
            <a:pPr algn="r"/>
            <a:r>
              <a:rPr sz="900" b="1">
                <a:solidFill>
                  <a:srgbClr val="2E7D32"/>
                </a:solidFill>
                <a:latin typeface="Calibri"/>
              </a:rPr>
              <a:t>+135</a:t>
            </a:r>
          </a:p>
        </p:txBody>
      </p:sp>
      <p:sp>
        <p:nvSpPr>
          <p:cNvPr id="32" name="Rounded Rectangle 31"/>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Barrier Level Vs Application</a:t>
            </a:r>
          </a:p>
        </p:txBody>
      </p:sp>
      <p:sp>
        <p:nvSpPr>
          <p:cNvPr id="34" name="Rectangle 33"/>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Among flexible plastic packaging by barrier level vs application, high-barrier films segment is expected to witness the highest CAGR of 7.0% over the forecast period. In terms of value share by barrier level vs application, the high-barrier films segment is expected to dominate the market, gaining 135 BPS and accounting for 33.5% share by 2036.</a:t>
            </a:r>
          </a:p>
          <a:p>
            <a:pPr algn="l">
              <a:lnSpc>
                <a:spcPct val="110000"/>
              </a:lnSpc>
              <a:spcBef>
                <a:spcPts val="0"/>
              </a:spcBef>
              <a:spcAft>
                <a:spcPts val="500"/>
              </a:spcAft>
            </a:pPr>
            <a:r>
              <a:rPr sz="1150" b="0">
                <a:solidFill>
                  <a:srgbClr val="2E2E2E"/>
                </a:solidFill>
                <a:latin typeface="Calibri"/>
              </a:rPr>
              <a:t>The medium-barrier films segment is expected to lose 125 BPS over the forecast period to account for 32.1% share by 2036.</a:t>
            </a:r>
          </a:p>
          <a:p>
            <a:pPr algn="l">
              <a:lnSpc>
                <a:spcPct val="110000"/>
              </a:lnSpc>
              <a:spcBef>
                <a:spcPts val="0"/>
              </a:spcBef>
              <a:spcAft>
                <a:spcPts val="500"/>
              </a:spcAft>
            </a:pPr>
            <a:r>
              <a:rPr sz="1150" b="0">
                <a:solidFill>
                  <a:srgbClr val="2E2E2E"/>
                </a:solidFill>
                <a:latin typeface="Calibri"/>
              </a:rPr>
              <a:t>High-Barrier Films grows fastest at a 7.0% CAGR against 6.6% for the market because protein, ready meals and e-commerce-delivered food need longer shelf life and lower spoilage. The slowest part, Medium-Barrier Films, grows at 6.1% as demand polarises between cost-led low-barrier grades and performance-led high-barrier grades. Brand-owner sustainability targets and rising processed-food consumption set the pattern across regions.</a:t>
            </a:r>
          </a:p>
        </p:txBody>
      </p:sp>
      <p:sp>
        <p:nvSpPr>
          <p:cNvPr id="36" name="TextBox 3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YoY Analysis of Global Market Volume, By Barrier Level Vs Application (%)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Year-on-year volume growth by Barrier Level Vs Application, 2022–2036, highlighting acceleration and slowdown</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3267075"/>
          </a:xfrm>
          <a:prstGeom prst="roundRect">
            <a:avLst>
              <a:gd name="adj" fmla="val 233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YoY Growth, By Barrier Level Vs Application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3" name="Table 12"/>
          <p:cNvGraphicFramePr>
            <a:graphicFrameLocks noGrp="1"/>
          </p:cNvGraphicFramePr>
          <p:nvPr/>
        </p:nvGraphicFramePr>
        <p:xfrm>
          <a:off x="152400" y="1238250"/>
          <a:ext cx="11887206" cy="2800353"/>
        </p:xfrm>
        <a:graphic>
          <a:graphicData uri="http://schemas.openxmlformats.org/drawingml/2006/table">
            <a:tbl>
              <a:tblPr>
                <a:tableStyleId>{5C22544A-7EE6-4342-B048-85BDC9FD1C3A}</a:tableStyleId>
              </a:tblPr>
              <a:tblGrid>
                <a:gridCol w="2041401"/>
                <a:gridCol w="656387"/>
                <a:gridCol w="656387"/>
                <a:gridCol w="656387"/>
                <a:gridCol w="656387"/>
                <a:gridCol w="656387"/>
                <a:gridCol w="656387"/>
                <a:gridCol w="656387"/>
                <a:gridCol w="656387"/>
                <a:gridCol w="656387"/>
                <a:gridCol w="656387"/>
                <a:gridCol w="656387"/>
                <a:gridCol w="656387"/>
                <a:gridCol w="656387"/>
                <a:gridCol w="656387"/>
                <a:gridCol w="656387"/>
              </a:tblGrid>
              <a:tr h="215265">
                <a:tc>
                  <a:txBody>
                    <a:bodyPr wrap="none"/>
                    <a:lstStyle/>
                    <a:p>
                      <a:pPr algn="l"/>
                      <a:r>
                        <a:rPr sz="1100" b="1">
                          <a:solidFill>
                            <a:srgbClr val="0B2E4A"/>
                          </a:solidFill>
                          <a:latin typeface="Calibri"/>
                        </a:rPr>
                        <a:t>Barrier Level Vs Application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2036F</a:t>
                      </a:r>
                      <a:endParaRPr sz="1100"/>
                    </a:p>
                  </a:txBody>
                  <a:tcPr marL="47625" marR="38100" marT="19050" marB="19050" anchor="ctr">
                    <a:solidFill>
                      <a:srgbClr val="E0E8EF"/>
                    </a:solidFill>
                  </a:tcPr>
                </a:tc>
              </a:tr>
              <a:tr h="215424">
                <a:tc>
                  <a:txBody>
                    <a:bodyPr wrap="none"/>
                    <a:lstStyle/>
                    <a:p>
                      <a:pPr algn="l"/>
                      <a:r>
                        <a:rPr sz="1100" b="1">
                          <a:solidFill>
                            <a:srgbClr val="2E2E2E"/>
                          </a:solidFill>
                          <a:latin typeface="Calibri"/>
                        </a:rPr>
                        <a:t>Low-Barrier Films</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4.6%</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FFFFF"/>
                    </a:solidFill>
                  </a:tcPr>
                </a:tc>
              </a:tr>
              <a:tr h="215424">
                <a:tc>
                  <a:txBody>
                    <a:bodyPr wrap="none"/>
                    <a:lstStyle/>
                    <a:p>
                      <a:pPr algn="l"/>
                      <a:r>
                        <a:rPr sz="1100" b="1">
                          <a:solidFill>
                            <a:srgbClr val="2E2E2E"/>
                          </a:solidFill>
                          <a:latin typeface="Calibri"/>
                        </a:rPr>
                        <a:t>– Food Packaging</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5F8FA"/>
                    </a:solidFill>
                  </a:tcPr>
                </a:tc>
              </a:tr>
              <a:tr h="215424">
                <a:tc>
                  <a:txBody>
                    <a:bodyPr wrap="none"/>
                    <a:lstStyle/>
                    <a:p>
                      <a:pPr algn="l"/>
                      <a:r>
                        <a:rPr sz="1100" b="1">
                          <a:solidFill>
                            <a:srgbClr val="2E2E2E"/>
                          </a:solidFill>
                          <a:latin typeface="Calibri"/>
                        </a:rPr>
                        <a:t>– Non-Food Packaging</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4.6%</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FFFFF"/>
                    </a:solidFill>
                  </a:tcPr>
                </a:tc>
              </a:tr>
              <a:tr h="215424">
                <a:tc>
                  <a:txBody>
                    <a:bodyPr wrap="none"/>
                    <a:lstStyle/>
                    <a:p>
                      <a:pPr algn="l"/>
                      <a:r>
                        <a:rPr sz="1100" b="1">
                          <a:solidFill>
                            <a:srgbClr val="2E2E2E"/>
                          </a:solidFill>
                          <a:latin typeface="Calibri"/>
                        </a:rPr>
                        <a:t>Medium-Barrier Films</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4.8%</a:t>
                      </a:r>
                      <a:endParaRPr sz="1100"/>
                    </a:p>
                  </a:txBody>
                  <a:tcPr marL="47625" marR="38100" marT="19050" marB="19050" anchor="ctr">
                    <a:solidFill>
                      <a:srgbClr val="F5F8FA"/>
                    </a:solidFill>
                  </a:tcPr>
                </a:tc>
              </a:tr>
              <a:tr h="215424">
                <a:tc>
                  <a:txBody>
                    <a:bodyPr wrap="none"/>
                    <a:lstStyle/>
                    <a:p>
                      <a:pPr algn="l"/>
                      <a:r>
                        <a:rPr sz="1100" b="1">
                          <a:solidFill>
                            <a:srgbClr val="2E2E2E"/>
                          </a:solidFill>
                          <a:latin typeface="Calibri"/>
                        </a:rPr>
                        <a:t>– Food Packaging </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3.7%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3.7%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3.7%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3.8%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FFFFF"/>
                    </a:solidFill>
                  </a:tcPr>
                </a:tc>
              </a:tr>
              <a:tr h="215424">
                <a:tc>
                  <a:txBody>
                    <a:bodyPr wrap="none"/>
                    <a:lstStyle/>
                    <a:p>
                      <a:pPr algn="l"/>
                      <a:r>
                        <a:rPr sz="1100" b="1">
                          <a:solidFill>
                            <a:srgbClr val="2E2E2E"/>
                          </a:solidFill>
                          <a:latin typeface="Calibri"/>
                        </a:rPr>
                        <a:t>– Non-Food Packaging </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4.8%</a:t>
                      </a:r>
                      <a:endParaRPr sz="1100"/>
                    </a:p>
                  </a:txBody>
                  <a:tcPr marL="47625" marR="38100" marT="19050" marB="19050" anchor="ctr">
                    <a:solidFill>
                      <a:srgbClr val="F5F8FA"/>
                    </a:solidFill>
                  </a:tcPr>
                </a:tc>
              </a:tr>
              <a:tr h="215424">
                <a:tc>
                  <a:txBody>
                    <a:bodyPr wrap="none"/>
                    <a:lstStyle/>
                    <a:p>
                      <a:pPr algn="l"/>
                      <a:r>
                        <a:rPr sz="1100" b="1">
                          <a:solidFill>
                            <a:srgbClr val="2E2E2E"/>
                          </a:solidFill>
                          <a:latin typeface="Calibri"/>
                        </a:rPr>
                        <a:t>High-Barrier Films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6.0%</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6.0%</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r>
              <a:tr h="215424">
                <a:tc>
                  <a:txBody>
                    <a:bodyPr wrap="none"/>
                    <a:lstStyle/>
                    <a:p>
                      <a:pPr algn="l"/>
                      <a:r>
                        <a:rPr sz="1100" b="1">
                          <a:solidFill>
                            <a:srgbClr val="2E2E2E"/>
                          </a:solidFill>
                          <a:latin typeface="Calibri"/>
                        </a:rPr>
                        <a:t>– Food Packaging  </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4.3%</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5F8FA"/>
                    </a:solidFill>
                  </a:tcPr>
                </a:tc>
              </a:tr>
              <a:tr h="215424">
                <a:tc>
                  <a:txBody>
                    <a:bodyPr wrap="none"/>
                    <a:lstStyle/>
                    <a:p>
                      <a:pPr algn="l"/>
                      <a:r>
                        <a:rPr sz="1100" b="1">
                          <a:solidFill>
                            <a:srgbClr val="2E2E2E"/>
                          </a:solidFill>
                          <a:latin typeface="Calibri"/>
                        </a:rPr>
                        <a:t>– Non-Food Packaging  </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FFFFF"/>
                    </a:solidFill>
                  </a:tcPr>
                </a:tc>
              </a:tr>
              <a:tr h="215424">
                <a:tc>
                  <a:txBody>
                    <a:bodyPr wrap="none"/>
                    <a:lstStyle/>
                    <a:p>
                      <a:pPr algn="l"/>
                      <a:r>
                        <a:rPr sz="1100" b="1">
                          <a:solidFill>
                            <a:srgbClr val="2E2E2E"/>
                          </a:solidFill>
                          <a:latin typeface="Calibri"/>
                        </a:rPr>
                        <a:t>Ultra-High-Barrier Films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5F8FA"/>
                    </a:solidFill>
                  </a:tcPr>
                </a:tc>
              </a:tr>
              <a:tr h="215424">
                <a:tc>
                  <a:txBody>
                    <a:bodyPr wrap="none"/>
                    <a:lstStyle/>
                    <a:p>
                      <a:pPr algn="l"/>
                      <a:r>
                        <a:rPr sz="1100" b="1">
                          <a:solidFill>
                            <a:srgbClr val="2E2E2E"/>
                          </a:solidFill>
                          <a:latin typeface="Calibri"/>
                        </a:rPr>
                        <a:t>– Food Packaging   </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5.0%</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FFFFF"/>
                    </a:solidFill>
                  </a:tcPr>
                </a:tc>
              </a:tr>
              <a:tr h="215424">
                <a:tc>
                  <a:txBody>
                    <a:bodyPr wrap="none"/>
                    <a:lstStyle/>
                    <a:p>
                      <a:pPr algn="l"/>
                      <a:r>
                        <a:rPr sz="1100" b="1">
                          <a:solidFill>
                            <a:srgbClr val="2E2E2E"/>
                          </a:solidFill>
                          <a:latin typeface="Calibri"/>
                        </a:rPr>
                        <a:t>– Non-Food Packaging   </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40481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YoY Analysis of Global Market Volume, By Barrier Level Vs Application (%)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Year-on-year volume growth by Barrier Level Vs Application, 2022–2036, highlighting acceleration and slowdown</a:t>
            </a:r>
          </a:p>
        </p:txBody>
      </p:sp>
      <p:sp>
        <p:nvSpPr>
          <p:cNvPr id="10" name="Rounded Rectangle 9"/>
          <p:cNvSpPr/>
          <p:nvPr/>
        </p:nvSpPr>
        <p:spPr>
          <a:xfrm>
            <a:off x="142875" y="981075"/>
            <a:ext cx="11906250"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YoY Heatmap, By Barrier Level Vs Application (%)  ·  light = lower, dark = higher growth</a:t>
            </a:r>
          </a:p>
        </p:txBody>
      </p:sp>
      <p:sp>
        <p:nvSpPr>
          <p:cNvPr id="12" name="TextBox 11"/>
          <p:cNvSpPr txBox="1"/>
          <p:nvPr/>
        </p:nvSpPr>
        <p:spPr>
          <a:xfrm>
            <a:off x="185737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2022</a:t>
            </a:r>
          </a:p>
        </p:txBody>
      </p:sp>
      <p:sp>
        <p:nvSpPr>
          <p:cNvPr id="13" name="TextBox 12"/>
          <p:cNvSpPr txBox="1"/>
          <p:nvPr/>
        </p:nvSpPr>
        <p:spPr>
          <a:xfrm>
            <a:off x="250126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2023</a:t>
            </a:r>
          </a:p>
        </p:txBody>
      </p:sp>
      <p:sp>
        <p:nvSpPr>
          <p:cNvPr id="14" name="TextBox 13"/>
          <p:cNvSpPr txBox="1"/>
          <p:nvPr/>
        </p:nvSpPr>
        <p:spPr>
          <a:xfrm>
            <a:off x="314515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2024</a:t>
            </a:r>
          </a:p>
        </p:txBody>
      </p:sp>
      <p:sp>
        <p:nvSpPr>
          <p:cNvPr id="15" name="TextBox 14"/>
          <p:cNvSpPr txBox="1"/>
          <p:nvPr/>
        </p:nvSpPr>
        <p:spPr>
          <a:xfrm>
            <a:off x="378904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2025</a:t>
            </a:r>
          </a:p>
        </p:txBody>
      </p:sp>
      <p:sp>
        <p:nvSpPr>
          <p:cNvPr id="16" name="TextBox 15"/>
          <p:cNvSpPr txBox="1"/>
          <p:nvPr/>
        </p:nvSpPr>
        <p:spPr>
          <a:xfrm>
            <a:off x="443293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2026</a:t>
            </a:r>
          </a:p>
        </p:txBody>
      </p:sp>
      <p:sp>
        <p:nvSpPr>
          <p:cNvPr id="17" name="TextBox 16"/>
          <p:cNvSpPr txBox="1"/>
          <p:nvPr/>
        </p:nvSpPr>
        <p:spPr>
          <a:xfrm>
            <a:off x="507682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2027</a:t>
            </a:r>
          </a:p>
        </p:txBody>
      </p:sp>
      <p:sp>
        <p:nvSpPr>
          <p:cNvPr id="18" name="TextBox 17"/>
          <p:cNvSpPr txBox="1"/>
          <p:nvPr/>
        </p:nvSpPr>
        <p:spPr>
          <a:xfrm>
            <a:off x="572071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2028</a:t>
            </a:r>
          </a:p>
        </p:txBody>
      </p:sp>
      <p:sp>
        <p:nvSpPr>
          <p:cNvPr id="19" name="TextBox 18"/>
          <p:cNvSpPr txBox="1"/>
          <p:nvPr/>
        </p:nvSpPr>
        <p:spPr>
          <a:xfrm>
            <a:off x="636460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2029</a:t>
            </a:r>
          </a:p>
        </p:txBody>
      </p:sp>
      <p:sp>
        <p:nvSpPr>
          <p:cNvPr id="20" name="TextBox 19"/>
          <p:cNvSpPr txBox="1"/>
          <p:nvPr/>
        </p:nvSpPr>
        <p:spPr>
          <a:xfrm>
            <a:off x="700849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2030</a:t>
            </a:r>
          </a:p>
        </p:txBody>
      </p:sp>
      <p:sp>
        <p:nvSpPr>
          <p:cNvPr id="21" name="TextBox 20"/>
          <p:cNvSpPr txBox="1"/>
          <p:nvPr/>
        </p:nvSpPr>
        <p:spPr>
          <a:xfrm>
            <a:off x="765238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2031</a:t>
            </a:r>
          </a:p>
        </p:txBody>
      </p:sp>
      <p:sp>
        <p:nvSpPr>
          <p:cNvPr id="22" name="TextBox 21"/>
          <p:cNvSpPr txBox="1"/>
          <p:nvPr/>
        </p:nvSpPr>
        <p:spPr>
          <a:xfrm>
            <a:off x="829627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2032</a:t>
            </a:r>
          </a:p>
        </p:txBody>
      </p:sp>
      <p:sp>
        <p:nvSpPr>
          <p:cNvPr id="23" name="TextBox 22"/>
          <p:cNvSpPr txBox="1"/>
          <p:nvPr/>
        </p:nvSpPr>
        <p:spPr>
          <a:xfrm>
            <a:off x="894016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2033</a:t>
            </a:r>
          </a:p>
        </p:txBody>
      </p:sp>
      <p:sp>
        <p:nvSpPr>
          <p:cNvPr id="24" name="TextBox 23"/>
          <p:cNvSpPr txBox="1"/>
          <p:nvPr/>
        </p:nvSpPr>
        <p:spPr>
          <a:xfrm>
            <a:off x="958405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2034</a:t>
            </a:r>
          </a:p>
        </p:txBody>
      </p:sp>
      <p:sp>
        <p:nvSpPr>
          <p:cNvPr id="25" name="TextBox 24"/>
          <p:cNvSpPr txBox="1"/>
          <p:nvPr/>
        </p:nvSpPr>
        <p:spPr>
          <a:xfrm>
            <a:off x="1022794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2035</a:t>
            </a:r>
          </a:p>
        </p:txBody>
      </p:sp>
      <p:sp>
        <p:nvSpPr>
          <p:cNvPr id="26" name="TextBox 25"/>
          <p:cNvSpPr txBox="1"/>
          <p:nvPr/>
        </p:nvSpPr>
        <p:spPr>
          <a:xfrm>
            <a:off x="1087183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2036</a:t>
            </a:r>
          </a:p>
        </p:txBody>
      </p:sp>
      <p:sp>
        <p:nvSpPr>
          <p:cNvPr id="27" name="TextBox 26"/>
          <p:cNvSpPr txBox="1"/>
          <p:nvPr/>
        </p:nvSpPr>
        <p:spPr>
          <a:xfrm>
            <a:off x="238125" y="1409700"/>
            <a:ext cx="1590675" cy="430212"/>
          </a:xfrm>
          <a:prstGeom prst="rect">
            <a:avLst/>
          </a:prstGeom>
          <a:noFill/>
        </p:spPr>
        <p:txBody>
          <a:bodyPr wrap="square" lIns="28575" rIns="28575" tIns="9525" bIns="9525" anchor="ctr">
            <a:spAutoFit/>
          </a:bodyPr>
          <a:lstStyle/>
          <a:p>
            <a:pPr algn="l"/>
            <a:r>
              <a:rPr sz="1100" b="0">
                <a:solidFill>
                  <a:srgbClr val="2E2E2E"/>
                </a:solidFill>
                <a:latin typeface="Calibri"/>
              </a:rPr>
              <a:t>Low-Barrier Films</a:t>
            </a:r>
          </a:p>
        </p:txBody>
      </p:sp>
      <p:sp>
        <p:nvSpPr>
          <p:cNvPr id="28" name="Rectangle 27"/>
          <p:cNvSpPr/>
          <p:nvPr/>
        </p:nvSpPr>
        <p:spPr>
          <a:xfrm>
            <a:off x="1857375" y="1409700"/>
            <a:ext cx="643890" cy="430212"/>
          </a:xfrm>
          <a:prstGeom prst="rect">
            <a:avLst/>
          </a:prstGeom>
          <a:solidFill>
            <a:srgbClr val="E7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01265" y="1409700"/>
            <a:ext cx="643890" cy="430212"/>
          </a:xfrm>
          <a:prstGeom prst="rect">
            <a:avLst/>
          </a:prstGeom>
          <a:solidFill>
            <a:srgbClr val="E4F1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145155" y="1409700"/>
            <a:ext cx="643890" cy="430212"/>
          </a:xfrm>
          <a:prstGeom prst="rect">
            <a:avLst/>
          </a:prstGeom>
          <a:solidFill>
            <a:srgbClr val="E2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789045" y="1409700"/>
            <a:ext cx="643890" cy="430212"/>
          </a:xfrm>
          <a:prstGeom prst="rect">
            <a:avLst/>
          </a:prstGeom>
          <a:solidFill>
            <a:srgbClr val="DBEA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432935" y="1409700"/>
            <a:ext cx="643890" cy="430212"/>
          </a:xfrm>
          <a:prstGeom prst="rect">
            <a:avLst/>
          </a:prstGeom>
          <a:solidFill>
            <a:srgbClr val="CBDD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76825" y="1409700"/>
            <a:ext cx="643890" cy="430212"/>
          </a:xfrm>
          <a:prstGeom prst="rect">
            <a:avLst/>
          </a:prstGeom>
          <a:solidFill>
            <a:srgbClr val="B2CF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720715" y="1409700"/>
            <a:ext cx="643890" cy="430212"/>
          </a:xfrm>
          <a:prstGeom prst="rect">
            <a:avLst/>
          </a:prstGeom>
          <a:solidFill>
            <a:srgbClr val="95BE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364605" y="1409700"/>
            <a:ext cx="643890" cy="430212"/>
          </a:xfrm>
          <a:prstGeom prst="rect">
            <a:avLst/>
          </a:prstGeom>
          <a:solidFill>
            <a:srgbClr val="6AA7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08495" y="1409700"/>
            <a:ext cx="643890" cy="430212"/>
          </a:xfrm>
          <a:prstGeom prst="rect">
            <a:avLst/>
          </a:prstGeom>
          <a:solidFill>
            <a:srgbClr val="3F90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652385" y="1409700"/>
            <a:ext cx="643890" cy="430212"/>
          </a:xfrm>
          <a:prstGeom prst="rect">
            <a:avLst/>
          </a:prstGeom>
          <a:solidFill>
            <a:srgbClr val="2F86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296275" y="1409700"/>
            <a:ext cx="643890" cy="430212"/>
          </a:xfrm>
          <a:prstGeom prst="rect">
            <a:avLst/>
          </a:prstGeom>
          <a:solidFill>
            <a:srgbClr val="2983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940165" y="1409700"/>
            <a:ext cx="643890" cy="430212"/>
          </a:xfrm>
          <a:prstGeom prst="rect">
            <a:avLst/>
          </a:prstGeom>
          <a:solidFill>
            <a:srgbClr val="3187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584055" y="1409700"/>
            <a:ext cx="643890" cy="430212"/>
          </a:xfrm>
          <a:prstGeom prst="rect">
            <a:avLst/>
          </a:prstGeom>
          <a:solidFill>
            <a:srgbClr val="3C8E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227945" y="1409700"/>
            <a:ext cx="643890" cy="430212"/>
          </a:xfrm>
          <a:prstGeom prst="rect">
            <a:avLst/>
          </a:prstGeom>
          <a:solidFill>
            <a:srgbClr val="589DC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871835" y="1409700"/>
            <a:ext cx="643890" cy="430212"/>
          </a:xfrm>
          <a:prstGeom prst="rect">
            <a:avLst/>
          </a:prstGeom>
          <a:solidFill>
            <a:srgbClr val="74ACD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38125" y="1839912"/>
            <a:ext cx="1590675" cy="430212"/>
          </a:xfrm>
          <a:prstGeom prst="rect">
            <a:avLst/>
          </a:prstGeom>
          <a:noFill/>
        </p:spPr>
        <p:txBody>
          <a:bodyPr wrap="square" lIns="28575" rIns="28575" tIns="9525" bIns="9525" anchor="ctr">
            <a:spAutoFit/>
          </a:bodyPr>
          <a:lstStyle/>
          <a:p>
            <a:pPr algn="l"/>
            <a:r>
              <a:rPr sz="1100" b="0">
                <a:solidFill>
                  <a:srgbClr val="2E2E2E"/>
                </a:solidFill>
                <a:latin typeface="Calibri"/>
              </a:rPr>
              <a:t>– Food Packaging</a:t>
            </a:r>
          </a:p>
        </p:txBody>
      </p:sp>
      <p:sp>
        <p:nvSpPr>
          <p:cNvPr id="44" name="Rectangle 43"/>
          <p:cNvSpPr/>
          <p:nvPr/>
        </p:nvSpPr>
        <p:spPr>
          <a:xfrm>
            <a:off x="1857375" y="1839912"/>
            <a:ext cx="643890" cy="430212"/>
          </a:xfrm>
          <a:prstGeom prst="rect">
            <a:avLst/>
          </a:prstGeom>
          <a:solidFill>
            <a:srgbClr val="E7F3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501265" y="1839912"/>
            <a:ext cx="643890" cy="430212"/>
          </a:xfrm>
          <a:prstGeom prst="rect">
            <a:avLst/>
          </a:prstGeom>
          <a:solidFill>
            <a:srgbClr val="E4F1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145155" y="1839912"/>
            <a:ext cx="643890" cy="430212"/>
          </a:xfrm>
          <a:prstGeom prst="rect">
            <a:avLst/>
          </a:prstGeom>
          <a:solidFill>
            <a:srgbClr val="E2EF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789045" y="1839912"/>
            <a:ext cx="643890" cy="430212"/>
          </a:xfrm>
          <a:prstGeom prst="rect">
            <a:avLst/>
          </a:prstGeom>
          <a:solidFill>
            <a:srgbClr val="DBEA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432935" y="1839912"/>
            <a:ext cx="643890" cy="430212"/>
          </a:xfrm>
          <a:prstGeom prst="rect">
            <a:avLst/>
          </a:prstGeom>
          <a:solidFill>
            <a:srgbClr val="CCDE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076825" y="1839912"/>
            <a:ext cx="643890" cy="430212"/>
          </a:xfrm>
          <a:prstGeom prst="rect">
            <a:avLst/>
          </a:prstGeom>
          <a:solidFill>
            <a:srgbClr val="B2CF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720715" y="1839912"/>
            <a:ext cx="643890" cy="430212"/>
          </a:xfrm>
          <a:prstGeom prst="rect">
            <a:avLst/>
          </a:prstGeom>
          <a:solidFill>
            <a:srgbClr val="94BE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364605" y="1839912"/>
            <a:ext cx="643890" cy="430212"/>
          </a:xfrm>
          <a:prstGeom prst="rect">
            <a:avLst/>
          </a:prstGeom>
          <a:solidFill>
            <a:srgbClr val="67A5C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008495" y="1839912"/>
            <a:ext cx="643890" cy="430212"/>
          </a:xfrm>
          <a:prstGeom prst="rect">
            <a:avLst/>
          </a:prstGeom>
          <a:solidFill>
            <a:srgbClr val="3D8E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652385" y="1839912"/>
            <a:ext cx="643890" cy="430212"/>
          </a:xfrm>
          <a:prstGeom prst="rect">
            <a:avLst/>
          </a:prstGeom>
          <a:solidFill>
            <a:srgbClr val="2D85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296275" y="1839912"/>
            <a:ext cx="643890" cy="430212"/>
          </a:xfrm>
          <a:prstGeom prst="rect">
            <a:avLst/>
          </a:prstGeom>
          <a:solidFill>
            <a:srgbClr val="2882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940165" y="1839912"/>
            <a:ext cx="643890" cy="430212"/>
          </a:xfrm>
          <a:prstGeom prst="rect">
            <a:avLst/>
          </a:prstGeom>
          <a:solidFill>
            <a:srgbClr val="3086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584055" y="1839912"/>
            <a:ext cx="643890" cy="430212"/>
          </a:xfrm>
          <a:prstGeom prst="rect">
            <a:avLst/>
          </a:prstGeom>
          <a:solidFill>
            <a:srgbClr val="3A8D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227945" y="1839912"/>
            <a:ext cx="643890" cy="430212"/>
          </a:xfrm>
          <a:prstGeom prst="rect">
            <a:avLst/>
          </a:prstGeom>
          <a:solidFill>
            <a:srgbClr val="559BC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0871835" y="1839912"/>
            <a:ext cx="643890" cy="430212"/>
          </a:xfrm>
          <a:prstGeom prst="rect">
            <a:avLst/>
          </a:prstGeom>
          <a:solidFill>
            <a:srgbClr val="71ABD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38125" y="2270125"/>
            <a:ext cx="1590675" cy="430212"/>
          </a:xfrm>
          <a:prstGeom prst="rect">
            <a:avLst/>
          </a:prstGeom>
          <a:noFill/>
        </p:spPr>
        <p:txBody>
          <a:bodyPr wrap="square" lIns="28575" rIns="28575" tIns="9525" bIns="9525" anchor="ctr">
            <a:spAutoFit/>
          </a:bodyPr>
          <a:lstStyle/>
          <a:p>
            <a:pPr algn="l"/>
            <a:r>
              <a:rPr sz="1100" b="0">
                <a:solidFill>
                  <a:srgbClr val="2E2E2E"/>
                </a:solidFill>
                <a:latin typeface="Calibri"/>
              </a:rPr>
              <a:t>– Non-Food Packaging</a:t>
            </a:r>
          </a:p>
        </p:txBody>
      </p:sp>
      <p:sp>
        <p:nvSpPr>
          <p:cNvPr id="60" name="Rectangle 59"/>
          <p:cNvSpPr/>
          <p:nvPr/>
        </p:nvSpPr>
        <p:spPr>
          <a:xfrm>
            <a:off x="1857375" y="2270125"/>
            <a:ext cx="643890" cy="430212"/>
          </a:xfrm>
          <a:prstGeom prst="rect">
            <a:avLst/>
          </a:prstGeom>
          <a:solidFill>
            <a:srgbClr val="E9F5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501265" y="2270125"/>
            <a:ext cx="643890" cy="430212"/>
          </a:xfrm>
          <a:prstGeom prst="rect">
            <a:avLst/>
          </a:prstGeom>
          <a:solidFill>
            <a:srgbClr val="E5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3145155" y="2270125"/>
            <a:ext cx="643890" cy="430212"/>
          </a:xfrm>
          <a:prstGeom prst="rect">
            <a:avLst/>
          </a:prstGeom>
          <a:solidFill>
            <a:srgbClr val="E0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3789045" y="2270125"/>
            <a:ext cx="643890" cy="430212"/>
          </a:xfrm>
          <a:prstGeom prst="rect">
            <a:avLst/>
          </a:prstGeom>
          <a:solidFill>
            <a:srgbClr val="D8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432935" y="2270125"/>
            <a:ext cx="643890" cy="430212"/>
          </a:xfrm>
          <a:prstGeom prst="rect">
            <a:avLst/>
          </a:prstGeom>
          <a:solidFill>
            <a:srgbClr val="C7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076825" y="2270125"/>
            <a:ext cx="643890" cy="430212"/>
          </a:xfrm>
          <a:prstGeom prst="rect">
            <a:avLst/>
          </a:prstGeom>
          <a:solidFill>
            <a:srgbClr val="B1CE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5720715" y="2270125"/>
            <a:ext cx="643890" cy="430212"/>
          </a:xfrm>
          <a:prstGeom prst="rect">
            <a:avLst/>
          </a:prstGeom>
          <a:solidFill>
            <a:srgbClr val="99C1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364605" y="2270125"/>
            <a:ext cx="643890" cy="430212"/>
          </a:xfrm>
          <a:prstGeom prst="rect">
            <a:avLst/>
          </a:prstGeom>
          <a:solidFill>
            <a:srgbClr val="79AFD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7008495" y="2270125"/>
            <a:ext cx="643890" cy="430212"/>
          </a:xfrm>
          <a:prstGeom prst="rect">
            <a:avLst/>
          </a:prstGeom>
          <a:solidFill>
            <a:srgbClr val="5099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7652385" y="2270125"/>
            <a:ext cx="643890" cy="430212"/>
          </a:xfrm>
          <a:prstGeom prst="rect">
            <a:avLst/>
          </a:prstGeom>
          <a:solidFill>
            <a:srgbClr val="378B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8296275" y="2270125"/>
            <a:ext cx="643890" cy="430212"/>
          </a:xfrm>
          <a:prstGeom prst="rect">
            <a:avLst/>
          </a:prstGeom>
          <a:solidFill>
            <a:srgbClr val="3086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8940165" y="2270125"/>
            <a:ext cx="643890" cy="430212"/>
          </a:xfrm>
          <a:prstGeom prst="rect">
            <a:avLst/>
          </a:prstGeom>
          <a:solidFill>
            <a:srgbClr val="398C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9584055" y="2270125"/>
            <a:ext cx="643890" cy="430212"/>
          </a:xfrm>
          <a:prstGeom prst="rect">
            <a:avLst/>
          </a:prstGeom>
          <a:solidFill>
            <a:srgbClr val="4894C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0227945" y="2270125"/>
            <a:ext cx="643890" cy="430212"/>
          </a:xfrm>
          <a:prstGeom prst="rect">
            <a:avLst/>
          </a:prstGeom>
          <a:solidFill>
            <a:srgbClr val="65A4C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0871835" y="2270125"/>
            <a:ext cx="643890" cy="430212"/>
          </a:xfrm>
          <a:prstGeom prst="rect">
            <a:avLst/>
          </a:prstGeom>
          <a:solidFill>
            <a:srgbClr val="82B4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38125" y="2700338"/>
            <a:ext cx="1590675" cy="430212"/>
          </a:xfrm>
          <a:prstGeom prst="rect">
            <a:avLst/>
          </a:prstGeom>
          <a:noFill/>
        </p:spPr>
        <p:txBody>
          <a:bodyPr wrap="square" lIns="28575" rIns="28575" tIns="9525" bIns="9525" anchor="ctr">
            <a:spAutoFit/>
          </a:bodyPr>
          <a:lstStyle/>
          <a:p>
            <a:pPr algn="l"/>
            <a:r>
              <a:rPr sz="1100" b="0">
                <a:solidFill>
                  <a:srgbClr val="2E2E2E"/>
                </a:solidFill>
                <a:latin typeface="Calibri"/>
              </a:rPr>
              <a:t>Medium-Barrier Films</a:t>
            </a:r>
          </a:p>
        </p:txBody>
      </p:sp>
      <p:sp>
        <p:nvSpPr>
          <p:cNvPr id="76" name="Rectangle 75"/>
          <p:cNvSpPr/>
          <p:nvPr/>
        </p:nvSpPr>
        <p:spPr>
          <a:xfrm>
            <a:off x="1857375" y="2700338"/>
            <a:ext cx="643890" cy="430212"/>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2501265" y="2700338"/>
            <a:ext cx="643890" cy="430212"/>
          </a:xfrm>
          <a:prstGeom prst="rect">
            <a:avLst/>
          </a:prstGeom>
          <a:solidFill>
            <a:srgbClr val="FCFE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3145155" y="2700338"/>
            <a:ext cx="643890" cy="430212"/>
          </a:xfrm>
          <a:prstGeom prst="rect">
            <a:avLst/>
          </a:prstGeom>
          <a:solidFill>
            <a:srgbClr val="FA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3789045" y="2700338"/>
            <a:ext cx="643890" cy="430212"/>
          </a:xfrm>
          <a:prstGeom prst="rect">
            <a:avLst/>
          </a:prstGeom>
          <a:solidFill>
            <a:srgbClr val="F5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4432935" y="2700338"/>
            <a:ext cx="643890" cy="430212"/>
          </a:xfrm>
          <a:prstGeom prst="rect">
            <a:avLst/>
          </a:prstGeom>
          <a:solidFill>
            <a:srgbClr val="E9F5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5076825" y="2700338"/>
            <a:ext cx="643890" cy="430212"/>
          </a:xfrm>
          <a:prstGeom prst="rect">
            <a:avLst/>
          </a:prstGeom>
          <a:solidFill>
            <a:srgbClr val="DA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5720715" y="2700338"/>
            <a:ext cx="643890" cy="430212"/>
          </a:xfrm>
          <a:prstGeom prst="rect">
            <a:avLst/>
          </a:prstGeom>
          <a:solidFill>
            <a:srgbClr val="C8DC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6364605" y="2700338"/>
            <a:ext cx="643890" cy="430212"/>
          </a:xfrm>
          <a:prstGeom prst="rect">
            <a:avLst/>
          </a:prstGeom>
          <a:solidFill>
            <a:srgbClr val="ACCB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7008495" y="2700338"/>
            <a:ext cx="643890" cy="430212"/>
          </a:xfrm>
          <a:prstGeom prst="rect">
            <a:avLst/>
          </a:prstGeom>
          <a:solidFill>
            <a:srgbClr val="8DBAD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7652385" y="2700338"/>
            <a:ext cx="643890" cy="430212"/>
          </a:xfrm>
          <a:prstGeom prst="rect">
            <a:avLst/>
          </a:prstGeom>
          <a:solidFill>
            <a:srgbClr val="6BA7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8296275" y="2700338"/>
            <a:ext cx="643890" cy="430212"/>
          </a:xfrm>
          <a:prstGeom prst="rect">
            <a:avLst/>
          </a:prstGeom>
          <a:solidFill>
            <a:srgbClr val="559CC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8940165" y="2700338"/>
            <a:ext cx="643890" cy="430212"/>
          </a:xfrm>
          <a:prstGeom prst="rect">
            <a:avLst/>
          </a:prstGeom>
          <a:solidFill>
            <a:srgbClr val="559CC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9584055" y="2700338"/>
            <a:ext cx="643890" cy="430212"/>
          </a:xfrm>
          <a:prstGeom prst="rect">
            <a:avLst/>
          </a:prstGeom>
          <a:solidFill>
            <a:srgbClr val="61A2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10227945" y="2700338"/>
            <a:ext cx="643890" cy="430212"/>
          </a:xfrm>
          <a:prstGeom prst="rect">
            <a:avLst/>
          </a:prstGeom>
          <a:solidFill>
            <a:srgbClr val="7CB1D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10871835" y="2700338"/>
            <a:ext cx="643890" cy="430212"/>
          </a:xfrm>
          <a:prstGeom prst="rect">
            <a:avLst/>
          </a:prstGeom>
          <a:solidFill>
            <a:srgbClr val="94BE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38125" y="3130550"/>
            <a:ext cx="1590675" cy="430212"/>
          </a:xfrm>
          <a:prstGeom prst="rect">
            <a:avLst/>
          </a:prstGeom>
          <a:noFill/>
        </p:spPr>
        <p:txBody>
          <a:bodyPr wrap="square" lIns="28575" rIns="28575" tIns="9525" bIns="9525" anchor="ctr">
            <a:spAutoFit/>
          </a:bodyPr>
          <a:lstStyle/>
          <a:p>
            <a:pPr algn="l"/>
            <a:r>
              <a:rPr sz="1100" b="0">
                <a:solidFill>
                  <a:srgbClr val="2E2E2E"/>
                </a:solidFill>
                <a:latin typeface="Calibri"/>
              </a:rPr>
              <a:t>– Food Packaging </a:t>
            </a:r>
          </a:p>
        </p:txBody>
      </p:sp>
      <p:sp>
        <p:nvSpPr>
          <p:cNvPr id="92" name="Rectangle 91"/>
          <p:cNvSpPr/>
          <p:nvPr/>
        </p:nvSpPr>
        <p:spPr>
          <a:xfrm>
            <a:off x="1857375" y="3130550"/>
            <a:ext cx="643890" cy="430212"/>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2501265" y="3130550"/>
            <a:ext cx="643890" cy="430212"/>
          </a:xfrm>
          <a:prstGeom prst="rect">
            <a:avLst/>
          </a:prstGeom>
          <a:solidFill>
            <a:srgbClr val="FDFE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3145155" y="3130550"/>
            <a:ext cx="643890" cy="430212"/>
          </a:xfrm>
          <a:prstGeom prst="rect">
            <a:avLst/>
          </a:prstGeom>
          <a:solidFill>
            <a:srgbClr val="FB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3789045" y="3130550"/>
            <a:ext cx="643890" cy="430212"/>
          </a:xfrm>
          <a:prstGeom prst="rect">
            <a:avLst/>
          </a:prstGeom>
          <a:solidFill>
            <a:srgbClr val="F6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4432935" y="3130550"/>
            <a:ext cx="643890" cy="430212"/>
          </a:xfrm>
          <a:prstGeom prst="rect">
            <a:avLst/>
          </a:prstGeom>
          <a:solidFill>
            <a:srgbClr val="E9F5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5076825" y="3130550"/>
            <a:ext cx="643890" cy="430212"/>
          </a:xfrm>
          <a:prstGeom prst="rect">
            <a:avLst/>
          </a:prstGeom>
          <a:solidFill>
            <a:srgbClr val="D9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5720715" y="3130550"/>
            <a:ext cx="643890" cy="430212"/>
          </a:xfrm>
          <a:prstGeom prst="rect">
            <a:avLst/>
          </a:prstGeom>
          <a:solidFill>
            <a:srgbClr val="C7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6364605" y="3130550"/>
            <a:ext cx="643890" cy="430212"/>
          </a:xfrm>
          <a:prstGeom prst="rect">
            <a:avLst/>
          </a:prstGeom>
          <a:solidFill>
            <a:srgbClr val="AACA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7008495" y="3130550"/>
            <a:ext cx="643890" cy="430212"/>
          </a:xfrm>
          <a:prstGeom prst="rect">
            <a:avLst/>
          </a:prstGeom>
          <a:solidFill>
            <a:srgbClr val="89B8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7652385" y="3130550"/>
            <a:ext cx="643890" cy="430212"/>
          </a:xfrm>
          <a:prstGeom prst="rect">
            <a:avLst/>
          </a:prstGeom>
          <a:solidFill>
            <a:srgbClr val="68A6C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8296275" y="3130550"/>
            <a:ext cx="643890" cy="430212"/>
          </a:xfrm>
          <a:prstGeom prst="rect">
            <a:avLst/>
          </a:prstGeom>
          <a:solidFill>
            <a:srgbClr val="539AC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8940165" y="3130550"/>
            <a:ext cx="643890" cy="430212"/>
          </a:xfrm>
          <a:prstGeom prst="rect">
            <a:avLst/>
          </a:prstGeom>
          <a:solidFill>
            <a:srgbClr val="539AC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9584055" y="3130550"/>
            <a:ext cx="643890" cy="430212"/>
          </a:xfrm>
          <a:prstGeom prst="rect">
            <a:avLst/>
          </a:prstGeom>
          <a:solidFill>
            <a:srgbClr val="5FA1C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0227945" y="3130550"/>
            <a:ext cx="643890" cy="430212"/>
          </a:xfrm>
          <a:prstGeom prst="rect">
            <a:avLst/>
          </a:prstGeom>
          <a:solidFill>
            <a:srgbClr val="7AB0D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0871835" y="3130550"/>
            <a:ext cx="643890" cy="430212"/>
          </a:xfrm>
          <a:prstGeom prst="rect">
            <a:avLst/>
          </a:prstGeom>
          <a:solidFill>
            <a:srgbClr val="93BD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238125" y="3560762"/>
            <a:ext cx="1590675" cy="430212"/>
          </a:xfrm>
          <a:prstGeom prst="rect">
            <a:avLst/>
          </a:prstGeom>
          <a:noFill/>
        </p:spPr>
        <p:txBody>
          <a:bodyPr wrap="square" lIns="28575" rIns="28575" tIns="9525" bIns="9525" anchor="ctr">
            <a:spAutoFit/>
          </a:bodyPr>
          <a:lstStyle/>
          <a:p>
            <a:pPr algn="l"/>
            <a:r>
              <a:rPr sz="1100" b="0">
                <a:solidFill>
                  <a:srgbClr val="2E2E2E"/>
                </a:solidFill>
                <a:latin typeface="Calibri"/>
              </a:rPr>
              <a:t>– Non-Food Packaging </a:t>
            </a:r>
          </a:p>
        </p:txBody>
      </p:sp>
      <p:sp>
        <p:nvSpPr>
          <p:cNvPr id="108" name="Rectangle 107"/>
          <p:cNvSpPr/>
          <p:nvPr/>
        </p:nvSpPr>
        <p:spPr>
          <a:xfrm>
            <a:off x="1857375" y="3560762"/>
            <a:ext cx="643890" cy="430212"/>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2501265" y="3560762"/>
            <a:ext cx="643890" cy="430212"/>
          </a:xfrm>
          <a:prstGeom prst="rect">
            <a:avLst/>
          </a:prstGeom>
          <a:solidFill>
            <a:srgbClr val="F9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3145155" y="3560762"/>
            <a:ext cx="643890" cy="430212"/>
          </a:xfrm>
          <a:prstGeom prst="rect">
            <a:avLst/>
          </a:prstGeom>
          <a:solidFill>
            <a:srgbClr val="F4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3789045" y="3560762"/>
            <a:ext cx="643890" cy="430212"/>
          </a:xfrm>
          <a:prstGeom prst="rect">
            <a:avLst/>
          </a:prstGeom>
          <a:solidFill>
            <a:srgbClr val="F0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4432935" y="3560762"/>
            <a:ext cx="643890" cy="430212"/>
          </a:xfrm>
          <a:prstGeom prst="rect">
            <a:avLst/>
          </a:prstGeom>
          <a:solidFill>
            <a:srgbClr val="E5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5076825" y="3560762"/>
            <a:ext cx="643890" cy="430212"/>
          </a:xfrm>
          <a:prstGeom prst="rect">
            <a:avLst/>
          </a:prstGeom>
          <a:solidFill>
            <a:srgbClr val="DA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5720715" y="3560762"/>
            <a:ext cx="643890" cy="430212"/>
          </a:xfrm>
          <a:prstGeom prst="rect">
            <a:avLst/>
          </a:prstGeom>
          <a:solidFill>
            <a:srgbClr val="CD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6364605" y="3560762"/>
            <a:ext cx="643890" cy="430212"/>
          </a:xfrm>
          <a:prstGeom prst="rect">
            <a:avLst/>
          </a:prstGeom>
          <a:solidFill>
            <a:srgbClr val="B8D2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7008495" y="3560762"/>
            <a:ext cx="643890" cy="430212"/>
          </a:xfrm>
          <a:prstGeom prst="rect">
            <a:avLst/>
          </a:prstGeom>
          <a:solidFill>
            <a:srgbClr val="9AC1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7652385" y="3560762"/>
            <a:ext cx="643890" cy="430212"/>
          </a:xfrm>
          <a:prstGeom prst="rect">
            <a:avLst/>
          </a:prstGeom>
          <a:solidFill>
            <a:srgbClr val="7AB0D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8296275" y="3560762"/>
            <a:ext cx="643890" cy="430212"/>
          </a:xfrm>
          <a:prstGeom prst="rect">
            <a:avLst/>
          </a:prstGeom>
          <a:solidFill>
            <a:srgbClr val="62A2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8940165" y="3560762"/>
            <a:ext cx="643890" cy="430212"/>
          </a:xfrm>
          <a:prstGeom prst="rect">
            <a:avLst/>
          </a:prstGeom>
          <a:solidFill>
            <a:srgbClr val="61A2C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9584055" y="3560762"/>
            <a:ext cx="643890" cy="430212"/>
          </a:xfrm>
          <a:prstGeom prst="rect">
            <a:avLst/>
          </a:prstGeom>
          <a:solidFill>
            <a:srgbClr val="6CA8D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0227945" y="3560762"/>
            <a:ext cx="643890" cy="430212"/>
          </a:xfrm>
          <a:prstGeom prst="rect">
            <a:avLst/>
          </a:prstGeom>
          <a:solidFill>
            <a:srgbClr val="87B6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10871835" y="3560762"/>
            <a:ext cx="643890" cy="430212"/>
          </a:xfrm>
          <a:prstGeom prst="rect">
            <a:avLst/>
          </a:prstGeom>
          <a:solidFill>
            <a:srgbClr val="9CC2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238125" y="3990975"/>
            <a:ext cx="1590675" cy="430212"/>
          </a:xfrm>
          <a:prstGeom prst="rect">
            <a:avLst/>
          </a:prstGeom>
          <a:noFill/>
        </p:spPr>
        <p:txBody>
          <a:bodyPr wrap="square" lIns="28575" rIns="28575" tIns="9525" bIns="9525" anchor="ctr">
            <a:spAutoFit/>
          </a:bodyPr>
          <a:lstStyle/>
          <a:p>
            <a:pPr algn="l"/>
            <a:r>
              <a:rPr sz="1100" b="0">
                <a:solidFill>
                  <a:srgbClr val="2E2E2E"/>
                </a:solidFill>
                <a:latin typeface="Calibri"/>
              </a:rPr>
              <a:t>High-Barrier Films</a:t>
            </a:r>
          </a:p>
        </p:txBody>
      </p:sp>
      <p:sp>
        <p:nvSpPr>
          <p:cNvPr id="124" name="Rectangle 123"/>
          <p:cNvSpPr/>
          <p:nvPr/>
        </p:nvSpPr>
        <p:spPr>
          <a:xfrm>
            <a:off x="1857375" y="3990975"/>
            <a:ext cx="643890" cy="430212"/>
          </a:xfrm>
          <a:prstGeom prst="rect">
            <a:avLst/>
          </a:prstGeom>
          <a:solidFill>
            <a:srgbClr val="D1E2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2501265" y="3990975"/>
            <a:ext cx="643890" cy="430212"/>
          </a:xfrm>
          <a:prstGeom prst="rect">
            <a:avLst/>
          </a:prstGeom>
          <a:solidFill>
            <a:srgbClr val="C9DC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3145155" y="3990975"/>
            <a:ext cx="643890" cy="430212"/>
          </a:xfrm>
          <a:prstGeom prst="rect">
            <a:avLst/>
          </a:prstGeom>
          <a:solidFill>
            <a:srgbClr val="B8D2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3789045" y="3990975"/>
            <a:ext cx="643890" cy="430212"/>
          </a:xfrm>
          <a:prstGeom prst="rect">
            <a:avLst/>
          </a:prstGeom>
          <a:solidFill>
            <a:srgbClr val="A8C9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4432935" y="3990975"/>
            <a:ext cx="643890" cy="430212"/>
          </a:xfrm>
          <a:prstGeom prst="rect">
            <a:avLst/>
          </a:prstGeom>
          <a:solidFill>
            <a:srgbClr val="8AB8D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5076825" y="3990975"/>
            <a:ext cx="643890" cy="430212"/>
          </a:xfrm>
          <a:prstGeom prst="rect">
            <a:avLst/>
          </a:prstGeom>
          <a:solidFill>
            <a:srgbClr val="60A1C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5720715" y="3990975"/>
            <a:ext cx="643890" cy="430212"/>
          </a:xfrm>
          <a:prstGeom prst="rect">
            <a:avLst/>
          </a:prstGeom>
          <a:solidFill>
            <a:srgbClr val="368AC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6364605" y="3990975"/>
            <a:ext cx="643890" cy="430212"/>
          </a:xfrm>
          <a:prstGeom prst="rect">
            <a:avLst/>
          </a:prstGeom>
          <a:solidFill>
            <a:srgbClr val="1C7A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7008495" y="3990975"/>
            <a:ext cx="643890" cy="430212"/>
          </a:xfrm>
          <a:prstGeom prst="rect">
            <a:avLst/>
          </a:prstGeom>
          <a:solidFill>
            <a:srgbClr val="0D639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7652385" y="3990975"/>
            <a:ext cx="643890" cy="430212"/>
          </a:xfrm>
          <a:prstGeom prst="rect">
            <a:avLst/>
          </a:prstGeom>
          <a:solidFill>
            <a:srgbClr val="0C456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8296275" y="3990975"/>
            <a:ext cx="643890" cy="430212"/>
          </a:xfrm>
          <a:prstGeom prst="rect">
            <a:avLst/>
          </a:prstGeom>
          <a:solidFill>
            <a:srgbClr val="0B345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8940165" y="3990975"/>
            <a:ext cx="643890" cy="430212"/>
          </a:xfrm>
          <a:prstGeom prst="rect">
            <a:avLst/>
          </a:prstGeom>
          <a:solidFill>
            <a:srgbClr val="0B335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9584055" y="3990975"/>
            <a:ext cx="643890" cy="430212"/>
          </a:xfrm>
          <a:prstGeom prst="rect">
            <a:avLst/>
          </a:prstGeom>
          <a:solidFill>
            <a:srgbClr val="0C426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10227945" y="3990975"/>
            <a:ext cx="643890" cy="430212"/>
          </a:xfrm>
          <a:prstGeom prst="rect">
            <a:avLst/>
          </a:prstGeom>
          <a:solidFill>
            <a:srgbClr val="0D649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10871835" y="3990975"/>
            <a:ext cx="643890" cy="430212"/>
          </a:xfrm>
          <a:prstGeom prst="rect">
            <a:avLst/>
          </a:prstGeom>
          <a:solidFill>
            <a:srgbClr val="1C7BB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238125" y="4421188"/>
            <a:ext cx="1590675" cy="430212"/>
          </a:xfrm>
          <a:prstGeom prst="rect">
            <a:avLst/>
          </a:prstGeom>
          <a:noFill/>
        </p:spPr>
        <p:txBody>
          <a:bodyPr wrap="square" lIns="28575" rIns="28575" tIns="9525" bIns="9525" anchor="ctr">
            <a:spAutoFit/>
          </a:bodyPr>
          <a:lstStyle/>
          <a:p>
            <a:pPr algn="l"/>
            <a:r>
              <a:rPr sz="1100" b="0">
                <a:solidFill>
                  <a:srgbClr val="2E2E2E"/>
                </a:solidFill>
                <a:latin typeface="Calibri"/>
              </a:rPr>
              <a:t>– Food Packaging  </a:t>
            </a:r>
          </a:p>
        </p:txBody>
      </p:sp>
      <p:sp>
        <p:nvSpPr>
          <p:cNvPr id="140" name="Rectangle 139"/>
          <p:cNvSpPr/>
          <p:nvPr/>
        </p:nvSpPr>
        <p:spPr>
          <a:xfrm>
            <a:off x="1857375" y="4421188"/>
            <a:ext cx="643890" cy="430212"/>
          </a:xfrm>
          <a:prstGeom prst="rect">
            <a:avLst/>
          </a:prstGeom>
          <a:solidFill>
            <a:srgbClr val="D3E3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2501265" y="4421188"/>
            <a:ext cx="643890" cy="430212"/>
          </a:xfrm>
          <a:prstGeom prst="rect">
            <a:avLst/>
          </a:prstGeom>
          <a:solidFill>
            <a:srgbClr val="CBDD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3145155" y="4421188"/>
            <a:ext cx="643890" cy="430212"/>
          </a:xfrm>
          <a:prstGeom prst="rect">
            <a:avLst/>
          </a:prstGeom>
          <a:solidFill>
            <a:srgbClr val="BAD3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3789045" y="4421188"/>
            <a:ext cx="643890" cy="430212"/>
          </a:xfrm>
          <a:prstGeom prst="rect">
            <a:avLst/>
          </a:prstGeom>
          <a:solidFill>
            <a:srgbClr val="A9CA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4432935" y="4421188"/>
            <a:ext cx="643890" cy="430212"/>
          </a:xfrm>
          <a:prstGeom prst="rect">
            <a:avLst/>
          </a:prstGeom>
          <a:solidFill>
            <a:srgbClr val="8CB9D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5076825" y="4421188"/>
            <a:ext cx="643890" cy="430212"/>
          </a:xfrm>
          <a:prstGeom prst="rect">
            <a:avLst/>
          </a:prstGeom>
          <a:solidFill>
            <a:srgbClr val="61A2C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5720715" y="4421188"/>
            <a:ext cx="643890" cy="430212"/>
          </a:xfrm>
          <a:prstGeom prst="rect">
            <a:avLst/>
          </a:prstGeom>
          <a:solidFill>
            <a:srgbClr val="378B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6364605" y="4421188"/>
            <a:ext cx="643890" cy="430212"/>
          </a:xfrm>
          <a:prstGeom prst="rect">
            <a:avLst/>
          </a:prstGeom>
          <a:solidFill>
            <a:srgbClr val="1C7A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7008495" y="4421188"/>
            <a:ext cx="643890" cy="430212"/>
          </a:xfrm>
          <a:prstGeom prst="rect">
            <a:avLst/>
          </a:prstGeom>
          <a:solidFill>
            <a:srgbClr val="0D629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7652385" y="4421188"/>
            <a:ext cx="643890" cy="430212"/>
          </a:xfrm>
          <a:prstGeom prst="rect">
            <a:avLst/>
          </a:prstGeom>
          <a:solidFill>
            <a:srgbClr val="0C436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8296275" y="4421188"/>
            <a:ext cx="643890" cy="430212"/>
          </a:xfrm>
          <a:prstGeom prst="rect">
            <a:avLst/>
          </a:prstGeom>
          <a:solidFill>
            <a:srgbClr val="0B314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8940165" y="4421188"/>
            <a:ext cx="643890" cy="430212"/>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9584055" y="4421188"/>
            <a:ext cx="643890" cy="430212"/>
          </a:xfrm>
          <a:prstGeom prst="rect">
            <a:avLst/>
          </a:prstGeom>
          <a:solidFill>
            <a:srgbClr val="0C3D6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10227945" y="4421188"/>
            <a:ext cx="643890" cy="430212"/>
          </a:xfrm>
          <a:prstGeom prst="rect">
            <a:avLst/>
          </a:prstGeom>
          <a:solidFill>
            <a:srgbClr val="0D5F9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10871835" y="4421188"/>
            <a:ext cx="643890" cy="430212"/>
          </a:xfrm>
          <a:prstGeom prst="rect">
            <a:avLst/>
          </a:prstGeom>
          <a:solidFill>
            <a:srgbClr val="1A79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238125" y="4851400"/>
            <a:ext cx="1590675" cy="430212"/>
          </a:xfrm>
          <a:prstGeom prst="rect">
            <a:avLst/>
          </a:prstGeom>
          <a:noFill/>
        </p:spPr>
        <p:txBody>
          <a:bodyPr wrap="square" lIns="28575" rIns="28575" tIns="9525" bIns="9525" anchor="ctr">
            <a:spAutoFit/>
          </a:bodyPr>
          <a:lstStyle/>
          <a:p>
            <a:pPr algn="l"/>
            <a:r>
              <a:rPr sz="1100" b="0">
                <a:solidFill>
                  <a:srgbClr val="2E2E2E"/>
                </a:solidFill>
                <a:latin typeface="Calibri"/>
              </a:rPr>
              <a:t>– Non-Food Packaging  </a:t>
            </a:r>
          </a:p>
        </p:txBody>
      </p:sp>
      <p:sp>
        <p:nvSpPr>
          <p:cNvPr id="156" name="Rectangle 155"/>
          <p:cNvSpPr/>
          <p:nvPr/>
        </p:nvSpPr>
        <p:spPr>
          <a:xfrm>
            <a:off x="1857375" y="4851400"/>
            <a:ext cx="643890" cy="430212"/>
          </a:xfrm>
          <a:prstGeom prst="rect">
            <a:avLst/>
          </a:prstGeom>
          <a:solidFill>
            <a:srgbClr val="C3D9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2501265" y="4851400"/>
            <a:ext cx="643890" cy="430212"/>
          </a:xfrm>
          <a:prstGeom prst="rect">
            <a:avLst/>
          </a:prstGeom>
          <a:solidFill>
            <a:srgbClr val="BAD4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3145155" y="4851400"/>
            <a:ext cx="643890" cy="430212"/>
          </a:xfrm>
          <a:prstGeom prst="rect">
            <a:avLst/>
          </a:prstGeom>
          <a:solidFill>
            <a:srgbClr val="AFCD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3789045" y="4851400"/>
            <a:ext cx="643890" cy="430212"/>
          </a:xfrm>
          <a:prstGeom prst="rect">
            <a:avLst/>
          </a:prstGeom>
          <a:solidFill>
            <a:srgbClr val="A2C6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4432935" y="4851400"/>
            <a:ext cx="643890" cy="430212"/>
          </a:xfrm>
          <a:prstGeom prst="rect">
            <a:avLst/>
          </a:prstGeom>
          <a:solidFill>
            <a:srgbClr val="83B5D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5076825" y="4851400"/>
            <a:ext cx="643890" cy="430212"/>
          </a:xfrm>
          <a:prstGeom prst="rect">
            <a:avLst/>
          </a:prstGeom>
          <a:solidFill>
            <a:srgbClr val="5B9F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5720715" y="4851400"/>
            <a:ext cx="643890" cy="430212"/>
          </a:xfrm>
          <a:prstGeom prst="rect">
            <a:avLst/>
          </a:prstGeom>
          <a:solidFill>
            <a:srgbClr val="3489C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6364605" y="4851400"/>
            <a:ext cx="643890" cy="430212"/>
          </a:xfrm>
          <a:prstGeom prst="rect">
            <a:avLst/>
          </a:prstGeom>
          <a:solidFill>
            <a:srgbClr val="1C7BB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7008495" y="4851400"/>
            <a:ext cx="643890" cy="430212"/>
          </a:xfrm>
          <a:prstGeom prst="rect">
            <a:avLst/>
          </a:prstGeom>
          <a:solidFill>
            <a:srgbClr val="0E689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7652385" y="4851400"/>
            <a:ext cx="643890" cy="430212"/>
          </a:xfrm>
          <a:prstGeom prst="rect">
            <a:avLst/>
          </a:prstGeom>
          <a:solidFill>
            <a:srgbClr val="0D507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8296275" y="4851400"/>
            <a:ext cx="643890" cy="430212"/>
          </a:xfrm>
          <a:prstGeom prst="rect">
            <a:avLst/>
          </a:prstGeom>
          <a:solidFill>
            <a:srgbClr val="0C466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8940165" y="4851400"/>
            <a:ext cx="643890" cy="430212"/>
          </a:xfrm>
          <a:prstGeom prst="rect">
            <a:avLst/>
          </a:prstGeom>
          <a:solidFill>
            <a:srgbClr val="0C4B7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9584055" y="4851400"/>
            <a:ext cx="643890" cy="430212"/>
          </a:xfrm>
          <a:prstGeom prst="rect">
            <a:avLst/>
          </a:prstGeom>
          <a:solidFill>
            <a:srgbClr val="0D5E9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10227945" y="4851400"/>
            <a:ext cx="643890" cy="430212"/>
          </a:xfrm>
          <a:prstGeom prst="rect">
            <a:avLst/>
          </a:prstGeom>
          <a:solidFill>
            <a:srgbClr val="1576B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10871835" y="4851400"/>
            <a:ext cx="643890" cy="430212"/>
          </a:xfrm>
          <a:prstGeom prst="rect">
            <a:avLst/>
          </a:prstGeom>
          <a:solidFill>
            <a:srgbClr val="2C84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238125" y="5281612"/>
            <a:ext cx="1590675" cy="430212"/>
          </a:xfrm>
          <a:prstGeom prst="rect">
            <a:avLst/>
          </a:prstGeom>
          <a:noFill/>
        </p:spPr>
        <p:txBody>
          <a:bodyPr wrap="square" lIns="28575" rIns="28575" tIns="9525" bIns="9525" anchor="ctr">
            <a:spAutoFit/>
          </a:bodyPr>
          <a:lstStyle/>
          <a:p>
            <a:pPr algn="l"/>
            <a:r>
              <a:rPr sz="1100" b="0">
                <a:solidFill>
                  <a:srgbClr val="2E2E2E"/>
                </a:solidFill>
                <a:latin typeface="Calibri"/>
              </a:rPr>
              <a:t>Ultra-High-Barrier Films</a:t>
            </a:r>
          </a:p>
        </p:txBody>
      </p:sp>
      <p:sp>
        <p:nvSpPr>
          <p:cNvPr id="172" name="Rectangle 171"/>
          <p:cNvSpPr/>
          <p:nvPr/>
        </p:nvSpPr>
        <p:spPr>
          <a:xfrm>
            <a:off x="1857375" y="5281612"/>
            <a:ext cx="643890" cy="430212"/>
          </a:xfrm>
          <a:prstGeom prst="rect">
            <a:avLst/>
          </a:prstGeom>
          <a:solidFill>
            <a:srgbClr val="9FC4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2501265" y="5281612"/>
            <a:ext cx="643890" cy="430212"/>
          </a:xfrm>
          <a:prstGeom prst="rect">
            <a:avLst/>
          </a:prstGeom>
          <a:solidFill>
            <a:srgbClr val="9EC4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3145155" y="5281612"/>
            <a:ext cx="643890" cy="430212"/>
          </a:xfrm>
          <a:prstGeom prst="rect">
            <a:avLst/>
          </a:prstGeom>
          <a:solidFill>
            <a:srgbClr val="90BB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3789045" y="5281612"/>
            <a:ext cx="643890" cy="430212"/>
          </a:xfrm>
          <a:prstGeom prst="rect">
            <a:avLst/>
          </a:prstGeom>
          <a:solidFill>
            <a:srgbClr val="7DB1D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Rectangle 175"/>
          <p:cNvSpPr/>
          <p:nvPr/>
        </p:nvSpPr>
        <p:spPr>
          <a:xfrm>
            <a:off x="4432935" y="5281612"/>
            <a:ext cx="643890" cy="430212"/>
          </a:xfrm>
          <a:prstGeom prst="rect">
            <a:avLst/>
          </a:prstGeom>
          <a:solidFill>
            <a:srgbClr val="68A6C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Rectangle 176"/>
          <p:cNvSpPr/>
          <p:nvPr/>
        </p:nvSpPr>
        <p:spPr>
          <a:xfrm>
            <a:off x="5076825" y="5281612"/>
            <a:ext cx="643890" cy="430212"/>
          </a:xfrm>
          <a:prstGeom prst="rect">
            <a:avLst/>
          </a:prstGeom>
          <a:solidFill>
            <a:srgbClr val="5DA0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ectangle 177"/>
          <p:cNvSpPr/>
          <p:nvPr/>
        </p:nvSpPr>
        <p:spPr>
          <a:xfrm>
            <a:off x="5720715" y="5281612"/>
            <a:ext cx="643890" cy="430212"/>
          </a:xfrm>
          <a:prstGeom prst="rect">
            <a:avLst/>
          </a:prstGeom>
          <a:solidFill>
            <a:srgbClr val="559BC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Rectangle 178"/>
          <p:cNvSpPr/>
          <p:nvPr/>
        </p:nvSpPr>
        <p:spPr>
          <a:xfrm>
            <a:off x="6364605" y="5281612"/>
            <a:ext cx="643890" cy="430212"/>
          </a:xfrm>
          <a:prstGeom prst="rect">
            <a:avLst/>
          </a:prstGeom>
          <a:solidFill>
            <a:srgbClr val="4A95C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ectangle 179"/>
          <p:cNvSpPr/>
          <p:nvPr/>
        </p:nvSpPr>
        <p:spPr>
          <a:xfrm>
            <a:off x="7008495" y="5281612"/>
            <a:ext cx="643890" cy="430212"/>
          </a:xfrm>
          <a:prstGeom prst="rect">
            <a:avLst/>
          </a:prstGeom>
          <a:solidFill>
            <a:srgbClr val="3489C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Rectangle 180"/>
          <p:cNvSpPr/>
          <p:nvPr/>
        </p:nvSpPr>
        <p:spPr>
          <a:xfrm>
            <a:off x="7652385" y="5281612"/>
            <a:ext cx="643890" cy="430212"/>
          </a:xfrm>
          <a:prstGeom prst="rect">
            <a:avLst/>
          </a:prstGeom>
          <a:solidFill>
            <a:srgbClr val="2781B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tangle 181"/>
          <p:cNvSpPr/>
          <p:nvPr/>
        </p:nvSpPr>
        <p:spPr>
          <a:xfrm>
            <a:off x="8296275" y="5281612"/>
            <a:ext cx="643890" cy="430212"/>
          </a:xfrm>
          <a:prstGeom prst="rect">
            <a:avLst/>
          </a:prstGeom>
          <a:solidFill>
            <a:srgbClr val="1C7A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ectangle 182"/>
          <p:cNvSpPr/>
          <p:nvPr/>
        </p:nvSpPr>
        <p:spPr>
          <a:xfrm>
            <a:off x="8940165" y="5281612"/>
            <a:ext cx="643890" cy="430212"/>
          </a:xfrm>
          <a:prstGeom prst="rect">
            <a:avLst/>
          </a:prstGeom>
          <a:solidFill>
            <a:srgbClr val="237F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9584055" y="5281612"/>
            <a:ext cx="643890" cy="430212"/>
          </a:xfrm>
          <a:prstGeom prst="rect">
            <a:avLst/>
          </a:prstGeom>
          <a:solidFill>
            <a:srgbClr val="2F86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10227945" y="5281612"/>
            <a:ext cx="643890" cy="430212"/>
          </a:xfrm>
          <a:prstGeom prst="rect">
            <a:avLst/>
          </a:prstGeom>
          <a:solidFill>
            <a:srgbClr val="4492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10871835" y="5281612"/>
            <a:ext cx="643890" cy="430212"/>
          </a:xfrm>
          <a:prstGeom prst="rect">
            <a:avLst/>
          </a:prstGeom>
          <a:solidFill>
            <a:srgbClr val="5EA1C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238125" y="5711825"/>
            <a:ext cx="1590675" cy="430212"/>
          </a:xfrm>
          <a:prstGeom prst="rect">
            <a:avLst/>
          </a:prstGeom>
          <a:noFill/>
        </p:spPr>
        <p:txBody>
          <a:bodyPr wrap="square" lIns="28575" rIns="28575" tIns="9525" bIns="9525" anchor="ctr">
            <a:spAutoFit/>
          </a:bodyPr>
          <a:lstStyle/>
          <a:p>
            <a:pPr algn="l"/>
            <a:r>
              <a:rPr sz="1100" b="0">
                <a:solidFill>
                  <a:srgbClr val="2E2E2E"/>
                </a:solidFill>
                <a:latin typeface="Calibri"/>
              </a:rPr>
              <a:t>– Food Packaging   </a:t>
            </a:r>
          </a:p>
        </p:txBody>
      </p:sp>
      <p:sp>
        <p:nvSpPr>
          <p:cNvPr id="188" name="Rectangle 187"/>
          <p:cNvSpPr/>
          <p:nvPr/>
        </p:nvSpPr>
        <p:spPr>
          <a:xfrm>
            <a:off x="1857375" y="5711825"/>
            <a:ext cx="643890" cy="430212"/>
          </a:xfrm>
          <a:prstGeom prst="rect">
            <a:avLst/>
          </a:prstGeom>
          <a:solidFill>
            <a:srgbClr val="97BF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2501265" y="5711825"/>
            <a:ext cx="643890" cy="430212"/>
          </a:xfrm>
          <a:prstGeom prst="rect">
            <a:avLst/>
          </a:prstGeom>
          <a:solidFill>
            <a:srgbClr val="97C0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3145155" y="5711825"/>
            <a:ext cx="643890" cy="430212"/>
          </a:xfrm>
          <a:prstGeom prst="rect">
            <a:avLst/>
          </a:prstGeom>
          <a:solidFill>
            <a:srgbClr val="86B6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3789045" y="5711825"/>
            <a:ext cx="643890" cy="430212"/>
          </a:xfrm>
          <a:prstGeom prst="rect">
            <a:avLst/>
          </a:prstGeom>
          <a:solidFill>
            <a:srgbClr val="74ACD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4432935" y="5711825"/>
            <a:ext cx="643890" cy="430212"/>
          </a:xfrm>
          <a:prstGeom prst="rect">
            <a:avLst/>
          </a:prstGeom>
          <a:solidFill>
            <a:srgbClr val="60A2C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5076825" y="5711825"/>
            <a:ext cx="643890" cy="430212"/>
          </a:xfrm>
          <a:prstGeom prst="rect">
            <a:avLst/>
          </a:prstGeom>
          <a:solidFill>
            <a:srgbClr val="569CC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5720715" y="5711825"/>
            <a:ext cx="643890" cy="430212"/>
          </a:xfrm>
          <a:prstGeom prst="rect">
            <a:avLst/>
          </a:prstGeom>
          <a:solidFill>
            <a:srgbClr val="4F98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Rectangle 194"/>
          <p:cNvSpPr/>
          <p:nvPr/>
        </p:nvSpPr>
        <p:spPr>
          <a:xfrm>
            <a:off x="6364605" y="5711825"/>
            <a:ext cx="643890" cy="430212"/>
          </a:xfrm>
          <a:prstGeom prst="rect">
            <a:avLst/>
          </a:prstGeom>
          <a:solidFill>
            <a:srgbClr val="4593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7008495" y="5711825"/>
            <a:ext cx="643890" cy="430212"/>
          </a:xfrm>
          <a:prstGeom prst="rect">
            <a:avLst/>
          </a:prstGeom>
          <a:solidFill>
            <a:srgbClr val="3388B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7652385" y="5711825"/>
            <a:ext cx="643890" cy="430212"/>
          </a:xfrm>
          <a:prstGeom prst="rect">
            <a:avLst/>
          </a:prstGeom>
          <a:solidFill>
            <a:srgbClr val="2781B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ectangle 197"/>
          <p:cNvSpPr/>
          <p:nvPr/>
        </p:nvSpPr>
        <p:spPr>
          <a:xfrm>
            <a:off x="8296275" y="5711825"/>
            <a:ext cx="643890" cy="430212"/>
          </a:xfrm>
          <a:prstGeom prst="rect">
            <a:avLst/>
          </a:prstGeom>
          <a:solidFill>
            <a:srgbClr val="1D7BB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Rectangle 198"/>
          <p:cNvSpPr/>
          <p:nvPr/>
        </p:nvSpPr>
        <p:spPr>
          <a:xfrm>
            <a:off x="8940165" y="5711825"/>
            <a:ext cx="643890" cy="430212"/>
          </a:xfrm>
          <a:prstGeom prst="rect">
            <a:avLst/>
          </a:prstGeom>
          <a:solidFill>
            <a:srgbClr val="247F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9584055" y="5711825"/>
            <a:ext cx="643890" cy="430212"/>
          </a:xfrm>
          <a:prstGeom prst="rect">
            <a:avLst/>
          </a:prstGeom>
          <a:solidFill>
            <a:srgbClr val="3087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Rectangle 200"/>
          <p:cNvSpPr/>
          <p:nvPr/>
        </p:nvSpPr>
        <p:spPr>
          <a:xfrm>
            <a:off x="10227945" y="5711825"/>
            <a:ext cx="643890" cy="430212"/>
          </a:xfrm>
          <a:prstGeom prst="rect">
            <a:avLst/>
          </a:prstGeom>
          <a:solidFill>
            <a:srgbClr val="4593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Rectangle 201"/>
          <p:cNvSpPr/>
          <p:nvPr/>
        </p:nvSpPr>
        <p:spPr>
          <a:xfrm>
            <a:off x="10871835" y="5711825"/>
            <a:ext cx="643890" cy="430212"/>
          </a:xfrm>
          <a:prstGeom prst="rect">
            <a:avLst/>
          </a:prstGeom>
          <a:solidFill>
            <a:srgbClr val="5FA1C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238125" y="6142037"/>
            <a:ext cx="1590675" cy="430212"/>
          </a:xfrm>
          <a:prstGeom prst="rect">
            <a:avLst/>
          </a:prstGeom>
          <a:noFill/>
        </p:spPr>
        <p:txBody>
          <a:bodyPr wrap="square" lIns="28575" rIns="28575" tIns="9525" bIns="9525" anchor="ctr">
            <a:spAutoFit/>
          </a:bodyPr>
          <a:lstStyle/>
          <a:p>
            <a:pPr algn="l"/>
            <a:r>
              <a:rPr sz="1100" b="0">
                <a:solidFill>
                  <a:srgbClr val="2E2E2E"/>
                </a:solidFill>
                <a:latin typeface="Calibri"/>
              </a:rPr>
              <a:t>– Non-Food Packaging   </a:t>
            </a:r>
          </a:p>
        </p:txBody>
      </p:sp>
      <p:sp>
        <p:nvSpPr>
          <p:cNvPr id="204" name="Rectangle 203"/>
          <p:cNvSpPr/>
          <p:nvPr/>
        </p:nvSpPr>
        <p:spPr>
          <a:xfrm>
            <a:off x="1857375" y="6142037"/>
            <a:ext cx="643890" cy="430212"/>
          </a:xfrm>
          <a:prstGeom prst="rect">
            <a:avLst/>
          </a:prstGeom>
          <a:solidFill>
            <a:srgbClr val="C9DC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Rectangle 204"/>
          <p:cNvSpPr/>
          <p:nvPr/>
        </p:nvSpPr>
        <p:spPr>
          <a:xfrm>
            <a:off x="2501265" y="6142037"/>
            <a:ext cx="643890" cy="430212"/>
          </a:xfrm>
          <a:prstGeom prst="rect">
            <a:avLst/>
          </a:prstGeom>
          <a:solidFill>
            <a:srgbClr val="C2D8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Rectangle 205"/>
          <p:cNvSpPr/>
          <p:nvPr/>
        </p:nvSpPr>
        <p:spPr>
          <a:xfrm>
            <a:off x="3145155" y="6142037"/>
            <a:ext cx="643890" cy="430212"/>
          </a:xfrm>
          <a:prstGeom prst="rect">
            <a:avLst/>
          </a:prstGeom>
          <a:solidFill>
            <a:srgbClr val="B0CE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Rectangle 206"/>
          <p:cNvSpPr/>
          <p:nvPr/>
        </p:nvSpPr>
        <p:spPr>
          <a:xfrm>
            <a:off x="3789045" y="6142037"/>
            <a:ext cx="643890" cy="430212"/>
          </a:xfrm>
          <a:prstGeom prst="rect">
            <a:avLst/>
          </a:prstGeom>
          <a:solidFill>
            <a:srgbClr val="A1C5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Rectangle 207"/>
          <p:cNvSpPr/>
          <p:nvPr/>
        </p:nvSpPr>
        <p:spPr>
          <a:xfrm>
            <a:off x="4432935" y="6142037"/>
            <a:ext cx="643890" cy="430212"/>
          </a:xfrm>
          <a:prstGeom prst="rect">
            <a:avLst/>
          </a:prstGeom>
          <a:solidFill>
            <a:srgbClr val="8FBB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ectangle 208"/>
          <p:cNvSpPr/>
          <p:nvPr/>
        </p:nvSpPr>
        <p:spPr>
          <a:xfrm>
            <a:off x="5076825" y="6142037"/>
            <a:ext cx="643890" cy="430212"/>
          </a:xfrm>
          <a:prstGeom prst="rect">
            <a:avLst/>
          </a:prstGeom>
          <a:solidFill>
            <a:srgbClr val="7FB2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5720715" y="6142037"/>
            <a:ext cx="643890" cy="430212"/>
          </a:xfrm>
          <a:prstGeom prst="rect">
            <a:avLst/>
          </a:prstGeom>
          <a:solidFill>
            <a:srgbClr val="73ACD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Rectangle 210"/>
          <p:cNvSpPr/>
          <p:nvPr/>
        </p:nvSpPr>
        <p:spPr>
          <a:xfrm>
            <a:off x="6364605" y="6142037"/>
            <a:ext cx="643890" cy="430212"/>
          </a:xfrm>
          <a:prstGeom prst="rect">
            <a:avLst/>
          </a:prstGeom>
          <a:solidFill>
            <a:srgbClr val="62A3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Rectangle 211"/>
          <p:cNvSpPr/>
          <p:nvPr/>
        </p:nvSpPr>
        <p:spPr>
          <a:xfrm>
            <a:off x="7008495" y="6142037"/>
            <a:ext cx="643890" cy="430212"/>
          </a:xfrm>
          <a:prstGeom prst="rect">
            <a:avLst/>
          </a:prstGeom>
          <a:solidFill>
            <a:srgbClr val="3C8E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Rectangle 212"/>
          <p:cNvSpPr/>
          <p:nvPr/>
        </p:nvSpPr>
        <p:spPr>
          <a:xfrm>
            <a:off x="7652385" y="6142037"/>
            <a:ext cx="643890" cy="430212"/>
          </a:xfrm>
          <a:prstGeom prst="rect">
            <a:avLst/>
          </a:prstGeom>
          <a:solidFill>
            <a:srgbClr val="2580B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8296275" y="6142037"/>
            <a:ext cx="643890" cy="430212"/>
          </a:xfrm>
          <a:prstGeom prst="rect">
            <a:avLst/>
          </a:prstGeom>
          <a:solidFill>
            <a:srgbClr val="1576B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Rectangle 214"/>
          <p:cNvSpPr/>
          <p:nvPr/>
        </p:nvSpPr>
        <p:spPr>
          <a:xfrm>
            <a:off x="8940165" y="6142037"/>
            <a:ext cx="643890" cy="430212"/>
          </a:xfrm>
          <a:prstGeom prst="rect">
            <a:avLst/>
          </a:prstGeom>
          <a:solidFill>
            <a:srgbClr val="1D7BB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Rectangle 215"/>
          <p:cNvSpPr/>
          <p:nvPr/>
        </p:nvSpPr>
        <p:spPr>
          <a:xfrm>
            <a:off x="9584055" y="6142037"/>
            <a:ext cx="643890" cy="430212"/>
          </a:xfrm>
          <a:prstGeom prst="rect">
            <a:avLst/>
          </a:prstGeom>
          <a:solidFill>
            <a:srgbClr val="2982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Rectangle 216"/>
          <p:cNvSpPr/>
          <p:nvPr/>
        </p:nvSpPr>
        <p:spPr>
          <a:xfrm>
            <a:off x="10227945" y="6142037"/>
            <a:ext cx="643890" cy="430212"/>
          </a:xfrm>
          <a:prstGeom prst="rect">
            <a:avLst/>
          </a:prstGeom>
          <a:solidFill>
            <a:srgbClr val="3D8E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Rectangle 217"/>
          <p:cNvSpPr/>
          <p:nvPr/>
        </p:nvSpPr>
        <p:spPr>
          <a:xfrm>
            <a:off x="10871835" y="6142037"/>
            <a:ext cx="643890" cy="430212"/>
          </a:xfrm>
          <a:prstGeom prst="rect">
            <a:avLst/>
          </a:prstGeom>
          <a:solidFill>
            <a:srgbClr val="5A9E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Rectangle 218"/>
          <p:cNvSpPr/>
          <p:nvPr/>
        </p:nvSpPr>
        <p:spPr>
          <a:xfrm>
            <a:off x="11572875" y="1447800"/>
            <a:ext cx="104775" cy="134779"/>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Rectangle 219"/>
          <p:cNvSpPr/>
          <p:nvPr/>
        </p:nvSpPr>
        <p:spPr>
          <a:xfrm>
            <a:off x="11572875" y="1574959"/>
            <a:ext cx="104775" cy="134779"/>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ectangle 220"/>
          <p:cNvSpPr/>
          <p:nvPr/>
        </p:nvSpPr>
        <p:spPr>
          <a:xfrm>
            <a:off x="11572875" y="1702118"/>
            <a:ext cx="104775" cy="134779"/>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11572875" y="1829276"/>
            <a:ext cx="104775" cy="134779"/>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ectangle 222"/>
          <p:cNvSpPr/>
          <p:nvPr/>
        </p:nvSpPr>
        <p:spPr>
          <a:xfrm>
            <a:off x="11572875" y="1956435"/>
            <a:ext cx="104775" cy="134779"/>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Rectangle 223"/>
          <p:cNvSpPr/>
          <p:nvPr/>
        </p:nvSpPr>
        <p:spPr>
          <a:xfrm>
            <a:off x="11572875" y="2083594"/>
            <a:ext cx="104775" cy="134779"/>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Rectangle 224"/>
          <p:cNvSpPr/>
          <p:nvPr/>
        </p:nvSpPr>
        <p:spPr>
          <a:xfrm>
            <a:off x="11572875" y="2210752"/>
            <a:ext cx="104775" cy="134779"/>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Rectangle 225"/>
          <p:cNvSpPr/>
          <p:nvPr/>
        </p:nvSpPr>
        <p:spPr>
          <a:xfrm>
            <a:off x="11572875" y="2337911"/>
            <a:ext cx="104775" cy="134779"/>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Rectangle 226"/>
          <p:cNvSpPr/>
          <p:nvPr/>
        </p:nvSpPr>
        <p:spPr>
          <a:xfrm>
            <a:off x="11572875" y="2465070"/>
            <a:ext cx="104775" cy="134779"/>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Rectangle 227"/>
          <p:cNvSpPr/>
          <p:nvPr/>
        </p:nvSpPr>
        <p:spPr>
          <a:xfrm>
            <a:off x="11572875" y="2592229"/>
            <a:ext cx="104775" cy="134779"/>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angle 228"/>
          <p:cNvSpPr/>
          <p:nvPr/>
        </p:nvSpPr>
        <p:spPr>
          <a:xfrm>
            <a:off x="11572875" y="2719388"/>
            <a:ext cx="104775" cy="134779"/>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ectangle 229"/>
          <p:cNvSpPr/>
          <p:nvPr/>
        </p:nvSpPr>
        <p:spPr>
          <a:xfrm>
            <a:off x="11572875" y="2846546"/>
            <a:ext cx="104775" cy="134779"/>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11572875" y="2973705"/>
            <a:ext cx="104775" cy="134779"/>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11572875" y="3100864"/>
            <a:ext cx="104775" cy="134779"/>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11572875" y="3228022"/>
            <a:ext cx="104775" cy="134779"/>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11572875" y="3355181"/>
            <a:ext cx="104775" cy="134779"/>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Rectangle 234"/>
          <p:cNvSpPr/>
          <p:nvPr/>
        </p:nvSpPr>
        <p:spPr>
          <a:xfrm>
            <a:off x="11572875" y="3482340"/>
            <a:ext cx="104775" cy="134779"/>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Rectangle 235"/>
          <p:cNvSpPr/>
          <p:nvPr/>
        </p:nvSpPr>
        <p:spPr>
          <a:xfrm>
            <a:off x="11572875" y="3609499"/>
            <a:ext cx="104775" cy="134779"/>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Rectangle 236"/>
          <p:cNvSpPr/>
          <p:nvPr/>
        </p:nvSpPr>
        <p:spPr>
          <a:xfrm>
            <a:off x="11572875" y="3736657"/>
            <a:ext cx="104775" cy="134779"/>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Rectangle 237"/>
          <p:cNvSpPr/>
          <p:nvPr/>
        </p:nvSpPr>
        <p:spPr>
          <a:xfrm>
            <a:off x="11572875" y="3863816"/>
            <a:ext cx="104775" cy="134779"/>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Rectangle 238"/>
          <p:cNvSpPr/>
          <p:nvPr/>
        </p:nvSpPr>
        <p:spPr>
          <a:xfrm>
            <a:off x="11572875" y="3990975"/>
            <a:ext cx="104775" cy="134779"/>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Rectangle 239"/>
          <p:cNvSpPr/>
          <p:nvPr/>
        </p:nvSpPr>
        <p:spPr>
          <a:xfrm>
            <a:off x="11572875" y="4118134"/>
            <a:ext cx="104775" cy="134779"/>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11572875" y="4245292"/>
            <a:ext cx="104775" cy="134779"/>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11572875" y="4372451"/>
            <a:ext cx="104775" cy="134779"/>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p:cNvSpPr/>
          <p:nvPr/>
        </p:nvSpPr>
        <p:spPr>
          <a:xfrm>
            <a:off x="11572875" y="4499610"/>
            <a:ext cx="104775" cy="134779"/>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Rectangle 243"/>
          <p:cNvSpPr/>
          <p:nvPr/>
        </p:nvSpPr>
        <p:spPr>
          <a:xfrm>
            <a:off x="11572875" y="4626769"/>
            <a:ext cx="104775" cy="134779"/>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Rectangle 244"/>
          <p:cNvSpPr/>
          <p:nvPr/>
        </p:nvSpPr>
        <p:spPr>
          <a:xfrm>
            <a:off x="11572875" y="4753928"/>
            <a:ext cx="104775" cy="134779"/>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Rectangle 245"/>
          <p:cNvSpPr/>
          <p:nvPr/>
        </p:nvSpPr>
        <p:spPr>
          <a:xfrm>
            <a:off x="11572875" y="4881086"/>
            <a:ext cx="104775" cy="134779"/>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Rectangle 246"/>
          <p:cNvSpPr/>
          <p:nvPr/>
        </p:nvSpPr>
        <p:spPr>
          <a:xfrm>
            <a:off x="11572875" y="5008245"/>
            <a:ext cx="104775" cy="134779"/>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11572875" y="5135404"/>
            <a:ext cx="104775" cy="134779"/>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11572875" y="5262562"/>
            <a:ext cx="104775" cy="134779"/>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p:cNvSpPr/>
          <p:nvPr/>
        </p:nvSpPr>
        <p:spPr>
          <a:xfrm>
            <a:off x="11572875" y="5389721"/>
            <a:ext cx="104775" cy="134779"/>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11572875" y="5516880"/>
            <a:ext cx="104775" cy="134779"/>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11572875" y="5644039"/>
            <a:ext cx="104775" cy="134779"/>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Rectangle 252"/>
          <p:cNvSpPr/>
          <p:nvPr/>
        </p:nvSpPr>
        <p:spPr>
          <a:xfrm>
            <a:off x="11572875" y="5771198"/>
            <a:ext cx="104775" cy="134779"/>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Rectangle 253"/>
          <p:cNvSpPr/>
          <p:nvPr/>
        </p:nvSpPr>
        <p:spPr>
          <a:xfrm>
            <a:off x="11572875" y="5898356"/>
            <a:ext cx="104775" cy="134779"/>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Rectangle 254"/>
          <p:cNvSpPr/>
          <p:nvPr/>
        </p:nvSpPr>
        <p:spPr>
          <a:xfrm>
            <a:off x="11572875" y="6025515"/>
            <a:ext cx="104775" cy="134779"/>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Rectangle 255"/>
          <p:cNvSpPr/>
          <p:nvPr/>
        </p:nvSpPr>
        <p:spPr>
          <a:xfrm>
            <a:off x="11572875" y="6152674"/>
            <a:ext cx="104775" cy="134779"/>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Rectangle 256"/>
          <p:cNvSpPr/>
          <p:nvPr/>
        </p:nvSpPr>
        <p:spPr>
          <a:xfrm>
            <a:off x="11572875" y="6279832"/>
            <a:ext cx="104775" cy="134779"/>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Rectangle 257"/>
          <p:cNvSpPr/>
          <p:nvPr/>
        </p:nvSpPr>
        <p:spPr>
          <a:xfrm>
            <a:off x="11572875" y="6406991"/>
            <a:ext cx="104775" cy="134779"/>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Rectangle 258"/>
          <p:cNvSpPr/>
          <p:nvPr/>
        </p:nvSpPr>
        <p:spPr>
          <a:xfrm>
            <a:off x="11572875" y="1447800"/>
            <a:ext cx="104775" cy="5086350"/>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TextBox 259"/>
          <p:cNvSpPr txBox="1"/>
          <p:nvPr/>
        </p:nvSpPr>
        <p:spPr>
          <a:xfrm>
            <a:off x="11687175" y="1381125"/>
            <a:ext cx="276225" cy="133350"/>
          </a:xfrm>
          <a:prstGeom prst="rect">
            <a:avLst/>
          </a:prstGeom>
          <a:noFill/>
        </p:spPr>
        <p:txBody>
          <a:bodyPr wrap="none" lIns="0" rIns="0" tIns="0" bIns="0" anchor="ctr">
            <a:spAutoFit/>
          </a:bodyPr>
          <a:lstStyle/>
          <a:p>
            <a:pPr algn="l"/>
            <a:r>
              <a:rPr sz="1100" b="0">
                <a:solidFill>
                  <a:srgbClr val="6C7A89"/>
                </a:solidFill>
                <a:latin typeface="Calibri"/>
              </a:rPr>
              <a:t>6%</a:t>
            </a:r>
          </a:p>
        </p:txBody>
      </p:sp>
      <p:sp>
        <p:nvSpPr>
          <p:cNvPr id="261" name="TextBox 260"/>
          <p:cNvSpPr txBox="1"/>
          <p:nvPr/>
        </p:nvSpPr>
        <p:spPr>
          <a:xfrm>
            <a:off x="11687175" y="3924300"/>
            <a:ext cx="276225" cy="133350"/>
          </a:xfrm>
          <a:prstGeom prst="rect">
            <a:avLst/>
          </a:prstGeom>
          <a:noFill/>
        </p:spPr>
        <p:txBody>
          <a:bodyPr wrap="none" lIns="0" rIns="0" tIns="0" bIns="0" anchor="ctr">
            <a:spAutoFit/>
          </a:bodyPr>
          <a:lstStyle/>
          <a:p>
            <a:pPr algn="l"/>
            <a:r>
              <a:rPr sz="1100" b="0">
                <a:solidFill>
                  <a:srgbClr val="6C7A89"/>
                </a:solidFill>
                <a:latin typeface="Calibri"/>
              </a:rPr>
              <a:t>5%</a:t>
            </a:r>
          </a:p>
        </p:txBody>
      </p:sp>
      <p:sp>
        <p:nvSpPr>
          <p:cNvPr id="262" name="TextBox 261"/>
          <p:cNvSpPr txBox="1"/>
          <p:nvPr/>
        </p:nvSpPr>
        <p:spPr>
          <a:xfrm>
            <a:off x="11687175" y="6467475"/>
            <a:ext cx="276225" cy="133350"/>
          </a:xfrm>
          <a:prstGeom prst="rect">
            <a:avLst/>
          </a:prstGeom>
          <a:noFill/>
        </p:spPr>
        <p:txBody>
          <a:bodyPr wrap="none" lIns="0" rIns="0" tIns="0" bIns="0" anchor="ctr">
            <a:spAutoFit/>
          </a:bodyPr>
          <a:lstStyle/>
          <a:p>
            <a:pPr algn="l"/>
            <a:r>
              <a:rPr sz="1100" b="0">
                <a:solidFill>
                  <a:srgbClr val="6C7A89"/>
                </a:solidFill>
                <a:latin typeface="Calibri"/>
              </a:rPr>
              <a:t>4%</a:t>
            </a:r>
          </a:p>
        </p:txBody>
      </p:sp>
      <p:sp>
        <p:nvSpPr>
          <p:cNvPr id="263" name="TextBox 26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YoY Analysis of Global Market Value, By Barrier Level Vs Application (%)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Year-on-year value growth by Barrier Level Vs Application, 2022–2036, highlighting acceleration and slowdown</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3267075"/>
          </a:xfrm>
          <a:prstGeom prst="roundRect">
            <a:avLst>
              <a:gd name="adj" fmla="val 233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YoY Growth, By Barrier Level Vs Application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3" name="Table 12"/>
          <p:cNvGraphicFramePr>
            <a:graphicFrameLocks noGrp="1"/>
          </p:cNvGraphicFramePr>
          <p:nvPr/>
        </p:nvGraphicFramePr>
        <p:xfrm>
          <a:off x="152400" y="1238250"/>
          <a:ext cx="11887206" cy="2800353"/>
        </p:xfrm>
        <a:graphic>
          <a:graphicData uri="http://schemas.openxmlformats.org/drawingml/2006/table">
            <a:tbl>
              <a:tblPr>
                <a:tableStyleId>{5C22544A-7EE6-4342-B048-85BDC9FD1C3A}</a:tableStyleId>
              </a:tblPr>
              <a:tblGrid>
                <a:gridCol w="2041401"/>
                <a:gridCol w="656387"/>
                <a:gridCol w="656387"/>
                <a:gridCol w="656387"/>
                <a:gridCol w="656387"/>
                <a:gridCol w="656387"/>
                <a:gridCol w="656387"/>
                <a:gridCol w="656387"/>
                <a:gridCol w="656387"/>
                <a:gridCol w="656387"/>
                <a:gridCol w="656387"/>
                <a:gridCol w="656387"/>
                <a:gridCol w="656387"/>
                <a:gridCol w="656387"/>
                <a:gridCol w="656387"/>
                <a:gridCol w="656387"/>
              </a:tblGrid>
              <a:tr h="215265">
                <a:tc>
                  <a:txBody>
                    <a:bodyPr wrap="none"/>
                    <a:lstStyle/>
                    <a:p>
                      <a:pPr algn="l"/>
                      <a:r>
                        <a:rPr sz="1100" b="1">
                          <a:solidFill>
                            <a:srgbClr val="0B2E4A"/>
                          </a:solidFill>
                          <a:latin typeface="Calibri"/>
                        </a:rPr>
                        <a:t>Barrier Level Vs Application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2036F</a:t>
                      </a:r>
                      <a:endParaRPr sz="1100"/>
                    </a:p>
                  </a:txBody>
                  <a:tcPr marL="47625" marR="38100" marT="19050" marB="19050" anchor="ctr">
                    <a:solidFill>
                      <a:srgbClr val="E0E8EF"/>
                    </a:solidFill>
                  </a:tcPr>
                </a:tc>
              </a:tr>
              <a:tr h="215424">
                <a:tc>
                  <a:txBody>
                    <a:bodyPr wrap="none"/>
                    <a:lstStyle/>
                    <a:p>
                      <a:pPr algn="l"/>
                      <a:r>
                        <a:rPr sz="1100" b="1">
                          <a:solidFill>
                            <a:srgbClr val="2E2E2E"/>
                          </a:solidFill>
                          <a:latin typeface="Calibri"/>
                        </a:rPr>
                        <a:t>Low-Barrier Films</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4.6%</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FFFFF"/>
                    </a:solidFill>
                  </a:tcPr>
                </a:tc>
              </a:tr>
              <a:tr h="215424">
                <a:tc>
                  <a:txBody>
                    <a:bodyPr wrap="none"/>
                    <a:lstStyle/>
                    <a:p>
                      <a:pPr algn="l"/>
                      <a:r>
                        <a:rPr sz="1100" b="1">
                          <a:solidFill>
                            <a:srgbClr val="2E2E2E"/>
                          </a:solidFill>
                          <a:latin typeface="Calibri"/>
                        </a:rPr>
                        <a:t>– Food Packaging</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5F8FA"/>
                    </a:solidFill>
                  </a:tcPr>
                </a:tc>
              </a:tr>
              <a:tr h="215424">
                <a:tc>
                  <a:txBody>
                    <a:bodyPr wrap="none"/>
                    <a:lstStyle/>
                    <a:p>
                      <a:pPr algn="l"/>
                      <a:r>
                        <a:rPr sz="1100" b="1">
                          <a:solidFill>
                            <a:srgbClr val="2E2E2E"/>
                          </a:solidFill>
                          <a:latin typeface="Calibri"/>
                        </a:rPr>
                        <a:t>– Non-Food Packaging</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4.6%</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6.6%</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6.6%</a:t>
                      </a:r>
                      <a:endParaRPr sz="1100"/>
                    </a:p>
                  </a:txBody>
                  <a:tcPr marL="47625" marR="38100" marT="19050" marB="19050" anchor="ctr">
                    <a:solidFill>
                      <a:srgbClr val="FFFFFF"/>
                    </a:solidFill>
                  </a:tcPr>
                </a:tc>
              </a:tr>
              <a:tr h="215424">
                <a:tc>
                  <a:txBody>
                    <a:bodyPr wrap="none"/>
                    <a:lstStyle/>
                    <a:p>
                      <a:pPr algn="l"/>
                      <a:r>
                        <a:rPr sz="1100" b="1">
                          <a:solidFill>
                            <a:srgbClr val="2E2E2E"/>
                          </a:solidFill>
                          <a:latin typeface="Calibri"/>
                        </a:rPr>
                        <a:t>Medium-Barrier Films</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3.9%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4.8%</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5.7%</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6.5%</a:t>
                      </a:r>
                      <a:endParaRPr sz="1100"/>
                    </a:p>
                  </a:txBody>
                  <a:tcPr marL="47625" marR="38100" marT="19050" marB="19050" anchor="ctr">
                    <a:solidFill>
                      <a:srgbClr val="F5F8FA"/>
                    </a:solidFill>
                  </a:tcPr>
                </a:tc>
              </a:tr>
              <a:tr h="215424">
                <a:tc>
                  <a:txBody>
                    <a:bodyPr wrap="none"/>
                    <a:lstStyle/>
                    <a:p>
                      <a:pPr algn="l"/>
                      <a:r>
                        <a:rPr sz="1100" b="1">
                          <a:solidFill>
                            <a:srgbClr val="2E2E2E"/>
                          </a:solidFill>
                          <a:latin typeface="Calibri"/>
                        </a:rPr>
                        <a:t>– Food Packaging </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3.9%</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4.2%</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4.8%</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5.7%</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6.1%</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6.3%</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6.5%</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6.6%</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6.6%</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6.6%</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6.5%</a:t>
                      </a:r>
                      <a:endParaRPr sz="1100"/>
                    </a:p>
                  </a:txBody>
                  <a:tcPr marL="47625" marR="38100" marT="19050" marB="19050" anchor="ctr">
                    <a:solidFill>
                      <a:srgbClr val="FFFFFF"/>
                    </a:solidFill>
                  </a:tcPr>
                </a:tc>
              </a:tr>
              <a:tr h="215424">
                <a:tc>
                  <a:txBody>
                    <a:bodyPr wrap="none"/>
                    <a:lstStyle/>
                    <a:p>
                      <a:pPr algn="l"/>
                      <a:r>
                        <a:rPr sz="1100" b="1">
                          <a:solidFill>
                            <a:srgbClr val="2E2E2E"/>
                          </a:solidFill>
                          <a:latin typeface="Calibri"/>
                        </a:rPr>
                        <a:t>– Non-Food Packaging </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4.3%</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5.6%</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6.2%</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6.4%</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6.5%</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6.4%</a:t>
                      </a:r>
                      <a:endParaRPr sz="1100"/>
                    </a:p>
                  </a:txBody>
                  <a:tcPr marL="47625" marR="38100" marT="19050" marB="19050" anchor="ctr">
                    <a:solidFill>
                      <a:srgbClr val="F5F8FA"/>
                    </a:solidFill>
                  </a:tcPr>
                </a:tc>
              </a:tr>
              <a:tr h="215424">
                <a:tc>
                  <a:txBody>
                    <a:bodyPr wrap="none"/>
                    <a:lstStyle/>
                    <a:p>
                      <a:pPr algn="l"/>
                      <a:r>
                        <a:rPr sz="1100" b="1">
                          <a:solidFill>
                            <a:srgbClr val="2E2E2E"/>
                          </a:solidFill>
                          <a:latin typeface="Calibri"/>
                        </a:rPr>
                        <a:t>High-Barrier Films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5.0%</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6.0%</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7.3%</a:t>
                      </a:r>
                      <a:endParaRPr sz="1100"/>
                    </a:p>
                  </a:txBody>
                  <a:tcPr marL="47625" marR="38100" marT="19050" marB="19050" anchor="ctr">
                    <a:solidFill>
                      <a:srgbClr val="FFFFFF"/>
                    </a:solidFill>
                  </a:tcPr>
                </a:tc>
              </a:tr>
              <a:tr h="215424">
                <a:tc>
                  <a:txBody>
                    <a:bodyPr wrap="none"/>
                    <a:lstStyle/>
                    <a:p>
                      <a:pPr algn="l"/>
                      <a:r>
                        <a:rPr sz="1100" b="1">
                          <a:solidFill>
                            <a:srgbClr val="2E2E2E"/>
                          </a:solidFill>
                          <a:latin typeface="Calibri"/>
                        </a:rPr>
                        <a:t>– Food Packaging  </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5.7%</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6.7%</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7.3%</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7.4%</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7.3%</a:t>
                      </a:r>
                      <a:endParaRPr sz="1100"/>
                    </a:p>
                  </a:txBody>
                  <a:tcPr marL="47625" marR="38100" marT="19050" marB="19050" anchor="ctr">
                    <a:solidFill>
                      <a:srgbClr val="F5F8FA"/>
                    </a:solidFill>
                  </a:tcPr>
                </a:tc>
              </a:tr>
              <a:tr h="215424">
                <a:tc>
                  <a:txBody>
                    <a:bodyPr wrap="none"/>
                    <a:lstStyle/>
                    <a:p>
                      <a:pPr algn="l"/>
                      <a:r>
                        <a:rPr sz="1100" b="1">
                          <a:solidFill>
                            <a:srgbClr val="2E2E2E"/>
                          </a:solidFill>
                          <a:latin typeface="Calibri"/>
                        </a:rPr>
                        <a:t>– Non-Food Packaging  </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4.8%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5.0%</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7.1%</a:t>
                      </a:r>
                      <a:endParaRPr sz="1100"/>
                    </a:p>
                  </a:txBody>
                  <a:tcPr marL="47625" marR="38100" marT="19050" marB="19050" anchor="ctr">
                    <a:solidFill>
                      <a:srgbClr val="FFFFFF"/>
                    </a:solidFill>
                  </a:tcPr>
                </a:tc>
              </a:tr>
              <a:tr h="215424">
                <a:tc>
                  <a:txBody>
                    <a:bodyPr wrap="none"/>
                    <a:lstStyle/>
                    <a:p>
                      <a:pPr algn="l"/>
                      <a:r>
                        <a:rPr sz="1100" b="1">
                          <a:solidFill>
                            <a:srgbClr val="2E2E2E"/>
                          </a:solidFill>
                          <a:latin typeface="Calibri"/>
                        </a:rPr>
                        <a:t>Ultra-High-Barrier Films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5.2%</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5.3%</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6.1%</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6.3%</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6.7%</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7.0%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6.9%</a:t>
                      </a:r>
                      <a:endParaRPr sz="1100"/>
                    </a:p>
                  </a:txBody>
                  <a:tcPr marL="47625" marR="38100" marT="19050" marB="19050" anchor="ctr">
                    <a:solidFill>
                      <a:srgbClr val="F5F8FA"/>
                    </a:solidFill>
                  </a:tcPr>
                </a:tc>
              </a:tr>
              <a:tr h="215424">
                <a:tc>
                  <a:txBody>
                    <a:bodyPr wrap="none"/>
                    <a:lstStyle/>
                    <a:p>
                      <a:pPr algn="l"/>
                      <a:r>
                        <a:rPr sz="1100" b="1">
                          <a:solidFill>
                            <a:srgbClr val="2E2E2E"/>
                          </a:solidFill>
                          <a:latin typeface="Calibri"/>
                        </a:rPr>
                        <a:t>– Food Packaging   </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5.1%</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5.4%</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5.9%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6.0%</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6.2%</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6.3%</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6.5%</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6.7%</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7.0%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7.0%</a:t>
                      </a:r>
                      <a:endParaRPr sz="1100"/>
                    </a:p>
                  </a:txBody>
                  <a:tcPr marL="47625" marR="38100" marT="19050" marB="19050" anchor="ctr">
                    <a:solidFill>
                      <a:srgbClr val="FFFFFF"/>
                    </a:solidFill>
                  </a:tcPr>
                </a:tc>
                <a:tc>
                  <a:txBody>
                    <a:bodyPr wrap="none"/>
                    <a:lstStyle/>
                    <a:p>
                      <a:pPr algn="l"/>
                      <a:r>
                        <a:rPr sz="1100" b="1">
                          <a:solidFill>
                            <a:srgbClr val="A86F00"/>
                          </a:solidFill>
                          <a:latin typeface="Calibri"/>
                        </a:rPr>
                        <a:t>▶ 6.9%</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6.9%</a:t>
                      </a:r>
                      <a:endParaRPr sz="1100"/>
                    </a:p>
                  </a:txBody>
                  <a:tcPr marL="47625" marR="38100" marT="19050" marB="19050" anchor="ctr">
                    <a:solidFill>
                      <a:srgbClr val="FFFFFF"/>
                    </a:solidFill>
                  </a:tcPr>
                </a:tc>
              </a:tr>
              <a:tr h="215424">
                <a:tc>
                  <a:txBody>
                    <a:bodyPr wrap="none"/>
                    <a:lstStyle/>
                    <a:p>
                      <a:pPr algn="l"/>
                      <a:r>
                        <a:rPr sz="1100" b="1">
                          <a:solidFill>
                            <a:srgbClr val="2E2E2E"/>
                          </a:solidFill>
                          <a:latin typeface="Calibri"/>
                        </a:rPr>
                        <a:t>– Non-Food Packaging   </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4.7%</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4.9%</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5.1%</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5.6%</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5.8%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6.0%</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6.1%</a:t>
                      </a:r>
                      <a:endParaRPr sz="1100"/>
                    </a:p>
                  </a:txBody>
                  <a:tcPr marL="47625" marR="38100" marT="19050" marB="19050" anchor="ctr">
                    <a:solidFill>
                      <a:srgbClr val="F5F8FA"/>
                    </a:solidFill>
                  </a:tcPr>
                </a:tc>
                <a:tc>
                  <a:txBody>
                    <a:bodyPr wrap="none"/>
                    <a:lstStyle/>
                    <a:p>
                      <a:pPr algn="l"/>
                      <a:r>
                        <a:rPr sz="1100" b="1">
                          <a:solidFill>
                            <a:srgbClr val="A86F00"/>
                          </a:solidFill>
                          <a:latin typeface="Calibri"/>
                        </a:rPr>
                        <a:t>▶ 6.5%</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6.8%</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7.0%</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6.9%</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40481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YoY Analysis of Global Market Value, By Barrier Level Vs Application (%)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Year-on-year value growth by Barrier Level Vs Application, 2022–2036, highlighting acceleration and slowdown</a:t>
            </a:r>
          </a:p>
        </p:txBody>
      </p:sp>
      <p:sp>
        <p:nvSpPr>
          <p:cNvPr id="10" name="Rounded Rectangle 9"/>
          <p:cNvSpPr/>
          <p:nvPr/>
        </p:nvSpPr>
        <p:spPr>
          <a:xfrm>
            <a:off x="142875" y="981075"/>
            <a:ext cx="11906250"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YoY Heatmap, By Barrier Level Vs Application (%)  ·  light = lower, dark = higher growth</a:t>
            </a:r>
          </a:p>
        </p:txBody>
      </p:sp>
      <p:sp>
        <p:nvSpPr>
          <p:cNvPr id="12" name="TextBox 11"/>
          <p:cNvSpPr txBox="1"/>
          <p:nvPr/>
        </p:nvSpPr>
        <p:spPr>
          <a:xfrm>
            <a:off x="185737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2022</a:t>
            </a:r>
          </a:p>
        </p:txBody>
      </p:sp>
      <p:sp>
        <p:nvSpPr>
          <p:cNvPr id="13" name="TextBox 12"/>
          <p:cNvSpPr txBox="1"/>
          <p:nvPr/>
        </p:nvSpPr>
        <p:spPr>
          <a:xfrm>
            <a:off x="250126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2023</a:t>
            </a:r>
          </a:p>
        </p:txBody>
      </p:sp>
      <p:sp>
        <p:nvSpPr>
          <p:cNvPr id="14" name="TextBox 13"/>
          <p:cNvSpPr txBox="1"/>
          <p:nvPr/>
        </p:nvSpPr>
        <p:spPr>
          <a:xfrm>
            <a:off x="314515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2024</a:t>
            </a:r>
          </a:p>
        </p:txBody>
      </p:sp>
      <p:sp>
        <p:nvSpPr>
          <p:cNvPr id="15" name="TextBox 14"/>
          <p:cNvSpPr txBox="1"/>
          <p:nvPr/>
        </p:nvSpPr>
        <p:spPr>
          <a:xfrm>
            <a:off x="378904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2025</a:t>
            </a:r>
          </a:p>
        </p:txBody>
      </p:sp>
      <p:sp>
        <p:nvSpPr>
          <p:cNvPr id="16" name="TextBox 15"/>
          <p:cNvSpPr txBox="1"/>
          <p:nvPr/>
        </p:nvSpPr>
        <p:spPr>
          <a:xfrm>
            <a:off x="443293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2026</a:t>
            </a:r>
          </a:p>
        </p:txBody>
      </p:sp>
      <p:sp>
        <p:nvSpPr>
          <p:cNvPr id="17" name="TextBox 16"/>
          <p:cNvSpPr txBox="1"/>
          <p:nvPr/>
        </p:nvSpPr>
        <p:spPr>
          <a:xfrm>
            <a:off x="507682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2027</a:t>
            </a:r>
          </a:p>
        </p:txBody>
      </p:sp>
      <p:sp>
        <p:nvSpPr>
          <p:cNvPr id="18" name="TextBox 17"/>
          <p:cNvSpPr txBox="1"/>
          <p:nvPr/>
        </p:nvSpPr>
        <p:spPr>
          <a:xfrm>
            <a:off x="572071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2028</a:t>
            </a:r>
          </a:p>
        </p:txBody>
      </p:sp>
      <p:sp>
        <p:nvSpPr>
          <p:cNvPr id="19" name="TextBox 18"/>
          <p:cNvSpPr txBox="1"/>
          <p:nvPr/>
        </p:nvSpPr>
        <p:spPr>
          <a:xfrm>
            <a:off x="636460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2029</a:t>
            </a:r>
          </a:p>
        </p:txBody>
      </p:sp>
      <p:sp>
        <p:nvSpPr>
          <p:cNvPr id="20" name="TextBox 19"/>
          <p:cNvSpPr txBox="1"/>
          <p:nvPr/>
        </p:nvSpPr>
        <p:spPr>
          <a:xfrm>
            <a:off x="700849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2030</a:t>
            </a:r>
          </a:p>
        </p:txBody>
      </p:sp>
      <p:sp>
        <p:nvSpPr>
          <p:cNvPr id="21" name="TextBox 20"/>
          <p:cNvSpPr txBox="1"/>
          <p:nvPr/>
        </p:nvSpPr>
        <p:spPr>
          <a:xfrm>
            <a:off x="765238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2031</a:t>
            </a:r>
          </a:p>
        </p:txBody>
      </p:sp>
      <p:sp>
        <p:nvSpPr>
          <p:cNvPr id="22" name="TextBox 21"/>
          <p:cNvSpPr txBox="1"/>
          <p:nvPr/>
        </p:nvSpPr>
        <p:spPr>
          <a:xfrm>
            <a:off x="829627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2032</a:t>
            </a:r>
          </a:p>
        </p:txBody>
      </p:sp>
      <p:sp>
        <p:nvSpPr>
          <p:cNvPr id="23" name="TextBox 22"/>
          <p:cNvSpPr txBox="1"/>
          <p:nvPr/>
        </p:nvSpPr>
        <p:spPr>
          <a:xfrm>
            <a:off x="894016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2033</a:t>
            </a:r>
          </a:p>
        </p:txBody>
      </p:sp>
      <p:sp>
        <p:nvSpPr>
          <p:cNvPr id="24" name="TextBox 23"/>
          <p:cNvSpPr txBox="1"/>
          <p:nvPr/>
        </p:nvSpPr>
        <p:spPr>
          <a:xfrm>
            <a:off x="958405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2034</a:t>
            </a:r>
          </a:p>
        </p:txBody>
      </p:sp>
      <p:sp>
        <p:nvSpPr>
          <p:cNvPr id="25" name="TextBox 24"/>
          <p:cNvSpPr txBox="1"/>
          <p:nvPr/>
        </p:nvSpPr>
        <p:spPr>
          <a:xfrm>
            <a:off x="1022794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2035</a:t>
            </a:r>
          </a:p>
        </p:txBody>
      </p:sp>
      <p:sp>
        <p:nvSpPr>
          <p:cNvPr id="26" name="TextBox 25"/>
          <p:cNvSpPr txBox="1"/>
          <p:nvPr/>
        </p:nvSpPr>
        <p:spPr>
          <a:xfrm>
            <a:off x="10871835" y="1266825"/>
            <a:ext cx="643890" cy="142875"/>
          </a:xfrm>
          <a:prstGeom prst="rect">
            <a:avLst/>
          </a:prstGeom>
          <a:noFill/>
        </p:spPr>
        <p:txBody>
          <a:bodyPr wrap="none" lIns="0" rIns="0" tIns="0" bIns="0" anchor="ctr">
            <a:spAutoFit/>
          </a:bodyPr>
          <a:lstStyle/>
          <a:p>
            <a:pPr algn="ctr"/>
            <a:r>
              <a:rPr sz="1100" b="1">
                <a:solidFill>
                  <a:srgbClr val="6C7A89"/>
                </a:solidFill>
                <a:latin typeface="Calibri"/>
              </a:rPr>
              <a:t>2036</a:t>
            </a:r>
          </a:p>
        </p:txBody>
      </p:sp>
      <p:sp>
        <p:nvSpPr>
          <p:cNvPr id="27" name="TextBox 26"/>
          <p:cNvSpPr txBox="1"/>
          <p:nvPr/>
        </p:nvSpPr>
        <p:spPr>
          <a:xfrm>
            <a:off x="238125" y="1409700"/>
            <a:ext cx="1590675" cy="430212"/>
          </a:xfrm>
          <a:prstGeom prst="rect">
            <a:avLst/>
          </a:prstGeom>
          <a:noFill/>
        </p:spPr>
        <p:txBody>
          <a:bodyPr wrap="square" lIns="28575" rIns="28575" tIns="9525" bIns="9525" anchor="ctr">
            <a:spAutoFit/>
          </a:bodyPr>
          <a:lstStyle/>
          <a:p>
            <a:pPr algn="l"/>
            <a:r>
              <a:rPr sz="1100" b="0">
                <a:solidFill>
                  <a:srgbClr val="2E2E2E"/>
                </a:solidFill>
                <a:latin typeface="Calibri"/>
              </a:rPr>
              <a:t>Low-Barrier Films</a:t>
            </a:r>
          </a:p>
        </p:txBody>
      </p:sp>
      <p:sp>
        <p:nvSpPr>
          <p:cNvPr id="28" name="Rectangle 27"/>
          <p:cNvSpPr/>
          <p:nvPr/>
        </p:nvSpPr>
        <p:spPr>
          <a:xfrm>
            <a:off x="1857375" y="1409700"/>
            <a:ext cx="643890" cy="430212"/>
          </a:xfrm>
          <a:prstGeom prst="rect">
            <a:avLst/>
          </a:prstGeom>
          <a:solidFill>
            <a:srgbClr val="F0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01265" y="1409700"/>
            <a:ext cx="643890" cy="430212"/>
          </a:xfrm>
          <a:prstGeom prst="rect">
            <a:avLst/>
          </a:prstGeom>
          <a:solidFill>
            <a:srgbClr val="EDF7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145155" y="1409700"/>
            <a:ext cx="643890" cy="430212"/>
          </a:xfrm>
          <a:prstGeom prst="rect">
            <a:avLst/>
          </a:prstGeom>
          <a:solidFill>
            <a:srgbClr val="E7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789045" y="1409700"/>
            <a:ext cx="643890" cy="430212"/>
          </a:xfrm>
          <a:prstGeom prst="rect">
            <a:avLst/>
          </a:prstGeom>
          <a:solidFill>
            <a:srgbClr val="E1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432935" y="1409700"/>
            <a:ext cx="643890" cy="430212"/>
          </a:xfrm>
          <a:prstGeom prst="rect">
            <a:avLst/>
          </a:prstGeom>
          <a:solidFill>
            <a:srgbClr val="BCD5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76825" y="1409700"/>
            <a:ext cx="643890" cy="430212"/>
          </a:xfrm>
          <a:prstGeom prst="rect">
            <a:avLst/>
          </a:prstGeom>
          <a:solidFill>
            <a:srgbClr val="A4C7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720715" y="1409700"/>
            <a:ext cx="643890" cy="430212"/>
          </a:xfrm>
          <a:prstGeom prst="rect">
            <a:avLst/>
          </a:prstGeom>
          <a:solidFill>
            <a:srgbClr val="86B6D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364605" y="1409700"/>
            <a:ext cx="643890" cy="430212"/>
          </a:xfrm>
          <a:prstGeom prst="rect">
            <a:avLst/>
          </a:prstGeom>
          <a:solidFill>
            <a:srgbClr val="5DA0C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08495" y="1409700"/>
            <a:ext cx="643890" cy="430212"/>
          </a:xfrm>
          <a:prstGeom prst="rect">
            <a:avLst/>
          </a:prstGeom>
          <a:solidFill>
            <a:srgbClr val="398C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652385" y="1409700"/>
            <a:ext cx="643890" cy="430212"/>
          </a:xfrm>
          <a:prstGeom prst="rect">
            <a:avLst/>
          </a:prstGeom>
          <a:solidFill>
            <a:srgbClr val="2680B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296275" y="1409700"/>
            <a:ext cx="643890" cy="430212"/>
          </a:xfrm>
          <a:prstGeom prst="rect">
            <a:avLst/>
          </a:prstGeom>
          <a:solidFill>
            <a:srgbClr val="1A79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940165" y="1409700"/>
            <a:ext cx="643890" cy="430212"/>
          </a:xfrm>
          <a:prstGeom prst="rect">
            <a:avLst/>
          </a:prstGeom>
          <a:solidFill>
            <a:srgbClr val="1878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584055" y="1409700"/>
            <a:ext cx="643890" cy="430212"/>
          </a:xfrm>
          <a:prstGeom prst="rect">
            <a:avLst/>
          </a:prstGeom>
          <a:solidFill>
            <a:srgbClr val="1878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227945" y="1409700"/>
            <a:ext cx="643890" cy="430212"/>
          </a:xfrm>
          <a:prstGeom prst="rect">
            <a:avLst/>
          </a:prstGeom>
          <a:solidFill>
            <a:srgbClr val="1D7BB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871835" y="1409700"/>
            <a:ext cx="643890" cy="430212"/>
          </a:xfrm>
          <a:prstGeom prst="rect">
            <a:avLst/>
          </a:prstGeom>
          <a:solidFill>
            <a:srgbClr val="227EB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38125" y="1839912"/>
            <a:ext cx="1590675" cy="430212"/>
          </a:xfrm>
          <a:prstGeom prst="rect">
            <a:avLst/>
          </a:prstGeom>
          <a:noFill/>
        </p:spPr>
        <p:txBody>
          <a:bodyPr wrap="square" lIns="28575" rIns="28575" tIns="9525" bIns="9525" anchor="ctr">
            <a:spAutoFit/>
          </a:bodyPr>
          <a:lstStyle/>
          <a:p>
            <a:pPr algn="l"/>
            <a:r>
              <a:rPr sz="1100" b="0">
                <a:solidFill>
                  <a:srgbClr val="2E2E2E"/>
                </a:solidFill>
                <a:latin typeface="Calibri"/>
              </a:rPr>
              <a:t>– Food Packaging</a:t>
            </a:r>
          </a:p>
        </p:txBody>
      </p:sp>
      <p:sp>
        <p:nvSpPr>
          <p:cNvPr id="44" name="Rectangle 43"/>
          <p:cNvSpPr/>
          <p:nvPr/>
        </p:nvSpPr>
        <p:spPr>
          <a:xfrm>
            <a:off x="1857375" y="1839912"/>
            <a:ext cx="643890" cy="430212"/>
          </a:xfrm>
          <a:prstGeom prst="rect">
            <a:avLst/>
          </a:prstGeom>
          <a:solidFill>
            <a:srgbClr val="F0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501265" y="1839912"/>
            <a:ext cx="643890" cy="430212"/>
          </a:xfrm>
          <a:prstGeom prst="rect">
            <a:avLst/>
          </a:prstGeom>
          <a:solidFill>
            <a:srgbClr val="ED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145155" y="1839912"/>
            <a:ext cx="643890" cy="430212"/>
          </a:xfrm>
          <a:prstGeom prst="rect">
            <a:avLst/>
          </a:prstGeom>
          <a:solidFill>
            <a:srgbClr val="E7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789045" y="1839912"/>
            <a:ext cx="643890" cy="430212"/>
          </a:xfrm>
          <a:prstGeom prst="rect">
            <a:avLst/>
          </a:prstGeom>
          <a:solidFill>
            <a:srgbClr val="E1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432935" y="1839912"/>
            <a:ext cx="643890" cy="430212"/>
          </a:xfrm>
          <a:prstGeom prst="rect">
            <a:avLst/>
          </a:prstGeom>
          <a:solidFill>
            <a:srgbClr val="BDD5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076825" y="1839912"/>
            <a:ext cx="643890" cy="430212"/>
          </a:xfrm>
          <a:prstGeom prst="rect">
            <a:avLst/>
          </a:prstGeom>
          <a:solidFill>
            <a:srgbClr val="A3C7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720715" y="1839912"/>
            <a:ext cx="643890" cy="430212"/>
          </a:xfrm>
          <a:prstGeom prst="rect">
            <a:avLst/>
          </a:prstGeom>
          <a:solidFill>
            <a:srgbClr val="84B5D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364605" y="1839912"/>
            <a:ext cx="643890" cy="430212"/>
          </a:xfrm>
          <a:prstGeom prst="rect">
            <a:avLst/>
          </a:prstGeom>
          <a:solidFill>
            <a:srgbClr val="5B9F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008495" y="1839912"/>
            <a:ext cx="643890" cy="430212"/>
          </a:xfrm>
          <a:prstGeom prst="rect">
            <a:avLst/>
          </a:prstGeom>
          <a:solidFill>
            <a:srgbClr val="378B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652385" y="1839912"/>
            <a:ext cx="643890" cy="430212"/>
          </a:xfrm>
          <a:prstGeom prst="rect">
            <a:avLst/>
          </a:prstGeom>
          <a:solidFill>
            <a:srgbClr val="2580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296275" y="1839912"/>
            <a:ext cx="643890" cy="430212"/>
          </a:xfrm>
          <a:prstGeom prst="rect">
            <a:avLst/>
          </a:prstGeom>
          <a:solidFill>
            <a:srgbClr val="1979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940165" y="1839912"/>
            <a:ext cx="643890" cy="430212"/>
          </a:xfrm>
          <a:prstGeom prst="rect">
            <a:avLst/>
          </a:prstGeom>
          <a:solidFill>
            <a:srgbClr val="1778B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584055" y="1839912"/>
            <a:ext cx="643890" cy="430212"/>
          </a:xfrm>
          <a:prstGeom prst="rect">
            <a:avLst/>
          </a:prstGeom>
          <a:solidFill>
            <a:srgbClr val="1778B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227945" y="1839912"/>
            <a:ext cx="643890" cy="430212"/>
          </a:xfrm>
          <a:prstGeom prst="rect">
            <a:avLst/>
          </a:prstGeom>
          <a:solidFill>
            <a:srgbClr val="1C7A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0871835" y="1839912"/>
            <a:ext cx="643890" cy="430212"/>
          </a:xfrm>
          <a:prstGeom prst="rect">
            <a:avLst/>
          </a:prstGeom>
          <a:solidFill>
            <a:srgbClr val="217EB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38125" y="2270125"/>
            <a:ext cx="1590675" cy="430212"/>
          </a:xfrm>
          <a:prstGeom prst="rect">
            <a:avLst/>
          </a:prstGeom>
          <a:noFill/>
        </p:spPr>
        <p:txBody>
          <a:bodyPr wrap="square" lIns="28575" rIns="28575" tIns="9525" bIns="9525" anchor="ctr">
            <a:spAutoFit/>
          </a:bodyPr>
          <a:lstStyle/>
          <a:p>
            <a:pPr algn="l"/>
            <a:r>
              <a:rPr sz="1100" b="0">
                <a:solidFill>
                  <a:srgbClr val="2E2E2E"/>
                </a:solidFill>
                <a:latin typeface="Calibri"/>
              </a:rPr>
              <a:t>– Non-Food Packaging</a:t>
            </a:r>
          </a:p>
        </p:txBody>
      </p:sp>
      <p:sp>
        <p:nvSpPr>
          <p:cNvPr id="60" name="Rectangle 59"/>
          <p:cNvSpPr/>
          <p:nvPr/>
        </p:nvSpPr>
        <p:spPr>
          <a:xfrm>
            <a:off x="1857375" y="2270125"/>
            <a:ext cx="643890" cy="430212"/>
          </a:xfrm>
          <a:prstGeom prst="rect">
            <a:avLst/>
          </a:prstGeom>
          <a:solidFill>
            <a:srgbClr val="F2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501265" y="2270125"/>
            <a:ext cx="643890" cy="430212"/>
          </a:xfrm>
          <a:prstGeom prst="rect">
            <a:avLst/>
          </a:prstGeom>
          <a:solidFill>
            <a:srgbClr val="EE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3145155" y="2270125"/>
            <a:ext cx="643890" cy="430212"/>
          </a:xfrm>
          <a:prstGeom prst="rect">
            <a:avLst/>
          </a:prstGeom>
          <a:solidFill>
            <a:srgbClr val="E7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3789045" y="2270125"/>
            <a:ext cx="643890" cy="430212"/>
          </a:xfrm>
          <a:prstGeom prst="rect">
            <a:avLst/>
          </a:prstGeom>
          <a:solidFill>
            <a:srgbClr val="E0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432935" y="2270125"/>
            <a:ext cx="643890" cy="430212"/>
          </a:xfrm>
          <a:prstGeom prst="rect">
            <a:avLst/>
          </a:prstGeom>
          <a:solidFill>
            <a:srgbClr val="BBD4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076825" y="2270125"/>
            <a:ext cx="643890" cy="430212"/>
          </a:xfrm>
          <a:prstGeom prst="rect">
            <a:avLst/>
          </a:prstGeom>
          <a:solidFill>
            <a:srgbClr val="A4C7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5720715" y="2270125"/>
            <a:ext cx="643890" cy="430212"/>
          </a:xfrm>
          <a:prstGeom prst="rect">
            <a:avLst/>
          </a:prstGeom>
          <a:solidFill>
            <a:srgbClr val="8CB9D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364605" y="2270125"/>
            <a:ext cx="643890" cy="430212"/>
          </a:xfrm>
          <a:prstGeom prst="rect">
            <a:avLst/>
          </a:prstGeom>
          <a:solidFill>
            <a:srgbClr val="68A6C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7008495" y="2270125"/>
            <a:ext cx="643890" cy="430212"/>
          </a:xfrm>
          <a:prstGeom prst="rect">
            <a:avLst/>
          </a:prstGeom>
          <a:solidFill>
            <a:srgbClr val="4190C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7652385" y="2270125"/>
            <a:ext cx="643890" cy="430212"/>
          </a:xfrm>
          <a:prstGeom prst="rect">
            <a:avLst/>
          </a:prstGeom>
          <a:solidFill>
            <a:srgbClr val="2B84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8296275" y="2270125"/>
            <a:ext cx="643890" cy="430212"/>
          </a:xfrm>
          <a:prstGeom prst="rect">
            <a:avLst/>
          </a:prstGeom>
          <a:solidFill>
            <a:srgbClr val="1E7CB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8940165" y="2270125"/>
            <a:ext cx="643890" cy="430212"/>
          </a:xfrm>
          <a:prstGeom prst="rect">
            <a:avLst/>
          </a:prstGeom>
          <a:solidFill>
            <a:srgbClr val="1D7BB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9584055" y="2270125"/>
            <a:ext cx="643890" cy="430212"/>
          </a:xfrm>
          <a:prstGeom prst="rect">
            <a:avLst/>
          </a:prstGeom>
          <a:solidFill>
            <a:srgbClr val="1D7BB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0227945" y="2270125"/>
            <a:ext cx="643890" cy="430212"/>
          </a:xfrm>
          <a:prstGeom prst="rect">
            <a:avLst/>
          </a:prstGeom>
          <a:solidFill>
            <a:srgbClr val="227EB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0871835" y="2270125"/>
            <a:ext cx="643890" cy="430212"/>
          </a:xfrm>
          <a:prstGeom prst="rect">
            <a:avLst/>
          </a:prstGeom>
          <a:solidFill>
            <a:srgbClr val="2882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38125" y="2700338"/>
            <a:ext cx="1590675" cy="430212"/>
          </a:xfrm>
          <a:prstGeom prst="rect">
            <a:avLst/>
          </a:prstGeom>
          <a:noFill/>
        </p:spPr>
        <p:txBody>
          <a:bodyPr wrap="square" lIns="28575" rIns="28575" tIns="9525" bIns="9525" anchor="ctr">
            <a:spAutoFit/>
          </a:bodyPr>
          <a:lstStyle/>
          <a:p>
            <a:pPr algn="l"/>
            <a:r>
              <a:rPr sz="1100" b="0">
                <a:solidFill>
                  <a:srgbClr val="2E2E2E"/>
                </a:solidFill>
                <a:latin typeface="Calibri"/>
              </a:rPr>
              <a:t>Medium-Barrier Films</a:t>
            </a:r>
          </a:p>
        </p:txBody>
      </p:sp>
      <p:sp>
        <p:nvSpPr>
          <p:cNvPr id="76" name="Rectangle 75"/>
          <p:cNvSpPr/>
          <p:nvPr/>
        </p:nvSpPr>
        <p:spPr>
          <a:xfrm>
            <a:off x="1857375" y="2700338"/>
            <a:ext cx="643890" cy="430212"/>
          </a:xfrm>
          <a:prstGeom prst="rect">
            <a:avLst/>
          </a:prstGeom>
          <a:solidFill>
            <a:srgbClr val="FE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2501265" y="2700338"/>
            <a:ext cx="643890" cy="430212"/>
          </a:xfrm>
          <a:prstGeom prst="rect">
            <a:avLst/>
          </a:prstGeom>
          <a:solidFill>
            <a:srgbClr val="FB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3145155" y="2700338"/>
            <a:ext cx="643890" cy="430212"/>
          </a:xfrm>
          <a:prstGeom prst="rect">
            <a:avLst/>
          </a:prstGeom>
          <a:solidFill>
            <a:srgbClr val="F6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3789045" y="2700338"/>
            <a:ext cx="643890" cy="430212"/>
          </a:xfrm>
          <a:prstGeom prst="rect">
            <a:avLst/>
          </a:prstGeom>
          <a:solidFill>
            <a:srgbClr val="F2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4432935" y="2700338"/>
            <a:ext cx="643890" cy="430212"/>
          </a:xfrm>
          <a:prstGeom prst="rect">
            <a:avLst/>
          </a:prstGeom>
          <a:solidFill>
            <a:srgbClr val="D6E6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5076825" y="2700338"/>
            <a:ext cx="643890" cy="430212"/>
          </a:xfrm>
          <a:prstGeom prst="rect">
            <a:avLst/>
          </a:prstGeom>
          <a:solidFill>
            <a:srgbClr val="C5DA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5720715" y="2700338"/>
            <a:ext cx="643890" cy="430212"/>
          </a:xfrm>
          <a:prstGeom prst="rect">
            <a:avLst/>
          </a:prstGeom>
          <a:solidFill>
            <a:srgbClr val="ABCB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6364605" y="2700338"/>
            <a:ext cx="643890" cy="430212"/>
          </a:xfrm>
          <a:prstGeom prst="rect">
            <a:avLst/>
          </a:prstGeom>
          <a:solidFill>
            <a:srgbClr val="91BC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7008495" y="2700338"/>
            <a:ext cx="643890" cy="430212"/>
          </a:xfrm>
          <a:prstGeom prst="rect">
            <a:avLst/>
          </a:prstGeom>
          <a:solidFill>
            <a:srgbClr val="67A5C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7652385" y="2700338"/>
            <a:ext cx="643890" cy="430212"/>
          </a:xfrm>
          <a:prstGeom prst="rect">
            <a:avLst/>
          </a:prstGeom>
          <a:solidFill>
            <a:srgbClr val="4593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8296275" y="2700338"/>
            <a:ext cx="643890" cy="430212"/>
          </a:xfrm>
          <a:prstGeom prst="rect">
            <a:avLst/>
          </a:prstGeom>
          <a:solidFill>
            <a:srgbClr val="3288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8940165" y="2700338"/>
            <a:ext cx="643890" cy="430212"/>
          </a:xfrm>
          <a:prstGeom prst="rect">
            <a:avLst/>
          </a:prstGeom>
          <a:solidFill>
            <a:srgbClr val="2C84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9584055" y="2700338"/>
            <a:ext cx="643890" cy="430212"/>
          </a:xfrm>
          <a:prstGeom prst="rect">
            <a:avLst/>
          </a:prstGeom>
          <a:solidFill>
            <a:srgbClr val="2B83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10227945" y="2700338"/>
            <a:ext cx="643890" cy="430212"/>
          </a:xfrm>
          <a:prstGeom prst="rect">
            <a:avLst/>
          </a:prstGeom>
          <a:solidFill>
            <a:srgbClr val="2F86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10871835" y="2700338"/>
            <a:ext cx="643890" cy="430212"/>
          </a:xfrm>
          <a:prstGeom prst="rect">
            <a:avLst/>
          </a:prstGeom>
          <a:solidFill>
            <a:srgbClr val="3388B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38125" y="3130550"/>
            <a:ext cx="1590675" cy="430212"/>
          </a:xfrm>
          <a:prstGeom prst="rect">
            <a:avLst/>
          </a:prstGeom>
          <a:noFill/>
        </p:spPr>
        <p:txBody>
          <a:bodyPr wrap="square" lIns="28575" rIns="28575" tIns="9525" bIns="9525" anchor="ctr">
            <a:spAutoFit/>
          </a:bodyPr>
          <a:lstStyle/>
          <a:p>
            <a:pPr algn="l"/>
            <a:r>
              <a:rPr sz="1100" b="0">
                <a:solidFill>
                  <a:srgbClr val="2E2E2E"/>
                </a:solidFill>
                <a:latin typeface="Calibri"/>
              </a:rPr>
              <a:t>– Food Packaging </a:t>
            </a:r>
          </a:p>
        </p:txBody>
      </p:sp>
      <p:sp>
        <p:nvSpPr>
          <p:cNvPr id="92" name="Rectangle 91"/>
          <p:cNvSpPr/>
          <p:nvPr/>
        </p:nvSpPr>
        <p:spPr>
          <a:xfrm>
            <a:off x="1857375" y="3130550"/>
            <a:ext cx="643890" cy="430212"/>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2501265" y="3130550"/>
            <a:ext cx="643890" cy="430212"/>
          </a:xfrm>
          <a:prstGeom prst="rect">
            <a:avLst/>
          </a:prstGeom>
          <a:solidFill>
            <a:srgbClr val="FCFE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3145155" y="3130550"/>
            <a:ext cx="643890" cy="430212"/>
          </a:xfrm>
          <a:prstGeom prst="rect">
            <a:avLst/>
          </a:prstGeom>
          <a:solidFill>
            <a:srgbClr val="F7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3789045" y="3130550"/>
            <a:ext cx="643890" cy="430212"/>
          </a:xfrm>
          <a:prstGeom prst="rect">
            <a:avLst/>
          </a:prstGeom>
          <a:solidFill>
            <a:srgbClr val="F3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4432935" y="3130550"/>
            <a:ext cx="643890" cy="430212"/>
          </a:xfrm>
          <a:prstGeom prst="rect">
            <a:avLst/>
          </a:prstGeom>
          <a:solidFill>
            <a:srgbClr val="D7E6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5076825" y="3130550"/>
            <a:ext cx="643890" cy="430212"/>
          </a:xfrm>
          <a:prstGeom prst="rect">
            <a:avLst/>
          </a:prstGeom>
          <a:solidFill>
            <a:srgbClr val="C5DA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5720715" y="3130550"/>
            <a:ext cx="643890" cy="430212"/>
          </a:xfrm>
          <a:prstGeom prst="rect">
            <a:avLst/>
          </a:prstGeom>
          <a:solidFill>
            <a:srgbClr val="ABCB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6364605" y="3130550"/>
            <a:ext cx="643890" cy="430212"/>
          </a:xfrm>
          <a:prstGeom prst="rect">
            <a:avLst/>
          </a:prstGeom>
          <a:solidFill>
            <a:srgbClr val="90BB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7008495" y="3130550"/>
            <a:ext cx="643890" cy="430212"/>
          </a:xfrm>
          <a:prstGeom prst="rect">
            <a:avLst/>
          </a:prstGeom>
          <a:solidFill>
            <a:srgbClr val="65A4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7652385" y="3130550"/>
            <a:ext cx="643890" cy="430212"/>
          </a:xfrm>
          <a:prstGeom prst="rect">
            <a:avLst/>
          </a:prstGeom>
          <a:solidFill>
            <a:srgbClr val="4392C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8296275" y="3130550"/>
            <a:ext cx="643890" cy="430212"/>
          </a:xfrm>
          <a:prstGeom prst="rect">
            <a:avLst/>
          </a:prstGeom>
          <a:solidFill>
            <a:srgbClr val="3187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8940165" y="3130550"/>
            <a:ext cx="643890" cy="430212"/>
          </a:xfrm>
          <a:prstGeom prst="rect">
            <a:avLst/>
          </a:prstGeom>
          <a:solidFill>
            <a:srgbClr val="2B83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9584055" y="3130550"/>
            <a:ext cx="643890" cy="430212"/>
          </a:xfrm>
          <a:prstGeom prst="rect">
            <a:avLst/>
          </a:prstGeom>
          <a:solidFill>
            <a:srgbClr val="2983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0227945" y="3130550"/>
            <a:ext cx="643890" cy="430212"/>
          </a:xfrm>
          <a:prstGeom prst="rect">
            <a:avLst/>
          </a:prstGeom>
          <a:solidFill>
            <a:srgbClr val="2D85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0871835" y="3130550"/>
            <a:ext cx="643890" cy="430212"/>
          </a:xfrm>
          <a:prstGeom prst="rect">
            <a:avLst/>
          </a:prstGeom>
          <a:solidFill>
            <a:srgbClr val="3288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238125" y="3560762"/>
            <a:ext cx="1590675" cy="430212"/>
          </a:xfrm>
          <a:prstGeom prst="rect">
            <a:avLst/>
          </a:prstGeom>
          <a:noFill/>
        </p:spPr>
        <p:txBody>
          <a:bodyPr wrap="square" lIns="28575" rIns="28575" tIns="9525" bIns="9525" anchor="ctr">
            <a:spAutoFit/>
          </a:bodyPr>
          <a:lstStyle/>
          <a:p>
            <a:pPr algn="l"/>
            <a:r>
              <a:rPr sz="1100" b="0">
                <a:solidFill>
                  <a:srgbClr val="2E2E2E"/>
                </a:solidFill>
                <a:latin typeface="Calibri"/>
              </a:rPr>
              <a:t>– Non-Food Packaging </a:t>
            </a:r>
          </a:p>
        </p:txBody>
      </p:sp>
      <p:sp>
        <p:nvSpPr>
          <p:cNvPr id="108" name="Rectangle 107"/>
          <p:cNvSpPr/>
          <p:nvPr/>
        </p:nvSpPr>
        <p:spPr>
          <a:xfrm>
            <a:off x="1857375" y="3560762"/>
            <a:ext cx="643890" cy="430212"/>
          </a:xfrm>
          <a:prstGeom prst="rect">
            <a:avLst/>
          </a:prstGeom>
          <a:solidFill>
            <a:srgbClr val="FCFE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2501265" y="3560762"/>
            <a:ext cx="643890" cy="430212"/>
          </a:xfrm>
          <a:prstGeom prst="rect">
            <a:avLst/>
          </a:prstGeom>
          <a:solidFill>
            <a:srgbClr val="F7FC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3145155" y="3560762"/>
            <a:ext cx="643890" cy="430212"/>
          </a:xfrm>
          <a:prstGeom prst="rect">
            <a:avLst/>
          </a:prstGeom>
          <a:solidFill>
            <a:srgbClr val="F0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3789045" y="3560762"/>
            <a:ext cx="643890" cy="430212"/>
          </a:xfrm>
          <a:prstGeom prst="rect">
            <a:avLst/>
          </a:prstGeom>
          <a:solidFill>
            <a:srgbClr val="EC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4432935" y="3560762"/>
            <a:ext cx="643890" cy="430212"/>
          </a:xfrm>
          <a:prstGeom prst="rect">
            <a:avLst/>
          </a:prstGeom>
          <a:solidFill>
            <a:srgbClr val="D2E2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5076825" y="3560762"/>
            <a:ext cx="643890" cy="430212"/>
          </a:xfrm>
          <a:prstGeom prst="rect">
            <a:avLst/>
          </a:prstGeom>
          <a:solidFill>
            <a:srgbClr val="C3D9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5720715" y="3560762"/>
            <a:ext cx="643890" cy="430212"/>
          </a:xfrm>
          <a:prstGeom prst="rect">
            <a:avLst/>
          </a:prstGeom>
          <a:solidFill>
            <a:srgbClr val="AECD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6364605" y="3560762"/>
            <a:ext cx="643890" cy="430212"/>
          </a:xfrm>
          <a:prstGeom prst="rect">
            <a:avLst/>
          </a:prstGeom>
          <a:solidFill>
            <a:srgbClr val="97C0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7008495" y="3560762"/>
            <a:ext cx="643890" cy="430212"/>
          </a:xfrm>
          <a:prstGeom prst="rect">
            <a:avLst/>
          </a:prstGeom>
          <a:solidFill>
            <a:srgbClr val="72ABD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7652385" y="3560762"/>
            <a:ext cx="643890" cy="430212"/>
          </a:xfrm>
          <a:prstGeom prst="rect">
            <a:avLst/>
          </a:prstGeom>
          <a:solidFill>
            <a:srgbClr val="5099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8296275" y="3560762"/>
            <a:ext cx="643890" cy="430212"/>
          </a:xfrm>
          <a:prstGeom prst="rect">
            <a:avLst/>
          </a:prstGeom>
          <a:solidFill>
            <a:srgbClr val="398C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8940165" y="3560762"/>
            <a:ext cx="643890" cy="430212"/>
          </a:xfrm>
          <a:prstGeom prst="rect">
            <a:avLst/>
          </a:prstGeom>
          <a:solidFill>
            <a:srgbClr val="3288B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9584055" y="3560762"/>
            <a:ext cx="643890" cy="430212"/>
          </a:xfrm>
          <a:prstGeom prst="rect">
            <a:avLst/>
          </a:prstGeom>
          <a:solidFill>
            <a:srgbClr val="3187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0227945" y="3560762"/>
            <a:ext cx="643890" cy="430212"/>
          </a:xfrm>
          <a:prstGeom prst="rect">
            <a:avLst/>
          </a:prstGeom>
          <a:solidFill>
            <a:srgbClr val="3589C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10871835" y="3560762"/>
            <a:ext cx="643890" cy="430212"/>
          </a:xfrm>
          <a:prstGeom prst="rect">
            <a:avLst/>
          </a:prstGeom>
          <a:solidFill>
            <a:srgbClr val="398C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238125" y="3990975"/>
            <a:ext cx="1590675" cy="430212"/>
          </a:xfrm>
          <a:prstGeom prst="rect">
            <a:avLst/>
          </a:prstGeom>
          <a:noFill/>
        </p:spPr>
        <p:txBody>
          <a:bodyPr wrap="square" lIns="28575" rIns="28575" tIns="9525" bIns="9525" anchor="ctr">
            <a:spAutoFit/>
          </a:bodyPr>
          <a:lstStyle/>
          <a:p>
            <a:pPr algn="l"/>
            <a:r>
              <a:rPr sz="1100" b="0">
                <a:solidFill>
                  <a:srgbClr val="2E2E2E"/>
                </a:solidFill>
                <a:latin typeface="Calibri"/>
              </a:rPr>
              <a:t>High-Barrier Films</a:t>
            </a:r>
          </a:p>
        </p:txBody>
      </p:sp>
      <p:sp>
        <p:nvSpPr>
          <p:cNvPr id="124" name="Rectangle 123"/>
          <p:cNvSpPr/>
          <p:nvPr/>
        </p:nvSpPr>
        <p:spPr>
          <a:xfrm>
            <a:off x="1857375" y="3990975"/>
            <a:ext cx="643890" cy="430212"/>
          </a:xfrm>
          <a:prstGeom prst="rect">
            <a:avLst/>
          </a:prstGeom>
          <a:solidFill>
            <a:srgbClr val="E0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2501265" y="3990975"/>
            <a:ext cx="643890" cy="430212"/>
          </a:xfrm>
          <a:prstGeom prst="rect">
            <a:avLst/>
          </a:prstGeom>
          <a:solidFill>
            <a:srgbClr val="D9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3145155" y="3990975"/>
            <a:ext cx="643890" cy="430212"/>
          </a:xfrm>
          <a:prstGeom prst="rect">
            <a:avLst/>
          </a:prstGeom>
          <a:solidFill>
            <a:srgbClr val="CFE0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3789045" y="3990975"/>
            <a:ext cx="643890" cy="430212"/>
          </a:xfrm>
          <a:prstGeom prst="rect">
            <a:avLst/>
          </a:prstGeom>
          <a:solidFill>
            <a:srgbClr val="C5DA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4432935" y="3990975"/>
            <a:ext cx="643890" cy="430212"/>
          </a:xfrm>
          <a:prstGeom prst="rect">
            <a:avLst/>
          </a:prstGeom>
          <a:solidFill>
            <a:srgbClr val="90BC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5076825" y="3990975"/>
            <a:ext cx="643890" cy="430212"/>
          </a:xfrm>
          <a:prstGeom prst="rect">
            <a:avLst/>
          </a:prstGeom>
          <a:solidFill>
            <a:srgbClr val="6AA7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5720715" y="3990975"/>
            <a:ext cx="643890" cy="430212"/>
          </a:xfrm>
          <a:prstGeom prst="rect">
            <a:avLst/>
          </a:prstGeom>
          <a:solidFill>
            <a:srgbClr val="4090C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6364605" y="3990975"/>
            <a:ext cx="643890" cy="430212"/>
          </a:xfrm>
          <a:prstGeom prst="rect">
            <a:avLst/>
          </a:prstGeom>
          <a:solidFill>
            <a:srgbClr val="2681B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7008495" y="3990975"/>
            <a:ext cx="643890" cy="430212"/>
          </a:xfrm>
          <a:prstGeom prst="rect">
            <a:avLst/>
          </a:prstGeom>
          <a:solidFill>
            <a:srgbClr val="1073A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7652385" y="3990975"/>
            <a:ext cx="643890" cy="430212"/>
          </a:xfrm>
          <a:prstGeom prst="rect">
            <a:avLst/>
          </a:prstGeom>
          <a:solidFill>
            <a:srgbClr val="0D568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8296275" y="3990975"/>
            <a:ext cx="643890" cy="430212"/>
          </a:xfrm>
          <a:prstGeom prst="rect">
            <a:avLst/>
          </a:prstGeom>
          <a:solidFill>
            <a:srgbClr val="0C3F6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8940165" y="3990975"/>
            <a:ext cx="643890" cy="430212"/>
          </a:xfrm>
          <a:prstGeom prst="rect">
            <a:avLst/>
          </a:prstGeom>
          <a:solidFill>
            <a:srgbClr val="0B325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9584055" y="3990975"/>
            <a:ext cx="643890" cy="430212"/>
          </a:xfrm>
          <a:prstGeom prst="rect">
            <a:avLst/>
          </a:prstGeom>
          <a:solidFill>
            <a:srgbClr val="0B314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10227945" y="3990975"/>
            <a:ext cx="643890" cy="430212"/>
          </a:xfrm>
          <a:prstGeom prst="rect">
            <a:avLst/>
          </a:prstGeom>
          <a:solidFill>
            <a:srgbClr val="0C3A5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10871835" y="3990975"/>
            <a:ext cx="643890" cy="430212"/>
          </a:xfrm>
          <a:prstGeom prst="rect">
            <a:avLst/>
          </a:prstGeom>
          <a:solidFill>
            <a:srgbClr val="0C487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238125" y="4421188"/>
            <a:ext cx="1590675" cy="430212"/>
          </a:xfrm>
          <a:prstGeom prst="rect">
            <a:avLst/>
          </a:prstGeom>
          <a:noFill/>
        </p:spPr>
        <p:txBody>
          <a:bodyPr wrap="square" lIns="28575" rIns="28575" tIns="9525" bIns="9525" anchor="ctr">
            <a:spAutoFit/>
          </a:bodyPr>
          <a:lstStyle/>
          <a:p>
            <a:pPr algn="l"/>
            <a:r>
              <a:rPr sz="1100" b="0">
                <a:solidFill>
                  <a:srgbClr val="2E2E2E"/>
                </a:solidFill>
                <a:latin typeface="Calibri"/>
              </a:rPr>
              <a:t>– Food Packaging  </a:t>
            </a:r>
          </a:p>
        </p:txBody>
      </p:sp>
      <p:sp>
        <p:nvSpPr>
          <p:cNvPr id="140" name="Rectangle 139"/>
          <p:cNvSpPr/>
          <p:nvPr/>
        </p:nvSpPr>
        <p:spPr>
          <a:xfrm>
            <a:off x="1857375" y="4421188"/>
            <a:ext cx="643890" cy="430212"/>
          </a:xfrm>
          <a:prstGeom prst="rect">
            <a:avLst/>
          </a:prstGeom>
          <a:solidFill>
            <a:srgbClr val="E1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2501265" y="4421188"/>
            <a:ext cx="643890" cy="430212"/>
          </a:xfrm>
          <a:prstGeom prst="rect">
            <a:avLst/>
          </a:prstGeom>
          <a:solidFill>
            <a:srgbClr val="DA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3145155" y="4421188"/>
            <a:ext cx="643890" cy="430212"/>
          </a:xfrm>
          <a:prstGeom prst="rect">
            <a:avLst/>
          </a:prstGeom>
          <a:solidFill>
            <a:srgbClr val="CFE0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3789045" y="4421188"/>
            <a:ext cx="643890" cy="430212"/>
          </a:xfrm>
          <a:prstGeom prst="rect">
            <a:avLst/>
          </a:prstGeom>
          <a:solidFill>
            <a:srgbClr val="C6DA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4432935" y="4421188"/>
            <a:ext cx="643890" cy="430212"/>
          </a:xfrm>
          <a:prstGeom prst="rect">
            <a:avLst/>
          </a:prstGeom>
          <a:solidFill>
            <a:srgbClr val="91BC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5076825" y="4421188"/>
            <a:ext cx="643890" cy="430212"/>
          </a:xfrm>
          <a:prstGeom prst="rect">
            <a:avLst/>
          </a:prstGeom>
          <a:solidFill>
            <a:srgbClr val="6AA7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5720715" y="4421188"/>
            <a:ext cx="643890" cy="430212"/>
          </a:xfrm>
          <a:prstGeom prst="rect">
            <a:avLst/>
          </a:prstGeom>
          <a:solidFill>
            <a:srgbClr val="4090C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6364605" y="4421188"/>
            <a:ext cx="643890" cy="430212"/>
          </a:xfrm>
          <a:prstGeom prst="rect">
            <a:avLst/>
          </a:prstGeom>
          <a:solidFill>
            <a:srgbClr val="2681B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7008495" y="4421188"/>
            <a:ext cx="643890" cy="430212"/>
          </a:xfrm>
          <a:prstGeom prst="rect">
            <a:avLst/>
          </a:prstGeom>
          <a:solidFill>
            <a:srgbClr val="0F73A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7652385" y="4421188"/>
            <a:ext cx="643890" cy="430212"/>
          </a:xfrm>
          <a:prstGeom prst="rect">
            <a:avLst/>
          </a:prstGeom>
          <a:solidFill>
            <a:srgbClr val="0D548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8296275" y="4421188"/>
            <a:ext cx="643890" cy="430212"/>
          </a:xfrm>
          <a:prstGeom prst="rect">
            <a:avLst/>
          </a:prstGeom>
          <a:solidFill>
            <a:srgbClr val="0C3D6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8940165" y="4421188"/>
            <a:ext cx="643890" cy="430212"/>
          </a:xfrm>
          <a:prstGeom prst="rect">
            <a:avLst/>
          </a:prstGeom>
          <a:solidFill>
            <a:srgbClr val="0B2F4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9584055" y="4421188"/>
            <a:ext cx="643890" cy="430212"/>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10227945" y="4421188"/>
            <a:ext cx="643890" cy="430212"/>
          </a:xfrm>
          <a:prstGeom prst="rect">
            <a:avLst/>
          </a:prstGeom>
          <a:solidFill>
            <a:srgbClr val="0B375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10871835" y="4421188"/>
            <a:ext cx="643890" cy="430212"/>
          </a:xfrm>
          <a:prstGeom prst="rect">
            <a:avLst/>
          </a:prstGeom>
          <a:solidFill>
            <a:srgbClr val="0C456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238125" y="4851400"/>
            <a:ext cx="1590675" cy="430212"/>
          </a:xfrm>
          <a:prstGeom prst="rect">
            <a:avLst/>
          </a:prstGeom>
          <a:noFill/>
        </p:spPr>
        <p:txBody>
          <a:bodyPr wrap="square" lIns="28575" rIns="28575" tIns="9525" bIns="9525" anchor="ctr">
            <a:spAutoFit/>
          </a:bodyPr>
          <a:lstStyle/>
          <a:p>
            <a:pPr algn="l"/>
            <a:r>
              <a:rPr sz="1100" b="0">
                <a:solidFill>
                  <a:srgbClr val="2E2E2E"/>
                </a:solidFill>
                <a:latin typeface="Calibri"/>
              </a:rPr>
              <a:t>– Non-Food Packaging  </a:t>
            </a:r>
          </a:p>
        </p:txBody>
      </p:sp>
      <p:sp>
        <p:nvSpPr>
          <p:cNvPr id="156" name="Rectangle 155"/>
          <p:cNvSpPr/>
          <p:nvPr/>
        </p:nvSpPr>
        <p:spPr>
          <a:xfrm>
            <a:off x="1857375" y="4851400"/>
            <a:ext cx="643890" cy="430212"/>
          </a:xfrm>
          <a:prstGeom prst="rect">
            <a:avLst/>
          </a:prstGeom>
          <a:solidFill>
            <a:srgbClr val="DA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2501265" y="4851400"/>
            <a:ext cx="643890" cy="430212"/>
          </a:xfrm>
          <a:prstGeom prst="rect">
            <a:avLst/>
          </a:prstGeom>
          <a:solidFill>
            <a:srgbClr val="D4E5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3145155" y="4851400"/>
            <a:ext cx="643890" cy="430212"/>
          </a:xfrm>
          <a:prstGeom prst="rect">
            <a:avLst/>
          </a:prstGeom>
          <a:solidFill>
            <a:srgbClr val="CCDE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3789045" y="4851400"/>
            <a:ext cx="643890" cy="430212"/>
          </a:xfrm>
          <a:prstGeom prst="rect">
            <a:avLst/>
          </a:prstGeom>
          <a:solidFill>
            <a:srgbClr val="C2D8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4432935" y="4851400"/>
            <a:ext cx="643890" cy="430212"/>
          </a:xfrm>
          <a:prstGeom prst="rect">
            <a:avLst/>
          </a:prstGeom>
          <a:solidFill>
            <a:srgbClr val="8EBA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5076825" y="4851400"/>
            <a:ext cx="643890" cy="430212"/>
          </a:xfrm>
          <a:prstGeom prst="rect">
            <a:avLst/>
          </a:prstGeom>
          <a:solidFill>
            <a:srgbClr val="68A6C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5720715" y="4851400"/>
            <a:ext cx="643890" cy="430212"/>
          </a:xfrm>
          <a:prstGeom prst="rect">
            <a:avLst/>
          </a:prstGeom>
          <a:solidFill>
            <a:srgbClr val="3F90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6364605" y="4851400"/>
            <a:ext cx="643890" cy="430212"/>
          </a:xfrm>
          <a:prstGeom prst="rect">
            <a:avLst/>
          </a:prstGeom>
          <a:solidFill>
            <a:srgbClr val="2781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7008495" y="4851400"/>
            <a:ext cx="643890" cy="430212"/>
          </a:xfrm>
          <a:prstGeom prst="rect">
            <a:avLst/>
          </a:prstGeom>
          <a:solidFill>
            <a:srgbClr val="1274B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7652385" y="4851400"/>
            <a:ext cx="643890" cy="430212"/>
          </a:xfrm>
          <a:prstGeom prst="rect">
            <a:avLst/>
          </a:prstGeom>
          <a:solidFill>
            <a:srgbClr val="0D5D8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8296275" y="4851400"/>
            <a:ext cx="643890" cy="430212"/>
          </a:xfrm>
          <a:prstGeom prst="rect">
            <a:avLst/>
          </a:prstGeom>
          <a:solidFill>
            <a:srgbClr val="0C4A7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8940165" y="4851400"/>
            <a:ext cx="643890" cy="430212"/>
          </a:xfrm>
          <a:prstGeom prst="rect">
            <a:avLst/>
          </a:prstGeom>
          <a:solidFill>
            <a:srgbClr val="0C426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9584055" y="4851400"/>
            <a:ext cx="643890" cy="430212"/>
          </a:xfrm>
          <a:prstGeom prst="rect">
            <a:avLst/>
          </a:prstGeom>
          <a:solidFill>
            <a:srgbClr val="0C426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10227945" y="4851400"/>
            <a:ext cx="643890" cy="430212"/>
          </a:xfrm>
          <a:prstGeom prst="rect">
            <a:avLst/>
          </a:prstGeom>
          <a:solidFill>
            <a:srgbClr val="0C4A7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10871835" y="4851400"/>
            <a:ext cx="643890" cy="430212"/>
          </a:xfrm>
          <a:prstGeom prst="rect">
            <a:avLst/>
          </a:prstGeom>
          <a:solidFill>
            <a:srgbClr val="0D578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238125" y="5281612"/>
            <a:ext cx="1590675" cy="430212"/>
          </a:xfrm>
          <a:prstGeom prst="rect">
            <a:avLst/>
          </a:prstGeom>
          <a:noFill/>
        </p:spPr>
        <p:txBody>
          <a:bodyPr wrap="square" lIns="28575" rIns="28575" tIns="9525" bIns="9525" anchor="ctr">
            <a:spAutoFit/>
          </a:bodyPr>
          <a:lstStyle/>
          <a:p>
            <a:pPr algn="l"/>
            <a:r>
              <a:rPr sz="1100" b="0">
                <a:solidFill>
                  <a:srgbClr val="2E2E2E"/>
                </a:solidFill>
                <a:latin typeface="Calibri"/>
              </a:rPr>
              <a:t>Ultra-High-Barrier Films</a:t>
            </a:r>
          </a:p>
        </p:txBody>
      </p:sp>
      <p:sp>
        <p:nvSpPr>
          <p:cNvPr id="172" name="Rectangle 171"/>
          <p:cNvSpPr/>
          <p:nvPr/>
        </p:nvSpPr>
        <p:spPr>
          <a:xfrm>
            <a:off x="1857375" y="5281612"/>
            <a:ext cx="643890" cy="430212"/>
          </a:xfrm>
          <a:prstGeom prst="rect">
            <a:avLst/>
          </a:prstGeom>
          <a:solidFill>
            <a:srgbClr val="CE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2501265" y="5281612"/>
            <a:ext cx="643890" cy="430212"/>
          </a:xfrm>
          <a:prstGeom prst="rect">
            <a:avLst/>
          </a:prstGeom>
          <a:solidFill>
            <a:srgbClr val="CCDE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3145155" y="5281612"/>
            <a:ext cx="643890" cy="430212"/>
          </a:xfrm>
          <a:prstGeom prst="rect">
            <a:avLst/>
          </a:prstGeom>
          <a:solidFill>
            <a:srgbClr val="BCD5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3789045" y="5281612"/>
            <a:ext cx="643890" cy="430212"/>
          </a:xfrm>
          <a:prstGeom prst="rect">
            <a:avLst/>
          </a:prstGeom>
          <a:solidFill>
            <a:srgbClr val="B2CF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Rectangle 175"/>
          <p:cNvSpPr/>
          <p:nvPr/>
        </p:nvSpPr>
        <p:spPr>
          <a:xfrm>
            <a:off x="4432935" y="5281612"/>
            <a:ext cx="643890" cy="430212"/>
          </a:xfrm>
          <a:prstGeom prst="rect">
            <a:avLst/>
          </a:prstGeom>
          <a:solidFill>
            <a:srgbClr val="82B4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Rectangle 176"/>
          <p:cNvSpPr/>
          <p:nvPr/>
        </p:nvSpPr>
        <p:spPr>
          <a:xfrm>
            <a:off x="5076825" y="5281612"/>
            <a:ext cx="643890" cy="430212"/>
          </a:xfrm>
          <a:prstGeom prst="rect">
            <a:avLst/>
          </a:prstGeom>
          <a:solidFill>
            <a:srgbClr val="70AAD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ectangle 177"/>
          <p:cNvSpPr/>
          <p:nvPr/>
        </p:nvSpPr>
        <p:spPr>
          <a:xfrm>
            <a:off x="5720715" y="5281612"/>
            <a:ext cx="643890" cy="430212"/>
          </a:xfrm>
          <a:prstGeom prst="rect">
            <a:avLst/>
          </a:prstGeom>
          <a:solidFill>
            <a:srgbClr val="5FA1C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Rectangle 178"/>
          <p:cNvSpPr/>
          <p:nvPr/>
        </p:nvSpPr>
        <p:spPr>
          <a:xfrm>
            <a:off x="6364605" y="5281612"/>
            <a:ext cx="643890" cy="430212"/>
          </a:xfrm>
          <a:prstGeom prst="rect">
            <a:avLst/>
          </a:prstGeom>
          <a:solidFill>
            <a:srgbClr val="4C96C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ectangle 179"/>
          <p:cNvSpPr/>
          <p:nvPr/>
        </p:nvSpPr>
        <p:spPr>
          <a:xfrm>
            <a:off x="7008495" y="5281612"/>
            <a:ext cx="643890" cy="430212"/>
          </a:xfrm>
          <a:prstGeom prst="rect">
            <a:avLst/>
          </a:prstGeom>
          <a:solidFill>
            <a:srgbClr val="3288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Rectangle 180"/>
          <p:cNvSpPr/>
          <p:nvPr/>
        </p:nvSpPr>
        <p:spPr>
          <a:xfrm>
            <a:off x="7652385" y="5281612"/>
            <a:ext cx="643890" cy="430212"/>
          </a:xfrm>
          <a:prstGeom prst="rect">
            <a:avLst/>
          </a:prstGeom>
          <a:solidFill>
            <a:srgbClr val="1F7CB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tangle 181"/>
          <p:cNvSpPr/>
          <p:nvPr/>
        </p:nvSpPr>
        <p:spPr>
          <a:xfrm>
            <a:off x="8296275" y="5281612"/>
            <a:ext cx="643890" cy="430212"/>
          </a:xfrm>
          <a:prstGeom prst="rect">
            <a:avLst/>
          </a:prstGeom>
          <a:solidFill>
            <a:srgbClr val="0F72A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ectangle 182"/>
          <p:cNvSpPr/>
          <p:nvPr/>
        </p:nvSpPr>
        <p:spPr>
          <a:xfrm>
            <a:off x="8940165" y="5281612"/>
            <a:ext cx="643890" cy="430212"/>
          </a:xfrm>
          <a:prstGeom prst="rect">
            <a:avLst/>
          </a:prstGeom>
          <a:solidFill>
            <a:srgbClr val="0E6EA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9584055" y="5281612"/>
            <a:ext cx="643890" cy="430212"/>
          </a:xfrm>
          <a:prstGeom prst="rect">
            <a:avLst/>
          </a:prstGeom>
          <a:solidFill>
            <a:srgbClr val="0E6FA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10227945" y="5281612"/>
            <a:ext cx="643890" cy="430212"/>
          </a:xfrm>
          <a:prstGeom prst="rect">
            <a:avLst/>
          </a:prstGeom>
          <a:solidFill>
            <a:srgbClr val="1174A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10871835" y="5281612"/>
            <a:ext cx="643890" cy="430212"/>
          </a:xfrm>
          <a:prstGeom prst="rect">
            <a:avLst/>
          </a:prstGeom>
          <a:solidFill>
            <a:srgbClr val="1677B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238125" y="5711825"/>
            <a:ext cx="1590675" cy="430212"/>
          </a:xfrm>
          <a:prstGeom prst="rect">
            <a:avLst/>
          </a:prstGeom>
          <a:noFill/>
        </p:spPr>
        <p:txBody>
          <a:bodyPr wrap="square" lIns="28575" rIns="28575" tIns="9525" bIns="9525" anchor="ctr">
            <a:spAutoFit/>
          </a:bodyPr>
          <a:lstStyle/>
          <a:p>
            <a:pPr algn="l"/>
            <a:r>
              <a:rPr sz="1100" b="0">
                <a:solidFill>
                  <a:srgbClr val="2E2E2E"/>
                </a:solidFill>
                <a:latin typeface="Calibri"/>
              </a:rPr>
              <a:t>– Food Packaging   </a:t>
            </a:r>
          </a:p>
        </p:txBody>
      </p:sp>
      <p:sp>
        <p:nvSpPr>
          <p:cNvPr id="188" name="Rectangle 187"/>
          <p:cNvSpPr/>
          <p:nvPr/>
        </p:nvSpPr>
        <p:spPr>
          <a:xfrm>
            <a:off x="1857375" y="5711825"/>
            <a:ext cx="643890" cy="430212"/>
          </a:xfrm>
          <a:prstGeom prst="rect">
            <a:avLst/>
          </a:prstGeom>
          <a:solidFill>
            <a:srgbClr val="CADC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2501265" y="5711825"/>
            <a:ext cx="643890" cy="430212"/>
          </a:xfrm>
          <a:prstGeom prst="rect">
            <a:avLst/>
          </a:prstGeom>
          <a:solidFill>
            <a:srgbClr val="C8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3145155" y="5711825"/>
            <a:ext cx="643890" cy="430212"/>
          </a:xfrm>
          <a:prstGeom prst="rect">
            <a:avLst/>
          </a:prstGeom>
          <a:solidFill>
            <a:srgbClr val="B8D2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3789045" y="5711825"/>
            <a:ext cx="643890" cy="430212"/>
          </a:xfrm>
          <a:prstGeom prst="rect">
            <a:avLst/>
          </a:prstGeom>
          <a:solidFill>
            <a:srgbClr val="AECD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4432935" y="5711825"/>
            <a:ext cx="643890" cy="430212"/>
          </a:xfrm>
          <a:prstGeom prst="rect">
            <a:avLst/>
          </a:prstGeom>
          <a:solidFill>
            <a:srgbClr val="7DB1D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5076825" y="5711825"/>
            <a:ext cx="643890" cy="430212"/>
          </a:xfrm>
          <a:prstGeom prst="rect">
            <a:avLst/>
          </a:prstGeom>
          <a:solidFill>
            <a:srgbClr val="6BA8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5720715" y="5711825"/>
            <a:ext cx="643890" cy="430212"/>
          </a:xfrm>
          <a:prstGeom prst="rect">
            <a:avLst/>
          </a:prstGeom>
          <a:solidFill>
            <a:srgbClr val="5B9F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Rectangle 194"/>
          <p:cNvSpPr/>
          <p:nvPr/>
        </p:nvSpPr>
        <p:spPr>
          <a:xfrm>
            <a:off x="6364605" y="5711825"/>
            <a:ext cx="643890" cy="430212"/>
          </a:xfrm>
          <a:prstGeom prst="rect">
            <a:avLst/>
          </a:prstGeom>
          <a:solidFill>
            <a:srgbClr val="4895C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7008495" y="5711825"/>
            <a:ext cx="643890" cy="430212"/>
          </a:xfrm>
          <a:prstGeom prst="rect">
            <a:avLst/>
          </a:prstGeom>
          <a:solidFill>
            <a:srgbClr val="3187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7652385" y="5711825"/>
            <a:ext cx="643890" cy="430212"/>
          </a:xfrm>
          <a:prstGeom prst="rect">
            <a:avLst/>
          </a:prstGeom>
          <a:solidFill>
            <a:srgbClr val="1F7CB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ectangle 197"/>
          <p:cNvSpPr/>
          <p:nvPr/>
        </p:nvSpPr>
        <p:spPr>
          <a:xfrm>
            <a:off x="8296275" y="5711825"/>
            <a:ext cx="643890" cy="430212"/>
          </a:xfrm>
          <a:prstGeom prst="rect">
            <a:avLst/>
          </a:prstGeom>
          <a:solidFill>
            <a:srgbClr val="1073A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Rectangle 198"/>
          <p:cNvSpPr/>
          <p:nvPr/>
        </p:nvSpPr>
        <p:spPr>
          <a:xfrm>
            <a:off x="8940165" y="5711825"/>
            <a:ext cx="643890" cy="430212"/>
          </a:xfrm>
          <a:prstGeom prst="rect">
            <a:avLst/>
          </a:prstGeom>
          <a:solidFill>
            <a:srgbClr val="0E70A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9584055" y="5711825"/>
            <a:ext cx="643890" cy="430212"/>
          </a:xfrm>
          <a:prstGeom prst="rect">
            <a:avLst/>
          </a:prstGeom>
          <a:solidFill>
            <a:srgbClr val="0E71A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Rectangle 200"/>
          <p:cNvSpPr/>
          <p:nvPr/>
        </p:nvSpPr>
        <p:spPr>
          <a:xfrm>
            <a:off x="10227945" y="5711825"/>
            <a:ext cx="643890" cy="430212"/>
          </a:xfrm>
          <a:prstGeom prst="rect">
            <a:avLst/>
          </a:prstGeom>
          <a:solidFill>
            <a:srgbClr val="1174B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Rectangle 201"/>
          <p:cNvSpPr/>
          <p:nvPr/>
        </p:nvSpPr>
        <p:spPr>
          <a:xfrm>
            <a:off x="10871835" y="5711825"/>
            <a:ext cx="643890" cy="430212"/>
          </a:xfrm>
          <a:prstGeom prst="rect">
            <a:avLst/>
          </a:prstGeom>
          <a:solidFill>
            <a:srgbClr val="1677B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238125" y="6142037"/>
            <a:ext cx="1590675" cy="430212"/>
          </a:xfrm>
          <a:prstGeom prst="rect">
            <a:avLst/>
          </a:prstGeom>
          <a:noFill/>
        </p:spPr>
        <p:txBody>
          <a:bodyPr wrap="square" lIns="28575" rIns="28575" tIns="9525" bIns="9525" anchor="ctr">
            <a:spAutoFit/>
          </a:bodyPr>
          <a:lstStyle/>
          <a:p>
            <a:pPr algn="l"/>
            <a:r>
              <a:rPr sz="1100" b="0">
                <a:solidFill>
                  <a:srgbClr val="2E2E2E"/>
                </a:solidFill>
                <a:latin typeface="Calibri"/>
              </a:rPr>
              <a:t>– Non-Food Packaging   </a:t>
            </a:r>
          </a:p>
        </p:txBody>
      </p:sp>
      <p:sp>
        <p:nvSpPr>
          <p:cNvPr id="204" name="Rectangle 203"/>
          <p:cNvSpPr/>
          <p:nvPr/>
        </p:nvSpPr>
        <p:spPr>
          <a:xfrm>
            <a:off x="1857375" y="6142037"/>
            <a:ext cx="643890" cy="430212"/>
          </a:xfrm>
          <a:prstGeom prst="rect">
            <a:avLst/>
          </a:prstGeom>
          <a:solidFill>
            <a:srgbClr val="DFED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Rectangle 204"/>
          <p:cNvSpPr/>
          <p:nvPr/>
        </p:nvSpPr>
        <p:spPr>
          <a:xfrm>
            <a:off x="2501265" y="6142037"/>
            <a:ext cx="643890" cy="430212"/>
          </a:xfrm>
          <a:prstGeom prst="rect">
            <a:avLst/>
          </a:prstGeom>
          <a:solidFill>
            <a:srgbClr val="DA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Rectangle 205"/>
          <p:cNvSpPr/>
          <p:nvPr/>
        </p:nvSpPr>
        <p:spPr>
          <a:xfrm>
            <a:off x="3145155" y="6142037"/>
            <a:ext cx="643890" cy="430212"/>
          </a:xfrm>
          <a:prstGeom prst="rect">
            <a:avLst/>
          </a:prstGeom>
          <a:solidFill>
            <a:srgbClr val="D0E1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Rectangle 206"/>
          <p:cNvSpPr/>
          <p:nvPr/>
        </p:nvSpPr>
        <p:spPr>
          <a:xfrm>
            <a:off x="3789045" y="6142037"/>
            <a:ext cx="643890" cy="430212"/>
          </a:xfrm>
          <a:prstGeom prst="rect">
            <a:avLst/>
          </a:prstGeom>
          <a:solidFill>
            <a:srgbClr val="C7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Rectangle 207"/>
          <p:cNvSpPr/>
          <p:nvPr/>
        </p:nvSpPr>
        <p:spPr>
          <a:xfrm>
            <a:off x="4432935" y="6142037"/>
            <a:ext cx="643890" cy="430212"/>
          </a:xfrm>
          <a:prstGeom prst="rect">
            <a:avLst/>
          </a:prstGeom>
          <a:solidFill>
            <a:srgbClr val="98C0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ectangle 208"/>
          <p:cNvSpPr/>
          <p:nvPr/>
        </p:nvSpPr>
        <p:spPr>
          <a:xfrm>
            <a:off x="5076825" y="6142037"/>
            <a:ext cx="643890" cy="430212"/>
          </a:xfrm>
          <a:prstGeom prst="rect">
            <a:avLst/>
          </a:prstGeom>
          <a:solidFill>
            <a:srgbClr val="88B7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5720715" y="6142037"/>
            <a:ext cx="643890" cy="430212"/>
          </a:xfrm>
          <a:prstGeom prst="rect">
            <a:avLst/>
          </a:prstGeom>
          <a:solidFill>
            <a:srgbClr val="74ACD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Rectangle 210"/>
          <p:cNvSpPr/>
          <p:nvPr/>
        </p:nvSpPr>
        <p:spPr>
          <a:xfrm>
            <a:off x="6364605" y="6142037"/>
            <a:ext cx="643890" cy="430212"/>
          </a:xfrm>
          <a:prstGeom prst="rect">
            <a:avLst/>
          </a:prstGeom>
          <a:solidFill>
            <a:srgbClr val="5C9F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Rectangle 211"/>
          <p:cNvSpPr/>
          <p:nvPr/>
        </p:nvSpPr>
        <p:spPr>
          <a:xfrm>
            <a:off x="7008495" y="6142037"/>
            <a:ext cx="643890" cy="430212"/>
          </a:xfrm>
          <a:prstGeom prst="rect">
            <a:avLst/>
          </a:prstGeom>
          <a:solidFill>
            <a:srgbClr val="378B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Rectangle 212"/>
          <p:cNvSpPr/>
          <p:nvPr/>
        </p:nvSpPr>
        <p:spPr>
          <a:xfrm>
            <a:off x="7652385" y="6142037"/>
            <a:ext cx="643890" cy="430212"/>
          </a:xfrm>
          <a:prstGeom prst="rect">
            <a:avLst/>
          </a:prstGeom>
          <a:solidFill>
            <a:srgbClr val="1E7CB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8296275" y="6142037"/>
            <a:ext cx="643890" cy="430212"/>
          </a:xfrm>
          <a:prstGeom prst="rect">
            <a:avLst/>
          </a:prstGeom>
          <a:solidFill>
            <a:srgbClr val="0E6BA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Rectangle 214"/>
          <p:cNvSpPr/>
          <p:nvPr/>
        </p:nvSpPr>
        <p:spPr>
          <a:xfrm>
            <a:off x="8940165" y="6142037"/>
            <a:ext cx="643890" cy="430212"/>
          </a:xfrm>
          <a:prstGeom prst="rect">
            <a:avLst/>
          </a:prstGeom>
          <a:solidFill>
            <a:srgbClr val="0E689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Rectangle 215"/>
          <p:cNvSpPr/>
          <p:nvPr/>
        </p:nvSpPr>
        <p:spPr>
          <a:xfrm>
            <a:off x="9584055" y="6142037"/>
            <a:ext cx="643890" cy="430212"/>
          </a:xfrm>
          <a:prstGeom prst="rect">
            <a:avLst/>
          </a:prstGeom>
          <a:solidFill>
            <a:srgbClr val="0E69A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Rectangle 216"/>
          <p:cNvSpPr/>
          <p:nvPr/>
        </p:nvSpPr>
        <p:spPr>
          <a:xfrm>
            <a:off x="10227945" y="6142037"/>
            <a:ext cx="643890" cy="430212"/>
          </a:xfrm>
          <a:prstGeom prst="rect">
            <a:avLst/>
          </a:prstGeom>
          <a:solidFill>
            <a:srgbClr val="0E71A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Rectangle 217"/>
          <p:cNvSpPr/>
          <p:nvPr/>
        </p:nvSpPr>
        <p:spPr>
          <a:xfrm>
            <a:off x="10871835" y="6142037"/>
            <a:ext cx="643890" cy="430212"/>
          </a:xfrm>
          <a:prstGeom prst="rect">
            <a:avLst/>
          </a:prstGeom>
          <a:solidFill>
            <a:srgbClr val="1476B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Rectangle 218"/>
          <p:cNvSpPr/>
          <p:nvPr/>
        </p:nvSpPr>
        <p:spPr>
          <a:xfrm>
            <a:off x="11572875" y="1447800"/>
            <a:ext cx="104775" cy="134779"/>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Rectangle 219"/>
          <p:cNvSpPr/>
          <p:nvPr/>
        </p:nvSpPr>
        <p:spPr>
          <a:xfrm>
            <a:off x="11572875" y="1574959"/>
            <a:ext cx="104775" cy="134779"/>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ectangle 220"/>
          <p:cNvSpPr/>
          <p:nvPr/>
        </p:nvSpPr>
        <p:spPr>
          <a:xfrm>
            <a:off x="11572875" y="1702118"/>
            <a:ext cx="104775" cy="134779"/>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11572875" y="1829276"/>
            <a:ext cx="104775" cy="134779"/>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ectangle 222"/>
          <p:cNvSpPr/>
          <p:nvPr/>
        </p:nvSpPr>
        <p:spPr>
          <a:xfrm>
            <a:off x="11572875" y="1956435"/>
            <a:ext cx="104775" cy="134779"/>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Rectangle 223"/>
          <p:cNvSpPr/>
          <p:nvPr/>
        </p:nvSpPr>
        <p:spPr>
          <a:xfrm>
            <a:off x="11572875" y="2083594"/>
            <a:ext cx="104775" cy="134779"/>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Rectangle 224"/>
          <p:cNvSpPr/>
          <p:nvPr/>
        </p:nvSpPr>
        <p:spPr>
          <a:xfrm>
            <a:off x="11572875" y="2210752"/>
            <a:ext cx="104775" cy="134779"/>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Rectangle 225"/>
          <p:cNvSpPr/>
          <p:nvPr/>
        </p:nvSpPr>
        <p:spPr>
          <a:xfrm>
            <a:off x="11572875" y="2337911"/>
            <a:ext cx="104775" cy="134779"/>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Rectangle 226"/>
          <p:cNvSpPr/>
          <p:nvPr/>
        </p:nvSpPr>
        <p:spPr>
          <a:xfrm>
            <a:off x="11572875" y="2465070"/>
            <a:ext cx="104775" cy="134779"/>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Rectangle 227"/>
          <p:cNvSpPr/>
          <p:nvPr/>
        </p:nvSpPr>
        <p:spPr>
          <a:xfrm>
            <a:off x="11572875" y="2592229"/>
            <a:ext cx="104775" cy="134779"/>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angle 228"/>
          <p:cNvSpPr/>
          <p:nvPr/>
        </p:nvSpPr>
        <p:spPr>
          <a:xfrm>
            <a:off x="11572875" y="2719388"/>
            <a:ext cx="104775" cy="134779"/>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ectangle 229"/>
          <p:cNvSpPr/>
          <p:nvPr/>
        </p:nvSpPr>
        <p:spPr>
          <a:xfrm>
            <a:off x="11572875" y="2846546"/>
            <a:ext cx="104775" cy="134779"/>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11572875" y="2973705"/>
            <a:ext cx="104775" cy="134779"/>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11572875" y="3100864"/>
            <a:ext cx="104775" cy="134779"/>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11572875" y="3228022"/>
            <a:ext cx="104775" cy="134779"/>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11572875" y="3355181"/>
            <a:ext cx="104775" cy="134779"/>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Rectangle 234"/>
          <p:cNvSpPr/>
          <p:nvPr/>
        </p:nvSpPr>
        <p:spPr>
          <a:xfrm>
            <a:off x="11572875" y="3482340"/>
            <a:ext cx="104775" cy="134779"/>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Rectangle 235"/>
          <p:cNvSpPr/>
          <p:nvPr/>
        </p:nvSpPr>
        <p:spPr>
          <a:xfrm>
            <a:off x="11572875" y="3609499"/>
            <a:ext cx="104775" cy="134779"/>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Rectangle 236"/>
          <p:cNvSpPr/>
          <p:nvPr/>
        </p:nvSpPr>
        <p:spPr>
          <a:xfrm>
            <a:off x="11572875" y="3736657"/>
            <a:ext cx="104775" cy="134779"/>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Rectangle 237"/>
          <p:cNvSpPr/>
          <p:nvPr/>
        </p:nvSpPr>
        <p:spPr>
          <a:xfrm>
            <a:off x="11572875" y="3863816"/>
            <a:ext cx="104775" cy="134779"/>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Rectangle 238"/>
          <p:cNvSpPr/>
          <p:nvPr/>
        </p:nvSpPr>
        <p:spPr>
          <a:xfrm>
            <a:off x="11572875" y="3990975"/>
            <a:ext cx="104775" cy="134779"/>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Rectangle 239"/>
          <p:cNvSpPr/>
          <p:nvPr/>
        </p:nvSpPr>
        <p:spPr>
          <a:xfrm>
            <a:off x="11572875" y="4118134"/>
            <a:ext cx="104775" cy="134779"/>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11572875" y="4245292"/>
            <a:ext cx="104775" cy="134779"/>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11572875" y="4372451"/>
            <a:ext cx="104775" cy="134779"/>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p:cNvSpPr/>
          <p:nvPr/>
        </p:nvSpPr>
        <p:spPr>
          <a:xfrm>
            <a:off x="11572875" y="4499610"/>
            <a:ext cx="104775" cy="134779"/>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Rectangle 243"/>
          <p:cNvSpPr/>
          <p:nvPr/>
        </p:nvSpPr>
        <p:spPr>
          <a:xfrm>
            <a:off x="11572875" y="4626769"/>
            <a:ext cx="104775" cy="134779"/>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Rectangle 244"/>
          <p:cNvSpPr/>
          <p:nvPr/>
        </p:nvSpPr>
        <p:spPr>
          <a:xfrm>
            <a:off x="11572875" y="4753928"/>
            <a:ext cx="104775" cy="134779"/>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Rectangle 245"/>
          <p:cNvSpPr/>
          <p:nvPr/>
        </p:nvSpPr>
        <p:spPr>
          <a:xfrm>
            <a:off x="11572875" y="4881086"/>
            <a:ext cx="104775" cy="134779"/>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Rectangle 246"/>
          <p:cNvSpPr/>
          <p:nvPr/>
        </p:nvSpPr>
        <p:spPr>
          <a:xfrm>
            <a:off x="11572875" y="5008245"/>
            <a:ext cx="104775" cy="134779"/>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11572875" y="5135404"/>
            <a:ext cx="104775" cy="134779"/>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11572875" y="5262562"/>
            <a:ext cx="104775" cy="134779"/>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p:cNvSpPr/>
          <p:nvPr/>
        </p:nvSpPr>
        <p:spPr>
          <a:xfrm>
            <a:off x="11572875" y="5389721"/>
            <a:ext cx="104775" cy="134779"/>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11572875" y="5516880"/>
            <a:ext cx="104775" cy="134779"/>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11572875" y="5644039"/>
            <a:ext cx="104775" cy="134779"/>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Rectangle 252"/>
          <p:cNvSpPr/>
          <p:nvPr/>
        </p:nvSpPr>
        <p:spPr>
          <a:xfrm>
            <a:off x="11572875" y="5771198"/>
            <a:ext cx="104775" cy="134779"/>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Rectangle 253"/>
          <p:cNvSpPr/>
          <p:nvPr/>
        </p:nvSpPr>
        <p:spPr>
          <a:xfrm>
            <a:off x="11572875" y="5898356"/>
            <a:ext cx="104775" cy="134779"/>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Rectangle 254"/>
          <p:cNvSpPr/>
          <p:nvPr/>
        </p:nvSpPr>
        <p:spPr>
          <a:xfrm>
            <a:off x="11572875" y="6025515"/>
            <a:ext cx="104775" cy="134779"/>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Rectangle 255"/>
          <p:cNvSpPr/>
          <p:nvPr/>
        </p:nvSpPr>
        <p:spPr>
          <a:xfrm>
            <a:off x="11572875" y="6152674"/>
            <a:ext cx="104775" cy="134779"/>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Rectangle 256"/>
          <p:cNvSpPr/>
          <p:nvPr/>
        </p:nvSpPr>
        <p:spPr>
          <a:xfrm>
            <a:off x="11572875" y="6279832"/>
            <a:ext cx="104775" cy="134779"/>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Rectangle 257"/>
          <p:cNvSpPr/>
          <p:nvPr/>
        </p:nvSpPr>
        <p:spPr>
          <a:xfrm>
            <a:off x="11572875" y="6406991"/>
            <a:ext cx="104775" cy="134779"/>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Rectangle 258"/>
          <p:cNvSpPr/>
          <p:nvPr/>
        </p:nvSpPr>
        <p:spPr>
          <a:xfrm>
            <a:off x="11572875" y="1447800"/>
            <a:ext cx="104775" cy="5086350"/>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TextBox 259"/>
          <p:cNvSpPr txBox="1"/>
          <p:nvPr/>
        </p:nvSpPr>
        <p:spPr>
          <a:xfrm>
            <a:off x="11687175" y="1381125"/>
            <a:ext cx="276225" cy="133350"/>
          </a:xfrm>
          <a:prstGeom prst="rect">
            <a:avLst/>
          </a:prstGeom>
          <a:noFill/>
        </p:spPr>
        <p:txBody>
          <a:bodyPr wrap="none" lIns="0" rIns="0" tIns="0" bIns="0" anchor="ctr">
            <a:spAutoFit/>
          </a:bodyPr>
          <a:lstStyle/>
          <a:p>
            <a:pPr algn="l"/>
            <a:r>
              <a:rPr sz="1100" b="0">
                <a:solidFill>
                  <a:srgbClr val="6C7A89"/>
                </a:solidFill>
                <a:latin typeface="Calibri"/>
              </a:rPr>
              <a:t>7%</a:t>
            </a:r>
          </a:p>
        </p:txBody>
      </p:sp>
      <p:sp>
        <p:nvSpPr>
          <p:cNvPr id="261" name="TextBox 260"/>
          <p:cNvSpPr txBox="1"/>
          <p:nvPr/>
        </p:nvSpPr>
        <p:spPr>
          <a:xfrm>
            <a:off x="11687175" y="3924300"/>
            <a:ext cx="276225" cy="133350"/>
          </a:xfrm>
          <a:prstGeom prst="rect">
            <a:avLst/>
          </a:prstGeom>
          <a:noFill/>
        </p:spPr>
        <p:txBody>
          <a:bodyPr wrap="none" lIns="0" rIns="0" tIns="0" bIns="0" anchor="ctr">
            <a:spAutoFit/>
          </a:bodyPr>
          <a:lstStyle/>
          <a:p>
            <a:pPr algn="l"/>
            <a:r>
              <a:rPr sz="1100" b="0">
                <a:solidFill>
                  <a:srgbClr val="6C7A89"/>
                </a:solidFill>
                <a:latin typeface="Calibri"/>
              </a:rPr>
              <a:t>6%</a:t>
            </a:r>
          </a:p>
        </p:txBody>
      </p:sp>
      <p:sp>
        <p:nvSpPr>
          <p:cNvPr id="262" name="TextBox 261"/>
          <p:cNvSpPr txBox="1"/>
          <p:nvPr/>
        </p:nvSpPr>
        <p:spPr>
          <a:xfrm>
            <a:off x="11687175" y="6467475"/>
            <a:ext cx="276225" cy="133350"/>
          </a:xfrm>
          <a:prstGeom prst="rect">
            <a:avLst/>
          </a:prstGeom>
          <a:noFill/>
        </p:spPr>
        <p:txBody>
          <a:bodyPr wrap="none" lIns="0" rIns="0" tIns="0" bIns="0" anchor="ctr">
            <a:spAutoFit/>
          </a:bodyPr>
          <a:lstStyle/>
          <a:p>
            <a:pPr algn="l"/>
            <a:r>
              <a:rPr sz="1100" b="0">
                <a:solidFill>
                  <a:srgbClr val="6C7A89"/>
                </a:solidFill>
                <a:latin typeface="Calibri"/>
              </a:rPr>
              <a:t>4%</a:t>
            </a:r>
          </a:p>
        </p:txBody>
      </p:sp>
      <p:sp>
        <p:nvSpPr>
          <p:cNvPr id="263" name="TextBox 26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Flexible Plastic Packaging Market</a:t>
            </a:r>
          </a:p>
        </p:txBody>
      </p:sp>
      <p:sp>
        <p:nvSpPr>
          <p:cNvPr id="6" name="FMI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Pricing Assessment</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Pricing</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8</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Flexible Plastic Packaging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Pricing</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Product Pricing &amp; Regional Price Index Trends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Global Pricing Assessment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Price Positioning &amp; Key Findings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Key Pricing Drivers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Factors Impacting Pricing</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Flexible Plastic Packaging Market Product Pricing &amp; Regional Price Index Trends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Price range by sub-segment and indexed regional price movement, highlighting dispersion and structural shifts</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Analysis of average USD pricing by product type and indexed regional price movement with base-year inflation adjustments.</a:t>
            </a:r>
          </a:p>
        </p:txBody>
      </p:sp>
      <p:sp>
        <p:nvSpPr>
          <p:cNvPr id="11" name="Rounded Rectangle 10"/>
          <p:cNvSpPr/>
          <p:nvPr/>
        </p:nvSpPr>
        <p:spPr>
          <a:xfrm>
            <a:off x="142875" y="1317574"/>
            <a:ext cx="7696200" cy="2601152"/>
          </a:xfrm>
          <a:prstGeom prst="roundRect">
            <a:avLst>
              <a:gd name="adj" fmla="val 29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Pricing by Product Type</a:t>
            </a:r>
          </a:p>
        </p:txBody>
      </p:sp>
      <p:sp>
        <p:nvSpPr>
          <p:cNvPr id="13" name="TextBox 12"/>
          <p:cNvSpPr txBox="1"/>
          <p:nvPr/>
        </p:nvSpPr>
        <p:spPr>
          <a:xfrm>
            <a:off x="111919" y="3471051"/>
            <a:ext cx="488156" cy="133350"/>
          </a:xfrm>
          <a:prstGeom prst="rect">
            <a:avLst/>
          </a:prstGeom>
          <a:noFill/>
        </p:spPr>
        <p:txBody>
          <a:bodyPr wrap="square" lIns="28575" rIns="28575" tIns="9525" bIns="9525" anchor="ctr">
            <a:spAutoFit/>
          </a:bodyPr>
          <a:lstStyle/>
          <a:p>
            <a:pPr algn="r"/>
            <a:r>
              <a:rPr sz="1100" b="0">
                <a:solidFill>
                  <a:srgbClr val="6C7A89"/>
                </a:solidFill>
                <a:latin typeface="Calibri"/>
              </a:rPr>
              <a:t>2263.4</a:t>
            </a:r>
          </a:p>
        </p:txBody>
      </p:sp>
      <p:sp>
        <p:nvSpPr>
          <p:cNvPr id="14" name="TextBox 13"/>
          <p:cNvSpPr txBox="1"/>
          <p:nvPr/>
        </p:nvSpPr>
        <p:spPr>
          <a:xfrm>
            <a:off x="111919" y="2561000"/>
            <a:ext cx="488156" cy="133350"/>
          </a:xfrm>
          <a:prstGeom prst="rect">
            <a:avLst/>
          </a:prstGeom>
          <a:noFill/>
        </p:spPr>
        <p:txBody>
          <a:bodyPr wrap="square" lIns="28575" rIns="28575" tIns="9525" bIns="9525" anchor="ctr">
            <a:spAutoFit/>
          </a:bodyPr>
          <a:lstStyle/>
          <a:p>
            <a:pPr algn="r"/>
            <a:r>
              <a:rPr sz="1100" b="0">
                <a:solidFill>
                  <a:srgbClr val="6C7A89"/>
                </a:solidFill>
                <a:latin typeface="Calibri"/>
              </a:rPr>
              <a:t>3854.7</a:t>
            </a:r>
          </a:p>
        </p:txBody>
      </p:sp>
      <p:sp>
        <p:nvSpPr>
          <p:cNvPr id="15" name="TextBox 14"/>
          <p:cNvSpPr txBox="1"/>
          <p:nvPr/>
        </p:nvSpPr>
        <p:spPr>
          <a:xfrm>
            <a:off x="111919" y="1650949"/>
            <a:ext cx="488156" cy="133350"/>
          </a:xfrm>
          <a:prstGeom prst="rect">
            <a:avLst/>
          </a:prstGeom>
          <a:noFill/>
        </p:spPr>
        <p:txBody>
          <a:bodyPr wrap="square" lIns="28575" rIns="28575" tIns="9525" bIns="9525" anchor="ctr">
            <a:spAutoFit/>
          </a:bodyPr>
          <a:lstStyle/>
          <a:p>
            <a:pPr algn="r"/>
            <a:r>
              <a:rPr sz="1100" b="0">
                <a:solidFill>
                  <a:srgbClr val="6C7A89"/>
                </a:solidFill>
                <a:latin typeface="Calibri"/>
              </a:rPr>
              <a:t>5446.1</a:t>
            </a:r>
          </a:p>
        </p:txBody>
      </p:sp>
      <p:cxnSp>
        <p:nvCxnSpPr>
          <p:cNvPr id="16" name="Connector 15"/>
          <p:cNvCxnSpPr/>
          <p:nvPr/>
        </p:nvCxnSpPr>
        <p:spPr>
          <a:xfrm>
            <a:off x="1533525" y="2833037"/>
            <a:ext cx="0" cy="254459"/>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1314450" y="2833037"/>
            <a:ext cx="438150" cy="254459"/>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7225" y="2680637"/>
            <a:ext cx="1752600" cy="133350"/>
          </a:xfrm>
          <a:prstGeom prst="rect">
            <a:avLst/>
          </a:prstGeom>
          <a:noFill/>
        </p:spPr>
        <p:txBody>
          <a:bodyPr wrap="square" lIns="28575" rIns="28575" tIns="9525" bIns="9525">
            <a:spAutoFit/>
          </a:bodyPr>
          <a:lstStyle/>
          <a:p>
            <a:pPr algn="ctr"/>
            <a:r>
              <a:rPr sz="1100" b="1">
                <a:solidFill>
                  <a:srgbClr val="0B2E4A"/>
                </a:solidFill>
                <a:latin typeface="Calibri"/>
              </a:rPr>
              <a:t>3495.7</a:t>
            </a:r>
          </a:p>
        </p:txBody>
      </p:sp>
      <p:sp>
        <p:nvSpPr>
          <p:cNvPr id="19" name="TextBox 18"/>
          <p:cNvSpPr txBox="1"/>
          <p:nvPr/>
        </p:nvSpPr>
        <p:spPr>
          <a:xfrm>
            <a:off x="657225" y="3566301"/>
            <a:ext cx="1752600" cy="285750"/>
          </a:xfrm>
          <a:prstGeom prst="rect">
            <a:avLst/>
          </a:prstGeom>
          <a:noFill/>
        </p:spPr>
        <p:txBody>
          <a:bodyPr wrap="square" lIns="28575" rIns="28575" tIns="9525" bIns="9525">
            <a:spAutoFit/>
          </a:bodyPr>
          <a:lstStyle/>
          <a:p>
            <a:pPr algn="ctr"/>
            <a:r>
              <a:rPr sz="1100" b="0">
                <a:solidFill>
                  <a:srgbClr val="2E2E2E"/>
                </a:solidFill>
                <a:latin typeface="Calibri"/>
              </a:rPr>
              <a:t>Rollstock Films</a:t>
            </a:r>
          </a:p>
        </p:txBody>
      </p:sp>
      <p:cxnSp>
        <p:nvCxnSpPr>
          <p:cNvPr id="20" name="Connector 19"/>
          <p:cNvCxnSpPr/>
          <p:nvPr/>
        </p:nvCxnSpPr>
        <p:spPr>
          <a:xfrm>
            <a:off x="3286125" y="1927636"/>
            <a:ext cx="0" cy="411265"/>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3067050" y="1927636"/>
            <a:ext cx="438150" cy="411265"/>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409825" y="1775236"/>
            <a:ext cx="1752600" cy="133350"/>
          </a:xfrm>
          <a:prstGeom prst="rect">
            <a:avLst/>
          </a:prstGeom>
          <a:noFill/>
        </p:spPr>
        <p:txBody>
          <a:bodyPr wrap="square" lIns="28575" rIns="28575" tIns="9525" bIns="9525">
            <a:spAutoFit/>
          </a:bodyPr>
          <a:lstStyle/>
          <a:p>
            <a:pPr algn="ctr"/>
            <a:r>
              <a:rPr sz="1100" b="1">
                <a:solidFill>
                  <a:srgbClr val="0B2E4A"/>
                </a:solidFill>
                <a:latin typeface="Calibri"/>
              </a:rPr>
              <a:t>5078.8</a:t>
            </a:r>
          </a:p>
        </p:txBody>
      </p:sp>
      <p:sp>
        <p:nvSpPr>
          <p:cNvPr id="23" name="TextBox 22"/>
          <p:cNvSpPr txBox="1"/>
          <p:nvPr/>
        </p:nvSpPr>
        <p:spPr>
          <a:xfrm>
            <a:off x="2409825" y="3566301"/>
            <a:ext cx="1752600" cy="285750"/>
          </a:xfrm>
          <a:prstGeom prst="rect">
            <a:avLst/>
          </a:prstGeom>
          <a:noFill/>
        </p:spPr>
        <p:txBody>
          <a:bodyPr wrap="square" lIns="28575" rIns="28575" tIns="9525" bIns="9525">
            <a:spAutoFit/>
          </a:bodyPr>
          <a:lstStyle/>
          <a:p>
            <a:pPr algn="ctr"/>
            <a:r>
              <a:rPr sz="1100" b="0">
                <a:solidFill>
                  <a:srgbClr val="2E2E2E"/>
                </a:solidFill>
                <a:latin typeface="Calibri"/>
              </a:rPr>
              <a:t>Barrier Casings</a:t>
            </a:r>
          </a:p>
        </p:txBody>
      </p:sp>
      <p:cxnSp>
        <p:nvCxnSpPr>
          <p:cNvPr id="24" name="Connector 23"/>
          <p:cNvCxnSpPr/>
          <p:nvPr/>
        </p:nvCxnSpPr>
        <p:spPr>
          <a:xfrm>
            <a:off x="5038725" y="2974576"/>
            <a:ext cx="0" cy="260250"/>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4819650" y="2974576"/>
            <a:ext cx="438150" cy="260250"/>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62425" y="2822176"/>
            <a:ext cx="1752600" cy="133350"/>
          </a:xfrm>
          <a:prstGeom prst="rect">
            <a:avLst/>
          </a:prstGeom>
          <a:noFill/>
        </p:spPr>
        <p:txBody>
          <a:bodyPr wrap="square" lIns="28575" rIns="28575" tIns="9525" bIns="9525">
            <a:spAutoFit/>
          </a:bodyPr>
          <a:lstStyle/>
          <a:p>
            <a:pPr algn="ctr"/>
            <a:r>
              <a:rPr sz="1100" b="1">
                <a:solidFill>
                  <a:srgbClr val="0B2E4A"/>
                </a:solidFill>
                <a:latin typeface="Calibri"/>
              </a:rPr>
              <a:t>3248.2</a:t>
            </a:r>
          </a:p>
        </p:txBody>
      </p:sp>
      <p:sp>
        <p:nvSpPr>
          <p:cNvPr id="27" name="TextBox 26"/>
          <p:cNvSpPr txBox="1"/>
          <p:nvPr/>
        </p:nvSpPr>
        <p:spPr>
          <a:xfrm>
            <a:off x="4162425" y="3566301"/>
            <a:ext cx="1752600" cy="285750"/>
          </a:xfrm>
          <a:prstGeom prst="rect">
            <a:avLst/>
          </a:prstGeom>
          <a:noFill/>
        </p:spPr>
        <p:txBody>
          <a:bodyPr wrap="square" lIns="28575" rIns="28575" tIns="9525" bIns="9525">
            <a:spAutoFit/>
          </a:bodyPr>
          <a:lstStyle/>
          <a:p>
            <a:pPr algn="ctr"/>
            <a:r>
              <a:rPr sz="1100" b="0">
                <a:solidFill>
                  <a:srgbClr val="2E2E2E"/>
                </a:solidFill>
                <a:latin typeface="Calibri"/>
              </a:rPr>
              <a:t>Premade Pouches &amp; Bags</a:t>
            </a:r>
          </a:p>
        </p:txBody>
      </p:sp>
      <p:cxnSp>
        <p:nvCxnSpPr>
          <p:cNvPr id="28" name="Connector 27"/>
          <p:cNvCxnSpPr/>
          <p:nvPr/>
        </p:nvCxnSpPr>
        <p:spPr>
          <a:xfrm>
            <a:off x="6791325" y="3107948"/>
            <a:ext cx="0" cy="219766"/>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6572250" y="3107948"/>
            <a:ext cx="438150" cy="219766"/>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15025" y="2955548"/>
            <a:ext cx="1752600" cy="133350"/>
          </a:xfrm>
          <a:prstGeom prst="rect">
            <a:avLst/>
          </a:prstGeom>
          <a:noFill/>
        </p:spPr>
        <p:txBody>
          <a:bodyPr wrap="square" lIns="28575" rIns="28575" tIns="9525" bIns="9525">
            <a:spAutoFit/>
          </a:bodyPr>
          <a:lstStyle/>
          <a:p>
            <a:pPr algn="ctr"/>
            <a:r>
              <a:rPr sz="1100" b="1">
                <a:solidFill>
                  <a:srgbClr val="0B2E4A"/>
                </a:solidFill>
                <a:latin typeface="Calibri"/>
              </a:rPr>
              <a:t>3014.9</a:t>
            </a:r>
          </a:p>
        </p:txBody>
      </p:sp>
      <p:sp>
        <p:nvSpPr>
          <p:cNvPr id="31" name="TextBox 30"/>
          <p:cNvSpPr txBox="1"/>
          <p:nvPr/>
        </p:nvSpPr>
        <p:spPr>
          <a:xfrm>
            <a:off x="5915025" y="3566301"/>
            <a:ext cx="1752600" cy="285750"/>
          </a:xfrm>
          <a:prstGeom prst="rect">
            <a:avLst/>
          </a:prstGeom>
          <a:noFill/>
        </p:spPr>
        <p:txBody>
          <a:bodyPr wrap="square" lIns="28575" rIns="28575" tIns="9525" bIns="9525">
            <a:spAutoFit/>
          </a:bodyPr>
          <a:lstStyle/>
          <a:p>
            <a:pPr algn="ctr"/>
            <a:r>
              <a:rPr sz="1100" b="0">
                <a:solidFill>
                  <a:srgbClr val="2E2E2E"/>
                </a:solidFill>
                <a:latin typeface="Calibri"/>
              </a:rPr>
              <a:t>Sachets &amp; Stick Packs</a:t>
            </a:r>
          </a:p>
        </p:txBody>
      </p:sp>
      <p:sp>
        <p:nvSpPr>
          <p:cNvPr id="32" name="Rounded Rectangle 31"/>
          <p:cNvSpPr/>
          <p:nvPr/>
        </p:nvSpPr>
        <p:spPr>
          <a:xfrm>
            <a:off x="142875" y="3991741"/>
            <a:ext cx="7696200" cy="2564645"/>
          </a:xfrm>
          <a:prstGeom prst="roundRect">
            <a:avLst>
              <a:gd name="adj" fmla="val 29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38125" y="4048891"/>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Region</a:t>
            </a:r>
          </a:p>
        </p:txBody>
      </p:sp>
      <p:cxnSp>
        <p:nvCxnSpPr>
          <p:cNvPr id="34" name="Connector 33"/>
          <p:cNvCxnSpPr/>
          <p:nvPr/>
        </p:nvCxnSpPr>
        <p:spPr>
          <a:xfrm>
            <a:off x="619125" y="4518237"/>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19125" y="4883768"/>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19125" y="5249298"/>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19125" y="5614828"/>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19125" y="5980359"/>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19125" y="4518237"/>
            <a:ext cx="0" cy="1462122"/>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90550" y="4518237"/>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90550" y="488376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90550" y="524929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590550" y="561482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90550" y="5980359"/>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45" name="FMI Scale tick"/>
          <p:cNvSpPr txBox="1"/>
          <p:nvPr/>
        </p:nvSpPr>
        <p:spPr>
          <a:xfrm>
            <a:off x="219075" y="4451562"/>
            <a:ext cx="361950" cy="133350"/>
          </a:xfrm>
          <a:prstGeom prst="rect">
            <a:avLst/>
          </a:prstGeom>
          <a:noFill/>
        </p:spPr>
        <p:txBody>
          <a:bodyPr wrap="none" lIns="0" rIns="0" tIns="0" bIns="0" anchor="ctr">
            <a:spAutoFit/>
          </a:bodyPr>
          <a:lstStyle/>
          <a:p>
            <a:pPr algn="r"/>
            <a:r>
              <a:rPr sz="1100" b="0">
                <a:solidFill>
                  <a:srgbClr val="6C7A89"/>
                </a:solidFill>
                <a:latin typeface="Calibri"/>
              </a:rPr>
              <a:t>+16%</a:t>
            </a:r>
          </a:p>
        </p:txBody>
      </p:sp>
      <p:sp>
        <p:nvSpPr>
          <p:cNvPr id="46" name="FMI Scale tick"/>
          <p:cNvSpPr txBox="1"/>
          <p:nvPr/>
        </p:nvSpPr>
        <p:spPr>
          <a:xfrm>
            <a:off x="219075" y="4817093"/>
            <a:ext cx="361950" cy="133350"/>
          </a:xfrm>
          <a:prstGeom prst="rect">
            <a:avLst/>
          </a:prstGeom>
          <a:noFill/>
        </p:spPr>
        <p:txBody>
          <a:bodyPr wrap="none" lIns="0" rIns="0" tIns="0" bIns="0" anchor="ctr">
            <a:spAutoFit/>
          </a:bodyPr>
          <a:lstStyle/>
          <a:p>
            <a:pPr algn="r"/>
            <a:r>
              <a:rPr sz="1100" b="0">
                <a:solidFill>
                  <a:srgbClr val="6C7A89"/>
                </a:solidFill>
                <a:latin typeface="Calibri"/>
              </a:rPr>
              <a:t>+8%</a:t>
            </a:r>
          </a:p>
        </p:txBody>
      </p:sp>
      <p:sp>
        <p:nvSpPr>
          <p:cNvPr id="47" name="FMI Scale tick"/>
          <p:cNvSpPr txBox="1"/>
          <p:nvPr/>
        </p:nvSpPr>
        <p:spPr>
          <a:xfrm>
            <a:off x="219075" y="5182623"/>
            <a:ext cx="361950" cy="133350"/>
          </a:xfrm>
          <a:prstGeom prst="rect">
            <a:avLst/>
          </a:prstGeom>
          <a:noFill/>
        </p:spPr>
        <p:txBody>
          <a:bodyPr wrap="none" lIns="0" rIns="0" tIns="0" bIns="0" anchor="ctr">
            <a:spAutoFit/>
          </a:bodyPr>
          <a:lstStyle/>
          <a:p>
            <a:pPr algn="r"/>
            <a:r>
              <a:rPr sz="1100" b="0">
                <a:solidFill>
                  <a:srgbClr val="6C7A89"/>
                </a:solidFill>
                <a:latin typeface="Calibri"/>
              </a:rPr>
              <a:t>0%</a:t>
            </a:r>
          </a:p>
        </p:txBody>
      </p:sp>
      <p:sp>
        <p:nvSpPr>
          <p:cNvPr id="48" name="FMI Scale tick"/>
          <p:cNvSpPr txBox="1"/>
          <p:nvPr/>
        </p:nvSpPr>
        <p:spPr>
          <a:xfrm>
            <a:off x="219075" y="5548153"/>
            <a:ext cx="361950" cy="133350"/>
          </a:xfrm>
          <a:prstGeom prst="rect">
            <a:avLst/>
          </a:prstGeom>
          <a:noFill/>
        </p:spPr>
        <p:txBody>
          <a:bodyPr wrap="none" lIns="0" rIns="0" tIns="0" bIns="0" anchor="ctr">
            <a:spAutoFit/>
          </a:bodyPr>
          <a:lstStyle/>
          <a:p>
            <a:pPr algn="r"/>
            <a:r>
              <a:rPr sz="1100" b="0">
                <a:solidFill>
                  <a:srgbClr val="6C7A89"/>
                </a:solidFill>
                <a:latin typeface="Calibri"/>
              </a:rPr>
              <a:t>-8%</a:t>
            </a:r>
          </a:p>
        </p:txBody>
      </p:sp>
      <p:sp>
        <p:nvSpPr>
          <p:cNvPr id="49" name="FMI Scale tick"/>
          <p:cNvSpPr txBox="1"/>
          <p:nvPr/>
        </p:nvSpPr>
        <p:spPr>
          <a:xfrm>
            <a:off x="219075" y="5913684"/>
            <a:ext cx="361950" cy="133350"/>
          </a:xfrm>
          <a:prstGeom prst="rect">
            <a:avLst/>
          </a:prstGeom>
          <a:noFill/>
        </p:spPr>
        <p:txBody>
          <a:bodyPr wrap="none" lIns="0" rIns="0" tIns="0" bIns="0" anchor="ctr">
            <a:spAutoFit/>
          </a:bodyPr>
          <a:lstStyle/>
          <a:p>
            <a:pPr algn="r"/>
            <a:r>
              <a:rPr sz="1100" b="0">
                <a:solidFill>
                  <a:srgbClr val="6C7A89"/>
                </a:solidFill>
                <a:latin typeface="Calibri"/>
              </a:rPr>
              <a:t>-16%</a:t>
            </a:r>
          </a:p>
        </p:txBody>
      </p:sp>
      <p:cxnSp>
        <p:nvCxnSpPr>
          <p:cNvPr id="50" name="Connector 49"/>
          <p:cNvCxnSpPr/>
          <p:nvPr/>
        </p:nvCxnSpPr>
        <p:spPr>
          <a:xfrm>
            <a:off x="619125" y="5249298"/>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977900" y="4635397"/>
            <a:ext cx="457200" cy="613901"/>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FMI Data Label"/>
          <p:cNvSpPr txBox="1"/>
          <p:nvPr/>
        </p:nvSpPr>
        <p:spPr>
          <a:xfrm>
            <a:off x="619125" y="4492522"/>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+13.7%</a:t>
            </a:r>
          </a:p>
        </p:txBody>
      </p:sp>
      <p:sp>
        <p:nvSpPr>
          <p:cNvPr id="53" name="Rectangle 52"/>
          <p:cNvSpPr/>
          <p:nvPr/>
        </p:nvSpPr>
        <p:spPr>
          <a:xfrm>
            <a:off x="2152650" y="4614107"/>
            <a:ext cx="457200" cy="635191"/>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MI Data Label"/>
          <p:cNvSpPr txBox="1"/>
          <p:nvPr/>
        </p:nvSpPr>
        <p:spPr>
          <a:xfrm>
            <a:off x="1793875" y="4471232"/>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+14.2%</a:t>
            </a:r>
          </a:p>
        </p:txBody>
      </p:sp>
      <p:sp>
        <p:nvSpPr>
          <p:cNvPr id="55" name="Rectangle 54"/>
          <p:cNvSpPr/>
          <p:nvPr/>
        </p:nvSpPr>
        <p:spPr>
          <a:xfrm>
            <a:off x="3327400" y="4649184"/>
            <a:ext cx="457200" cy="60011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MI Data Label"/>
          <p:cNvSpPr txBox="1"/>
          <p:nvPr/>
        </p:nvSpPr>
        <p:spPr>
          <a:xfrm>
            <a:off x="2968625" y="4506309"/>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+13.4%</a:t>
            </a:r>
          </a:p>
        </p:txBody>
      </p:sp>
      <p:sp>
        <p:nvSpPr>
          <p:cNvPr id="57" name="Rectangle 56"/>
          <p:cNvSpPr/>
          <p:nvPr/>
        </p:nvSpPr>
        <p:spPr>
          <a:xfrm>
            <a:off x="4502150" y="4632686"/>
            <a:ext cx="457200" cy="616612"/>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FMI Data Label"/>
          <p:cNvSpPr txBox="1"/>
          <p:nvPr/>
        </p:nvSpPr>
        <p:spPr>
          <a:xfrm>
            <a:off x="4143375" y="4489811"/>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+13.7%</a:t>
            </a:r>
          </a:p>
        </p:txBody>
      </p:sp>
      <p:sp>
        <p:nvSpPr>
          <p:cNvPr id="59" name="Rectangle 58"/>
          <p:cNvSpPr/>
          <p:nvPr/>
        </p:nvSpPr>
        <p:spPr>
          <a:xfrm>
            <a:off x="5676900" y="4704150"/>
            <a:ext cx="457200" cy="545148"/>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MI Data Label"/>
          <p:cNvSpPr txBox="1"/>
          <p:nvPr/>
        </p:nvSpPr>
        <p:spPr>
          <a:xfrm>
            <a:off x="5318125" y="4561275"/>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+12.2%</a:t>
            </a:r>
          </a:p>
        </p:txBody>
      </p:sp>
      <p:sp>
        <p:nvSpPr>
          <p:cNvPr id="61" name="Rectangle 60"/>
          <p:cNvSpPr/>
          <p:nvPr/>
        </p:nvSpPr>
        <p:spPr>
          <a:xfrm>
            <a:off x="6851650" y="4644115"/>
            <a:ext cx="457200" cy="605183"/>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FMI Data Label"/>
          <p:cNvSpPr txBox="1"/>
          <p:nvPr/>
        </p:nvSpPr>
        <p:spPr>
          <a:xfrm>
            <a:off x="6492875" y="4501240"/>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+13.5%</a:t>
            </a:r>
          </a:p>
        </p:txBody>
      </p:sp>
      <p:sp>
        <p:nvSpPr>
          <p:cNvPr id="63" name="TextBox 62"/>
          <p:cNvSpPr txBox="1"/>
          <p:nvPr/>
        </p:nvSpPr>
        <p:spPr>
          <a:xfrm>
            <a:off x="619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North America</a:t>
            </a:r>
          </a:p>
        </p:txBody>
      </p:sp>
      <p:sp>
        <p:nvSpPr>
          <p:cNvPr id="64" name="TextBox 63"/>
          <p:cNvSpPr txBox="1"/>
          <p:nvPr/>
        </p:nvSpPr>
        <p:spPr>
          <a:xfrm>
            <a:off x="1793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Latin America</a:t>
            </a:r>
          </a:p>
        </p:txBody>
      </p:sp>
      <p:sp>
        <p:nvSpPr>
          <p:cNvPr id="65" name="TextBox 64"/>
          <p:cNvSpPr txBox="1"/>
          <p:nvPr/>
        </p:nvSpPr>
        <p:spPr>
          <a:xfrm>
            <a:off x="29686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Europe</a:t>
            </a:r>
          </a:p>
        </p:txBody>
      </p:sp>
      <p:sp>
        <p:nvSpPr>
          <p:cNvPr id="66" name="TextBox 65"/>
          <p:cNvSpPr txBox="1"/>
          <p:nvPr/>
        </p:nvSpPr>
        <p:spPr>
          <a:xfrm>
            <a:off x="41433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East Asia</a:t>
            </a:r>
          </a:p>
        </p:txBody>
      </p:sp>
      <p:sp>
        <p:nvSpPr>
          <p:cNvPr id="67" name="TextBox 66"/>
          <p:cNvSpPr txBox="1"/>
          <p:nvPr/>
        </p:nvSpPr>
        <p:spPr>
          <a:xfrm>
            <a:off x="5318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South Asia &amp; Pacific</a:t>
            </a:r>
          </a:p>
        </p:txBody>
      </p:sp>
      <p:sp>
        <p:nvSpPr>
          <p:cNvPr id="68" name="TextBox 67"/>
          <p:cNvSpPr txBox="1"/>
          <p:nvPr/>
        </p:nvSpPr>
        <p:spPr>
          <a:xfrm>
            <a:off x="6492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Middle East &amp; Africa</a:t>
            </a:r>
          </a:p>
        </p:txBody>
      </p:sp>
      <p:sp>
        <p:nvSpPr>
          <p:cNvPr id="69" name="Rounded Rectangle 68"/>
          <p:cNvSpPr/>
          <p:nvPr/>
        </p:nvSpPr>
        <p:spPr>
          <a:xfrm>
            <a:off x="7915275" y="1317574"/>
            <a:ext cx="4133850" cy="5238811"/>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71" name="Rectangle 70"/>
          <p:cNvSpPr/>
          <p:nvPr/>
        </p:nvSpPr>
        <p:spPr>
          <a:xfrm>
            <a:off x="8048625" y="1641424"/>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048625" y="1727149"/>
            <a:ext cx="3867150" cy="4753036"/>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The chart shows global average pricing of key product type types in USD, harmonised across regions. Each candlestick spans the minimum-to-maximum observed price within the base year, giving a clear read of price range and market dispersion.</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Wider bodies mark a larger gap between opening and closing price levels 'Barrier Casings' shows the most movement (+16.5%) and 'Rollstock Films' the least (+14.6%) variability stakeholders should monitor when planning procurement or pricing.</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The lower chart indexes region-level price movement to the base year, applied consistently across the horizon to strip out year-on-year inflationary volatility and reveal structural price shifts.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Region price indices diverge by up to 14.2% between 2026 and 2036: higher-priced regions start higher and grow steadily, while lower-priced regions start lower and converge, reflecting catch-up growth.</a:t>
            </a:r>
          </a:p>
        </p:txBody>
      </p:sp>
      <p:sp>
        <p:nvSpPr>
          <p:cNvPr id="73" name="TextBox 7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Flexible Plastic Packaging Market Pricing Assessment: By Product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Average price (US$/MT) by product type, 2021 to 2036, with 2026 price index and growth outlook</a:t>
            </a:r>
          </a:p>
        </p:txBody>
      </p:sp>
      <p:sp>
        <p:nvSpPr>
          <p:cNvPr id="10" name="Rectangle 9"/>
          <p:cNvSpPr/>
          <p:nvPr/>
        </p:nvSpPr>
        <p:spPr>
          <a:xfrm>
            <a:off x="274320" y="981075"/>
            <a:ext cx="11640312" cy="457200"/>
          </a:xfrm>
          <a:prstGeom prst="rect">
            <a:avLst/>
          </a:prstGeom>
          <a:solidFill>
            <a:srgbClr val="0B2E4A"/>
          </a:solidFill>
          <a:ln>
            <a:noFill/>
          </a:ln>
          <a:effectLst/>
        </p:spPr>
        <p:txBody>
          <a:bodyPr rtlCol="0" anchor="ctr" wrap="square" lIns="137160"/>
          <a:lstStyle/>
          <a:p>
            <a:pPr algn="l"/>
            <a:r>
              <a:rPr sz="1300" b="1">
                <a:solidFill>
                  <a:srgbClr val="FFFFFF"/>
                </a:solidFill>
                <a:latin typeface="Calibri"/>
              </a:rPr>
              <a:t>Barrier Casings command the highest 2026 price point at US$ 4,480/MT, a 67.1% premium over Sachets &amp; Stick Packs.</a:t>
            </a:r>
          </a:p>
        </p:txBody>
      </p:sp>
      <p:sp>
        <p:nvSpPr>
          <p:cNvPr id="11" name="Rectangle 10"/>
          <p:cNvSpPr/>
          <p:nvPr/>
        </p:nvSpPr>
        <p:spPr>
          <a:xfrm>
            <a:off x="274320" y="1529715"/>
            <a:ext cx="6446520" cy="3520440"/>
          </a:xfrm>
          <a:prstGeom prst="rect">
            <a:avLst/>
          </a:prstGeom>
          <a:solidFill>
            <a:srgbClr val="F3F6F9"/>
          </a:solidFill>
          <a:ln>
            <a:noFill/>
          </a:ln>
          <a:effectLst/>
        </p:spPr>
        <p:txBody>
          <a:bodyPr rtlCol="0" anchor="ctr"/>
          <a:lstStyle/>
          <a:p>
            <a:pPr algn="ctr"/>
          </a:p>
        </p:txBody>
      </p:sp>
      <p:sp>
        <p:nvSpPr>
          <p:cNvPr id="12" name="TextBox 11"/>
          <p:cNvSpPr txBox="1"/>
          <p:nvPr/>
        </p:nvSpPr>
        <p:spPr>
          <a:xfrm>
            <a:off x="384048" y="1575435"/>
            <a:ext cx="6217920" cy="257175"/>
          </a:xfrm>
          <a:prstGeom prst="rect">
            <a:avLst/>
          </a:prstGeom>
          <a:noFill/>
        </p:spPr>
        <p:txBody>
          <a:bodyPr wrap="square" anchor="t" lIns="27432" rIns="27432" tIns="27432" bIns="27432">
            <a:spAutoFit/>
          </a:bodyPr>
          <a:lstStyle/>
          <a:p>
            <a:pPr algn="l"/>
            <a:r>
              <a:rPr sz="1150" b="1" i="0">
                <a:solidFill>
                  <a:srgbClr val="0B2E4A"/>
                </a:solidFill>
                <a:latin typeface="Calibri"/>
              </a:rPr>
              <a:t>Price Trend by Product Type, 2021 to 2036 (US$/MT)</a:t>
            </a:r>
          </a:p>
        </p:txBody>
      </p:sp>
      <p:graphicFrame>
        <p:nvGraphicFramePr>
          <p:cNvPr id="13" name="FMI Price Chart"/>
          <p:cNvGraphicFramePr>
            <a:graphicFrameLocks noGrp="1"/>
          </p:cNvGraphicFramePr>
          <p:nvPr/>
        </p:nvGraphicFramePr>
        <p:xfrm>
          <a:off x="347472" y="1831467"/>
          <a:ext cx="6309360" cy="3182112"/>
        </p:xfrm>
        <a:graphic>
          <a:graphicData uri="http://schemas.openxmlformats.org/drawingml/2006/chart">
            <c:chart xmlns:c="http://schemas.openxmlformats.org/drawingml/2006/chart" r:id="rId3"/>
          </a:graphicData>
        </a:graphic>
      </p:graphicFrame>
      <p:sp>
        <p:nvSpPr>
          <p:cNvPr id="14" name="TextBox 13"/>
          <p:cNvSpPr txBox="1"/>
          <p:nvPr/>
        </p:nvSpPr>
        <p:spPr>
          <a:xfrm>
            <a:off x="4572000" y="1593723"/>
            <a:ext cx="2103120" cy="228600"/>
          </a:xfrm>
          <a:prstGeom prst="rect">
            <a:avLst/>
          </a:prstGeom>
          <a:noFill/>
        </p:spPr>
        <p:txBody>
          <a:bodyPr wrap="square" anchor="t" lIns="27432" rIns="27432" tIns="27432" bIns="27432">
            <a:spAutoFit/>
          </a:bodyPr>
          <a:lstStyle/>
          <a:p>
            <a:pPr algn="r"/>
            <a:r>
              <a:rPr sz="850" b="0" i="1">
                <a:solidFill>
                  <a:srgbClr val="59636E"/>
                </a:solidFill>
                <a:latin typeface="Calibri"/>
              </a:rPr>
              <a:t>Forecast period: 2026 to 2036</a:t>
            </a:r>
          </a:p>
        </p:txBody>
      </p:sp>
      <p:sp>
        <p:nvSpPr>
          <p:cNvPr id="15" name="Rectangle 14"/>
          <p:cNvSpPr/>
          <p:nvPr/>
        </p:nvSpPr>
        <p:spPr>
          <a:xfrm>
            <a:off x="6858000" y="1529715"/>
            <a:ext cx="5056632" cy="1600200"/>
          </a:xfrm>
          <a:prstGeom prst="rect">
            <a:avLst/>
          </a:prstGeom>
          <a:solidFill>
            <a:srgbClr val="F3F6F9"/>
          </a:solidFill>
          <a:ln>
            <a:noFill/>
          </a:ln>
          <a:effectLst/>
        </p:spPr>
        <p:txBody>
          <a:bodyPr rtlCol="0" anchor="ctr"/>
          <a:lstStyle/>
          <a:p>
            <a:pPr algn="ctr"/>
          </a:p>
        </p:txBody>
      </p:sp>
      <p:sp>
        <p:nvSpPr>
          <p:cNvPr id="16" name="TextBox 15"/>
          <p:cNvSpPr txBox="1"/>
          <p:nvPr/>
        </p:nvSpPr>
        <p:spPr>
          <a:xfrm>
            <a:off x="6967728" y="1575435"/>
            <a:ext cx="4846320" cy="257175"/>
          </a:xfrm>
          <a:prstGeom prst="rect">
            <a:avLst/>
          </a:prstGeom>
          <a:noFill/>
        </p:spPr>
        <p:txBody>
          <a:bodyPr wrap="square" anchor="t" lIns="27432" rIns="27432" tIns="27432" bIns="27432">
            <a:spAutoFit/>
          </a:bodyPr>
          <a:lstStyle/>
          <a:p>
            <a:pPr algn="l"/>
            <a:r>
              <a:rPr sz="1150" b="1" i="0">
                <a:solidFill>
                  <a:srgbClr val="0B2E4A"/>
                </a:solidFill>
                <a:latin typeface="Calibri"/>
              </a:rPr>
              <a:t>2026 Price Index vs Global Average (= 100)</a:t>
            </a:r>
          </a:p>
        </p:txBody>
      </p:sp>
      <p:graphicFrame>
        <p:nvGraphicFramePr>
          <p:cNvPr id="17" name="FMI Open Chart"/>
          <p:cNvGraphicFramePr>
            <a:graphicFrameLocks noGrp="1"/>
          </p:cNvGraphicFramePr>
          <p:nvPr/>
        </p:nvGraphicFramePr>
        <p:xfrm>
          <a:off x="6903720" y="1785747"/>
          <a:ext cx="4965192" cy="1325880"/>
        </p:xfrm>
        <a:graphic>
          <a:graphicData uri="http://schemas.openxmlformats.org/drawingml/2006/chart">
            <c:chart xmlns:c="http://schemas.openxmlformats.org/drawingml/2006/chart" r:id="rId4"/>
          </a:graphicData>
        </a:graphic>
      </p:graphicFrame>
      <p:graphicFrame>
        <p:nvGraphicFramePr>
          <p:cNvPr id="18" name="Table 17"/>
          <p:cNvGraphicFramePr>
            <a:graphicFrameLocks noGrp="1"/>
          </p:cNvGraphicFramePr>
          <p:nvPr/>
        </p:nvGraphicFramePr>
        <p:xfrm>
          <a:off x="6858000" y="3203067"/>
          <a:ext cx="5056632" cy="1847088"/>
        </p:xfrm>
        <a:graphic>
          <a:graphicData uri="http://schemas.openxmlformats.org/drawingml/2006/table">
            <a:tbl>
              <a:tblPr firstRow="1" bandRow="1">
                <a:tableStyleId>{5C22544A-7EE6-4342-B048-85BDC9FD1C3A}</a:tableStyleId>
              </a:tblPr>
              <a:tblGrid>
                <a:gridCol w="2130552"/>
                <a:gridCol w="548640"/>
                <a:gridCol w="548640"/>
                <a:gridCol w="548640"/>
                <a:gridCol w="777240"/>
                <a:gridCol w="502920"/>
              </a:tblGrid>
              <a:tr h="307848">
                <a:tc>
                  <a:txBody>
                    <a:bodyPr wrap="square"/>
                    <a:lstStyle/>
                    <a:p>
                      <a:pPr algn="l"/>
                      <a:r>
                        <a:rPr sz="850" b="1">
                          <a:solidFill>
                            <a:srgbClr val="FFFFFF"/>
                          </a:solidFill>
                          <a:latin typeface="Calibri"/>
                        </a:rPr>
                        <a:t>Product Type</a:t>
                      </a:r>
                    </a:p>
                  </a:txBody>
                  <a:tcPr marL="36576" marR="36576" marT="9144" marB="9144" anchor="ctr">
                    <a:solidFill>
                      <a:srgbClr val="0B2E4A"/>
                    </a:solidFill>
                  </a:tcPr>
                </a:tc>
                <a:tc>
                  <a:txBody>
                    <a:bodyPr wrap="square"/>
                    <a:lstStyle/>
                    <a:p>
                      <a:pPr algn="ctr"/>
                      <a:r>
                        <a:rPr sz="850" b="1">
                          <a:solidFill>
                            <a:srgbClr val="FFFFFF"/>
                          </a:solidFill>
                          <a:latin typeface="Calibri"/>
                        </a:rPr>
                        <a:t>2021</a:t>
                      </a:r>
                    </a:p>
                  </a:txBody>
                  <a:tcPr marL="36576" marR="36576" marT="9144" marB="9144" anchor="ctr">
                    <a:solidFill>
                      <a:srgbClr val="0B2E4A"/>
                    </a:solidFill>
                  </a:tcPr>
                </a:tc>
                <a:tc>
                  <a:txBody>
                    <a:bodyPr wrap="square"/>
                    <a:lstStyle/>
                    <a:p>
                      <a:pPr algn="ctr"/>
                      <a:r>
                        <a:rPr sz="850" b="1">
                          <a:solidFill>
                            <a:srgbClr val="FFFFFF"/>
                          </a:solidFill>
                          <a:latin typeface="Calibri"/>
                        </a:rPr>
                        <a:t>2026</a:t>
                      </a:r>
                    </a:p>
                  </a:txBody>
                  <a:tcPr marL="36576" marR="36576" marT="9144" marB="9144" anchor="ctr">
                    <a:solidFill>
                      <a:srgbClr val="0B2E4A"/>
                    </a:solidFill>
                  </a:tcPr>
                </a:tc>
                <a:tc>
                  <a:txBody>
                    <a:bodyPr wrap="square"/>
                    <a:lstStyle/>
                    <a:p>
                      <a:pPr algn="ctr"/>
                      <a:r>
                        <a:rPr sz="850" b="1">
                          <a:solidFill>
                            <a:srgbClr val="FFFFFF"/>
                          </a:solidFill>
                          <a:latin typeface="Calibri"/>
                        </a:rPr>
                        <a:t>2036</a:t>
                      </a:r>
                    </a:p>
                  </a:txBody>
                  <a:tcPr marL="36576" marR="36576" marT="9144" marB="9144" anchor="ctr">
                    <a:solidFill>
                      <a:srgbClr val="0B2E4A"/>
                    </a:solidFill>
                  </a:tcPr>
                </a:tc>
                <a:tc>
                  <a:txBody>
                    <a:bodyPr wrap="square"/>
                    <a:lstStyle/>
                    <a:p>
                      <a:pPr algn="ctr"/>
                      <a:r>
                        <a:rPr sz="850" b="1">
                          <a:solidFill>
                            <a:srgbClr val="FFFFFF"/>
                          </a:solidFill>
                          <a:latin typeface="Calibri"/>
                        </a:rPr>
                        <a:t>CAGR 2026 to 2036</a:t>
                      </a:r>
                    </a:p>
                  </a:txBody>
                  <a:tcPr marL="36576" marR="36576" marT="9144" marB="9144" anchor="ctr">
                    <a:solidFill>
                      <a:srgbClr val="0B2E4A"/>
                    </a:solidFill>
                  </a:tcPr>
                </a:tc>
                <a:tc>
                  <a:txBody>
                    <a:bodyPr wrap="square"/>
                    <a:lstStyle/>
                    <a:p>
                      <a:pPr algn="ctr"/>
                      <a:r>
                        <a:rPr sz="850" b="1">
                          <a:solidFill>
                            <a:srgbClr val="FFFFFF"/>
                          </a:solidFill>
                          <a:latin typeface="Calibri"/>
                        </a:rPr>
                        <a:t>Index</a:t>
                      </a:r>
                    </a:p>
                  </a:txBody>
                  <a:tcPr marL="36576" marR="36576" marT="9144" marB="9144" anchor="ctr">
                    <a:solidFill>
                      <a:srgbClr val="0B2E4A"/>
                    </a:solidFill>
                  </a:tcPr>
                </a:tc>
              </a:tr>
              <a:tr h="307848">
                <a:tc>
                  <a:txBody>
                    <a:bodyPr wrap="square"/>
                    <a:lstStyle/>
                    <a:p>
                      <a:pPr algn="l"/>
                      <a:r>
                        <a:rPr sz="850" b="1">
                          <a:solidFill>
                            <a:srgbClr val="1F1F1F"/>
                          </a:solidFill>
                          <a:latin typeface="Calibri"/>
                        </a:rPr>
                        <a:t>Barrier Casings</a:t>
                      </a:r>
                    </a:p>
                  </a:txBody>
                  <a:tcPr marL="36576" marR="36576" marT="9144" marB="9144" anchor="ctr">
                    <a:solidFill>
                      <a:srgbClr val="FFFFFF"/>
                    </a:solidFill>
                  </a:tcPr>
                </a:tc>
                <a:tc>
                  <a:txBody>
                    <a:bodyPr wrap="square"/>
                    <a:lstStyle/>
                    <a:p>
                      <a:pPr algn="ctr"/>
                      <a:r>
                        <a:rPr sz="850" b="0">
                          <a:solidFill>
                            <a:srgbClr val="1F1F1F"/>
                          </a:solidFill>
                          <a:latin typeface="Calibri"/>
                        </a:rPr>
                        <a:t>4,360</a:t>
                      </a:r>
                    </a:p>
                  </a:txBody>
                  <a:tcPr marL="36576" marR="36576" marT="9144" marB="9144" anchor="ctr">
                    <a:solidFill>
                      <a:srgbClr val="FFFFFF"/>
                    </a:solidFill>
                  </a:tcPr>
                </a:tc>
                <a:tc>
                  <a:txBody>
                    <a:bodyPr wrap="square"/>
                    <a:lstStyle/>
                    <a:p>
                      <a:pPr algn="ctr"/>
                      <a:r>
                        <a:rPr sz="850" b="0">
                          <a:solidFill>
                            <a:srgbClr val="1F1F1F"/>
                          </a:solidFill>
                          <a:latin typeface="Calibri"/>
                        </a:rPr>
                        <a:t>4,480</a:t>
                      </a:r>
                    </a:p>
                  </a:txBody>
                  <a:tcPr marL="36576" marR="36576" marT="9144" marB="9144" anchor="ctr">
                    <a:solidFill>
                      <a:srgbClr val="FFFFFF"/>
                    </a:solidFill>
                  </a:tcPr>
                </a:tc>
                <a:tc>
                  <a:txBody>
                    <a:bodyPr wrap="square"/>
                    <a:lstStyle/>
                    <a:p>
                      <a:pPr algn="ctr"/>
                      <a:r>
                        <a:rPr sz="850" b="0">
                          <a:solidFill>
                            <a:srgbClr val="1F1F1F"/>
                          </a:solidFill>
                          <a:latin typeface="Calibri"/>
                        </a:rPr>
                        <a:t>5,079</a:t>
                      </a:r>
                    </a:p>
                  </a:txBody>
                  <a:tcPr marL="36576" marR="36576" marT="9144" marB="9144" anchor="ctr">
                    <a:solidFill>
                      <a:srgbClr val="FFFFFF"/>
                    </a:solidFill>
                  </a:tcPr>
                </a:tc>
                <a:tc>
                  <a:txBody>
                    <a:bodyPr wrap="square"/>
                    <a:lstStyle/>
                    <a:p>
                      <a:pPr algn="ctr"/>
                      <a:r>
                        <a:rPr sz="850" b="0">
                          <a:solidFill>
                            <a:srgbClr val="1F1F1F"/>
                          </a:solidFill>
                          <a:latin typeface="Calibri"/>
                        </a:rPr>
                        <a:t>1.26%</a:t>
                      </a:r>
                    </a:p>
                  </a:txBody>
                  <a:tcPr marL="36576" marR="36576" marT="9144" marB="9144" anchor="ctr">
                    <a:solidFill>
                      <a:srgbClr val="FFFFFF"/>
                    </a:solidFill>
                  </a:tcPr>
                </a:tc>
                <a:tc>
                  <a:txBody>
                    <a:bodyPr wrap="square"/>
                    <a:lstStyle/>
                    <a:p>
                      <a:pPr algn="ctr"/>
                      <a:r>
                        <a:rPr sz="850" b="0">
                          <a:solidFill>
                            <a:srgbClr val="1F1F1F"/>
                          </a:solidFill>
                          <a:latin typeface="Calibri"/>
                        </a:rPr>
                        <a:t>144.5</a:t>
                      </a:r>
                    </a:p>
                  </a:txBody>
                  <a:tcPr marL="36576" marR="36576" marT="9144" marB="9144" anchor="ctr">
                    <a:solidFill>
                      <a:srgbClr val="F4B183"/>
                    </a:solidFill>
                  </a:tcPr>
                </a:tc>
              </a:tr>
              <a:tr h="307848">
                <a:tc>
                  <a:txBody>
                    <a:bodyPr wrap="square"/>
                    <a:lstStyle/>
                    <a:p>
                      <a:pPr algn="l"/>
                      <a:r>
                        <a:rPr sz="850" b="1">
                          <a:solidFill>
                            <a:srgbClr val="1F1F1F"/>
                          </a:solidFill>
                          <a:latin typeface="Calibri"/>
                        </a:rPr>
                        <a:t>Rollstock Films</a:t>
                      </a:r>
                    </a:p>
                  </a:txBody>
                  <a:tcPr marL="36576" marR="36576" marT="9144" marB="9144" anchor="ctr">
                    <a:solidFill>
                      <a:srgbClr val="F3F6F9"/>
                    </a:solidFill>
                  </a:tcPr>
                </a:tc>
                <a:tc>
                  <a:txBody>
                    <a:bodyPr wrap="square"/>
                    <a:lstStyle/>
                    <a:p>
                      <a:pPr algn="ctr"/>
                      <a:r>
                        <a:rPr sz="850" b="0">
                          <a:solidFill>
                            <a:srgbClr val="1F1F1F"/>
                          </a:solidFill>
                          <a:latin typeface="Calibri"/>
                        </a:rPr>
                        <a:t>3,051</a:t>
                      </a:r>
                    </a:p>
                  </a:txBody>
                  <a:tcPr marL="36576" marR="36576" marT="9144" marB="9144" anchor="ctr">
                    <a:solidFill>
                      <a:srgbClr val="F3F6F9"/>
                    </a:solidFill>
                  </a:tcPr>
                </a:tc>
                <a:tc>
                  <a:txBody>
                    <a:bodyPr wrap="square"/>
                    <a:lstStyle/>
                    <a:p>
                      <a:pPr algn="ctr"/>
                      <a:r>
                        <a:rPr sz="850" b="0">
                          <a:solidFill>
                            <a:srgbClr val="1F1F1F"/>
                          </a:solidFill>
                          <a:latin typeface="Calibri"/>
                        </a:rPr>
                        <a:t>3,108</a:t>
                      </a:r>
                    </a:p>
                  </a:txBody>
                  <a:tcPr marL="36576" marR="36576" marT="9144" marB="9144" anchor="ctr">
                    <a:solidFill>
                      <a:srgbClr val="F3F6F9"/>
                    </a:solidFill>
                  </a:tcPr>
                </a:tc>
                <a:tc>
                  <a:txBody>
                    <a:bodyPr wrap="square"/>
                    <a:lstStyle/>
                    <a:p>
                      <a:pPr algn="ctr"/>
                      <a:r>
                        <a:rPr sz="850" b="0">
                          <a:solidFill>
                            <a:srgbClr val="1F1F1F"/>
                          </a:solidFill>
                          <a:latin typeface="Calibri"/>
                        </a:rPr>
                        <a:t>3,496</a:t>
                      </a:r>
                    </a:p>
                  </a:txBody>
                  <a:tcPr marL="36576" marR="36576" marT="9144" marB="9144" anchor="ctr">
                    <a:solidFill>
                      <a:srgbClr val="F3F6F9"/>
                    </a:solidFill>
                  </a:tcPr>
                </a:tc>
                <a:tc>
                  <a:txBody>
                    <a:bodyPr wrap="square"/>
                    <a:lstStyle/>
                    <a:p>
                      <a:pPr algn="ctr"/>
                      <a:r>
                        <a:rPr sz="850" b="0">
                          <a:solidFill>
                            <a:srgbClr val="1F1F1F"/>
                          </a:solidFill>
                          <a:latin typeface="Calibri"/>
                        </a:rPr>
                        <a:t>1.18%</a:t>
                      </a:r>
                    </a:p>
                  </a:txBody>
                  <a:tcPr marL="36576" marR="36576" marT="9144" marB="9144" anchor="ctr">
                    <a:solidFill>
                      <a:srgbClr val="F3F6F9"/>
                    </a:solidFill>
                  </a:tcPr>
                </a:tc>
                <a:tc>
                  <a:txBody>
                    <a:bodyPr wrap="square"/>
                    <a:lstStyle/>
                    <a:p>
                      <a:pPr algn="ctr"/>
                      <a:r>
                        <a:rPr sz="850" b="0">
                          <a:solidFill>
                            <a:srgbClr val="1F1F1F"/>
                          </a:solidFill>
                          <a:latin typeface="Calibri"/>
                        </a:rPr>
                        <a:t>100.3</a:t>
                      </a:r>
                    </a:p>
                  </a:txBody>
                  <a:tcPr marL="36576" marR="36576" marT="9144" marB="9144" anchor="ctr">
                    <a:solidFill>
                      <a:srgbClr val="F7F7F7"/>
                    </a:solidFill>
                  </a:tcPr>
                </a:tc>
              </a:tr>
              <a:tr h="307848">
                <a:tc>
                  <a:txBody>
                    <a:bodyPr wrap="square"/>
                    <a:lstStyle/>
                    <a:p>
                      <a:pPr algn="l"/>
                      <a:r>
                        <a:rPr sz="850" b="1">
                          <a:solidFill>
                            <a:srgbClr val="1F1F1F"/>
                          </a:solidFill>
                          <a:latin typeface="Calibri"/>
                        </a:rPr>
                        <a:t>Premade Pouches &amp; Bags</a:t>
                      </a:r>
                    </a:p>
                  </a:txBody>
                  <a:tcPr marL="36576" marR="36576" marT="9144" marB="9144" anchor="ctr">
                    <a:solidFill>
                      <a:srgbClr val="FFFFFF"/>
                    </a:solidFill>
                  </a:tcPr>
                </a:tc>
                <a:tc>
                  <a:txBody>
                    <a:bodyPr wrap="square"/>
                    <a:lstStyle/>
                    <a:p>
                      <a:pPr algn="ctr"/>
                      <a:r>
                        <a:rPr sz="850" b="0">
                          <a:solidFill>
                            <a:srgbClr val="1F1F1F"/>
                          </a:solidFill>
                          <a:latin typeface="Calibri"/>
                        </a:rPr>
                        <a:t>2,793</a:t>
                      </a:r>
                    </a:p>
                  </a:txBody>
                  <a:tcPr marL="36576" marR="36576" marT="9144" marB="9144" anchor="ctr">
                    <a:solidFill>
                      <a:srgbClr val="FFFFFF"/>
                    </a:solidFill>
                  </a:tcPr>
                </a:tc>
                <a:tc>
                  <a:txBody>
                    <a:bodyPr wrap="square"/>
                    <a:lstStyle/>
                    <a:p>
                      <a:pPr algn="ctr"/>
                      <a:r>
                        <a:rPr sz="850" b="0">
                          <a:solidFill>
                            <a:srgbClr val="1F1F1F"/>
                          </a:solidFill>
                          <a:latin typeface="Calibri"/>
                        </a:rPr>
                        <a:t>2,855</a:t>
                      </a:r>
                    </a:p>
                  </a:txBody>
                  <a:tcPr marL="36576" marR="36576" marT="9144" marB="9144" anchor="ctr">
                    <a:solidFill>
                      <a:srgbClr val="FFFFFF"/>
                    </a:solidFill>
                  </a:tcPr>
                </a:tc>
                <a:tc>
                  <a:txBody>
                    <a:bodyPr wrap="square"/>
                    <a:lstStyle/>
                    <a:p>
                      <a:pPr algn="ctr"/>
                      <a:r>
                        <a:rPr sz="850" b="0">
                          <a:solidFill>
                            <a:srgbClr val="1F1F1F"/>
                          </a:solidFill>
                          <a:latin typeface="Calibri"/>
                        </a:rPr>
                        <a:t>3,248</a:t>
                      </a:r>
                    </a:p>
                  </a:txBody>
                  <a:tcPr marL="36576" marR="36576" marT="9144" marB="9144" anchor="ctr">
                    <a:solidFill>
                      <a:srgbClr val="FFFFFF"/>
                    </a:solidFill>
                  </a:tcPr>
                </a:tc>
                <a:tc>
                  <a:txBody>
                    <a:bodyPr wrap="square"/>
                    <a:lstStyle/>
                    <a:p>
                      <a:pPr algn="ctr"/>
                      <a:r>
                        <a:rPr sz="850" b="0">
                          <a:solidFill>
                            <a:srgbClr val="1F1F1F"/>
                          </a:solidFill>
                          <a:latin typeface="Calibri"/>
                        </a:rPr>
                        <a:t>1.30%</a:t>
                      </a:r>
                    </a:p>
                  </a:txBody>
                  <a:tcPr marL="36576" marR="36576" marT="9144" marB="9144" anchor="ctr">
                    <a:solidFill>
                      <a:srgbClr val="FFFFFF"/>
                    </a:solidFill>
                  </a:tcPr>
                </a:tc>
                <a:tc>
                  <a:txBody>
                    <a:bodyPr wrap="square"/>
                    <a:lstStyle/>
                    <a:p>
                      <a:pPr algn="ctr"/>
                      <a:r>
                        <a:rPr sz="850" b="0">
                          <a:solidFill>
                            <a:srgbClr val="1F1F1F"/>
                          </a:solidFill>
                          <a:latin typeface="Calibri"/>
                        </a:rPr>
                        <a:t>92.1</a:t>
                      </a:r>
                    </a:p>
                  </a:txBody>
                  <a:tcPr marL="36576" marR="36576" marT="9144" marB="9144" anchor="ctr">
                    <a:solidFill>
                      <a:srgbClr val="9DC0E0"/>
                    </a:solidFill>
                  </a:tcPr>
                </a:tc>
              </a:tr>
              <a:tr h="307848">
                <a:tc>
                  <a:txBody>
                    <a:bodyPr wrap="square"/>
                    <a:lstStyle/>
                    <a:p>
                      <a:pPr algn="l"/>
                      <a:r>
                        <a:rPr sz="850" b="1">
                          <a:solidFill>
                            <a:srgbClr val="1F1F1F"/>
                          </a:solidFill>
                          <a:latin typeface="Calibri"/>
                        </a:rPr>
                        <a:t>Sachets &amp; Stick Packs</a:t>
                      </a:r>
                    </a:p>
                  </a:txBody>
                  <a:tcPr marL="36576" marR="36576" marT="9144" marB="9144" anchor="ctr">
                    <a:solidFill>
                      <a:srgbClr val="F3F6F9"/>
                    </a:solidFill>
                  </a:tcPr>
                </a:tc>
                <a:tc>
                  <a:txBody>
                    <a:bodyPr wrap="square"/>
                    <a:lstStyle/>
                    <a:p>
                      <a:pPr algn="ctr"/>
                      <a:r>
                        <a:rPr sz="850" b="0">
                          <a:solidFill>
                            <a:srgbClr val="1F1F1F"/>
                          </a:solidFill>
                          <a:latin typeface="Calibri"/>
                        </a:rPr>
                        <a:t>2,631</a:t>
                      </a:r>
                    </a:p>
                  </a:txBody>
                  <a:tcPr marL="36576" marR="36576" marT="9144" marB="9144" anchor="ctr">
                    <a:solidFill>
                      <a:srgbClr val="F3F6F9"/>
                    </a:solidFill>
                  </a:tcPr>
                </a:tc>
                <a:tc>
                  <a:txBody>
                    <a:bodyPr wrap="square"/>
                    <a:lstStyle/>
                    <a:p>
                      <a:pPr algn="ctr"/>
                      <a:r>
                        <a:rPr sz="850" b="0">
                          <a:solidFill>
                            <a:srgbClr val="1F1F1F"/>
                          </a:solidFill>
                          <a:latin typeface="Calibri"/>
                        </a:rPr>
                        <a:t>2,680</a:t>
                      </a:r>
                    </a:p>
                  </a:txBody>
                  <a:tcPr marL="36576" marR="36576" marT="9144" marB="9144" anchor="ctr">
                    <a:solidFill>
                      <a:srgbClr val="F3F6F9"/>
                    </a:solidFill>
                  </a:tcPr>
                </a:tc>
                <a:tc>
                  <a:txBody>
                    <a:bodyPr wrap="square"/>
                    <a:lstStyle/>
                    <a:p>
                      <a:pPr algn="ctr"/>
                      <a:r>
                        <a:rPr sz="850" b="0">
                          <a:solidFill>
                            <a:srgbClr val="1F1F1F"/>
                          </a:solidFill>
                          <a:latin typeface="Calibri"/>
                        </a:rPr>
                        <a:t>3,015</a:t>
                      </a:r>
                    </a:p>
                  </a:txBody>
                  <a:tcPr marL="36576" marR="36576" marT="9144" marB="9144" anchor="ctr">
                    <a:solidFill>
                      <a:srgbClr val="F3F6F9"/>
                    </a:solidFill>
                  </a:tcPr>
                </a:tc>
                <a:tc>
                  <a:txBody>
                    <a:bodyPr wrap="square"/>
                    <a:lstStyle/>
                    <a:p>
                      <a:pPr algn="ctr"/>
                      <a:r>
                        <a:rPr sz="850" b="0">
                          <a:solidFill>
                            <a:srgbClr val="1F1F1F"/>
                          </a:solidFill>
                          <a:latin typeface="Calibri"/>
                        </a:rPr>
                        <a:t>1.18%</a:t>
                      </a:r>
                    </a:p>
                  </a:txBody>
                  <a:tcPr marL="36576" marR="36576" marT="9144" marB="9144" anchor="ctr">
                    <a:solidFill>
                      <a:srgbClr val="F3F6F9"/>
                    </a:solidFill>
                  </a:tcPr>
                </a:tc>
                <a:tc>
                  <a:txBody>
                    <a:bodyPr wrap="square"/>
                    <a:lstStyle/>
                    <a:p>
                      <a:pPr algn="ctr"/>
                      <a:r>
                        <a:rPr sz="850" b="0">
                          <a:solidFill>
                            <a:srgbClr val="1F1F1F"/>
                          </a:solidFill>
                          <a:latin typeface="Calibri"/>
                        </a:rPr>
                        <a:t>86.5</a:t>
                      </a:r>
                    </a:p>
                  </a:txBody>
                  <a:tcPr marL="36576" marR="36576" marT="9144" marB="9144" anchor="ctr">
                    <a:solidFill>
                      <a:srgbClr val="9DC0E0"/>
                    </a:solidFill>
                  </a:tcPr>
                </a:tc>
              </a:tr>
              <a:tr h="307848">
                <a:tc>
                  <a:txBody>
                    <a:bodyPr wrap="square"/>
                    <a:lstStyle/>
                    <a:p>
                      <a:pPr algn="l"/>
                      <a:r>
                        <a:rPr sz="850" b="1">
                          <a:solidFill>
                            <a:srgbClr val="1F1F1F"/>
                          </a:solidFill>
                          <a:latin typeface="Calibri"/>
                        </a:rPr>
                        <a:t>Global Average</a:t>
                      </a:r>
                    </a:p>
                  </a:txBody>
                  <a:tcPr marL="36576" marR="36576" marT="9144" marB="9144" anchor="ctr">
                    <a:solidFill>
                      <a:srgbClr val="F3F6F9"/>
                    </a:solidFill>
                  </a:tcPr>
                </a:tc>
                <a:tc>
                  <a:txBody>
                    <a:bodyPr wrap="square"/>
                    <a:lstStyle/>
                    <a:p>
                      <a:pPr algn="ctr"/>
                      <a:r>
                        <a:rPr sz="850" b="0">
                          <a:solidFill>
                            <a:srgbClr val="1F1F1F"/>
                          </a:solidFill>
                          <a:latin typeface="Calibri"/>
                        </a:rPr>
                        <a:t>3,037</a:t>
                      </a:r>
                    </a:p>
                  </a:txBody>
                  <a:tcPr marL="36576" marR="36576" marT="9144" marB="9144" anchor="ctr">
                    <a:solidFill>
                      <a:srgbClr val="F3F6F9"/>
                    </a:solidFill>
                  </a:tcPr>
                </a:tc>
                <a:tc>
                  <a:txBody>
                    <a:bodyPr wrap="square"/>
                    <a:lstStyle/>
                    <a:p>
                      <a:pPr algn="ctr"/>
                      <a:r>
                        <a:rPr sz="850" b="0">
                          <a:solidFill>
                            <a:srgbClr val="1F1F1F"/>
                          </a:solidFill>
                          <a:latin typeface="Calibri"/>
                        </a:rPr>
                        <a:t>3,100</a:t>
                      </a:r>
                    </a:p>
                  </a:txBody>
                  <a:tcPr marL="36576" marR="36576" marT="9144" marB="9144" anchor="ctr">
                    <a:solidFill>
                      <a:srgbClr val="F3F6F9"/>
                    </a:solidFill>
                  </a:tcPr>
                </a:tc>
                <a:tc>
                  <a:txBody>
                    <a:bodyPr wrap="square"/>
                    <a:lstStyle/>
                    <a:p>
                      <a:pPr algn="ctr"/>
                      <a:r>
                        <a:rPr sz="850" b="0">
                          <a:solidFill>
                            <a:srgbClr val="1F1F1F"/>
                          </a:solidFill>
                          <a:latin typeface="Calibri"/>
                        </a:rPr>
                        <a:t>3,501</a:t>
                      </a:r>
                    </a:p>
                  </a:txBody>
                  <a:tcPr marL="36576" marR="36576" marT="9144" marB="9144" anchor="ctr">
                    <a:solidFill>
                      <a:srgbClr val="F3F6F9"/>
                    </a:solidFill>
                  </a:tcPr>
                </a:tc>
                <a:tc>
                  <a:txBody>
                    <a:bodyPr wrap="square"/>
                    <a:lstStyle/>
                    <a:p>
                      <a:pPr algn="ctr"/>
                      <a:r>
                        <a:rPr sz="850" b="0">
                          <a:solidFill>
                            <a:srgbClr val="1F1F1F"/>
                          </a:solidFill>
                          <a:latin typeface="Calibri"/>
                        </a:rPr>
                        <a:t>1.22%</a:t>
                      </a:r>
                    </a:p>
                  </a:txBody>
                  <a:tcPr marL="36576" marR="36576" marT="9144" marB="9144" anchor="ctr">
                    <a:solidFill>
                      <a:srgbClr val="F3F6F9"/>
                    </a:solidFill>
                  </a:tcPr>
                </a:tc>
                <a:tc>
                  <a:txBody>
                    <a:bodyPr wrap="square"/>
                    <a:lstStyle/>
                    <a:p>
                      <a:pPr algn="ctr"/>
                      <a:r>
                        <a:rPr sz="850" b="0">
                          <a:solidFill>
                            <a:srgbClr val="1F1F1F"/>
                          </a:solidFill>
                          <a:latin typeface="Calibri"/>
                        </a:rPr>
                        <a:t>100.0</a:t>
                      </a:r>
                    </a:p>
                  </a:txBody>
                  <a:tcPr marL="36576" marR="36576" marT="9144" marB="9144" anchor="ctr">
                    <a:solidFill>
                      <a:srgbClr val="F3F6F9"/>
                    </a:solidFill>
                  </a:tcPr>
                </a:tc>
              </a:tr>
            </a:tbl>
          </a:graphicData>
        </a:graphic>
      </p:graphicFrame>
      <p:sp>
        <p:nvSpPr>
          <p:cNvPr id="19" name="Rectangle 18"/>
          <p:cNvSpPr/>
          <p:nvPr/>
        </p:nvSpPr>
        <p:spPr>
          <a:xfrm>
            <a:off x="274320" y="5141595"/>
            <a:ext cx="3788664" cy="1234440"/>
          </a:xfrm>
          <a:prstGeom prst="rect">
            <a:avLst/>
          </a:prstGeom>
          <a:solidFill>
            <a:srgbClr val="F3F6F9"/>
          </a:solidFill>
          <a:ln>
            <a:noFill/>
          </a:ln>
          <a:effectLst/>
        </p:spPr>
        <p:txBody>
          <a:bodyPr rtlCol="0" anchor="ctr"/>
          <a:lstStyle/>
          <a:p>
            <a:pPr algn="ctr"/>
          </a:p>
        </p:txBody>
      </p:sp>
      <p:sp>
        <p:nvSpPr>
          <p:cNvPr id="20" name="Oval 19"/>
          <p:cNvSpPr/>
          <p:nvPr/>
        </p:nvSpPr>
        <p:spPr>
          <a:xfrm>
            <a:off x="388620"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1</a:t>
            </a:r>
          </a:p>
        </p:txBody>
      </p:sp>
      <p:sp>
        <p:nvSpPr>
          <p:cNvPr id="21" name="TextBox 20"/>
          <p:cNvSpPr txBox="1"/>
          <p:nvPr/>
        </p:nvSpPr>
        <p:spPr>
          <a:xfrm>
            <a:off x="779145"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Price Hierarchy</a:t>
            </a:r>
          </a:p>
        </p:txBody>
      </p:sp>
      <p:sp>
        <p:nvSpPr>
          <p:cNvPr id="22" name="TextBox 21"/>
          <p:cNvSpPr txBox="1"/>
          <p:nvPr/>
        </p:nvSpPr>
        <p:spPr>
          <a:xfrm>
            <a:off x="779145"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Barrier Casings sit at the top of the 2026 price ladder at an index of 144.5, while Sachets &amp; Stick Packs trade at 86.5, which keeps the full product type spread within 67.1%.</a:t>
            </a:r>
          </a:p>
        </p:txBody>
      </p:sp>
      <p:sp>
        <p:nvSpPr>
          <p:cNvPr id="23" name="Rectangle 22"/>
          <p:cNvSpPr/>
          <p:nvPr/>
        </p:nvSpPr>
        <p:spPr>
          <a:xfrm>
            <a:off x="4200144" y="5141595"/>
            <a:ext cx="3788664" cy="1234440"/>
          </a:xfrm>
          <a:prstGeom prst="rect">
            <a:avLst/>
          </a:prstGeom>
          <a:solidFill>
            <a:srgbClr val="F3F6F9"/>
          </a:solidFill>
          <a:ln>
            <a:noFill/>
          </a:ln>
          <a:effectLst/>
        </p:spPr>
        <p:txBody>
          <a:bodyPr rtlCol="0" anchor="ctr"/>
          <a:lstStyle/>
          <a:p>
            <a:pPr algn="ctr"/>
          </a:p>
        </p:txBody>
      </p:sp>
      <p:sp>
        <p:nvSpPr>
          <p:cNvPr id="24" name="Oval 23"/>
          <p:cNvSpPr/>
          <p:nvPr/>
        </p:nvSpPr>
        <p:spPr>
          <a:xfrm>
            <a:off x="4314444"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2</a:t>
            </a:r>
          </a:p>
        </p:txBody>
      </p:sp>
      <p:sp>
        <p:nvSpPr>
          <p:cNvPr id="25" name="TextBox 24"/>
          <p:cNvSpPr txBox="1"/>
          <p:nvPr/>
        </p:nvSpPr>
        <p:spPr>
          <a:xfrm>
            <a:off x="4704969"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Price Momentum</a:t>
            </a:r>
          </a:p>
        </p:txBody>
      </p:sp>
      <p:sp>
        <p:nvSpPr>
          <p:cNvPr id="26" name="TextBox 25"/>
          <p:cNvSpPr txBox="1"/>
          <p:nvPr/>
        </p:nvSpPr>
        <p:spPr>
          <a:xfrm>
            <a:off x="4704969"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Premade Pouches &amp; Bags post the fastest price growth at a 1.30% CAGR between 2026 and 2036, compared with 1.18% for Rollstock Films.</a:t>
            </a:r>
          </a:p>
        </p:txBody>
      </p:sp>
      <p:sp>
        <p:nvSpPr>
          <p:cNvPr id="27" name="Rectangle 26"/>
          <p:cNvSpPr/>
          <p:nvPr/>
        </p:nvSpPr>
        <p:spPr>
          <a:xfrm>
            <a:off x="8125968" y="5141595"/>
            <a:ext cx="3788664" cy="1234440"/>
          </a:xfrm>
          <a:prstGeom prst="rect">
            <a:avLst/>
          </a:prstGeom>
          <a:solidFill>
            <a:srgbClr val="F3F6F9"/>
          </a:solidFill>
          <a:ln>
            <a:noFill/>
          </a:ln>
          <a:effectLst/>
        </p:spPr>
        <p:txBody>
          <a:bodyPr rtlCol="0" anchor="ctr"/>
          <a:lstStyle/>
          <a:p>
            <a:pPr algn="ctr"/>
          </a:p>
        </p:txBody>
      </p:sp>
      <p:sp>
        <p:nvSpPr>
          <p:cNvPr id="28" name="Oval 27"/>
          <p:cNvSpPr/>
          <p:nvPr/>
        </p:nvSpPr>
        <p:spPr>
          <a:xfrm>
            <a:off x="8240268"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3</a:t>
            </a:r>
          </a:p>
        </p:txBody>
      </p:sp>
      <p:sp>
        <p:nvSpPr>
          <p:cNvPr id="29" name="TextBox 28"/>
          <p:cNvSpPr txBox="1"/>
          <p:nvPr/>
        </p:nvSpPr>
        <p:spPr>
          <a:xfrm>
            <a:off x="8630793"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Outlook</a:t>
            </a:r>
          </a:p>
        </p:txBody>
      </p:sp>
      <p:sp>
        <p:nvSpPr>
          <p:cNvPr id="30" name="TextBox 29"/>
          <p:cNvSpPr txBox="1"/>
          <p:nvPr/>
        </p:nvSpPr>
        <p:spPr>
          <a:xfrm>
            <a:off x="8630793"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The Global average price rises from US$ 3,100/MT in 2026 to US$ 3,501/MT in 2036, and the gap between the highest and lowest priced product type moves from 65.7% in 2021 to 68.5% in 2036.</a:t>
            </a:r>
          </a:p>
        </p:txBody>
      </p:sp>
      <p:sp>
        <p:nvSpPr>
          <p:cNvPr id="31" name="TextBox 30"/>
          <p:cNvSpPr txBox="1"/>
          <p:nvPr/>
        </p:nvSpPr>
        <p:spPr>
          <a:xfrm>
            <a:off x="274320" y="6363843"/>
            <a:ext cx="11612880" cy="209550"/>
          </a:xfrm>
          <a:prstGeom prst="rect">
            <a:avLst/>
          </a:prstGeom>
          <a:noFill/>
        </p:spPr>
        <p:txBody>
          <a:bodyPr wrap="square" anchor="t" lIns="27432" rIns="27432" tIns="27432" bIns="27432">
            <a:spAutoFit/>
          </a:bodyPr>
          <a:lstStyle/>
          <a:p>
            <a:pPr algn="l"/>
            <a:r>
              <a:rPr sz="850" b="0" i="0">
                <a:solidFill>
                  <a:srgbClr val="59636E"/>
                </a:solidFill>
                <a:latin typeface="Calibri"/>
              </a:rPr>
              <a:t>Source: FMI analysis. Average price = market value (US$) / market volume (MT). 2021 to 2025 historical, 2026 to 2036 forecast.</a:t>
            </a:r>
          </a:p>
        </p:txBody>
      </p:sp>
      <p:sp>
        <p:nvSpPr>
          <p:cNvPr id="32" name="TextBox 3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Flexible Plastic Packaging Market Pricing Assessment: Region Benchmarking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 average price and price range across product types, 2026 (US$/MT)</a:t>
            </a:r>
          </a:p>
        </p:txBody>
      </p:sp>
      <p:sp>
        <p:nvSpPr>
          <p:cNvPr id="10" name="Rectangle 9"/>
          <p:cNvSpPr/>
          <p:nvPr/>
        </p:nvSpPr>
        <p:spPr>
          <a:xfrm>
            <a:off x="274320" y="981075"/>
            <a:ext cx="11640312" cy="457200"/>
          </a:xfrm>
          <a:prstGeom prst="rect">
            <a:avLst/>
          </a:prstGeom>
          <a:solidFill>
            <a:srgbClr val="0B2E4A"/>
          </a:solidFill>
          <a:ln>
            <a:noFill/>
          </a:ln>
          <a:effectLst/>
        </p:spPr>
        <p:txBody>
          <a:bodyPr rtlCol="0" anchor="ctr" wrap="square" lIns="137160"/>
          <a:lstStyle/>
          <a:p>
            <a:pPr algn="l"/>
            <a:r>
              <a:rPr sz="1300" b="1">
                <a:solidFill>
                  <a:srgbClr val="FFFFFF"/>
                </a:solidFill>
                <a:latin typeface="Calibri"/>
              </a:rPr>
              <a:t>North America is the most premium Global region at US$ 3,486/MT in 2026, +12.5% above the global average, while South Asia &amp; Pacific is the lowest priced.</a:t>
            </a:r>
          </a:p>
        </p:txBody>
      </p:sp>
      <p:sp>
        <p:nvSpPr>
          <p:cNvPr id="11" name="Rectangle 10"/>
          <p:cNvSpPr/>
          <p:nvPr/>
        </p:nvSpPr>
        <p:spPr>
          <a:xfrm>
            <a:off x="274320" y="1529715"/>
            <a:ext cx="7543800" cy="3520440"/>
          </a:xfrm>
          <a:prstGeom prst="rect">
            <a:avLst/>
          </a:prstGeom>
          <a:solidFill>
            <a:srgbClr val="F3F6F9"/>
          </a:solidFill>
          <a:ln>
            <a:noFill/>
          </a:ln>
          <a:effectLst/>
        </p:spPr>
        <p:txBody>
          <a:bodyPr rtlCol="0" anchor="ctr"/>
          <a:lstStyle/>
          <a:p>
            <a:pPr algn="ctr"/>
          </a:p>
        </p:txBody>
      </p:sp>
      <p:sp>
        <p:nvSpPr>
          <p:cNvPr id="12" name="TextBox 11"/>
          <p:cNvSpPr txBox="1"/>
          <p:nvPr/>
        </p:nvSpPr>
        <p:spPr>
          <a:xfrm>
            <a:off x="384048" y="1575435"/>
            <a:ext cx="7315200" cy="257175"/>
          </a:xfrm>
          <a:prstGeom prst="rect">
            <a:avLst/>
          </a:prstGeom>
          <a:noFill/>
        </p:spPr>
        <p:txBody>
          <a:bodyPr wrap="square" anchor="t" lIns="27432" rIns="27432" tIns="27432" bIns="27432">
            <a:spAutoFit/>
          </a:bodyPr>
          <a:lstStyle/>
          <a:p>
            <a:pPr algn="l"/>
            <a:r>
              <a:rPr sz="1150" b="1" i="0">
                <a:solidFill>
                  <a:srgbClr val="0B2E4A"/>
                </a:solidFill>
                <a:latin typeface="Calibri"/>
              </a:rPr>
              <a:t>2026 Price Range Across Product Types by Region (US$/MT), Ranked by Average</a:t>
            </a:r>
          </a:p>
        </p:txBody>
      </p:sp>
      <p:graphicFrame>
        <p:nvGraphicFramePr>
          <p:cNvPr id="13" name="FMI Open Chart"/>
          <p:cNvGraphicFramePr>
            <a:graphicFrameLocks noGrp="1"/>
          </p:cNvGraphicFramePr>
          <p:nvPr/>
        </p:nvGraphicFramePr>
        <p:xfrm>
          <a:off x="347472" y="2014347"/>
          <a:ext cx="7406640" cy="3017520"/>
        </p:xfrm>
        <a:graphic>
          <a:graphicData uri="http://schemas.openxmlformats.org/drawingml/2006/chart">
            <c:chart xmlns:c="http://schemas.openxmlformats.org/drawingml/2006/chart" r:id="rId3"/>
          </a:graphicData>
        </a:graphic>
      </p:graphicFrame>
      <p:sp>
        <p:nvSpPr>
          <p:cNvPr id="14" name="TextBox 13"/>
          <p:cNvSpPr txBox="1"/>
          <p:nvPr/>
        </p:nvSpPr>
        <p:spPr>
          <a:xfrm>
            <a:off x="384048" y="1804035"/>
            <a:ext cx="7223760" cy="219075"/>
          </a:xfrm>
          <a:prstGeom prst="rect">
            <a:avLst/>
          </a:prstGeom>
          <a:noFill/>
        </p:spPr>
        <p:txBody>
          <a:bodyPr wrap="square" anchor="t" lIns="27432" rIns="27432" tIns="27432" bIns="27432">
            <a:spAutoFit/>
          </a:bodyPr>
          <a:lstStyle/>
          <a:p>
            <a:pPr algn="l"/>
            <a:r>
              <a:rPr sz="850" b="0" i="1">
                <a:solidFill>
                  <a:srgbClr val="59636E"/>
                </a:solidFill>
                <a:latin typeface="Calibri"/>
              </a:rPr>
              <a:t>Bar spans the lowest to highest product type price in each region, read on the price index axis (Global average = 100). Teal = above Global average, blue = below.</a:t>
            </a:r>
          </a:p>
        </p:txBody>
      </p:sp>
      <p:sp>
        <p:nvSpPr>
          <p:cNvPr id="15" name="Rectangle 14"/>
          <p:cNvSpPr/>
          <p:nvPr/>
        </p:nvSpPr>
        <p:spPr>
          <a:xfrm>
            <a:off x="7955280" y="1529715"/>
            <a:ext cx="3959352" cy="3520440"/>
          </a:xfrm>
          <a:prstGeom prst="rect">
            <a:avLst/>
          </a:prstGeom>
          <a:solidFill>
            <a:srgbClr val="F3F6F9"/>
          </a:solidFill>
          <a:ln>
            <a:noFill/>
          </a:ln>
          <a:effectLst/>
        </p:spPr>
        <p:txBody>
          <a:bodyPr rtlCol="0" anchor="ctr"/>
          <a:lstStyle/>
          <a:p>
            <a:pPr algn="ctr"/>
          </a:p>
        </p:txBody>
      </p:sp>
      <p:sp>
        <p:nvSpPr>
          <p:cNvPr id="16" name="TextBox 15"/>
          <p:cNvSpPr txBox="1"/>
          <p:nvPr/>
        </p:nvSpPr>
        <p:spPr>
          <a:xfrm>
            <a:off x="8065008" y="1575435"/>
            <a:ext cx="3749040" cy="257175"/>
          </a:xfrm>
          <a:prstGeom prst="rect">
            <a:avLst/>
          </a:prstGeom>
          <a:noFill/>
        </p:spPr>
        <p:txBody>
          <a:bodyPr wrap="square" anchor="t" lIns="27432" rIns="27432" tIns="27432" bIns="27432">
            <a:spAutoFit/>
          </a:bodyPr>
          <a:lstStyle/>
          <a:p>
            <a:pPr algn="l"/>
            <a:r>
              <a:rPr sz="1150" b="1" i="0">
                <a:solidFill>
                  <a:srgbClr val="0B2E4A"/>
                </a:solidFill>
                <a:latin typeface="Calibri"/>
              </a:rPr>
              <a:t>Premium and Discount Markets</a:t>
            </a:r>
          </a:p>
        </p:txBody>
      </p:sp>
      <p:graphicFrame>
        <p:nvGraphicFramePr>
          <p:cNvPr id="17" name="Table 16"/>
          <p:cNvGraphicFramePr>
            <a:graphicFrameLocks noGrp="1"/>
          </p:cNvGraphicFramePr>
          <p:nvPr/>
        </p:nvGraphicFramePr>
        <p:xfrm>
          <a:off x="8046720" y="1868043"/>
          <a:ext cx="3776472" cy="3090675"/>
        </p:xfrm>
        <a:graphic>
          <a:graphicData uri="http://schemas.openxmlformats.org/drawingml/2006/table">
            <a:tbl>
              <a:tblPr firstRow="1" bandRow="1">
                <a:tableStyleId>{5C22544A-7EE6-4342-B048-85BDC9FD1C3A}</a:tableStyleId>
              </a:tblPr>
              <a:tblGrid>
                <a:gridCol w="1417320"/>
                <a:gridCol w="786384"/>
                <a:gridCol w="658368"/>
                <a:gridCol w="914400"/>
              </a:tblGrid>
              <a:tr h="441525">
                <a:tc>
                  <a:txBody>
                    <a:bodyPr wrap="square"/>
                    <a:lstStyle/>
                    <a:p>
                      <a:pPr algn="l"/>
                      <a:r>
                        <a:rPr sz="900" b="1">
                          <a:solidFill>
                            <a:srgbClr val="FFFFFF"/>
                          </a:solidFill>
                          <a:latin typeface="Calibri"/>
                        </a:rPr>
                        <a:t>Region</a:t>
                      </a:r>
                    </a:p>
                  </a:txBody>
                  <a:tcPr marL="36576" marR="36576" marT="9144" marB="9144" anchor="ctr">
                    <a:solidFill>
                      <a:srgbClr val="0B2E4A"/>
                    </a:solidFill>
                  </a:tcPr>
                </a:tc>
                <a:tc>
                  <a:txBody>
                    <a:bodyPr wrap="square"/>
                    <a:lstStyle/>
                    <a:p>
                      <a:pPr algn="ctr"/>
                      <a:r>
                        <a:rPr sz="900" b="1">
                          <a:solidFill>
                            <a:srgbClr val="FFFFFF"/>
                          </a:solidFill>
                          <a:latin typeface="Calibri"/>
                        </a:rPr>
                        <a:t>Avg. 2026</a:t>
                      </a:r>
                    </a:p>
                  </a:txBody>
                  <a:tcPr marL="36576" marR="36576" marT="9144" marB="9144" anchor="ctr">
                    <a:solidFill>
                      <a:srgbClr val="0B2E4A"/>
                    </a:solidFill>
                  </a:tcPr>
                </a:tc>
                <a:tc>
                  <a:txBody>
                    <a:bodyPr wrap="square"/>
                    <a:lstStyle/>
                    <a:p>
                      <a:pPr algn="ctr"/>
                      <a:r>
                        <a:rPr sz="900" b="1">
                          <a:solidFill>
                            <a:srgbClr val="FFFFFF"/>
                          </a:solidFill>
                          <a:latin typeface="Calibri"/>
                        </a:rPr>
                        <a:t>Index</a:t>
                      </a:r>
                    </a:p>
                  </a:txBody>
                  <a:tcPr marL="36576" marR="36576" marT="9144" marB="9144" anchor="ctr">
                    <a:solidFill>
                      <a:srgbClr val="0B2E4A"/>
                    </a:solidFill>
                  </a:tcPr>
                </a:tc>
                <a:tc>
                  <a:txBody>
                    <a:bodyPr wrap="square"/>
                    <a:lstStyle/>
                    <a:p>
                      <a:pPr algn="ctr"/>
                      <a:r>
                        <a:rPr sz="900" b="1">
                          <a:solidFill>
                            <a:srgbClr val="FFFFFF"/>
                          </a:solidFill>
                          <a:latin typeface="Calibri"/>
                        </a:rPr>
                        <a:t>CAGR 2026 to 2036</a:t>
                      </a:r>
                    </a:p>
                  </a:txBody>
                  <a:tcPr marL="36576" marR="36576" marT="9144" marB="9144" anchor="ctr">
                    <a:solidFill>
                      <a:srgbClr val="0B2E4A"/>
                    </a:solidFill>
                  </a:tcPr>
                </a:tc>
              </a:tr>
              <a:tr h="441525">
                <a:tc>
                  <a:txBody>
                    <a:bodyPr wrap="square"/>
                    <a:lstStyle/>
                    <a:p>
                      <a:pPr algn="l"/>
                      <a:r>
                        <a:rPr sz="900" b="1">
                          <a:solidFill>
                            <a:srgbClr val="1F1F1F"/>
                          </a:solidFill>
                          <a:latin typeface="Calibri"/>
                        </a:rPr>
                        <a:t>North America</a:t>
                      </a:r>
                    </a:p>
                  </a:txBody>
                  <a:tcPr marL="36576" marR="36576" marT="9144" marB="9144" anchor="ctr">
                    <a:solidFill>
                      <a:srgbClr val="FFFFFF"/>
                    </a:solidFill>
                  </a:tcPr>
                </a:tc>
                <a:tc>
                  <a:txBody>
                    <a:bodyPr wrap="square"/>
                    <a:lstStyle/>
                    <a:p>
                      <a:pPr algn="ctr"/>
                      <a:r>
                        <a:rPr sz="900" b="0">
                          <a:solidFill>
                            <a:srgbClr val="1F1F1F"/>
                          </a:solidFill>
                          <a:latin typeface="Calibri"/>
                        </a:rPr>
                        <a:t>3,486</a:t>
                      </a:r>
                    </a:p>
                  </a:txBody>
                  <a:tcPr marL="36576" marR="36576" marT="9144" marB="9144" anchor="ctr">
                    <a:solidFill>
                      <a:srgbClr val="FFFFFF"/>
                    </a:solidFill>
                  </a:tcPr>
                </a:tc>
                <a:tc>
                  <a:txBody>
                    <a:bodyPr wrap="square"/>
                    <a:lstStyle/>
                    <a:p>
                      <a:pPr algn="ctr"/>
                      <a:r>
                        <a:rPr sz="900" b="0">
                          <a:solidFill>
                            <a:srgbClr val="1F1F1F"/>
                          </a:solidFill>
                          <a:latin typeface="Calibri"/>
                        </a:rPr>
                        <a:t>112.5</a:t>
                      </a:r>
                    </a:p>
                  </a:txBody>
                  <a:tcPr marL="36576" marR="36576" marT="9144" marB="9144" anchor="ctr">
                    <a:solidFill>
                      <a:srgbClr val="F4B183"/>
                    </a:solidFill>
                  </a:tcPr>
                </a:tc>
                <a:tc>
                  <a:txBody>
                    <a:bodyPr wrap="square"/>
                    <a:lstStyle/>
                    <a:p>
                      <a:pPr algn="ctr"/>
                      <a:r>
                        <a:rPr sz="900" b="0">
                          <a:solidFill>
                            <a:srgbClr val="1F1F1F"/>
                          </a:solidFill>
                          <a:latin typeface="Calibri"/>
                        </a:rPr>
                        <a:t>1.29%</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Europe</a:t>
                      </a:r>
                    </a:p>
                  </a:txBody>
                  <a:tcPr marL="36576" marR="36576" marT="9144" marB="9144" anchor="ctr">
                    <a:solidFill>
                      <a:srgbClr val="F3F6F9"/>
                    </a:solidFill>
                  </a:tcPr>
                </a:tc>
                <a:tc>
                  <a:txBody>
                    <a:bodyPr wrap="square"/>
                    <a:lstStyle/>
                    <a:p>
                      <a:pPr algn="ctr"/>
                      <a:r>
                        <a:rPr sz="900" b="0">
                          <a:solidFill>
                            <a:srgbClr val="1F1F1F"/>
                          </a:solidFill>
                          <a:latin typeface="Calibri"/>
                        </a:rPr>
                        <a:t>3,318</a:t>
                      </a:r>
                    </a:p>
                  </a:txBody>
                  <a:tcPr marL="36576" marR="36576" marT="9144" marB="9144" anchor="ctr">
                    <a:solidFill>
                      <a:srgbClr val="F3F6F9"/>
                    </a:solidFill>
                  </a:tcPr>
                </a:tc>
                <a:tc>
                  <a:txBody>
                    <a:bodyPr wrap="square"/>
                    <a:lstStyle/>
                    <a:p>
                      <a:pPr algn="ctr"/>
                      <a:r>
                        <a:rPr sz="900" b="0">
                          <a:solidFill>
                            <a:srgbClr val="1F1F1F"/>
                          </a:solidFill>
                          <a:latin typeface="Calibri"/>
                        </a:rPr>
                        <a:t>107.0</a:t>
                      </a:r>
                    </a:p>
                  </a:txBody>
                  <a:tcPr marL="36576" marR="36576" marT="9144" marB="9144" anchor="ctr">
                    <a:solidFill>
                      <a:srgbClr val="F4B183"/>
                    </a:solidFill>
                  </a:tcPr>
                </a:tc>
                <a:tc>
                  <a:txBody>
                    <a:bodyPr wrap="square"/>
                    <a:lstStyle/>
                    <a:p>
                      <a:pPr algn="ctr"/>
                      <a:r>
                        <a:rPr sz="900" b="0">
                          <a:solidFill>
                            <a:srgbClr val="1F1F1F"/>
                          </a:solidFill>
                          <a:latin typeface="Calibri"/>
                        </a:rPr>
                        <a:t>1.26%</a:t>
                      </a:r>
                    </a:p>
                  </a:txBody>
                  <a:tcPr marL="36576" marR="36576" marT="9144" marB="9144" anchor="ctr">
                    <a:solidFill>
                      <a:srgbClr val="F3F6F9"/>
                    </a:solidFill>
                  </a:tcPr>
                </a:tc>
              </a:tr>
              <a:tr h="441525">
                <a:tc>
                  <a:txBody>
                    <a:bodyPr wrap="square"/>
                    <a:lstStyle/>
                    <a:p>
                      <a:pPr algn="l"/>
                      <a:r>
                        <a:rPr sz="900" b="1">
                          <a:solidFill>
                            <a:srgbClr val="1F1F1F"/>
                          </a:solidFill>
                          <a:latin typeface="Calibri"/>
                        </a:rPr>
                        <a:t>Middle East &amp; Africa</a:t>
                      </a:r>
                    </a:p>
                  </a:txBody>
                  <a:tcPr marL="36576" marR="36576" marT="9144" marB="9144" anchor="ctr">
                    <a:solidFill>
                      <a:srgbClr val="FFFFFF"/>
                    </a:solidFill>
                  </a:tcPr>
                </a:tc>
                <a:tc>
                  <a:txBody>
                    <a:bodyPr wrap="square"/>
                    <a:lstStyle/>
                    <a:p>
                      <a:pPr algn="ctr"/>
                      <a:r>
                        <a:rPr sz="900" b="0">
                          <a:solidFill>
                            <a:srgbClr val="1F1F1F"/>
                          </a:solidFill>
                          <a:latin typeface="Calibri"/>
                        </a:rPr>
                        <a:t>2,990</a:t>
                      </a:r>
                    </a:p>
                  </a:txBody>
                  <a:tcPr marL="36576" marR="36576" marT="9144" marB="9144" anchor="ctr">
                    <a:solidFill>
                      <a:srgbClr val="FFFFFF"/>
                    </a:solidFill>
                  </a:tcPr>
                </a:tc>
                <a:tc>
                  <a:txBody>
                    <a:bodyPr wrap="square"/>
                    <a:lstStyle/>
                    <a:p>
                      <a:pPr algn="ctr"/>
                      <a:r>
                        <a:rPr sz="900" b="0">
                          <a:solidFill>
                            <a:srgbClr val="1F1F1F"/>
                          </a:solidFill>
                          <a:latin typeface="Calibri"/>
                        </a:rPr>
                        <a:t>96.5</a:t>
                      </a:r>
                    </a:p>
                  </a:txBody>
                  <a:tcPr marL="36576" marR="36576" marT="9144" marB="9144" anchor="ctr">
                    <a:solidFill>
                      <a:srgbClr val="9DC0E0"/>
                    </a:solidFill>
                  </a:tcPr>
                </a:tc>
                <a:tc>
                  <a:txBody>
                    <a:bodyPr wrap="square"/>
                    <a:lstStyle/>
                    <a:p>
                      <a:pPr algn="ctr"/>
                      <a:r>
                        <a:rPr sz="900" b="0">
                          <a:solidFill>
                            <a:srgbClr val="1F1F1F"/>
                          </a:solidFill>
                          <a:latin typeface="Calibri"/>
                        </a:rPr>
                        <a:t>1.27%</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Latin America</a:t>
                      </a:r>
                    </a:p>
                  </a:txBody>
                  <a:tcPr marL="36576" marR="36576" marT="9144" marB="9144" anchor="ctr">
                    <a:solidFill>
                      <a:srgbClr val="F3F6F9"/>
                    </a:solidFill>
                  </a:tcPr>
                </a:tc>
                <a:tc>
                  <a:txBody>
                    <a:bodyPr wrap="square"/>
                    <a:lstStyle/>
                    <a:p>
                      <a:pPr algn="ctr"/>
                      <a:r>
                        <a:rPr sz="900" b="0">
                          <a:solidFill>
                            <a:srgbClr val="1F1F1F"/>
                          </a:solidFill>
                          <a:latin typeface="Calibri"/>
                        </a:rPr>
                        <a:t>2,938</a:t>
                      </a:r>
                    </a:p>
                  </a:txBody>
                  <a:tcPr marL="36576" marR="36576" marT="9144" marB="9144" anchor="ctr">
                    <a:solidFill>
                      <a:srgbClr val="F3F6F9"/>
                    </a:solidFill>
                  </a:tcPr>
                </a:tc>
                <a:tc>
                  <a:txBody>
                    <a:bodyPr wrap="square"/>
                    <a:lstStyle/>
                    <a:p>
                      <a:pPr algn="ctr"/>
                      <a:r>
                        <a:rPr sz="900" b="0">
                          <a:solidFill>
                            <a:srgbClr val="1F1F1F"/>
                          </a:solidFill>
                          <a:latin typeface="Calibri"/>
                        </a:rPr>
                        <a:t>94.8</a:t>
                      </a:r>
                    </a:p>
                  </a:txBody>
                  <a:tcPr marL="36576" marR="36576" marT="9144" marB="9144" anchor="ctr">
                    <a:solidFill>
                      <a:srgbClr val="9DC0E0"/>
                    </a:solidFill>
                  </a:tcPr>
                </a:tc>
                <a:tc>
                  <a:txBody>
                    <a:bodyPr wrap="square"/>
                    <a:lstStyle/>
                    <a:p>
                      <a:pPr algn="ctr"/>
                      <a:r>
                        <a:rPr sz="900" b="0">
                          <a:solidFill>
                            <a:srgbClr val="1F1F1F"/>
                          </a:solidFill>
                          <a:latin typeface="Calibri"/>
                        </a:rPr>
                        <a:t>1.33%</a:t>
                      </a:r>
                    </a:p>
                  </a:txBody>
                  <a:tcPr marL="36576" marR="36576" marT="9144" marB="9144" anchor="ctr">
                    <a:solidFill>
                      <a:srgbClr val="F3F6F9"/>
                    </a:solidFill>
                  </a:tcPr>
                </a:tc>
              </a:tr>
              <a:tr h="441525">
                <a:tc>
                  <a:txBody>
                    <a:bodyPr wrap="square"/>
                    <a:lstStyle/>
                    <a:p>
                      <a:pPr algn="l"/>
                      <a:r>
                        <a:rPr sz="900" b="1">
                          <a:solidFill>
                            <a:srgbClr val="1F1F1F"/>
                          </a:solidFill>
                          <a:latin typeface="Calibri"/>
                        </a:rPr>
                        <a:t>East Asia</a:t>
                      </a:r>
                    </a:p>
                  </a:txBody>
                  <a:tcPr marL="36576" marR="36576" marT="9144" marB="9144" anchor="ctr">
                    <a:solidFill>
                      <a:srgbClr val="FFFFFF"/>
                    </a:solidFill>
                  </a:tcPr>
                </a:tc>
                <a:tc>
                  <a:txBody>
                    <a:bodyPr wrap="square"/>
                    <a:lstStyle/>
                    <a:p>
                      <a:pPr algn="ctr"/>
                      <a:r>
                        <a:rPr sz="900" b="0">
                          <a:solidFill>
                            <a:srgbClr val="1F1F1F"/>
                          </a:solidFill>
                          <a:latin typeface="Calibri"/>
                        </a:rPr>
                        <a:t>2,823</a:t>
                      </a:r>
                    </a:p>
                  </a:txBody>
                  <a:tcPr marL="36576" marR="36576" marT="9144" marB="9144" anchor="ctr">
                    <a:solidFill>
                      <a:srgbClr val="FFFFFF"/>
                    </a:solidFill>
                  </a:tcPr>
                </a:tc>
                <a:tc>
                  <a:txBody>
                    <a:bodyPr wrap="square"/>
                    <a:lstStyle/>
                    <a:p>
                      <a:pPr algn="ctr"/>
                      <a:r>
                        <a:rPr sz="900" b="0">
                          <a:solidFill>
                            <a:srgbClr val="1F1F1F"/>
                          </a:solidFill>
                          <a:latin typeface="Calibri"/>
                        </a:rPr>
                        <a:t>91.1</a:t>
                      </a:r>
                    </a:p>
                  </a:txBody>
                  <a:tcPr marL="36576" marR="36576" marT="9144" marB="9144" anchor="ctr">
                    <a:solidFill>
                      <a:srgbClr val="9DC0E0"/>
                    </a:solidFill>
                  </a:tcPr>
                </a:tc>
                <a:tc>
                  <a:txBody>
                    <a:bodyPr wrap="square"/>
                    <a:lstStyle/>
                    <a:p>
                      <a:pPr algn="ctr"/>
                      <a:r>
                        <a:rPr sz="900" b="0">
                          <a:solidFill>
                            <a:srgbClr val="1F1F1F"/>
                          </a:solidFill>
                          <a:latin typeface="Calibri"/>
                        </a:rPr>
                        <a:t>1.30%</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South Asia &amp; Pacific</a:t>
                      </a:r>
                    </a:p>
                  </a:txBody>
                  <a:tcPr marL="36576" marR="36576" marT="9144" marB="9144" anchor="ctr">
                    <a:solidFill>
                      <a:srgbClr val="F3F6F9"/>
                    </a:solidFill>
                  </a:tcPr>
                </a:tc>
                <a:tc>
                  <a:txBody>
                    <a:bodyPr wrap="square"/>
                    <a:lstStyle/>
                    <a:p>
                      <a:pPr algn="ctr"/>
                      <a:r>
                        <a:rPr sz="900" b="0">
                          <a:solidFill>
                            <a:srgbClr val="1F1F1F"/>
                          </a:solidFill>
                          <a:latin typeface="Calibri"/>
                        </a:rPr>
                        <a:t>2,805</a:t>
                      </a:r>
                    </a:p>
                  </a:txBody>
                  <a:tcPr marL="36576" marR="36576" marT="9144" marB="9144" anchor="ctr">
                    <a:solidFill>
                      <a:srgbClr val="F3F6F9"/>
                    </a:solidFill>
                  </a:tcPr>
                </a:tc>
                <a:tc>
                  <a:txBody>
                    <a:bodyPr wrap="square"/>
                    <a:lstStyle/>
                    <a:p>
                      <a:pPr algn="ctr"/>
                      <a:r>
                        <a:rPr sz="900" b="0">
                          <a:solidFill>
                            <a:srgbClr val="1F1F1F"/>
                          </a:solidFill>
                          <a:latin typeface="Calibri"/>
                        </a:rPr>
                        <a:t>90.5</a:t>
                      </a:r>
                    </a:p>
                  </a:txBody>
                  <a:tcPr marL="36576" marR="36576" marT="9144" marB="9144" anchor="ctr">
                    <a:solidFill>
                      <a:srgbClr val="9DC0E0"/>
                    </a:solidFill>
                  </a:tcPr>
                </a:tc>
                <a:tc>
                  <a:txBody>
                    <a:bodyPr wrap="square"/>
                    <a:lstStyle/>
                    <a:p>
                      <a:pPr algn="ctr"/>
                      <a:r>
                        <a:rPr sz="900" b="0">
                          <a:solidFill>
                            <a:srgbClr val="1F1F1F"/>
                          </a:solidFill>
                          <a:latin typeface="Calibri"/>
                        </a:rPr>
                        <a:t>1.15%</a:t>
                      </a:r>
                    </a:p>
                  </a:txBody>
                  <a:tcPr marL="36576" marR="36576" marT="9144" marB="9144" anchor="ctr">
                    <a:solidFill>
                      <a:srgbClr val="F3F6F9"/>
                    </a:solidFill>
                  </a:tcPr>
                </a:tc>
              </a:tr>
            </a:tbl>
          </a:graphicData>
        </a:graphic>
      </p:graphicFrame>
      <p:sp>
        <p:nvSpPr>
          <p:cNvPr id="18" name="Rectangle 17"/>
          <p:cNvSpPr/>
          <p:nvPr/>
        </p:nvSpPr>
        <p:spPr>
          <a:xfrm>
            <a:off x="274320" y="5141595"/>
            <a:ext cx="3788664" cy="1234440"/>
          </a:xfrm>
          <a:prstGeom prst="rect">
            <a:avLst/>
          </a:prstGeom>
          <a:solidFill>
            <a:srgbClr val="F3F6F9"/>
          </a:solidFill>
          <a:ln>
            <a:noFill/>
          </a:ln>
          <a:effectLst/>
        </p:spPr>
        <p:txBody>
          <a:bodyPr rtlCol="0" anchor="ctr"/>
          <a:lstStyle/>
          <a:p>
            <a:pPr algn="ctr"/>
          </a:p>
        </p:txBody>
      </p:sp>
      <p:sp>
        <p:nvSpPr>
          <p:cNvPr id="19" name="Oval 18"/>
          <p:cNvSpPr/>
          <p:nvPr/>
        </p:nvSpPr>
        <p:spPr>
          <a:xfrm>
            <a:off x="388620"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1</a:t>
            </a:r>
          </a:p>
        </p:txBody>
      </p:sp>
      <p:sp>
        <p:nvSpPr>
          <p:cNvPr id="20" name="TextBox 19"/>
          <p:cNvSpPr txBox="1"/>
          <p:nvPr/>
        </p:nvSpPr>
        <p:spPr>
          <a:xfrm>
            <a:off x="779145"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Region Spread</a:t>
            </a:r>
          </a:p>
        </p:txBody>
      </p:sp>
      <p:sp>
        <p:nvSpPr>
          <p:cNvPr id="21" name="TextBox 20"/>
          <p:cNvSpPr txBox="1"/>
          <p:nvPr/>
        </p:nvSpPr>
        <p:spPr>
          <a:xfrm>
            <a:off x="779145"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Average prices across the ranked regions differ by 24.3% in 2026, from US$ 2,805/MT in South Asia &amp; Pacific to US$ 3,486/MT in North America.</a:t>
            </a:r>
          </a:p>
        </p:txBody>
      </p:sp>
      <p:sp>
        <p:nvSpPr>
          <p:cNvPr id="22" name="Rectangle 21"/>
          <p:cNvSpPr/>
          <p:nvPr/>
        </p:nvSpPr>
        <p:spPr>
          <a:xfrm>
            <a:off x="4200144" y="5141595"/>
            <a:ext cx="3788664" cy="1234440"/>
          </a:xfrm>
          <a:prstGeom prst="rect">
            <a:avLst/>
          </a:prstGeom>
          <a:solidFill>
            <a:srgbClr val="F3F6F9"/>
          </a:solidFill>
          <a:ln>
            <a:noFill/>
          </a:ln>
          <a:effectLst/>
        </p:spPr>
        <p:txBody>
          <a:bodyPr rtlCol="0" anchor="ctr"/>
          <a:lstStyle/>
          <a:p>
            <a:pPr algn="ctr"/>
          </a:p>
        </p:txBody>
      </p:sp>
      <p:sp>
        <p:nvSpPr>
          <p:cNvPr id="23" name="Oval 22"/>
          <p:cNvSpPr/>
          <p:nvPr/>
        </p:nvSpPr>
        <p:spPr>
          <a:xfrm>
            <a:off x="4314444"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2</a:t>
            </a:r>
          </a:p>
        </p:txBody>
      </p:sp>
      <p:sp>
        <p:nvSpPr>
          <p:cNvPr id="24" name="TextBox 23"/>
          <p:cNvSpPr txBox="1"/>
          <p:nvPr/>
        </p:nvSpPr>
        <p:spPr>
          <a:xfrm>
            <a:off x="4704969"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Growth Leader</a:t>
            </a:r>
          </a:p>
        </p:txBody>
      </p:sp>
      <p:sp>
        <p:nvSpPr>
          <p:cNvPr id="25" name="TextBox 24"/>
          <p:cNvSpPr txBox="1"/>
          <p:nvPr/>
        </p:nvSpPr>
        <p:spPr>
          <a:xfrm>
            <a:off x="4704969"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Latin America records the fastest average price growth at a 1.33% CAGR between 2026 and 2036, against 1.22% for Global as a whole.</a:t>
            </a:r>
          </a:p>
        </p:txBody>
      </p:sp>
      <p:sp>
        <p:nvSpPr>
          <p:cNvPr id="26" name="Rectangle 25"/>
          <p:cNvSpPr/>
          <p:nvPr/>
        </p:nvSpPr>
        <p:spPr>
          <a:xfrm>
            <a:off x="8125968" y="5141595"/>
            <a:ext cx="3788664" cy="1234440"/>
          </a:xfrm>
          <a:prstGeom prst="rect">
            <a:avLst/>
          </a:prstGeom>
          <a:solidFill>
            <a:srgbClr val="F3F6F9"/>
          </a:solidFill>
          <a:ln>
            <a:noFill/>
          </a:ln>
          <a:effectLst/>
        </p:spPr>
        <p:txBody>
          <a:bodyPr rtlCol="0" anchor="ctr"/>
          <a:lstStyle/>
          <a:p>
            <a:pPr algn="ctr"/>
          </a:p>
        </p:txBody>
      </p:sp>
      <p:sp>
        <p:nvSpPr>
          <p:cNvPr id="27" name="Oval 26"/>
          <p:cNvSpPr/>
          <p:nvPr/>
        </p:nvSpPr>
        <p:spPr>
          <a:xfrm>
            <a:off x="8240268"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3</a:t>
            </a:r>
          </a:p>
        </p:txBody>
      </p:sp>
      <p:sp>
        <p:nvSpPr>
          <p:cNvPr id="28" name="TextBox 27"/>
          <p:cNvSpPr txBox="1"/>
          <p:nvPr/>
        </p:nvSpPr>
        <p:spPr>
          <a:xfrm>
            <a:off x="8630793"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Mix Exposure</a:t>
            </a:r>
          </a:p>
        </p:txBody>
      </p:sp>
      <p:sp>
        <p:nvSpPr>
          <p:cNvPr id="29" name="TextBox 28"/>
          <p:cNvSpPr txBox="1"/>
          <p:nvPr/>
        </p:nvSpPr>
        <p:spPr>
          <a:xfrm>
            <a:off x="8630793"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East Asia shows the widest gap between its cheapest and most expensive product type at 68.0%, so product mix shifts move its average price the most.</a:t>
            </a:r>
          </a:p>
        </p:txBody>
      </p:sp>
      <p:sp>
        <p:nvSpPr>
          <p:cNvPr id="30" name="TextBox 29"/>
          <p:cNvSpPr txBox="1"/>
          <p:nvPr/>
        </p:nvSpPr>
        <p:spPr>
          <a:xfrm>
            <a:off x="274320" y="6363843"/>
            <a:ext cx="11612880" cy="209550"/>
          </a:xfrm>
          <a:prstGeom prst="rect">
            <a:avLst/>
          </a:prstGeom>
          <a:noFill/>
        </p:spPr>
        <p:txBody>
          <a:bodyPr wrap="square" anchor="t" lIns="27432" rIns="27432" tIns="27432" bIns="27432">
            <a:spAutoFit/>
          </a:bodyPr>
          <a:lstStyle/>
          <a:p>
            <a:pPr algn="l"/>
            <a:r>
              <a:rPr sz="850" b="0" i="0">
                <a:solidFill>
                  <a:srgbClr val="59636E"/>
                </a:solidFill>
                <a:latin typeface="Calibri"/>
              </a:rPr>
              <a:t>Source: FMI analysis. Range = lowest to highest product type price in each region; ranked by average price. Other geographies grouped as 'Other' are excluded from the ranking.</a:t>
            </a:r>
          </a:p>
        </p:txBody>
      </p:sp>
      <p:sp>
        <p:nvSpPr>
          <p:cNvPr id="31" name="TextBox 3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Flexible Plastic Packaging Market Price Positioning &amp; Key Findings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Price positioning of each region on a common axis with FMI's key findings on where premiums and discounts sit</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Average selling price and price range by region on a shared price scale (US$/MT).</a:t>
            </a:r>
          </a:p>
        </p:txBody>
      </p:sp>
      <p:sp>
        <p:nvSpPr>
          <p:cNvPr id="11" name="Rounded Rectangle 10"/>
          <p:cNvSpPr/>
          <p:nvPr/>
        </p:nvSpPr>
        <p:spPr>
          <a:xfrm>
            <a:off x="142875" y="1317574"/>
            <a:ext cx="7696200" cy="5238811"/>
          </a:xfrm>
          <a:prstGeom prst="roundRect">
            <a:avLst>
              <a:gd name="adj" fmla="val 14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&amp; Range by Region</a:t>
            </a:r>
          </a:p>
        </p:txBody>
      </p:sp>
      <p:cxnSp>
        <p:nvCxnSpPr>
          <p:cNvPr id="13" name="Connector 12"/>
          <p:cNvCxnSpPr/>
          <p:nvPr/>
        </p:nvCxnSpPr>
        <p:spPr>
          <a:xfrm>
            <a:off x="136207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11442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2,060</a:t>
            </a:r>
          </a:p>
        </p:txBody>
      </p:sp>
      <p:cxnSp>
        <p:nvCxnSpPr>
          <p:cNvPr id="15" name="Connector 14"/>
          <p:cNvCxnSpPr/>
          <p:nvPr/>
        </p:nvCxnSpPr>
        <p:spPr>
          <a:xfrm>
            <a:off x="261175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36410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2,729</a:t>
            </a:r>
          </a:p>
        </p:txBody>
      </p:sp>
      <p:cxnSp>
        <p:nvCxnSpPr>
          <p:cNvPr id="17" name="Connector 16"/>
          <p:cNvCxnSpPr/>
          <p:nvPr/>
        </p:nvCxnSpPr>
        <p:spPr>
          <a:xfrm>
            <a:off x="386143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61378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3,398</a:t>
            </a:r>
          </a:p>
        </p:txBody>
      </p:sp>
      <p:cxnSp>
        <p:nvCxnSpPr>
          <p:cNvPr id="19" name="Connector 18"/>
          <p:cNvCxnSpPr/>
          <p:nvPr/>
        </p:nvCxnSpPr>
        <p:spPr>
          <a:xfrm>
            <a:off x="511111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86346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4,067</a:t>
            </a:r>
          </a:p>
        </p:txBody>
      </p:sp>
      <p:cxnSp>
        <p:nvCxnSpPr>
          <p:cNvPr id="21" name="Connector 20"/>
          <p:cNvCxnSpPr/>
          <p:nvPr/>
        </p:nvCxnSpPr>
        <p:spPr>
          <a:xfrm>
            <a:off x="636079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11314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4,735</a:t>
            </a:r>
          </a:p>
        </p:txBody>
      </p:sp>
      <p:cxnSp>
        <p:nvCxnSpPr>
          <p:cNvPr id="23" name="Connector 22"/>
          <p:cNvCxnSpPr/>
          <p:nvPr/>
        </p:nvCxnSpPr>
        <p:spPr>
          <a:xfrm>
            <a:off x="761047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36282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5,404</a:t>
            </a:r>
          </a:p>
        </p:txBody>
      </p:sp>
      <p:sp>
        <p:nvSpPr>
          <p:cNvPr id="25" name="TextBox 24"/>
          <p:cNvSpPr txBox="1"/>
          <p:nvPr/>
        </p:nvSpPr>
        <p:spPr>
          <a:xfrm>
            <a:off x="238125" y="2203404"/>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North America</a:t>
            </a:r>
          </a:p>
        </p:txBody>
      </p:sp>
      <p:sp>
        <p:nvSpPr>
          <p:cNvPr id="26" name="Rectangle 25"/>
          <p:cNvSpPr/>
          <p:nvPr/>
        </p:nvSpPr>
        <p:spPr>
          <a:xfrm>
            <a:off x="3138955" y="2100912"/>
            <a:ext cx="3788102"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344300" y="222721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8125" y="2927314"/>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Latin America</a:t>
            </a:r>
          </a:p>
        </p:txBody>
      </p:sp>
      <p:sp>
        <p:nvSpPr>
          <p:cNvPr id="29" name="Rectangle 28"/>
          <p:cNvSpPr/>
          <p:nvPr/>
        </p:nvSpPr>
        <p:spPr>
          <a:xfrm>
            <a:off x="2240707" y="2824823"/>
            <a:ext cx="3188637"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248856" y="295112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 y="3651224"/>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Europe</a:t>
            </a:r>
          </a:p>
        </p:txBody>
      </p:sp>
      <p:sp>
        <p:nvSpPr>
          <p:cNvPr id="32" name="Rectangle 31"/>
          <p:cNvSpPr/>
          <p:nvPr/>
        </p:nvSpPr>
        <p:spPr>
          <a:xfrm>
            <a:off x="2898445" y="3548733"/>
            <a:ext cx="3551169"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012545" y="367503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8125" y="4375135"/>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East Asia</a:t>
            </a:r>
          </a:p>
        </p:txBody>
      </p:sp>
      <p:sp>
        <p:nvSpPr>
          <p:cNvPr id="35" name="Rectangle 34"/>
          <p:cNvSpPr/>
          <p:nvPr/>
        </p:nvSpPr>
        <p:spPr>
          <a:xfrm>
            <a:off x="2059420" y="4272643"/>
            <a:ext cx="3091842"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034682" y="439894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38125" y="5099045"/>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South Asia &amp; Pacific</a:t>
            </a:r>
          </a:p>
        </p:txBody>
      </p:sp>
      <p:sp>
        <p:nvSpPr>
          <p:cNvPr id="38" name="Rectangle 37"/>
          <p:cNvSpPr/>
          <p:nvPr/>
        </p:nvSpPr>
        <p:spPr>
          <a:xfrm>
            <a:off x="2045494" y="4996553"/>
            <a:ext cx="3016920"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2991950" y="512285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38125" y="5822955"/>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Middle East &amp; Africa</a:t>
            </a:r>
          </a:p>
        </p:txBody>
      </p:sp>
      <p:sp>
        <p:nvSpPr>
          <p:cNvPr id="41" name="Rectangle 40"/>
          <p:cNvSpPr/>
          <p:nvPr/>
        </p:nvSpPr>
        <p:spPr>
          <a:xfrm>
            <a:off x="2320877" y="5720463"/>
            <a:ext cx="3220219"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3346679" y="5846768"/>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362075" y="1727149"/>
            <a:ext cx="114300" cy="114300"/>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495425" y="1717624"/>
            <a:ext cx="838200" cy="133350"/>
          </a:xfrm>
          <a:prstGeom prst="rect">
            <a:avLst/>
          </a:prstGeom>
          <a:noFill/>
        </p:spPr>
        <p:txBody>
          <a:bodyPr wrap="square" lIns="28575" rIns="28575" tIns="9525" bIns="9525">
            <a:spAutoFit/>
          </a:bodyPr>
          <a:lstStyle/>
          <a:p>
            <a:pPr algn="l"/>
            <a:r>
              <a:rPr sz="1100" b="0">
                <a:solidFill>
                  <a:srgbClr val="2E2E2E"/>
                </a:solidFill>
                <a:latin typeface="Calibri"/>
              </a:rPr>
              <a:t>Average Price</a:t>
            </a:r>
          </a:p>
        </p:txBody>
      </p:sp>
      <p:sp>
        <p:nvSpPr>
          <p:cNvPr id="45" name="Rectangle 44"/>
          <p:cNvSpPr/>
          <p:nvPr/>
        </p:nvSpPr>
        <p:spPr>
          <a:xfrm>
            <a:off x="2390775" y="1736674"/>
            <a:ext cx="190500" cy="114300"/>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619375" y="1717624"/>
            <a:ext cx="800100" cy="133350"/>
          </a:xfrm>
          <a:prstGeom prst="rect">
            <a:avLst/>
          </a:prstGeom>
          <a:noFill/>
        </p:spPr>
        <p:txBody>
          <a:bodyPr wrap="square" lIns="28575" rIns="28575" tIns="9525" bIns="9525">
            <a:spAutoFit/>
          </a:bodyPr>
          <a:lstStyle/>
          <a:p>
            <a:pPr algn="l"/>
            <a:r>
              <a:rPr sz="1100" b="0">
                <a:solidFill>
                  <a:srgbClr val="2E2E2E"/>
                </a:solidFill>
                <a:latin typeface="Calibri"/>
              </a:rPr>
              <a:t>Price Range</a:t>
            </a:r>
          </a:p>
        </p:txBody>
      </p:sp>
      <p:sp>
        <p:nvSpPr>
          <p:cNvPr id="47" name="Rounded Rectangle 46"/>
          <p:cNvSpPr/>
          <p:nvPr/>
        </p:nvSpPr>
        <p:spPr>
          <a:xfrm>
            <a:off x="7915275" y="1317574"/>
            <a:ext cx="4133850" cy="3924545"/>
          </a:xfrm>
          <a:prstGeom prst="roundRect">
            <a:avLst>
              <a:gd name="adj" fmla="val 194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49" name="Rectangle 48"/>
          <p:cNvSpPr/>
          <p:nvPr/>
        </p:nvSpPr>
        <p:spPr>
          <a:xfrm>
            <a:off x="8048625" y="1641424"/>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48625" y="1727149"/>
            <a:ext cx="3867150" cy="3438770"/>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E2E2E"/>
                </a:solidFill>
                <a:latin typeface="Calibri"/>
              </a:rPr>
              <a:t>Barrier casings segment is expected to command the highest average price of US$ 5,079 per MT in 2036. Average selling price of flexible plastic packaging is estimated at US$ 3,076 per MT in 2025 and is projected to increase to US$ 3,501 per MT by 2036. North America is the highest-priced region, while South Asia &amp; Pacific is the most price-competitive market.</a:t>
            </a:r>
          </a:p>
          <a:p>
            <a:pPr algn="l">
              <a:lnSpc>
                <a:spcPct val="100000"/>
              </a:lnSpc>
              <a:spcBef>
                <a:spcPts val="0"/>
              </a:spcBef>
              <a:spcAft>
                <a:spcPts val="300"/>
              </a:spcAft>
            </a:pPr>
            <a:r>
              <a:rPr sz="1100" b="0">
                <a:solidFill>
                  <a:srgbClr val="2E2E2E"/>
                </a:solidFill>
                <a:latin typeface="Calibri"/>
              </a:rPr>
              <a:t>The orange dot is each region's average selling price; the blue band is its full low-to-high price range, all derived as Value ÷ Volume. Narrow bands point to commoditised, price-led competition; wider bands flag premiumisation headroom to trade buyers up the mix.</a:t>
            </a:r>
          </a:p>
          <a:p>
            <a:pPr algn="l">
              <a:lnSpc>
                <a:spcPct val="100000"/>
              </a:lnSpc>
              <a:spcBef>
                <a:spcPts val="0"/>
              </a:spcBef>
              <a:spcAft>
                <a:spcPts val="300"/>
              </a:spcAft>
            </a:pPr>
            <a:r>
              <a:rPr sz="1100" b="0">
                <a:solidFill>
                  <a:srgbClr val="2E2E2E"/>
                </a:solidFill>
                <a:latin typeface="Calibri"/>
              </a:rPr>
              <a:t>The global average of US$ 3,100 per MT in 2026 blends premium regions, where barrier-rich and mono-material structures and higher labour and compliance costs lift prices, with lower-priced regions that skew to commodity PE and PP film. Value growth of 6.6% against 5.3% for volume shows price rising to US$ 3,501 per MT by 2036. The dearest regions are those with the strictest food-safety and recyclability rules and the most specialised converting.</a:t>
            </a:r>
          </a:p>
        </p:txBody>
      </p:sp>
      <p:sp>
        <p:nvSpPr>
          <p:cNvPr id="51" name="Rounded Rectangle 50"/>
          <p:cNvSpPr/>
          <p:nvPr/>
        </p:nvSpPr>
        <p:spPr>
          <a:xfrm>
            <a:off x="7915275" y="5351641"/>
            <a:ext cx="4133850" cy="1204744"/>
          </a:xfrm>
          <a:prstGeom prst="roundRect">
            <a:avLst>
              <a:gd name="adj" fmla="val 63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Note: the above information is indicative in nature and does not constitute any form of analysis.</a:t>
            </a:r>
          </a:p>
        </p:txBody>
      </p:sp>
      <p:sp>
        <p:nvSpPr>
          <p:cNvPr id="52" name="TextBox 5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Key Pricing Drivers Influencing Flexible Plastic Packaging Market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input costs, market conditions and competitive forces shaping pricing strategies and profitability</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Analysis of input costs, market conditions, and competitive forces shaping pricing strategies and profitability across the value chain</a:t>
            </a:r>
          </a:p>
        </p:txBody>
      </p:sp>
      <p:sp>
        <p:nvSpPr>
          <p:cNvPr id="12" name="Rounded Rectangle 11"/>
          <p:cNvSpPr/>
          <p:nvPr/>
        </p:nvSpPr>
        <p:spPr>
          <a:xfrm>
            <a:off x="142875" y="1354081"/>
            <a:ext cx="7029450" cy="5220558"/>
          </a:xfrm>
          <a:prstGeom prst="roundRect">
            <a:avLst>
              <a:gd name="adj" fmla="val 14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1411231"/>
            <a:ext cx="6838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Impacting Factors</a:t>
            </a:r>
          </a:p>
        </p:txBody>
      </p:sp>
      <p:sp>
        <p:nvSpPr>
          <p:cNvPr id="14" name="Freeform 13"/>
          <p:cNvSpPr/>
          <p:nvPr/>
        </p:nvSpPr>
        <p:spPr>
          <a:xfrm>
            <a:off x="3295650" y="3705225"/>
            <a:ext cx="723900" cy="752475"/>
          </a:xfrm>
          <a:custGeom>
            <a:avLst/>
            <a:gdLst/>
            <a:ahLst/>
            <a:cxnLst/>
            <a:rect l="l" t="t" r="r" b="b"/>
            <a:pathLst>
              <a:path w="76" h="79">
                <a:moveTo>
                  <a:pt x="38" y="0"/>
                </a:moveTo>
                <a:lnTo>
                  <a:pt x="61" y="7"/>
                </a:lnTo>
                <a:lnTo>
                  <a:pt x="76" y="27"/>
                </a:lnTo>
                <a:lnTo>
                  <a:pt x="76" y="51"/>
                </a:lnTo>
                <a:lnTo>
                  <a:pt x="61" y="71"/>
                </a:lnTo>
                <a:lnTo>
                  <a:pt x="38" y="79"/>
                </a:lnTo>
                <a:lnTo>
                  <a:pt x="15" y="71"/>
                </a:lnTo>
                <a:lnTo>
                  <a:pt x="0" y="51"/>
                </a:lnTo>
                <a:lnTo>
                  <a:pt x="0" y="27"/>
                </a:lnTo>
                <a:lnTo>
                  <a:pt x="15" y="7"/>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943225" y="3324225"/>
            <a:ext cx="1428750" cy="1504950"/>
          </a:xfrm>
          <a:custGeom>
            <a:avLst/>
            <a:gdLst/>
            <a:ahLst/>
            <a:cxnLst/>
            <a:rect l="l" t="t" r="r" b="b"/>
            <a:pathLst>
              <a:path w="150" h="158">
                <a:moveTo>
                  <a:pt x="75" y="0"/>
                </a:moveTo>
                <a:lnTo>
                  <a:pt x="122" y="15"/>
                </a:lnTo>
                <a:lnTo>
                  <a:pt x="150" y="55"/>
                </a:lnTo>
                <a:lnTo>
                  <a:pt x="150" y="104"/>
                </a:lnTo>
                <a:lnTo>
                  <a:pt x="122" y="143"/>
                </a:lnTo>
                <a:lnTo>
                  <a:pt x="75" y="158"/>
                </a:lnTo>
                <a:lnTo>
                  <a:pt x="28" y="143"/>
                </a:lnTo>
                <a:lnTo>
                  <a:pt x="0" y="104"/>
                </a:lnTo>
                <a:lnTo>
                  <a:pt x="0" y="55"/>
                </a:lnTo>
                <a:lnTo>
                  <a:pt x="28" y="15"/>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581275" y="2943225"/>
            <a:ext cx="2152650" cy="2266950"/>
          </a:xfrm>
          <a:custGeom>
            <a:avLst/>
            <a:gdLst/>
            <a:ahLst/>
            <a:cxnLst/>
            <a:rect l="l" t="t" r="r" b="b"/>
            <a:pathLst>
              <a:path w="226" h="238">
                <a:moveTo>
                  <a:pt x="113" y="0"/>
                </a:moveTo>
                <a:lnTo>
                  <a:pt x="183" y="23"/>
                </a:lnTo>
                <a:lnTo>
                  <a:pt x="226" y="82"/>
                </a:lnTo>
                <a:lnTo>
                  <a:pt x="226" y="156"/>
                </a:lnTo>
                <a:lnTo>
                  <a:pt x="183" y="215"/>
                </a:lnTo>
                <a:lnTo>
                  <a:pt x="113" y="238"/>
                </a:lnTo>
                <a:lnTo>
                  <a:pt x="43" y="215"/>
                </a:lnTo>
                <a:lnTo>
                  <a:pt x="0" y="156"/>
                </a:lnTo>
                <a:lnTo>
                  <a:pt x="0" y="82"/>
                </a:lnTo>
                <a:lnTo>
                  <a:pt x="43" y="23"/>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219325" y="2571750"/>
            <a:ext cx="2876550" cy="3019425"/>
          </a:xfrm>
          <a:custGeom>
            <a:avLst/>
            <a:gdLst/>
            <a:ahLst/>
            <a:cxnLst/>
            <a:rect l="l" t="t" r="r" b="b"/>
            <a:pathLst>
              <a:path w="302" h="317">
                <a:moveTo>
                  <a:pt x="151" y="0"/>
                </a:moveTo>
                <a:lnTo>
                  <a:pt x="244" y="30"/>
                </a:lnTo>
                <a:lnTo>
                  <a:pt x="302" y="109"/>
                </a:lnTo>
                <a:lnTo>
                  <a:pt x="302" y="207"/>
                </a:lnTo>
                <a:lnTo>
                  <a:pt x="244" y="286"/>
                </a:lnTo>
                <a:lnTo>
                  <a:pt x="151" y="317"/>
                </a:lnTo>
                <a:lnTo>
                  <a:pt x="58" y="286"/>
                </a:lnTo>
                <a:lnTo>
                  <a:pt x="0" y="207"/>
                </a:lnTo>
                <a:lnTo>
                  <a:pt x="0" y="109"/>
                </a:lnTo>
                <a:lnTo>
                  <a:pt x="58" y="30"/>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1866900" y="2190750"/>
            <a:ext cx="3581400" cy="3771900"/>
          </a:xfrm>
          <a:custGeom>
            <a:avLst/>
            <a:gdLst/>
            <a:ahLst/>
            <a:cxnLst/>
            <a:rect l="l" t="t" r="r" b="b"/>
            <a:pathLst>
              <a:path w="376" h="396">
                <a:moveTo>
                  <a:pt x="188" y="0"/>
                </a:moveTo>
                <a:lnTo>
                  <a:pt x="304" y="38"/>
                </a:lnTo>
                <a:lnTo>
                  <a:pt x="376" y="137"/>
                </a:lnTo>
                <a:lnTo>
                  <a:pt x="376" y="259"/>
                </a:lnTo>
                <a:lnTo>
                  <a:pt x="304" y="358"/>
                </a:lnTo>
                <a:lnTo>
                  <a:pt x="188" y="396"/>
                </a:lnTo>
                <a:lnTo>
                  <a:pt x="72" y="358"/>
                </a:lnTo>
                <a:lnTo>
                  <a:pt x="0" y="259"/>
                </a:lnTo>
                <a:lnTo>
                  <a:pt x="0" y="137"/>
                </a:lnTo>
                <a:lnTo>
                  <a:pt x="72" y="38"/>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flipV="1">
            <a:off x="3657600" y="2192281"/>
            <a:ext cx="0" cy="188637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657600" y="2552548"/>
            <a:ext cx="1108786" cy="1526112"/>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3657600" y="3495737"/>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657600" y="4078660"/>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657600" y="4078660"/>
            <a:ext cx="1108786" cy="152611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657600" y="4078660"/>
            <a:ext cx="0" cy="188637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2548814" y="4078660"/>
            <a:ext cx="1108786" cy="152611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1863547" y="4078660"/>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1863547" y="3495737"/>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548814" y="2552548"/>
            <a:ext cx="1108786" cy="1526112"/>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29" name="Freeform 28"/>
          <p:cNvSpPr/>
          <p:nvPr/>
        </p:nvSpPr>
        <p:spPr>
          <a:xfrm>
            <a:off x="2495550" y="2381250"/>
            <a:ext cx="2505075" cy="3209925"/>
          </a:xfrm>
          <a:custGeom>
            <a:avLst/>
            <a:gdLst/>
            <a:ahLst/>
            <a:cxnLst/>
            <a:rect l="l" t="t" r="r" b="b"/>
            <a:pathLst>
              <a:path w="263" h="337">
                <a:moveTo>
                  <a:pt x="122" y="0"/>
                </a:moveTo>
                <a:lnTo>
                  <a:pt x="203" y="66"/>
                </a:lnTo>
                <a:lnTo>
                  <a:pt x="244" y="138"/>
                </a:lnTo>
                <a:lnTo>
                  <a:pt x="263" y="224"/>
                </a:lnTo>
                <a:lnTo>
                  <a:pt x="221" y="314"/>
                </a:lnTo>
                <a:lnTo>
                  <a:pt x="122" y="337"/>
                </a:lnTo>
                <a:lnTo>
                  <a:pt x="52" y="274"/>
                </a:lnTo>
                <a:lnTo>
                  <a:pt x="18" y="212"/>
                </a:lnTo>
                <a:lnTo>
                  <a:pt x="0" y="138"/>
                </a:lnTo>
                <a:lnTo>
                  <a:pt x="70" y="106"/>
                </a:lnTo>
                <a:close/>
              </a:path>
            </a:pathLst>
          </a:custGeom>
          <a:solidFill>
            <a:srgbClr val="2B5F8E">
              <a:alpha val="62000"/>
            </a:srgbClr>
          </a:solidFill>
          <a:ln w="27940">
            <a:solidFill>
              <a:srgbClr val="2B5F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624262" y="234758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400412" y="2977044"/>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790397" y="366642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969802" y="4482515"/>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566730" y="5342518"/>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624262" y="5554426"/>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958991" y="496099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637533" y="436593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2458128" y="366642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125309" y="335857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86175" y="3634709"/>
            <a:ext cx="285750" cy="123825"/>
          </a:xfrm>
          <a:prstGeom prst="rect">
            <a:avLst/>
          </a:prstGeom>
          <a:noFill/>
        </p:spPr>
        <p:txBody>
          <a:bodyPr wrap="none" lIns="0" rIns="0" tIns="0" bIns="0" anchor="ctr">
            <a:spAutoFit/>
          </a:bodyPr>
          <a:lstStyle/>
          <a:p>
            <a:pPr algn="l"/>
            <a:r>
              <a:rPr sz="1100" b="0">
                <a:solidFill>
                  <a:srgbClr val="6C7A89"/>
                </a:solidFill>
                <a:latin typeface="Calibri"/>
              </a:rPr>
              <a:t>2</a:t>
            </a:r>
          </a:p>
        </p:txBody>
      </p:sp>
      <p:sp>
        <p:nvSpPr>
          <p:cNvPr id="41" name="TextBox 40"/>
          <p:cNvSpPr txBox="1"/>
          <p:nvPr/>
        </p:nvSpPr>
        <p:spPr>
          <a:xfrm>
            <a:off x="3686175" y="3257434"/>
            <a:ext cx="285750" cy="123825"/>
          </a:xfrm>
          <a:prstGeom prst="rect">
            <a:avLst/>
          </a:prstGeom>
          <a:noFill/>
        </p:spPr>
        <p:txBody>
          <a:bodyPr wrap="none" lIns="0" rIns="0" tIns="0" bIns="0" anchor="ctr">
            <a:spAutoFit/>
          </a:bodyPr>
          <a:lstStyle/>
          <a:p>
            <a:pPr algn="l"/>
            <a:r>
              <a:rPr sz="1100" b="0">
                <a:solidFill>
                  <a:srgbClr val="6C7A89"/>
                </a:solidFill>
                <a:latin typeface="Calibri"/>
              </a:rPr>
              <a:t>4</a:t>
            </a:r>
          </a:p>
        </p:txBody>
      </p:sp>
      <p:sp>
        <p:nvSpPr>
          <p:cNvPr id="42" name="TextBox 41"/>
          <p:cNvSpPr txBox="1"/>
          <p:nvPr/>
        </p:nvSpPr>
        <p:spPr>
          <a:xfrm>
            <a:off x="3686175" y="2880158"/>
            <a:ext cx="285750" cy="123825"/>
          </a:xfrm>
          <a:prstGeom prst="rect">
            <a:avLst/>
          </a:prstGeom>
          <a:noFill/>
        </p:spPr>
        <p:txBody>
          <a:bodyPr wrap="none" lIns="0" rIns="0" tIns="0" bIns="0" anchor="ctr">
            <a:spAutoFit/>
          </a:bodyPr>
          <a:lstStyle/>
          <a:p>
            <a:pPr algn="l"/>
            <a:r>
              <a:rPr sz="1100" b="0">
                <a:solidFill>
                  <a:srgbClr val="6C7A89"/>
                </a:solidFill>
                <a:latin typeface="Calibri"/>
              </a:rPr>
              <a:t>6</a:t>
            </a:r>
          </a:p>
        </p:txBody>
      </p:sp>
      <p:sp>
        <p:nvSpPr>
          <p:cNvPr id="43" name="TextBox 42"/>
          <p:cNvSpPr txBox="1"/>
          <p:nvPr/>
        </p:nvSpPr>
        <p:spPr>
          <a:xfrm>
            <a:off x="3686175" y="2502882"/>
            <a:ext cx="285750" cy="123825"/>
          </a:xfrm>
          <a:prstGeom prst="rect">
            <a:avLst/>
          </a:prstGeom>
          <a:noFill/>
        </p:spPr>
        <p:txBody>
          <a:bodyPr wrap="none" lIns="0" rIns="0" tIns="0" bIns="0" anchor="ctr">
            <a:spAutoFit/>
          </a:bodyPr>
          <a:lstStyle/>
          <a:p>
            <a:pPr algn="l"/>
            <a:r>
              <a:rPr sz="1100" b="0">
                <a:solidFill>
                  <a:srgbClr val="6C7A89"/>
                </a:solidFill>
                <a:latin typeface="Calibri"/>
              </a:rPr>
              <a:t>8</a:t>
            </a:r>
          </a:p>
        </p:txBody>
      </p:sp>
      <p:sp>
        <p:nvSpPr>
          <p:cNvPr id="44" name="TextBox 43"/>
          <p:cNvSpPr txBox="1"/>
          <p:nvPr/>
        </p:nvSpPr>
        <p:spPr>
          <a:xfrm>
            <a:off x="3686175" y="2125606"/>
            <a:ext cx="285750" cy="123825"/>
          </a:xfrm>
          <a:prstGeom prst="rect">
            <a:avLst/>
          </a:prstGeom>
          <a:noFill/>
        </p:spPr>
        <p:txBody>
          <a:bodyPr wrap="none" lIns="0" rIns="0" tIns="0" bIns="0" anchor="ctr">
            <a:spAutoFit/>
          </a:bodyPr>
          <a:lstStyle/>
          <a:p>
            <a:pPr algn="l"/>
            <a:r>
              <a:rPr sz="1100" b="0">
                <a:solidFill>
                  <a:srgbClr val="6C7A89"/>
                </a:solidFill>
                <a:latin typeface="Calibri"/>
              </a:rPr>
              <a:t>10</a:t>
            </a:r>
          </a:p>
        </p:txBody>
      </p:sp>
      <p:sp>
        <p:nvSpPr>
          <p:cNvPr id="45" name="TextBox 44"/>
          <p:cNvSpPr txBox="1"/>
          <p:nvPr/>
        </p:nvSpPr>
        <p:spPr>
          <a:xfrm>
            <a:off x="3000375" y="1839856"/>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Input Cost  13.0%</a:t>
            </a:r>
          </a:p>
        </p:txBody>
      </p:sp>
      <p:sp>
        <p:nvSpPr>
          <p:cNvPr id="46" name="TextBox 45"/>
          <p:cNvSpPr txBox="1"/>
          <p:nvPr/>
        </p:nvSpPr>
        <p:spPr>
          <a:xfrm>
            <a:off x="4232331" y="224014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Labor &amp; Production Costs  10.1%</a:t>
            </a:r>
          </a:p>
        </p:txBody>
      </p:sp>
      <p:sp>
        <p:nvSpPr>
          <p:cNvPr id="47" name="TextBox 46"/>
          <p:cNvSpPr txBox="1"/>
          <p:nvPr/>
        </p:nvSpPr>
        <p:spPr>
          <a:xfrm>
            <a:off x="4993722" y="3288108"/>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Technology &amp; Innovation  9.4%</a:t>
            </a:r>
          </a:p>
        </p:txBody>
      </p:sp>
      <p:sp>
        <p:nvSpPr>
          <p:cNvPr id="48" name="TextBox 47"/>
          <p:cNvSpPr txBox="1"/>
          <p:nvPr/>
        </p:nvSpPr>
        <p:spPr>
          <a:xfrm>
            <a:off x="4993722" y="458346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Supply Chain &amp; Logistics  10.9%</a:t>
            </a:r>
          </a:p>
        </p:txBody>
      </p:sp>
      <p:sp>
        <p:nvSpPr>
          <p:cNvPr id="49" name="TextBox 48"/>
          <p:cNvSpPr txBox="1"/>
          <p:nvPr/>
        </p:nvSpPr>
        <p:spPr>
          <a:xfrm>
            <a:off x="4232331" y="5631427"/>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Demand &amp; Market Conditions  12.3%</a:t>
            </a:r>
          </a:p>
        </p:txBody>
      </p:sp>
      <p:sp>
        <p:nvSpPr>
          <p:cNvPr id="50" name="TextBox 49"/>
          <p:cNvSpPr txBox="1"/>
          <p:nvPr/>
        </p:nvSpPr>
        <p:spPr>
          <a:xfrm>
            <a:off x="3000375" y="6031714"/>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Competitive Landscape  11.6%</a:t>
            </a:r>
          </a:p>
        </p:txBody>
      </p:sp>
      <p:sp>
        <p:nvSpPr>
          <p:cNvPr id="51" name="TextBox 50"/>
          <p:cNvSpPr txBox="1"/>
          <p:nvPr/>
        </p:nvSpPr>
        <p:spPr>
          <a:xfrm>
            <a:off x="1768419" y="5631427"/>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Regulatory &amp; Compliance Costs  8.7%</a:t>
            </a:r>
          </a:p>
        </p:txBody>
      </p:sp>
      <p:sp>
        <p:nvSpPr>
          <p:cNvPr id="52" name="TextBox 51"/>
          <p:cNvSpPr txBox="1"/>
          <p:nvPr/>
        </p:nvSpPr>
        <p:spPr>
          <a:xfrm>
            <a:off x="1007028" y="458346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Currency &amp; Trade Dynamics  8.0%</a:t>
            </a:r>
          </a:p>
        </p:txBody>
      </p:sp>
      <p:sp>
        <p:nvSpPr>
          <p:cNvPr id="53" name="TextBox 52"/>
          <p:cNvSpPr txBox="1"/>
          <p:nvPr/>
        </p:nvSpPr>
        <p:spPr>
          <a:xfrm>
            <a:off x="1007028" y="3288108"/>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Brand &amp; Value Perception  9.4%</a:t>
            </a:r>
          </a:p>
        </p:txBody>
      </p:sp>
      <p:sp>
        <p:nvSpPr>
          <p:cNvPr id="54" name="TextBox 53"/>
          <p:cNvSpPr txBox="1"/>
          <p:nvPr/>
        </p:nvSpPr>
        <p:spPr>
          <a:xfrm>
            <a:off x="1768419" y="224014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Aftermarket &amp; Service Costs  6.5%</a:t>
            </a:r>
          </a:p>
        </p:txBody>
      </p:sp>
      <p:sp>
        <p:nvSpPr>
          <p:cNvPr id="55" name="Rounded Rectangle 54"/>
          <p:cNvSpPr/>
          <p:nvPr/>
        </p:nvSpPr>
        <p:spPr>
          <a:xfrm>
            <a:off x="7248525" y="1354081"/>
            <a:ext cx="4800600" cy="3479443"/>
          </a:xfrm>
          <a:prstGeom prst="roundRect">
            <a:avLst>
              <a:gd name="adj" fmla="val 219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81875" y="1439806"/>
            <a:ext cx="453390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57" name="Rectangle 56"/>
          <p:cNvSpPr/>
          <p:nvPr/>
        </p:nvSpPr>
        <p:spPr>
          <a:xfrm>
            <a:off x="7381875" y="1677931"/>
            <a:ext cx="45339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381875" y="1763656"/>
            <a:ext cx="4533900" cy="2993668"/>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Pricing across the Flexible Plastic Packaging Market is shaped by a mix of input costs, operational efficiency and market dynamics with raw-material and input costs carrying the single heaviest weight on selling prices today.</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Raw-material and input costs and demand and broader market conditions are the dominant cost pressures; as they fluctuate they feed directly into prices and squeeze margins along the value chain.</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Competitive intensity and supply-chain and logistics conditions are the next most influential forces helping offset cost inflation and setting how aggressively players can price without ceding share.</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Demand strength, competitive intensity and supply-chain reliability together define the ceiling on pricing power across the Flexible Plastic Packaging Market.</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Regulatory, currency and brand factors add second-order effects while aftermarket and service costs exert the least pressure collectively creating a pricing balance that must be monitored to stay competitive and profitable.</a:t>
            </a:r>
          </a:p>
        </p:txBody>
      </p:sp>
      <p:sp>
        <p:nvSpPr>
          <p:cNvPr id="59" name="Rounded Rectangle 58"/>
          <p:cNvSpPr/>
          <p:nvPr/>
        </p:nvSpPr>
        <p:spPr>
          <a:xfrm>
            <a:off x="7248525" y="4943046"/>
            <a:ext cx="4800600" cy="1686354"/>
          </a:xfrm>
          <a:prstGeom prst="roundRect">
            <a:avLst>
              <a:gd name="adj" fmla="val 45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381875" y="5028771"/>
            <a:ext cx="4533900" cy="209550"/>
          </a:xfrm>
          <a:prstGeom prst="rect">
            <a:avLst/>
          </a:prstGeom>
          <a:noFill/>
        </p:spPr>
        <p:txBody>
          <a:bodyPr wrap="square" lIns="0" rIns="19050" tIns="9525" bIns="9525">
            <a:spAutoFit/>
          </a:bodyPr>
          <a:lstStyle/>
          <a:p>
            <a:pPr algn="l"/>
            <a:r>
              <a:rPr sz="1300" b="1">
                <a:solidFill>
                  <a:srgbClr val="0B2E4A"/>
                </a:solidFill>
                <a:latin typeface="Calibri"/>
              </a:rPr>
              <a:t>Highest-Impact Drivers</a:t>
            </a:r>
          </a:p>
        </p:txBody>
      </p:sp>
      <p:sp>
        <p:nvSpPr>
          <p:cNvPr id="61" name="Rectangle 60"/>
          <p:cNvSpPr/>
          <p:nvPr/>
        </p:nvSpPr>
        <p:spPr>
          <a:xfrm>
            <a:off x="7381875" y="5266896"/>
            <a:ext cx="45339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381875" y="5352621"/>
            <a:ext cx="4533900" cy="1200579"/>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Input Cost 9.0 / 10  ·  dominant cost pressure</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Demand &amp; Market Conditions 8.5 / 10  ·  major cost pressure</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Competitive Landscape 8.0 / 10  ·  key pricing lever</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Supply Chain &amp; Logistics 7.5 / 10  ·  key pricing lever</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Labor &amp; Production Costs 7.0 / 10  ·  supporting factor</a:t>
            </a:r>
          </a:p>
        </p:txBody>
      </p:sp>
      <p:sp>
        <p:nvSpPr>
          <p:cNvPr id="63" name="TextBox 6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Flexible Plastic Packaging Market Factors Impacting Pricing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Factors affecting the pricing decision of the product: category, price impact, direction of pressure and rationale</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The cost, demand, efficiency and regulatory forces shaping and impacting achievable selling prices grouped by category, with each factor's direction, impact and score.</a:t>
            </a:r>
          </a:p>
        </p:txBody>
      </p:sp>
      <p:sp>
        <p:nvSpPr>
          <p:cNvPr id="11" name="Rounded Rectangle 10"/>
          <p:cNvSpPr/>
          <p:nvPr/>
        </p:nvSpPr>
        <p:spPr>
          <a:xfrm>
            <a:off x="142875" y="1314450"/>
            <a:ext cx="11906250" cy="3114675"/>
          </a:xfrm>
          <a:prstGeom prst="roundRect">
            <a:avLst>
              <a:gd name="adj" fmla="val 244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152400" y="1390650"/>
          <a:ext cx="11887199" cy="2809875"/>
        </p:xfrm>
        <a:graphic>
          <a:graphicData uri="http://schemas.openxmlformats.org/drawingml/2006/table">
            <a:tbl>
              <a:tblPr>
                <a:tableStyleId>{5C22544A-7EE6-4342-B048-85BDC9FD1C3A}</a:tableStyleId>
              </a:tblPr>
              <a:tblGrid>
                <a:gridCol w="2561515"/>
                <a:gridCol w="2697613"/>
                <a:gridCol w="1098187"/>
                <a:gridCol w="1211368"/>
                <a:gridCol w="1098187"/>
                <a:gridCol w="3220329"/>
              </a:tblGrid>
              <a:tr h="215265">
                <a:tc>
                  <a:txBody>
                    <a:bodyPr wrap="none"/>
                    <a:lstStyle/>
                    <a:p>
                      <a:pPr algn="l"/>
                      <a:r>
                        <a:rPr sz="1100" b="1">
                          <a:solidFill>
                            <a:srgbClr val="0B2E4A"/>
                          </a:solidFill>
                          <a:latin typeface="Calibri"/>
                        </a:rPr>
                        <a:t>Factor</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Category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Price Impact</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Direction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Score (0–10)</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How It Shapes Price</a:t>
                      </a:r>
                      <a:endParaRPr sz="1100"/>
                    </a:p>
                  </a:txBody>
                  <a:tcPr marL="47625" marR="38100" marT="19050" marB="19050" anchor="ctr">
                    <a:solidFill>
                      <a:srgbClr val="E0E8EF"/>
                    </a:solidFill>
                  </a:tcPr>
                </a:tc>
              </a:tr>
              <a:tr h="259461">
                <a:tc>
                  <a:txBody>
                    <a:bodyPr wrap="none"/>
                    <a:lstStyle/>
                    <a:p>
                      <a:pPr algn="l"/>
                      <a:r>
                        <a:rPr sz="1100" b="1">
                          <a:solidFill>
                            <a:srgbClr val="2E2E2E"/>
                          </a:solidFill>
                          <a:latin typeface="Calibri"/>
                        </a:rPr>
                        <a:t>Input Cost</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Raw-material and input costs.</a:t>
                      </a:r>
                      <a:endParaRPr sz="1100"/>
                    </a:p>
                  </a:txBody>
                  <a:tcPr marL="47625" marR="38100" marT="19050" marB="19050" anchor="ctr">
                    <a:solidFill>
                      <a:srgbClr val="FFFFFF"/>
                    </a:solidFill>
                  </a:tcPr>
                </a:tc>
              </a:tr>
              <a:tr h="259461">
                <a:tc>
                  <a:txBody>
                    <a:bodyPr wrap="none"/>
                    <a:lstStyle/>
                    <a:p>
                      <a:pPr algn="l"/>
                      <a:r>
                        <a:rPr sz="1100" b="1">
                          <a:solidFill>
                            <a:srgbClr val="2E2E2E"/>
                          </a:solidFill>
                          <a:latin typeface="Calibri"/>
                        </a:rPr>
                        <a:t>Labor &amp; Production Costs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Labour and production expenses.</a:t>
                      </a:r>
                      <a:endParaRPr sz="1100"/>
                    </a:p>
                  </a:txBody>
                  <a:tcPr marL="47625" marR="38100" marT="19050" marB="19050" anchor="ctr">
                    <a:solidFill>
                      <a:srgbClr val="F5F8FA"/>
                    </a:solidFill>
                  </a:tcPr>
                </a:tc>
              </a:tr>
              <a:tr h="259461">
                <a:tc>
                  <a:txBody>
                    <a:bodyPr wrap="none"/>
                    <a:lstStyle/>
                    <a:p>
                      <a:pPr algn="l"/>
                      <a:r>
                        <a:rPr sz="1100" b="1">
                          <a:solidFill>
                            <a:srgbClr val="2E2E2E"/>
                          </a:solidFill>
                          <a:latin typeface="Calibri"/>
                        </a:rPr>
                        <a:t>Supply Chain &amp; Logistics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7.5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Supply-chain and logistics conditions.</a:t>
                      </a:r>
                      <a:endParaRPr sz="1100"/>
                    </a:p>
                  </a:txBody>
                  <a:tcPr marL="47625" marR="38100" marT="19050" marB="19050" anchor="ctr">
                    <a:solidFill>
                      <a:srgbClr val="FFFFFF"/>
                    </a:solidFill>
                  </a:tcPr>
                </a:tc>
              </a:tr>
              <a:tr h="259461">
                <a:tc>
                  <a:txBody>
                    <a:bodyPr wrap="none"/>
                    <a:lstStyle/>
                    <a:p>
                      <a:pPr algn="l"/>
                      <a:r>
                        <a:rPr sz="1100" b="1">
                          <a:solidFill>
                            <a:srgbClr val="2E2E2E"/>
                          </a:solidFill>
                          <a:latin typeface="Calibri"/>
                        </a:rPr>
                        <a:t>Demand &amp; Market Conditions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Demand and broader market conditions.</a:t>
                      </a:r>
                      <a:endParaRPr sz="1100"/>
                    </a:p>
                  </a:txBody>
                  <a:tcPr marL="47625" marR="38100" marT="19050" marB="19050" anchor="ctr">
                    <a:solidFill>
                      <a:srgbClr val="F5F8FA"/>
                    </a:solidFill>
                  </a:tcPr>
                </a:tc>
              </a:tr>
              <a:tr h="259461">
                <a:tc>
                  <a:txBody>
                    <a:bodyPr wrap="none"/>
                    <a:lstStyle/>
                    <a:p>
                      <a:pPr algn="l"/>
                      <a:r>
                        <a:rPr sz="1100" b="1">
                          <a:solidFill>
                            <a:srgbClr val="2E2E2E"/>
                          </a:solidFill>
                          <a:latin typeface="Calibri"/>
                        </a:rPr>
                        <a:t>Competitive Landscape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Competitive intensity.</a:t>
                      </a:r>
                      <a:endParaRPr sz="1100"/>
                    </a:p>
                  </a:txBody>
                  <a:tcPr marL="47625" marR="38100" marT="19050" marB="19050" anchor="ctr">
                    <a:solidFill>
                      <a:srgbClr val="FFFFFF"/>
                    </a:solidFill>
                  </a:tcPr>
                </a:tc>
              </a:tr>
              <a:tr h="259461">
                <a:tc>
                  <a:txBody>
                    <a:bodyPr wrap="none"/>
                    <a:lstStyle/>
                    <a:p>
                      <a:pPr algn="l"/>
                      <a:r>
                        <a:rPr sz="1100" b="1">
                          <a:solidFill>
                            <a:srgbClr val="2E2E2E"/>
                          </a:solidFill>
                          <a:latin typeface="Calibri"/>
                        </a:rPr>
                        <a:t>Brand &amp; Value Perception</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Brand strength and value perception.</a:t>
                      </a:r>
                      <a:endParaRPr sz="1100"/>
                    </a:p>
                  </a:txBody>
                  <a:tcPr marL="47625" marR="38100" marT="19050" marB="19050" anchor="ctr">
                    <a:solidFill>
                      <a:srgbClr val="F5F8FA"/>
                    </a:solidFill>
                  </a:tcPr>
                </a:tc>
              </a:tr>
              <a:tr h="259461">
                <a:tc>
                  <a:txBody>
                    <a:bodyPr wrap="none"/>
                    <a:lstStyle/>
                    <a:p>
                      <a:pPr algn="l"/>
                      <a:r>
                        <a:rPr sz="1100" b="1">
                          <a:solidFill>
                            <a:srgbClr val="2E2E2E"/>
                          </a:solidFill>
                          <a:latin typeface="Calibri"/>
                        </a:rPr>
                        <a:t>Technology &amp; Innovation</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Innovation &amp; Operating Efficiency</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Technology and process innovation.</a:t>
                      </a:r>
                      <a:endParaRPr sz="1100"/>
                    </a:p>
                  </a:txBody>
                  <a:tcPr marL="47625" marR="38100" marT="19050" marB="19050" anchor="ctr">
                    <a:solidFill>
                      <a:srgbClr val="FFFFFF"/>
                    </a:solidFill>
                  </a:tcPr>
                </a:tc>
              </a:tr>
              <a:tr h="259461">
                <a:tc>
                  <a:txBody>
                    <a:bodyPr wrap="none"/>
                    <a:lstStyle/>
                    <a:p>
                      <a:pPr algn="l"/>
                      <a:r>
                        <a:rPr sz="1100" b="1">
                          <a:solidFill>
                            <a:srgbClr val="2E2E2E"/>
                          </a:solidFill>
                          <a:latin typeface="Calibri"/>
                        </a:rPr>
                        <a:t>Aftermarket &amp; Service Costs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Innovation &amp; Operating Efficiency</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Aftermarket and service costs.</a:t>
                      </a:r>
                      <a:endParaRPr sz="1100"/>
                    </a:p>
                  </a:txBody>
                  <a:tcPr marL="47625" marR="38100" marT="19050" marB="19050" anchor="ctr">
                    <a:solidFill>
                      <a:srgbClr val="F5F8FA"/>
                    </a:solidFill>
                  </a:tcPr>
                </a:tc>
              </a:tr>
              <a:tr h="259461">
                <a:tc>
                  <a:txBody>
                    <a:bodyPr wrap="none"/>
                    <a:lstStyle/>
                    <a:p>
                      <a:pPr algn="l"/>
                      <a:r>
                        <a:rPr sz="1100" b="1">
                          <a:solidFill>
                            <a:srgbClr val="2E2E2E"/>
                          </a:solidFill>
                          <a:latin typeface="Calibri"/>
                        </a:rPr>
                        <a:t>Regulatory &amp; Compliance Costs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Regulatory, Currency &amp; Macro</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Regulatory and compliance costs.</a:t>
                      </a:r>
                      <a:endParaRPr sz="1100"/>
                    </a:p>
                  </a:txBody>
                  <a:tcPr marL="47625" marR="38100" marT="19050" marB="19050" anchor="ctr">
                    <a:solidFill>
                      <a:srgbClr val="FFFFFF"/>
                    </a:solidFill>
                  </a:tcPr>
                </a:tc>
              </a:tr>
              <a:tr h="259461">
                <a:tc>
                  <a:txBody>
                    <a:bodyPr wrap="none"/>
                    <a:lstStyle/>
                    <a:p>
                      <a:pPr algn="l"/>
                      <a:r>
                        <a:rPr sz="1100" b="1">
                          <a:solidFill>
                            <a:srgbClr val="2E2E2E"/>
                          </a:solidFill>
                          <a:latin typeface="Calibri"/>
                        </a:rPr>
                        <a:t>Currency &amp; Trade Dynamics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Regulatory, Currency &amp; Macro</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Currency and trade dynamics.</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42100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581525"/>
            <a:ext cx="11906250" cy="1962150"/>
          </a:xfrm>
          <a:prstGeom prst="roundRect">
            <a:avLst>
              <a:gd name="adj" fmla="val 388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667250"/>
            <a:ext cx="11639550" cy="209550"/>
          </a:xfrm>
          <a:prstGeom prst="rect">
            <a:avLst/>
          </a:prstGeom>
          <a:noFill/>
        </p:spPr>
        <p:txBody>
          <a:bodyPr wrap="square" lIns="0" rIns="19050" tIns="9525" bIns="9525">
            <a:spAutoFit/>
          </a:bodyPr>
          <a:lstStyle/>
          <a:p>
            <a:pPr algn="l"/>
            <a:r>
              <a:rPr sz="1300" b="1">
                <a:solidFill>
                  <a:srgbClr val="0B2E4A"/>
                </a:solidFill>
                <a:latin typeface="Calibri"/>
              </a:rPr>
              <a:t>What the Factors Imply</a:t>
            </a:r>
          </a:p>
        </p:txBody>
      </p:sp>
      <p:sp>
        <p:nvSpPr>
          <p:cNvPr id="16" name="Rectangle 15"/>
          <p:cNvSpPr/>
          <p:nvPr/>
        </p:nvSpPr>
        <p:spPr>
          <a:xfrm>
            <a:off x="276225" y="49053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991100"/>
            <a:ext cx="11639550" cy="14763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Input Cost and Demand &amp; Market Conditions carry the heaviest weight on selling prices (9.0 and 8.5 / 10).</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8 of 10 factors exert upward pressure on price; the rest pull prices down chiefly Technology &amp; Innovation and the Competitive Landscape.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Cost-side factors set the price floor; demand, brand and competitive forces determine how much of that cost can be passed through.</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Aftermarket &amp; Service Costs exerts the least pressure a second-order effect to monitor rather than actively manage.</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Flexible Plastic Packaging Market Regional Price Assessment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price assessment across the value chain, from manufacturer to retail, and average price by geography, 2026–2036</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Regional price assessment across the value chain (US$/MT) and price trajectory to 2036.</a:t>
            </a:r>
          </a:p>
        </p:txBody>
      </p:sp>
      <p:sp>
        <p:nvSpPr>
          <p:cNvPr id="11" name="Rounded Rectangle 10"/>
          <p:cNvSpPr/>
          <p:nvPr/>
        </p:nvSpPr>
        <p:spPr>
          <a:xfrm>
            <a:off x="142875" y="1317574"/>
            <a:ext cx="5905500" cy="2738055"/>
          </a:xfrm>
          <a:prstGeom prst="roundRect">
            <a:avLst>
              <a:gd name="adj" fmla="val 278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Regional Price by Value-Chain Level (US$/MT)</a:t>
            </a:r>
          </a:p>
        </p:txBody>
      </p:sp>
      <p:graphicFrame>
        <p:nvGraphicFramePr>
          <p:cNvPr id="13" name="Table 12"/>
          <p:cNvGraphicFramePr>
            <a:graphicFrameLocks noGrp="1"/>
          </p:cNvGraphicFramePr>
          <p:nvPr/>
        </p:nvGraphicFramePr>
        <p:xfrm>
          <a:off x="152400" y="1574749"/>
          <a:ext cx="5886452" cy="2271327"/>
        </p:xfrm>
        <a:graphic>
          <a:graphicData uri="http://schemas.openxmlformats.org/drawingml/2006/table">
            <a:tbl>
              <a:tblPr>
                <a:tableStyleId>{5C22544A-7EE6-4342-B048-85BDC9FD1C3A}</a:tableStyleId>
              </a:tblPr>
              <a:tblGrid>
                <a:gridCol w="1370904"/>
                <a:gridCol w="1128887"/>
                <a:gridCol w="1128887"/>
                <a:gridCol w="1128887"/>
                <a:gridCol w="1128887"/>
              </a:tblGrid>
              <a:tr h="215265">
                <a:tc>
                  <a:txBody>
                    <a:bodyPr wrap="none"/>
                    <a:lstStyle/>
                    <a:p>
                      <a:pPr algn="l"/>
                      <a:r>
                        <a:rPr sz="1100" b="1">
                          <a:solidFill>
                            <a:srgbClr val="0B2E4A"/>
                          </a:solidFill>
                          <a:latin typeface="Calibri"/>
                        </a:rPr>
                        <a:t>Geography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Manufacturer</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Distribution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Retail</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Total Margin (%)</a:t>
                      </a:r>
                      <a:endParaRPr sz="1100"/>
                    </a:p>
                  </a:txBody>
                  <a:tcPr marL="47625" marR="38100" marT="19050" marB="19050" anchor="ctr">
                    <a:solidFill>
                      <a:srgbClr val="E0E8EF"/>
                    </a:solidFill>
                  </a:tcPr>
                </a:tc>
              </a:tr>
              <a:tr h="342677">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1,812.90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2,510.18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3,486.36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48%</a:t>
                      </a:r>
                      <a:endParaRPr sz="1100"/>
                    </a:p>
                  </a:txBody>
                  <a:tcPr marL="47625" marR="38100" marT="19050" marB="19050" anchor="ctr">
                    <a:solidFill>
                      <a:srgbClr val="FFFFFF"/>
                    </a:solidFill>
                  </a:tcPr>
                </a:tc>
              </a:tr>
              <a:tr h="342677">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1,574.54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2,162.06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2,937.58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46%</a:t>
                      </a:r>
                      <a:endParaRPr sz="1100"/>
                    </a:p>
                  </a:txBody>
                  <a:tcPr marL="47625" marR="38100" marT="19050" marB="19050" anchor="ctr">
                    <a:solidFill>
                      <a:srgbClr val="F5F8FA"/>
                    </a:solidFill>
                  </a:tcPr>
                </a:tc>
              </a:tr>
              <a:tr h="342677">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1,831.65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2,495.29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3,318.20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45%</a:t>
                      </a:r>
                      <a:endParaRPr sz="1100"/>
                    </a:p>
                  </a:txBody>
                  <a:tcPr marL="47625" marR="38100" marT="19050" marB="19050" anchor="ctr">
                    <a:solidFill>
                      <a:srgbClr val="FFFFFF"/>
                    </a:solidFill>
                  </a:tcPr>
                </a:tc>
              </a:tr>
              <a:tr h="342677">
                <a:tc>
                  <a:txBody>
                    <a:bodyPr wrap="none"/>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1,603.31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2,167.86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2,822.73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43%</a:t>
                      </a:r>
                      <a:endParaRPr sz="1100"/>
                    </a:p>
                  </a:txBody>
                  <a:tcPr marL="47625" marR="38100" marT="19050" marB="19050" anchor="ctr">
                    <a:solidFill>
                      <a:srgbClr val="F5F8FA"/>
                    </a:solidFill>
                  </a:tcPr>
                </a:tc>
              </a:tr>
              <a:tr h="342677">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1,638.32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2,199.40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2,805.35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42%</a:t>
                      </a:r>
                      <a:endParaRPr sz="1100"/>
                    </a:p>
                  </a:txBody>
                  <a:tcPr marL="47625" marR="38100" marT="19050" marB="19050" anchor="ctr">
                    <a:solidFill>
                      <a:srgbClr val="FFFFFF"/>
                    </a:solidFill>
                  </a:tcPr>
                </a:tc>
              </a:tr>
              <a:tr h="342677">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1,794.19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2,392.25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2,990.31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40%</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3855604"/>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6200775" y="1317574"/>
            <a:ext cx="5848350" cy="2738055"/>
          </a:xfrm>
          <a:prstGeom prst="roundRect">
            <a:avLst>
              <a:gd name="adj" fmla="val 278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96025" y="1374724"/>
            <a:ext cx="5657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by Geography (US$/MT)</a:t>
            </a:r>
          </a:p>
        </p:txBody>
      </p:sp>
      <p:graphicFrame>
        <p:nvGraphicFramePr>
          <p:cNvPr id="17" name="Table 16"/>
          <p:cNvGraphicFramePr>
            <a:graphicFrameLocks noGrp="1"/>
          </p:cNvGraphicFramePr>
          <p:nvPr/>
        </p:nvGraphicFramePr>
        <p:xfrm>
          <a:off x="6210300" y="1574749"/>
          <a:ext cx="5829299" cy="2271327"/>
        </p:xfrm>
        <a:graphic>
          <a:graphicData uri="http://schemas.openxmlformats.org/drawingml/2006/table">
            <a:tbl>
              <a:tblPr>
                <a:tableStyleId>{5C22544A-7EE6-4342-B048-85BDC9FD1C3A}</a:tableStyleId>
              </a:tblPr>
              <a:tblGrid>
                <a:gridCol w="2038759"/>
                <a:gridCol w="947635"/>
                <a:gridCol w="947635"/>
                <a:gridCol w="947635"/>
                <a:gridCol w="947635"/>
              </a:tblGrid>
              <a:tr h="215265">
                <a:tc>
                  <a:txBody>
                    <a:bodyPr wrap="none"/>
                    <a:lstStyle/>
                    <a:p>
                      <a:pPr algn="l"/>
                      <a:r>
                        <a:rPr sz="1100" b="1">
                          <a:solidFill>
                            <a:srgbClr val="0B2E4A"/>
                          </a:solidFill>
                          <a:latin typeface="Calibri"/>
                        </a:rPr>
                        <a:t>Geography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2036F</a:t>
                      </a:r>
                      <a:endParaRPr sz="1100"/>
                    </a:p>
                  </a:txBody>
                  <a:tcPr marL="47625" marR="38100" marT="19050" marB="19050" anchor="ctr">
                    <a:solidFill>
                      <a:srgbClr val="E0E8EF"/>
                    </a:solidFill>
                  </a:tcPr>
                </a:tc>
              </a:tr>
              <a:tr h="342677">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3,486.36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3,592.89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3,729.10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3,963.56</a:t>
                      </a:r>
                      <a:endParaRPr sz="1100"/>
                    </a:p>
                  </a:txBody>
                  <a:tcPr marL="47625" marR="38100" marT="19050" marB="19050" anchor="ctr">
                    <a:solidFill>
                      <a:srgbClr val="FFFFFF"/>
                    </a:solidFill>
                  </a:tcPr>
                </a:tc>
              </a:tr>
              <a:tr h="342677">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2,937.58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3,028.86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3,147.72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3,353.61</a:t>
                      </a:r>
                      <a:endParaRPr sz="1100"/>
                    </a:p>
                  </a:txBody>
                  <a:tcPr marL="47625" marR="38100" marT="19050" marB="19050" anchor="ctr">
                    <a:solidFill>
                      <a:srgbClr val="F5F8FA"/>
                    </a:solidFill>
                  </a:tcPr>
                </a:tc>
              </a:tr>
              <a:tr h="342677">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3,318.20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3,416.70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3,543.76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3,762.19</a:t>
                      </a:r>
                      <a:endParaRPr sz="1100"/>
                    </a:p>
                  </a:txBody>
                  <a:tcPr marL="47625" marR="38100" marT="19050" marB="19050" anchor="ctr">
                    <a:solidFill>
                      <a:srgbClr val="FFFFFF"/>
                    </a:solidFill>
                  </a:tcPr>
                </a:tc>
              </a:tr>
              <a:tr h="342677">
                <a:tc>
                  <a:txBody>
                    <a:bodyPr wrap="none"/>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2,822.73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2,906.70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3,018.28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3,210.81</a:t>
                      </a:r>
                      <a:endParaRPr sz="1100"/>
                    </a:p>
                  </a:txBody>
                  <a:tcPr marL="47625" marR="38100" marT="19050" marB="19050" anchor="ctr">
                    <a:solidFill>
                      <a:srgbClr val="F5F8FA"/>
                    </a:solidFill>
                  </a:tcPr>
                </a:tc>
              </a:tr>
              <a:tr h="342677">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2,805.35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2,880.35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2,977.90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3,146.34</a:t>
                      </a:r>
                      <a:endParaRPr sz="1100"/>
                    </a:p>
                  </a:txBody>
                  <a:tcPr marL="47625" marR="38100" marT="19050" marB="19050" anchor="ctr">
                    <a:solidFill>
                      <a:srgbClr val="FFFFFF"/>
                    </a:solidFill>
                  </a:tcPr>
                </a:tc>
              </a:tr>
              <a:tr h="342677">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2,990.31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3,080.53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3,195.93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3,393.81</a:t>
                      </a:r>
                      <a:endParaRPr sz="1100"/>
                    </a:p>
                  </a:txBody>
                  <a:tcPr marL="47625" marR="38100" marT="19050" marB="19050" anchor="ctr">
                    <a:solidFill>
                      <a:srgbClr val="F5F8FA"/>
                    </a:solidFill>
                  </a:tcPr>
                </a:tc>
              </a:tr>
            </a:tbl>
          </a:graphicData>
        </a:graphic>
      </p:graphicFrame>
      <p:sp>
        <p:nvSpPr>
          <p:cNvPr id="18" name="TextBox 17"/>
          <p:cNvSpPr txBox="1"/>
          <p:nvPr/>
        </p:nvSpPr>
        <p:spPr>
          <a:xfrm>
            <a:off x="6276975" y="3855604"/>
            <a:ext cx="56959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9" name="Rounded Rectangle 18"/>
          <p:cNvSpPr/>
          <p:nvPr/>
        </p:nvSpPr>
        <p:spPr>
          <a:xfrm>
            <a:off x="142875" y="4201658"/>
            <a:ext cx="119062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287383"/>
            <a:ext cx="11639550" cy="209550"/>
          </a:xfrm>
          <a:prstGeom prst="rect">
            <a:avLst/>
          </a:prstGeom>
          <a:noFill/>
        </p:spPr>
        <p:txBody>
          <a:bodyPr wrap="square" lIns="0" rIns="19050" tIns="9525" bIns="9525">
            <a:spAutoFit/>
          </a:bodyPr>
          <a:lstStyle/>
          <a:p>
            <a:pPr algn="l"/>
            <a:r>
              <a:rPr sz="1300" b="1">
                <a:solidFill>
                  <a:srgbClr val="0B2E4A"/>
                </a:solidFill>
                <a:latin typeface="Calibri"/>
              </a:rPr>
              <a:t>What This Section Covers</a:t>
            </a:r>
          </a:p>
        </p:txBody>
      </p:sp>
      <p:sp>
        <p:nvSpPr>
          <p:cNvPr id="21" name="Rectangle 20"/>
          <p:cNvSpPr/>
          <p:nvPr/>
        </p:nvSpPr>
        <p:spPr>
          <a:xfrm>
            <a:off x="276225" y="4525508"/>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4611233"/>
            <a:ext cx="116395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Manufacturer-level pricing ex-works / producer price benchmarked for each geography.</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Distribution &amp; channel pricing logistics and channel margin layered onto the producer price.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Retail / end-market pricing the average price paid by the end customer across geographies.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Value-chain margin build-up cumulative margin from manufacturer to retail, by geography (prices derived as Value ÷ Volume).</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Flexible Plastic Packaging Market Global Pricing Benchmarking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Benchmarking of price range by region and sub-segment against the weighted average price of each region</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Development-stage price assumptions and manufacturer benchmarking price range by product type type and region (US$/MT).</a:t>
            </a:r>
          </a:p>
        </p:txBody>
      </p:sp>
      <p:sp>
        <p:nvSpPr>
          <p:cNvPr id="11" name="Rounded Rectangle 10"/>
          <p:cNvSpPr/>
          <p:nvPr/>
        </p:nvSpPr>
        <p:spPr>
          <a:xfrm>
            <a:off x="142875" y="1314450"/>
            <a:ext cx="11906250" cy="2771775"/>
          </a:xfrm>
          <a:prstGeom prst="roundRect">
            <a:avLst>
              <a:gd name="adj" fmla="val 27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16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Benchmarking by Region &amp; Product Type (US$/MT)</a:t>
            </a:r>
          </a:p>
        </p:txBody>
      </p:sp>
      <p:graphicFrame>
        <p:nvGraphicFramePr>
          <p:cNvPr id="13" name="Table 12"/>
          <p:cNvGraphicFramePr>
            <a:graphicFrameLocks noGrp="1"/>
          </p:cNvGraphicFramePr>
          <p:nvPr/>
        </p:nvGraphicFramePr>
        <p:xfrm>
          <a:off x="152400" y="1571625"/>
          <a:ext cx="11887201" cy="2305047"/>
        </p:xfrm>
        <a:graphic>
          <a:graphicData uri="http://schemas.openxmlformats.org/drawingml/2006/table">
            <a:tbl>
              <a:tblPr>
                <a:tableStyleId>{5C22544A-7EE6-4342-B048-85BDC9FD1C3A}</a:tableStyleId>
              </a:tblPr>
              <a:tblGrid>
                <a:gridCol w="1671221"/>
                <a:gridCol w="2043196"/>
                <a:gridCol w="2043196"/>
                <a:gridCol w="2043196"/>
                <a:gridCol w="2043196"/>
                <a:gridCol w="2043196"/>
              </a:tblGrid>
              <a:tr h="215265">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Rollstock Films</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Barrier Casings</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Premade Pouches &amp; Bags</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Sachets &amp; Stick Packs</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Weighted Avg</a:t>
                      </a:r>
                      <a:endParaRPr sz="1100"/>
                    </a:p>
                  </a:txBody>
                  <a:tcPr marL="47625" marR="38100" marT="19050" marB="19050" anchor="ctr">
                    <a:solidFill>
                      <a:srgbClr val="E0E8EF"/>
                    </a:solidFill>
                  </a:tcPr>
                </a:tc>
              </a:tr>
              <a:tr h="348297">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3,458.67–3,528.55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4,988.03–5,088.80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3,182.23–3,246.52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2,981.14–3,041.37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3,486.36</a:t>
                      </a:r>
                      <a:endParaRPr sz="1100"/>
                    </a:p>
                  </a:txBody>
                  <a:tcPr marL="47625" marR="38100" marT="19050" marB="19050" anchor="ctr">
                    <a:solidFill>
                      <a:srgbClr val="FFFFFF"/>
                    </a:solidFill>
                  </a:tcPr>
                </a:tc>
              </a:tr>
              <a:tr h="348297">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2,913.32–2,972.18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4,194.56–4,279.30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2,675.52–2,729.57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2,505.26–2,555.87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2,937.58</a:t>
                      </a:r>
                      <a:endParaRPr sz="1100"/>
                    </a:p>
                  </a:txBody>
                  <a:tcPr marL="47625" marR="38100" marT="19050" marB="19050" anchor="ctr">
                    <a:solidFill>
                      <a:srgbClr val="F5F8FA"/>
                    </a:solidFill>
                  </a:tcPr>
                </a:tc>
              </a:tr>
              <a:tr h="348297">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3,290.91–3,357.39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4,735.09–4,830.74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3,027.32–3,088.48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2,853.72–2,911.37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3,318.20</a:t>
                      </a:r>
                      <a:endParaRPr sz="1100"/>
                    </a:p>
                  </a:txBody>
                  <a:tcPr marL="47625" marR="38100" marT="19050" marB="19050" anchor="ctr">
                    <a:solidFill>
                      <a:srgbClr val="FFFFFF"/>
                    </a:solidFill>
                  </a:tcPr>
                </a:tc>
              </a:tr>
              <a:tr h="348297">
                <a:tc>
                  <a:txBody>
                    <a:bodyPr wrap="none"/>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2,814.18–2,871.04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4,047.24–4,129.00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2,564.16–2,615.96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2,409.22–2,457.89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2,822.73</a:t>
                      </a:r>
                      <a:endParaRPr sz="1100"/>
                    </a:p>
                  </a:txBody>
                  <a:tcPr marL="47625" marR="38100" marT="19050" marB="19050" anchor="ctr">
                    <a:solidFill>
                      <a:srgbClr val="F5F8FA"/>
                    </a:solidFill>
                  </a:tcPr>
                </a:tc>
              </a:tr>
              <a:tr h="348297">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2,774.13–2,830.17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4,000.17–4,080.98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2,568.11–2,619.99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2,401.84–2,450.36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2,805.35</a:t>
                      </a:r>
                      <a:endParaRPr sz="1100"/>
                    </a:p>
                  </a:txBody>
                  <a:tcPr marL="47625" marR="38100" marT="19050" marB="19050" anchor="ctr">
                    <a:solidFill>
                      <a:srgbClr val="FFFFFF"/>
                    </a:solidFill>
                  </a:tcPr>
                </a:tc>
              </a:tr>
              <a:tr h="348297">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2,973.06–3,033.12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4,253.76–4,339.70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2,721.41–2,776.39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2,547.74–2,599.20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2,990.31</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38862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4229100"/>
            <a:ext cx="11906250" cy="2314575"/>
          </a:xfrm>
          <a:prstGeom prst="roundRect">
            <a:avLst>
              <a:gd name="adj" fmla="val 3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314825"/>
            <a:ext cx="11639550" cy="209550"/>
          </a:xfrm>
          <a:prstGeom prst="rect">
            <a:avLst/>
          </a:prstGeom>
          <a:noFill/>
        </p:spPr>
        <p:txBody>
          <a:bodyPr wrap="square" lIns="0" rIns="19050" tIns="9525" bIns="9525">
            <a:spAutoFit/>
          </a:bodyPr>
          <a:lstStyle/>
          <a:p>
            <a:pPr algn="l"/>
            <a:r>
              <a:rPr sz="1300" b="1">
                <a:solidFill>
                  <a:srgbClr val="0B2E4A"/>
                </a:solidFill>
                <a:latin typeface="Calibri"/>
              </a:rPr>
              <a:t>Benchmarking Insights</a:t>
            </a:r>
          </a:p>
        </p:txBody>
      </p:sp>
      <p:sp>
        <p:nvSpPr>
          <p:cNvPr id="17" name="Rectangle 16"/>
          <p:cNvSpPr/>
          <p:nvPr/>
        </p:nvSpPr>
        <p:spPr>
          <a:xfrm>
            <a:off x="276225" y="45529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638675"/>
            <a:ext cx="11639550" cy="18288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On a weighted-average basis 'North America' is the highest-priced region (~3,486.36 US$/MT) and 'South Asia &amp; Pacific' the most competitive (~2,805.35 US$/MT).</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Price ranges are benchmarked per product type type at 2026, derived as Value ÷ Volume with a ±1% observed trading band.</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Cross-region price dispersion of ~1.24× reflects differences in mix, logistics and channel structure.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Benchmarks support price-corridor setting and margin-defence decisions across geographies.</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Flexible Plastic Packaging Market Price Forecast &amp; Dynamics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Price forecast by sub-segment, 2026–2036, with the factors and dynamics shaping the trajectory</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Forward price trajectory to 2036 by product type type and the structural factors shaping it (US$/MT).</a:t>
            </a:r>
          </a:p>
        </p:txBody>
      </p:sp>
      <p:sp>
        <p:nvSpPr>
          <p:cNvPr id="11" name="Rounded Rectangle 10"/>
          <p:cNvSpPr/>
          <p:nvPr/>
        </p:nvSpPr>
        <p:spPr>
          <a:xfrm>
            <a:off x="142875" y="1317574"/>
            <a:ext cx="11906250" cy="1971399"/>
          </a:xfrm>
          <a:prstGeom prst="roundRect">
            <a:avLst>
              <a:gd name="adj" fmla="val 38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Forecast to 2036 by Product Type (US$/MT)</a:t>
            </a:r>
          </a:p>
        </p:txBody>
      </p:sp>
      <p:graphicFrame>
        <p:nvGraphicFramePr>
          <p:cNvPr id="13" name="Table 12"/>
          <p:cNvGraphicFramePr>
            <a:graphicFrameLocks noGrp="1"/>
          </p:cNvGraphicFramePr>
          <p:nvPr/>
        </p:nvGraphicFramePr>
        <p:xfrm>
          <a:off x="152400" y="1574749"/>
          <a:ext cx="11887200" cy="1504673"/>
        </p:xfrm>
        <a:graphic>
          <a:graphicData uri="http://schemas.openxmlformats.org/drawingml/2006/table">
            <a:tbl>
              <a:tblPr>
                <a:tableStyleId>{5C22544A-7EE6-4342-B048-85BDC9FD1C3A}</a:tableStyleId>
              </a:tblPr>
              <a:tblGrid>
                <a:gridCol w="3622896"/>
                <a:gridCol w="1377384"/>
                <a:gridCol w="1377384"/>
                <a:gridCol w="1377384"/>
                <a:gridCol w="1377384"/>
                <a:gridCol w="1377384"/>
                <a:gridCol w="1377384"/>
              </a:tblGrid>
              <a:tr h="215265">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2036F</a:t>
                      </a:r>
                      <a:endParaRPr sz="1100"/>
                    </a:p>
                  </a:txBody>
                  <a:tcPr marL="47625" marR="38100" marT="19050" marB="19050" anchor="ctr">
                    <a:solidFill>
                      <a:srgbClr val="E0E8EF"/>
                    </a:solidFill>
                  </a:tcPr>
                </a:tc>
              </a:tr>
              <a:tr h="322352">
                <a:tc>
                  <a:txBody>
                    <a:bodyPr wrap="none"/>
                    <a:lstStyle/>
                    <a:p>
                      <a:pPr algn="l"/>
                      <a:r>
                        <a:rPr sz="1100" b="1">
                          <a:solidFill>
                            <a:srgbClr val="2E2E2E"/>
                          </a:solidFill>
                          <a:latin typeface="Calibri"/>
                        </a:rPr>
                        <a:t>Rollstock Films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3,108.17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3,161.67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3,226.42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3,303.43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3,392.67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3,495.65</a:t>
                      </a:r>
                      <a:endParaRPr sz="1100"/>
                    </a:p>
                  </a:txBody>
                  <a:tcPr marL="47625" marR="38100" marT="19050" marB="19050" anchor="ctr">
                    <a:solidFill>
                      <a:srgbClr val="FFFFFF"/>
                    </a:solidFill>
                  </a:tcPr>
                </a:tc>
              </a:tr>
              <a:tr h="322352">
                <a:tc>
                  <a:txBody>
                    <a:bodyPr wrap="none"/>
                    <a:lstStyle/>
                    <a:p>
                      <a:pPr algn="l"/>
                      <a:r>
                        <a:rPr sz="1100" b="1">
                          <a:solidFill>
                            <a:srgbClr val="2E2E2E"/>
                          </a:solidFill>
                          <a:latin typeface="Calibri"/>
                        </a:rPr>
                        <a:t>Barrier Casings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4,479.87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4,566.48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4,667.25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4,784.35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4,920.60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5,078.83</a:t>
                      </a:r>
                      <a:endParaRPr sz="1100"/>
                    </a:p>
                  </a:txBody>
                  <a:tcPr marL="47625" marR="38100" marT="19050" marB="19050" anchor="ctr">
                    <a:solidFill>
                      <a:srgbClr val="F5F8FA"/>
                    </a:solidFill>
                  </a:tcPr>
                </a:tc>
              </a:tr>
              <a:tr h="322352">
                <a:tc>
                  <a:txBody>
                    <a:bodyPr wrap="none"/>
                    <a:lstStyle/>
                    <a:p>
                      <a:pPr algn="l"/>
                      <a:r>
                        <a:rPr sz="1100" b="1">
                          <a:solidFill>
                            <a:srgbClr val="2E2E2E"/>
                          </a:solidFill>
                          <a:latin typeface="Calibri"/>
                        </a:rPr>
                        <a:t>Premade Pouches &amp; Bags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2,854.58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2,909.21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2,975.55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3,053.51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3,143.67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3,248.16</a:t>
                      </a:r>
                      <a:endParaRPr sz="1100"/>
                    </a:p>
                  </a:txBody>
                  <a:tcPr marL="47625" marR="38100" marT="19050" marB="19050" anchor="ctr">
                    <a:solidFill>
                      <a:srgbClr val="FFFFFF"/>
                    </a:solidFill>
                  </a:tcPr>
                </a:tc>
              </a:tr>
              <a:tr h="322352">
                <a:tc>
                  <a:txBody>
                    <a:bodyPr wrap="none"/>
                    <a:lstStyle/>
                    <a:p>
                      <a:pPr algn="l"/>
                      <a:r>
                        <a:rPr sz="1100" b="1">
                          <a:solidFill>
                            <a:srgbClr val="2E2E2E"/>
                          </a:solidFill>
                          <a:latin typeface="Calibri"/>
                        </a:rPr>
                        <a:t>Sachets &amp; Stick Packs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2,680.36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2,726.00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2,781.36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2,847.48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2,924.65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3,014.94</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3088948"/>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398495"/>
            <a:ext cx="5905500" cy="3157890"/>
          </a:xfrm>
          <a:prstGeom prst="roundRect">
            <a:avLst>
              <a:gd name="adj" fmla="val 241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455645"/>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Factors Impacting Pricing</a:t>
            </a:r>
          </a:p>
        </p:txBody>
      </p:sp>
      <p:graphicFrame>
        <p:nvGraphicFramePr>
          <p:cNvPr id="17" name="Table 16"/>
          <p:cNvGraphicFramePr>
            <a:graphicFrameLocks noGrp="1"/>
          </p:cNvGraphicFramePr>
          <p:nvPr/>
        </p:nvGraphicFramePr>
        <p:xfrm>
          <a:off x="152400" y="3655670"/>
          <a:ext cx="5886449" cy="2691165"/>
        </p:xfrm>
        <a:graphic>
          <a:graphicData uri="http://schemas.openxmlformats.org/drawingml/2006/table">
            <a:tbl>
              <a:tblPr>
                <a:tableStyleId>{5C22544A-7EE6-4342-B048-85BDC9FD1C3A}</a:tableStyleId>
              </a:tblPr>
              <a:tblGrid>
                <a:gridCol w="2867491"/>
                <a:gridCol w="1509479"/>
                <a:gridCol w="1509479"/>
              </a:tblGrid>
              <a:tr h="215265">
                <a:tc>
                  <a:txBody>
                    <a:bodyPr wrap="none"/>
                    <a:lstStyle/>
                    <a:p>
                      <a:pPr algn="l"/>
                      <a:r>
                        <a:rPr sz="1100" b="1">
                          <a:solidFill>
                            <a:srgbClr val="0B2E4A"/>
                          </a:solidFill>
                          <a:latin typeface="Calibri"/>
                        </a:rPr>
                        <a:t>Pricing Factor</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Direction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Impact (H/M/L)</a:t>
                      </a:r>
                      <a:endParaRPr sz="1100"/>
                    </a:p>
                  </a:txBody>
                  <a:tcPr marL="47625" marR="38100" marT="19050" marB="19050" anchor="ctr">
                    <a:solidFill>
                      <a:srgbClr val="E0E8EF"/>
                    </a:solidFill>
                  </a:tcPr>
                </a:tc>
              </a:tr>
              <a:tr h="247590">
                <a:tc>
                  <a:txBody>
                    <a:bodyPr wrap="none"/>
                    <a:lstStyle/>
                    <a:p>
                      <a:pPr algn="l"/>
                      <a:r>
                        <a:rPr sz="1100" b="1">
                          <a:solidFill>
                            <a:srgbClr val="2E2E2E"/>
                          </a:solidFill>
                          <a:latin typeface="Calibri"/>
                        </a:rPr>
                        <a:t>Input Cost</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r>
              <a:tr h="247590">
                <a:tc>
                  <a:txBody>
                    <a:bodyPr wrap="none"/>
                    <a:lstStyle/>
                    <a:p>
                      <a:pPr algn="l"/>
                      <a:r>
                        <a:rPr sz="1100" b="1">
                          <a:solidFill>
                            <a:srgbClr val="2E2E2E"/>
                          </a:solidFill>
                          <a:latin typeface="Calibri"/>
                        </a:rPr>
                        <a:t>Labor &amp; Production Costs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r>
              <a:tr h="247590">
                <a:tc>
                  <a:txBody>
                    <a:bodyPr wrap="none"/>
                    <a:lstStyle/>
                    <a:p>
                      <a:pPr algn="l"/>
                      <a:r>
                        <a:rPr sz="1100" b="1">
                          <a:solidFill>
                            <a:srgbClr val="2E2E2E"/>
                          </a:solidFill>
                          <a:latin typeface="Calibri"/>
                        </a:rPr>
                        <a:t>Technology &amp; Innovation</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7590">
                <a:tc>
                  <a:txBody>
                    <a:bodyPr wrap="none"/>
                    <a:lstStyle/>
                    <a:p>
                      <a:pPr algn="l"/>
                      <a:r>
                        <a:rPr sz="1100" b="1">
                          <a:solidFill>
                            <a:srgbClr val="2E2E2E"/>
                          </a:solidFill>
                          <a:latin typeface="Calibri"/>
                        </a:rPr>
                        <a:t>Supply Chain &amp; Logistics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r>
              <a:tr h="247590">
                <a:tc>
                  <a:txBody>
                    <a:bodyPr wrap="none"/>
                    <a:lstStyle/>
                    <a:p>
                      <a:pPr algn="l"/>
                      <a:r>
                        <a:rPr sz="1100" b="1">
                          <a:solidFill>
                            <a:srgbClr val="2E2E2E"/>
                          </a:solidFill>
                          <a:latin typeface="Calibri"/>
                        </a:rPr>
                        <a:t>Demand &amp; Market Conditions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r>
              <a:tr h="247590">
                <a:tc>
                  <a:txBody>
                    <a:bodyPr wrap="none"/>
                    <a:lstStyle/>
                    <a:p>
                      <a:pPr algn="l"/>
                      <a:r>
                        <a:rPr sz="1100" b="1">
                          <a:solidFill>
                            <a:srgbClr val="2E2E2E"/>
                          </a:solidFill>
                          <a:latin typeface="Calibri"/>
                        </a:rPr>
                        <a:t>Competitive Landscape</a:t>
                      </a:r>
                      <a:endParaRPr sz="1100"/>
                    </a:p>
                  </a:txBody>
                  <a:tcPr marL="47625" marR="38100" marT="19050" marB="19050" anchor="ctr">
                    <a:solidFill>
                      <a:srgbClr val="F5F8FA"/>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5F8FA"/>
                    </a:solidFill>
                  </a:tcPr>
                </a:tc>
              </a:tr>
              <a:tr h="247590">
                <a:tc>
                  <a:txBody>
                    <a:bodyPr wrap="none"/>
                    <a:lstStyle/>
                    <a:p>
                      <a:pPr algn="l"/>
                      <a:r>
                        <a:rPr sz="1100" b="1">
                          <a:solidFill>
                            <a:srgbClr val="2E2E2E"/>
                          </a:solidFill>
                          <a:latin typeface="Calibri"/>
                        </a:rPr>
                        <a:t>Regulatory &amp; Compliance Costs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7590">
                <a:tc>
                  <a:txBody>
                    <a:bodyPr wrap="none"/>
                    <a:lstStyle/>
                    <a:p>
                      <a:pPr algn="l"/>
                      <a:r>
                        <a:rPr sz="1100" b="1">
                          <a:solidFill>
                            <a:srgbClr val="2E2E2E"/>
                          </a:solidFill>
                          <a:latin typeface="Calibri"/>
                        </a:rPr>
                        <a:t>Currency &amp; Trade Dynamics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r>
              <a:tr h="247590">
                <a:tc>
                  <a:txBody>
                    <a:bodyPr wrap="none"/>
                    <a:lstStyle/>
                    <a:p>
                      <a:pPr algn="l"/>
                      <a:r>
                        <a:rPr sz="1100" b="1">
                          <a:solidFill>
                            <a:srgbClr val="2E2E2E"/>
                          </a:solidFill>
                          <a:latin typeface="Calibri"/>
                        </a:rPr>
                        <a:t>Brand &amp; Value Perception</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7590">
                <a:tc>
                  <a:txBody>
                    <a:bodyPr wrap="none"/>
                    <a:lstStyle/>
                    <a:p>
                      <a:pPr algn="l"/>
                      <a:r>
                        <a:rPr sz="1100" b="1">
                          <a:solidFill>
                            <a:srgbClr val="2E2E2E"/>
                          </a:solidFill>
                          <a:latin typeface="Calibri"/>
                        </a:rPr>
                        <a:t>Aftermarket &amp; Service Costs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r>
            </a:tbl>
          </a:graphicData>
        </a:graphic>
      </p:graphicFrame>
      <p:sp>
        <p:nvSpPr>
          <p:cNvPr id="18" name="TextBox 17"/>
          <p:cNvSpPr txBox="1"/>
          <p:nvPr/>
        </p:nvSpPr>
        <p:spPr>
          <a:xfrm>
            <a:off x="219075" y="6356360"/>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9" name="Rounded Rectangle 18"/>
          <p:cNvSpPr/>
          <p:nvPr/>
        </p:nvSpPr>
        <p:spPr>
          <a:xfrm>
            <a:off x="6200775" y="3398495"/>
            <a:ext cx="5848350" cy="3157890"/>
          </a:xfrm>
          <a:prstGeom prst="roundRect">
            <a:avLst>
              <a:gd name="adj" fmla="val 241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34125" y="3484220"/>
            <a:ext cx="5581650" cy="209550"/>
          </a:xfrm>
          <a:prstGeom prst="rect">
            <a:avLst/>
          </a:prstGeom>
          <a:noFill/>
        </p:spPr>
        <p:txBody>
          <a:bodyPr wrap="square" lIns="0" rIns="19050" tIns="9525" bIns="9525">
            <a:spAutoFit/>
          </a:bodyPr>
          <a:lstStyle/>
          <a:p>
            <a:pPr algn="l"/>
            <a:r>
              <a:rPr sz="1300" b="1">
                <a:solidFill>
                  <a:srgbClr val="0B2E4A"/>
                </a:solidFill>
                <a:latin typeface="Calibri"/>
              </a:rPr>
              <a:t>Pricing Dynamics &amp; Outlook</a:t>
            </a:r>
          </a:p>
        </p:txBody>
      </p:sp>
      <p:sp>
        <p:nvSpPr>
          <p:cNvPr id="21" name="Rectangle 20"/>
          <p:cNvSpPr/>
          <p:nvPr/>
        </p:nvSpPr>
        <p:spPr>
          <a:xfrm>
            <a:off x="6334125" y="3722345"/>
            <a:ext cx="5581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34125" y="3808070"/>
            <a:ext cx="5581650" cy="267211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Average product type price is projected to rise from ~3,280.75 to ~3,709.40 US$/MT by 2036 a +1.2% CAGR.</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'Premade Pouches &amp; Bags' shows the strongest forecast price appreciation (+13.8%) over the horizon.</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Upward pressure is led by input cost and demand &amp; market conditions; efficiency and competitive intensity work the other way.</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Net outlook: modest, structural price appreciation mix and geography will determine realised pricing.</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Flexible Plastic Packaging Market</a:t>
            </a:r>
          </a:p>
        </p:txBody>
      </p:sp>
      <p:sp>
        <p:nvSpPr>
          <p:cNvPr id="6" name="FMI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Supply Chain Analysis</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Supply Chain Analysis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9</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Flexible Plastic Packaging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Supply Chain Analysis</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Chain &amp; Stakeholder Mapping</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Operating Margin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Buyers Assessment</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Flexible Plastic Packaging Market Value Chain &amp; Stakeholder Mapping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Mapping of the value chain stages, the stakeholders at each stage and the value added along the chain</a:t>
            </a:r>
          </a:p>
        </p:txBody>
      </p:sp>
      <p:sp>
        <p:nvSpPr>
          <p:cNvPr id="10" name="TextBox 9"/>
          <p:cNvSpPr txBox="1"/>
          <p:nvPr/>
        </p:nvSpPr>
        <p:spPr>
          <a:xfrm>
            <a:off x="285750" y="970754"/>
            <a:ext cx="10668000" cy="164283"/>
          </a:xfrm>
          <a:prstGeom prst="rect">
            <a:avLst/>
          </a:prstGeom>
          <a:noFill/>
        </p:spPr>
        <p:txBody>
          <a:bodyPr wrap="square" lIns="0" rIns="19050" tIns="0" bIns="0">
            <a:spAutoFit/>
          </a:bodyPr>
          <a:lstStyle/>
          <a:p>
            <a:pPr algn="l"/>
            <a:r>
              <a:rPr sz="1100" b="0">
                <a:solidFill>
                  <a:srgbClr val="6C7A89"/>
                </a:solidFill>
                <a:latin typeface="Calibri"/>
              </a:rPr>
              <a:t>End-to-end value chain with the key stakeholders at each stage and their indicative contribution to value addition.</a:t>
            </a:r>
          </a:p>
        </p:txBody>
      </p:sp>
      <p:sp>
        <p:nvSpPr>
          <p:cNvPr id="11" name="Right Arrow 10"/>
          <p:cNvSpPr/>
          <p:nvPr/>
        </p:nvSpPr>
        <p:spPr>
          <a:xfrm>
            <a:off x="1885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4171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6457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8743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9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Raw Material</a:t>
            </a:r>
          </a:p>
          <a:p>
            <a:pPr algn="ctr">
              <a:lnSpc>
                <a:spcPct val="100000"/>
              </a:lnSpc>
            </a:pPr>
            <a:r>
              <a:rPr sz="1100" b="1">
                <a:solidFill>
                  <a:srgbClr val="0B2E4A"/>
                </a:solidFill>
                <a:latin typeface="Calibri"/>
              </a:rPr>
              <a:t>Suppliers</a:t>
            </a:r>
          </a:p>
        </p:txBody>
      </p:sp>
      <p:sp>
        <p:nvSpPr>
          <p:cNvPr id="16" name="Oval 15"/>
          <p:cNvSpPr/>
          <p:nvPr/>
        </p:nvSpPr>
        <p:spPr>
          <a:xfrm>
            <a:off x="1076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23950" y="1719155"/>
            <a:ext cx="800100" cy="766655"/>
          </a:xfrm>
          <a:prstGeom prst="ellipse">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509712" y="2084229"/>
            <a:ext cx="28575" cy="1551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rot="19500000">
            <a:off x="1381125" y="2020341"/>
            <a:ext cx="142875" cy="821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rot="2100000">
            <a:off x="1524000" y="2020341"/>
            <a:ext cx="142875" cy="821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00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5–10%</a:t>
            </a:r>
          </a:p>
        </p:txBody>
      </p:sp>
      <p:sp>
        <p:nvSpPr>
          <p:cNvPr id="22" name="Rounded Rectangle 21"/>
          <p:cNvSpPr/>
          <p:nvPr/>
        </p:nvSpPr>
        <p:spPr>
          <a:xfrm>
            <a:off x="457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2905646"/>
            <a:ext cx="2133600" cy="4563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2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Raw Material Suppliers</a:t>
            </a:r>
          </a:p>
        </p:txBody>
      </p:sp>
      <p:sp>
        <p:nvSpPr>
          <p:cNvPr id="25" name="TextBox 24"/>
          <p:cNvSpPr txBox="1"/>
          <p:nvPr/>
        </p:nvSpPr>
        <p:spPr>
          <a:xfrm>
            <a:off x="542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26" name="TextBox 25"/>
          <p:cNvSpPr txBox="1"/>
          <p:nvPr/>
        </p:nvSpPr>
        <p:spPr>
          <a:xfrm>
            <a:off x="542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Growers and primary producers supply core inputs; some forward-integrate into small-scale processing.</a:t>
            </a:r>
          </a:p>
        </p:txBody>
      </p:sp>
      <p:sp>
        <p:nvSpPr>
          <p:cNvPr id="27" name="TextBox 26"/>
          <p:cNvSpPr txBox="1"/>
          <p:nvPr/>
        </p:nvSpPr>
        <p:spPr>
          <a:xfrm>
            <a:off x="2705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Manufacturers</a:t>
            </a:r>
          </a:p>
        </p:txBody>
      </p:sp>
      <p:sp>
        <p:nvSpPr>
          <p:cNvPr id="28" name="Oval 27"/>
          <p:cNvSpPr/>
          <p:nvPr/>
        </p:nvSpPr>
        <p:spPr>
          <a:xfrm>
            <a:off x="3362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409950" y="1719155"/>
            <a:ext cx="800100" cy="766655"/>
          </a:xfrm>
          <a:prstGeom prst="ellipse">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38550" y="2084229"/>
            <a:ext cx="342900" cy="1642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67125" y="1983834"/>
            <a:ext cx="66675" cy="10952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71900" y="2020341"/>
            <a:ext cx="66675" cy="730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876675" y="1992961"/>
            <a:ext cx="66675" cy="10039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86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20–40%</a:t>
            </a:r>
          </a:p>
        </p:txBody>
      </p:sp>
      <p:sp>
        <p:nvSpPr>
          <p:cNvPr id="35" name="Rounded Rectangle 34"/>
          <p:cNvSpPr/>
          <p:nvPr/>
        </p:nvSpPr>
        <p:spPr>
          <a:xfrm>
            <a:off x="2743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743200" y="2905646"/>
            <a:ext cx="2133600" cy="4563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28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Manufacturers / Processors</a:t>
            </a:r>
          </a:p>
        </p:txBody>
      </p:sp>
      <p:sp>
        <p:nvSpPr>
          <p:cNvPr id="38" name="TextBox 37"/>
          <p:cNvSpPr txBox="1"/>
          <p:nvPr/>
        </p:nvSpPr>
        <p:spPr>
          <a:xfrm>
            <a:off x="2828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39" name="TextBox 38"/>
          <p:cNvSpPr txBox="1"/>
          <p:nvPr/>
        </p:nvSpPr>
        <p:spPr>
          <a:xfrm>
            <a:off x="2828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Convert inputs into finished and semi-finished product the single largest value-addition stage.</a:t>
            </a:r>
          </a:p>
        </p:txBody>
      </p:sp>
      <p:sp>
        <p:nvSpPr>
          <p:cNvPr id="40" name="TextBox 39"/>
          <p:cNvSpPr txBox="1"/>
          <p:nvPr/>
        </p:nvSpPr>
        <p:spPr>
          <a:xfrm>
            <a:off x="4991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Distributors</a:t>
            </a:r>
          </a:p>
        </p:txBody>
      </p:sp>
      <p:sp>
        <p:nvSpPr>
          <p:cNvPr id="41" name="Oval 40"/>
          <p:cNvSpPr/>
          <p:nvPr/>
        </p:nvSpPr>
        <p:spPr>
          <a:xfrm>
            <a:off x="5648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5695950" y="1719155"/>
            <a:ext cx="800100" cy="766655"/>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915025" y="2002088"/>
            <a:ext cx="209550" cy="1642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34100" y="2075102"/>
            <a:ext cx="123825" cy="912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5972175" y="2148117"/>
            <a:ext cx="85725" cy="82142"/>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153150" y="2148117"/>
            <a:ext cx="85725" cy="82142"/>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5572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5–25%</a:t>
            </a:r>
          </a:p>
        </p:txBody>
      </p:sp>
      <p:sp>
        <p:nvSpPr>
          <p:cNvPr id="48" name="Rounded Rectangle 47"/>
          <p:cNvSpPr/>
          <p:nvPr/>
        </p:nvSpPr>
        <p:spPr>
          <a:xfrm>
            <a:off x="5029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029200" y="2905646"/>
            <a:ext cx="2133600" cy="4563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114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Distributors &amp; Wholesalers</a:t>
            </a:r>
          </a:p>
        </p:txBody>
      </p:sp>
      <p:sp>
        <p:nvSpPr>
          <p:cNvPr id="51" name="TextBox 50"/>
          <p:cNvSpPr txBox="1"/>
          <p:nvPr/>
        </p:nvSpPr>
        <p:spPr>
          <a:xfrm>
            <a:off x="5114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52" name="TextBox 51"/>
          <p:cNvSpPr txBox="1"/>
          <p:nvPr/>
        </p:nvSpPr>
        <p:spPr>
          <a:xfrm>
            <a:off x="5114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Move product to market, hold inventory and provide logistics, reach and credit to downstream channels.</a:t>
            </a:r>
          </a:p>
        </p:txBody>
      </p:sp>
      <p:sp>
        <p:nvSpPr>
          <p:cNvPr id="53" name="TextBox 52"/>
          <p:cNvSpPr txBox="1"/>
          <p:nvPr/>
        </p:nvSpPr>
        <p:spPr>
          <a:xfrm>
            <a:off x="7277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Retailers</a:t>
            </a:r>
          </a:p>
        </p:txBody>
      </p:sp>
      <p:sp>
        <p:nvSpPr>
          <p:cNvPr id="54" name="Oval 53"/>
          <p:cNvSpPr/>
          <p:nvPr/>
        </p:nvSpPr>
        <p:spPr>
          <a:xfrm>
            <a:off x="7934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7981950" y="1719155"/>
            <a:ext cx="800100" cy="766655"/>
          </a:xfrm>
          <a:prstGeom prst="ellipse">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Isosceles Triangle 55"/>
          <p:cNvSpPr/>
          <p:nvPr/>
        </p:nvSpPr>
        <p:spPr>
          <a:xfrm>
            <a:off x="8201025" y="1965580"/>
            <a:ext cx="361950" cy="10952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239125" y="2065976"/>
            <a:ext cx="285750" cy="18253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343900" y="2138990"/>
            <a:ext cx="76200" cy="109522"/>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7858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10–35%</a:t>
            </a:r>
          </a:p>
        </p:txBody>
      </p:sp>
      <p:sp>
        <p:nvSpPr>
          <p:cNvPr id="60" name="Rounded Rectangle 59"/>
          <p:cNvSpPr/>
          <p:nvPr/>
        </p:nvSpPr>
        <p:spPr>
          <a:xfrm>
            <a:off x="7315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315200" y="2905646"/>
            <a:ext cx="2133600" cy="4563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400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Retailers &amp; Channels</a:t>
            </a:r>
          </a:p>
        </p:txBody>
      </p:sp>
      <p:sp>
        <p:nvSpPr>
          <p:cNvPr id="63" name="TextBox 62"/>
          <p:cNvSpPr txBox="1"/>
          <p:nvPr/>
        </p:nvSpPr>
        <p:spPr>
          <a:xfrm>
            <a:off x="7400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64" name="TextBox 63"/>
          <p:cNvSpPr txBox="1"/>
          <p:nvPr/>
        </p:nvSpPr>
        <p:spPr>
          <a:xfrm>
            <a:off x="7400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Sell to end customers across offline and online channels, capturing point-of-sale margin and brand visibility.</a:t>
            </a:r>
          </a:p>
        </p:txBody>
      </p:sp>
      <p:sp>
        <p:nvSpPr>
          <p:cNvPr id="65" name="TextBox 64"/>
          <p:cNvSpPr txBox="1"/>
          <p:nvPr/>
        </p:nvSpPr>
        <p:spPr>
          <a:xfrm>
            <a:off x="9563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End Users</a:t>
            </a:r>
          </a:p>
        </p:txBody>
      </p:sp>
      <p:sp>
        <p:nvSpPr>
          <p:cNvPr id="66" name="Oval 65"/>
          <p:cNvSpPr/>
          <p:nvPr/>
        </p:nvSpPr>
        <p:spPr>
          <a:xfrm>
            <a:off x="10220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0267950" y="1719155"/>
            <a:ext cx="800100" cy="766655"/>
          </a:xfrm>
          <a:prstGeom prst="ellipse">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0601325" y="1956453"/>
            <a:ext cx="133350" cy="12777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10544175" y="2111610"/>
            <a:ext cx="247650" cy="127776"/>
          </a:xfrm>
          <a:custGeom>
            <a:avLst/>
            <a:gdLst/>
            <a:ahLst/>
            <a:cxnLst/>
            <a:rect l="l" t="t" r="r" b="b"/>
            <a:pathLst>
              <a:path w="26" h="14">
                <a:moveTo>
                  <a:pt x="0" y="14"/>
                </a:moveTo>
                <a:lnTo>
                  <a:pt x="4" y="0"/>
                </a:lnTo>
                <a:lnTo>
                  <a:pt x="22" y="0"/>
                </a:lnTo>
                <a:lnTo>
                  <a:pt x="26" y="14"/>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10144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10–20%</a:t>
            </a:r>
          </a:p>
        </p:txBody>
      </p:sp>
      <p:sp>
        <p:nvSpPr>
          <p:cNvPr id="71" name="Rounded Rectangle 70"/>
          <p:cNvSpPr/>
          <p:nvPr/>
        </p:nvSpPr>
        <p:spPr>
          <a:xfrm>
            <a:off x="9601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9601200" y="2905646"/>
            <a:ext cx="2133600" cy="4563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686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End Users</a:t>
            </a:r>
          </a:p>
        </p:txBody>
      </p:sp>
      <p:sp>
        <p:nvSpPr>
          <p:cNvPr id="74" name="TextBox 73"/>
          <p:cNvSpPr txBox="1"/>
          <p:nvPr/>
        </p:nvSpPr>
        <p:spPr>
          <a:xfrm>
            <a:off x="9686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75" name="TextBox 74"/>
          <p:cNvSpPr txBox="1"/>
          <p:nvPr/>
        </p:nvSpPr>
        <p:spPr>
          <a:xfrm>
            <a:off x="9686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Consumers and downstream industries; large end users sometimes backward-integrate to secure supply and cost.</a:t>
            </a:r>
          </a:p>
        </p:txBody>
      </p:sp>
      <p:sp>
        <p:nvSpPr>
          <p:cNvPr id="76" name="Rounded Rectangle 75"/>
          <p:cNvSpPr/>
          <p:nvPr/>
        </p:nvSpPr>
        <p:spPr>
          <a:xfrm>
            <a:off x="381000" y="5315134"/>
            <a:ext cx="11430000" cy="1204744"/>
          </a:xfrm>
          <a:prstGeom prst="roundRect">
            <a:avLst>
              <a:gd name="adj" fmla="val 606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14350" y="5397275"/>
            <a:ext cx="11163300" cy="200791"/>
          </a:xfrm>
          <a:prstGeom prst="rect">
            <a:avLst/>
          </a:prstGeom>
          <a:noFill/>
        </p:spPr>
        <p:txBody>
          <a:bodyPr wrap="square" lIns="0" rIns="19050" tIns="9525" bIns="9525">
            <a:spAutoFit/>
          </a:bodyPr>
          <a:lstStyle/>
          <a:p>
            <a:pPr algn="l"/>
            <a:r>
              <a:rPr sz="1300" b="1">
                <a:solidFill>
                  <a:srgbClr val="0B2E4A"/>
                </a:solidFill>
                <a:latin typeface="Calibri"/>
              </a:rPr>
              <a:t>Value-Added Read-out</a:t>
            </a:r>
          </a:p>
        </p:txBody>
      </p:sp>
      <p:sp>
        <p:nvSpPr>
          <p:cNvPr id="78" name="Rectangle 77"/>
          <p:cNvSpPr/>
          <p:nvPr/>
        </p:nvSpPr>
        <p:spPr>
          <a:xfrm>
            <a:off x="514350" y="5625447"/>
            <a:ext cx="111633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14350" y="5707588"/>
            <a:ext cx="11163300" cy="7392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The Flexible Plastic Packaging Market value chain runs from raw-material suppliers through manufacturers, distributors and retailers to end users.</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'Manufacturers / Processors' captures the largest value addition (20–40%), reflecting processing and scale advantages.</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Forward and backward integration is common some suppliers process, and some large end users produce their own input.</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Percentages show each stage's indicative share of value added along the chain.</a:t>
            </a:r>
          </a:p>
        </p:txBody>
      </p:sp>
      <p:sp>
        <p:nvSpPr>
          <p:cNvPr id="80" name="TextBox 7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Flexible Plastic Packaging Market Industry-Wide Operating Margin Analysis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Operating margin by region and value chain node, highlighting where value concentrates along the chain</a:t>
            </a:r>
          </a:p>
        </p:txBody>
      </p:sp>
      <p:sp>
        <p:nvSpPr>
          <p:cNvPr id="10" name="Rounded Rectangle 9"/>
          <p:cNvSpPr/>
          <p:nvPr/>
        </p:nvSpPr>
        <p:spPr>
          <a:xfrm>
            <a:off x="142875" y="981075"/>
            <a:ext cx="11906250" cy="3267075"/>
          </a:xfrm>
          <a:prstGeom prst="roundRect">
            <a:avLst>
              <a:gd name="adj" fmla="val 233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Flexible Plastic Packaging Market Operating Margin by Region &amp; Node</a:t>
            </a:r>
          </a:p>
        </p:txBody>
      </p:sp>
      <p:graphicFrame>
        <p:nvGraphicFramePr>
          <p:cNvPr id="12" name="Table 11"/>
          <p:cNvGraphicFramePr>
            <a:graphicFrameLocks noGrp="1"/>
          </p:cNvGraphicFramePr>
          <p:nvPr/>
        </p:nvGraphicFramePr>
        <p:xfrm>
          <a:off x="152400" y="1238250"/>
          <a:ext cx="11887202" cy="2800353"/>
        </p:xfrm>
        <a:graphic>
          <a:graphicData uri="http://schemas.openxmlformats.org/drawingml/2006/table">
            <a:tbl>
              <a:tblPr>
                <a:tableStyleId>{5C22544A-7EE6-4342-B048-85BDC9FD1C3A}</a:tableStyleId>
              </a:tblPr>
              <a:tblGrid>
                <a:gridCol w="1208402"/>
                <a:gridCol w="2669700"/>
                <a:gridCol w="2669700"/>
                <a:gridCol w="2669700"/>
                <a:gridCol w="2669700"/>
              </a:tblGrid>
              <a:tr h="215265">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Node of Supply Chain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Operating Margin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Comparison to Parent Market</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Notes</a:t>
                      </a:r>
                      <a:endParaRPr sz="1100"/>
                    </a:p>
                  </a:txBody>
                  <a:tcPr marL="47625" marR="38100" marT="19050" marB="19050" anchor="ctr">
                    <a:solidFill>
                      <a:srgbClr val="E0E8EF"/>
                    </a:solidFill>
                  </a:tcPr>
                </a:tc>
              </a:tr>
              <a:tr h="215424">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10.0%</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+830 BPS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15424">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19.7%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+1,738 BPS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8FA"/>
                    </a:solidFill>
                  </a:tcPr>
                </a:tc>
              </a:tr>
              <a:tr h="215424">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+692 BPS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15424">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12.3%</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+878 BPS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8FA"/>
                    </a:solidFill>
                  </a:tcPr>
                </a:tc>
              </a:tr>
              <a:tr h="215424">
                <a:tc>
                  <a:txBody>
                    <a:bodyPr wrap="none"/>
                    <a:lstStyle/>
                    <a:p>
                      <a:pPr algn="l"/>
                      <a:r>
                        <a:rPr sz="1100" b="1">
                          <a:solidFill>
                            <a:srgbClr val="2E2E2E"/>
                          </a:solidFill>
                          <a:latin typeface="Calibri"/>
                        </a:rPr>
                        <a:t>Latin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+950 BPS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15424">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19.9%</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+1,722 BPS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8FA"/>
                    </a:solidFill>
                  </a:tcPr>
                </a:tc>
              </a:tr>
              <a:tr h="215424">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8.5%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+521 BPS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15424">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+676 BPS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8FA"/>
                    </a:solidFill>
                  </a:tcPr>
                </a:tc>
              </a:tr>
              <a:tr h="215424">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11.9%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+911 BPS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15424">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18.7%</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+1,524 BPS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8FA"/>
                    </a:solidFill>
                  </a:tcPr>
                </a:tc>
              </a:tr>
              <a:tr h="215424">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+274 BPS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15424">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10.0%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+537 BPS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40481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381500"/>
            <a:ext cx="11906250" cy="2247900"/>
          </a:xfrm>
          <a:prstGeom prst="roundRect">
            <a:avLst>
              <a:gd name="adj" fmla="val 338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467225"/>
            <a:ext cx="11639550" cy="209550"/>
          </a:xfrm>
          <a:prstGeom prst="rect">
            <a:avLst/>
          </a:prstGeom>
          <a:noFill/>
        </p:spPr>
        <p:txBody>
          <a:bodyPr wrap="square" lIns="0" rIns="19050" tIns="9525" bIns="9525">
            <a:spAutoFit/>
          </a:bodyPr>
          <a:lstStyle/>
          <a:p>
            <a:pPr algn="l"/>
            <a:r>
              <a:rPr sz="1300" b="1">
                <a:solidFill>
                  <a:srgbClr val="0B2E4A"/>
                </a:solidFill>
                <a:latin typeface="Calibri"/>
              </a:rPr>
              <a:t>How to Read This</a:t>
            </a:r>
          </a:p>
        </p:txBody>
      </p:sp>
      <p:sp>
        <p:nvSpPr>
          <p:cNvPr id="16" name="Rectangle 15"/>
          <p:cNvSpPr/>
          <p:nvPr/>
        </p:nvSpPr>
        <p:spPr>
          <a:xfrm>
            <a:off x="276225" y="47053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791075"/>
            <a:ext cx="11639550" cy="17621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Node of Supply Chain: each major stage, from raw-material suppliers through to retailers.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Operating Margin: the indicative margin earned at each node, by region.</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Comparison to Parent Market: margin versus the parent / associated market (e.g. the broader food or pharmaceutical value chain).</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Margins are broken down by both region and node to surface where value concentrates along the chain.</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Flexible Plastic Packaging Market Buyers Assessment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Assessment of buyers and end users by volume, average price and revenue, highlighting purchasing power</a:t>
            </a:r>
          </a:p>
        </p:txBody>
      </p:sp>
      <p:sp>
        <p:nvSpPr>
          <p:cNvPr id="10" name="Rounded Rectangle 9"/>
          <p:cNvSpPr/>
          <p:nvPr/>
        </p:nvSpPr>
        <p:spPr>
          <a:xfrm>
            <a:off x="142875" y="981075"/>
            <a:ext cx="11906250" cy="2838450"/>
          </a:xfrm>
          <a:prstGeom prst="roundRect">
            <a:avLst>
              <a:gd name="adj" fmla="val 268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Flexible Plastic Packaging Market Buyers / End-User Assessment</a:t>
            </a:r>
          </a:p>
        </p:txBody>
      </p:sp>
      <p:graphicFrame>
        <p:nvGraphicFramePr>
          <p:cNvPr id="12" name="Table 11"/>
          <p:cNvGraphicFramePr>
            <a:graphicFrameLocks noGrp="1"/>
          </p:cNvGraphicFramePr>
          <p:nvPr/>
        </p:nvGraphicFramePr>
        <p:xfrm>
          <a:off x="152400" y="1238250"/>
          <a:ext cx="11887200" cy="2371725"/>
        </p:xfrm>
        <a:graphic>
          <a:graphicData uri="http://schemas.openxmlformats.org/drawingml/2006/table">
            <a:tbl>
              <a:tblPr>
                <a:tableStyleId>{5C22544A-7EE6-4342-B048-85BDC9FD1C3A}</a:tableStyleId>
              </a:tblPr>
              <a:tblGrid>
                <a:gridCol w="938673"/>
                <a:gridCol w="1486675"/>
                <a:gridCol w="1065550"/>
                <a:gridCol w="1130339"/>
                <a:gridCol w="1605454"/>
                <a:gridCol w="1397591"/>
                <a:gridCol w="1405647"/>
                <a:gridCol w="1351699"/>
                <a:gridCol w="1505572"/>
              </a:tblGrid>
              <a:tr h="215265">
                <a:tc>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Buyer Category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Buyer / End-User Type</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Procurement Vol.</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Avg Price (US$/MT)</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Revenue (US$ Mn)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Key Selection Factor</a:t>
                      </a:r>
                      <a:endParaRPr sz="1100"/>
                    </a:p>
                  </a:txBody>
                  <a:tcPr marL="47625" marR="38100" marT="19050" marB="19050" anchor="ctr">
                    <a:solidFill>
                      <a:srgbClr val="E0E8EF"/>
                    </a:solidFill>
                  </a:tcPr>
                </a:tc>
              </a:tr>
              <a:tr h="215646">
                <a:tc>
                  <a:txBody>
                    <a:bodyPr wrap="none"/>
                    <a:lstStyle/>
                    <a:p>
                      <a:pPr algn="l"/>
                      <a:r>
                        <a:rPr sz="1100" b="1">
                          <a:solidFill>
                            <a:srgbClr val="2E2E2E"/>
                          </a:solidFill>
                          <a:latin typeface="Calibri"/>
                        </a:rPr>
                        <a:t>Company 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U.S.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North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2,390 Thousand MT</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2,728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6,520,131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Price &amp; reliability</a:t>
                      </a:r>
                      <a:endParaRPr sz="1100"/>
                    </a:p>
                  </a:txBody>
                  <a:tcPr marL="47625" marR="38100" marT="19050" marB="19050" anchor="ctr">
                    <a:solidFill>
                      <a:srgbClr val="FFFFFF"/>
                    </a:solidFill>
                  </a:tcPr>
                </a:tc>
              </a:tr>
              <a:tr h="215646">
                <a:tc>
                  <a:txBody>
                    <a:bodyPr wrap="none"/>
                    <a:lstStyle/>
                    <a:p>
                      <a:pPr algn="l"/>
                      <a:r>
                        <a:rPr sz="1100" b="1">
                          <a:solidFill>
                            <a:srgbClr val="2E2E2E"/>
                          </a:solidFill>
                          <a:latin typeface="Calibri"/>
                        </a:rPr>
                        <a:t>Company 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Canada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North America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Distributor</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B2B / Institutional</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2,151 Thousand MT</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2,831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6,090,395</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Quality &amp; compliance</a:t>
                      </a:r>
                      <a:endParaRPr sz="1100"/>
                    </a:p>
                  </a:txBody>
                  <a:tcPr marL="47625" marR="38100" marT="19050" marB="19050" anchor="ctr">
                    <a:solidFill>
                      <a:srgbClr val="F5F8FA"/>
                    </a:solidFill>
                  </a:tcPr>
                </a:tc>
              </a:tr>
              <a:tr h="215646">
                <a:tc>
                  <a:txBody>
                    <a:bodyPr wrap="none"/>
                    <a:lstStyle/>
                    <a:p>
                      <a:pPr algn="l"/>
                      <a:r>
                        <a:rPr sz="1100" b="1">
                          <a:solidFill>
                            <a:srgbClr val="2E2E2E"/>
                          </a:solidFill>
                          <a:latin typeface="Calibri"/>
                        </a:rPr>
                        <a:t>Company 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Brazil</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Retailer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B2C / Retail</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1,912 Thousand MT</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2,934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5,611,264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Lead time &amp; service</a:t>
                      </a:r>
                      <a:endParaRPr sz="1100"/>
                    </a:p>
                  </a:txBody>
                  <a:tcPr marL="47625" marR="38100" marT="19050" marB="19050" anchor="ctr">
                    <a:solidFill>
                      <a:srgbClr val="FFFFFF"/>
                    </a:solidFill>
                  </a:tcPr>
                </a:tc>
              </a:tr>
              <a:tr h="215646">
                <a:tc>
                  <a:txBody>
                    <a:bodyPr wrap="none"/>
                    <a:lstStyle/>
                    <a:p>
                      <a:pPr algn="l"/>
                      <a:r>
                        <a:rPr sz="1100" b="1">
                          <a:solidFill>
                            <a:srgbClr val="2E2E2E"/>
                          </a:solidFill>
                          <a:latin typeface="Calibri"/>
                        </a:rPr>
                        <a:t>Company 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Mexico</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Others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Contract / OEM</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1,673 Thousand MT</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3,038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5,082,738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Capacity &amp; scale</a:t>
                      </a:r>
                      <a:endParaRPr sz="1100"/>
                    </a:p>
                  </a:txBody>
                  <a:tcPr marL="47625" marR="38100" marT="19050" marB="19050" anchor="ctr">
                    <a:solidFill>
                      <a:srgbClr val="F5F8FA"/>
                    </a:solidFill>
                  </a:tcPr>
                </a:tc>
              </a:tr>
              <a:tr h="215646">
                <a:tc>
                  <a:txBody>
                    <a:bodyPr wrap="none"/>
                    <a:lstStyle/>
                    <a:p>
                      <a:pPr algn="l"/>
                      <a:r>
                        <a:rPr sz="1100" b="1">
                          <a:solidFill>
                            <a:srgbClr val="2E2E2E"/>
                          </a:solidFill>
                          <a:latin typeface="Calibri"/>
                        </a:rPr>
                        <a:t>Company 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Colombia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1,434 Thousand MT</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3,141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4,504,817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Brand &amp; support</a:t>
                      </a:r>
                      <a:endParaRPr sz="1100"/>
                    </a:p>
                  </a:txBody>
                  <a:tcPr marL="47625" marR="38100" marT="19050" marB="19050" anchor="ctr">
                    <a:solidFill>
                      <a:srgbClr val="FFFFFF"/>
                    </a:solidFill>
                  </a:tcPr>
                </a:tc>
              </a:tr>
              <a:tr h="215646">
                <a:tc>
                  <a:txBody>
                    <a:bodyPr wrap="none"/>
                    <a:lstStyle/>
                    <a:p>
                      <a:pPr algn="l"/>
                      <a:r>
                        <a:rPr sz="1100" b="1">
                          <a:solidFill>
                            <a:srgbClr val="2E2E2E"/>
                          </a:solidFill>
                          <a:latin typeface="Calibri"/>
                        </a:rPr>
                        <a:t>Company 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Rest of Latin America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Distributor</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B2B / Institutional</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1,195 Thousand MT</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3,244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3,877,502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Price &amp; reliability</a:t>
                      </a:r>
                      <a:endParaRPr sz="1100"/>
                    </a:p>
                  </a:txBody>
                  <a:tcPr marL="47625" marR="38100" marT="19050" marB="19050" anchor="ctr">
                    <a:solidFill>
                      <a:srgbClr val="F5F8FA"/>
                    </a:solidFill>
                  </a:tcPr>
                </a:tc>
              </a:tr>
              <a:tr h="215646">
                <a:tc>
                  <a:txBody>
                    <a:bodyPr wrap="none"/>
                    <a:lstStyle/>
                    <a:p>
                      <a:pPr algn="l"/>
                      <a:r>
                        <a:rPr sz="1100" b="1">
                          <a:solidFill>
                            <a:srgbClr val="2E2E2E"/>
                          </a:solidFill>
                          <a:latin typeface="Calibri"/>
                        </a:rPr>
                        <a:t>Company 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Germany</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Europe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Retailer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B2C / Retail</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956 Thousand MT</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3,348</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3,200,791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Quality &amp; compliance</a:t>
                      </a:r>
                      <a:endParaRPr sz="1100"/>
                    </a:p>
                  </a:txBody>
                  <a:tcPr marL="47625" marR="38100" marT="19050" marB="19050" anchor="ctr">
                    <a:solidFill>
                      <a:srgbClr val="FFFFFF"/>
                    </a:solidFill>
                  </a:tcPr>
                </a:tc>
              </a:tr>
              <a:tr h="215646">
                <a:tc>
                  <a:txBody>
                    <a:bodyPr wrap="none"/>
                    <a:lstStyle/>
                    <a:p>
                      <a:pPr algn="l"/>
                      <a:r>
                        <a:rPr sz="1100" b="1">
                          <a:solidFill>
                            <a:srgbClr val="2E2E2E"/>
                          </a:solidFill>
                          <a:latin typeface="Calibri"/>
                        </a:rPr>
                        <a:t>Company 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U.K.</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Europe</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Others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Contract / OEM</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717 Thousand MT</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3,451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2,474,686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Lead time &amp; service</a:t>
                      </a:r>
                      <a:endParaRPr sz="1100"/>
                    </a:p>
                  </a:txBody>
                  <a:tcPr marL="47625" marR="38100" marT="19050" marB="19050" anchor="ctr">
                    <a:solidFill>
                      <a:srgbClr val="F5F8FA"/>
                    </a:solidFill>
                  </a:tcPr>
                </a:tc>
              </a:tr>
              <a:tr h="215646">
                <a:tc>
                  <a:txBody>
                    <a:bodyPr wrap="none"/>
                    <a:lstStyle/>
                    <a:p>
                      <a:pPr algn="l"/>
                      <a:r>
                        <a:rPr sz="1100" b="1">
                          <a:solidFill>
                            <a:srgbClr val="2E2E2E"/>
                          </a:solidFill>
                          <a:latin typeface="Calibri"/>
                        </a:rPr>
                        <a:t>Company 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France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Europe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478 Thousand MT</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3,554</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1,699,186</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Capacity &amp; scale</a:t>
                      </a:r>
                      <a:endParaRPr sz="1100"/>
                    </a:p>
                  </a:txBody>
                  <a:tcPr marL="47625" marR="38100" marT="19050" marB="19050" anchor="ctr">
                    <a:solidFill>
                      <a:srgbClr val="FFFFFF"/>
                    </a:solidFill>
                  </a:tcPr>
                </a:tc>
              </a:tr>
              <a:tr h="215646">
                <a:tc>
                  <a:txBody>
                    <a:bodyPr wrap="none"/>
                    <a:lstStyle/>
                    <a:p>
                      <a:pPr algn="l"/>
                      <a:r>
                        <a:rPr sz="1100" b="1">
                          <a:solidFill>
                            <a:srgbClr val="2E2E2E"/>
                          </a:solidFill>
                          <a:latin typeface="Calibri"/>
                        </a:rPr>
                        <a:t>Company 10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Italy</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Europe</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Distributor</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B2B / Institutional</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239 Thousand MT</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3,658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874,290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Brand &amp; support</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36195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952875"/>
            <a:ext cx="11906250" cy="2676525"/>
          </a:xfrm>
          <a:prstGeom prst="roundRect">
            <a:avLst>
              <a:gd name="adj" fmla="val 284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038600"/>
            <a:ext cx="11639550" cy="209550"/>
          </a:xfrm>
          <a:prstGeom prst="rect">
            <a:avLst/>
          </a:prstGeom>
          <a:noFill/>
        </p:spPr>
        <p:txBody>
          <a:bodyPr wrap="square" lIns="0" rIns="19050" tIns="9525" bIns="9525">
            <a:spAutoFit/>
          </a:bodyPr>
          <a:lstStyle/>
          <a:p>
            <a:pPr algn="l"/>
            <a:r>
              <a:rPr sz="1300" b="1">
                <a:solidFill>
                  <a:srgbClr val="0B2E4A"/>
                </a:solidFill>
                <a:latin typeface="Calibri"/>
              </a:rPr>
              <a:t>Notes</a:t>
            </a:r>
          </a:p>
        </p:txBody>
      </p:sp>
      <p:sp>
        <p:nvSpPr>
          <p:cNvPr id="16" name="Rectangle 15"/>
          <p:cNvSpPr/>
          <p:nvPr/>
        </p:nvSpPr>
        <p:spPr>
          <a:xfrm>
            <a:off x="276225" y="42767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362450"/>
            <a:ext cx="11639550" cy="21907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This is a representative subset the full assessment lists 20–30 active participants (with brands, specifications, procurement strategies and SWOT). Note: value-chain economics are indicative derived from market modelling and expert validation, not company disclosures.</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Flexible Plastic Packaging Market</a:t>
            </a:r>
          </a:p>
        </p:txBody>
      </p:sp>
      <p:sp>
        <p:nvSpPr>
          <p:cNvPr id="6" name="FMI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Market Dynamics</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Dynamics &amp; Forces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Flexible Plastic Packaging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Market Dynamics &amp; Forces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Drivers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Restraints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Opportunities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Recent Developments &amp; Milestones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Five Forces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Flexible Plastic Packaging Market Dynamics by Region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growth driver, restraint and opportunity shaping each region of the global market</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TextBox 10"/>
          <p:cNvSpPr txBox="1"/>
          <p:nvPr/>
        </p:nvSpPr>
        <p:spPr>
          <a:xfrm>
            <a:off x="180975" y="1025515"/>
            <a:ext cx="8572500" cy="219044"/>
          </a:xfrm>
          <a:prstGeom prst="rect">
            <a:avLst/>
          </a:prstGeom>
          <a:noFill/>
        </p:spPr>
        <p:txBody>
          <a:bodyPr wrap="square" lIns="28575" rIns="28575" tIns="9525" bIns="9525" anchor="ctr">
            <a:spAutoFit/>
          </a:bodyPr>
          <a:lstStyle/>
          <a:p>
            <a:pPr algn="l"/>
            <a:r>
              <a:rPr sz="1150" b="1">
                <a:solidFill>
                  <a:srgbClr val="2E2E2E"/>
                </a:solidFill>
                <a:latin typeface="Calibri"/>
              </a:rPr>
              <a:t>Demand Dynamics by Region  ·  ranked by 2036 value</a:t>
            </a:r>
          </a:p>
        </p:txBody>
      </p:sp>
      <p:sp>
        <p:nvSpPr>
          <p:cNvPr id="12" name="Rectangle 11"/>
          <p:cNvSpPr/>
          <p:nvPr/>
        </p:nvSpPr>
        <p:spPr>
          <a:xfrm>
            <a:off x="142875" y="1262813"/>
            <a:ext cx="11906250" cy="255552"/>
          </a:xfrm>
          <a:prstGeom prst="rect">
            <a:avLst/>
          </a:prstGeom>
          <a:solidFill>
            <a:srgbClr val="DC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0025" y="1262813"/>
            <a:ext cx="1428750" cy="255552"/>
          </a:xfrm>
          <a:prstGeom prst="rect">
            <a:avLst/>
          </a:prstGeom>
          <a:noFill/>
        </p:spPr>
        <p:txBody>
          <a:bodyPr wrap="square" lIns="28575" rIns="28575" tIns="9525" bIns="9525" anchor="ctr">
            <a:spAutoFit/>
          </a:bodyPr>
          <a:lstStyle/>
          <a:p>
            <a:pPr algn="l"/>
            <a:r>
              <a:rPr sz="1100" b="1">
                <a:solidFill>
                  <a:srgbClr val="0B2E4A"/>
                </a:solidFill>
                <a:latin typeface="Calibri"/>
              </a:rPr>
              <a:t>Region</a:t>
            </a:r>
          </a:p>
        </p:txBody>
      </p:sp>
      <p:sp>
        <p:nvSpPr>
          <p:cNvPr id="14" name="TextBox 13"/>
          <p:cNvSpPr txBox="1"/>
          <p:nvPr/>
        </p:nvSpPr>
        <p:spPr>
          <a:xfrm>
            <a:off x="1724025" y="1262813"/>
            <a:ext cx="3714750" cy="255552"/>
          </a:xfrm>
          <a:prstGeom prst="rect">
            <a:avLst/>
          </a:prstGeom>
          <a:noFill/>
        </p:spPr>
        <p:txBody>
          <a:bodyPr wrap="square" lIns="28575" rIns="28575" tIns="9525" bIns="9525" anchor="ctr">
            <a:spAutoFit/>
          </a:bodyPr>
          <a:lstStyle/>
          <a:p>
            <a:pPr algn="l"/>
            <a:r>
              <a:rPr sz="1100" b="1">
                <a:solidFill>
                  <a:srgbClr val="0B2E4A"/>
                </a:solidFill>
                <a:latin typeface="Calibri"/>
              </a:rPr>
              <a:t>Growth Drivers</a:t>
            </a:r>
          </a:p>
        </p:txBody>
      </p:sp>
      <p:sp>
        <p:nvSpPr>
          <p:cNvPr id="15" name="TextBox 14"/>
          <p:cNvSpPr txBox="1"/>
          <p:nvPr/>
        </p:nvSpPr>
        <p:spPr>
          <a:xfrm>
            <a:off x="5534025" y="1262813"/>
            <a:ext cx="2762250" cy="255552"/>
          </a:xfrm>
          <a:prstGeom prst="rect">
            <a:avLst/>
          </a:prstGeom>
          <a:noFill/>
        </p:spPr>
        <p:txBody>
          <a:bodyPr wrap="square" lIns="28575" rIns="28575" tIns="9525" bIns="9525" anchor="ctr">
            <a:spAutoFit/>
          </a:bodyPr>
          <a:lstStyle/>
          <a:p>
            <a:pPr algn="l"/>
            <a:r>
              <a:rPr sz="1100" b="1">
                <a:solidFill>
                  <a:srgbClr val="0B2E4A"/>
                </a:solidFill>
                <a:latin typeface="Calibri"/>
              </a:rPr>
              <a:t>Restraints</a:t>
            </a:r>
          </a:p>
        </p:txBody>
      </p:sp>
      <p:sp>
        <p:nvSpPr>
          <p:cNvPr id="16" name="TextBox 15"/>
          <p:cNvSpPr txBox="1"/>
          <p:nvPr/>
        </p:nvSpPr>
        <p:spPr>
          <a:xfrm>
            <a:off x="8391525" y="1262813"/>
            <a:ext cx="3619500" cy="255552"/>
          </a:xfrm>
          <a:prstGeom prst="rect">
            <a:avLst/>
          </a:prstGeom>
          <a:noFill/>
        </p:spPr>
        <p:txBody>
          <a:bodyPr wrap="square" lIns="28575" rIns="28575" tIns="9525" bIns="9525" anchor="ctr">
            <a:spAutoFit/>
          </a:bodyPr>
          <a:lstStyle/>
          <a:p>
            <a:pPr algn="l"/>
            <a:r>
              <a:rPr sz="1100" b="1">
                <a:solidFill>
                  <a:srgbClr val="0B2E4A"/>
                </a:solidFill>
                <a:latin typeface="Calibri"/>
              </a:rPr>
              <a:t>Priority Opportunities</a:t>
            </a:r>
          </a:p>
        </p:txBody>
      </p:sp>
      <p:sp>
        <p:nvSpPr>
          <p:cNvPr id="17" name="Rectangle 16"/>
          <p:cNvSpPr/>
          <p:nvPr/>
        </p:nvSpPr>
        <p:spPr>
          <a:xfrm>
            <a:off x="142875" y="1518365"/>
            <a:ext cx="11906250" cy="511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0025" y="1518365"/>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East Asia</a:t>
            </a:r>
          </a:p>
        </p:txBody>
      </p:sp>
      <p:sp>
        <p:nvSpPr>
          <p:cNvPr id="19" name="TextBox 18"/>
          <p:cNvSpPr txBox="1"/>
          <p:nvPr/>
        </p:nvSpPr>
        <p:spPr>
          <a:xfrm>
            <a:off x="1724025" y="1545745"/>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Scale base (26.5% share), Installed demand (6.4% CAGR), Rollstock Films demand, Accelerating vs history.</a:t>
            </a:r>
          </a:p>
        </p:txBody>
      </p:sp>
      <p:sp>
        <p:nvSpPr>
          <p:cNvPr id="20" name="TextBox 19"/>
          <p:cNvSpPr txBox="1"/>
          <p:nvPr/>
        </p:nvSpPr>
        <p:spPr>
          <a:xfrm>
            <a:off x="5534025" y="1545745"/>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Trails market pace by 17 BPS, Rising realisation (1.3%).</a:t>
            </a:r>
          </a:p>
        </p:txBody>
      </p:sp>
      <p:sp>
        <p:nvSpPr>
          <p:cNvPr id="21" name="TextBox 20"/>
          <p:cNvSpPr txBox="1"/>
          <p:nvPr/>
        </p:nvSpPr>
        <p:spPr>
          <a:xfrm>
            <a:off x="8391525" y="1545745"/>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Scale Barrier Casings (6.6%), Mix shift to Premade Pouches &amp; Bags, 29,390 US$ Mn headroom.</a:t>
            </a:r>
          </a:p>
        </p:txBody>
      </p:sp>
      <p:sp>
        <p:nvSpPr>
          <p:cNvPr id="22" name="Rectangle 21"/>
          <p:cNvSpPr/>
          <p:nvPr/>
        </p:nvSpPr>
        <p:spPr>
          <a:xfrm>
            <a:off x="142875" y="2029468"/>
            <a:ext cx="11906250" cy="51110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00025" y="2029468"/>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North America</a:t>
            </a:r>
          </a:p>
        </p:txBody>
      </p:sp>
      <p:sp>
        <p:nvSpPr>
          <p:cNvPr id="24" name="TextBox 23"/>
          <p:cNvSpPr txBox="1"/>
          <p:nvPr/>
        </p:nvSpPr>
        <p:spPr>
          <a:xfrm>
            <a:off x="1724025" y="2056849"/>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Scale base (25.8% share), Installed demand (5.6% CAGR), Rollstock Films demand, Accelerating vs history.</a:t>
            </a:r>
          </a:p>
        </p:txBody>
      </p:sp>
      <p:sp>
        <p:nvSpPr>
          <p:cNvPr id="25" name="TextBox 24"/>
          <p:cNvSpPr txBox="1"/>
          <p:nvPr/>
        </p:nvSpPr>
        <p:spPr>
          <a:xfrm>
            <a:off x="5534025" y="2056849"/>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Trails market pace by 95 BPS, Rising realisation (1.3%).</a:t>
            </a:r>
          </a:p>
        </p:txBody>
      </p:sp>
      <p:sp>
        <p:nvSpPr>
          <p:cNvPr id="26" name="TextBox 25"/>
          <p:cNvSpPr txBox="1"/>
          <p:nvPr/>
        </p:nvSpPr>
        <p:spPr>
          <a:xfrm>
            <a:off x="8391525" y="2056849"/>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Scale Barrier Casings (5.8%), Mix shift to Premade Pouches &amp; Bags, 26,090 US$ Mn headroom.</a:t>
            </a:r>
          </a:p>
        </p:txBody>
      </p:sp>
      <p:sp>
        <p:nvSpPr>
          <p:cNvPr id="27" name="Rectangle 26"/>
          <p:cNvSpPr/>
          <p:nvPr/>
        </p:nvSpPr>
        <p:spPr>
          <a:xfrm>
            <a:off x="142875" y="2540572"/>
            <a:ext cx="11906250" cy="511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00025" y="2540572"/>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Europe</a:t>
            </a:r>
          </a:p>
        </p:txBody>
      </p:sp>
      <p:sp>
        <p:nvSpPr>
          <p:cNvPr id="29" name="TextBox 28"/>
          <p:cNvSpPr txBox="1"/>
          <p:nvPr/>
        </p:nvSpPr>
        <p:spPr>
          <a:xfrm>
            <a:off x="1724025" y="2567952"/>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Scale base (20.6% share), Above-market pace (6.6%), Rollstock Films demand, Accelerating vs history.</a:t>
            </a:r>
          </a:p>
        </p:txBody>
      </p:sp>
      <p:sp>
        <p:nvSpPr>
          <p:cNvPr id="30" name="TextBox 29"/>
          <p:cNvSpPr txBox="1"/>
          <p:nvPr/>
        </p:nvSpPr>
        <p:spPr>
          <a:xfrm>
            <a:off x="5534025" y="2567952"/>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Rising realisation (1.3%).</a:t>
            </a:r>
          </a:p>
        </p:txBody>
      </p:sp>
      <p:sp>
        <p:nvSpPr>
          <p:cNvPr id="31" name="TextBox 30"/>
          <p:cNvSpPr txBox="1"/>
          <p:nvPr/>
        </p:nvSpPr>
        <p:spPr>
          <a:xfrm>
            <a:off x="8391525" y="2567952"/>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Scale Premade Pouches &amp; Bags (6.7%), 23,252 US$ Mn headroom.</a:t>
            </a:r>
          </a:p>
        </p:txBody>
      </p:sp>
      <p:sp>
        <p:nvSpPr>
          <p:cNvPr id="32" name="Rectangle 31"/>
          <p:cNvSpPr/>
          <p:nvPr/>
        </p:nvSpPr>
        <p:spPr>
          <a:xfrm>
            <a:off x="142875" y="3051675"/>
            <a:ext cx="11906250" cy="51110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00025" y="3051675"/>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South Asia &amp; Pacific</a:t>
            </a:r>
          </a:p>
        </p:txBody>
      </p:sp>
      <p:sp>
        <p:nvSpPr>
          <p:cNvPr id="34" name="TextBox 33"/>
          <p:cNvSpPr txBox="1"/>
          <p:nvPr/>
        </p:nvSpPr>
        <p:spPr>
          <a:xfrm>
            <a:off x="1724025" y="3079056"/>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Above-market pace (7.8%), Rollstock Films demand, Accelerating vs history.</a:t>
            </a:r>
          </a:p>
        </p:txBody>
      </p:sp>
      <p:sp>
        <p:nvSpPr>
          <p:cNvPr id="35" name="TextBox 34"/>
          <p:cNvSpPr txBox="1"/>
          <p:nvPr/>
        </p:nvSpPr>
        <p:spPr>
          <a:xfrm>
            <a:off x="5534025" y="3079056"/>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Rising realisation (1.2%).</a:t>
            </a:r>
          </a:p>
        </p:txBody>
      </p:sp>
      <p:sp>
        <p:nvSpPr>
          <p:cNvPr id="36" name="TextBox 35"/>
          <p:cNvSpPr txBox="1"/>
          <p:nvPr/>
        </p:nvSpPr>
        <p:spPr>
          <a:xfrm>
            <a:off x="8391525" y="3079056"/>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Scale Premade Pouches &amp; Bags (7.8%), 17,225 US$ Mn headroom.</a:t>
            </a:r>
          </a:p>
        </p:txBody>
      </p:sp>
      <p:sp>
        <p:nvSpPr>
          <p:cNvPr id="37" name="Rectangle 36"/>
          <p:cNvSpPr/>
          <p:nvPr/>
        </p:nvSpPr>
        <p:spPr>
          <a:xfrm>
            <a:off x="142875" y="3562779"/>
            <a:ext cx="11906250" cy="511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00025" y="3562779"/>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Latin America</a:t>
            </a:r>
          </a:p>
        </p:txBody>
      </p:sp>
      <p:sp>
        <p:nvSpPr>
          <p:cNvPr id="39" name="TextBox 38"/>
          <p:cNvSpPr txBox="1"/>
          <p:nvPr/>
        </p:nvSpPr>
        <p:spPr>
          <a:xfrm>
            <a:off x="1724025" y="3590159"/>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Above-market pace (7.2%), Rollstock Films demand, Accelerating vs history.</a:t>
            </a:r>
          </a:p>
        </p:txBody>
      </p:sp>
      <p:sp>
        <p:nvSpPr>
          <p:cNvPr id="40" name="TextBox 39"/>
          <p:cNvSpPr txBox="1"/>
          <p:nvPr/>
        </p:nvSpPr>
        <p:spPr>
          <a:xfrm>
            <a:off x="5534025" y="3590159"/>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Rising realisation (1.3%).</a:t>
            </a:r>
          </a:p>
        </p:txBody>
      </p:sp>
      <p:sp>
        <p:nvSpPr>
          <p:cNvPr id="41" name="TextBox 40"/>
          <p:cNvSpPr txBox="1"/>
          <p:nvPr/>
        </p:nvSpPr>
        <p:spPr>
          <a:xfrm>
            <a:off x="8391525" y="3590159"/>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Scale Premade Pouches &amp; Bags (7.2%), 8,294 US$ Mn headroom.</a:t>
            </a:r>
          </a:p>
        </p:txBody>
      </p:sp>
      <p:sp>
        <p:nvSpPr>
          <p:cNvPr id="42" name="Rectangle 41"/>
          <p:cNvSpPr/>
          <p:nvPr/>
        </p:nvSpPr>
        <p:spPr>
          <a:xfrm>
            <a:off x="142875" y="4073882"/>
            <a:ext cx="11906250" cy="51110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00025" y="4073882"/>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Middle East &amp; Africa</a:t>
            </a:r>
          </a:p>
        </p:txBody>
      </p:sp>
      <p:sp>
        <p:nvSpPr>
          <p:cNvPr id="44" name="TextBox 43"/>
          <p:cNvSpPr txBox="1"/>
          <p:nvPr/>
        </p:nvSpPr>
        <p:spPr>
          <a:xfrm>
            <a:off x="1724025" y="4101263"/>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Above-market pace (8.3%), Rollstock Films demand, Accelerating vs history.</a:t>
            </a:r>
          </a:p>
        </p:txBody>
      </p:sp>
      <p:sp>
        <p:nvSpPr>
          <p:cNvPr id="45" name="TextBox 44"/>
          <p:cNvSpPr txBox="1"/>
          <p:nvPr/>
        </p:nvSpPr>
        <p:spPr>
          <a:xfrm>
            <a:off x="5534025" y="4101263"/>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Rising realisation (1.3%).</a:t>
            </a:r>
          </a:p>
        </p:txBody>
      </p:sp>
      <p:sp>
        <p:nvSpPr>
          <p:cNvPr id="46" name="TextBox 45"/>
          <p:cNvSpPr txBox="1"/>
          <p:nvPr/>
        </p:nvSpPr>
        <p:spPr>
          <a:xfrm>
            <a:off x="8391525" y="4101263"/>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Scale Premade Pouches &amp; Bags (8.3%), 8,610 US$ Mn headroom.</a:t>
            </a:r>
          </a:p>
        </p:txBody>
      </p:sp>
      <p:cxnSp>
        <p:nvCxnSpPr>
          <p:cNvPr id="47" name="Connector 46"/>
          <p:cNvCxnSpPr/>
          <p:nvPr/>
        </p:nvCxnSpPr>
        <p:spPr>
          <a:xfrm>
            <a:off x="142875" y="4584986"/>
            <a:ext cx="11906250" cy="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200025" y="4603240"/>
            <a:ext cx="3810000" cy="182537"/>
          </a:xfrm>
          <a:prstGeom prst="rect">
            <a:avLst/>
          </a:prstGeom>
          <a:noFill/>
        </p:spPr>
        <p:txBody>
          <a:bodyPr wrap="square" lIns="28575" rIns="28575" tIns="9525" bIns="9525" anchor="ctr">
            <a:spAutoFit/>
          </a:bodyPr>
          <a:lstStyle/>
          <a:p>
            <a:pPr algn="l"/>
            <a:r>
              <a:rPr sz="1100" b="0">
                <a:solidFill>
                  <a:srgbClr val="6C7A89"/>
                </a:solidFill>
                <a:latin typeface="Calibri"/>
              </a:rPr>
              <a:t>Source: FMI Analysis, 2026</a:t>
            </a:r>
          </a:p>
        </p:txBody>
      </p:sp>
      <p:sp>
        <p:nvSpPr>
          <p:cNvPr id="49" name="Rounded Rectangle 48"/>
          <p:cNvSpPr/>
          <p:nvPr/>
        </p:nvSpPr>
        <p:spPr>
          <a:xfrm>
            <a:off x="142875" y="4858791"/>
            <a:ext cx="11906250" cy="994827"/>
          </a:xfrm>
          <a:prstGeom prst="roundRect">
            <a:avLst>
              <a:gd name="adj" fmla="val 479"/>
            </a:avLst>
          </a:prstGeom>
          <a:solidFill>
            <a:srgbClr val="FFFFFF"/>
          </a:solidFill>
          <a:ln w="1270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76225" y="4895299"/>
            <a:ext cx="3810000" cy="219044"/>
          </a:xfrm>
          <a:prstGeom prst="rect">
            <a:avLst/>
          </a:prstGeom>
          <a:noFill/>
        </p:spPr>
        <p:txBody>
          <a:bodyPr wrap="square" lIns="28575" rIns="28575" tIns="9525" bIns="9525" anchor="ctr">
            <a:spAutoFit/>
          </a:bodyPr>
          <a:lstStyle/>
          <a:p>
            <a:pPr algn="l"/>
            <a:r>
              <a:rPr sz="1200" b="1">
                <a:solidFill>
                  <a:srgbClr val="0B2E4A"/>
                </a:solidFill>
                <a:latin typeface="Calibri"/>
              </a:rPr>
              <a:t>KEY TAKEAWAY</a:t>
            </a:r>
          </a:p>
        </p:txBody>
      </p:sp>
      <p:cxnSp>
        <p:nvCxnSpPr>
          <p:cNvPr id="51" name="Connector 50"/>
          <p:cNvCxnSpPr/>
          <p:nvPr/>
        </p:nvCxnSpPr>
        <p:spPr>
          <a:xfrm>
            <a:off x="276225" y="5132597"/>
            <a:ext cx="11639550" cy="0"/>
          </a:xfrm>
          <a:prstGeom prst="line">
            <a:avLst/>
          </a:prstGeom>
          <a:ln w="15875">
            <a:solidFill>
              <a:srgbClr val="0B2E4A"/>
            </a:solidFill>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276225" y="5187358"/>
            <a:ext cx="1152525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East Asia, North America, Europe anchor scale with a combined 72.9% of Global value in 2036, while 'Middle East &amp; Africa' offers the steepest upside at 8.3% CAGR against a market pace of 6.6%. 4 of 6 regions grow at or above that pace, so entry logic has to differ by region scale defence in the leaders, mix and premiumisation in the mid-tier, and availability-led expansion in the fastest movers.</a:t>
            </a:r>
          </a:p>
        </p:txBody>
      </p:sp>
      <p:sp>
        <p:nvSpPr>
          <p:cNvPr id="53" name="TextBox 5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Flexible Plastic Packaging Market Global Driving Factors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economic and supply-side factors scored by their impact on the global market</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Oval 10"/>
          <p:cNvSpPr/>
          <p:nvPr/>
        </p:nvSpPr>
        <p:spPr>
          <a:xfrm>
            <a:off x="2381250" y="1609633"/>
            <a:ext cx="4762500" cy="4563424"/>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619375" y="1837804"/>
            <a:ext cx="4286250" cy="410708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857500" y="2065976"/>
            <a:ext cx="3810000" cy="3650740"/>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95625" y="2294147"/>
            <a:ext cx="3333750" cy="3194397"/>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333750" y="2522318"/>
            <a:ext cx="2857500" cy="2738055"/>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71875" y="2750489"/>
            <a:ext cx="2381250" cy="228171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810000" y="2978660"/>
            <a:ext cx="1905000" cy="1825370"/>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048125" y="3206832"/>
            <a:ext cx="1428750" cy="1369027"/>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286250" y="3435003"/>
            <a:ext cx="952500" cy="912685"/>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524375" y="3663174"/>
            <a:ext cx="476250" cy="45634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flipV="1">
            <a:off x="4762500" y="1609633"/>
            <a:ext cx="0" cy="228171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3729314" y="1835594"/>
            <a:ext cx="1033186" cy="205575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2900764" y="2468721"/>
            <a:ext cx="1861736" cy="1422624"/>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440953" y="3383617"/>
            <a:ext cx="2321547" cy="507729"/>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2440953" y="3891345"/>
            <a:ext cx="2321547" cy="507729"/>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2900764" y="3891345"/>
            <a:ext cx="1861736" cy="1422624"/>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3729314" y="3891345"/>
            <a:ext cx="1033186" cy="205575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762500" y="3891345"/>
            <a:ext cx="0" cy="228171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sp>
        <p:nvSpPr>
          <p:cNvPr id="29" name="Freeform 28"/>
          <p:cNvSpPr/>
          <p:nvPr/>
        </p:nvSpPr>
        <p:spPr>
          <a:xfrm>
            <a:off x="2438400" y="2394542"/>
            <a:ext cx="2324100" cy="2801943"/>
          </a:xfrm>
          <a:custGeom>
            <a:avLst/>
            <a:gdLst/>
            <a:ahLst/>
            <a:cxnLst/>
            <a:rect l="l" t="t" r="r" b="b"/>
            <a:pathLst>
              <a:path w="244" h="307">
                <a:moveTo>
                  <a:pt x="244" y="0"/>
                </a:moveTo>
                <a:lnTo>
                  <a:pt x="168" y="5"/>
                </a:lnTo>
                <a:lnTo>
                  <a:pt x="80" y="33"/>
                </a:lnTo>
                <a:lnTo>
                  <a:pt x="115" y="134"/>
                </a:lnTo>
                <a:lnTo>
                  <a:pt x="0" y="220"/>
                </a:lnTo>
                <a:lnTo>
                  <a:pt x="118" y="264"/>
                </a:lnTo>
                <a:lnTo>
                  <a:pt x="230" y="192"/>
                </a:lnTo>
                <a:lnTo>
                  <a:pt x="244" y="307"/>
                </a:lnTo>
              </a:path>
            </a:pathLst>
          </a:custGeom>
          <a:noFill/>
          <a:ln w="31750">
            <a:solidFill>
              <a:srgbClr val="0F5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714875" y="1563999"/>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400300" y="1281067"/>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Production Scale-up  13.0%</a:t>
            </a:r>
          </a:p>
        </p:txBody>
      </p:sp>
      <p:sp>
        <p:nvSpPr>
          <p:cNvPr id="32" name="Oval 31"/>
          <p:cNvSpPr/>
          <p:nvPr/>
        </p:nvSpPr>
        <p:spPr>
          <a:xfrm>
            <a:off x="3681689" y="1789960"/>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385456" y="1519681"/>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Input Cost Pressure  13.9%</a:t>
            </a:r>
          </a:p>
        </p:txBody>
      </p:sp>
      <p:sp>
        <p:nvSpPr>
          <p:cNvPr id="34" name="Oval 33"/>
          <p:cNvSpPr/>
          <p:nvPr/>
        </p:nvSpPr>
        <p:spPr>
          <a:xfrm>
            <a:off x="2853139" y="2423087"/>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10507" y="2270405"/>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Capacity Add  16.5%</a:t>
            </a:r>
          </a:p>
        </p:txBody>
      </p:sp>
      <p:sp>
        <p:nvSpPr>
          <p:cNvPr id="36" name="Oval 35"/>
          <p:cNvSpPr/>
          <p:nvPr/>
        </p:nvSpPr>
        <p:spPr>
          <a:xfrm>
            <a:off x="2393328" y="3337982"/>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4946" y="3236535"/>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Supply Concentration  10.5%</a:t>
            </a:r>
          </a:p>
        </p:txBody>
      </p:sp>
      <p:sp>
        <p:nvSpPr>
          <p:cNvPr id="38" name="Oval 37"/>
          <p:cNvSpPr/>
          <p:nvPr/>
        </p:nvSpPr>
        <p:spPr>
          <a:xfrm>
            <a:off x="2393328" y="4353440"/>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4946" y="4308858"/>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Geographic Spread  19.7%</a:t>
            </a:r>
          </a:p>
        </p:txBody>
      </p:sp>
      <p:sp>
        <p:nvSpPr>
          <p:cNvPr id="40" name="Oval 39"/>
          <p:cNvSpPr/>
          <p:nvPr/>
        </p:nvSpPr>
        <p:spPr>
          <a:xfrm>
            <a:off x="2853139" y="5268335"/>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10507" y="5274987"/>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Portfolio Breadth  12.7%</a:t>
            </a:r>
          </a:p>
        </p:txBody>
      </p:sp>
      <p:sp>
        <p:nvSpPr>
          <p:cNvPr id="42" name="Oval 41"/>
          <p:cNvSpPr/>
          <p:nvPr/>
        </p:nvSpPr>
        <p:spPr>
          <a:xfrm>
            <a:off x="3681689" y="5901463"/>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385456" y="6025711"/>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Route Depth  2.5%</a:t>
            </a:r>
          </a:p>
        </p:txBody>
      </p:sp>
      <p:sp>
        <p:nvSpPr>
          <p:cNvPr id="44" name="Oval 43"/>
          <p:cNvSpPr/>
          <p:nvPr/>
        </p:nvSpPr>
        <p:spPr>
          <a:xfrm>
            <a:off x="4714875" y="6127423"/>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400300" y="6264326"/>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Value Realisation  11.3%</a:t>
            </a:r>
          </a:p>
        </p:txBody>
      </p:sp>
      <p:sp>
        <p:nvSpPr>
          <p:cNvPr id="46" name="Rectangle 45"/>
          <p:cNvSpPr/>
          <p:nvPr/>
        </p:nvSpPr>
        <p:spPr>
          <a:xfrm>
            <a:off x="4762500" y="970754"/>
            <a:ext cx="7429500" cy="564039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MI Scale 0"/>
          <p:cNvSpPr txBox="1"/>
          <p:nvPr/>
        </p:nvSpPr>
        <p:spPr>
          <a:xfrm>
            <a:off x="4286250" y="3818331"/>
            <a:ext cx="419100" cy="146030"/>
          </a:xfrm>
          <a:prstGeom prst="rect">
            <a:avLst/>
          </a:prstGeom>
          <a:noFill/>
        </p:spPr>
        <p:txBody>
          <a:bodyPr wrap="none" lIns="0" rIns="0" tIns="0" bIns="0" anchor="ctr">
            <a:spAutoFit/>
          </a:bodyPr>
          <a:lstStyle/>
          <a:p>
            <a:pPr algn="r"/>
            <a:r>
              <a:rPr sz="1100" b="0">
                <a:solidFill>
                  <a:srgbClr val="6C7A89"/>
                </a:solidFill>
                <a:latin typeface="Calibri"/>
              </a:rPr>
              <a:t>0%</a:t>
            </a:r>
          </a:p>
        </p:txBody>
      </p:sp>
      <p:sp>
        <p:nvSpPr>
          <p:cNvPr id="48" name="FMI Scale 1"/>
          <p:cNvSpPr txBox="1"/>
          <p:nvPr/>
        </p:nvSpPr>
        <p:spPr>
          <a:xfrm>
            <a:off x="4286250" y="3590159"/>
            <a:ext cx="419100" cy="146030"/>
          </a:xfrm>
          <a:prstGeom prst="rect">
            <a:avLst/>
          </a:prstGeom>
          <a:noFill/>
        </p:spPr>
        <p:txBody>
          <a:bodyPr wrap="none" lIns="0" rIns="0" tIns="0" bIns="0" anchor="ctr">
            <a:spAutoFit/>
          </a:bodyPr>
          <a:lstStyle/>
          <a:p>
            <a:pPr algn="r"/>
            <a:r>
              <a:rPr sz="1100" b="0">
                <a:solidFill>
                  <a:srgbClr val="6C7A89"/>
                </a:solidFill>
                <a:latin typeface="Calibri"/>
              </a:rPr>
              <a:t>10%</a:t>
            </a:r>
          </a:p>
        </p:txBody>
      </p:sp>
      <p:sp>
        <p:nvSpPr>
          <p:cNvPr id="49" name="FMI Scale 2"/>
          <p:cNvSpPr txBox="1"/>
          <p:nvPr/>
        </p:nvSpPr>
        <p:spPr>
          <a:xfrm>
            <a:off x="4286250" y="3361988"/>
            <a:ext cx="419100" cy="146030"/>
          </a:xfrm>
          <a:prstGeom prst="rect">
            <a:avLst/>
          </a:prstGeom>
          <a:noFill/>
        </p:spPr>
        <p:txBody>
          <a:bodyPr wrap="none" lIns="0" rIns="0" tIns="0" bIns="0" anchor="ctr">
            <a:spAutoFit/>
          </a:bodyPr>
          <a:lstStyle/>
          <a:p>
            <a:pPr algn="r"/>
            <a:r>
              <a:rPr sz="1100" b="0">
                <a:solidFill>
                  <a:srgbClr val="6C7A89"/>
                </a:solidFill>
                <a:latin typeface="Calibri"/>
              </a:rPr>
              <a:t>20%</a:t>
            </a:r>
          </a:p>
        </p:txBody>
      </p:sp>
      <p:sp>
        <p:nvSpPr>
          <p:cNvPr id="50" name="FMI Scale 3"/>
          <p:cNvSpPr txBox="1"/>
          <p:nvPr/>
        </p:nvSpPr>
        <p:spPr>
          <a:xfrm>
            <a:off x="4286250" y="3133817"/>
            <a:ext cx="419100" cy="146030"/>
          </a:xfrm>
          <a:prstGeom prst="rect">
            <a:avLst/>
          </a:prstGeom>
          <a:noFill/>
        </p:spPr>
        <p:txBody>
          <a:bodyPr wrap="none" lIns="0" rIns="0" tIns="0" bIns="0" anchor="ctr">
            <a:spAutoFit/>
          </a:bodyPr>
          <a:lstStyle/>
          <a:p>
            <a:pPr algn="r"/>
            <a:r>
              <a:rPr sz="1100" b="0">
                <a:solidFill>
                  <a:srgbClr val="6C7A89"/>
                </a:solidFill>
                <a:latin typeface="Calibri"/>
              </a:rPr>
              <a:t>30%</a:t>
            </a:r>
          </a:p>
        </p:txBody>
      </p:sp>
      <p:sp>
        <p:nvSpPr>
          <p:cNvPr id="51" name="FMI Scale 4"/>
          <p:cNvSpPr txBox="1"/>
          <p:nvPr/>
        </p:nvSpPr>
        <p:spPr>
          <a:xfrm>
            <a:off x="4286250" y="2905646"/>
            <a:ext cx="419100" cy="146030"/>
          </a:xfrm>
          <a:prstGeom prst="rect">
            <a:avLst/>
          </a:prstGeom>
          <a:noFill/>
        </p:spPr>
        <p:txBody>
          <a:bodyPr wrap="none" lIns="0" rIns="0" tIns="0" bIns="0" anchor="ctr">
            <a:spAutoFit/>
          </a:bodyPr>
          <a:lstStyle/>
          <a:p>
            <a:pPr algn="r"/>
            <a:r>
              <a:rPr sz="1100" b="0">
                <a:solidFill>
                  <a:srgbClr val="6C7A89"/>
                </a:solidFill>
                <a:latin typeface="Calibri"/>
              </a:rPr>
              <a:t>40%</a:t>
            </a:r>
          </a:p>
        </p:txBody>
      </p:sp>
      <p:sp>
        <p:nvSpPr>
          <p:cNvPr id="52" name="FMI Scale 5"/>
          <p:cNvSpPr txBox="1"/>
          <p:nvPr/>
        </p:nvSpPr>
        <p:spPr>
          <a:xfrm>
            <a:off x="4286250" y="2677474"/>
            <a:ext cx="419100" cy="146030"/>
          </a:xfrm>
          <a:prstGeom prst="rect">
            <a:avLst/>
          </a:prstGeom>
          <a:noFill/>
        </p:spPr>
        <p:txBody>
          <a:bodyPr wrap="none" lIns="0" rIns="0" tIns="0" bIns="0" anchor="ctr">
            <a:spAutoFit/>
          </a:bodyPr>
          <a:lstStyle/>
          <a:p>
            <a:pPr algn="r"/>
            <a:r>
              <a:rPr sz="1100" b="0">
                <a:solidFill>
                  <a:srgbClr val="6C7A89"/>
                </a:solidFill>
                <a:latin typeface="Calibri"/>
              </a:rPr>
              <a:t>50%</a:t>
            </a:r>
          </a:p>
        </p:txBody>
      </p:sp>
      <p:sp>
        <p:nvSpPr>
          <p:cNvPr id="53" name="FMI Scale 6"/>
          <p:cNvSpPr txBox="1"/>
          <p:nvPr/>
        </p:nvSpPr>
        <p:spPr>
          <a:xfrm>
            <a:off x="4286250" y="2449303"/>
            <a:ext cx="419100" cy="146030"/>
          </a:xfrm>
          <a:prstGeom prst="rect">
            <a:avLst/>
          </a:prstGeom>
          <a:noFill/>
        </p:spPr>
        <p:txBody>
          <a:bodyPr wrap="none" lIns="0" rIns="0" tIns="0" bIns="0" anchor="ctr">
            <a:spAutoFit/>
          </a:bodyPr>
          <a:lstStyle/>
          <a:p>
            <a:pPr algn="r"/>
            <a:r>
              <a:rPr sz="1100" b="0">
                <a:solidFill>
                  <a:srgbClr val="6C7A89"/>
                </a:solidFill>
                <a:latin typeface="Calibri"/>
              </a:rPr>
              <a:t>60%</a:t>
            </a:r>
          </a:p>
        </p:txBody>
      </p:sp>
      <p:sp>
        <p:nvSpPr>
          <p:cNvPr id="54" name="FMI Scale 7"/>
          <p:cNvSpPr txBox="1"/>
          <p:nvPr/>
        </p:nvSpPr>
        <p:spPr>
          <a:xfrm>
            <a:off x="4286250" y="2221132"/>
            <a:ext cx="419100" cy="146030"/>
          </a:xfrm>
          <a:prstGeom prst="rect">
            <a:avLst/>
          </a:prstGeom>
          <a:noFill/>
        </p:spPr>
        <p:txBody>
          <a:bodyPr wrap="none" lIns="0" rIns="0" tIns="0" bIns="0" anchor="ctr">
            <a:spAutoFit/>
          </a:bodyPr>
          <a:lstStyle/>
          <a:p>
            <a:pPr algn="r"/>
            <a:r>
              <a:rPr sz="1100" b="0">
                <a:solidFill>
                  <a:srgbClr val="6C7A89"/>
                </a:solidFill>
                <a:latin typeface="Calibri"/>
              </a:rPr>
              <a:t>70%</a:t>
            </a:r>
          </a:p>
        </p:txBody>
      </p:sp>
      <p:sp>
        <p:nvSpPr>
          <p:cNvPr id="55" name="FMI Scale 8"/>
          <p:cNvSpPr txBox="1"/>
          <p:nvPr/>
        </p:nvSpPr>
        <p:spPr>
          <a:xfrm>
            <a:off x="4286250" y="1992961"/>
            <a:ext cx="419100" cy="146030"/>
          </a:xfrm>
          <a:prstGeom prst="rect">
            <a:avLst/>
          </a:prstGeom>
          <a:noFill/>
        </p:spPr>
        <p:txBody>
          <a:bodyPr wrap="none" lIns="0" rIns="0" tIns="0" bIns="0" anchor="ctr">
            <a:spAutoFit/>
          </a:bodyPr>
          <a:lstStyle/>
          <a:p>
            <a:pPr algn="r"/>
            <a:r>
              <a:rPr sz="1100" b="0">
                <a:solidFill>
                  <a:srgbClr val="6C7A89"/>
                </a:solidFill>
                <a:latin typeface="Calibri"/>
              </a:rPr>
              <a:t>80%</a:t>
            </a:r>
          </a:p>
        </p:txBody>
      </p:sp>
      <p:sp>
        <p:nvSpPr>
          <p:cNvPr id="56" name="FMI Scale 9"/>
          <p:cNvSpPr txBox="1"/>
          <p:nvPr/>
        </p:nvSpPr>
        <p:spPr>
          <a:xfrm>
            <a:off x="4286250" y="1764790"/>
            <a:ext cx="419100" cy="146030"/>
          </a:xfrm>
          <a:prstGeom prst="rect">
            <a:avLst/>
          </a:prstGeom>
          <a:noFill/>
        </p:spPr>
        <p:txBody>
          <a:bodyPr wrap="none" lIns="0" rIns="0" tIns="0" bIns="0" anchor="ctr">
            <a:spAutoFit/>
          </a:bodyPr>
          <a:lstStyle/>
          <a:p>
            <a:pPr algn="r"/>
            <a:r>
              <a:rPr sz="1100" b="0">
                <a:solidFill>
                  <a:srgbClr val="6C7A89"/>
                </a:solidFill>
                <a:latin typeface="Calibri"/>
              </a:rPr>
              <a:t>90%</a:t>
            </a:r>
          </a:p>
        </p:txBody>
      </p:sp>
      <p:sp>
        <p:nvSpPr>
          <p:cNvPr id="57" name="FMI Scale 10"/>
          <p:cNvSpPr txBox="1"/>
          <p:nvPr/>
        </p:nvSpPr>
        <p:spPr>
          <a:xfrm>
            <a:off x="4286250" y="1536618"/>
            <a:ext cx="419100" cy="146030"/>
          </a:xfrm>
          <a:prstGeom prst="rect">
            <a:avLst/>
          </a:prstGeom>
          <a:noFill/>
        </p:spPr>
        <p:txBody>
          <a:bodyPr wrap="none" lIns="0" rIns="0" tIns="0" bIns="0" anchor="ctr">
            <a:spAutoFit/>
          </a:bodyPr>
          <a:lstStyle/>
          <a:p>
            <a:pPr algn="r"/>
            <a:r>
              <a:rPr sz="1100" b="0">
                <a:solidFill>
                  <a:srgbClr val="6C7A89"/>
                </a:solidFill>
                <a:latin typeface="Calibri"/>
              </a:rPr>
              <a:t>100%</a:t>
            </a:r>
          </a:p>
        </p:txBody>
      </p:sp>
      <p:cxnSp>
        <p:nvCxnSpPr>
          <p:cNvPr id="58" name="Connector 57"/>
          <p:cNvCxnSpPr/>
          <p:nvPr/>
        </p:nvCxnSpPr>
        <p:spPr>
          <a:xfrm>
            <a:off x="4762500" y="1025515"/>
            <a:ext cx="0" cy="5549124"/>
          </a:xfrm>
          <a:prstGeom prst="line">
            <a:avLst/>
          </a:prstGeom>
          <a:ln w="12700">
            <a:solidFill>
              <a:srgbClr val="D5DBE1"/>
            </a:solidFill>
          </a:ln>
          <a:effectLst/>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4972050" y="1080276"/>
            <a:ext cx="7077075" cy="219044"/>
          </a:xfrm>
          <a:prstGeom prst="rect">
            <a:avLst/>
          </a:prstGeom>
          <a:noFill/>
        </p:spPr>
        <p:txBody>
          <a:bodyPr wrap="square" lIns="28575" rIns="28575" tIns="9525" bIns="9525" anchor="ctr">
            <a:spAutoFit/>
          </a:bodyPr>
          <a:lstStyle/>
          <a:p>
            <a:pPr algn="l"/>
            <a:r>
              <a:rPr sz="1200" b="1">
                <a:solidFill>
                  <a:srgbClr val="0B2E4A"/>
                </a:solidFill>
                <a:latin typeface="Calibri"/>
              </a:rPr>
              <a:t>Economic and Supply-side Factors</a:t>
            </a:r>
          </a:p>
        </p:txBody>
      </p:sp>
      <p:cxnSp>
        <p:nvCxnSpPr>
          <p:cNvPr id="60" name="Connector 59"/>
          <p:cNvCxnSpPr/>
          <p:nvPr/>
        </p:nvCxnSpPr>
        <p:spPr>
          <a:xfrm>
            <a:off x="4972050" y="1335828"/>
            <a:ext cx="7077075" cy="0"/>
          </a:xfrm>
          <a:prstGeom prst="line">
            <a:avLst/>
          </a:prstGeom>
          <a:ln w="31750">
            <a:solidFill>
              <a:srgbClr val="1F6FB4"/>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4972050" y="1427096"/>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Supply-side conditions are led by Geographic Spread (10.0/10), Capacity Add (8.4/10), Input Cost Pressure (7.0/10) on a 0-10 scale scored from the global dataset itself.</a:t>
            </a:r>
          </a:p>
        </p:txBody>
      </p:sp>
      <p:sp>
        <p:nvSpPr>
          <p:cNvPr id="62" name="TextBox 61"/>
          <p:cNvSpPr txBox="1"/>
          <p:nvPr/>
        </p:nvSpPr>
        <p:spPr>
          <a:xfrm>
            <a:off x="4972050" y="1883439"/>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Volume expands at 5.3% CAGR (2026–2036) while average realisation moves 1.2% a year the balance of those two sets the cost-pass-through picture.</a:t>
            </a:r>
          </a:p>
        </p:txBody>
      </p:sp>
      <p:sp>
        <p:nvSpPr>
          <p:cNvPr id="63" name="TextBox 62"/>
          <p:cNvSpPr txBox="1"/>
          <p:nvPr/>
        </p:nvSpPr>
        <p:spPr>
          <a:xfrm>
            <a:off x="4972050" y="2339781"/>
            <a:ext cx="70770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Supply is dispersed: 'East Asia' holds 26.5% of 2036 value across 6 regions.</a:t>
            </a:r>
          </a:p>
        </p:txBody>
      </p:sp>
      <p:sp>
        <p:nvSpPr>
          <p:cNvPr id="64" name="TextBox 63"/>
          <p:cNvSpPr txBox="1"/>
          <p:nvPr/>
        </p:nvSpPr>
        <p:spPr>
          <a:xfrm>
            <a:off x="4972050" y="2613586"/>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Portfolio breadth spans 4 product type lines and 2 application routes, giving producers focused reformulation and channel latitude.</a:t>
            </a:r>
          </a:p>
        </p:txBody>
      </p:sp>
      <p:sp>
        <p:nvSpPr>
          <p:cNvPr id="65" name="TextBox 64"/>
          <p:cNvSpPr txBox="1"/>
          <p:nvPr/>
        </p:nvSpPr>
        <p:spPr>
          <a:xfrm>
            <a:off x="4972050" y="3069929"/>
            <a:ext cx="70770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Capacity added between 2026 and 2036 is worth 112,862 US$ Mn, a 1.9× expansion on the 2026 base.</a:t>
            </a:r>
          </a:p>
        </p:txBody>
      </p:sp>
      <p:sp>
        <p:nvSpPr>
          <p:cNvPr id="66" name="TextBox 65"/>
          <p:cNvSpPr txBox="1"/>
          <p:nvPr/>
        </p:nvSpPr>
        <p:spPr>
          <a:xfrm>
            <a:off x="4972050" y="3343734"/>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Note: the dynamics framing is indicative factors, impact ratings and narrative are generated from the loaded dataset's own values.</a:t>
            </a:r>
          </a:p>
        </p:txBody>
      </p:sp>
      <p:sp>
        <p:nvSpPr>
          <p:cNvPr id="67" name="TextBox 6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Flexible Plastic Packaging Market Global Driving Factors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demand-side factors scored by their impact on the global market</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Oval 10"/>
          <p:cNvSpPr/>
          <p:nvPr/>
        </p:nvSpPr>
        <p:spPr>
          <a:xfrm>
            <a:off x="5048250" y="1609633"/>
            <a:ext cx="4762500" cy="4563424"/>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286375" y="1837804"/>
            <a:ext cx="4286250" cy="410708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524500" y="2065976"/>
            <a:ext cx="3810000" cy="3650740"/>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762625" y="2294147"/>
            <a:ext cx="3333750" cy="3194397"/>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000750" y="2522318"/>
            <a:ext cx="2857500" cy="2738055"/>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38875" y="2750489"/>
            <a:ext cx="2381250" cy="228171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77000" y="2978660"/>
            <a:ext cx="1905000" cy="1825370"/>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715125" y="3206832"/>
            <a:ext cx="1428750" cy="1369027"/>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953250" y="3435003"/>
            <a:ext cx="952500" cy="912685"/>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191375" y="3663174"/>
            <a:ext cx="476250" cy="45634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flipV="1">
            <a:off x="7429500" y="1609633"/>
            <a:ext cx="0" cy="228171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7429500" y="1835594"/>
            <a:ext cx="1033186" cy="205575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7429500" y="2468721"/>
            <a:ext cx="1861736" cy="1422624"/>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7429500" y="3383617"/>
            <a:ext cx="2321547" cy="507729"/>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429500" y="3891345"/>
            <a:ext cx="2321547" cy="507729"/>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429500" y="3891345"/>
            <a:ext cx="1861736" cy="1422624"/>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429500" y="3891345"/>
            <a:ext cx="1033186" cy="205575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9500" y="3891345"/>
            <a:ext cx="0" cy="228171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sp>
        <p:nvSpPr>
          <p:cNvPr id="29" name="Freeform 28"/>
          <p:cNvSpPr/>
          <p:nvPr/>
        </p:nvSpPr>
        <p:spPr>
          <a:xfrm>
            <a:off x="7429500" y="2394542"/>
            <a:ext cx="1571625" cy="3157890"/>
          </a:xfrm>
          <a:custGeom>
            <a:avLst/>
            <a:gdLst/>
            <a:ahLst/>
            <a:cxnLst/>
            <a:rect l="l" t="t" r="r" b="b"/>
            <a:pathLst>
              <a:path w="165" h="346">
                <a:moveTo>
                  <a:pt x="0" y="0"/>
                </a:moveTo>
                <a:lnTo>
                  <a:pt x="78" y="3"/>
                </a:lnTo>
                <a:lnTo>
                  <a:pt x="24" y="145"/>
                </a:lnTo>
                <a:lnTo>
                  <a:pt x="130" y="134"/>
                </a:lnTo>
                <a:lnTo>
                  <a:pt x="165" y="202"/>
                </a:lnTo>
                <a:lnTo>
                  <a:pt x="111" y="252"/>
                </a:lnTo>
                <a:lnTo>
                  <a:pt x="88" y="346"/>
                </a:lnTo>
                <a:lnTo>
                  <a:pt x="0" y="218"/>
                </a:lnTo>
              </a:path>
            </a:pathLst>
          </a:custGeom>
          <a:noFill/>
          <a:ln w="31750">
            <a:solidFill>
              <a:srgbClr val="0F5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381875" y="1563999"/>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05700" y="1281067"/>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Demand Growth  15.2%</a:t>
            </a:r>
          </a:p>
        </p:txBody>
      </p:sp>
      <p:sp>
        <p:nvSpPr>
          <p:cNvPr id="32" name="Oval 31"/>
          <p:cNvSpPr/>
          <p:nvPr/>
        </p:nvSpPr>
        <p:spPr>
          <a:xfrm>
            <a:off x="8415061" y="1789960"/>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20544" y="1519681"/>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Premiumisation  16.6%</a:t>
            </a:r>
          </a:p>
        </p:txBody>
      </p:sp>
      <p:sp>
        <p:nvSpPr>
          <p:cNvPr id="34" name="Oval 33"/>
          <p:cNvSpPr/>
          <p:nvPr/>
        </p:nvSpPr>
        <p:spPr>
          <a:xfrm>
            <a:off x="9243611" y="2423087"/>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395493" y="2270405"/>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App. Breadth  2.9%</a:t>
            </a:r>
          </a:p>
        </p:txBody>
      </p:sp>
      <p:sp>
        <p:nvSpPr>
          <p:cNvPr id="36" name="Oval 35"/>
          <p:cNvSpPr/>
          <p:nvPr/>
        </p:nvSpPr>
        <p:spPr>
          <a:xfrm>
            <a:off x="9703422" y="3337982"/>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81054" y="3236535"/>
            <a:ext cx="2168071" cy="237298"/>
          </a:xfrm>
          <a:prstGeom prst="rect">
            <a:avLst/>
          </a:prstGeom>
          <a:noFill/>
        </p:spPr>
        <p:txBody>
          <a:bodyPr wrap="square" lIns="28575" rIns="28575" tIns="9525" bIns="9525" anchor="ctr">
            <a:spAutoFit/>
          </a:bodyPr>
          <a:lstStyle/>
          <a:p>
            <a:pPr algn="l"/>
            <a:r>
              <a:rPr sz="1100" b="0">
                <a:solidFill>
                  <a:srgbClr val="2E2E2E"/>
                </a:solidFill>
                <a:latin typeface="Calibri"/>
              </a:rPr>
              <a:t>Emerging Pull  12.4%</a:t>
            </a:r>
          </a:p>
        </p:txBody>
      </p:sp>
      <p:sp>
        <p:nvSpPr>
          <p:cNvPr id="38" name="Oval 37"/>
          <p:cNvSpPr/>
          <p:nvPr/>
        </p:nvSpPr>
        <p:spPr>
          <a:xfrm>
            <a:off x="9703422" y="4353440"/>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881054" y="4308858"/>
            <a:ext cx="2168071" cy="237298"/>
          </a:xfrm>
          <a:prstGeom prst="rect">
            <a:avLst/>
          </a:prstGeom>
          <a:noFill/>
        </p:spPr>
        <p:txBody>
          <a:bodyPr wrap="square" lIns="28575" rIns="28575" tIns="9525" bIns="9525" anchor="ctr">
            <a:spAutoFit/>
          </a:bodyPr>
          <a:lstStyle/>
          <a:p>
            <a:pPr algn="l"/>
            <a:r>
              <a:rPr sz="1100" b="0">
                <a:solidFill>
                  <a:srgbClr val="2E2E2E"/>
                </a:solidFill>
                <a:latin typeface="Calibri"/>
              </a:rPr>
              <a:t>Volume Momentum  15.7%</a:t>
            </a:r>
          </a:p>
        </p:txBody>
      </p:sp>
      <p:sp>
        <p:nvSpPr>
          <p:cNvPr id="40" name="Oval 39"/>
          <p:cNvSpPr/>
          <p:nvPr/>
        </p:nvSpPr>
        <p:spPr>
          <a:xfrm>
            <a:off x="9243611" y="5268335"/>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395493" y="5274987"/>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Category Maturity  13.2%</a:t>
            </a:r>
          </a:p>
        </p:txBody>
      </p:sp>
      <p:sp>
        <p:nvSpPr>
          <p:cNvPr id="42" name="Oval 41"/>
          <p:cNvSpPr/>
          <p:nvPr/>
        </p:nvSpPr>
        <p:spPr>
          <a:xfrm>
            <a:off x="8415061" y="5901463"/>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520544" y="6025711"/>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Adoption Depth  18.8%</a:t>
            </a:r>
          </a:p>
        </p:txBody>
      </p:sp>
      <p:sp>
        <p:nvSpPr>
          <p:cNvPr id="44" name="Oval 43"/>
          <p:cNvSpPr/>
          <p:nvPr/>
        </p:nvSpPr>
        <p:spPr>
          <a:xfrm>
            <a:off x="7381875" y="6127423"/>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505700" y="6264326"/>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Consumer Reach  5.0%</a:t>
            </a:r>
          </a:p>
        </p:txBody>
      </p:sp>
      <p:sp>
        <p:nvSpPr>
          <p:cNvPr id="46" name="Rectangle 45"/>
          <p:cNvSpPr/>
          <p:nvPr/>
        </p:nvSpPr>
        <p:spPr>
          <a:xfrm>
            <a:off x="0" y="970754"/>
            <a:ext cx="7429500" cy="564039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MI Scale 0"/>
          <p:cNvSpPr txBox="1"/>
          <p:nvPr/>
        </p:nvSpPr>
        <p:spPr>
          <a:xfrm>
            <a:off x="7486650" y="3818331"/>
            <a:ext cx="419100" cy="146030"/>
          </a:xfrm>
          <a:prstGeom prst="rect">
            <a:avLst/>
          </a:prstGeom>
          <a:noFill/>
        </p:spPr>
        <p:txBody>
          <a:bodyPr wrap="none" lIns="0" rIns="0" tIns="0" bIns="0" anchor="ctr">
            <a:spAutoFit/>
          </a:bodyPr>
          <a:lstStyle/>
          <a:p>
            <a:pPr algn="l"/>
            <a:r>
              <a:rPr sz="1100" b="0">
                <a:solidFill>
                  <a:srgbClr val="6C7A89"/>
                </a:solidFill>
                <a:latin typeface="Calibri"/>
              </a:rPr>
              <a:t>0%</a:t>
            </a:r>
          </a:p>
        </p:txBody>
      </p:sp>
      <p:sp>
        <p:nvSpPr>
          <p:cNvPr id="48" name="FMI Scale 1"/>
          <p:cNvSpPr txBox="1"/>
          <p:nvPr/>
        </p:nvSpPr>
        <p:spPr>
          <a:xfrm>
            <a:off x="7486650" y="3590159"/>
            <a:ext cx="419100" cy="146030"/>
          </a:xfrm>
          <a:prstGeom prst="rect">
            <a:avLst/>
          </a:prstGeom>
          <a:noFill/>
        </p:spPr>
        <p:txBody>
          <a:bodyPr wrap="none" lIns="0" rIns="0" tIns="0" bIns="0" anchor="ctr">
            <a:spAutoFit/>
          </a:bodyPr>
          <a:lstStyle/>
          <a:p>
            <a:pPr algn="l"/>
            <a:r>
              <a:rPr sz="1100" b="0">
                <a:solidFill>
                  <a:srgbClr val="6C7A89"/>
                </a:solidFill>
                <a:latin typeface="Calibri"/>
              </a:rPr>
              <a:t>10%</a:t>
            </a:r>
          </a:p>
        </p:txBody>
      </p:sp>
      <p:sp>
        <p:nvSpPr>
          <p:cNvPr id="49" name="FMI Scale 2"/>
          <p:cNvSpPr txBox="1"/>
          <p:nvPr/>
        </p:nvSpPr>
        <p:spPr>
          <a:xfrm>
            <a:off x="7486650" y="3361988"/>
            <a:ext cx="419100" cy="146030"/>
          </a:xfrm>
          <a:prstGeom prst="rect">
            <a:avLst/>
          </a:prstGeom>
          <a:noFill/>
        </p:spPr>
        <p:txBody>
          <a:bodyPr wrap="none" lIns="0" rIns="0" tIns="0" bIns="0" anchor="ctr">
            <a:spAutoFit/>
          </a:bodyPr>
          <a:lstStyle/>
          <a:p>
            <a:pPr algn="l"/>
            <a:r>
              <a:rPr sz="1100" b="0">
                <a:solidFill>
                  <a:srgbClr val="6C7A89"/>
                </a:solidFill>
                <a:latin typeface="Calibri"/>
              </a:rPr>
              <a:t>20%</a:t>
            </a:r>
          </a:p>
        </p:txBody>
      </p:sp>
      <p:sp>
        <p:nvSpPr>
          <p:cNvPr id="50" name="FMI Scale 3"/>
          <p:cNvSpPr txBox="1"/>
          <p:nvPr/>
        </p:nvSpPr>
        <p:spPr>
          <a:xfrm>
            <a:off x="7486650" y="3133817"/>
            <a:ext cx="419100" cy="146030"/>
          </a:xfrm>
          <a:prstGeom prst="rect">
            <a:avLst/>
          </a:prstGeom>
          <a:noFill/>
        </p:spPr>
        <p:txBody>
          <a:bodyPr wrap="none" lIns="0" rIns="0" tIns="0" bIns="0" anchor="ctr">
            <a:spAutoFit/>
          </a:bodyPr>
          <a:lstStyle/>
          <a:p>
            <a:pPr algn="l"/>
            <a:r>
              <a:rPr sz="1100" b="0">
                <a:solidFill>
                  <a:srgbClr val="6C7A89"/>
                </a:solidFill>
                <a:latin typeface="Calibri"/>
              </a:rPr>
              <a:t>30%</a:t>
            </a:r>
          </a:p>
        </p:txBody>
      </p:sp>
      <p:sp>
        <p:nvSpPr>
          <p:cNvPr id="51" name="FMI Scale 4"/>
          <p:cNvSpPr txBox="1"/>
          <p:nvPr/>
        </p:nvSpPr>
        <p:spPr>
          <a:xfrm>
            <a:off x="7486650" y="2905646"/>
            <a:ext cx="419100" cy="146030"/>
          </a:xfrm>
          <a:prstGeom prst="rect">
            <a:avLst/>
          </a:prstGeom>
          <a:noFill/>
        </p:spPr>
        <p:txBody>
          <a:bodyPr wrap="none" lIns="0" rIns="0" tIns="0" bIns="0" anchor="ctr">
            <a:spAutoFit/>
          </a:bodyPr>
          <a:lstStyle/>
          <a:p>
            <a:pPr algn="l"/>
            <a:r>
              <a:rPr sz="1100" b="0">
                <a:solidFill>
                  <a:srgbClr val="6C7A89"/>
                </a:solidFill>
                <a:latin typeface="Calibri"/>
              </a:rPr>
              <a:t>40%</a:t>
            </a:r>
          </a:p>
        </p:txBody>
      </p:sp>
      <p:sp>
        <p:nvSpPr>
          <p:cNvPr id="52" name="FMI Scale 5"/>
          <p:cNvSpPr txBox="1"/>
          <p:nvPr/>
        </p:nvSpPr>
        <p:spPr>
          <a:xfrm>
            <a:off x="7486650" y="2677474"/>
            <a:ext cx="419100" cy="146030"/>
          </a:xfrm>
          <a:prstGeom prst="rect">
            <a:avLst/>
          </a:prstGeom>
          <a:noFill/>
        </p:spPr>
        <p:txBody>
          <a:bodyPr wrap="none" lIns="0" rIns="0" tIns="0" bIns="0" anchor="ctr">
            <a:spAutoFit/>
          </a:bodyPr>
          <a:lstStyle/>
          <a:p>
            <a:pPr algn="l"/>
            <a:r>
              <a:rPr sz="1100" b="0">
                <a:solidFill>
                  <a:srgbClr val="6C7A89"/>
                </a:solidFill>
                <a:latin typeface="Calibri"/>
              </a:rPr>
              <a:t>50%</a:t>
            </a:r>
          </a:p>
        </p:txBody>
      </p:sp>
      <p:sp>
        <p:nvSpPr>
          <p:cNvPr id="53" name="FMI Scale 6"/>
          <p:cNvSpPr txBox="1"/>
          <p:nvPr/>
        </p:nvSpPr>
        <p:spPr>
          <a:xfrm>
            <a:off x="7486650" y="2449303"/>
            <a:ext cx="419100" cy="146030"/>
          </a:xfrm>
          <a:prstGeom prst="rect">
            <a:avLst/>
          </a:prstGeom>
          <a:noFill/>
        </p:spPr>
        <p:txBody>
          <a:bodyPr wrap="none" lIns="0" rIns="0" tIns="0" bIns="0" anchor="ctr">
            <a:spAutoFit/>
          </a:bodyPr>
          <a:lstStyle/>
          <a:p>
            <a:pPr algn="l"/>
            <a:r>
              <a:rPr sz="1100" b="0">
                <a:solidFill>
                  <a:srgbClr val="6C7A89"/>
                </a:solidFill>
                <a:latin typeface="Calibri"/>
              </a:rPr>
              <a:t>60%</a:t>
            </a:r>
          </a:p>
        </p:txBody>
      </p:sp>
      <p:sp>
        <p:nvSpPr>
          <p:cNvPr id="54" name="FMI Scale 7"/>
          <p:cNvSpPr txBox="1"/>
          <p:nvPr/>
        </p:nvSpPr>
        <p:spPr>
          <a:xfrm>
            <a:off x="7486650" y="2221132"/>
            <a:ext cx="419100" cy="146030"/>
          </a:xfrm>
          <a:prstGeom prst="rect">
            <a:avLst/>
          </a:prstGeom>
          <a:noFill/>
        </p:spPr>
        <p:txBody>
          <a:bodyPr wrap="none" lIns="0" rIns="0" tIns="0" bIns="0" anchor="ctr">
            <a:spAutoFit/>
          </a:bodyPr>
          <a:lstStyle/>
          <a:p>
            <a:pPr algn="l"/>
            <a:r>
              <a:rPr sz="1100" b="0">
                <a:solidFill>
                  <a:srgbClr val="6C7A89"/>
                </a:solidFill>
                <a:latin typeface="Calibri"/>
              </a:rPr>
              <a:t>70%</a:t>
            </a:r>
          </a:p>
        </p:txBody>
      </p:sp>
      <p:sp>
        <p:nvSpPr>
          <p:cNvPr id="55" name="FMI Scale 8"/>
          <p:cNvSpPr txBox="1"/>
          <p:nvPr/>
        </p:nvSpPr>
        <p:spPr>
          <a:xfrm>
            <a:off x="7486650" y="1992961"/>
            <a:ext cx="419100" cy="146030"/>
          </a:xfrm>
          <a:prstGeom prst="rect">
            <a:avLst/>
          </a:prstGeom>
          <a:noFill/>
        </p:spPr>
        <p:txBody>
          <a:bodyPr wrap="none" lIns="0" rIns="0" tIns="0" bIns="0" anchor="ctr">
            <a:spAutoFit/>
          </a:bodyPr>
          <a:lstStyle/>
          <a:p>
            <a:pPr algn="l"/>
            <a:r>
              <a:rPr sz="1100" b="0">
                <a:solidFill>
                  <a:srgbClr val="6C7A89"/>
                </a:solidFill>
                <a:latin typeface="Calibri"/>
              </a:rPr>
              <a:t>80%</a:t>
            </a:r>
          </a:p>
        </p:txBody>
      </p:sp>
      <p:sp>
        <p:nvSpPr>
          <p:cNvPr id="56" name="FMI Scale 9"/>
          <p:cNvSpPr txBox="1"/>
          <p:nvPr/>
        </p:nvSpPr>
        <p:spPr>
          <a:xfrm>
            <a:off x="7486650" y="1764790"/>
            <a:ext cx="419100" cy="146030"/>
          </a:xfrm>
          <a:prstGeom prst="rect">
            <a:avLst/>
          </a:prstGeom>
          <a:noFill/>
        </p:spPr>
        <p:txBody>
          <a:bodyPr wrap="none" lIns="0" rIns="0" tIns="0" bIns="0" anchor="ctr">
            <a:spAutoFit/>
          </a:bodyPr>
          <a:lstStyle/>
          <a:p>
            <a:pPr algn="l"/>
            <a:r>
              <a:rPr sz="1100" b="0">
                <a:solidFill>
                  <a:srgbClr val="6C7A89"/>
                </a:solidFill>
                <a:latin typeface="Calibri"/>
              </a:rPr>
              <a:t>90%</a:t>
            </a:r>
          </a:p>
        </p:txBody>
      </p:sp>
      <p:sp>
        <p:nvSpPr>
          <p:cNvPr id="57" name="FMI Scale 10"/>
          <p:cNvSpPr txBox="1"/>
          <p:nvPr/>
        </p:nvSpPr>
        <p:spPr>
          <a:xfrm>
            <a:off x="7486650" y="1536618"/>
            <a:ext cx="419100" cy="146030"/>
          </a:xfrm>
          <a:prstGeom prst="rect">
            <a:avLst/>
          </a:prstGeom>
          <a:noFill/>
        </p:spPr>
        <p:txBody>
          <a:bodyPr wrap="none" lIns="0" rIns="0" tIns="0" bIns="0" anchor="ctr">
            <a:spAutoFit/>
          </a:bodyPr>
          <a:lstStyle/>
          <a:p>
            <a:pPr algn="l"/>
            <a:r>
              <a:rPr sz="1100" b="0">
                <a:solidFill>
                  <a:srgbClr val="6C7A89"/>
                </a:solidFill>
                <a:latin typeface="Calibri"/>
              </a:rPr>
              <a:t>100%</a:t>
            </a:r>
          </a:p>
        </p:txBody>
      </p:sp>
      <p:cxnSp>
        <p:nvCxnSpPr>
          <p:cNvPr id="58" name="Connector 57"/>
          <p:cNvCxnSpPr/>
          <p:nvPr/>
        </p:nvCxnSpPr>
        <p:spPr>
          <a:xfrm>
            <a:off x="7429500" y="1025515"/>
            <a:ext cx="0" cy="5549124"/>
          </a:xfrm>
          <a:prstGeom prst="line">
            <a:avLst/>
          </a:prstGeom>
          <a:ln w="12700">
            <a:solidFill>
              <a:srgbClr val="D5DBE1"/>
            </a:solidFill>
          </a:ln>
          <a:effectLst/>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180975" y="1080276"/>
            <a:ext cx="7038975" cy="219044"/>
          </a:xfrm>
          <a:prstGeom prst="rect">
            <a:avLst/>
          </a:prstGeom>
          <a:noFill/>
        </p:spPr>
        <p:txBody>
          <a:bodyPr wrap="square" lIns="28575" rIns="28575" tIns="9525" bIns="9525" anchor="ctr">
            <a:spAutoFit/>
          </a:bodyPr>
          <a:lstStyle/>
          <a:p>
            <a:pPr algn="l"/>
            <a:r>
              <a:rPr sz="1200" b="1">
                <a:solidFill>
                  <a:srgbClr val="0B2E4A"/>
                </a:solidFill>
                <a:latin typeface="Calibri"/>
              </a:rPr>
              <a:t>Demand-side Factors</a:t>
            </a:r>
          </a:p>
        </p:txBody>
      </p:sp>
      <p:cxnSp>
        <p:nvCxnSpPr>
          <p:cNvPr id="60" name="Connector 59"/>
          <p:cNvCxnSpPr/>
          <p:nvPr/>
        </p:nvCxnSpPr>
        <p:spPr>
          <a:xfrm>
            <a:off x="180975" y="1335828"/>
            <a:ext cx="7038975" cy="0"/>
          </a:xfrm>
          <a:prstGeom prst="line">
            <a:avLst/>
          </a:prstGeom>
          <a:ln w="31750">
            <a:solidFill>
              <a:srgbClr val="1F6FB4"/>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80975" y="1427096"/>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Demand-side conditions are led by Adoption Depth (8.1/10), Premiumisation (7.1/10), Volume Momentum (6.8/10) on a 0-10 scale scored from the global dataset itself.</a:t>
            </a:r>
          </a:p>
        </p:txBody>
      </p:sp>
      <p:sp>
        <p:nvSpPr>
          <p:cNvPr id="62" name="TextBox 61"/>
          <p:cNvSpPr txBox="1"/>
          <p:nvPr/>
        </p:nvSpPr>
        <p:spPr>
          <a:xfrm>
            <a:off x="180975" y="1883439"/>
            <a:ext cx="70389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Value grows at 6.6% against volume at 5.3% a premiumising market through 2036.</a:t>
            </a:r>
          </a:p>
        </p:txBody>
      </p:sp>
      <p:sp>
        <p:nvSpPr>
          <p:cNvPr id="63" name="TextBox 62"/>
          <p:cNvSpPr txBox="1"/>
          <p:nvPr/>
        </p:nvSpPr>
        <p:spPr>
          <a:xfrm>
            <a:off x="180975" y="2157244"/>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'Rollstock Films' carries 53.6% of product type demand while 'Premade Pouches &amp; Bags' compounds fastest at 6.7%.</a:t>
            </a:r>
          </a:p>
        </p:txBody>
      </p:sp>
      <p:sp>
        <p:nvSpPr>
          <p:cNvPr id="64" name="TextBox 63"/>
          <p:cNvSpPr txBox="1"/>
          <p:nvPr/>
        </p:nvSpPr>
        <p:spPr>
          <a:xfrm>
            <a:off x="180975" y="2613586"/>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Pull is strongest in 'Middle East &amp; Africa' (8.3% CAGR, +171 BPS versus the market), with 4 of 6 regions at or above pace.</a:t>
            </a:r>
          </a:p>
        </p:txBody>
      </p:sp>
      <p:sp>
        <p:nvSpPr>
          <p:cNvPr id="65" name="TextBox 64"/>
          <p:cNvSpPr txBox="1"/>
          <p:nvPr/>
        </p:nvSpPr>
        <p:spPr>
          <a:xfrm>
            <a:off x="180975" y="3069929"/>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Reach runs through 2 application routes, led by 'Food Packaging' at 83.7% and with 'Food Packaging' growing fastest at 6.6%.</a:t>
            </a:r>
          </a:p>
        </p:txBody>
      </p:sp>
      <p:sp>
        <p:nvSpPr>
          <p:cNvPr id="66" name="TextBox 65"/>
          <p:cNvSpPr txBox="1"/>
          <p:nvPr/>
        </p:nvSpPr>
        <p:spPr>
          <a:xfrm>
            <a:off x="180975" y="3526271"/>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Note: the dynamics framing is indicative factors, impact ratings and narrative are generated from the loaded dataset's own values.</a:t>
            </a:r>
          </a:p>
        </p:txBody>
      </p:sp>
      <p:sp>
        <p:nvSpPr>
          <p:cNvPr id="67" name="TextBox 6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Flexible Plastic Packaging Market Restraints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key restraints on the global market and the likelihood of their impact across 2021–2036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1025515"/>
            <a:ext cx="2038350" cy="255552"/>
          </a:xfrm>
          <a:prstGeom prst="roundRect">
            <a:avLst>
              <a:gd name="adj" fmla="val 1869"/>
            </a:avLst>
          </a:prstGeom>
          <a:solidFill>
            <a:srgbClr val="C0603A"/>
          </a:solidFill>
          <a:ln w="12700">
            <a:solidFill>
              <a:srgbClr val="C06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2875" y="1025515"/>
            <a:ext cx="2038350" cy="255552"/>
          </a:xfrm>
          <a:prstGeom prst="rect">
            <a:avLst/>
          </a:prstGeom>
          <a:noFill/>
        </p:spPr>
        <p:txBody>
          <a:bodyPr wrap="square" lIns="28575" rIns="28575" tIns="9525" bIns="9525" anchor="ctr">
            <a:spAutoFit/>
          </a:bodyPr>
          <a:lstStyle/>
          <a:p>
            <a:pPr algn="ctr"/>
            <a:r>
              <a:rPr sz="1100" b="1">
                <a:solidFill>
                  <a:srgbClr val="FFFFFF"/>
                </a:solidFill>
                <a:latin typeface="Calibri"/>
              </a:rPr>
              <a:t>Market Restraints</a:t>
            </a:r>
          </a:p>
        </p:txBody>
      </p:sp>
      <p:sp>
        <p:nvSpPr>
          <p:cNvPr id="13" name="Rectangle 12"/>
          <p:cNvSpPr/>
          <p:nvPr/>
        </p:nvSpPr>
        <p:spPr>
          <a:xfrm>
            <a:off x="142875" y="1390589"/>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139058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Sachets &amp; Stick Packs Lags the Category and Dilutes Blended Growth</a:t>
            </a:r>
          </a:p>
        </p:txBody>
      </p:sp>
      <p:sp>
        <p:nvSpPr>
          <p:cNvPr id="15" name="TextBox 14"/>
          <p:cNvSpPr txBox="1"/>
          <p:nvPr/>
        </p:nvSpPr>
        <p:spPr>
          <a:xfrm>
            <a:off x="161925" y="1700902"/>
            <a:ext cx="9439275"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'Sachets &amp; Stick Packs' grows at only 6.3% CAGR against the market's 6.6%, a -23 BPS gap, and 'Rollstock Films' surrenders 25 BPS of product type share between 2026 and 2036. Because these lines still carry meaningful volume, the drag is absorbed by the whole category: blended growth sits below what the leading lines achieve on their own. Rationalising or repositioning the lagging end of a 4-line portfolio is therefore a precondition for realising the headline forecast.</a:t>
            </a:r>
          </a:p>
        </p:txBody>
      </p:sp>
      <p:sp>
        <p:nvSpPr>
          <p:cNvPr id="16" name="TextBox 15"/>
          <p:cNvSpPr txBox="1"/>
          <p:nvPr/>
        </p:nvSpPr>
        <p:spPr>
          <a:xfrm>
            <a:off x="9810750" y="139058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17" name="TextBox 16"/>
          <p:cNvSpPr txBox="1"/>
          <p:nvPr/>
        </p:nvSpPr>
        <p:spPr>
          <a:xfrm>
            <a:off x="981075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18" name="Rectangle 17"/>
          <p:cNvSpPr/>
          <p:nvPr/>
        </p:nvSpPr>
        <p:spPr>
          <a:xfrm>
            <a:off x="981075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1075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20" name="TextBox 19"/>
          <p:cNvSpPr txBox="1"/>
          <p:nvPr/>
        </p:nvSpPr>
        <p:spPr>
          <a:xfrm>
            <a:off x="1089660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21" name="Rectangle 20"/>
          <p:cNvSpPr/>
          <p:nvPr/>
        </p:nvSpPr>
        <p:spPr>
          <a:xfrm>
            <a:off x="10896600" y="1938200"/>
            <a:ext cx="990600" cy="310313"/>
          </a:xfrm>
          <a:prstGeom prst="rect">
            <a:avLst/>
          </a:prstGeom>
          <a:solidFill>
            <a:srgbClr val="FBF0C4"/>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89660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23" name="TextBox 22"/>
          <p:cNvSpPr txBox="1"/>
          <p:nvPr/>
        </p:nvSpPr>
        <p:spPr>
          <a:xfrm>
            <a:off x="981075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24" name="Rectangle 23"/>
          <p:cNvSpPr/>
          <p:nvPr/>
        </p:nvSpPr>
        <p:spPr>
          <a:xfrm>
            <a:off x="981075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10750" y="245843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26" name="TextBox 25"/>
          <p:cNvSpPr txBox="1"/>
          <p:nvPr/>
        </p:nvSpPr>
        <p:spPr>
          <a:xfrm>
            <a:off x="1089660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27" name="Rectangle 26"/>
          <p:cNvSpPr/>
          <p:nvPr/>
        </p:nvSpPr>
        <p:spPr>
          <a:xfrm>
            <a:off x="1089660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896600" y="245843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cxnSp>
        <p:nvCxnSpPr>
          <p:cNvPr id="29" name="Connector 28"/>
          <p:cNvCxnSpPr/>
          <p:nvPr/>
        </p:nvCxnSpPr>
        <p:spPr>
          <a:xfrm>
            <a:off x="142875" y="3088183"/>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142875" y="3142944"/>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6225" y="3142944"/>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Uneven Region Performance Caps the Blended Rate</a:t>
            </a:r>
          </a:p>
        </p:txBody>
      </p:sp>
      <p:sp>
        <p:nvSpPr>
          <p:cNvPr id="32" name="TextBox 31"/>
          <p:cNvSpPr txBox="1"/>
          <p:nvPr/>
        </p:nvSpPr>
        <p:spPr>
          <a:xfrm>
            <a:off x="161925" y="3453257"/>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'North America' grows at just 5.6% CAGR -95 BPS against the market and 2 of 6 regions sit below the market pace altogether. Demand is therefore not uniformly available: suppliers carrying a broad geographic footprint fund presence in slow regions out of returns earned in the fast ones. With 'East Asia' at 26.5% of value, a shortfall in a single leading region is difficult to offset elsewhere in the forecast window.</a:t>
            </a:r>
          </a:p>
        </p:txBody>
      </p:sp>
      <p:sp>
        <p:nvSpPr>
          <p:cNvPr id="33" name="TextBox 32"/>
          <p:cNvSpPr txBox="1"/>
          <p:nvPr/>
        </p:nvSpPr>
        <p:spPr>
          <a:xfrm>
            <a:off x="9810750" y="3142944"/>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34" name="TextBox 33"/>
          <p:cNvSpPr txBox="1"/>
          <p:nvPr/>
        </p:nvSpPr>
        <p:spPr>
          <a:xfrm>
            <a:off x="981075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35" name="Rectangle 34"/>
          <p:cNvSpPr/>
          <p:nvPr/>
        </p:nvSpPr>
        <p:spPr>
          <a:xfrm>
            <a:off x="981075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810750" y="369055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37" name="TextBox 36"/>
          <p:cNvSpPr txBox="1"/>
          <p:nvPr/>
        </p:nvSpPr>
        <p:spPr>
          <a:xfrm>
            <a:off x="1089660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38" name="Rectangle 37"/>
          <p:cNvSpPr/>
          <p:nvPr/>
        </p:nvSpPr>
        <p:spPr>
          <a:xfrm>
            <a:off x="1089660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896600" y="369055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40" name="TextBox 39"/>
          <p:cNvSpPr txBox="1"/>
          <p:nvPr/>
        </p:nvSpPr>
        <p:spPr>
          <a:xfrm>
            <a:off x="981075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41" name="Rectangle 40"/>
          <p:cNvSpPr/>
          <p:nvPr/>
        </p:nvSpPr>
        <p:spPr>
          <a:xfrm>
            <a:off x="9810750" y="4210785"/>
            <a:ext cx="990600" cy="310313"/>
          </a:xfrm>
          <a:prstGeom prst="rect">
            <a:avLst/>
          </a:prstGeom>
          <a:solidFill>
            <a:srgbClr val="F2C94C"/>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810750" y="421078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43" name="TextBox 42"/>
          <p:cNvSpPr txBox="1"/>
          <p:nvPr/>
        </p:nvSpPr>
        <p:spPr>
          <a:xfrm>
            <a:off x="1089660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44" name="Rectangle 43"/>
          <p:cNvSpPr/>
          <p:nvPr/>
        </p:nvSpPr>
        <p:spPr>
          <a:xfrm>
            <a:off x="1089660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896600" y="421078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cxnSp>
        <p:nvCxnSpPr>
          <p:cNvPr id="46" name="Connector 45"/>
          <p:cNvCxnSpPr/>
          <p:nvPr/>
        </p:nvCxnSpPr>
        <p:spPr>
          <a:xfrm>
            <a:off x="142875" y="4840538"/>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142875" y="4895299"/>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76225" y="489529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Concentration Risk Limits Pricing and Sourcing Flexibility</a:t>
            </a:r>
          </a:p>
        </p:txBody>
      </p:sp>
      <p:sp>
        <p:nvSpPr>
          <p:cNvPr id="49" name="TextBox 48"/>
          <p:cNvSpPr txBox="1"/>
          <p:nvPr/>
        </p:nvSpPr>
        <p:spPr>
          <a:xfrm>
            <a:off x="161925" y="5205612"/>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The market is concentrated: 'East Asia' accounts for 26.5% of 2036 value and the leading product type line for 53.6% of its segment. Average realisation moves 1.2% a year, so cost movements cannot be passed on evenly across 6 regions. The practical constraint is the same in either case commercial terms set for the market as a whole underserve part of it, and margin is lost in the mismatch rather than in the headline growth rate.</a:t>
            </a:r>
          </a:p>
        </p:txBody>
      </p:sp>
      <p:sp>
        <p:nvSpPr>
          <p:cNvPr id="50" name="TextBox 49"/>
          <p:cNvSpPr txBox="1"/>
          <p:nvPr/>
        </p:nvSpPr>
        <p:spPr>
          <a:xfrm>
            <a:off x="9810750" y="489529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51" name="TextBox 50"/>
          <p:cNvSpPr txBox="1"/>
          <p:nvPr/>
        </p:nvSpPr>
        <p:spPr>
          <a:xfrm>
            <a:off x="981075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52" name="Rectangle 51"/>
          <p:cNvSpPr/>
          <p:nvPr/>
        </p:nvSpPr>
        <p:spPr>
          <a:xfrm>
            <a:off x="981075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81075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4" name="TextBox 53"/>
          <p:cNvSpPr txBox="1"/>
          <p:nvPr/>
        </p:nvSpPr>
        <p:spPr>
          <a:xfrm>
            <a:off x="1089660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55" name="Rectangle 54"/>
          <p:cNvSpPr/>
          <p:nvPr/>
        </p:nvSpPr>
        <p:spPr>
          <a:xfrm>
            <a:off x="1089660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89660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7" name="TextBox 56"/>
          <p:cNvSpPr txBox="1"/>
          <p:nvPr/>
        </p:nvSpPr>
        <p:spPr>
          <a:xfrm>
            <a:off x="981075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58" name="Rectangle 57"/>
          <p:cNvSpPr/>
          <p:nvPr/>
        </p:nvSpPr>
        <p:spPr>
          <a:xfrm>
            <a:off x="981075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81075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60" name="TextBox 59"/>
          <p:cNvSpPr txBox="1"/>
          <p:nvPr/>
        </p:nvSpPr>
        <p:spPr>
          <a:xfrm>
            <a:off x="1089660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61" name="Rectangle 60"/>
          <p:cNvSpPr/>
          <p:nvPr/>
        </p:nvSpPr>
        <p:spPr>
          <a:xfrm>
            <a:off x="10896600" y="5963140"/>
            <a:ext cx="990600" cy="310313"/>
          </a:xfrm>
          <a:prstGeom prst="rect">
            <a:avLst/>
          </a:prstGeom>
          <a:solidFill>
            <a:srgbClr val="C99A0A"/>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089660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63" name="TextBox 6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Flexible Plastic Packaging Market Opportunities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key opportunities in the global market and the likelihood of their impact across 2021–2036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1025515"/>
            <a:ext cx="2038350" cy="255552"/>
          </a:xfrm>
          <a:prstGeom prst="roundRect">
            <a:avLst>
              <a:gd name="adj" fmla="val 1869"/>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2875" y="1025515"/>
            <a:ext cx="2038350" cy="255552"/>
          </a:xfrm>
          <a:prstGeom prst="rect">
            <a:avLst/>
          </a:prstGeom>
          <a:noFill/>
        </p:spPr>
        <p:txBody>
          <a:bodyPr wrap="square" lIns="28575" rIns="28575" tIns="9525" bIns="9525" anchor="ctr">
            <a:spAutoFit/>
          </a:bodyPr>
          <a:lstStyle/>
          <a:p>
            <a:pPr algn="ctr"/>
            <a:r>
              <a:rPr sz="1100" b="1">
                <a:solidFill>
                  <a:srgbClr val="FFFFFF"/>
                </a:solidFill>
                <a:latin typeface="Calibri"/>
              </a:rPr>
              <a:t>Market Opportunities</a:t>
            </a:r>
          </a:p>
        </p:txBody>
      </p:sp>
      <p:sp>
        <p:nvSpPr>
          <p:cNvPr id="13" name="Rectangle 12"/>
          <p:cNvSpPr/>
          <p:nvPr/>
        </p:nvSpPr>
        <p:spPr>
          <a:xfrm>
            <a:off x="142875" y="1390589"/>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139058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U.S. Carries the Largest Absolute Opportunity</a:t>
            </a:r>
          </a:p>
        </p:txBody>
      </p:sp>
      <p:sp>
        <p:nvSpPr>
          <p:cNvPr id="15" name="TextBox 14"/>
          <p:cNvSpPr txBox="1"/>
          <p:nvPr/>
        </p:nvSpPr>
        <p:spPr>
          <a:xfrm>
            <a:off x="161925" y="1700902"/>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'U.S.' adds 23,237 US$ Mn between 2026 and 2036 the single largest absolute increment of any geography in the dataset. Capturing it is a question of scale execution rather than market creation: demand already exists and grows at 6.6% at the market level. Prioritising supply, channel coverage and service levels there converts the largest share of the 112,862 US$ Mn the whole market adds over the forecast period.</a:t>
            </a:r>
          </a:p>
        </p:txBody>
      </p:sp>
      <p:sp>
        <p:nvSpPr>
          <p:cNvPr id="16" name="TextBox 15"/>
          <p:cNvSpPr txBox="1"/>
          <p:nvPr/>
        </p:nvSpPr>
        <p:spPr>
          <a:xfrm>
            <a:off x="9810750" y="139058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17" name="TextBox 16"/>
          <p:cNvSpPr txBox="1"/>
          <p:nvPr/>
        </p:nvSpPr>
        <p:spPr>
          <a:xfrm>
            <a:off x="981075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18" name="Rectangle 17"/>
          <p:cNvSpPr/>
          <p:nvPr/>
        </p:nvSpPr>
        <p:spPr>
          <a:xfrm>
            <a:off x="9810750" y="1938200"/>
            <a:ext cx="990600" cy="310313"/>
          </a:xfrm>
          <a:prstGeom prst="rect">
            <a:avLst/>
          </a:prstGeom>
          <a:solidFill>
            <a:srgbClr val="FBF0C4"/>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1075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20" name="TextBox 19"/>
          <p:cNvSpPr txBox="1"/>
          <p:nvPr/>
        </p:nvSpPr>
        <p:spPr>
          <a:xfrm>
            <a:off x="1089660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21" name="Rectangle 20"/>
          <p:cNvSpPr/>
          <p:nvPr/>
        </p:nvSpPr>
        <p:spPr>
          <a:xfrm>
            <a:off x="1089660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89660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23" name="TextBox 22"/>
          <p:cNvSpPr txBox="1"/>
          <p:nvPr/>
        </p:nvSpPr>
        <p:spPr>
          <a:xfrm>
            <a:off x="981075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24" name="Rectangle 23"/>
          <p:cNvSpPr/>
          <p:nvPr/>
        </p:nvSpPr>
        <p:spPr>
          <a:xfrm>
            <a:off x="981075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10750" y="245843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26" name="TextBox 25"/>
          <p:cNvSpPr txBox="1"/>
          <p:nvPr/>
        </p:nvSpPr>
        <p:spPr>
          <a:xfrm>
            <a:off x="1089660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27" name="Rectangle 26"/>
          <p:cNvSpPr/>
          <p:nvPr/>
        </p:nvSpPr>
        <p:spPr>
          <a:xfrm>
            <a:off x="1089660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896600" y="245843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cxnSp>
        <p:nvCxnSpPr>
          <p:cNvPr id="29" name="Connector 28"/>
          <p:cNvCxnSpPr/>
          <p:nvPr/>
        </p:nvCxnSpPr>
        <p:spPr>
          <a:xfrm>
            <a:off x="142875" y="3088183"/>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142875" y="3142944"/>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6225" y="3142944"/>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Philippines Offers Under-penetrated, Above-pace Headroom</a:t>
            </a:r>
          </a:p>
        </p:txBody>
      </p:sp>
      <p:sp>
        <p:nvSpPr>
          <p:cNvPr id="32" name="TextBox 31"/>
          <p:cNvSpPr txBox="1"/>
          <p:nvPr/>
        </p:nvSpPr>
        <p:spPr>
          <a:xfrm>
            <a:off x="161925" y="3453257"/>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'Philippines' compounds at 9.3% CAGR from a below-median base one of 9 geographies in the dataset combining above-median growth with below-median size. That profile is where share is cheapest to buy: competitive intensity is lower than in the 26.5%-share leaders, while growth runs +275 BPS ahead of the market. Early distribution and reference accounts established here compound through 2036.</a:t>
            </a:r>
          </a:p>
        </p:txBody>
      </p:sp>
      <p:sp>
        <p:nvSpPr>
          <p:cNvPr id="33" name="TextBox 32"/>
          <p:cNvSpPr txBox="1"/>
          <p:nvPr/>
        </p:nvSpPr>
        <p:spPr>
          <a:xfrm>
            <a:off x="9810750" y="3142944"/>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34" name="TextBox 33"/>
          <p:cNvSpPr txBox="1"/>
          <p:nvPr/>
        </p:nvSpPr>
        <p:spPr>
          <a:xfrm>
            <a:off x="981075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35" name="Rectangle 34"/>
          <p:cNvSpPr/>
          <p:nvPr/>
        </p:nvSpPr>
        <p:spPr>
          <a:xfrm>
            <a:off x="981075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810750" y="3690555"/>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37" name="TextBox 36"/>
          <p:cNvSpPr txBox="1"/>
          <p:nvPr/>
        </p:nvSpPr>
        <p:spPr>
          <a:xfrm>
            <a:off x="1089660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38" name="Rectangle 37"/>
          <p:cNvSpPr/>
          <p:nvPr/>
        </p:nvSpPr>
        <p:spPr>
          <a:xfrm>
            <a:off x="1089660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896600" y="3690555"/>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40" name="TextBox 39"/>
          <p:cNvSpPr txBox="1"/>
          <p:nvPr/>
        </p:nvSpPr>
        <p:spPr>
          <a:xfrm>
            <a:off x="981075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41" name="Rectangle 40"/>
          <p:cNvSpPr/>
          <p:nvPr/>
        </p:nvSpPr>
        <p:spPr>
          <a:xfrm>
            <a:off x="9810750" y="4210785"/>
            <a:ext cx="990600" cy="310313"/>
          </a:xfrm>
          <a:prstGeom prst="rect">
            <a:avLst/>
          </a:prstGeom>
          <a:solidFill>
            <a:srgbClr val="C99A0A"/>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810750" y="4210785"/>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43" name="TextBox 42"/>
          <p:cNvSpPr txBox="1"/>
          <p:nvPr/>
        </p:nvSpPr>
        <p:spPr>
          <a:xfrm>
            <a:off x="1089660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44" name="Rectangle 43"/>
          <p:cNvSpPr/>
          <p:nvPr/>
        </p:nvSpPr>
        <p:spPr>
          <a:xfrm>
            <a:off x="1089660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896600" y="4210785"/>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cxnSp>
        <p:nvCxnSpPr>
          <p:cNvPr id="46" name="Connector 45"/>
          <p:cNvCxnSpPr/>
          <p:nvPr/>
        </p:nvCxnSpPr>
        <p:spPr>
          <a:xfrm>
            <a:off x="142875" y="4840538"/>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142875" y="4895299"/>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76225" y="489529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Food Packaging Opens the Fastest Route to Market</a:t>
            </a:r>
          </a:p>
        </p:txBody>
      </p:sp>
      <p:sp>
        <p:nvSpPr>
          <p:cNvPr id="49" name="TextBox 48"/>
          <p:cNvSpPr txBox="1"/>
          <p:nvPr/>
        </p:nvSpPr>
        <p:spPr>
          <a:xfrm>
            <a:off x="161925" y="5205612"/>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'Food Packaging' grows at 6.6% CAGR, the fastest of 2 application routes, and adds 94,545 US$ Mn over the forecast period while 'Food Packaging' still carries 83.7% of demand today. Pairing the incumbent route for volume with the fastest route for growth and leading with 'Premade Pouches &amp; Bags' at 6.7% is the highest-yield combination the dataset supports.</a:t>
            </a:r>
          </a:p>
        </p:txBody>
      </p:sp>
      <p:sp>
        <p:nvSpPr>
          <p:cNvPr id="50" name="TextBox 49"/>
          <p:cNvSpPr txBox="1"/>
          <p:nvPr/>
        </p:nvSpPr>
        <p:spPr>
          <a:xfrm>
            <a:off x="9810750" y="489529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51" name="TextBox 50"/>
          <p:cNvSpPr txBox="1"/>
          <p:nvPr/>
        </p:nvSpPr>
        <p:spPr>
          <a:xfrm>
            <a:off x="981075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52" name="Rectangle 51"/>
          <p:cNvSpPr/>
          <p:nvPr/>
        </p:nvSpPr>
        <p:spPr>
          <a:xfrm>
            <a:off x="981075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810750" y="544291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54" name="TextBox 53"/>
          <p:cNvSpPr txBox="1"/>
          <p:nvPr/>
        </p:nvSpPr>
        <p:spPr>
          <a:xfrm>
            <a:off x="1089660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55" name="Rectangle 54"/>
          <p:cNvSpPr/>
          <p:nvPr/>
        </p:nvSpPr>
        <p:spPr>
          <a:xfrm>
            <a:off x="1089660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896600" y="544291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57" name="TextBox 56"/>
          <p:cNvSpPr txBox="1"/>
          <p:nvPr/>
        </p:nvSpPr>
        <p:spPr>
          <a:xfrm>
            <a:off x="981075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58" name="Rectangle 57"/>
          <p:cNvSpPr/>
          <p:nvPr/>
        </p:nvSpPr>
        <p:spPr>
          <a:xfrm>
            <a:off x="981075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810750" y="596314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60" name="TextBox 59"/>
          <p:cNvSpPr txBox="1"/>
          <p:nvPr/>
        </p:nvSpPr>
        <p:spPr>
          <a:xfrm>
            <a:off x="1089660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61" name="Rectangle 60"/>
          <p:cNvSpPr/>
          <p:nvPr/>
        </p:nvSpPr>
        <p:spPr>
          <a:xfrm>
            <a:off x="10896600" y="5963140"/>
            <a:ext cx="990600" cy="310313"/>
          </a:xfrm>
          <a:prstGeom prst="rect">
            <a:avLst/>
          </a:prstGeom>
          <a:solidFill>
            <a:srgbClr val="F2C94C"/>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0896600" y="596314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63" name="TextBox 6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Flexible Plastic Packaging Market Recent Developments &amp; Milestones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Recent developments and milestones shaping the global market, by year</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ectangle 10"/>
          <p:cNvSpPr/>
          <p:nvPr/>
        </p:nvSpPr>
        <p:spPr>
          <a:xfrm>
            <a:off x="142875" y="1025515"/>
            <a:ext cx="11906250" cy="292059"/>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2875" y="1025515"/>
            <a:ext cx="1428750" cy="292059"/>
          </a:xfrm>
          <a:prstGeom prst="rect">
            <a:avLst/>
          </a:prstGeom>
          <a:noFill/>
        </p:spPr>
        <p:txBody>
          <a:bodyPr wrap="square" lIns="28575" rIns="28575" tIns="9525" bIns="9525" anchor="ctr">
            <a:spAutoFit/>
          </a:bodyPr>
          <a:lstStyle/>
          <a:p>
            <a:pPr algn="ctr"/>
            <a:r>
              <a:rPr sz="1150" b="1">
                <a:solidFill>
                  <a:srgbClr val="FFFFFF"/>
                </a:solidFill>
                <a:latin typeface="Calibri"/>
              </a:rPr>
              <a:t>Year</a:t>
            </a:r>
          </a:p>
        </p:txBody>
      </p:sp>
      <p:sp>
        <p:nvSpPr>
          <p:cNvPr id="13" name="TextBox 12"/>
          <p:cNvSpPr txBox="1"/>
          <p:nvPr/>
        </p:nvSpPr>
        <p:spPr>
          <a:xfrm>
            <a:off x="1714500" y="1025515"/>
            <a:ext cx="10239375" cy="292059"/>
          </a:xfrm>
          <a:prstGeom prst="rect">
            <a:avLst/>
          </a:prstGeom>
          <a:noFill/>
        </p:spPr>
        <p:txBody>
          <a:bodyPr wrap="square" lIns="28575" rIns="28575" tIns="9525" bIns="9525" anchor="ctr">
            <a:spAutoFit/>
          </a:bodyPr>
          <a:lstStyle/>
          <a:p>
            <a:pPr algn="ctr"/>
            <a:r>
              <a:rPr sz="1150" b="1">
                <a:solidFill>
                  <a:srgbClr val="FFFFFF"/>
                </a:solidFill>
                <a:latin typeface="Calibri"/>
              </a:rPr>
              <a:t>Recent Development</a:t>
            </a:r>
          </a:p>
        </p:txBody>
      </p:sp>
      <p:sp>
        <p:nvSpPr>
          <p:cNvPr id="14" name="Rectangle 13"/>
          <p:cNvSpPr/>
          <p:nvPr/>
        </p:nvSpPr>
        <p:spPr>
          <a:xfrm>
            <a:off x="142875" y="1317574"/>
            <a:ext cx="11906250" cy="1049588"/>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2875" y="1317574"/>
            <a:ext cx="1428750" cy="1049588"/>
          </a:xfrm>
          <a:prstGeom prst="rect">
            <a:avLst/>
          </a:prstGeom>
          <a:noFill/>
        </p:spPr>
        <p:txBody>
          <a:bodyPr wrap="square" lIns="28575" rIns="28575" tIns="9525" bIns="9525" anchor="ctr">
            <a:spAutoFit/>
          </a:bodyPr>
          <a:lstStyle/>
          <a:p>
            <a:pPr algn="ctr"/>
            <a:r>
              <a:rPr sz="1250" b="1">
                <a:solidFill>
                  <a:srgbClr val="0B2E4A"/>
                </a:solidFill>
                <a:latin typeface="Calibri"/>
              </a:rPr>
              <a:t>2025</a:t>
            </a:r>
          </a:p>
        </p:txBody>
      </p:sp>
      <p:cxnSp>
        <p:nvCxnSpPr>
          <p:cNvPr id="16" name="Connector 15"/>
          <p:cNvCxnSpPr/>
          <p:nvPr/>
        </p:nvCxnSpPr>
        <p:spPr>
          <a:xfrm>
            <a:off x="1571625" y="1317574"/>
            <a:ext cx="0" cy="1049588"/>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714500" y="1641578"/>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Strongest historical expansion on record: Global value rose +4.7% year on year to 120,900 US$ Mn, the steepest single-year move of the 2021–2025 period. Demand for 'Rollstock Films' 53.6% of product type value by 2036 set the pace, and the 2 application routes tracked here all carried volume through the year.</a:t>
            </a:r>
          </a:p>
        </p:txBody>
      </p:sp>
      <p:sp>
        <p:nvSpPr>
          <p:cNvPr id="18" name="Rectangle 17"/>
          <p:cNvSpPr/>
          <p:nvPr/>
        </p:nvSpPr>
        <p:spPr>
          <a:xfrm>
            <a:off x="142875" y="2367162"/>
            <a:ext cx="11906250" cy="1049588"/>
          </a:xfrm>
          <a:prstGeom prst="rect">
            <a:avLst/>
          </a:prstGeom>
          <a:solidFill>
            <a:srgbClr val="F5F8FA"/>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2875" y="2367162"/>
            <a:ext cx="1428750" cy="1049588"/>
          </a:xfrm>
          <a:prstGeom prst="rect">
            <a:avLst/>
          </a:prstGeom>
          <a:noFill/>
        </p:spPr>
        <p:txBody>
          <a:bodyPr wrap="square" lIns="28575" rIns="28575" tIns="9525" bIns="9525" anchor="ctr">
            <a:spAutoFit/>
          </a:bodyPr>
          <a:lstStyle/>
          <a:p>
            <a:pPr algn="ctr"/>
            <a:r>
              <a:rPr sz="1250" b="1">
                <a:solidFill>
                  <a:srgbClr val="0B2E4A"/>
                </a:solidFill>
                <a:latin typeface="Calibri"/>
              </a:rPr>
              <a:t>2026</a:t>
            </a:r>
          </a:p>
        </p:txBody>
      </p:sp>
      <p:cxnSp>
        <p:nvCxnSpPr>
          <p:cNvPr id="20" name="Connector 19"/>
          <p:cNvCxnSpPr/>
          <p:nvPr/>
        </p:nvCxnSpPr>
        <p:spPr>
          <a:xfrm>
            <a:off x="1571625" y="2367162"/>
            <a:ext cx="0" cy="1049588"/>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714500" y="2691164"/>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Base year for the forecast: the global market is estimated at 127,346 US$ Mn, having compounded at 4.5% across 2021–2025. 'East Asia' holds 26.5% of value across 6 regions, and the forecast is built from 6 segment breakdowns covering 4 product type lines.</a:t>
            </a:r>
          </a:p>
        </p:txBody>
      </p:sp>
      <p:sp>
        <p:nvSpPr>
          <p:cNvPr id="22" name="Rectangle 21"/>
          <p:cNvSpPr/>
          <p:nvPr/>
        </p:nvSpPr>
        <p:spPr>
          <a:xfrm>
            <a:off x="142875" y="3416749"/>
            <a:ext cx="11906250" cy="1049588"/>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42875" y="3416749"/>
            <a:ext cx="1428750" cy="1049588"/>
          </a:xfrm>
          <a:prstGeom prst="rect">
            <a:avLst/>
          </a:prstGeom>
          <a:noFill/>
        </p:spPr>
        <p:txBody>
          <a:bodyPr wrap="square" lIns="28575" rIns="28575" tIns="9525" bIns="9525" anchor="ctr">
            <a:spAutoFit/>
          </a:bodyPr>
          <a:lstStyle/>
          <a:p>
            <a:pPr algn="ctr"/>
            <a:r>
              <a:rPr sz="1250" b="1">
                <a:solidFill>
                  <a:srgbClr val="0B2E4A"/>
                </a:solidFill>
                <a:latin typeface="Calibri"/>
              </a:rPr>
              <a:t>2033</a:t>
            </a:r>
          </a:p>
        </p:txBody>
      </p:sp>
      <p:cxnSp>
        <p:nvCxnSpPr>
          <p:cNvPr id="24" name="Connector 23"/>
          <p:cNvCxnSpPr/>
          <p:nvPr/>
        </p:nvCxnSpPr>
        <p:spPr>
          <a:xfrm>
            <a:off x="1571625" y="3416749"/>
            <a:ext cx="0" cy="1049588"/>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714500" y="3740753"/>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The market passes 191,019 US$ Mn one and a half times the 2026 base reaching 196,559 US$ Mn. Growth by this point is led by 'Premade Pouches &amp; Bags' at 6.7% CAGR and by 'Middle East &amp; Africa' among regions at 8.3%, with 4 of 6 regions running at or above the market rate.</a:t>
            </a:r>
          </a:p>
        </p:txBody>
      </p:sp>
      <p:sp>
        <p:nvSpPr>
          <p:cNvPr id="26" name="Rectangle 25"/>
          <p:cNvSpPr/>
          <p:nvPr/>
        </p:nvSpPr>
        <p:spPr>
          <a:xfrm>
            <a:off x="142875" y="4466337"/>
            <a:ext cx="11906250" cy="1049588"/>
          </a:xfrm>
          <a:prstGeom prst="rect">
            <a:avLst/>
          </a:prstGeom>
          <a:solidFill>
            <a:srgbClr val="F5F8FA"/>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42875" y="4466337"/>
            <a:ext cx="1428750" cy="1049588"/>
          </a:xfrm>
          <a:prstGeom prst="rect">
            <a:avLst/>
          </a:prstGeom>
          <a:noFill/>
        </p:spPr>
        <p:txBody>
          <a:bodyPr wrap="square" lIns="28575" rIns="28575" tIns="9525" bIns="9525" anchor="ctr">
            <a:spAutoFit/>
          </a:bodyPr>
          <a:lstStyle/>
          <a:p>
            <a:pPr algn="ctr"/>
            <a:r>
              <a:rPr sz="1250" b="1">
                <a:solidFill>
                  <a:srgbClr val="0B2E4A"/>
                </a:solidFill>
                <a:latin typeface="Calibri"/>
              </a:rPr>
              <a:t>2031</a:t>
            </a:r>
          </a:p>
        </p:txBody>
      </p:sp>
      <p:cxnSp>
        <p:nvCxnSpPr>
          <p:cNvPr id="28" name="Connector 27"/>
          <p:cNvCxnSpPr/>
          <p:nvPr/>
        </p:nvCxnSpPr>
        <p:spPr>
          <a:xfrm>
            <a:off x="1571625" y="4466337"/>
            <a:ext cx="0" cy="1049588"/>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714500" y="4790339"/>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Mid-horizon checkpoint: value reaches 171,894 US$ Mn, 1.35× the 2026 base. Average realisation stands at 3260.68 US$/MT, and mix has moved +36 BPS toward 'Premade Pouches &amp; Bags' while 'Rollstock Films' gives up 25 BPS.</a:t>
            </a:r>
          </a:p>
        </p:txBody>
      </p:sp>
      <p:sp>
        <p:nvSpPr>
          <p:cNvPr id="30" name="Rectangle 29"/>
          <p:cNvSpPr/>
          <p:nvPr/>
        </p:nvSpPr>
        <p:spPr>
          <a:xfrm>
            <a:off x="142875" y="5515924"/>
            <a:ext cx="11906250" cy="1049588"/>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42875" y="5515924"/>
            <a:ext cx="1428750" cy="1049588"/>
          </a:xfrm>
          <a:prstGeom prst="rect">
            <a:avLst/>
          </a:prstGeom>
          <a:noFill/>
        </p:spPr>
        <p:txBody>
          <a:bodyPr wrap="square" lIns="28575" rIns="28575" tIns="9525" bIns="9525" anchor="ctr">
            <a:spAutoFit/>
          </a:bodyPr>
          <a:lstStyle/>
          <a:p>
            <a:pPr algn="ctr"/>
            <a:r>
              <a:rPr sz="1250" b="1">
                <a:solidFill>
                  <a:srgbClr val="0B2E4A"/>
                </a:solidFill>
                <a:latin typeface="Calibri"/>
              </a:rPr>
              <a:t>2036</a:t>
            </a:r>
          </a:p>
        </p:txBody>
      </p:sp>
      <p:cxnSp>
        <p:nvCxnSpPr>
          <p:cNvPr id="32" name="Connector 31"/>
          <p:cNvCxnSpPr/>
          <p:nvPr/>
        </p:nvCxnSpPr>
        <p:spPr>
          <a:xfrm>
            <a:off x="1571625" y="5515924"/>
            <a:ext cx="0" cy="1049588"/>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714500" y="5839928"/>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Forecast outcome: the global market reaches 240,208 US$ Mn, a 1.9× expansion on 2026 and 112,862 US$ Mn of incremental value at 6.6% CAGR. Volume compounds at 5.3% over the same window, leaving realisation 1.2% a year the gap between the two is the premiumisation the forecast assumes.</a:t>
            </a:r>
          </a:p>
        </p:txBody>
      </p:sp>
      <p:sp>
        <p:nvSpPr>
          <p:cNvPr id="34" name="TextBox 3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Porter's Five Forces Analysis Global Flexible Plastic Packaging Market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supplier power, buyer power, competition, substitutes and entry barriers shaping the market's profitability</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TextBox 10"/>
          <p:cNvSpPr txBox="1"/>
          <p:nvPr/>
        </p:nvSpPr>
        <p:spPr>
          <a:xfrm>
            <a:off x="142875" y="989007"/>
            <a:ext cx="11906250" cy="328567"/>
          </a:xfrm>
          <a:prstGeom prst="rect">
            <a:avLst/>
          </a:prstGeom>
          <a:noFill/>
        </p:spPr>
        <p:txBody>
          <a:bodyPr wrap="square" lIns="28575" rIns="28575" tIns="9525" bIns="9525" anchor="ctr">
            <a:spAutoFit/>
          </a:bodyPr>
          <a:lstStyle/>
          <a:p>
            <a:pPr algn="l">
              <a:lnSpc>
                <a:spcPct val="115000"/>
              </a:lnSpc>
            </a:pPr>
            <a:r>
              <a:rPr sz="1100" b="0">
                <a:solidFill>
                  <a:srgbClr val="6C7A89"/>
                </a:solidFill>
                <a:latin typeface="Calibri"/>
              </a:rPr>
              <a:t>Supplier power, buyer power, competitive intensity, substitution and entry barriers scored from the global dataset 4 product type lines, 2 application routes and 6 regions at 6.6% CAGR.</a:t>
            </a:r>
          </a:p>
        </p:txBody>
      </p:sp>
      <p:sp>
        <p:nvSpPr>
          <p:cNvPr id="12" name="Oval 11"/>
          <p:cNvSpPr/>
          <p:nvPr/>
        </p:nvSpPr>
        <p:spPr>
          <a:xfrm>
            <a:off x="876300" y="1427096"/>
            <a:ext cx="914400" cy="876177"/>
          </a:xfrm>
          <a:prstGeom prst="ellipse">
            <a:avLst/>
          </a:prstGeom>
          <a:solidFill>
            <a:srgbClr val="F2D24B"/>
          </a:solidFill>
          <a:ln w="12700">
            <a:solidFill>
              <a:srgbClr val="F2D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7750" y="1664394"/>
            <a:ext cx="571500" cy="401581"/>
          </a:xfrm>
          <a:prstGeom prst="rect">
            <a:avLst/>
          </a:prstGeom>
          <a:noFill/>
        </p:spPr>
        <p:txBody>
          <a:bodyPr wrap="none" lIns="0" rIns="0" tIns="0" bIns="0" anchor="ctr">
            <a:spAutoFit/>
          </a:bodyPr>
          <a:lstStyle/>
          <a:p>
            <a:pPr algn="ctr"/>
            <a:r>
              <a:rPr sz="3400" b="1">
                <a:solidFill>
                  <a:srgbClr val="8A6A00"/>
                </a:solidFill>
                <a:latin typeface="Calibri"/>
              </a:rPr>
              <a:t>$</a:t>
            </a:r>
          </a:p>
        </p:txBody>
      </p:sp>
      <p:sp>
        <p:nvSpPr>
          <p:cNvPr id="14" name="TextBox 13"/>
          <p:cNvSpPr txBox="1"/>
          <p:nvPr/>
        </p:nvSpPr>
        <p:spPr>
          <a:xfrm>
            <a:off x="2190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Bargaining Power of Suppliers</a:t>
            </a:r>
          </a:p>
        </p:txBody>
      </p:sp>
      <p:sp>
        <p:nvSpPr>
          <p:cNvPr id="15" name="TextBox 14"/>
          <p:cNvSpPr txBox="1"/>
          <p:nvPr/>
        </p:nvSpPr>
        <p:spPr>
          <a:xfrm>
            <a:off x="247650" y="2796123"/>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Assessed moderate to high. 'East Asia' supplies 26.5% of 2036 value across 6 regions, concentrating upstream leverage.</a:t>
            </a:r>
          </a:p>
        </p:txBody>
      </p:sp>
      <p:sp>
        <p:nvSpPr>
          <p:cNvPr id="16" name="TextBox 15"/>
          <p:cNvSpPr txBox="1"/>
          <p:nvPr/>
        </p:nvSpPr>
        <p:spPr>
          <a:xfrm>
            <a:off x="247650" y="3663174"/>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Average realisation moves 1.2% a year (2026–2036), indicating input costs are being passed through.</a:t>
            </a:r>
          </a:p>
        </p:txBody>
      </p:sp>
      <p:sp>
        <p:nvSpPr>
          <p:cNvPr id="17" name="TextBox 16"/>
          <p:cNvSpPr txBox="1"/>
          <p:nvPr/>
        </p:nvSpPr>
        <p:spPr>
          <a:xfrm>
            <a:off x="247650" y="4530225"/>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Buyers can rebalance across 4 product type lines, which caps supplier leverage in commodity grades.</a:t>
            </a:r>
          </a:p>
        </p:txBody>
      </p:sp>
      <p:sp>
        <p:nvSpPr>
          <p:cNvPr id="18" name="Oval 17"/>
          <p:cNvSpPr/>
          <p:nvPr/>
        </p:nvSpPr>
        <p:spPr>
          <a:xfrm>
            <a:off x="3257550" y="1427096"/>
            <a:ext cx="914400" cy="876177"/>
          </a:xfrm>
          <a:prstGeom prst="ellipse">
            <a:avLst/>
          </a:prstGeom>
          <a:solidFill>
            <a:srgbClr val="D9D9D9"/>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3476625" y="1710028"/>
            <a:ext cx="152400" cy="209918"/>
          </a:xfrm>
          <a:custGeom>
            <a:avLst/>
            <a:gdLst/>
            <a:ahLst/>
            <a:cxnLst/>
            <a:rect l="l" t="t" r="r" b="b"/>
            <a:pathLst>
              <a:path w="16" h="23">
                <a:moveTo>
                  <a:pt x="0" y="0"/>
                </a:moveTo>
                <a:lnTo>
                  <a:pt x="8" y="0"/>
                </a:lnTo>
                <a:lnTo>
                  <a:pt x="16" y="23"/>
                </a:lnTo>
              </a:path>
            </a:pathLst>
          </a:custGeom>
          <a:noFill/>
          <a:ln w="4318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3609975" y="1783043"/>
            <a:ext cx="342900" cy="155156"/>
          </a:xfrm>
          <a:custGeom>
            <a:avLst/>
            <a:gdLst/>
            <a:ahLst/>
            <a:cxnLst/>
            <a:rect l="l" t="t" r="r" b="b"/>
            <a:pathLst>
              <a:path w="36" h="17">
                <a:moveTo>
                  <a:pt x="0" y="0"/>
                </a:moveTo>
                <a:lnTo>
                  <a:pt x="36" y="0"/>
                </a:lnTo>
                <a:lnTo>
                  <a:pt x="31" y="17"/>
                </a:lnTo>
                <a:lnTo>
                  <a:pt x="5" y="17"/>
                </a:lnTo>
                <a:close/>
              </a:path>
            </a:pathLst>
          </a:cu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648075" y="1983834"/>
            <a:ext cx="76200" cy="73015"/>
          </a:xfrm>
          <a:prstGeom prst="ellipse">
            <a:avLst/>
          </a:prstGeom>
          <a:solidFill>
            <a:srgbClr val="2B2B2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829050" y="1983834"/>
            <a:ext cx="76200" cy="73015"/>
          </a:xfrm>
          <a:prstGeom prst="ellipse">
            <a:avLst/>
          </a:prstGeom>
          <a:solidFill>
            <a:srgbClr val="2B2B2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60032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Bargaining Power of Buyers</a:t>
            </a:r>
          </a:p>
        </p:txBody>
      </p:sp>
      <p:sp>
        <p:nvSpPr>
          <p:cNvPr id="24" name="TextBox 23"/>
          <p:cNvSpPr txBox="1"/>
          <p:nvPr/>
        </p:nvSpPr>
        <p:spPr>
          <a:xfrm>
            <a:off x="2628900" y="2796123"/>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Assessed low. Demand routes through 2 application channels led by 'Food Packaging' at 83.7%, giving large buyers scale.</a:t>
            </a:r>
          </a:p>
        </p:txBody>
      </p:sp>
      <p:sp>
        <p:nvSpPr>
          <p:cNvPr id="25" name="TextBox 24"/>
          <p:cNvSpPr txBox="1"/>
          <p:nvPr/>
        </p:nvSpPr>
        <p:spPr>
          <a:xfrm>
            <a:off x="2628900" y="3663174"/>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Price sensitivity tracks realisation moving 1.2% a year against volume growth of 5.3%.</a:t>
            </a:r>
          </a:p>
        </p:txBody>
      </p:sp>
      <p:sp>
        <p:nvSpPr>
          <p:cNvPr id="26" name="TextBox 25"/>
          <p:cNvSpPr txBox="1"/>
          <p:nvPr/>
        </p:nvSpPr>
        <p:spPr>
          <a:xfrm>
            <a:off x="2628900" y="4347688"/>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Switching is easiest where 4 comparable product type lines compete for the same demand.</a:t>
            </a:r>
          </a:p>
        </p:txBody>
      </p:sp>
      <p:sp>
        <p:nvSpPr>
          <p:cNvPr id="27" name="Oval 26"/>
          <p:cNvSpPr/>
          <p:nvPr/>
        </p:nvSpPr>
        <p:spPr>
          <a:xfrm>
            <a:off x="5638800" y="1427096"/>
            <a:ext cx="914400" cy="876177"/>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876925" y="1655267"/>
            <a:ext cx="438150" cy="419835"/>
          </a:xfrm>
          <a:prstGeom prst="ellipse">
            <a:avLst/>
          </a:prstGeom>
          <a:solidFill>
            <a:srgbClr val="B23A3A"/>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943600" y="1719155"/>
            <a:ext cx="304800" cy="292059"/>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010275" y="1783043"/>
            <a:ext cx="171450" cy="164283"/>
          </a:xfrm>
          <a:prstGeom prst="ellipse">
            <a:avLst/>
          </a:prstGeom>
          <a:solidFill>
            <a:srgbClr val="B23A3A"/>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062662" y="1833240"/>
            <a:ext cx="66675" cy="63888"/>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6134100" y="1627887"/>
            <a:ext cx="209550" cy="200791"/>
          </a:xfrm>
          <a:custGeom>
            <a:avLst/>
            <a:gdLst/>
            <a:ahLst/>
            <a:cxnLst/>
            <a:rect l="l" t="t" r="r" b="b"/>
            <a:pathLst>
              <a:path w="22" h="22">
                <a:moveTo>
                  <a:pt x="0" y="22"/>
                </a:moveTo>
                <a:lnTo>
                  <a:pt x="22" y="0"/>
                </a:lnTo>
              </a:path>
            </a:pathLst>
          </a:custGeom>
          <a:noFill/>
          <a:ln w="381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6267450" y="1591379"/>
            <a:ext cx="114300" cy="109522"/>
          </a:xfrm>
          <a:custGeom>
            <a:avLst/>
            <a:gdLst/>
            <a:ahLst/>
            <a:cxnLst/>
            <a:rect l="l" t="t" r="r" b="b"/>
            <a:pathLst>
              <a:path w="12" h="12">
                <a:moveTo>
                  <a:pt x="0" y="0"/>
                </a:moveTo>
                <a:lnTo>
                  <a:pt x="12" y="0"/>
                </a:lnTo>
                <a:lnTo>
                  <a:pt x="12" y="12"/>
                </a:lnTo>
                <a:close/>
              </a:path>
            </a:pathLst>
          </a:custGeom>
          <a:solidFill>
            <a:srgbClr val="B2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9815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Intensity of Competition</a:t>
            </a:r>
          </a:p>
        </p:txBody>
      </p:sp>
      <p:sp>
        <p:nvSpPr>
          <p:cNvPr id="35" name="TextBox 34"/>
          <p:cNvSpPr txBox="1"/>
          <p:nvPr/>
        </p:nvSpPr>
        <p:spPr>
          <a:xfrm>
            <a:off x="5010150" y="2796123"/>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Assessed moderate. 4 product type lines compete inside the segment; the leader holds 53.6%.</a:t>
            </a:r>
          </a:p>
        </p:txBody>
      </p:sp>
      <p:sp>
        <p:nvSpPr>
          <p:cNvPr id="36" name="TextBox 35"/>
          <p:cNvSpPr txBox="1"/>
          <p:nvPr/>
        </p:nvSpPr>
        <p:spPr>
          <a:xfrm>
            <a:off x="5010150" y="3480637"/>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Growth is unevenly distributed 'Premade Pouches &amp; Bags' at 6.7% against 'Sachets &amp; Stick Packs' at 6.3%.</a:t>
            </a:r>
          </a:p>
        </p:txBody>
      </p:sp>
      <p:sp>
        <p:nvSpPr>
          <p:cNvPr id="37" name="TextBox 36"/>
          <p:cNvSpPr txBox="1"/>
          <p:nvPr/>
        </p:nvSpPr>
        <p:spPr>
          <a:xfrm>
            <a:off x="5010150" y="4347688"/>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4 of 6 regions grow at or above the 6.6% market pace, keeping share contested.</a:t>
            </a:r>
          </a:p>
        </p:txBody>
      </p:sp>
      <p:sp>
        <p:nvSpPr>
          <p:cNvPr id="38" name="Oval 37"/>
          <p:cNvSpPr/>
          <p:nvPr/>
        </p:nvSpPr>
        <p:spPr>
          <a:xfrm>
            <a:off x="8020050" y="1427096"/>
            <a:ext cx="914400" cy="876177"/>
          </a:xfrm>
          <a:prstGeom prst="ellipse">
            <a:avLst/>
          </a:prstGeom>
          <a:solidFill>
            <a:srgbClr val="C9C0E0"/>
          </a:solidFill>
          <a:ln w="12700">
            <a:solidFill>
              <a:srgbClr val="C9C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382000" y="1637014"/>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248650" y="1874312"/>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8515350" y="1874312"/>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6282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Threat of Substitutes</a:t>
            </a:r>
          </a:p>
        </p:txBody>
      </p:sp>
      <p:sp>
        <p:nvSpPr>
          <p:cNvPr id="43" name="TextBox 42"/>
          <p:cNvSpPr txBox="1"/>
          <p:nvPr/>
        </p:nvSpPr>
        <p:spPr>
          <a:xfrm>
            <a:off x="7391400" y="2796123"/>
            <a:ext cx="2171700" cy="96744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Assessed low. 'Rollstock Films' loses 25 BPS of share to 'Premade Pouches &amp; Bags' (+36 BPS) by 2036 substitution is visible inside the mix.</a:t>
            </a:r>
          </a:p>
        </p:txBody>
      </p:sp>
      <p:sp>
        <p:nvSpPr>
          <p:cNvPr id="44" name="TextBox 43"/>
          <p:cNvSpPr txBox="1"/>
          <p:nvPr/>
        </p:nvSpPr>
        <p:spPr>
          <a:xfrm>
            <a:off x="7391400" y="3854838"/>
            <a:ext cx="21717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The slowest line grows at 6.3%, -23 BPS against the market.</a:t>
            </a:r>
          </a:p>
        </p:txBody>
      </p:sp>
      <p:sp>
        <p:nvSpPr>
          <p:cNvPr id="45" name="TextBox 44"/>
          <p:cNvSpPr txBox="1"/>
          <p:nvPr/>
        </p:nvSpPr>
        <p:spPr>
          <a:xfrm>
            <a:off x="7391400" y="4347688"/>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Realisation moving 1.2% a year widens the price gap substitutes must close.</a:t>
            </a:r>
          </a:p>
        </p:txBody>
      </p:sp>
      <p:sp>
        <p:nvSpPr>
          <p:cNvPr id="46" name="Oval 45"/>
          <p:cNvSpPr/>
          <p:nvPr/>
        </p:nvSpPr>
        <p:spPr>
          <a:xfrm>
            <a:off x="10401300" y="1427096"/>
            <a:ext cx="914400" cy="876177"/>
          </a:xfrm>
          <a:prstGeom prst="ellipse">
            <a:avLst/>
          </a:prstGeom>
          <a:solidFill>
            <a:srgbClr val="BFDCEA"/>
          </a:solidFill>
          <a:ln w="12700">
            <a:solidFill>
              <a:srgbClr val="BFDC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0610850" y="1700902"/>
            <a:ext cx="114300" cy="109522"/>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10563225" y="1837804"/>
            <a:ext cx="209550" cy="182537"/>
          </a:xfrm>
          <a:custGeom>
            <a:avLst/>
            <a:gdLst/>
            <a:ahLst/>
            <a:cxnLst/>
            <a:rect l="l" t="t" r="r" b="b"/>
            <a:pathLst>
              <a:path w="22" h="20">
                <a:moveTo>
                  <a:pt x="0" y="20"/>
                </a:moveTo>
                <a:lnTo>
                  <a:pt x="3" y="0"/>
                </a:lnTo>
                <a:lnTo>
                  <a:pt x="19" y="0"/>
                </a:lnTo>
                <a:lnTo>
                  <a:pt x="22" y="20"/>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991850" y="1700902"/>
            <a:ext cx="114300" cy="109522"/>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10944225" y="1837804"/>
            <a:ext cx="209550" cy="182537"/>
          </a:xfrm>
          <a:custGeom>
            <a:avLst/>
            <a:gdLst/>
            <a:ahLst/>
            <a:cxnLst/>
            <a:rect l="l" t="t" r="r" b="b"/>
            <a:pathLst>
              <a:path w="22" h="20">
                <a:moveTo>
                  <a:pt x="0" y="20"/>
                </a:moveTo>
                <a:lnTo>
                  <a:pt x="3" y="0"/>
                </a:lnTo>
                <a:lnTo>
                  <a:pt x="19" y="0"/>
                </a:lnTo>
                <a:lnTo>
                  <a:pt x="22" y="20"/>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0782300" y="1609633"/>
            <a:ext cx="152400" cy="146030"/>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Freeform 51"/>
          <p:cNvSpPr/>
          <p:nvPr/>
        </p:nvSpPr>
        <p:spPr>
          <a:xfrm>
            <a:off x="10715625" y="1783043"/>
            <a:ext cx="285750" cy="255552"/>
          </a:xfrm>
          <a:custGeom>
            <a:avLst/>
            <a:gdLst/>
            <a:ahLst/>
            <a:cxnLst/>
            <a:rect l="l" t="t" r="r" b="b"/>
            <a:pathLst>
              <a:path w="30" h="28">
                <a:moveTo>
                  <a:pt x="0" y="28"/>
                </a:moveTo>
                <a:lnTo>
                  <a:pt x="4" y="0"/>
                </a:lnTo>
                <a:lnTo>
                  <a:pt x="26" y="0"/>
                </a:lnTo>
                <a:lnTo>
                  <a:pt x="30" y="28"/>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440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Threat of New Entrants</a:t>
            </a:r>
          </a:p>
        </p:txBody>
      </p:sp>
      <p:sp>
        <p:nvSpPr>
          <p:cNvPr id="54" name="TextBox 53"/>
          <p:cNvSpPr txBox="1"/>
          <p:nvPr/>
        </p:nvSpPr>
        <p:spPr>
          <a:xfrm>
            <a:off x="9772650" y="2796123"/>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Assessed high. The market grows at 6.6% CAGR and adds 112,862 US$ Mn by 2036, attracting entry.</a:t>
            </a:r>
          </a:p>
        </p:txBody>
      </p:sp>
      <p:sp>
        <p:nvSpPr>
          <p:cNvPr id="55" name="TextBox 54"/>
          <p:cNvSpPr txBox="1"/>
          <p:nvPr/>
        </p:nvSpPr>
        <p:spPr>
          <a:xfrm>
            <a:off x="9772650" y="3663174"/>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Demand spreads over 6 regions with no single one above 26.5%, so regional entry is feasible.</a:t>
            </a:r>
          </a:p>
        </p:txBody>
      </p:sp>
      <p:sp>
        <p:nvSpPr>
          <p:cNvPr id="56" name="TextBox 55"/>
          <p:cNvSpPr txBox="1"/>
          <p:nvPr/>
        </p:nvSpPr>
        <p:spPr>
          <a:xfrm>
            <a:off x="9772650" y="4347688"/>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Incumbent scale in 'East Asia' and 'Rollstock Films' (53.6% of segment) remains the principal barrier.</a:t>
            </a:r>
          </a:p>
        </p:txBody>
      </p:sp>
      <p:sp>
        <p:nvSpPr>
          <p:cNvPr id="57" name="TextBox 5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(1/6)</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1" i="0">
                          <a:solidFill>
                            <a:srgbClr val="000000"/>
                          </a:solidFill>
                          <a:latin typeface="Symbol"/>
                        </a:rPr>
                        <a:t></a:t>
                      </a:r>
                      <a:r>
                        <a:rPr sz="700" b="1" i="0">
                          <a:solidFill>
                            <a:srgbClr val="000000"/>
                          </a:solidFill>
                          <a:latin typeface="Times New Roman"/>
                        </a:rPr>
                        <a:t>         </a:t>
                      </a:r>
                      <a:r>
                        <a:rPr sz="1100" b="1" i="0">
                          <a:solidFill>
                            <a:srgbClr val="000000"/>
                          </a:solidFill>
                          <a:latin typeface="Calibri"/>
                        </a:rPr>
                        <a:t>Executive Summary</a:t>
                      </a:r>
                      <a:endParaRPr sz="1100"/>
                    </a:p>
                  </a:txBody>
                  <a:tcPr marL="171450" marR="9525" marT="9525" marB="0" anchor="ctr"/>
                </a:tc>
              </a:tr>
              <a:tr h="175260">
                <a:tc>
                  <a:txBody>
                    <a:bodyPr wrap="square"/>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Global Market Snapshot</a:t>
                      </a:r>
                      <a:endParaRPr sz="1100"/>
                    </a:p>
                  </a:txBody>
                  <a:tcPr marL="685800" marR="9525" marT="9525" marB="0" anchor="ctr"/>
                </a:tc>
              </a:tr>
              <a:tr h="175260">
                <a:tc>
                  <a:txBody>
                    <a:bodyPr wrap="square"/>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Key Demand Trends</a:t>
                      </a:r>
                      <a:endParaRPr sz="1100"/>
                    </a:p>
                  </a:txBody>
                  <a:tcPr marL="685800" marR="9525" marT="9525" marB="0" anchor="ctr"/>
                </a:tc>
              </a:tr>
              <a:tr h="175260">
                <a:tc>
                  <a:txBody>
                    <a:bodyPr wrap="square"/>
                    <a:lstStyle/>
                    <a:p>
                      <a:pPr algn="l"/>
                      <a:r>
                        <a:rPr sz="1100" b="0" i="1">
                          <a:solidFill>
                            <a:srgbClr val="000000"/>
                          </a:solidFill>
                          <a:latin typeface="Calibri"/>
                        </a:rPr>
                        <a:t>1.1.1.1.</a:t>
                      </a:r>
                      <a:r>
                        <a:rPr sz="700" b="0" i="1">
                          <a:solidFill>
                            <a:srgbClr val="000000"/>
                          </a:solidFill>
                          <a:latin typeface="Times New Roman"/>
                        </a:rPr>
                        <a:t>    </a:t>
                      </a:r>
                      <a:r>
                        <a:rPr sz="1100" b="0" i="1">
                          <a:solidFill>
                            <a:srgbClr val="000000"/>
                          </a:solidFill>
                          <a:latin typeface="Calibri"/>
                        </a:rPr>
                        <a:t>Key Supply Trends</a:t>
                      </a:r>
                      <a:endParaRPr sz="1100"/>
                    </a:p>
                  </a:txBody>
                  <a:tcPr marL="1028700" marR="9525" marT="9525" marB="0" anchor="ctr"/>
                </a:tc>
              </a:tr>
              <a:tr h="175260">
                <a:tc>
                  <a:txBody>
                    <a:bodyPr wrap="square"/>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Technology Roadmap</a:t>
                      </a:r>
                      <a:endParaRPr sz="1100"/>
                    </a:p>
                  </a:txBody>
                  <a:tcPr marL="685800" marR="9525" marT="9525" marB="0" anchor="ctr"/>
                </a:tc>
              </a:tr>
              <a:tr h="175260">
                <a:tc>
                  <a:txBody>
                    <a:bodyPr wrap="square"/>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Analyst Takeaways &amp; Recommendations</a:t>
                      </a:r>
                      <a:endParaRPr sz="1100"/>
                    </a:p>
                  </a:txBody>
                  <a:tcPr marL="685800" marR="9525" marT="9525" marB="0" anchor="ctr"/>
                </a:tc>
              </a:tr>
              <a:tr h="175260">
                <a:tc>
                  <a:txBody>
                    <a:bodyPr wrap="square"/>
                    <a:lstStyle/>
                    <a:p>
                      <a:pPr algn="l"/>
                      <a:r>
                        <a:rPr sz="1100" b="1" i="0">
                          <a:solidFill>
                            <a:srgbClr val="000000"/>
                          </a:solidFill>
                          <a:latin typeface="Calibri"/>
                        </a:rPr>
                        <a:t>2.</a:t>
                      </a:r>
                      <a:r>
                        <a:rPr sz="700" b="1" i="0">
                          <a:solidFill>
                            <a:srgbClr val="000000"/>
                          </a:solidFill>
                          <a:latin typeface="Times New Roman"/>
                        </a:rPr>
                        <a:t>       </a:t>
                      </a:r>
                      <a:r>
                        <a:rPr sz="1100" b="1" i="0">
                          <a:solidFill>
                            <a:srgbClr val="000000"/>
                          </a:solidFill>
                          <a:latin typeface="Calibri"/>
                        </a:rPr>
                        <a:t>Market Overview</a:t>
                      </a:r>
                      <a:endParaRPr sz="1100"/>
                    </a:p>
                  </a:txBody>
                  <a:tcPr marL="171450" marR="9525" marT="9525" marB="0" anchor="ctr"/>
                </a:tc>
              </a:tr>
              <a:tr h="175260">
                <a:tc>
                  <a:txBody>
                    <a:bodyPr wrap="square"/>
                    <a:lstStyle/>
                    <a:p>
                      <a:pPr algn="l"/>
                      <a:r>
                        <a:rPr sz="1100" b="0" i="0">
                          <a:solidFill>
                            <a:srgbClr val="0070C0"/>
                          </a:solidFill>
                          <a:latin typeface="Calibri"/>
                        </a:rPr>
                        <a:t>2.1.</a:t>
                      </a:r>
                      <a:r>
                        <a:rPr sz="700" b="0" i="0">
                          <a:solidFill>
                            <a:srgbClr val="0070C0"/>
                          </a:solidFill>
                          <a:latin typeface="Times New Roman"/>
                        </a:rPr>
                        <a:t>    </a:t>
                      </a:r>
                      <a:r>
                        <a:rPr sz="1100" b="0" i="0">
                          <a:solidFill>
                            <a:srgbClr val="0070C0"/>
                          </a:solidFill>
                          <a:latin typeface="Calibri"/>
                        </a:rPr>
                        <a:t>Market Coverage / Taxonomy</a:t>
                      </a:r>
                      <a:endParaRPr sz="1100"/>
                    </a:p>
                  </a:txBody>
                  <a:tcPr marL="428625" marR="9525" marT="9525" marB="0" anchor="ctr"/>
                </a:tc>
              </a:tr>
              <a:tr h="175260">
                <a:tc>
                  <a:txBody>
                    <a:bodyPr wrap="square"/>
                    <a:lstStyle/>
                    <a:p>
                      <a:pPr algn="l"/>
                      <a:r>
                        <a:rPr sz="1100" b="0" i="0">
                          <a:solidFill>
                            <a:srgbClr val="0070C0"/>
                          </a:solidFill>
                          <a:latin typeface="Calibri"/>
                        </a:rPr>
                        <a:t>2.2.</a:t>
                      </a:r>
                      <a:r>
                        <a:rPr sz="700" b="0" i="0">
                          <a:solidFill>
                            <a:srgbClr val="0070C0"/>
                          </a:solidFill>
                          <a:latin typeface="Times New Roman"/>
                        </a:rPr>
                        <a:t>    </a:t>
                      </a:r>
                      <a:r>
                        <a:rPr sz="1100" b="0" i="0">
                          <a:solidFill>
                            <a:srgbClr val="0070C0"/>
                          </a:solidFill>
                          <a:latin typeface="Calibri"/>
                        </a:rPr>
                        <a:t>Market Definition By Segments Covered</a:t>
                      </a:r>
                      <a:endParaRPr sz="1100"/>
                    </a:p>
                  </a:txBody>
                  <a:tcPr marL="428625" marR="9525" marT="9525" marB="0" anchor="ctr"/>
                </a:tc>
              </a:tr>
              <a:tr h="175260">
                <a:tc>
                  <a:txBody>
                    <a:bodyPr wrap="square"/>
                    <a:lstStyle/>
                    <a:p>
                      <a:pPr algn="l"/>
                      <a:r>
                        <a:rPr sz="1100" b="1" i="0">
                          <a:solidFill>
                            <a:srgbClr val="000000"/>
                          </a:solidFill>
                          <a:latin typeface="Calibri"/>
                        </a:rPr>
                        <a:t>Section 1: Global Market Outlook</a:t>
                      </a:r>
                      <a:endParaRPr sz="1100"/>
                    </a:p>
                  </a:txBody>
                  <a:tcPr marL="9525" marR="9525" marT="9525" marB="0" anchor="ctr"/>
                </a:tc>
              </a:tr>
              <a:tr h="175260">
                <a:tc>
                  <a:txBody>
                    <a:bodyPr wrap="square"/>
                    <a:lstStyle/>
                    <a:p>
                      <a:pPr algn="l"/>
                      <a:r>
                        <a:rPr sz="1100" b="0" i="1">
                          <a:solidFill>
                            <a:srgbClr val="000000"/>
                          </a:solidFill>
                          <a:latin typeface="Calibri"/>
                        </a:rPr>
                        <a:t>2.2.1.1.</a:t>
                      </a:r>
                      <a:r>
                        <a:rPr sz="700" b="0" i="1">
                          <a:solidFill>
                            <a:srgbClr val="000000"/>
                          </a:solidFill>
                          <a:latin typeface="Times New Roman"/>
                        </a:rPr>
                        <a:t>    </a:t>
                      </a:r>
                      <a:r>
                        <a:rPr sz="1100" b="0" i="1">
                          <a:solidFill>
                            <a:srgbClr val="000000"/>
                          </a:solidFill>
                          <a:latin typeface="Calibri"/>
                        </a:rPr>
                        <a:t>Global Market Size (Value &amp; Volume) 2021–2036</a:t>
                      </a:r>
                      <a:endParaRPr sz="1100"/>
                    </a:p>
                  </a:txBody>
                  <a:tcPr marL="1028700" marR="9525" marT="9525" marB="0" anchor="ctr"/>
                </a:tc>
              </a:tr>
              <a:tr h="175260">
                <a:tc>
                  <a:txBody>
                    <a:bodyPr wrap="square"/>
                    <a:lstStyle/>
                    <a:p>
                      <a:pPr algn="l"/>
                      <a:r>
                        <a:rPr sz="1100" b="0" i="0">
                          <a:solidFill>
                            <a:srgbClr val="0070C0"/>
                          </a:solidFill>
                          <a:latin typeface="Calibri"/>
                        </a:rPr>
                        <a:t>2.3.</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2.4.</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2.5.</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2.6.</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1" i="0">
                          <a:solidFill>
                            <a:srgbClr val="000000"/>
                          </a:solidFill>
                          <a:latin typeface="Calibri"/>
                        </a:rPr>
                        <a:t>3.</a:t>
                      </a:r>
                      <a:r>
                        <a:rPr sz="700" b="1" i="0">
                          <a:solidFill>
                            <a:srgbClr val="000000"/>
                          </a:solidFill>
                          <a:latin typeface="Times New Roman"/>
                        </a:rPr>
                        <a:t>       </a:t>
                      </a:r>
                      <a:r>
                        <a:rPr sz="1100" b="1" i="0">
                          <a:solidFill>
                            <a:srgbClr val="000000"/>
                          </a:solidFill>
                          <a:latin typeface="Calibri"/>
                        </a:rPr>
                        <a:t>Global Market (Value- Volume) Analysis 2021-2036, By Product Type</a:t>
                      </a:r>
                      <a:endParaRPr sz="1100"/>
                    </a:p>
                  </a:txBody>
                  <a:tcPr marL="171450" marR="9525" marT="9525" marB="0" anchor="ctr"/>
                </a:tc>
              </a:tr>
              <a:tr h="175260">
                <a:tc>
                  <a:txBody>
                    <a:bodyPr wrap="square"/>
                    <a:lstStyle/>
                    <a:p>
                      <a:pPr algn="l"/>
                      <a:r>
                        <a:rPr sz="1100" b="0" i="0">
                          <a:solidFill>
                            <a:srgbClr val="0070C0"/>
                          </a:solidFill>
                          <a:latin typeface="Calibri"/>
                        </a:rPr>
                        <a:t>3.1.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3.2.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3.3.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3.4.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3.5.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3.5.1.</a:t>
                      </a:r>
                      <a:r>
                        <a:rPr sz="700" b="0" i="0">
                          <a:solidFill>
                            <a:srgbClr val="000000"/>
                          </a:solidFill>
                          <a:latin typeface="Times New Roman"/>
                        </a:rPr>
                        <a:t>   </a:t>
                      </a:r>
                      <a:r>
                        <a:rPr sz="1100" b="0" i="0">
                          <a:solidFill>
                            <a:srgbClr val="000000"/>
                          </a:solidFill>
                          <a:latin typeface="Calibri"/>
                        </a:rPr>
                        <a:t>Flat Polybags</a:t>
                      </a:r>
                      <a:endParaRPr sz="1100"/>
                    </a:p>
                  </a:txBody>
                  <a:tcPr marL="771525" marR="9525" marT="9525" marB="0" anchor="ctr"/>
                </a:tc>
              </a:tr>
              <a:tr h="175260">
                <a:tc>
                  <a:txBody>
                    <a:bodyPr wrap="square"/>
                    <a:lstStyle/>
                    <a:p>
                      <a:pPr algn="l"/>
                      <a:r>
                        <a:rPr sz="1100" b="0" i="1">
                          <a:solidFill>
                            <a:srgbClr val="000000"/>
                          </a:solidFill>
                          <a:latin typeface="Calibri"/>
                        </a:rPr>
                        <a:t>3.5.1.1.</a:t>
                      </a:r>
                      <a:r>
                        <a:rPr sz="700" b="0" i="1">
                          <a:solidFill>
                            <a:srgbClr val="000000"/>
                          </a:solidFill>
                          <a:latin typeface="Times New Roman"/>
                        </a:rPr>
                        <a:t>    </a:t>
                      </a:r>
                      <a:r>
                        <a:rPr sz="1100" b="0" i="1">
                          <a:solidFill>
                            <a:srgbClr val="000000"/>
                          </a:solidFill>
                          <a:latin typeface="Calibri"/>
                        </a:rPr>
                        <a:t>Standard Flat Bags</a:t>
                      </a:r>
                      <a:endParaRPr sz="1100"/>
                    </a:p>
                  </a:txBody>
                  <a:tcPr marL="1028700" marR="9525" marT="9525" marB="0" anchor="ctr"/>
                </a:tc>
              </a:tr>
              <a:tr h="175260">
                <a:tc>
                  <a:txBody>
                    <a:bodyPr wrap="square"/>
                    <a:lstStyle/>
                    <a:p>
                      <a:pPr algn="l"/>
                      <a:r>
                        <a:rPr sz="1100" b="0" i="1">
                          <a:solidFill>
                            <a:srgbClr val="000000"/>
                          </a:solidFill>
                          <a:latin typeface="Calibri"/>
                        </a:rPr>
                        <a:t>3.5.1.2.</a:t>
                      </a:r>
                      <a:r>
                        <a:rPr sz="700" b="0" i="1">
                          <a:solidFill>
                            <a:srgbClr val="000000"/>
                          </a:solidFill>
                          <a:latin typeface="Times New Roman"/>
                        </a:rPr>
                        <a:t>    </a:t>
                      </a:r>
                      <a:r>
                        <a:rPr sz="1100" b="0" i="1">
                          <a:solidFill>
                            <a:srgbClr val="000000"/>
                          </a:solidFill>
                          <a:latin typeface="Calibri"/>
                        </a:rPr>
                        <a:t>Lay Flat Tubing</a:t>
                      </a:r>
                      <a:endParaRPr sz="1100"/>
                    </a:p>
                  </a:txBody>
                  <a:tcPr marL="1028700" marR="9525" marT="9525" marB="0" anchor="ctr"/>
                </a:tc>
              </a:tr>
              <a:tr h="175260">
                <a:tc>
                  <a:txBody>
                    <a:bodyPr wrap="square"/>
                    <a:lstStyle/>
                    <a:p>
                      <a:pPr algn="l"/>
                      <a:r>
                        <a:rPr sz="1100" b="0" i="1">
                          <a:solidFill>
                            <a:srgbClr val="000000"/>
                          </a:solidFill>
                          <a:latin typeface="Calibri"/>
                        </a:rPr>
                        <a:t>3.5.1.3.</a:t>
                      </a:r>
                      <a:r>
                        <a:rPr sz="700" b="0" i="1">
                          <a:solidFill>
                            <a:srgbClr val="000000"/>
                          </a:solidFill>
                          <a:latin typeface="Times New Roman"/>
                        </a:rPr>
                        <a:t>    </a:t>
                      </a:r>
                      <a:r>
                        <a:rPr sz="1100" b="0" i="1">
                          <a:solidFill>
                            <a:srgbClr val="000000"/>
                          </a:solidFill>
                          <a:latin typeface="Calibri"/>
                        </a:rPr>
                        <a:t>Flat Poly Sleeves</a:t>
                      </a:r>
                      <a:endParaRPr sz="1100"/>
                    </a:p>
                  </a:txBody>
                  <a:tcPr marL="1028700" marR="9525" marT="9525" marB="0" anchor="ctr"/>
                </a:tc>
              </a:tr>
              <a:tr h="175260">
                <a:tc>
                  <a:txBody>
                    <a:bodyPr wrap="square"/>
                    <a:lstStyle/>
                    <a:p>
                      <a:pPr algn="l"/>
                      <a:r>
                        <a:rPr sz="1100" b="0" i="0">
                          <a:solidFill>
                            <a:srgbClr val="000000"/>
                          </a:solidFill>
                          <a:latin typeface="Calibri"/>
                        </a:rPr>
                        <a:t>3.5.2.</a:t>
                      </a:r>
                      <a:r>
                        <a:rPr sz="700" b="0" i="0">
                          <a:solidFill>
                            <a:srgbClr val="000000"/>
                          </a:solidFill>
                          <a:latin typeface="Times New Roman"/>
                        </a:rPr>
                        <a:t>   </a:t>
                      </a:r>
                      <a:r>
                        <a:rPr sz="1100" b="0" i="0">
                          <a:solidFill>
                            <a:srgbClr val="000000"/>
                          </a:solidFill>
                          <a:latin typeface="Calibri"/>
                        </a:rPr>
                        <a:t>Gusseted Polybags</a:t>
                      </a:r>
                      <a:endParaRPr sz="1100"/>
                    </a:p>
                  </a:txBody>
                  <a:tcPr marL="771525" marR="9525" marT="9525" marB="0" anchor="ctr"/>
                </a:tc>
              </a:tr>
              <a:tr h="175260">
                <a:tc>
                  <a:txBody>
                    <a:bodyPr wrap="square"/>
                    <a:lstStyle/>
                    <a:p>
                      <a:pPr algn="l"/>
                      <a:r>
                        <a:rPr sz="1100" b="0" i="1">
                          <a:solidFill>
                            <a:srgbClr val="000000"/>
                          </a:solidFill>
                          <a:latin typeface="Calibri"/>
                        </a:rPr>
                        <a:t>3.5.2.1.</a:t>
                      </a:r>
                      <a:r>
                        <a:rPr sz="700" b="0" i="1">
                          <a:solidFill>
                            <a:srgbClr val="000000"/>
                          </a:solidFill>
                          <a:latin typeface="Times New Roman"/>
                        </a:rPr>
                        <a:t>    </a:t>
                      </a:r>
                      <a:r>
                        <a:rPr sz="1100" b="0" i="1">
                          <a:solidFill>
                            <a:srgbClr val="000000"/>
                          </a:solidFill>
                          <a:latin typeface="Calibri"/>
                        </a:rPr>
                        <a:t>Side Gusset Bags</a:t>
                      </a:r>
                      <a:endParaRPr sz="1100"/>
                    </a:p>
                  </a:txBody>
                  <a:tcPr marL="1028700" marR="9525" marT="9525" marB="0" anchor="ctr"/>
                </a:tc>
              </a:tr>
              <a:tr h="175260">
                <a:tc>
                  <a:txBody>
                    <a:bodyPr wrap="square"/>
                    <a:lstStyle/>
                    <a:p>
                      <a:pPr algn="l"/>
                      <a:r>
                        <a:rPr sz="1100" b="0" i="1">
                          <a:solidFill>
                            <a:srgbClr val="000000"/>
                          </a:solidFill>
                          <a:latin typeface="Calibri"/>
                        </a:rPr>
                        <a:t>3.5.2.2.</a:t>
                      </a:r>
                      <a:r>
                        <a:rPr sz="700" b="0" i="1">
                          <a:solidFill>
                            <a:srgbClr val="000000"/>
                          </a:solidFill>
                          <a:latin typeface="Times New Roman"/>
                        </a:rPr>
                        <a:t>    </a:t>
                      </a:r>
                      <a:r>
                        <a:rPr sz="1100" b="0" i="1">
                          <a:solidFill>
                            <a:srgbClr val="000000"/>
                          </a:solidFill>
                          <a:latin typeface="Calibri"/>
                        </a:rPr>
                        <a:t>Bottom Gusset Bags</a:t>
                      </a:r>
                      <a:endParaRPr sz="1100"/>
                    </a:p>
                  </a:txBody>
                  <a:tcPr marL="1028700" marR="9525" marT="9525" marB="0" anchor="ctr"/>
                </a:tc>
              </a:tr>
              <a:tr h="175260">
                <a:tc>
                  <a:txBody>
                    <a:bodyPr wrap="square"/>
                    <a:lstStyle/>
                    <a:p>
                      <a:pPr algn="l"/>
                      <a:r>
                        <a:rPr sz="1100" b="0" i="1">
                          <a:solidFill>
                            <a:srgbClr val="000000"/>
                          </a:solidFill>
                          <a:latin typeface="Calibri"/>
                        </a:rPr>
                        <a:t>3.5.2.3.</a:t>
                      </a:r>
                      <a:r>
                        <a:rPr sz="700" b="0" i="1">
                          <a:solidFill>
                            <a:srgbClr val="000000"/>
                          </a:solidFill>
                          <a:latin typeface="Times New Roman"/>
                        </a:rPr>
                        <a:t>    </a:t>
                      </a:r>
                      <a:r>
                        <a:rPr sz="1100" b="0" i="1">
                          <a:solidFill>
                            <a:srgbClr val="000000"/>
                          </a:solidFill>
                          <a:latin typeface="Calibri"/>
                        </a:rPr>
                        <a:t>Quad Seal Bags</a:t>
                      </a:r>
                      <a:endParaRPr sz="1100"/>
                    </a:p>
                  </a:txBody>
                  <a:tcPr marL="1028700" marR="9525" marT="9525" marB="0" anchor="ctr"/>
                </a:tc>
              </a:tr>
              <a:tr h="175260">
                <a:tc>
                  <a:txBody>
                    <a:bodyPr wrap="square"/>
                    <a:lstStyle/>
                    <a:p>
                      <a:pPr algn="l"/>
                      <a:r>
                        <a:rPr sz="1100" b="0" i="0">
                          <a:solidFill>
                            <a:srgbClr val="000000"/>
                          </a:solidFill>
                          <a:latin typeface="Calibri"/>
                        </a:rPr>
                        <a:t>3.5.3.</a:t>
                      </a:r>
                      <a:r>
                        <a:rPr sz="700" b="0" i="0">
                          <a:solidFill>
                            <a:srgbClr val="000000"/>
                          </a:solidFill>
                          <a:latin typeface="Times New Roman"/>
                        </a:rPr>
                        <a:t>   </a:t>
                      </a:r>
                      <a:r>
                        <a:rPr sz="1100" b="0" i="0">
                          <a:solidFill>
                            <a:srgbClr val="000000"/>
                          </a:solidFill>
                          <a:latin typeface="Calibri"/>
                        </a:rPr>
                        <a:t>Resealable Polybags</a:t>
                      </a:r>
                      <a:endParaRPr sz="1100"/>
                    </a:p>
                  </a:txBody>
                  <a:tcPr marL="771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1">
                          <a:solidFill>
                            <a:srgbClr val="000000"/>
                          </a:solidFill>
                          <a:latin typeface="Calibri"/>
                        </a:rPr>
                        <a:t>3.5.3.1.</a:t>
                      </a:r>
                      <a:r>
                        <a:rPr sz="700" b="0" i="1">
                          <a:solidFill>
                            <a:srgbClr val="000000"/>
                          </a:solidFill>
                          <a:latin typeface="Times New Roman"/>
                        </a:rPr>
                        <a:t>    </a:t>
                      </a:r>
                      <a:r>
                        <a:rPr sz="1100" b="0" i="1">
                          <a:solidFill>
                            <a:srgbClr val="000000"/>
                          </a:solidFill>
                          <a:latin typeface="Calibri"/>
                        </a:rPr>
                        <a:t>Zip Lock Bags</a:t>
                      </a:r>
                      <a:endParaRPr sz="1100"/>
                    </a:p>
                  </a:txBody>
                  <a:tcPr marL="1028700" marR="9525" marT="9525" marB="0" anchor="ctr"/>
                </a:tc>
              </a:tr>
              <a:tr h="175260">
                <a:tc>
                  <a:txBody>
                    <a:bodyPr wrap="square"/>
                    <a:lstStyle/>
                    <a:p>
                      <a:pPr algn="l"/>
                      <a:r>
                        <a:rPr sz="1100" b="0" i="1">
                          <a:solidFill>
                            <a:srgbClr val="000000"/>
                          </a:solidFill>
                          <a:latin typeface="Calibri"/>
                        </a:rPr>
                        <a:t>3.5.3.2.</a:t>
                      </a:r>
                      <a:r>
                        <a:rPr sz="700" b="0" i="1">
                          <a:solidFill>
                            <a:srgbClr val="000000"/>
                          </a:solidFill>
                          <a:latin typeface="Times New Roman"/>
                        </a:rPr>
                        <a:t>    </a:t>
                      </a:r>
                      <a:r>
                        <a:rPr sz="1100" b="0" i="1">
                          <a:solidFill>
                            <a:srgbClr val="000000"/>
                          </a:solidFill>
                          <a:latin typeface="Calibri"/>
                        </a:rPr>
                        <a:t>Slider Zip Bags</a:t>
                      </a:r>
                      <a:endParaRPr sz="1100"/>
                    </a:p>
                  </a:txBody>
                  <a:tcPr marL="1028700" marR="9525" marT="9525" marB="0" anchor="ctr"/>
                </a:tc>
              </a:tr>
              <a:tr h="175260">
                <a:tc>
                  <a:txBody>
                    <a:bodyPr wrap="square"/>
                    <a:lstStyle/>
                    <a:p>
                      <a:pPr algn="l"/>
                      <a:r>
                        <a:rPr sz="1100" b="0" i="1">
                          <a:solidFill>
                            <a:srgbClr val="000000"/>
                          </a:solidFill>
                          <a:latin typeface="Calibri"/>
                        </a:rPr>
                        <a:t>3.5.3.3.</a:t>
                      </a:r>
                      <a:r>
                        <a:rPr sz="700" b="0" i="1">
                          <a:solidFill>
                            <a:srgbClr val="000000"/>
                          </a:solidFill>
                          <a:latin typeface="Times New Roman"/>
                        </a:rPr>
                        <a:t>    </a:t>
                      </a:r>
                      <a:r>
                        <a:rPr sz="1100" b="0" i="1">
                          <a:solidFill>
                            <a:srgbClr val="000000"/>
                          </a:solidFill>
                          <a:latin typeface="Calibri"/>
                        </a:rPr>
                        <a:t>Press-to-Close Bags</a:t>
                      </a:r>
                      <a:endParaRPr sz="1100"/>
                    </a:p>
                  </a:txBody>
                  <a:tcPr marL="1028700" marR="9525" marT="9525" marB="0" anchor="ctr"/>
                </a:tc>
              </a:tr>
              <a:tr h="175260">
                <a:tc>
                  <a:txBody>
                    <a:bodyPr wrap="square"/>
                    <a:lstStyle/>
                    <a:p>
                      <a:pPr algn="l"/>
                      <a:r>
                        <a:rPr sz="1100" b="0" i="1">
                          <a:solidFill>
                            <a:srgbClr val="000000"/>
                          </a:solidFill>
                          <a:latin typeface="Calibri"/>
                        </a:rPr>
                        <a:t>3.5.3.4.</a:t>
                      </a:r>
                      <a:r>
                        <a:rPr sz="700" b="0" i="1">
                          <a:solidFill>
                            <a:srgbClr val="000000"/>
                          </a:solidFill>
                          <a:latin typeface="Times New Roman"/>
                        </a:rPr>
                        <a:t>    </a:t>
                      </a:r>
                      <a:r>
                        <a:rPr sz="1100" b="0" i="1">
                          <a:solidFill>
                            <a:srgbClr val="000000"/>
                          </a:solidFill>
                          <a:latin typeface="Calibri"/>
                        </a:rPr>
                        <a:t>Double Zip Bags</a:t>
                      </a:r>
                      <a:endParaRPr sz="1100"/>
                    </a:p>
                  </a:txBody>
                  <a:tcPr marL="1028700" marR="9525" marT="9525" marB="0" anchor="ctr"/>
                </a:tc>
              </a:tr>
              <a:tr h="175260">
                <a:tc>
                  <a:txBody>
                    <a:bodyPr wrap="square"/>
                    <a:lstStyle/>
                    <a:p>
                      <a:pPr algn="l"/>
                      <a:r>
                        <a:rPr sz="1100" b="0" i="0">
                          <a:solidFill>
                            <a:srgbClr val="000000"/>
                          </a:solidFill>
                          <a:latin typeface="Calibri"/>
                        </a:rPr>
                        <a:t>3.5.4.</a:t>
                      </a:r>
                      <a:r>
                        <a:rPr sz="700" b="0" i="0">
                          <a:solidFill>
                            <a:srgbClr val="000000"/>
                          </a:solidFill>
                          <a:latin typeface="Times New Roman"/>
                        </a:rPr>
                        <a:t>   </a:t>
                      </a:r>
                      <a:r>
                        <a:rPr sz="1100" b="0" i="0">
                          <a:solidFill>
                            <a:srgbClr val="000000"/>
                          </a:solidFill>
                          <a:latin typeface="Calibri"/>
                        </a:rPr>
                        <a:t>Industrial Polybags</a:t>
                      </a:r>
                      <a:endParaRPr sz="1100"/>
                    </a:p>
                  </a:txBody>
                  <a:tcPr marL="771525" marR="9525" marT="9525" marB="0" anchor="ctr"/>
                </a:tc>
              </a:tr>
              <a:tr h="175260">
                <a:tc>
                  <a:txBody>
                    <a:bodyPr wrap="square"/>
                    <a:lstStyle/>
                    <a:p>
                      <a:pPr algn="l"/>
                      <a:r>
                        <a:rPr sz="1100" b="0" i="1">
                          <a:solidFill>
                            <a:srgbClr val="000000"/>
                          </a:solidFill>
                          <a:latin typeface="Calibri"/>
                        </a:rPr>
                        <a:t>3.5.4.1.</a:t>
                      </a:r>
                      <a:r>
                        <a:rPr sz="700" b="0" i="1">
                          <a:solidFill>
                            <a:srgbClr val="000000"/>
                          </a:solidFill>
                          <a:latin typeface="Times New Roman"/>
                        </a:rPr>
                        <a:t>    </a:t>
                      </a:r>
                      <a:r>
                        <a:rPr sz="1100" b="0" i="1">
                          <a:solidFill>
                            <a:srgbClr val="000000"/>
                          </a:solidFill>
                          <a:latin typeface="Calibri"/>
                        </a:rPr>
                        <a:t>Heavy-Duty Bags</a:t>
                      </a:r>
                      <a:endParaRPr sz="1100"/>
                    </a:p>
                  </a:txBody>
                  <a:tcPr marL="1028700" marR="9525" marT="9525" marB="0" anchor="ctr"/>
                </a:tc>
              </a:tr>
              <a:tr h="175260">
                <a:tc>
                  <a:txBody>
                    <a:bodyPr wrap="square"/>
                    <a:lstStyle/>
                    <a:p>
                      <a:pPr algn="l"/>
                      <a:r>
                        <a:rPr sz="1100" b="0" i="1">
                          <a:solidFill>
                            <a:srgbClr val="000000"/>
                          </a:solidFill>
                          <a:latin typeface="Calibri"/>
                        </a:rPr>
                        <a:t>3.5.4.2.</a:t>
                      </a:r>
                      <a:r>
                        <a:rPr sz="700" b="0" i="1">
                          <a:solidFill>
                            <a:srgbClr val="000000"/>
                          </a:solidFill>
                          <a:latin typeface="Times New Roman"/>
                        </a:rPr>
                        <a:t>    </a:t>
                      </a:r>
                      <a:r>
                        <a:rPr sz="1100" b="0" i="1">
                          <a:solidFill>
                            <a:srgbClr val="000000"/>
                          </a:solidFill>
                          <a:latin typeface="Calibri"/>
                        </a:rPr>
                        <a:t>FIBC Liners</a:t>
                      </a:r>
                      <a:endParaRPr sz="1100"/>
                    </a:p>
                  </a:txBody>
                  <a:tcPr marL="1028700" marR="9525" marT="9525" marB="0" anchor="ctr"/>
                </a:tc>
              </a:tr>
              <a:tr h="175260">
                <a:tc>
                  <a:txBody>
                    <a:bodyPr wrap="square"/>
                    <a:lstStyle/>
                    <a:p>
                      <a:pPr algn="l"/>
                      <a:r>
                        <a:rPr sz="1100" b="0" i="1">
                          <a:solidFill>
                            <a:srgbClr val="000000"/>
                          </a:solidFill>
                          <a:latin typeface="Calibri"/>
                        </a:rPr>
                        <a:t>3.5.4.3.</a:t>
                      </a:r>
                      <a:r>
                        <a:rPr sz="700" b="0" i="1">
                          <a:solidFill>
                            <a:srgbClr val="000000"/>
                          </a:solidFill>
                          <a:latin typeface="Times New Roman"/>
                        </a:rPr>
                        <a:t>    </a:t>
                      </a:r>
                      <a:r>
                        <a:rPr sz="1100" b="0" i="1">
                          <a:solidFill>
                            <a:srgbClr val="000000"/>
                          </a:solidFill>
                          <a:latin typeface="Calibri"/>
                        </a:rPr>
                        <a:t>Machinery Parts Bags</a:t>
                      </a:r>
                      <a:endParaRPr sz="1100"/>
                    </a:p>
                  </a:txBody>
                  <a:tcPr marL="1028700" marR="9525" marT="9525" marB="0" anchor="ctr"/>
                </a:tc>
              </a:tr>
              <a:tr h="175260">
                <a:tc>
                  <a:txBody>
                    <a:bodyPr wrap="square"/>
                    <a:lstStyle/>
                    <a:p>
                      <a:pPr algn="l"/>
                      <a:r>
                        <a:rPr sz="1100" b="0" i="1">
                          <a:solidFill>
                            <a:srgbClr val="000000"/>
                          </a:solidFill>
                          <a:latin typeface="Calibri"/>
                        </a:rPr>
                        <a:t>3.5.4.4.</a:t>
                      </a:r>
                      <a:r>
                        <a:rPr sz="700" b="0" i="1">
                          <a:solidFill>
                            <a:srgbClr val="000000"/>
                          </a:solidFill>
                          <a:latin typeface="Times New Roman"/>
                        </a:rPr>
                        <a:t>    </a:t>
                      </a:r>
                      <a:r>
                        <a:rPr sz="1100" b="0" i="1">
                          <a:solidFill>
                            <a:srgbClr val="000000"/>
                          </a:solidFill>
                          <a:latin typeface="Calibri"/>
                        </a:rPr>
                        <a:t>Chemical Packaging Bags</a:t>
                      </a:r>
                      <a:endParaRPr sz="1100"/>
                    </a:p>
                  </a:txBody>
                  <a:tcPr marL="1028700" marR="9525" marT="9525" marB="0" anchor="ctr"/>
                </a:tc>
              </a:tr>
              <a:tr h="175260">
                <a:tc>
                  <a:txBody>
                    <a:bodyPr wrap="square"/>
                    <a:lstStyle/>
                    <a:p>
                      <a:pPr algn="l"/>
                      <a:r>
                        <a:rPr sz="1100" b="0" i="0">
                          <a:solidFill>
                            <a:srgbClr val="000000"/>
                          </a:solidFill>
                          <a:latin typeface="Calibri"/>
                        </a:rPr>
                        <a:t>3.5.5.</a:t>
                      </a:r>
                      <a:r>
                        <a:rPr sz="700" b="0" i="0">
                          <a:solidFill>
                            <a:srgbClr val="000000"/>
                          </a:solidFill>
                          <a:latin typeface="Times New Roman"/>
                        </a:rPr>
                        <a:t>   </a:t>
                      </a:r>
                      <a:r>
                        <a:rPr sz="1100" b="0" i="0">
                          <a:solidFill>
                            <a:srgbClr val="000000"/>
                          </a:solidFill>
                          <a:latin typeface="Calibri"/>
                        </a:rPr>
                        <a:t>Protective Polybags</a:t>
                      </a:r>
                      <a:endParaRPr sz="1100"/>
                    </a:p>
                  </a:txBody>
                  <a:tcPr marL="771525" marR="9525" marT="9525" marB="0" anchor="ctr"/>
                </a:tc>
              </a:tr>
              <a:tr h="175260">
                <a:tc>
                  <a:txBody>
                    <a:bodyPr wrap="square"/>
                    <a:lstStyle/>
                    <a:p>
                      <a:pPr algn="l"/>
                      <a:r>
                        <a:rPr sz="1100" b="0" i="1">
                          <a:solidFill>
                            <a:srgbClr val="000000"/>
                          </a:solidFill>
                          <a:latin typeface="Calibri"/>
                        </a:rPr>
                        <a:t>3.5.5.1.</a:t>
                      </a:r>
                      <a:r>
                        <a:rPr sz="700" b="0" i="1">
                          <a:solidFill>
                            <a:srgbClr val="000000"/>
                          </a:solidFill>
                          <a:latin typeface="Times New Roman"/>
                        </a:rPr>
                        <a:t>    </a:t>
                      </a:r>
                      <a:r>
                        <a:rPr sz="1100" b="0" i="1">
                          <a:solidFill>
                            <a:srgbClr val="000000"/>
                          </a:solidFill>
                          <a:latin typeface="Calibri"/>
                        </a:rPr>
                        <a:t>Bubble Poly Mailers</a:t>
                      </a:r>
                      <a:endParaRPr sz="1100"/>
                    </a:p>
                  </a:txBody>
                  <a:tcPr marL="1028700" marR="9525" marT="9525" marB="0" anchor="ctr"/>
                </a:tc>
              </a:tr>
              <a:tr h="175260">
                <a:tc>
                  <a:txBody>
                    <a:bodyPr wrap="square"/>
                    <a:lstStyle/>
                    <a:p>
                      <a:pPr algn="l"/>
                      <a:r>
                        <a:rPr sz="1100" b="0" i="1">
                          <a:solidFill>
                            <a:srgbClr val="000000"/>
                          </a:solidFill>
                          <a:latin typeface="Calibri"/>
                        </a:rPr>
                        <a:t>3.5.5.2.</a:t>
                      </a:r>
                      <a:r>
                        <a:rPr sz="700" b="0" i="1">
                          <a:solidFill>
                            <a:srgbClr val="000000"/>
                          </a:solidFill>
                          <a:latin typeface="Times New Roman"/>
                        </a:rPr>
                        <a:t>    </a:t>
                      </a:r>
                      <a:r>
                        <a:rPr sz="1100" b="0" i="1">
                          <a:solidFill>
                            <a:srgbClr val="000000"/>
                          </a:solidFill>
                          <a:latin typeface="Calibri"/>
                        </a:rPr>
                        <a:t>Anti-Static (ESD) Bags</a:t>
                      </a:r>
                      <a:endParaRPr sz="1100"/>
                    </a:p>
                  </a:txBody>
                  <a:tcPr marL="1028700" marR="9525" marT="9525" marB="0" anchor="ctr"/>
                </a:tc>
              </a:tr>
              <a:tr h="175260">
                <a:tc>
                  <a:txBody>
                    <a:bodyPr wrap="square"/>
                    <a:lstStyle/>
                    <a:p>
                      <a:pPr algn="l"/>
                      <a:r>
                        <a:rPr sz="1100" b="0" i="1">
                          <a:solidFill>
                            <a:srgbClr val="000000"/>
                          </a:solidFill>
                          <a:latin typeface="Calibri"/>
                        </a:rPr>
                        <a:t>3.5.5.3.</a:t>
                      </a:r>
                      <a:r>
                        <a:rPr sz="700" b="0" i="1">
                          <a:solidFill>
                            <a:srgbClr val="000000"/>
                          </a:solidFill>
                          <a:latin typeface="Times New Roman"/>
                        </a:rPr>
                        <a:t>    </a:t>
                      </a:r>
                      <a:r>
                        <a:rPr sz="1100" b="0" i="1">
                          <a:solidFill>
                            <a:srgbClr val="000000"/>
                          </a:solidFill>
                          <a:latin typeface="Calibri"/>
                        </a:rPr>
                        <a:t>Vacuum Bags</a:t>
                      </a:r>
                      <a:endParaRPr sz="1100"/>
                    </a:p>
                  </a:txBody>
                  <a:tcPr marL="1028700" marR="9525" marT="9525" marB="0" anchor="ctr"/>
                </a:tc>
              </a:tr>
              <a:tr h="175260">
                <a:tc>
                  <a:txBody>
                    <a:bodyPr wrap="square"/>
                    <a:lstStyle/>
                    <a:p>
                      <a:pPr algn="l"/>
                      <a:r>
                        <a:rPr sz="1100" b="0" i="1">
                          <a:solidFill>
                            <a:srgbClr val="000000"/>
                          </a:solidFill>
                          <a:latin typeface="Calibri"/>
                        </a:rPr>
                        <a:t>3.5.5.4.</a:t>
                      </a:r>
                      <a:r>
                        <a:rPr sz="700" b="0" i="1">
                          <a:solidFill>
                            <a:srgbClr val="000000"/>
                          </a:solidFill>
                          <a:latin typeface="Times New Roman"/>
                        </a:rPr>
                        <a:t>    </a:t>
                      </a:r>
                      <a:r>
                        <a:rPr sz="1100" b="0" i="1">
                          <a:solidFill>
                            <a:srgbClr val="000000"/>
                          </a:solidFill>
                          <a:latin typeface="Calibri"/>
                        </a:rPr>
                        <a:t>Cushion Packaging Bags</a:t>
                      </a:r>
                      <a:endParaRPr sz="1100"/>
                    </a:p>
                  </a:txBody>
                  <a:tcPr marL="1028700" marR="9525" marT="9525" marB="0" anchor="ctr"/>
                </a:tc>
              </a:tr>
              <a:tr h="175260">
                <a:tc>
                  <a:txBody>
                    <a:bodyPr wrap="square"/>
                    <a:lstStyle/>
                    <a:p>
                      <a:pPr algn="l"/>
                      <a:r>
                        <a:rPr sz="1100" b="0" i="0">
                          <a:solidFill>
                            <a:srgbClr val="000000"/>
                          </a:solidFill>
                          <a:latin typeface="Calibri"/>
                        </a:rPr>
                        <a:t>3.5.6.</a:t>
                      </a:r>
                      <a:r>
                        <a:rPr sz="700" b="0" i="0">
                          <a:solidFill>
                            <a:srgbClr val="000000"/>
                          </a:solidFill>
                          <a:latin typeface="Times New Roman"/>
                        </a:rPr>
                        <a:t>   </a:t>
                      </a:r>
                      <a:r>
                        <a:rPr sz="1100" b="0" i="0">
                          <a:solidFill>
                            <a:srgbClr val="000000"/>
                          </a:solidFill>
                          <a:latin typeface="Calibri"/>
                        </a:rPr>
                        <a:t>Retail &amp; Merchandise Bags</a:t>
                      </a:r>
                      <a:endParaRPr sz="1100"/>
                    </a:p>
                  </a:txBody>
                  <a:tcPr marL="771525" marR="9525" marT="9525" marB="0" anchor="ctr"/>
                </a:tc>
              </a:tr>
              <a:tr h="175260">
                <a:tc>
                  <a:txBody>
                    <a:bodyPr wrap="square"/>
                    <a:lstStyle/>
                    <a:p>
                      <a:pPr algn="l"/>
                      <a:r>
                        <a:rPr sz="1100" b="0" i="1">
                          <a:solidFill>
                            <a:srgbClr val="000000"/>
                          </a:solidFill>
                          <a:latin typeface="Calibri"/>
                        </a:rPr>
                        <a:t>3.5.6.1.</a:t>
                      </a:r>
                      <a:r>
                        <a:rPr sz="700" b="0" i="1">
                          <a:solidFill>
                            <a:srgbClr val="000000"/>
                          </a:solidFill>
                          <a:latin typeface="Times New Roman"/>
                        </a:rPr>
                        <a:t>    </a:t>
                      </a:r>
                      <a:r>
                        <a:rPr sz="1100" b="0" i="1">
                          <a:solidFill>
                            <a:srgbClr val="000000"/>
                          </a:solidFill>
                          <a:latin typeface="Calibri"/>
                        </a:rPr>
                        <a:t>T-Shirt Bags</a:t>
                      </a:r>
                      <a:endParaRPr sz="1100"/>
                    </a:p>
                  </a:txBody>
                  <a:tcPr marL="1028700" marR="9525" marT="9525" marB="0" anchor="ctr"/>
                </a:tc>
              </a:tr>
              <a:tr h="175260">
                <a:tc>
                  <a:txBody>
                    <a:bodyPr wrap="square"/>
                    <a:lstStyle/>
                    <a:p>
                      <a:pPr algn="l"/>
                      <a:r>
                        <a:rPr sz="1100" b="0" i="1">
                          <a:solidFill>
                            <a:srgbClr val="000000"/>
                          </a:solidFill>
                          <a:latin typeface="Calibri"/>
                        </a:rPr>
                        <a:t>3.5.6.2.</a:t>
                      </a:r>
                      <a:r>
                        <a:rPr sz="700" b="0" i="1">
                          <a:solidFill>
                            <a:srgbClr val="000000"/>
                          </a:solidFill>
                          <a:latin typeface="Times New Roman"/>
                        </a:rPr>
                        <a:t>    </a:t>
                      </a:r>
                      <a:r>
                        <a:rPr sz="1100" b="0" i="1">
                          <a:solidFill>
                            <a:srgbClr val="000000"/>
                          </a:solidFill>
                          <a:latin typeface="Calibri"/>
                        </a:rPr>
                        <a:t>Merchandise Bags</a:t>
                      </a:r>
                      <a:endParaRPr sz="1100"/>
                    </a:p>
                  </a:txBody>
                  <a:tcPr marL="1028700" marR="9525" marT="9525" marB="0" anchor="ctr"/>
                </a:tc>
              </a:tr>
              <a:tr h="175260">
                <a:tc>
                  <a:txBody>
                    <a:bodyPr wrap="square"/>
                    <a:lstStyle/>
                    <a:p>
                      <a:pPr algn="l"/>
                      <a:r>
                        <a:rPr sz="1100" b="0" i="1">
                          <a:solidFill>
                            <a:srgbClr val="000000"/>
                          </a:solidFill>
                          <a:latin typeface="Calibri"/>
                        </a:rPr>
                        <a:t>3.5.6.3.</a:t>
                      </a:r>
                      <a:r>
                        <a:rPr sz="700" b="0" i="1">
                          <a:solidFill>
                            <a:srgbClr val="000000"/>
                          </a:solidFill>
                          <a:latin typeface="Times New Roman"/>
                        </a:rPr>
                        <a:t>    </a:t>
                      </a:r>
                      <a:r>
                        <a:rPr sz="1100" b="0" i="1">
                          <a:solidFill>
                            <a:srgbClr val="000000"/>
                          </a:solidFill>
                          <a:latin typeface="Calibri"/>
                        </a:rPr>
                        <a:t>Die-Cut Handle Bags</a:t>
                      </a:r>
                      <a:endParaRPr sz="1100"/>
                    </a:p>
                  </a:txBody>
                  <a:tcPr marL="1028700" marR="9525" marT="9525" marB="0" anchor="ctr"/>
                </a:tc>
              </a:tr>
              <a:tr h="175260">
                <a:tc>
                  <a:txBody>
                    <a:bodyPr wrap="square"/>
                    <a:lstStyle/>
                    <a:p>
                      <a:pPr algn="l"/>
                      <a:r>
                        <a:rPr sz="1100" b="0" i="1">
                          <a:solidFill>
                            <a:srgbClr val="000000"/>
                          </a:solidFill>
                          <a:latin typeface="Calibri"/>
                        </a:rPr>
                        <a:t>3.5.6.4.</a:t>
                      </a:r>
                      <a:r>
                        <a:rPr sz="700" b="0" i="1">
                          <a:solidFill>
                            <a:srgbClr val="000000"/>
                          </a:solidFill>
                          <a:latin typeface="Times New Roman"/>
                        </a:rPr>
                        <a:t>    </a:t>
                      </a:r>
                      <a:r>
                        <a:rPr sz="1100" b="0" i="1">
                          <a:solidFill>
                            <a:srgbClr val="000000"/>
                          </a:solidFill>
                          <a:latin typeface="Calibri"/>
                        </a:rPr>
                        <a:t>Patch Handle Bags</a:t>
                      </a:r>
                      <a:endParaRPr sz="1100"/>
                    </a:p>
                  </a:txBody>
                  <a:tcPr marL="1028700" marR="9525" marT="9525" marB="0" anchor="ctr"/>
                </a:tc>
              </a:tr>
              <a:tr h="175260">
                <a:tc>
                  <a:txBody>
                    <a:bodyPr wrap="square"/>
                    <a:lstStyle/>
                    <a:p>
                      <a:pPr algn="l"/>
                      <a:r>
                        <a:rPr sz="1100" b="0" i="1">
                          <a:solidFill>
                            <a:srgbClr val="000000"/>
                          </a:solidFill>
                          <a:latin typeface="Calibri"/>
                        </a:rPr>
                        <a:t>3.5.6.5.</a:t>
                      </a:r>
                      <a:r>
                        <a:rPr sz="700" b="0" i="1">
                          <a:solidFill>
                            <a:srgbClr val="000000"/>
                          </a:solidFill>
                          <a:latin typeface="Times New Roman"/>
                        </a:rPr>
                        <a:t>    </a:t>
                      </a:r>
                      <a:r>
                        <a:rPr sz="1100" b="0" i="1">
                          <a:solidFill>
                            <a:srgbClr val="000000"/>
                          </a:solidFill>
                          <a:latin typeface="Calibri"/>
                        </a:rPr>
                        <a:t>D-Cut Bags</a:t>
                      </a:r>
                      <a:endParaRPr sz="1100"/>
                    </a:p>
                  </a:txBody>
                  <a:tcPr marL="1028700" marR="9525" marT="9525" marB="0" anchor="ctr"/>
                </a:tc>
              </a:tr>
              <a:tr h="175260">
                <a:tc>
                  <a:txBody>
                    <a:bodyPr wrap="square"/>
                    <a:lstStyle/>
                    <a:p>
                      <a:pPr algn="l"/>
                      <a:r>
                        <a:rPr sz="1100" b="0" i="0">
                          <a:solidFill>
                            <a:srgbClr val="000000"/>
                          </a:solidFill>
                          <a:latin typeface="Calibri"/>
                        </a:rPr>
                        <a:t>3.5.7.</a:t>
                      </a:r>
                      <a:r>
                        <a:rPr sz="700" b="0" i="0">
                          <a:solidFill>
                            <a:srgbClr val="000000"/>
                          </a:solidFill>
                          <a:latin typeface="Times New Roman"/>
                        </a:rPr>
                        <a:t>   </a:t>
                      </a:r>
                      <a:r>
                        <a:rPr sz="1100" b="0" i="0">
                          <a:solidFill>
                            <a:srgbClr val="000000"/>
                          </a:solidFill>
                          <a:latin typeface="Calibri"/>
                        </a:rPr>
                        <a:t>E-commerce Polybags</a:t>
                      </a:r>
                      <a:endParaRPr sz="1100"/>
                    </a:p>
                  </a:txBody>
                  <a:tcPr marL="771525" marR="9525" marT="9525" marB="0" anchor="ctr"/>
                </a:tc>
              </a:tr>
              <a:tr h="175260">
                <a:tc>
                  <a:txBody>
                    <a:bodyPr wrap="square"/>
                    <a:lstStyle/>
                    <a:p>
                      <a:pPr algn="l"/>
                      <a:r>
                        <a:rPr sz="1100" b="0" i="1">
                          <a:solidFill>
                            <a:srgbClr val="000000"/>
                          </a:solidFill>
                          <a:latin typeface="Calibri"/>
                        </a:rPr>
                        <a:t>3.5.7.1.</a:t>
                      </a:r>
                      <a:r>
                        <a:rPr sz="700" b="0" i="1">
                          <a:solidFill>
                            <a:srgbClr val="000000"/>
                          </a:solidFill>
                          <a:latin typeface="Times New Roman"/>
                        </a:rPr>
                        <a:t>    </a:t>
                      </a:r>
                      <a:r>
                        <a:rPr sz="1100" b="0" i="1">
                          <a:solidFill>
                            <a:srgbClr val="000000"/>
                          </a:solidFill>
                          <a:latin typeface="Calibri"/>
                        </a:rPr>
                        <a:t>Courier Mailers</a:t>
                      </a:r>
                      <a:endParaRPr sz="1100"/>
                    </a:p>
                  </a:txBody>
                  <a:tcPr marL="1028700" marR="9525" marT="9525" marB="0" anchor="ctr"/>
                </a:tc>
              </a:tr>
              <a:tr h="175260">
                <a:tc>
                  <a:txBody>
                    <a:bodyPr wrap="square"/>
                    <a:lstStyle/>
                    <a:p>
                      <a:pPr algn="l"/>
                      <a:r>
                        <a:rPr sz="1100" b="0" i="1">
                          <a:solidFill>
                            <a:srgbClr val="000000"/>
                          </a:solidFill>
                          <a:latin typeface="Calibri"/>
                        </a:rPr>
                        <a:t>3.5.7.2.</a:t>
                      </a:r>
                      <a:r>
                        <a:rPr sz="700" b="0" i="1">
                          <a:solidFill>
                            <a:srgbClr val="000000"/>
                          </a:solidFill>
                          <a:latin typeface="Times New Roman"/>
                        </a:rPr>
                        <a:t>    </a:t>
                      </a:r>
                      <a:r>
                        <a:rPr sz="1100" b="0" i="1">
                          <a:solidFill>
                            <a:srgbClr val="000000"/>
                          </a:solidFill>
                          <a:latin typeface="Calibri"/>
                        </a:rPr>
                        <a:t>Tamper-Evident Mailers</a:t>
                      </a:r>
                      <a:endParaRPr sz="1100"/>
                    </a:p>
                  </a:txBody>
                  <a:tcPr marL="1028700" marR="9525" marT="9525" marB="0" anchor="ctr"/>
                </a:tc>
              </a:tr>
              <a:tr h="175260">
                <a:tc>
                  <a:txBody>
                    <a:bodyPr wrap="square"/>
                    <a:lstStyle/>
                    <a:p>
                      <a:pPr algn="l"/>
                      <a:r>
                        <a:rPr sz="1100" b="0" i="1">
                          <a:solidFill>
                            <a:srgbClr val="000000"/>
                          </a:solidFill>
                          <a:latin typeface="Calibri"/>
                        </a:rPr>
                        <a:t>3.5.7.3.</a:t>
                      </a:r>
                      <a:r>
                        <a:rPr sz="700" b="0" i="1">
                          <a:solidFill>
                            <a:srgbClr val="000000"/>
                          </a:solidFill>
                          <a:latin typeface="Times New Roman"/>
                        </a:rPr>
                        <a:t>    </a:t>
                      </a:r>
                      <a:r>
                        <a:rPr sz="1100" b="0" i="1">
                          <a:solidFill>
                            <a:srgbClr val="000000"/>
                          </a:solidFill>
                          <a:latin typeface="Calibri"/>
                        </a:rPr>
                        <a:t>Return Mailers</a:t>
                      </a:r>
                      <a:endParaRPr sz="1100"/>
                    </a:p>
                  </a:txBody>
                  <a:tcPr marL="1028700" marR="9525" marT="9525" marB="0" anchor="ctr"/>
                </a:tc>
              </a:tr>
              <a:tr h="175260">
                <a:tc>
                  <a:txBody>
                    <a:bodyPr wrap="square"/>
                    <a:lstStyle/>
                    <a:p>
                      <a:pPr algn="l"/>
                      <a:r>
                        <a:rPr sz="1100" b="0" i="1">
                          <a:solidFill>
                            <a:srgbClr val="000000"/>
                          </a:solidFill>
                          <a:latin typeface="Calibri"/>
                        </a:rPr>
                        <a:t>3.5.7.4.</a:t>
                      </a:r>
                      <a:r>
                        <a:rPr sz="700" b="0" i="1">
                          <a:solidFill>
                            <a:srgbClr val="000000"/>
                          </a:solidFill>
                          <a:latin typeface="Times New Roman"/>
                        </a:rPr>
                        <a:t>    </a:t>
                      </a:r>
                      <a:r>
                        <a:rPr sz="1100" b="0" i="1">
                          <a:solidFill>
                            <a:srgbClr val="000000"/>
                          </a:solidFill>
                          <a:latin typeface="Calibri"/>
                        </a:rPr>
                        <a:t>Security Mailers</a:t>
                      </a:r>
                      <a:endParaRPr sz="1100"/>
                    </a:p>
                  </a:txBody>
                  <a:tcPr marL="1028700" marR="9525" marT="9525" marB="0" anchor="ctr"/>
                </a:tc>
              </a:tr>
              <a:tr h="175260">
                <a:tc>
                  <a:txBody>
                    <a:bodyPr wrap="square"/>
                    <a:lstStyle/>
                    <a:p>
                      <a:pPr algn="l"/>
                      <a:r>
                        <a:rPr sz="1100" b="0" i="0">
                          <a:solidFill>
                            <a:srgbClr val="000000"/>
                          </a:solidFill>
                          <a:latin typeface="Calibri"/>
                        </a:rPr>
                        <a:t>3.5.8.</a:t>
                      </a:r>
                      <a:r>
                        <a:rPr sz="700" b="0" i="0">
                          <a:solidFill>
                            <a:srgbClr val="000000"/>
                          </a:solidFill>
                          <a:latin typeface="Times New Roman"/>
                        </a:rPr>
                        <a:t>   </a:t>
                      </a:r>
                      <a:r>
                        <a:rPr sz="1100" b="0" i="0">
                          <a:solidFill>
                            <a:srgbClr val="000000"/>
                          </a:solidFill>
                          <a:latin typeface="Calibri"/>
                        </a:rPr>
                        <a:t>Specialty Polybags</a:t>
                      </a:r>
                      <a:endParaRPr sz="1100"/>
                    </a:p>
                  </a:txBody>
                  <a:tcPr marL="771525" marR="9525" marT="9525" marB="0" anchor="ctr"/>
                </a:tc>
              </a:tr>
              <a:tr h="175260">
                <a:tc>
                  <a:txBody>
                    <a:bodyPr wrap="square"/>
                    <a:lstStyle/>
                    <a:p>
                      <a:pPr algn="l"/>
                      <a:r>
                        <a:rPr sz="1100" b="0" i="1">
                          <a:solidFill>
                            <a:srgbClr val="000000"/>
                          </a:solidFill>
                          <a:latin typeface="Calibri"/>
                        </a:rPr>
                        <a:t>3.5.8.1.</a:t>
                      </a:r>
                      <a:r>
                        <a:rPr sz="700" b="0" i="1">
                          <a:solidFill>
                            <a:srgbClr val="000000"/>
                          </a:solidFill>
                          <a:latin typeface="Times New Roman"/>
                        </a:rPr>
                        <a:t>    </a:t>
                      </a:r>
                      <a:r>
                        <a:rPr sz="1100" b="0" i="1">
                          <a:solidFill>
                            <a:srgbClr val="000000"/>
                          </a:solidFill>
                          <a:latin typeface="Calibri"/>
                        </a:rPr>
                        <a:t>Wicketed Bags</a:t>
                      </a:r>
                      <a:endParaRPr sz="1100"/>
                    </a:p>
                  </a:txBody>
                  <a:tcPr marL="1028700" marR="9525" marT="9525" marB="0" anchor="ctr"/>
                </a:tc>
              </a:tr>
              <a:tr h="175260">
                <a:tc>
                  <a:txBody>
                    <a:bodyPr wrap="square"/>
                    <a:lstStyle/>
                    <a:p>
                      <a:pPr algn="l"/>
                      <a:r>
                        <a:rPr sz="1100" b="0" i="1">
                          <a:solidFill>
                            <a:srgbClr val="000000"/>
                          </a:solidFill>
                          <a:latin typeface="Calibri"/>
                        </a:rPr>
                        <a:t>3.5.8.2.</a:t>
                      </a:r>
                      <a:r>
                        <a:rPr sz="700" b="0" i="1">
                          <a:solidFill>
                            <a:srgbClr val="000000"/>
                          </a:solidFill>
                          <a:latin typeface="Times New Roman"/>
                        </a:rPr>
                        <a:t>    </a:t>
                      </a:r>
                      <a:r>
                        <a:rPr sz="1100" b="0" i="1">
                          <a:solidFill>
                            <a:srgbClr val="000000"/>
                          </a:solidFill>
                          <a:latin typeface="Calibri"/>
                        </a:rPr>
                        <a:t>Header Bags</a:t>
                      </a:r>
                      <a:endParaRPr sz="1100"/>
                    </a:p>
                  </a:txBody>
                  <a:tcPr marL="1028700" marR="9525" marT="9525" marB="0" anchor="ctr"/>
                </a:tc>
              </a:tr>
              <a:tr h="175260">
                <a:tc>
                  <a:txBody>
                    <a:bodyPr wrap="square"/>
                    <a:lstStyle/>
                    <a:p>
                      <a:pPr algn="l"/>
                      <a:r>
                        <a:rPr sz="1100" b="0" i="1">
                          <a:solidFill>
                            <a:srgbClr val="000000"/>
                          </a:solidFill>
                          <a:latin typeface="Calibri"/>
                        </a:rPr>
                        <a:t>3.5.8.3.</a:t>
                      </a:r>
                      <a:r>
                        <a:rPr sz="700" b="0" i="1">
                          <a:solidFill>
                            <a:srgbClr val="000000"/>
                          </a:solidFill>
                          <a:latin typeface="Times New Roman"/>
                        </a:rPr>
                        <a:t>    </a:t>
                      </a:r>
                      <a:r>
                        <a:rPr sz="1100" b="0" i="1">
                          <a:solidFill>
                            <a:srgbClr val="000000"/>
                          </a:solidFill>
                          <a:latin typeface="Calibri"/>
                        </a:rPr>
                        <a:t>Perforated Bags</a:t>
                      </a:r>
                      <a:endParaRPr sz="1100"/>
                    </a:p>
                  </a:txBody>
                  <a:tcPr marL="1028700" marR="9525" marT="9525" marB="0" anchor="ctr"/>
                </a:tc>
              </a:tr>
              <a:tr h="175260">
                <a:tc>
                  <a:txBody>
                    <a:bodyPr wrap="square"/>
                    <a:lstStyle/>
                    <a:p>
                      <a:pPr algn="l"/>
                      <a:r>
                        <a:rPr sz="1100" b="0" i="1">
                          <a:solidFill>
                            <a:srgbClr val="000000"/>
                          </a:solidFill>
                          <a:latin typeface="Calibri"/>
                        </a:rPr>
                        <a:t>3.5.8.4.</a:t>
                      </a:r>
                      <a:r>
                        <a:rPr sz="700" b="0" i="1">
                          <a:solidFill>
                            <a:srgbClr val="000000"/>
                          </a:solidFill>
                          <a:latin typeface="Times New Roman"/>
                        </a:rPr>
                        <a:t>    </a:t>
                      </a:r>
                      <a:r>
                        <a:rPr sz="1100" b="0" i="1">
                          <a:solidFill>
                            <a:srgbClr val="000000"/>
                          </a:solidFill>
                          <a:latin typeface="Calibri"/>
                        </a:rPr>
                        <a:t>Drawstring Bags</a:t>
                      </a:r>
                      <a:endParaRPr sz="1100"/>
                    </a:p>
                  </a:txBody>
                  <a:tcPr marL="1028700"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(2/6)</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1">
                          <a:solidFill>
                            <a:srgbClr val="000000"/>
                          </a:solidFill>
                          <a:latin typeface="Calibri"/>
                        </a:rPr>
                        <a:t>3.5.8.5.</a:t>
                      </a:r>
                      <a:r>
                        <a:rPr sz="700" b="0" i="1">
                          <a:solidFill>
                            <a:srgbClr val="000000"/>
                          </a:solidFill>
                          <a:latin typeface="Times New Roman"/>
                        </a:rPr>
                        <a:t>    </a:t>
                      </a:r>
                      <a:r>
                        <a:rPr sz="1100" b="0" i="1">
                          <a:solidFill>
                            <a:srgbClr val="000000"/>
                          </a:solidFill>
                          <a:latin typeface="Calibri"/>
                        </a:rPr>
                        <a:t>Custom Printed Bags</a:t>
                      </a:r>
                      <a:endParaRPr sz="1100"/>
                    </a:p>
                  </a:txBody>
                  <a:tcPr marL="1028700" marR="9525" marT="9525" marB="0" anchor="ctr"/>
                </a:tc>
              </a:tr>
              <a:tr h="175260">
                <a:tc>
                  <a:txBody>
                    <a:bodyPr wrap="square"/>
                    <a:lstStyle/>
                    <a:p>
                      <a:pPr algn="l"/>
                      <a:r>
                        <a:rPr sz="1100" b="1" i="0">
                          <a:solidFill>
                            <a:srgbClr val="000000"/>
                          </a:solidFill>
                          <a:latin typeface="Calibri"/>
                        </a:rPr>
                        <a:t>4.</a:t>
                      </a:r>
                      <a:r>
                        <a:rPr sz="700" b="1" i="0">
                          <a:solidFill>
                            <a:srgbClr val="000000"/>
                          </a:solidFill>
                          <a:latin typeface="Times New Roman"/>
                        </a:rPr>
                        <a:t>       </a:t>
                      </a:r>
                      <a:r>
                        <a:rPr sz="1100" b="1" i="0">
                          <a:solidFill>
                            <a:srgbClr val="000000"/>
                          </a:solidFill>
                          <a:latin typeface="Calibri"/>
                        </a:rPr>
                        <a:t>Global Market (Value- Volume) Analysis 2021–2036, By Material</a:t>
                      </a:r>
                      <a:endParaRPr sz="1100"/>
                    </a:p>
                  </a:txBody>
                  <a:tcPr marL="171450" marR="9525" marT="9525" marB="0" anchor="ctr"/>
                </a:tc>
              </a:tr>
              <a:tr h="175260">
                <a:tc>
                  <a:txBody>
                    <a:bodyPr wrap="square"/>
                    <a:lstStyle/>
                    <a:p>
                      <a:pPr algn="l"/>
                      <a:r>
                        <a:rPr sz="1100" b="0" i="0">
                          <a:solidFill>
                            <a:srgbClr val="0070C0"/>
                          </a:solidFill>
                          <a:latin typeface="Calibri"/>
                        </a:rPr>
                        <a:t>4.1.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4.2.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4.3.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4.4.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4.5.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4.5.1.</a:t>
                      </a:r>
                      <a:r>
                        <a:rPr sz="700" b="0" i="0">
                          <a:solidFill>
                            <a:srgbClr val="000000"/>
                          </a:solidFill>
                          <a:latin typeface="Times New Roman"/>
                        </a:rPr>
                        <a:t>   </a:t>
                      </a:r>
                      <a:r>
                        <a:rPr sz="1100" b="0" i="0">
                          <a:solidFill>
                            <a:srgbClr val="000000"/>
                          </a:solidFill>
                          <a:latin typeface="Calibri"/>
                        </a:rPr>
                        <a:t>Polyethylene (PE)</a:t>
                      </a:r>
                      <a:endParaRPr sz="1100"/>
                    </a:p>
                  </a:txBody>
                  <a:tcPr marL="771525" marR="9525" marT="9525" marB="0" anchor="ctr"/>
                </a:tc>
              </a:tr>
              <a:tr h="175260">
                <a:tc>
                  <a:txBody>
                    <a:bodyPr wrap="square"/>
                    <a:lstStyle/>
                    <a:p>
                      <a:pPr algn="l"/>
                      <a:r>
                        <a:rPr sz="1100" b="0" i="0">
                          <a:solidFill>
                            <a:srgbClr val="000000"/>
                          </a:solidFill>
                          <a:latin typeface="Calibri"/>
                        </a:rPr>
                        <a:t>4.5.2.</a:t>
                      </a:r>
                      <a:r>
                        <a:rPr sz="700" b="0" i="0">
                          <a:solidFill>
                            <a:srgbClr val="000000"/>
                          </a:solidFill>
                          <a:latin typeface="Times New Roman"/>
                        </a:rPr>
                        <a:t>   </a:t>
                      </a:r>
                      <a:r>
                        <a:rPr sz="1100" b="0" i="0">
                          <a:solidFill>
                            <a:srgbClr val="000000"/>
                          </a:solidFill>
                          <a:latin typeface="Calibri"/>
                        </a:rPr>
                        <a:t>Low-Density Polyethylene (LDPE)</a:t>
                      </a:r>
                      <a:endParaRPr sz="1100"/>
                    </a:p>
                  </a:txBody>
                  <a:tcPr marL="771525" marR="9525" marT="9525" marB="0" anchor="ctr"/>
                </a:tc>
              </a:tr>
              <a:tr h="175260">
                <a:tc>
                  <a:txBody>
                    <a:bodyPr wrap="square"/>
                    <a:lstStyle/>
                    <a:p>
                      <a:pPr algn="l"/>
                      <a:r>
                        <a:rPr sz="1100" b="0" i="0">
                          <a:solidFill>
                            <a:srgbClr val="000000"/>
                          </a:solidFill>
                          <a:latin typeface="Calibri"/>
                        </a:rPr>
                        <a:t>4.5.3.</a:t>
                      </a:r>
                      <a:r>
                        <a:rPr sz="700" b="0" i="0">
                          <a:solidFill>
                            <a:srgbClr val="000000"/>
                          </a:solidFill>
                          <a:latin typeface="Times New Roman"/>
                        </a:rPr>
                        <a:t>   </a:t>
                      </a:r>
                      <a:r>
                        <a:rPr sz="1100" b="0" i="0">
                          <a:solidFill>
                            <a:srgbClr val="000000"/>
                          </a:solidFill>
                          <a:latin typeface="Calibri"/>
                        </a:rPr>
                        <a:t>Linear Low-Density Polyethylene (LLDPE)</a:t>
                      </a:r>
                      <a:endParaRPr sz="1100"/>
                    </a:p>
                  </a:txBody>
                  <a:tcPr marL="771525" marR="9525" marT="9525" marB="0" anchor="ctr"/>
                </a:tc>
              </a:tr>
              <a:tr h="175260">
                <a:tc>
                  <a:txBody>
                    <a:bodyPr wrap="square"/>
                    <a:lstStyle/>
                    <a:p>
                      <a:pPr algn="l"/>
                      <a:r>
                        <a:rPr sz="1100" b="0" i="0">
                          <a:solidFill>
                            <a:srgbClr val="000000"/>
                          </a:solidFill>
                          <a:latin typeface="Calibri"/>
                        </a:rPr>
                        <a:t>4.5.4.</a:t>
                      </a:r>
                      <a:r>
                        <a:rPr sz="700" b="0" i="0">
                          <a:solidFill>
                            <a:srgbClr val="000000"/>
                          </a:solidFill>
                          <a:latin typeface="Times New Roman"/>
                        </a:rPr>
                        <a:t>   </a:t>
                      </a:r>
                      <a:r>
                        <a:rPr sz="1100" b="0" i="0">
                          <a:solidFill>
                            <a:srgbClr val="000000"/>
                          </a:solidFill>
                          <a:latin typeface="Calibri"/>
                        </a:rPr>
                        <a:t>High-Density Polyethylene (HDPE)</a:t>
                      </a:r>
                      <a:endParaRPr sz="1100"/>
                    </a:p>
                  </a:txBody>
                  <a:tcPr marL="771525" marR="9525" marT="9525" marB="0" anchor="ctr"/>
                </a:tc>
              </a:tr>
              <a:tr h="175260">
                <a:tc>
                  <a:txBody>
                    <a:bodyPr wrap="square"/>
                    <a:lstStyle/>
                    <a:p>
                      <a:pPr algn="l"/>
                      <a:r>
                        <a:rPr sz="1100" b="0" i="0">
                          <a:solidFill>
                            <a:srgbClr val="000000"/>
                          </a:solidFill>
                          <a:latin typeface="Calibri"/>
                        </a:rPr>
                        <a:t>4.5.5.</a:t>
                      </a:r>
                      <a:r>
                        <a:rPr sz="700" b="0" i="0">
                          <a:solidFill>
                            <a:srgbClr val="000000"/>
                          </a:solidFill>
                          <a:latin typeface="Times New Roman"/>
                        </a:rPr>
                        <a:t>   </a:t>
                      </a:r>
                      <a:r>
                        <a:rPr sz="1100" b="0" i="0">
                          <a:solidFill>
                            <a:srgbClr val="000000"/>
                          </a:solidFill>
                          <a:latin typeface="Calibri"/>
                        </a:rPr>
                        <a:t>Medium-Density Polyethylene (MDPE)</a:t>
                      </a:r>
                      <a:endParaRPr sz="1100"/>
                    </a:p>
                  </a:txBody>
                  <a:tcPr marL="771525" marR="9525" marT="9525" marB="0" anchor="ctr"/>
                </a:tc>
              </a:tr>
              <a:tr h="175260">
                <a:tc>
                  <a:txBody>
                    <a:bodyPr wrap="square"/>
                    <a:lstStyle/>
                    <a:p>
                      <a:pPr algn="l"/>
                      <a:r>
                        <a:rPr sz="1100" b="0" i="0">
                          <a:solidFill>
                            <a:srgbClr val="000000"/>
                          </a:solidFill>
                          <a:latin typeface="Calibri"/>
                        </a:rPr>
                        <a:t>4.5.6.</a:t>
                      </a:r>
                      <a:r>
                        <a:rPr sz="700" b="0" i="0">
                          <a:solidFill>
                            <a:srgbClr val="000000"/>
                          </a:solidFill>
                          <a:latin typeface="Times New Roman"/>
                        </a:rPr>
                        <a:t>   </a:t>
                      </a:r>
                      <a:r>
                        <a:rPr sz="1100" b="0" i="0">
                          <a:solidFill>
                            <a:srgbClr val="000000"/>
                          </a:solidFill>
                          <a:latin typeface="Calibri"/>
                        </a:rPr>
                        <a:t>Polypropylene (PP)</a:t>
                      </a:r>
                      <a:endParaRPr sz="1100"/>
                    </a:p>
                  </a:txBody>
                  <a:tcPr marL="771525" marR="9525" marT="9525" marB="0" anchor="ctr"/>
                </a:tc>
              </a:tr>
              <a:tr h="175260">
                <a:tc>
                  <a:txBody>
                    <a:bodyPr wrap="square"/>
                    <a:lstStyle/>
                    <a:p>
                      <a:pPr algn="l"/>
                      <a:r>
                        <a:rPr sz="1100" b="0" i="1">
                          <a:solidFill>
                            <a:srgbClr val="000000"/>
                          </a:solidFill>
                          <a:latin typeface="Calibri"/>
                        </a:rPr>
                        <a:t>4.5.6.1.</a:t>
                      </a:r>
                      <a:r>
                        <a:rPr sz="700" b="0" i="1">
                          <a:solidFill>
                            <a:srgbClr val="000000"/>
                          </a:solidFill>
                          <a:latin typeface="Times New Roman"/>
                        </a:rPr>
                        <a:t>    </a:t>
                      </a:r>
                      <a:r>
                        <a:rPr sz="1100" b="0" i="1">
                          <a:solidFill>
                            <a:srgbClr val="000000"/>
                          </a:solidFill>
                          <a:latin typeface="Calibri"/>
                        </a:rPr>
                        <a:t>Cast Polypropylene (CPP)</a:t>
                      </a:r>
                      <a:endParaRPr sz="1100"/>
                    </a:p>
                  </a:txBody>
                  <a:tcPr marL="1028700" marR="9525" marT="9525" marB="0" anchor="ctr"/>
                </a:tc>
              </a:tr>
              <a:tr h="175260">
                <a:tc>
                  <a:txBody>
                    <a:bodyPr wrap="square"/>
                    <a:lstStyle/>
                    <a:p>
                      <a:pPr algn="l"/>
                      <a:r>
                        <a:rPr sz="1100" b="0" i="1">
                          <a:solidFill>
                            <a:srgbClr val="000000"/>
                          </a:solidFill>
                          <a:latin typeface="Calibri"/>
                        </a:rPr>
                        <a:t>4.5.6.2.</a:t>
                      </a:r>
                      <a:r>
                        <a:rPr sz="700" b="0" i="1">
                          <a:solidFill>
                            <a:srgbClr val="000000"/>
                          </a:solidFill>
                          <a:latin typeface="Times New Roman"/>
                        </a:rPr>
                        <a:t>    </a:t>
                      </a:r>
                      <a:r>
                        <a:rPr sz="1100" b="0" i="1">
                          <a:solidFill>
                            <a:srgbClr val="000000"/>
                          </a:solidFill>
                          <a:latin typeface="Calibri"/>
                        </a:rPr>
                        <a:t>Biaxially Oriented Polypropylene (BOPP)</a:t>
                      </a:r>
                      <a:endParaRPr sz="1100"/>
                    </a:p>
                  </a:txBody>
                  <a:tcPr marL="1028700" marR="9525" marT="9525" marB="0" anchor="ctr"/>
                </a:tc>
              </a:tr>
              <a:tr h="175260">
                <a:tc>
                  <a:txBody>
                    <a:bodyPr wrap="square"/>
                    <a:lstStyle/>
                    <a:p>
                      <a:pPr algn="l"/>
                      <a:r>
                        <a:rPr sz="1100" b="0" i="1">
                          <a:solidFill>
                            <a:srgbClr val="000000"/>
                          </a:solidFill>
                          <a:latin typeface="Calibri"/>
                        </a:rPr>
                        <a:t>4.5.6.3.</a:t>
                      </a:r>
                      <a:r>
                        <a:rPr sz="700" b="0" i="1">
                          <a:solidFill>
                            <a:srgbClr val="000000"/>
                          </a:solidFill>
                          <a:latin typeface="Times New Roman"/>
                        </a:rPr>
                        <a:t>    </a:t>
                      </a:r>
                      <a:r>
                        <a:rPr sz="1100" b="0" i="1">
                          <a:solidFill>
                            <a:srgbClr val="000000"/>
                          </a:solidFill>
                          <a:latin typeface="Calibri"/>
                        </a:rPr>
                        <a:t>Oriented Polypropylene (OPP)</a:t>
                      </a:r>
                      <a:endParaRPr sz="1100"/>
                    </a:p>
                  </a:txBody>
                  <a:tcPr marL="1028700" marR="9525" marT="9525" marB="0" anchor="ctr"/>
                </a:tc>
              </a:tr>
              <a:tr h="175260">
                <a:tc>
                  <a:txBody>
                    <a:bodyPr wrap="square"/>
                    <a:lstStyle/>
                    <a:p>
                      <a:pPr algn="l"/>
                      <a:r>
                        <a:rPr sz="1100" b="0" i="0">
                          <a:solidFill>
                            <a:srgbClr val="000000"/>
                          </a:solidFill>
                          <a:latin typeface="Calibri"/>
                        </a:rPr>
                        <a:t>4.5.7.</a:t>
                      </a:r>
                      <a:r>
                        <a:rPr sz="700" b="0" i="0">
                          <a:solidFill>
                            <a:srgbClr val="000000"/>
                          </a:solidFill>
                          <a:latin typeface="Times New Roman"/>
                        </a:rPr>
                        <a:t>   </a:t>
                      </a:r>
                      <a:r>
                        <a:rPr sz="1100" b="0" i="0">
                          <a:solidFill>
                            <a:srgbClr val="000000"/>
                          </a:solidFill>
                          <a:latin typeface="Calibri"/>
                        </a:rPr>
                        <a:t>Recycled Plastics</a:t>
                      </a:r>
                      <a:endParaRPr sz="1100"/>
                    </a:p>
                  </a:txBody>
                  <a:tcPr marL="771525" marR="9525" marT="9525" marB="0" anchor="ctr"/>
                </a:tc>
              </a:tr>
              <a:tr h="175260">
                <a:tc>
                  <a:txBody>
                    <a:bodyPr wrap="square"/>
                    <a:lstStyle/>
                    <a:p>
                      <a:pPr algn="l"/>
                      <a:r>
                        <a:rPr sz="1100" b="0" i="1">
                          <a:solidFill>
                            <a:srgbClr val="000000"/>
                          </a:solidFill>
                          <a:latin typeface="Calibri"/>
                        </a:rPr>
                        <a:t>4.5.7.1.</a:t>
                      </a:r>
                      <a:r>
                        <a:rPr sz="700" b="0" i="1">
                          <a:solidFill>
                            <a:srgbClr val="000000"/>
                          </a:solidFill>
                          <a:latin typeface="Times New Roman"/>
                        </a:rPr>
                        <a:t>    </a:t>
                      </a:r>
                      <a:r>
                        <a:rPr sz="1100" b="0" i="1">
                          <a:solidFill>
                            <a:srgbClr val="000000"/>
                          </a:solidFill>
                          <a:latin typeface="Calibri"/>
                        </a:rPr>
                        <a:t>Post-Consumer Recycled (PCR)</a:t>
                      </a:r>
                      <a:endParaRPr sz="1100"/>
                    </a:p>
                  </a:txBody>
                  <a:tcPr marL="1028700" marR="9525" marT="9525" marB="0" anchor="ctr"/>
                </a:tc>
              </a:tr>
              <a:tr h="175260">
                <a:tc>
                  <a:txBody>
                    <a:bodyPr wrap="square"/>
                    <a:lstStyle/>
                    <a:p>
                      <a:pPr algn="l"/>
                      <a:r>
                        <a:rPr sz="1100" b="0" i="1">
                          <a:solidFill>
                            <a:srgbClr val="000000"/>
                          </a:solidFill>
                          <a:latin typeface="Calibri"/>
                        </a:rPr>
                        <a:t>4.5.7.2.</a:t>
                      </a:r>
                      <a:r>
                        <a:rPr sz="700" b="0" i="1">
                          <a:solidFill>
                            <a:srgbClr val="000000"/>
                          </a:solidFill>
                          <a:latin typeface="Times New Roman"/>
                        </a:rPr>
                        <a:t>    </a:t>
                      </a:r>
                      <a:r>
                        <a:rPr sz="1100" b="0" i="1">
                          <a:solidFill>
                            <a:srgbClr val="000000"/>
                          </a:solidFill>
                          <a:latin typeface="Calibri"/>
                        </a:rPr>
                        <a:t>Post-Industrial Recycled (PIR)</a:t>
                      </a:r>
                      <a:endParaRPr sz="1100"/>
                    </a:p>
                  </a:txBody>
                  <a:tcPr marL="1028700" marR="9525" marT="9525" marB="0" anchor="ctr"/>
                </a:tc>
              </a:tr>
              <a:tr h="175260">
                <a:tc>
                  <a:txBody>
                    <a:bodyPr wrap="square"/>
                    <a:lstStyle/>
                    <a:p>
                      <a:pPr algn="l"/>
                      <a:r>
                        <a:rPr sz="1100" b="0" i="1">
                          <a:solidFill>
                            <a:srgbClr val="000000"/>
                          </a:solidFill>
                          <a:latin typeface="Calibri"/>
                        </a:rPr>
                        <a:t>4.5.7.3.</a:t>
                      </a:r>
                      <a:r>
                        <a:rPr sz="700" b="0" i="1">
                          <a:solidFill>
                            <a:srgbClr val="000000"/>
                          </a:solidFill>
                          <a:latin typeface="Times New Roman"/>
                        </a:rPr>
                        <a:t>    </a:t>
                      </a:r>
                      <a:r>
                        <a:rPr sz="1100" b="0" i="1">
                          <a:solidFill>
                            <a:srgbClr val="000000"/>
                          </a:solidFill>
                          <a:latin typeface="Calibri"/>
                        </a:rPr>
                        <a:t>Mixed Recycled Resin</a:t>
                      </a:r>
                      <a:endParaRPr sz="1100"/>
                    </a:p>
                  </a:txBody>
                  <a:tcPr marL="1028700" marR="9525" marT="9525" marB="0" anchor="ctr"/>
                </a:tc>
              </a:tr>
              <a:tr h="175260">
                <a:tc>
                  <a:txBody>
                    <a:bodyPr wrap="square"/>
                    <a:lstStyle/>
                    <a:p>
                      <a:pPr algn="l"/>
                      <a:r>
                        <a:rPr sz="1100" b="0" i="0">
                          <a:solidFill>
                            <a:srgbClr val="000000"/>
                          </a:solidFill>
                          <a:latin typeface="Calibri"/>
                        </a:rPr>
                        <a:t>4.5.8.</a:t>
                      </a:r>
                      <a:r>
                        <a:rPr sz="700" b="0" i="0">
                          <a:solidFill>
                            <a:srgbClr val="000000"/>
                          </a:solidFill>
                          <a:latin typeface="Times New Roman"/>
                        </a:rPr>
                        <a:t>   </a:t>
                      </a:r>
                      <a:r>
                        <a:rPr sz="1100" b="0" i="0">
                          <a:solidFill>
                            <a:srgbClr val="000000"/>
                          </a:solidFill>
                          <a:latin typeface="Calibri"/>
                        </a:rPr>
                        <a:t>Bio-Based Materials</a:t>
                      </a:r>
                      <a:endParaRPr sz="1100"/>
                    </a:p>
                  </a:txBody>
                  <a:tcPr marL="771525" marR="9525" marT="9525" marB="0" anchor="ctr"/>
                </a:tc>
              </a:tr>
              <a:tr h="175260">
                <a:tc>
                  <a:txBody>
                    <a:bodyPr wrap="square"/>
                    <a:lstStyle/>
                    <a:p>
                      <a:pPr algn="l"/>
                      <a:r>
                        <a:rPr sz="1100" b="0" i="1">
                          <a:solidFill>
                            <a:srgbClr val="000000"/>
                          </a:solidFill>
                          <a:latin typeface="Calibri"/>
                        </a:rPr>
                        <a:t>4.5.8.1.</a:t>
                      </a:r>
                      <a:r>
                        <a:rPr sz="700" b="0" i="1">
                          <a:solidFill>
                            <a:srgbClr val="000000"/>
                          </a:solidFill>
                          <a:latin typeface="Times New Roman"/>
                        </a:rPr>
                        <a:t>    </a:t>
                      </a:r>
                      <a:r>
                        <a:rPr sz="1100" b="0" i="1">
                          <a:solidFill>
                            <a:srgbClr val="000000"/>
                          </a:solidFill>
                          <a:latin typeface="Calibri"/>
                        </a:rPr>
                        <a:t>PLA</a:t>
                      </a:r>
                      <a:endParaRPr sz="1100"/>
                    </a:p>
                  </a:txBody>
                  <a:tcPr marL="1028700" marR="9525" marT="9525" marB="0" anchor="ctr"/>
                </a:tc>
              </a:tr>
              <a:tr h="175260">
                <a:tc>
                  <a:txBody>
                    <a:bodyPr wrap="square"/>
                    <a:lstStyle/>
                    <a:p>
                      <a:pPr algn="l"/>
                      <a:r>
                        <a:rPr sz="1100" b="0" i="1">
                          <a:solidFill>
                            <a:srgbClr val="000000"/>
                          </a:solidFill>
                          <a:latin typeface="Calibri"/>
                        </a:rPr>
                        <a:t>4.5.8.2.</a:t>
                      </a:r>
                      <a:r>
                        <a:rPr sz="700" b="0" i="1">
                          <a:solidFill>
                            <a:srgbClr val="000000"/>
                          </a:solidFill>
                          <a:latin typeface="Times New Roman"/>
                        </a:rPr>
                        <a:t>    </a:t>
                      </a:r>
                      <a:r>
                        <a:rPr sz="1100" b="0" i="1">
                          <a:solidFill>
                            <a:srgbClr val="000000"/>
                          </a:solidFill>
                          <a:latin typeface="Calibri"/>
                        </a:rPr>
                        <a:t>PHA</a:t>
                      </a:r>
                      <a:endParaRPr sz="1100"/>
                    </a:p>
                  </a:txBody>
                  <a:tcPr marL="1028700" marR="9525" marT="9525" marB="0" anchor="ctr"/>
                </a:tc>
              </a:tr>
              <a:tr h="175260">
                <a:tc>
                  <a:txBody>
                    <a:bodyPr wrap="square"/>
                    <a:lstStyle/>
                    <a:p>
                      <a:pPr algn="l"/>
                      <a:r>
                        <a:rPr sz="1100" b="0" i="1">
                          <a:solidFill>
                            <a:srgbClr val="000000"/>
                          </a:solidFill>
                          <a:latin typeface="Calibri"/>
                        </a:rPr>
                        <a:t>4.5.8.3.</a:t>
                      </a:r>
                      <a:r>
                        <a:rPr sz="700" b="0" i="1">
                          <a:solidFill>
                            <a:srgbClr val="000000"/>
                          </a:solidFill>
                          <a:latin typeface="Times New Roman"/>
                        </a:rPr>
                        <a:t>    </a:t>
                      </a:r>
                      <a:r>
                        <a:rPr sz="1100" b="0" i="1">
                          <a:solidFill>
                            <a:srgbClr val="000000"/>
                          </a:solidFill>
                          <a:latin typeface="Calibri"/>
                        </a:rPr>
                        <a:t>Starch Blend</a:t>
                      </a:r>
                      <a:endParaRPr sz="1100"/>
                    </a:p>
                  </a:txBody>
                  <a:tcPr marL="1028700" marR="9525" marT="9525" marB="0" anchor="ctr"/>
                </a:tc>
              </a:tr>
              <a:tr h="175260">
                <a:tc>
                  <a:txBody>
                    <a:bodyPr wrap="square"/>
                    <a:lstStyle/>
                    <a:p>
                      <a:pPr algn="l"/>
                      <a:r>
                        <a:rPr sz="1100" b="0" i="1">
                          <a:solidFill>
                            <a:srgbClr val="000000"/>
                          </a:solidFill>
                          <a:latin typeface="Calibri"/>
                        </a:rPr>
                        <a:t>4.5.8.4.</a:t>
                      </a:r>
                      <a:r>
                        <a:rPr sz="700" b="0" i="1">
                          <a:solidFill>
                            <a:srgbClr val="000000"/>
                          </a:solidFill>
                          <a:latin typeface="Times New Roman"/>
                        </a:rPr>
                        <a:t>    </a:t>
                      </a:r>
                      <a:r>
                        <a:rPr sz="1100" b="0" i="1">
                          <a:solidFill>
                            <a:srgbClr val="000000"/>
                          </a:solidFill>
                          <a:latin typeface="Calibri"/>
                        </a:rPr>
                        <a:t>PBAT Blend</a:t>
                      </a:r>
                      <a:endParaRPr sz="1100"/>
                    </a:p>
                  </a:txBody>
                  <a:tcPr marL="1028700" marR="9525" marT="9525" marB="0" anchor="ctr"/>
                </a:tc>
              </a:tr>
              <a:tr h="175260">
                <a:tc>
                  <a:txBody>
                    <a:bodyPr wrap="square"/>
                    <a:lstStyle/>
                    <a:p>
                      <a:pPr algn="l"/>
                      <a:r>
                        <a:rPr sz="1100" b="0" i="1">
                          <a:solidFill>
                            <a:srgbClr val="000000"/>
                          </a:solidFill>
                          <a:latin typeface="Calibri"/>
                        </a:rPr>
                        <a:t>4.5.8.5.</a:t>
                      </a:r>
                      <a:r>
                        <a:rPr sz="700" b="0" i="1">
                          <a:solidFill>
                            <a:srgbClr val="000000"/>
                          </a:solidFill>
                          <a:latin typeface="Times New Roman"/>
                        </a:rPr>
                        <a:t>    </a:t>
                      </a:r>
                      <a:r>
                        <a:rPr sz="1100" b="0" i="1">
                          <a:solidFill>
                            <a:srgbClr val="000000"/>
                          </a:solidFill>
                          <a:latin typeface="Calibri"/>
                        </a:rPr>
                        <a:t>Cellulose-Based Films</a:t>
                      </a:r>
                      <a:endParaRPr sz="1100"/>
                    </a:p>
                  </a:txBody>
                  <a:tcPr marL="1028700" marR="9525" marT="9525" marB="0" anchor="ctr"/>
                </a:tc>
              </a:tr>
              <a:tr h="175260">
                <a:tc>
                  <a:txBody>
                    <a:bodyPr wrap="square"/>
                    <a:lstStyle/>
                    <a:p>
                      <a:pPr algn="l"/>
                      <a:r>
                        <a:rPr sz="1100" b="0" i="0">
                          <a:solidFill>
                            <a:srgbClr val="000000"/>
                          </a:solidFill>
                          <a:latin typeface="Calibri"/>
                        </a:rPr>
                        <a:t>4.5.9.</a:t>
                      </a:r>
                      <a:r>
                        <a:rPr sz="700" b="0" i="0">
                          <a:solidFill>
                            <a:srgbClr val="000000"/>
                          </a:solidFill>
                          <a:latin typeface="Times New Roman"/>
                        </a:rPr>
                        <a:t>   </a:t>
                      </a:r>
                      <a:r>
                        <a:rPr sz="1100" b="0" i="0">
                          <a:solidFill>
                            <a:srgbClr val="000000"/>
                          </a:solidFill>
                          <a:latin typeface="Calibri"/>
                        </a:rPr>
                        <a:t>Specialty Materials</a:t>
                      </a:r>
                      <a:endParaRPr sz="1100"/>
                    </a:p>
                  </a:txBody>
                  <a:tcPr marL="771525" marR="9525" marT="9525" marB="0" anchor="ctr"/>
                </a:tc>
              </a:tr>
              <a:tr h="175260">
                <a:tc>
                  <a:txBody>
                    <a:bodyPr wrap="square"/>
                    <a:lstStyle/>
                    <a:p>
                      <a:pPr algn="l"/>
                      <a:r>
                        <a:rPr sz="1100" b="0" i="1">
                          <a:solidFill>
                            <a:srgbClr val="000000"/>
                          </a:solidFill>
                          <a:latin typeface="Calibri"/>
                        </a:rPr>
                        <a:t>4.5.9.1.</a:t>
                      </a:r>
                      <a:r>
                        <a:rPr sz="700" b="0" i="1">
                          <a:solidFill>
                            <a:srgbClr val="000000"/>
                          </a:solidFill>
                          <a:latin typeface="Times New Roman"/>
                        </a:rPr>
                        <a:t>    </a:t>
                      </a:r>
                      <a:r>
                        <a:rPr sz="1100" b="0" i="1">
                          <a:solidFill>
                            <a:srgbClr val="000000"/>
                          </a:solidFill>
                          <a:latin typeface="Calibri"/>
                        </a:rPr>
                        <a:t>EVA</a:t>
                      </a:r>
                      <a:endParaRPr sz="1100"/>
                    </a:p>
                  </a:txBody>
                  <a:tcPr marL="1028700" marR="9525" marT="9525" marB="0" anchor="ctr"/>
                </a:tc>
              </a:tr>
              <a:tr h="175260">
                <a:tc>
                  <a:txBody>
                    <a:bodyPr wrap="square"/>
                    <a:lstStyle/>
                    <a:p>
                      <a:pPr algn="l"/>
                      <a:r>
                        <a:rPr sz="1100" b="0" i="1">
                          <a:solidFill>
                            <a:srgbClr val="000000"/>
                          </a:solidFill>
                          <a:latin typeface="Calibri"/>
                        </a:rPr>
                        <a:t>4.5.9.2.</a:t>
                      </a:r>
                      <a:r>
                        <a:rPr sz="700" b="0" i="1">
                          <a:solidFill>
                            <a:srgbClr val="000000"/>
                          </a:solidFill>
                          <a:latin typeface="Times New Roman"/>
                        </a:rPr>
                        <a:t>    </a:t>
                      </a:r>
                      <a:r>
                        <a:rPr sz="1100" b="0" i="1">
                          <a:solidFill>
                            <a:srgbClr val="000000"/>
                          </a:solidFill>
                          <a:latin typeface="Calibri"/>
                        </a:rPr>
                        <a:t>Coextruded Multilayer Films</a:t>
                      </a:r>
                      <a:endParaRPr sz="1100"/>
                    </a:p>
                  </a:txBody>
                  <a:tcPr marL="1028700" marR="9525" marT="9525" marB="0" anchor="ctr"/>
                </a:tc>
              </a:tr>
              <a:tr h="175260">
                <a:tc>
                  <a:txBody>
                    <a:bodyPr wrap="square"/>
                    <a:lstStyle/>
                    <a:p>
                      <a:pPr algn="l"/>
                      <a:r>
                        <a:rPr sz="1100" b="0" i="1">
                          <a:solidFill>
                            <a:srgbClr val="000000"/>
                          </a:solidFill>
                          <a:latin typeface="Calibri"/>
                        </a:rPr>
                        <a:t>4.5.9.3.</a:t>
                      </a:r>
                      <a:r>
                        <a:rPr sz="700" b="0" i="1">
                          <a:solidFill>
                            <a:srgbClr val="000000"/>
                          </a:solidFill>
                          <a:latin typeface="Times New Roman"/>
                        </a:rPr>
                        <a:t>    </a:t>
                      </a:r>
                      <a:r>
                        <a:rPr sz="1100" b="0" i="1">
                          <a:solidFill>
                            <a:srgbClr val="000000"/>
                          </a:solidFill>
                          <a:latin typeface="Calibri"/>
                        </a:rPr>
                        <a:t>Barrier Films</a:t>
                      </a:r>
                      <a:endParaRPr sz="1100"/>
                    </a:p>
                  </a:txBody>
                  <a:tcPr marL="1028700"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1">
                          <a:solidFill>
                            <a:srgbClr val="000000"/>
                          </a:solidFill>
                          <a:latin typeface="Calibri"/>
                        </a:rPr>
                        <a:t>4.5.9.4.</a:t>
                      </a:r>
                      <a:r>
                        <a:rPr sz="700" b="0" i="1">
                          <a:solidFill>
                            <a:srgbClr val="000000"/>
                          </a:solidFill>
                          <a:latin typeface="Times New Roman"/>
                        </a:rPr>
                        <a:t>    </a:t>
                      </a:r>
                      <a:r>
                        <a:rPr sz="1100" b="0" i="1">
                          <a:solidFill>
                            <a:srgbClr val="000000"/>
                          </a:solidFill>
                          <a:latin typeface="Calibri"/>
                        </a:rPr>
                        <a:t>Conductive Polymers</a:t>
                      </a:r>
                      <a:endParaRPr sz="1100"/>
                    </a:p>
                  </a:txBody>
                  <a:tcPr marL="1028700" marR="9525" marT="9525" marB="0" anchor="ctr"/>
                </a:tc>
              </a:tr>
              <a:tr h="175260">
                <a:tc>
                  <a:txBody>
                    <a:bodyPr wrap="square"/>
                    <a:lstStyle/>
                    <a:p>
                      <a:pPr algn="l"/>
                      <a:r>
                        <a:rPr sz="1100" b="1" i="0">
                          <a:solidFill>
                            <a:srgbClr val="000000"/>
                          </a:solidFill>
                          <a:latin typeface="Calibri"/>
                        </a:rPr>
                        <a:t>5.</a:t>
                      </a:r>
                      <a:r>
                        <a:rPr sz="700" b="1" i="0">
                          <a:solidFill>
                            <a:srgbClr val="000000"/>
                          </a:solidFill>
                          <a:latin typeface="Times New Roman"/>
                        </a:rPr>
                        <a:t>       </a:t>
                      </a:r>
                      <a:r>
                        <a:rPr sz="1100" b="1" i="0">
                          <a:solidFill>
                            <a:srgbClr val="000000"/>
                          </a:solidFill>
                          <a:latin typeface="Calibri"/>
                        </a:rPr>
                        <a:t>Global Market (Value- Volume) Analysis 2021–2036, By End-Use Industry</a:t>
                      </a:r>
                      <a:endParaRPr sz="1100"/>
                    </a:p>
                  </a:txBody>
                  <a:tcPr marL="171450" marR="9525" marT="9525" marB="0" anchor="ctr"/>
                </a:tc>
              </a:tr>
              <a:tr h="175260">
                <a:tc>
                  <a:txBody>
                    <a:bodyPr wrap="square"/>
                    <a:lstStyle/>
                    <a:p>
                      <a:pPr algn="l"/>
                      <a:r>
                        <a:rPr sz="1100" b="0" i="0">
                          <a:solidFill>
                            <a:srgbClr val="0070C0"/>
                          </a:solidFill>
                          <a:latin typeface="Calibri"/>
                        </a:rPr>
                        <a:t>5.1.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5.2.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5.3.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5.4.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5.5.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5.5.1.</a:t>
                      </a:r>
                      <a:r>
                        <a:rPr sz="700" b="0" i="0">
                          <a:solidFill>
                            <a:srgbClr val="000000"/>
                          </a:solidFill>
                          <a:latin typeface="Times New Roman"/>
                        </a:rPr>
                        <a:t>   </a:t>
                      </a:r>
                      <a:r>
                        <a:rPr sz="1100" b="0" i="0">
                          <a:solidFill>
                            <a:srgbClr val="000000"/>
                          </a:solidFill>
                          <a:latin typeface="Calibri"/>
                        </a:rPr>
                        <a:t>Food &amp; Beverage</a:t>
                      </a:r>
                      <a:endParaRPr sz="1100"/>
                    </a:p>
                  </a:txBody>
                  <a:tcPr marL="771525" marR="9525" marT="9525" marB="0" anchor="ctr"/>
                </a:tc>
              </a:tr>
              <a:tr h="175260">
                <a:tc>
                  <a:txBody>
                    <a:bodyPr wrap="square"/>
                    <a:lstStyle/>
                    <a:p>
                      <a:pPr algn="l"/>
                      <a:r>
                        <a:rPr sz="1100" b="0" i="1">
                          <a:solidFill>
                            <a:srgbClr val="000000"/>
                          </a:solidFill>
                          <a:latin typeface="Calibri"/>
                        </a:rPr>
                        <a:t>5.5.1.1.</a:t>
                      </a:r>
                      <a:r>
                        <a:rPr sz="700" b="0" i="1">
                          <a:solidFill>
                            <a:srgbClr val="000000"/>
                          </a:solidFill>
                          <a:latin typeface="Times New Roman"/>
                        </a:rPr>
                        <a:t>    </a:t>
                      </a:r>
                      <a:r>
                        <a:rPr sz="1100" b="0" i="1">
                          <a:solidFill>
                            <a:srgbClr val="000000"/>
                          </a:solidFill>
                          <a:latin typeface="Calibri"/>
                        </a:rPr>
                        <a:t>Fresh Produce</a:t>
                      </a:r>
                      <a:endParaRPr sz="1100"/>
                    </a:p>
                  </a:txBody>
                  <a:tcPr marL="1028700" marR="9525" marT="9525" marB="0" anchor="ctr"/>
                </a:tc>
              </a:tr>
              <a:tr h="175260">
                <a:tc>
                  <a:txBody>
                    <a:bodyPr wrap="square"/>
                    <a:lstStyle/>
                    <a:p>
                      <a:pPr algn="l"/>
                      <a:r>
                        <a:rPr sz="1100" b="0" i="1">
                          <a:solidFill>
                            <a:srgbClr val="000000"/>
                          </a:solidFill>
                          <a:latin typeface="Calibri"/>
                        </a:rPr>
                        <a:t>5.5.1.2.</a:t>
                      </a:r>
                      <a:r>
                        <a:rPr sz="700" b="0" i="1">
                          <a:solidFill>
                            <a:srgbClr val="000000"/>
                          </a:solidFill>
                          <a:latin typeface="Times New Roman"/>
                        </a:rPr>
                        <a:t>    </a:t>
                      </a:r>
                      <a:r>
                        <a:rPr sz="1100" b="0" i="1">
                          <a:solidFill>
                            <a:srgbClr val="000000"/>
                          </a:solidFill>
                          <a:latin typeface="Calibri"/>
                        </a:rPr>
                        <a:t>Frozen Food</a:t>
                      </a:r>
                      <a:endParaRPr sz="1100"/>
                    </a:p>
                  </a:txBody>
                  <a:tcPr marL="1028700" marR="9525" marT="9525" marB="0" anchor="ctr"/>
                </a:tc>
              </a:tr>
              <a:tr h="175260">
                <a:tc>
                  <a:txBody>
                    <a:bodyPr wrap="square"/>
                    <a:lstStyle/>
                    <a:p>
                      <a:pPr algn="l"/>
                      <a:r>
                        <a:rPr sz="1100" b="0" i="1">
                          <a:solidFill>
                            <a:srgbClr val="000000"/>
                          </a:solidFill>
                          <a:latin typeface="Calibri"/>
                        </a:rPr>
                        <a:t>5.5.1.3.</a:t>
                      </a:r>
                      <a:r>
                        <a:rPr sz="700" b="0" i="1">
                          <a:solidFill>
                            <a:srgbClr val="000000"/>
                          </a:solidFill>
                          <a:latin typeface="Times New Roman"/>
                        </a:rPr>
                        <a:t>    </a:t>
                      </a:r>
                      <a:r>
                        <a:rPr sz="1100" b="0" i="1">
                          <a:solidFill>
                            <a:srgbClr val="000000"/>
                          </a:solidFill>
                          <a:latin typeface="Calibri"/>
                        </a:rPr>
                        <a:t>Dairy Products</a:t>
                      </a:r>
                      <a:endParaRPr sz="1100"/>
                    </a:p>
                  </a:txBody>
                  <a:tcPr marL="1028700" marR="9525" marT="9525" marB="0" anchor="ctr"/>
                </a:tc>
              </a:tr>
              <a:tr h="175260">
                <a:tc>
                  <a:txBody>
                    <a:bodyPr wrap="square"/>
                    <a:lstStyle/>
                    <a:p>
                      <a:pPr algn="l"/>
                      <a:r>
                        <a:rPr sz="1100" b="0" i="1">
                          <a:solidFill>
                            <a:srgbClr val="000000"/>
                          </a:solidFill>
                          <a:latin typeface="Calibri"/>
                        </a:rPr>
                        <a:t>5.5.1.4.</a:t>
                      </a:r>
                      <a:r>
                        <a:rPr sz="700" b="0" i="1">
                          <a:solidFill>
                            <a:srgbClr val="000000"/>
                          </a:solidFill>
                          <a:latin typeface="Times New Roman"/>
                        </a:rPr>
                        <a:t>    </a:t>
                      </a:r>
                      <a:r>
                        <a:rPr sz="1100" b="0" i="1">
                          <a:solidFill>
                            <a:srgbClr val="000000"/>
                          </a:solidFill>
                          <a:latin typeface="Calibri"/>
                        </a:rPr>
                        <a:t>Bakery</a:t>
                      </a:r>
                      <a:endParaRPr sz="1100"/>
                    </a:p>
                  </a:txBody>
                  <a:tcPr marL="1028700" marR="9525" marT="9525" marB="0" anchor="ctr"/>
                </a:tc>
              </a:tr>
              <a:tr h="175260">
                <a:tc>
                  <a:txBody>
                    <a:bodyPr wrap="square"/>
                    <a:lstStyle/>
                    <a:p>
                      <a:pPr algn="l"/>
                      <a:r>
                        <a:rPr sz="1100" b="0" i="1">
                          <a:solidFill>
                            <a:srgbClr val="000000"/>
                          </a:solidFill>
                          <a:latin typeface="Calibri"/>
                        </a:rPr>
                        <a:t>5.5.1.5.</a:t>
                      </a:r>
                      <a:r>
                        <a:rPr sz="700" b="0" i="1">
                          <a:solidFill>
                            <a:srgbClr val="000000"/>
                          </a:solidFill>
                          <a:latin typeface="Times New Roman"/>
                        </a:rPr>
                        <a:t>    </a:t>
                      </a:r>
                      <a:r>
                        <a:rPr sz="1100" b="0" i="1">
                          <a:solidFill>
                            <a:srgbClr val="000000"/>
                          </a:solidFill>
                          <a:latin typeface="Calibri"/>
                        </a:rPr>
                        <a:t>Meat &amp; Poultry</a:t>
                      </a:r>
                      <a:endParaRPr sz="1100"/>
                    </a:p>
                  </a:txBody>
                  <a:tcPr marL="1028700" marR="9525" marT="9525" marB="0" anchor="ctr"/>
                </a:tc>
              </a:tr>
              <a:tr h="175260">
                <a:tc>
                  <a:txBody>
                    <a:bodyPr wrap="square"/>
                    <a:lstStyle/>
                    <a:p>
                      <a:pPr algn="l"/>
                      <a:r>
                        <a:rPr sz="1100" b="0" i="1">
                          <a:solidFill>
                            <a:srgbClr val="000000"/>
                          </a:solidFill>
                          <a:latin typeface="Calibri"/>
                        </a:rPr>
                        <a:t>5.5.1.6.</a:t>
                      </a:r>
                      <a:r>
                        <a:rPr sz="700" b="0" i="1">
                          <a:solidFill>
                            <a:srgbClr val="000000"/>
                          </a:solidFill>
                          <a:latin typeface="Times New Roman"/>
                        </a:rPr>
                        <a:t>    </a:t>
                      </a:r>
                      <a:r>
                        <a:rPr sz="1100" b="0" i="1">
                          <a:solidFill>
                            <a:srgbClr val="000000"/>
                          </a:solidFill>
                          <a:latin typeface="Calibri"/>
                        </a:rPr>
                        <a:t>Seafood</a:t>
                      </a:r>
                      <a:endParaRPr sz="1100"/>
                    </a:p>
                  </a:txBody>
                  <a:tcPr marL="1028700" marR="9525" marT="9525" marB="0" anchor="ctr"/>
                </a:tc>
              </a:tr>
              <a:tr h="175260">
                <a:tc>
                  <a:txBody>
                    <a:bodyPr wrap="square"/>
                    <a:lstStyle/>
                    <a:p>
                      <a:pPr algn="l"/>
                      <a:r>
                        <a:rPr sz="1100" b="0" i="1">
                          <a:solidFill>
                            <a:srgbClr val="000000"/>
                          </a:solidFill>
                          <a:latin typeface="Calibri"/>
                        </a:rPr>
                        <a:t>5.5.1.7.</a:t>
                      </a:r>
                      <a:r>
                        <a:rPr sz="700" b="0" i="1">
                          <a:solidFill>
                            <a:srgbClr val="000000"/>
                          </a:solidFill>
                          <a:latin typeface="Times New Roman"/>
                        </a:rPr>
                        <a:t>    </a:t>
                      </a:r>
                      <a:r>
                        <a:rPr sz="1100" b="0" i="1">
                          <a:solidFill>
                            <a:srgbClr val="000000"/>
                          </a:solidFill>
                          <a:latin typeface="Calibri"/>
                        </a:rPr>
                        <a:t>Snacks &amp; Confectionery</a:t>
                      </a:r>
                      <a:endParaRPr sz="1100"/>
                    </a:p>
                  </a:txBody>
                  <a:tcPr marL="1028700" marR="9525" marT="9525" marB="0" anchor="ctr"/>
                </a:tc>
              </a:tr>
              <a:tr h="175260">
                <a:tc>
                  <a:txBody>
                    <a:bodyPr wrap="square"/>
                    <a:lstStyle/>
                    <a:p>
                      <a:pPr algn="l"/>
                      <a:r>
                        <a:rPr sz="1100" b="0" i="1">
                          <a:solidFill>
                            <a:srgbClr val="000000"/>
                          </a:solidFill>
                          <a:latin typeface="Calibri"/>
                        </a:rPr>
                        <a:t>5.5.1.8.</a:t>
                      </a:r>
                      <a:r>
                        <a:rPr sz="700" b="0" i="1">
                          <a:solidFill>
                            <a:srgbClr val="000000"/>
                          </a:solidFill>
                          <a:latin typeface="Times New Roman"/>
                        </a:rPr>
                        <a:t>    </a:t>
                      </a:r>
                      <a:r>
                        <a:rPr sz="1100" b="0" i="1">
                          <a:solidFill>
                            <a:srgbClr val="000000"/>
                          </a:solidFill>
                          <a:latin typeface="Calibri"/>
                        </a:rPr>
                        <a:t>Beverage Packaging</a:t>
                      </a:r>
                      <a:endParaRPr sz="1100"/>
                    </a:p>
                  </a:txBody>
                  <a:tcPr marL="1028700" marR="9525" marT="9525" marB="0" anchor="ctr"/>
                </a:tc>
              </a:tr>
              <a:tr h="175260">
                <a:tc>
                  <a:txBody>
                    <a:bodyPr wrap="square"/>
                    <a:lstStyle/>
                    <a:p>
                      <a:pPr algn="l"/>
                      <a:r>
                        <a:rPr sz="1100" b="0" i="0">
                          <a:solidFill>
                            <a:srgbClr val="000000"/>
                          </a:solidFill>
                          <a:latin typeface="Calibri"/>
                        </a:rPr>
                        <a:t>5.5.2.</a:t>
                      </a:r>
                      <a:r>
                        <a:rPr sz="700" b="0" i="0">
                          <a:solidFill>
                            <a:srgbClr val="000000"/>
                          </a:solidFill>
                          <a:latin typeface="Times New Roman"/>
                        </a:rPr>
                        <a:t>   </a:t>
                      </a:r>
                      <a:r>
                        <a:rPr sz="1100" b="0" i="0">
                          <a:solidFill>
                            <a:srgbClr val="000000"/>
                          </a:solidFill>
                          <a:latin typeface="Calibri"/>
                        </a:rPr>
                        <a:t>Retail &amp; Consumer Goods</a:t>
                      </a:r>
                      <a:endParaRPr sz="1100"/>
                    </a:p>
                  </a:txBody>
                  <a:tcPr marL="771525" marR="9525" marT="9525" marB="0" anchor="ctr"/>
                </a:tc>
              </a:tr>
              <a:tr h="175260">
                <a:tc>
                  <a:txBody>
                    <a:bodyPr wrap="square"/>
                    <a:lstStyle/>
                    <a:p>
                      <a:pPr algn="l"/>
                      <a:r>
                        <a:rPr sz="1100" b="0" i="1">
                          <a:solidFill>
                            <a:srgbClr val="000000"/>
                          </a:solidFill>
                          <a:latin typeface="Calibri"/>
                        </a:rPr>
                        <a:t>5.5.2.1.</a:t>
                      </a:r>
                      <a:r>
                        <a:rPr sz="700" b="0" i="1">
                          <a:solidFill>
                            <a:srgbClr val="000000"/>
                          </a:solidFill>
                          <a:latin typeface="Times New Roman"/>
                        </a:rPr>
                        <a:t>    </a:t>
                      </a:r>
                      <a:r>
                        <a:rPr sz="1100" b="0" i="1">
                          <a:solidFill>
                            <a:srgbClr val="000000"/>
                          </a:solidFill>
                          <a:latin typeface="Calibri"/>
                        </a:rPr>
                        <a:t>Apparel</a:t>
                      </a:r>
                      <a:endParaRPr sz="1100"/>
                    </a:p>
                  </a:txBody>
                  <a:tcPr marL="1028700" marR="9525" marT="9525" marB="0" anchor="ctr"/>
                </a:tc>
              </a:tr>
              <a:tr h="175260">
                <a:tc>
                  <a:txBody>
                    <a:bodyPr wrap="square"/>
                    <a:lstStyle/>
                    <a:p>
                      <a:pPr algn="l"/>
                      <a:r>
                        <a:rPr sz="1100" b="0" i="1">
                          <a:solidFill>
                            <a:srgbClr val="000000"/>
                          </a:solidFill>
                          <a:latin typeface="Calibri"/>
                        </a:rPr>
                        <a:t>5.5.2.2.</a:t>
                      </a:r>
                      <a:r>
                        <a:rPr sz="700" b="0" i="1">
                          <a:solidFill>
                            <a:srgbClr val="000000"/>
                          </a:solidFill>
                          <a:latin typeface="Times New Roman"/>
                        </a:rPr>
                        <a:t>    </a:t>
                      </a:r>
                      <a:r>
                        <a:rPr sz="1100" b="0" i="1">
                          <a:solidFill>
                            <a:srgbClr val="000000"/>
                          </a:solidFill>
                          <a:latin typeface="Calibri"/>
                        </a:rPr>
                        <a:t>Footwear</a:t>
                      </a:r>
                      <a:endParaRPr sz="1100"/>
                    </a:p>
                  </a:txBody>
                  <a:tcPr marL="1028700" marR="9525" marT="9525" marB="0" anchor="ctr"/>
                </a:tc>
              </a:tr>
              <a:tr h="175260">
                <a:tc>
                  <a:txBody>
                    <a:bodyPr wrap="square"/>
                    <a:lstStyle/>
                    <a:p>
                      <a:pPr algn="l"/>
                      <a:r>
                        <a:rPr sz="1100" b="0" i="1">
                          <a:solidFill>
                            <a:srgbClr val="000000"/>
                          </a:solidFill>
                          <a:latin typeface="Calibri"/>
                        </a:rPr>
                        <a:t>5.5.2.3.</a:t>
                      </a:r>
                      <a:r>
                        <a:rPr sz="700" b="0" i="1">
                          <a:solidFill>
                            <a:srgbClr val="000000"/>
                          </a:solidFill>
                          <a:latin typeface="Times New Roman"/>
                        </a:rPr>
                        <a:t>    </a:t>
                      </a:r>
                      <a:r>
                        <a:rPr sz="1100" b="0" i="1">
                          <a:solidFill>
                            <a:srgbClr val="000000"/>
                          </a:solidFill>
                          <a:latin typeface="Calibri"/>
                        </a:rPr>
                        <a:t>Toys</a:t>
                      </a:r>
                      <a:endParaRPr sz="1100"/>
                    </a:p>
                  </a:txBody>
                  <a:tcPr marL="1028700" marR="9525" marT="9525" marB="0" anchor="ctr"/>
                </a:tc>
              </a:tr>
              <a:tr h="175260">
                <a:tc>
                  <a:txBody>
                    <a:bodyPr wrap="square"/>
                    <a:lstStyle/>
                    <a:p>
                      <a:pPr algn="l"/>
                      <a:r>
                        <a:rPr sz="1100" b="0" i="1">
                          <a:solidFill>
                            <a:srgbClr val="000000"/>
                          </a:solidFill>
                          <a:latin typeface="Calibri"/>
                        </a:rPr>
                        <a:t>5.5.2.4.</a:t>
                      </a:r>
                      <a:r>
                        <a:rPr sz="700" b="0" i="1">
                          <a:solidFill>
                            <a:srgbClr val="000000"/>
                          </a:solidFill>
                          <a:latin typeface="Times New Roman"/>
                        </a:rPr>
                        <a:t>    </a:t>
                      </a:r>
                      <a:r>
                        <a:rPr sz="1100" b="0" i="1">
                          <a:solidFill>
                            <a:srgbClr val="000000"/>
                          </a:solidFill>
                          <a:latin typeface="Calibri"/>
                        </a:rPr>
                        <a:t>Home Care</a:t>
                      </a:r>
                      <a:endParaRPr sz="1100"/>
                    </a:p>
                  </a:txBody>
                  <a:tcPr marL="1028700" marR="9525" marT="9525" marB="0" anchor="ctr"/>
                </a:tc>
              </a:tr>
              <a:tr h="175260">
                <a:tc>
                  <a:txBody>
                    <a:bodyPr wrap="square"/>
                    <a:lstStyle/>
                    <a:p>
                      <a:pPr algn="l"/>
                      <a:r>
                        <a:rPr sz="1100" b="0" i="1">
                          <a:solidFill>
                            <a:srgbClr val="000000"/>
                          </a:solidFill>
                          <a:latin typeface="Calibri"/>
                        </a:rPr>
                        <a:t>5.5.2.5.</a:t>
                      </a:r>
                      <a:r>
                        <a:rPr sz="700" b="0" i="1">
                          <a:solidFill>
                            <a:srgbClr val="000000"/>
                          </a:solidFill>
                          <a:latin typeface="Times New Roman"/>
                        </a:rPr>
                        <a:t>    </a:t>
                      </a:r>
                      <a:r>
                        <a:rPr sz="1100" b="0" i="1">
                          <a:solidFill>
                            <a:srgbClr val="000000"/>
                          </a:solidFill>
                          <a:latin typeface="Calibri"/>
                        </a:rPr>
                        <a:t>Household Goods</a:t>
                      </a:r>
                      <a:endParaRPr sz="1100"/>
                    </a:p>
                  </a:txBody>
                  <a:tcPr marL="1028700" marR="9525" marT="9525" marB="0" anchor="ctr"/>
                </a:tc>
              </a:tr>
              <a:tr h="175260">
                <a:tc>
                  <a:txBody>
                    <a:bodyPr wrap="square"/>
                    <a:lstStyle/>
                    <a:p>
                      <a:pPr algn="l"/>
                      <a:r>
                        <a:rPr sz="1100" b="0" i="1">
                          <a:solidFill>
                            <a:srgbClr val="000000"/>
                          </a:solidFill>
                          <a:latin typeface="Calibri"/>
                        </a:rPr>
                        <a:t>5.5.2.6.</a:t>
                      </a:r>
                      <a:r>
                        <a:rPr sz="700" b="0" i="1">
                          <a:solidFill>
                            <a:srgbClr val="000000"/>
                          </a:solidFill>
                          <a:latin typeface="Times New Roman"/>
                        </a:rPr>
                        <a:t>    </a:t>
                      </a:r>
                      <a:r>
                        <a:rPr sz="1100" b="0" i="1">
                          <a:solidFill>
                            <a:srgbClr val="000000"/>
                          </a:solidFill>
                          <a:latin typeface="Calibri"/>
                        </a:rPr>
                        <a:t>Stationery</a:t>
                      </a:r>
                      <a:endParaRPr sz="1100"/>
                    </a:p>
                  </a:txBody>
                  <a:tcPr marL="1028700" marR="9525" marT="9525" marB="0" anchor="ctr"/>
                </a:tc>
              </a:tr>
              <a:tr h="175260">
                <a:tc>
                  <a:txBody>
                    <a:bodyPr wrap="square"/>
                    <a:lstStyle/>
                    <a:p>
                      <a:pPr algn="l"/>
                      <a:r>
                        <a:rPr sz="1100" b="0" i="0">
                          <a:solidFill>
                            <a:srgbClr val="000000"/>
                          </a:solidFill>
                          <a:latin typeface="Calibri"/>
                        </a:rPr>
                        <a:t>5.5.3.</a:t>
                      </a:r>
                      <a:r>
                        <a:rPr sz="700" b="0" i="0">
                          <a:solidFill>
                            <a:srgbClr val="000000"/>
                          </a:solidFill>
                          <a:latin typeface="Times New Roman"/>
                        </a:rPr>
                        <a:t>   </a:t>
                      </a:r>
                      <a:r>
                        <a:rPr sz="1100" b="0" i="0">
                          <a:solidFill>
                            <a:srgbClr val="000000"/>
                          </a:solidFill>
                          <a:latin typeface="Calibri"/>
                        </a:rPr>
                        <a:t>Healthcare</a:t>
                      </a:r>
                      <a:endParaRPr sz="1100"/>
                    </a:p>
                  </a:txBody>
                  <a:tcPr marL="771525" marR="9525" marT="9525" marB="0" anchor="ctr"/>
                </a:tc>
              </a:tr>
              <a:tr h="175260">
                <a:tc>
                  <a:txBody>
                    <a:bodyPr wrap="square"/>
                    <a:lstStyle/>
                    <a:p>
                      <a:pPr algn="l"/>
                      <a:r>
                        <a:rPr sz="1100" b="0" i="1">
                          <a:solidFill>
                            <a:srgbClr val="000000"/>
                          </a:solidFill>
                          <a:latin typeface="Calibri"/>
                        </a:rPr>
                        <a:t>5.5.3.1.</a:t>
                      </a:r>
                      <a:r>
                        <a:rPr sz="700" b="0" i="1">
                          <a:solidFill>
                            <a:srgbClr val="000000"/>
                          </a:solidFill>
                          <a:latin typeface="Times New Roman"/>
                        </a:rPr>
                        <a:t>    </a:t>
                      </a:r>
                      <a:r>
                        <a:rPr sz="1100" b="0" i="1">
                          <a:solidFill>
                            <a:srgbClr val="000000"/>
                          </a:solidFill>
                          <a:latin typeface="Calibri"/>
                        </a:rPr>
                        <a:t>Pharmaceuticals</a:t>
                      </a:r>
                      <a:endParaRPr sz="1100"/>
                    </a:p>
                  </a:txBody>
                  <a:tcPr marL="1028700" marR="9525" marT="9525" marB="0" anchor="ctr"/>
                </a:tc>
              </a:tr>
              <a:tr h="175260">
                <a:tc>
                  <a:txBody>
                    <a:bodyPr wrap="square"/>
                    <a:lstStyle/>
                    <a:p>
                      <a:pPr algn="l"/>
                      <a:r>
                        <a:rPr sz="1100" b="0" i="1">
                          <a:solidFill>
                            <a:srgbClr val="000000"/>
                          </a:solidFill>
                          <a:latin typeface="Calibri"/>
                        </a:rPr>
                        <a:t>5.5.3.2.</a:t>
                      </a:r>
                      <a:r>
                        <a:rPr sz="700" b="0" i="1">
                          <a:solidFill>
                            <a:srgbClr val="000000"/>
                          </a:solidFill>
                          <a:latin typeface="Times New Roman"/>
                        </a:rPr>
                        <a:t>    </a:t>
                      </a:r>
                      <a:r>
                        <a:rPr sz="1100" b="0" i="1">
                          <a:solidFill>
                            <a:srgbClr val="000000"/>
                          </a:solidFill>
                          <a:latin typeface="Calibri"/>
                        </a:rPr>
                        <a:t>Medical Devices</a:t>
                      </a:r>
                      <a:endParaRPr sz="1100"/>
                    </a:p>
                  </a:txBody>
                  <a:tcPr marL="1028700" marR="9525" marT="9525" marB="0" anchor="ctr"/>
                </a:tc>
              </a:tr>
              <a:tr h="175260">
                <a:tc>
                  <a:txBody>
                    <a:bodyPr wrap="square"/>
                    <a:lstStyle/>
                    <a:p>
                      <a:pPr algn="l"/>
                      <a:r>
                        <a:rPr sz="1100" b="0" i="1">
                          <a:solidFill>
                            <a:srgbClr val="000000"/>
                          </a:solidFill>
                          <a:latin typeface="Calibri"/>
                        </a:rPr>
                        <a:t>5.5.3.3.</a:t>
                      </a:r>
                      <a:r>
                        <a:rPr sz="700" b="0" i="1">
                          <a:solidFill>
                            <a:srgbClr val="000000"/>
                          </a:solidFill>
                          <a:latin typeface="Times New Roman"/>
                        </a:rPr>
                        <a:t>    </a:t>
                      </a:r>
                      <a:r>
                        <a:rPr sz="1100" b="0" i="1">
                          <a:solidFill>
                            <a:srgbClr val="000000"/>
                          </a:solidFill>
                          <a:latin typeface="Calibri"/>
                        </a:rPr>
                        <a:t>Surgical Products</a:t>
                      </a:r>
                      <a:endParaRPr sz="1100"/>
                    </a:p>
                  </a:txBody>
                  <a:tcPr marL="1028700" marR="9525" marT="9525" marB="0" anchor="ctr"/>
                </a:tc>
              </a:tr>
              <a:tr h="175260">
                <a:tc>
                  <a:txBody>
                    <a:bodyPr wrap="square"/>
                    <a:lstStyle/>
                    <a:p>
                      <a:pPr algn="l"/>
                      <a:r>
                        <a:rPr sz="1100" b="0" i="1">
                          <a:solidFill>
                            <a:srgbClr val="000000"/>
                          </a:solidFill>
                          <a:latin typeface="Calibri"/>
                        </a:rPr>
                        <a:t>5.5.3.4.</a:t>
                      </a:r>
                      <a:r>
                        <a:rPr sz="700" b="0" i="1">
                          <a:solidFill>
                            <a:srgbClr val="000000"/>
                          </a:solidFill>
                          <a:latin typeface="Times New Roman"/>
                        </a:rPr>
                        <a:t>    </a:t>
                      </a:r>
                      <a:r>
                        <a:rPr sz="1100" b="0" i="1">
                          <a:solidFill>
                            <a:srgbClr val="000000"/>
                          </a:solidFill>
                          <a:latin typeface="Calibri"/>
                        </a:rPr>
                        <a:t>Diagnostic Kits</a:t>
                      </a:r>
                      <a:endParaRPr sz="1100"/>
                    </a:p>
                  </a:txBody>
                  <a:tcPr marL="1028700" marR="9525" marT="9525" marB="0" anchor="ctr"/>
                </a:tc>
              </a:tr>
              <a:tr h="175260">
                <a:tc>
                  <a:txBody>
                    <a:bodyPr wrap="square"/>
                    <a:lstStyle/>
                    <a:p>
                      <a:pPr algn="l"/>
                      <a:r>
                        <a:rPr sz="1100" b="0" i="1">
                          <a:solidFill>
                            <a:srgbClr val="000000"/>
                          </a:solidFill>
                          <a:latin typeface="Calibri"/>
                        </a:rPr>
                        <a:t>5.5.3.5.</a:t>
                      </a:r>
                      <a:r>
                        <a:rPr sz="700" b="0" i="1">
                          <a:solidFill>
                            <a:srgbClr val="000000"/>
                          </a:solidFill>
                          <a:latin typeface="Times New Roman"/>
                        </a:rPr>
                        <a:t>    </a:t>
                      </a:r>
                      <a:r>
                        <a:rPr sz="1100" b="0" i="1">
                          <a:solidFill>
                            <a:srgbClr val="000000"/>
                          </a:solidFill>
                          <a:latin typeface="Calibri"/>
                        </a:rPr>
                        <a:t>Laboratory Supplies</a:t>
                      </a:r>
                      <a:endParaRPr sz="1100"/>
                    </a:p>
                  </a:txBody>
                  <a:tcPr marL="1028700" marR="9525" marT="9525" marB="0" anchor="ctr"/>
                </a:tc>
              </a:tr>
              <a:tr h="175260">
                <a:tc>
                  <a:txBody>
                    <a:bodyPr wrap="square"/>
                    <a:lstStyle/>
                    <a:p>
                      <a:pPr algn="l"/>
                      <a:r>
                        <a:rPr sz="1100" b="0" i="0">
                          <a:solidFill>
                            <a:srgbClr val="000000"/>
                          </a:solidFill>
                          <a:latin typeface="Calibri"/>
                        </a:rPr>
                        <a:t>5.5.4.</a:t>
                      </a:r>
                      <a:r>
                        <a:rPr sz="700" b="0" i="0">
                          <a:solidFill>
                            <a:srgbClr val="000000"/>
                          </a:solidFill>
                          <a:latin typeface="Times New Roman"/>
                        </a:rPr>
                        <a:t>   </a:t>
                      </a:r>
                      <a:r>
                        <a:rPr sz="1100" b="0" i="0">
                          <a:solidFill>
                            <a:srgbClr val="000000"/>
                          </a:solidFill>
                          <a:latin typeface="Calibri"/>
                        </a:rPr>
                        <a:t>E-commerce &amp; Logistics</a:t>
                      </a:r>
                      <a:endParaRPr sz="1100"/>
                    </a:p>
                  </a:txBody>
                  <a:tcPr marL="771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(3/6)</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1">
                          <a:solidFill>
                            <a:srgbClr val="000000"/>
                          </a:solidFill>
                          <a:latin typeface="Calibri"/>
                        </a:rPr>
                        <a:t>5.5.4.1.</a:t>
                      </a:r>
                      <a:r>
                        <a:rPr sz="700" b="0" i="1">
                          <a:solidFill>
                            <a:srgbClr val="000000"/>
                          </a:solidFill>
                          <a:latin typeface="Times New Roman"/>
                        </a:rPr>
                        <a:t>    </a:t>
                      </a:r>
                      <a:r>
                        <a:rPr sz="1100" b="0" i="1">
                          <a:solidFill>
                            <a:srgbClr val="000000"/>
                          </a:solidFill>
                          <a:latin typeface="Calibri"/>
                        </a:rPr>
                        <a:t>Courier Packaging</a:t>
                      </a:r>
                      <a:endParaRPr sz="1100"/>
                    </a:p>
                  </a:txBody>
                  <a:tcPr marL="1028700" marR="9525" marT="9525" marB="0" anchor="ctr"/>
                </a:tc>
              </a:tr>
              <a:tr h="175260">
                <a:tc>
                  <a:txBody>
                    <a:bodyPr wrap="square"/>
                    <a:lstStyle/>
                    <a:p>
                      <a:pPr algn="l"/>
                      <a:r>
                        <a:rPr sz="1100" b="0" i="1">
                          <a:solidFill>
                            <a:srgbClr val="000000"/>
                          </a:solidFill>
                          <a:latin typeface="Calibri"/>
                        </a:rPr>
                        <a:t>5.5.4.2.</a:t>
                      </a:r>
                      <a:r>
                        <a:rPr sz="700" b="0" i="1">
                          <a:solidFill>
                            <a:srgbClr val="000000"/>
                          </a:solidFill>
                          <a:latin typeface="Times New Roman"/>
                        </a:rPr>
                        <a:t>    </a:t>
                      </a:r>
                      <a:r>
                        <a:rPr sz="1100" b="0" i="1">
                          <a:solidFill>
                            <a:srgbClr val="000000"/>
                          </a:solidFill>
                          <a:latin typeface="Calibri"/>
                        </a:rPr>
                        <a:t>Fulfillment Centers</a:t>
                      </a:r>
                      <a:endParaRPr sz="1100"/>
                    </a:p>
                  </a:txBody>
                  <a:tcPr marL="1028700" marR="9525" marT="9525" marB="0" anchor="ctr"/>
                </a:tc>
              </a:tr>
              <a:tr h="175260">
                <a:tc>
                  <a:txBody>
                    <a:bodyPr wrap="square"/>
                    <a:lstStyle/>
                    <a:p>
                      <a:pPr algn="l"/>
                      <a:r>
                        <a:rPr sz="1100" b="0" i="1">
                          <a:solidFill>
                            <a:srgbClr val="000000"/>
                          </a:solidFill>
                          <a:latin typeface="Calibri"/>
                        </a:rPr>
                        <a:t>5.5.4.3.</a:t>
                      </a:r>
                      <a:r>
                        <a:rPr sz="700" b="0" i="1">
                          <a:solidFill>
                            <a:srgbClr val="000000"/>
                          </a:solidFill>
                          <a:latin typeface="Times New Roman"/>
                        </a:rPr>
                        <a:t>    </a:t>
                      </a:r>
                      <a:r>
                        <a:rPr sz="1100" b="0" i="1">
                          <a:solidFill>
                            <a:srgbClr val="000000"/>
                          </a:solidFill>
                          <a:latin typeface="Calibri"/>
                        </a:rPr>
                        <a:t>Return Packaging</a:t>
                      </a:r>
                      <a:endParaRPr sz="1100"/>
                    </a:p>
                  </a:txBody>
                  <a:tcPr marL="1028700" marR="9525" marT="9525" marB="0" anchor="ctr"/>
                </a:tc>
              </a:tr>
              <a:tr h="175260">
                <a:tc>
                  <a:txBody>
                    <a:bodyPr wrap="square"/>
                    <a:lstStyle/>
                    <a:p>
                      <a:pPr algn="l"/>
                      <a:r>
                        <a:rPr sz="1100" b="0" i="1">
                          <a:solidFill>
                            <a:srgbClr val="000000"/>
                          </a:solidFill>
                          <a:latin typeface="Calibri"/>
                        </a:rPr>
                        <a:t>5.5.4.4.</a:t>
                      </a:r>
                      <a:r>
                        <a:rPr sz="700" b="0" i="1">
                          <a:solidFill>
                            <a:srgbClr val="000000"/>
                          </a:solidFill>
                          <a:latin typeface="Times New Roman"/>
                        </a:rPr>
                        <a:t>    </a:t>
                      </a:r>
                      <a:r>
                        <a:rPr sz="1100" b="0" i="1">
                          <a:solidFill>
                            <a:srgbClr val="000000"/>
                          </a:solidFill>
                          <a:latin typeface="Calibri"/>
                        </a:rPr>
                        <a:t>Warehouse Packaging</a:t>
                      </a:r>
                      <a:endParaRPr sz="1100"/>
                    </a:p>
                  </a:txBody>
                  <a:tcPr marL="1028700" marR="9525" marT="9525" marB="0" anchor="ctr"/>
                </a:tc>
              </a:tr>
              <a:tr h="175260">
                <a:tc>
                  <a:txBody>
                    <a:bodyPr wrap="square"/>
                    <a:lstStyle/>
                    <a:p>
                      <a:pPr algn="l"/>
                      <a:r>
                        <a:rPr sz="1100" b="0" i="0">
                          <a:solidFill>
                            <a:srgbClr val="000000"/>
                          </a:solidFill>
                          <a:latin typeface="Calibri"/>
                        </a:rPr>
                        <a:t>5.5.5.</a:t>
                      </a:r>
                      <a:r>
                        <a:rPr sz="700" b="0" i="0">
                          <a:solidFill>
                            <a:srgbClr val="000000"/>
                          </a:solidFill>
                          <a:latin typeface="Times New Roman"/>
                        </a:rPr>
                        <a:t>   </a:t>
                      </a:r>
                      <a:r>
                        <a:rPr sz="1100" b="0" i="0">
                          <a:solidFill>
                            <a:srgbClr val="000000"/>
                          </a:solidFill>
                          <a:latin typeface="Calibri"/>
                        </a:rPr>
                        <a:t>Industrial</a:t>
                      </a:r>
                      <a:endParaRPr sz="1100"/>
                    </a:p>
                  </a:txBody>
                  <a:tcPr marL="771525" marR="9525" marT="9525" marB="0" anchor="ctr"/>
                </a:tc>
              </a:tr>
              <a:tr h="175260">
                <a:tc>
                  <a:txBody>
                    <a:bodyPr wrap="square"/>
                    <a:lstStyle/>
                    <a:p>
                      <a:pPr algn="l"/>
                      <a:r>
                        <a:rPr sz="1100" b="0" i="1">
                          <a:solidFill>
                            <a:srgbClr val="000000"/>
                          </a:solidFill>
                          <a:latin typeface="Calibri"/>
                        </a:rPr>
                        <a:t>5.5.5.1.</a:t>
                      </a:r>
                      <a:r>
                        <a:rPr sz="700" b="0" i="1">
                          <a:solidFill>
                            <a:srgbClr val="000000"/>
                          </a:solidFill>
                          <a:latin typeface="Times New Roman"/>
                        </a:rPr>
                        <a:t>    </a:t>
                      </a:r>
                      <a:r>
                        <a:rPr sz="1100" b="0" i="1">
                          <a:solidFill>
                            <a:srgbClr val="000000"/>
                          </a:solidFill>
                          <a:latin typeface="Calibri"/>
                        </a:rPr>
                        <a:t>Automotive Components</a:t>
                      </a:r>
                      <a:endParaRPr sz="1100"/>
                    </a:p>
                  </a:txBody>
                  <a:tcPr marL="1028700" marR="9525" marT="9525" marB="0" anchor="ctr"/>
                </a:tc>
              </a:tr>
              <a:tr h="175260">
                <a:tc>
                  <a:txBody>
                    <a:bodyPr wrap="square"/>
                    <a:lstStyle/>
                    <a:p>
                      <a:pPr algn="l"/>
                      <a:r>
                        <a:rPr sz="1100" b="0" i="1">
                          <a:solidFill>
                            <a:srgbClr val="000000"/>
                          </a:solidFill>
                          <a:latin typeface="Calibri"/>
                        </a:rPr>
                        <a:t>5.5.5.2.</a:t>
                      </a:r>
                      <a:r>
                        <a:rPr sz="700" b="0" i="1">
                          <a:solidFill>
                            <a:srgbClr val="000000"/>
                          </a:solidFill>
                          <a:latin typeface="Times New Roman"/>
                        </a:rPr>
                        <a:t>    </a:t>
                      </a:r>
                      <a:r>
                        <a:rPr sz="1100" b="0" i="1">
                          <a:solidFill>
                            <a:srgbClr val="000000"/>
                          </a:solidFill>
                          <a:latin typeface="Calibri"/>
                        </a:rPr>
                        <a:t>Chemicals</a:t>
                      </a:r>
                      <a:endParaRPr sz="1100"/>
                    </a:p>
                  </a:txBody>
                  <a:tcPr marL="1028700" marR="9525" marT="9525" marB="0" anchor="ctr"/>
                </a:tc>
              </a:tr>
              <a:tr h="175260">
                <a:tc>
                  <a:txBody>
                    <a:bodyPr wrap="square"/>
                    <a:lstStyle/>
                    <a:p>
                      <a:pPr algn="l"/>
                      <a:r>
                        <a:rPr sz="1100" b="0" i="1">
                          <a:solidFill>
                            <a:srgbClr val="000000"/>
                          </a:solidFill>
                          <a:latin typeface="Calibri"/>
                        </a:rPr>
                        <a:t>5.5.5.3.</a:t>
                      </a:r>
                      <a:r>
                        <a:rPr sz="700" b="0" i="1">
                          <a:solidFill>
                            <a:srgbClr val="000000"/>
                          </a:solidFill>
                          <a:latin typeface="Times New Roman"/>
                        </a:rPr>
                        <a:t>    </a:t>
                      </a:r>
                      <a:r>
                        <a:rPr sz="1100" b="0" i="1">
                          <a:solidFill>
                            <a:srgbClr val="000000"/>
                          </a:solidFill>
                          <a:latin typeface="Calibri"/>
                        </a:rPr>
                        <a:t>Machinery Parts</a:t>
                      </a:r>
                      <a:endParaRPr sz="1100"/>
                    </a:p>
                  </a:txBody>
                  <a:tcPr marL="1028700" marR="9525" marT="9525" marB="0" anchor="ctr"/>
                </a:tc>
              </a:tr>
              <a:tr h="175260">
                <a:tc>
                  <a:txBody>
                    <a:bodyPr wrap="square"/>
                    <a:lstStyle/>
                    <a:p>
                      <a:pPr algn="l"/>
                      <a:r>
                        <a:rPr sz="1100" b="0" i="1">
                          <a:solidFill>
                            <a:srgbClr val="000000"/>
                          </a:solidFill>
                          <a:latin typeface="Calibri"/>
                        </a:rPr>
                        <a:t>5.5.5.4.</a:t>
                      </a:r>
                      <a:r>
                        <a:rPr sz="700" b="0" i="1">
                          <a:solidFill>
                            <a:srgbClr val="000000"/>
                          </a:solidFill>
                          <a:latin typeface="Times New Roman"/>
                        </a:rPr>
                        <a:t>    </a:t>
                      </a:r>
                      <a:r>
                        <a:rPr sz="1100" b="0" i="1">
                          <a:solidFill>
                            <a:srgbClr val="000000"/>
                          </a:solidFill>
                          <a:latin typeface="Calibri"/>
                        </a:rPr>
                        <a:t>Hardware</a:t>
                      </a:r>
                      <a:endParaRPr sz="1100"/>
                    </a:p>
                  </a:txBody>
                  <a:tcPr marL="1028700" marR="9525" marT="9525" marB="0" anchor="ctr"/>
                </a:tc>
              </a:tr>
              <a:tr h="175260">
                <a:tc>
                  <a:txBody>
                    <a:bodyPr wrap="square"/>
                    <a:lstStyle/>
                    <a:p>
                      <a:pPr algn="l"/>
                      <a:r>
                        <a:rPr sz="1100" b="0" i="1">
                          <a:solidFill>
                            <a:srgbClr val="000000"/>
                          </a:solidFill>
                          <a:latin typeface="Calibri"/>
                        </a:rPr>
                        <a:t>5.5.5.5.</a:t>
                      </a:r>
                      <a:r>
                        <a:rPr sz="700" b="0" i="1">
                          <a:solidFill>
                            <a:srgbClr val="000000"/>
                          </a:solidFill>
                          <a:latin typeface="Times New Roman"/>
                        </a:rPr>
                        <a:t>    </a:t>
                      </a:r>
                      <a:r>
                        <a:rPr sz="1100" b="0" i="1">
                          <a:solidFill>
                            <a:srgbClr val="000000"/>
                          </a:solidFill>
                          <a:latin typeface="Calibri"/>
                        </a:rPr>
                        <a:t>Electrical Components</a:t>
                      </a:r>
                      <a:endParaRPr sz="1100"/>
                    </a:p>
                  </a:txBody>
                  <a:tcPr marL="1028700" marR="9525" marT="9525" marB="0" anchor="ctr"/>
                </a:tc>
              </a:tr>
              <a:tr h="175260">
                <a:tc>
                  <a:txBody>
                    <a:bodyPr wrap="square"/>
                    <a:lstStyle/>
                    <a:p>
                      <a:pPr algn="l"/>
                      <a:r>
                        <a:rPr sz="1100" b="0" i="0">
                          <a:solidFill>
                            <a:srgbClr val="000000"/>
                          </a:solidFill>
                          <a:latin typeface="Calibri"/>
                        </a:rPr>
                        <a:t>5.5.6.</a:t>
                      </a:r>
                      <a:r>
                        <a:rPr sz="700" b="0" i="0">
                          <a:solidFill>
                            <a:srgbClr val="000000"/>
                          </a:solidFill>
                          <a:latin typeface="Times New Roman"/>
                        </a:rPr>
                        <a:t>   </a:t>
                      </a:r>
                      <a:r>
                        <a:rPr sz="1100" b="0" i="0">
                          <a:solidFill>
                            <a:srgbClr val="000000"/>
                          </a:solidFill>
                          <a:latin typeface="Calibri"/>
                        </a:rPr>
                        <a:t>Agriculture</a:t>
                      </a:r>
                      <a:endParaRPr sz="1100"/>
                    </a:p>
                  </a:txBody>
                  <a:tcPr marL="771525" marR="9525" marT="9525" marB="0" anchor="ctr"/>
                </a:tc>
              </a:tr>
              <a:tr h="175260">
                <a:tc>
                  <a:txBody>
                    <a:bodyPr wrap="square"/>
                    <a:lstStyle/>
                    <a:p>
                      <a:pPr algn="l"/>
                      <a:r>
                        <a:rPr sz="1100" b="0" i="1">
                          <a:solidFill>
                            <a:srgbClr val="000000"/>
                          </a:solidFill>
                          <a:latin typeface="Calibri"/>
                        </a:rPr>
                        <a:t>5.5.6.1.</a:t>
                      </a:r>
                      <a:r>
                        <a:rPr sz="700" b="0" i="1">
                          <a:solidFill>
                            <a:srgbClr val="000000"/>
                          </a:solidFill>
                          <a:latin typeface="Times New Roman"/>
                        </a:rPr>
                        <a:t>    </a:t>
                      </a:r>
                      <a:r>
                        <a:rPr sz="1100" b="0" i="1">
                          <a:solidFill>
                            <a:srgbClr val="000000"/>
                          </a:solidFill>
                          <a:latin typeface="Calibri"/>
                        </a:rPr>
                        <a:t>Seeds</a:t>
                      </a:r>
                      <a:endParaRPr sz="1100"/>
                    </a:p>
                  </a:txBody>
                  <a:tcPr marL="1028700" marR="9525" marT="9525" marB="0" anchor="ctr"/>
                </a:tc>
              </a:tr>
              <a:tr h="175260">
                <a:tc>
                  <a:txBody>
                    <a:bodyPr wrap="square"/>
                    <a:lstStyle/>
                    <a:p>
                      <a:pPr algn="l"/>
                      <a:r>
                        <a:rPr sz="1100" b="0" i="1">
                          <a:solidFill>
                            <a:srgbClr val="000000"/>
                          </a:solidFill>
                          <a:latin typeface="Calibri"/>
                        </a:rPr>
                        <a:t>5.5.6.2.</a:t>
                      </a:r>
                      <a:r>
                        <a:rPr sz="700" b="0" i="1">
                          <a:solidFill>
                            <a:srgbClr val="000000"/>
                          </a:solidFill>
                          <a:latin typeface="Times New Roman"/>
                        </a:rPr>
                        <a:t>    </a:t>
                      </a:r>
                      <a:r>
                        <a:rPr sz="1100" b="0" i="1">
                          <a:solidFill>
                            <a:srgbClr val="000000"/>
                          </a:solidFill>
                          <a:latin typeface="Calibri"/>
                        </a:rPr>
                        <a:t>Fertilizers</a:t>
                      </a:r>
                      <a:endParaRPr sz="1100"/>
                    </a:p>
                  </a:txBody>
                  <a:tcPr marL="1028700" marR="9525" marT="9525" marB="0" anchor="ctr"/>
                </a:tc>
              </a:tr>
              <a:tr h="175260">
                <a:tc>
                  <a:txBody>
                    <a:bodyPr wrap="square"/>
                    <a:lstStyle/>
                    <a:p>
                      <a:pPr algn="l"/>
                      <a:r>
                        <a:rPr sz="1100" b="0" i="1">
                          <a:solidFill>
                            <a:srgbClr val="000000"/>
                          </a:solidFill>
                          <a:latin typeface="Calibri"/>
                        </a:rPr>
                        <a:t>5.5.6.3.</a:t>
                      </a:r>
                      <a:r>
                        <a:rPr sz="700" b="0" i="1">
                          <a:solidFill>
                            <a:srgbClr val="000000"/>
                          </a:solidFill>
                          <a:latin typeface="Times New Roman"/>
                        </a:rPr>
                        <a:t>    </a:t>
                      </a:r>
                      <a:r>
                        <a:rPr sz="1100" b="0" i="1">
                          <a:solidFill>
                            <a:srgbClr val="000000"/>
                          </a:solidFill>
                          <a:latin typeface="Calibri"/>
                        </a:rPr>
                        <a:t>Animal Feed</a:t>
                      </a:r>
                      <a:endParaRPr sz="1100"/>
                    </a:p>
                  </a:txBody>
                  <a:tcPr marL="1028700" marR="9525" marT="9525" marB="0" anchor="ctr"/>
                </a:tc>
              </a:tr>
              <a:tr h="175260">
                <a:tc>
                  <a:txBody>
                    <a:bodyPr wrap="square"/>
                    <a:lstStyle/>
                    <a:p>
                      <a:pPr algn="l"/>
                      <a:r>
                        <a:rPr sz="1100" b="0" i="1">
                          <a:solidFill>
                            <a:srgbClr val="000000"/>
                          </a:solidFill>
                          <a:latin typeface="Calibri"/>
                        </a:rPr>
                        <a:t>5.5.6.4.</a:t>
                      </a:r>
                      <a:r>
                        <a:rPr sz="700" b="0" i="1">
                          <a:solidFill>
                            <a:srgbClr val="000000"/>
                          </a:solidFill>
                          <a:latin typeface="Times New Roman"/>
                        </a:rPr>
                        <a:t>    </a:t>
                      </a:r>
                      <a:r>
                        <a:rPr sz="1100" b="0" i="1">
                          <a:solidFill>
                            <a:srgbClr val="000000"/>
                          </a:solidFill>
                          <a:latin typeface="Calibri"/>
                        </a:rPr>
                        <a:t>Produce Packaging</a:t>
                      </a:r>
                      <a:endParaRPr sz="1100"/>
                    </a:p>
                  </a:txBody>
                  <a:tcPr marL="1028700" marR="9525" marT="9525" marB="0" anchor="ctr"/>
                </a:tc>
              </a:tr>
              <a:tr h="175260">
                <a:tc>
                  <a:txBody>
                    <a:bodyPr wrap="square"/>
                    <a:lstStyle/>
                    <a:p>
                      <a:pPr algn="l"/>
                      <a:r>
                        <a:rPr sz="1100" b="0" i="0">
                          <a:solidFill>
                            <a:srgbClr val="000000"/>
                          </a:solidFill>
                          <a:latin typeface="Calibri"/>
                        </a:rPr>
                        <a:t>5.5.7.</a:t>
                      </a:r>
                      <a:r>
                        <a:rPr sz="700" b="0" i="0">
                          <a:solidFill>
                            <a:srgbClr val="000000"/>
                          </a:solidFill>
                          <a:latin typeface="Times New Roman"/>
                        </a:rPr>
                        <a:t>   </a:t>
                      </a:r>
                      <a:r>
                        <a:rPr sz="1100" b="0" i="0">
                          <a:solidFill>
                            <a:srgbClr val="000000"/>
                          </a:solidFill>
                          <a:latin typeface="Calibri"/>
                        </a:rPr>
                        <a:t>Electronics</a:t>
                      </a:r>
                      <a:endParaRPr sz="1100"/>
                    </a:p>
                  </a:txBody>
                  <a:tcPr marL="771525" marR="9525" marT="9525" marB="0" anchor="ctr"/>
                </a:tc>
              </a:tr>
              <a:tr h="175260">
                <a:tc>
                  <a:txBody>
                    <a:bodyPr wrap="square"/>
                    <a:lstStyle/>
                    <a:p>
                      <a:pPr algn="l"/>
                      <a:r>
                        <a:rPr sz="1100" b="0" i="1">
                          <a:solidFill>
                            <a:srgbClr val="000000"/>
                          </a:solidFill>
                          <a:latin typeface="Calibri"/>
                        </a:rPr>
                        <a:t>5.5.7.1.</a:t>
                      </a:r>
                      <a:r>
                        <a:rPr sz="700" b="0" i="1">
                          <a:solidFill>
                            <a:srgbClr val="000000"/>
                          </a:solidFill>
                          <a:latin typeface="Times New Roman"/>
                        </a:rPr>
                        <a:t>    </a:t>
                      </a:r>
                      <a:r>
                        <a:rPr sz="1100" b="0" i="1">
                          <a:solidFill>
                            <a:srgbClr val="000000"/>
                          </a:solidFill>
                          <a:latin typeface="Calibri"/>
                        </a:rPr>
                        <a:t>Semiconductors</a:t>
                      </a:r>
                      <a:endParaRPr sz="1100"/>
                    </a:p>
                  </a:txBody>
                  <a:tcPr marL="1028700" marR="9525" marT="9525" marB="0" anchor="ctr"/>
                </a:tc>
              </a:tr>
              <a:tr h="175260">
                <a:tc>
                  <a:txBody>
                    <a:bodyPr wrap="square"/>
                    <a:lstStyle/>
                    <a:p>
                      <a:pPr algn="l"/>
                      <a:r>
                        <a:rPr sz="1100" b="0" i="1">
                          <a:solidFill>
                            <a:srgbClr val="000000"/>
                          </a:solidFill>
                          <a:latin typeface="Calibri"/>
                        </a:rPr>
                        <a:t>5.5.7.2.</a:t>
                      </a:r>
                      <a:r>
                        <a:rPr sz="700" b="0" i="1">
                          <a:solidFill>
                            <a:srgbClr val="000000"/>
                          </a:solidFill>
                          <a:latin typeface="Times New Roman"/>
                        </a:rPr>
                        <a:t>    </a:t>
                      </a:r>
                      <a:r>
                        <a:rPr sz="1100" b="0" i="1">
                          <a:solidFill>
                            <a:srgbClr val="000000"/>
                          </a:solidFill>
                          <a:latin typeface="Calibri"/>
                        </a:rPr>
                        <a:t>Consumer Electronics</a:t>
                      </a:r>
                      <a:endParaRPr sz="1100"/>
                    </a:p>
                  </a:txBody>
                  <a:tcPr marL="1028700" marR="9525" marT="9525" marB="0" anchor="ctr"/>
                </a:tc>
              </a:tr>
              <a:tr h="175260">
                <a:tc>
                  <a:txBody>
                    <a:bodyPr wrap="square"/>
                    <a:lstStyle/>
                    <a:p>
                      <a:pPr algn="l"/>
                      <a:r>
                        <a:rPr sz="1100" b="0" i="1">
                          <a:solidFill>
                            <a:srgbClr val="000000"/>
                          </a:solidFill>
                          <a:latin typeface="Calibri"/>
                        </a:rPr>
                        <a:t>5.5.7.3.</a:t>
                      </a:r>
                      <a:r>
                        <a:rPr sz="700" b="0" i="1">
                          <a:solidFill>
                            <a:srgbClr val="000000"/>
                          </a:solidFill>
                          <a:latin typeface="Times New Roman"/>
                        </a:rPr>
                        <a:t>    </a:t>
                      </a:r>
                      <a:r>
                        <a:rPr sz="1100" b="0" i="1">
                          <a:solidFill>
                            <a:srgbClr val="000000"/>
                          </a:solidFill>
                          <a:latin typeface="Calibri"/>
                        </a:rPr>
                        <a:t>Electronic Components</a:t>
                      </a:r>
                      <a:endParaRPr sz="1100"/>
                    </a:p>
                  </a:txBody>
                  <a:tcPr marL="1028700" marR="9525" marT="9525" marB="0" anchor="ctr"/>
                </a:tc>
              </a:tr>
              <a:tr h="175260">
                <a:tc>
                  <a:txBody>
                    <a:bodyPr wrap="square"/>
                    <a:lstStyle/>
                    <a:p>
                      <a:pPr algn="l"/>
                      <a:r>
                        <a:rPr sz="1100" b="0" i="1">
                          <a:solidFill>
                            <a:srgbClr val="000000"/>
                          </a:solidFill>
                          <a:latin typeface="Calibri"/>
                        </a:rPr>
                        <a:t>5.5.7.4.</a:t>
                      </a:r>
                      <a:r>
                        <a:rPr sz="700" b="0" i="1">
                          <a:solidFill>
                            <a:srgbClr val="000000"/>
                          </a:solidFill>
                          <a:latin typeface="Times New Roman"/>
                        </a:rPr>
                        <a:t>    </a:t>
                      </a:r>
                      <a:r>
                        <a:rPr sz="1100" b="0" i="1">
                          <a:solidFill>
                            <a:srgbClr val="000000"/>
                          </a:solidFill>
                          <a:latin typeface="Calibri"/>
                        </a:rPr>
                        <a:t>PCB Packaging</a:t>
                      </a:r>
                      <a:endParaRPr sz="1100"/>
                    </a:p>
                  </a:txBody>
                  <a:tcPr marL="1028700" marR="9525" marT="9525" marB="0" anchor="ctr"/>
                </a:tc>
              </a:tr>
              <a:tr h="175260">
                <a:tc>
                  <a:txBody>
                    <a:bodyPr wrap="square"/>
                    <a:lstStyle/>
                    <a:p>
                      <a:pPr algn="l"/>
                      <a:r>
                        <a:rPr sz="1100" b="0" i="0">
                          <a:solidFill>
                            <a:srgbClr val="000000"/>
                          </a:solidFill>
                          <a:latin typeface="Calibri"/>
                        </a:rPr>
                        <a:t>5.5.8.</a:t>
                      </a:r>
                      <a:r>
                        <a:rPr sz="700" b="0" i="0">
                          <a:solidFill>
                            <a:srgbClr val="000000"/>
                          </a:solidFill>
                          <a:latin typeface="Times New Roman"/>
                        </a:rPr>
                        <a:t>   </a:t>
                      </a:r>
                      <a:r>
                        <a:rPr sz="1100" b="0" i="0">
                          <a:solidFill>
                            <a:srgbClr val="000000"/>
                          </a:solidFill>
                          <a:latin typeface="Calibri"/>
                        </a:rPr>
                        <a:t>Personal Care &amp; Cosmetics</a:t>
                      </a:r>
                      <a:endParaRPr sz="1100"/>
                    </a:p>
                  </a:txBody>
                  <a:tcPr marL="771525" marR="9525" marT="9525" marB="0" anchor="ctr"/>
                </a:tc>
              </a:tr>
              <a:tr h="175260">
                <a:tc>
                  <a:txBody>
                    <a:bodyPr wrap="square"/>
                    <a:lstStyle/>
                    <a:p>
                      <a:pPr algn="l"/>
                      <a:r>
                        <a:rPr sz="1100" b="0" i="1">
                          <a:solidFill>
                            <a:srgbClr val="000000"/>
                          </a:solidFill>
                          <a:latin typeface="Calibri"/>
                        </a:rPr>
                        <a:t>5.5.8.1.</a:t>
                      </a:r>
                      <a:r>
                        <a:rPr sz="700" b="0" i="1">
                          <a:solidFill>
                            <a:srgbClr val="000000"/>
                          </a:solidFill>
                          <a:latin typeface="Times New Roman"/>
                        </a:rPr>
                        <a:t>    </a:t>
                      </a:r>
                      <a:r>
                        <a:rPr sz="1100" b="0" i="1">
                          <a:solidFill>
                            <a:srgbClr val="000000"/>
                          </a:solidFill>
                          <a:latin typeface="Calibri"/>
                        </a:rPr>
                        <a:t>Cosmetic Products</a:t>
                      </a:r>
                      <a:endParaRPr sz="1100"/>
                    </a:p>
                  </a:txBody>
                  <a:tcPr marL="1028700" marR="9525" marT="9525" marB="0" anchor="ctr"/>
                </a:tc>
              </a:tr>
              <a:tr h="175260">
                <a:tc>
                  <a:txBody>
                    <a:bodyPr wrap="square"/>
                    <a:lstStyle/>
                    <a:p>
                      <a:pPr algn="l"/>
                      <a:r>
                        <a:rPr sz="1100" b="0" i="1">
                          <a:solidFill>
                            <a:srgbClr val="000000"/>
                          </a:solidFill>
                          <a:latin typeface="Calibri"/>
                        </a:rPr>
                        <a:t>5.5.8.2.</a:t>
                      </a:r>
                      <a:r>
                        <a:rPr sz="700" b="0" i="1">
                          <a:solidFill>
                            <a:srgbClr val="000000"/>
                          </a:solidFill>
                          <a:latin typeface="Times New Roman"/>
                        </a:rPr>
                        <a:t>    </a:t>
                      </a:r>
                      <a:r>
                        <a:rPr sz="1100" b="0" i="1">
                          <a:solidFill>
                            <a:srgbClr val="000000"/>
                          </a:solidFill>
                          <a:latin typeface="Calibri"/>
                        </a:rPr>
                        <a:t>Toiletries</a:t>
                      </a:r>
                      <a:endParaRPr sz="1100"/>
                    </a:p>
                  </a:txBody>
                  <a:tcPr marL="1028700" marR="9525" marT="9525" marB="0" anchor="ctr"/>
                </a:tc>
              </a:tr>
              <a:tr h="175260">
                <a:tc>
                  <a:txBody>
                    <a:bodyPr wrap="square"/>
                    <a:lstStyle/>
                    <a:p>
                      <a:pPr algn="l"/>
                      <a:r>
                        <a:rPr sz="1100" b="0" i="1">
                          <a:solidFill>
                            <a:srgbClr val="000000"/>
                          </a:solidFill>
                          <a:latin typeface="Calibri"/>
                        </a:rPr>
                        <a:t>5.5.8.3.</a:t>
                      </a:r>
                      <a:r>
                        <a:rPr sz="700" b="0" i="1">
                          <a:solidFill>
                            <a:srgbClr val="000000"/>
                          </a:solidFill>
                          <a:latin typeface="Times New Roman"/>
                        </a:rPr>
                        <a:t>    </a:t>
                      </a:r>
                      <a:r>
                        <a:rPr sz="1100" b="0" i="1">
                          <a:solidFill>
                            <a:srgbClr val="000000"/>
                          </a:solidFill>
                          <a:latin typeface="Calibri"/>
                        </a:rPr>
                        <a:t>Beauty Products</a:t>
                      </a:r>
                      <a:endParaRPr sz="1100"/>
                    </a:p>
                  </a:txBody>
                  <a:tcPr marL="1028700" marR="9525" marT="9525" marB="0" anchor="ctr"/>
                </a:tc>
              </a:tr>
              <a:tr h="175260">
                <a:tc>
                  <a:txBody>
                    <a:bodyPr wrap="square"/>
                    <a:lstStyle/>
                    <a:p>
                      <a:pPr algn="l"/>
                      <a:r>
                        <a:rPr sz="1100" b="1" i="0">
                          <a:solidFill>
                            <a:srgbClr val="000000"/>
                          </a:solidFill>
                          <a:latin typeface="Calibri"/>
                        </a:rPr>
                        <a:t>6.</a:t>
                      </a:r>
                      <a:r>
                        <a:rPr sz="700" b="1" i="0">
                          <a:solidFill>
                            <a:srgbClr val="000000"/>
                          </a:solidFill>
                          <a:latin typeface="Times New Roman"/>
                        </a:rPr>
                        <a:t>       </a:t>
                      </a:r>
                      <a:r>
                        <a:rPr sz="1100" b="1" i="0">
                          <a:solidFill>
                            <a:srgbClr val="000000"/>
                          </a:solidFill>
                          <a:latin typeface="Calibri"/>
                        </a:rPr>
                        <a:t>Global Market (Value- Volume) Analysis 2021–2036, by Region</a:t>
                      </a:r>
                      <a:endParaRPr sz="1100"/>
                    </a:p>
                  </a:txBody>
                  <a:tcPr marL="171450" marR="9525" marT="9525" marB="0" anchor="ctr"/>
                </a:tc>
              </a:tr>
              <a:tr h="175260">
                <a:tc>
                  <a:txBody>
                    <a:bodyPr wrap="square"/>
                    <a:lstStyle/>
                    <a:p>
                      <a:pPr algn="l"/>
                      <a:r>
                        <a:rPr sz="1100" b="0" i="0">
                          <a:solidFill>
                            <a:srgbClr val="0070C0"/>
                          </a:solidFill>
                          <a:latin typeface="Calibri"/>
                        </a:rPr>
                        <a:t>6.1.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6.2.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6.3.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6.4.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6.5.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6.5.1.</a:t>
                      </a:r>
                      <a:r>
                        <a:rPr sz="700" b="0" i="0">
                          <a:solidFill>
                            <a:srgbClr val="000000"/>
                          </a:solidFill>
                          <a:latin typeface="Times New Roman"/>
                        </a:rPr>
                        <a:t>   </a:t>
                      </a:r>
                      <a:r>
                        <a:rPr sz="1100" b="0" i="0">
                          <a:solidFill>
                            <a:srgbClr val="000000"/>
                          </a:solidFill>
                          <a:latin typeface="Calibri"/>
                        </a:rPr>
                        <a:t>North America</a:t>
                      </a:r>
                      <a:endParaRPr sz="1100"/>
                    </a:p>
                  </a:txBody>
                  <a:tcPr marL="771525" marR="9525" marT="9525" marB="0" anchor="ctr"/>
                </a:tc>
              </a:tr>
              <a:tr h="175260">
                <a:tc>
                  <a:txBody>
                    <a:bodyPr wrap="square"/>
                    <a:lstStyle/>
                    <a:p>
                      <a:pPr algn="l"/>
                      <a:r>
                        <a:rPr sz="1100" b="0" i="1">
                          <a:solidFill>
                            <a:srgbClr val="000000"/>
                          </a:solidFill>
                          <a:latin typeface="Calibri"/>
                        </a:rPr>
                        <a:t>6.5.1.1.</a:t>
                      </a:r>
                      <a:r>
                        <a:rPr sz="700" b="0" i="1">
                          <a:solidFill>
                            <a:srgbClr val="000000"/>
                          </a:solidFill>
                          <a:latin typeface="Times New Roman"/>
                        </a:rPr>
                        <a:t>    </a:t>
                      </a:r>
                      <a:r>
                        <a:rPr sz="1100" b="0" i="1">
                          <a:solidFill>
                            <a:srgbClr val="000000"/>
                          </a:solidFill>
                          <a:latin typeface="Calibri"/>
                        </a:rPr>
                        <a:t>U.S.</a:t>
                      </a:r>
                      <a:endParaRPr sz="1100"/>
                    </a:p>
                  </a:txBody>
                  <a:tcPr marL="1028700" marR="9525" marT="9525" marB="0" anchor="ctr"/>
                </a:tc>
              </a:tr>
              <a:tr h="175260">
                <a:tc>
                  <a:txBody>
                    <a:bodyPr wrap="square"/>
                    <a:lstStyle/>
                    <a:p>
                      <a:pPr algn="l"/>
                      <a:r>
                        <a:rPr sz="1100" b="0" i="1">
                          <a:solidFill>
                            <a:srgbClr val="000000"/>
                          </a:solidFill>
                          <a:latin typeface="Calibri"/>
                        </a:rPr>
                        <a:t>6.5.1.2.</a:t>
                      </a:r>
                      <a:r>
                        <a:rPr sz="700" b="0" i="1">
                          <a:solidFill>
                            <a:srgbClr val="000000"/>
                          </a:solidFill>
                          <a:latin typeface="Times New Roman"/>
                        </a:rPr>
                        <a:t>    </a:t>
                      </a:r>
                      <a:r>
                        <a:rPr sz="1100" b="0" i="1">
                          <a:solidFill>
                            <a:srgbClr val="000000"/>
                          </a:solidFill>
                          <a:latin typeface="Calibri"/>
                        </a:rPr>
                        <a:t>Canada</a:t>
                      </a:r>
                      <a:endParaRPr sz="1100"/>
                    </a:p>
                  </a:txBody>
                  <a:tcPr marL="1028700" marR="9525" marT="9525" marB="0" anchor="ctr"/>
                </a:tc>
              </a:tr>
              <a:tr h="175260">
                <a:tc>
                  <a:txBody>
                    <a:bodyPr wrap="square"/>
                    <a:lstStyle/>
                    <a:p>
                      <a:pPr algn="l"/>
                      <a:r>
                        <a:rPr sz="1100" b="0" i="0">
                          <a:solidFill>
                            <a:srgbClr val="000000"/>
                          </a:solidFill>
                          <a:latin typeface="Calibri"/>
                        </a:rPr>
                        <a:t>6.5.2.</a:t>
                      </a:r>
                      <a:r>
                        <a:rPr sz="700" b="0" i="0">
                          <a:solidFill>
                            <a:srgbClr val="000000"/>
                          </a:solidFill>
                          <a:latin typeface="Times New Roman"/>
                        </a:rPr>
                        <a:t>   </a:t>
                      </a:r>
                      <a:r>
                        <a:rPr sz="1100" b="0" i="0">
                          <a:solidFill>
                            <a:srgbClr val="000000"/>
                          </a:solidFill>
                          <a:latin typeface="Calibri"/>
                        </a:rPr>
                        <a:t>Latin America</a:t>
                      </a:r>
                      <a:endParaRPr sz="1100"/>
                    </a:p>
                  </a:txBody>
                  <a:tcPr marL="771525" marR="9525" marT="9525" marB="0" anchor="ctr"/>
                </a:tc>
              </a:tr>
              <a:tr h="175260">
                <a:tc>
                  <a:txBody>
                    <a:bodyPr wrap="square"/>
                    <a:lstStyle/>
                    <a:p>
                      <a:pPr algn="l"/>
                      <a:r>
                        <a:rPr sz="1100" b="0" i="1">
                          <a:solidFill>
                            <a:srgbClr val="000000"/>
                          </a:solidFill>
                          <a:latin typeface="Calibri"/>
                        </a:rPr>
                        <a:t>6.5.2.1.</a:t>
                      </a:r>
                      <a:r>
                        <a:rPr sz="700" b="0" i="1">
                          <a:solidFill>
                            <a:srgbClr val="000000"/>
                          </a:solidFill>
                          <a:latin typeface="Times New Roman"/>
                        </a:rPr>
                        <a:t>    </a:t>
                      </a:r>
                      <a:r>
                        <a:rPr sz="1100" b="0" i="1">
                          <a:solidFill>
                            <a:srgbClr val="000000"/>
                          </a:solidFill>
                          <a:latin typeface="Calibri"/>
                        </a:rPr>
                        <a:t>Brazil</a:t>
                      </a:r>
                      <a:endParaRPr sz="1100"/>
                    </a:p>
                  </a:txBody>
                  <a:tcPr marL="1028700" marR="9525" marT="9525" marB="0" anchor="ctr"/>
                </a:tc>
              </a:tr>
              <a:tr h="175260">
                <a:tc>
                  <a:txBody>
                    <a:bodyPr wrap="square"/>
                    <a:lstStyle/>
                    <a:p>
                      <a:pPr algn="l"/>
                      <a:r>
                        <a:rPr sz="1100" b="0" i="1">
                          <a:solidFill>
                            <a:srgbClr val="000000"/>
                          </a:solidFill>
                          <a:latin typeface="Calibri"/>
                        </a:rPr>
                        <a:t>6.5.2.2.</a:t>
                      </a:r>
                      <a:r>
                        <a:rPr sz="700" b="0" i="1">
                          <a:solidFill>
                            <a:srgbClr val="000000"/>
                          </a:solidFill>
                          <a:latin typeface="Times New Roman"/>
                        </a:rPr>
                        <a:t>    </a:t>
                      </a:r>
                      <a:r>
                        <a:rPr sz="1100" b="0" i="1">
                          <a:solidFill>
                            <a:srgbClr val="000000"/>
                          </a:solidFill>
                          <a:latin typeface="Calibri"/>
                        </a:rPr>
                        <a:t>Mexico</a:t>
                      </a:r>
                      <a:endParaRPr sz="1100"/>
                    </a:p>
                  </a:txBody>
                  <a:tcPr marL="1028700" marR="9525" marT="9525" marB="0" anchor="ctr"/>
                </a:tc>
              </a:tr>
              <a:tr h="175260">
                <a:tc>
                  <a:txBody>
                    <a:bodyPr wrap="square"/>
                    <a:lstStyle/>
                    <a:p>
                      <a:pPr algn="l"/>
                      <a:r>
                        <a:rPr sz="1100" b="0" i="1">
                          <a:solidFill>
                            <a:srgbClr val="000000"/>
                          </a:solidFill>
                          <a:latin typeface="Calibri"/>
                        </a:rPr>
                        <a:t>6.5.2.3.</a:t>
                      </a:r>
                      <a:r>
                        <a:rPr sz="700" b="0" i="1">
                          <a:solidFill>
                            <a:srgbClr val="000000"/>
                          </a:solidFill>
                          <a:latin typeface="Times New Roman"/>
                        </a:rPr>
                        <a:t>    </a:t>
                      </a:r>
                      <a:r>
                        <a:rPr sz="1100" b="0" i="1">
                          <a:solidFill>
                            <a:srgbClr val="000000"/>
                          </a:solidFill>
                          <a:latin typeface="Calibri"/>
                        </a:rPr>
                        <a:t>Rest of LATAM</a:t>
                      </a:r>
                      <a:endParaRPr sz="1100"/>
                    </a:p>
                  </a:txBody>
                  <a:tcPr marL="1028700" marR="9525" marT="9525" marB="0" anchor="ctr"/>
                </a:tc>
              </a:tr>
              <a:tr h="175260">
                <a:tc>
                  <a:txBody>
                    <a:bodyPr wrap="square"/>
                    <a:lstStyle/>
                    <a:p>
                      <a:pPr algn="l"/>
                      <a:r>
                        <a:rPr sz="1100" b="0" i="0">
                          <a:solidFill>
                            <a:srgbClr val="000000"/>
                          </a:solidFill>
                          <a:latin typeface="Calibri"/>
                        </a:rPr>
                        <a:t>6.5.3.</a:t>
                      </a:r>
                      <a:r>
                        <a:rPr sz="700" b="0" i="0">
                          <a:solidFill>
                            <a:srgbClr val="000000"/>
                          </a:solidFill>
                          <a:latin typeface="Times New Roman"/>
                        </a:rPr>
                        <a:t>   </a:t>
                      </a:r>
                      <a:r>
                        <a:rPr sz="1100" b="0" i="0">
                          <a:solidFill>
                            <a:srgbClr val="000000"/>
                          </a:solidFill>
                          <a:latin typeface="Calibri"/>
                        </a:rPr>
                        <a:t>East Asia</a:t>
                      </a:r>
                      <a:endParaRPr sz="1100"/>
                    </a:p>
                  </a:txBody>
                  <a:tcPr marL="771525" marR="9525" marT="9525" marB="0" anchor="ctr"/>
                </a:tc>
              </a:tr>
              <a:tr h="175260">
                <a:tc>
                  <a:txBody>
                    <a:bodyPr wrap="square"/>
                    <a:lstStyle/>
                    <a:p>
                      <a:pPr algn="l"/>
                      <a:r>
                        <a:rPr sz="1100" b="0" i="1">
                          <a:solidFill>
                            <a:srgbClr val="000000"/>
                          </a:solidFill>
                          <a:latin typeface="Calibri"/>
                        </a:rPr>
                        <a:t>6.5.3.1.</a:t>
                      </a:r>
                      <a:r>
                        <a:rPr sz="700" b="0" i="1">
                          <a:solidFill>
                            <a:srgbClr val="000000"/>
                          </a:solidFill>
                          <a:latin typeface="Times New Roman"/>
                        </a:rPr>
                        <a:t>    </a:t>
                      </a:r>
                      <a:r>
                        <a:rPr sz="1100" b="0" i="1">
                          <a:solidFill>
                            <a:srgbClr val="000000"/>
                          </a:solidFill>
                          <a:latin typeface="Calibri"/>
                        </a:rPr>
                        <a:t>China</a:t>
                      </a:r>
                      <a:endParaRPr sz="1100"/>
                    </a:p>
                  </a:txBody>
                  <a:tcPr marL="1028700" marR="9525" marT="9525" marB="0" anchor="ctr"/>
                </a:tc>
              </a:tr>
              <a:tr h="175260">
                <a:tc>
                  <a:txBody>
                    <a:bodyPr wrap="square"/>
                    <a:lstStyle/>
                    <a:p>
                      <a:pPr algn="l"/>
                      <a:r>
                        <a:rPr sz="1100" b="0" i="1">
                          <a:solidFill>
                            <a:srgbClr val="000000"/>
                          </a:solidFill>
                          <a:latin typeface="Calibri"/>
                        </a:rPr>
                        <a:t>6.5.3.2.</a:t>
                      </a:r>
                      <a:r>
                        <a:rPr sz="700" b="0" i="1">
                          <a:solidFill>
                            <a:srgbClr val="000000"/>
                          </a:solidFill>
                          <a:latin typeface="Times New Roman"/>
                        </a:rPr>
                        <a:t>    </a:t>
                      </a:r>
                      <a:r>
                        <a:rPr sz="1100" b="0" i="1">
                          <a:solidFill>
                            <a:srgbClr val="000000"/>
                          </a:solidFill>
                          <a:latin typeface="Calibri"/>
                        </a:rPr>
                        <a:t>Japan</a:t>
                      </a:r>
                      <a:endParaRPr sz="1100"/>
                    </a:p>
                  </a:txBody>
                  <a:tcPr marL="1028700" marR="9525" marT="9525" marB="0" anchor="ctr"/>
                </a:tc>
              </a:tr>
              <a:tr h="175260">
                <a:tc>
                  <a:txBody>
                    <a:bodyPr wrap="square"/>
                    <a:lstStyle/>
                    <a:p>
                      <a:pPr algn="l"/>
                      <a:r>
                        <a:rPr sz="1100" b="0" i="1">
                          <a:solidFill>
                            <a:srgbClr val="000000"/>
                          </a:solidFill>
                          <a:latin typeface="Calibri"/>
                        </a:rPr>
                        <a:t>6.5.3.3.</a:t>
                      </a:r>
                      <a:r>
                        <a:rPr sz="700" b="0" i="1">
                          <a:solidFill>
                            <a:srgbClr val="000000"/>
                          </a:solidFill>
                          <a:latin typeface="Times New Roman"/>
                        </a:rPr>
                        <a:t>    </a:t>
                      </a:r>
                      <a:r>
                        <a:rPr sz="1100" b="0" i="1">
                          <a:solidFill>
                            <a:srgbClr val="000000"/>
                          </a:solidFill>
                          <a:latin typeface="Calibri"/>
                        </a:rPr>
                        <a:t>S Korea</a:t>
                      </a:r>
                      <a:endParaRPr sz="1100"/>
                    </a:p>
                  </a:txBody>
                  <a:tcPr marL="1028700" marR="9525" marT="9525" marB="0" anchor="ctr"/>
                </a:tc>
              </a:tr>
              <a:tr h="175260">
                <a:tc>
                  <a:txBody>
                    <a:bodyPr wrap="square"/>
                    <a:lstStyle/>
                    <a:p>
                      <a:pPr algn="l"/>
                      <a:r>
                        <a:rPr sz="1100" b="0" i="0">
                          <a:solidFill>
                            <a:srgbClr val="000000"/>
                          </a:solidFill>
                          <a:latin typeface="Calibri"/>
                        </a:rPr>
                        <a:t>6.5.4.</a:t>
                      </a:r>
                      <a:r>
                        <a:rPr sz="700" b="0" i="0">
                          <a:solidFill>
                            <a:srgbClr val="000000"/>
                          </a:solidFill>
                          <a:latin typeface="Times New Roman"/>
                        </a:rPr>
                        <a:t>   </a:t>
                      </a:r>
                      <a:r>
                        <a:rPr sz="1100" b="0" i="0">
                          <a:solidFill>
                            <a:srgbClr val="000000"/>
                          </a:solidFill>
                          <a:latin typeface="Calibri"/>
                        </a:rPr>
                        <a:t>South Asia &amp; Pacific</a:t>
                      </a:r>
                      <a:endParaRPr sz="1100"/>
                    </a:p>
                  </a:txBody>
                  <a:tcPr marL="771525" marR="9525" marT="9525" marB="0" anchor="ctr"/>
                </a:tc>
              </a:tr>
              <a:tr h="175260">
                <a:tc>
                  <a:txBody>
                    <a:bodyPr wrap="square"/>
                    <a:lstStyle/>
                    <a:p>
                      <a:pPr algn="l"/>
                      <a:r>
                        <a:rPr sz="1100" b="0" i="1">
                          <a:solidFill>
                            <a:srgbClr val="000000"/>
                          </a:solidFill>
                          <a:latin typeface="Calibri"/>
                        </a:rPr>
                        <a:t>6.5.4.1.</a:t>
                      </a:r>
                      <a:r>
                        <a:rPr sz="700" b="0" i="1">
                          <a:solidFill>
                            <a:srgbClr val="000000"/>
                          </a:solidFill>
                          <a:latin typeface="Times New Roman"/>
                        </a:rPr>
                        <a:t>    </a:t>
                      </a:r>
                      <a:r>
                        <a:rPr sz="1100" b="0" i="1">
                          <a:solidFill>
                            <a:srgbClr val="000000"/>
                          </a:solidFill>
                          <a:latin typeface="Calibri"/>
                        </a:rPr>
                        <a:t>India</a:t>
                      </a:r>
                      <a:endParaRPr sz="1100"/>
                    </a:p>
                  </a:txBody>
                  <a:tcPr marL="1028700" marR="9525" marT="9525" marB="0" anchor="ctr"/>
                </a:tc>
              </a:tr>
              <a:tr h="175260">
                <a:tc>
                  <a:txBody>
                    <a:bodyPr wrap="square"/>
                    <a:lstStyle/>
                    <a:p>
                      <a:pPr algn="l"/>
                      <a:r>
                        <a:rPr sz="1100" b="0" i="1">
                          <a:solidFill>
                            <a:srgbClr val="000000"/>
                          </a:solidFill>
                          <a:latin typeface="Calibri"/>
                        </a:rPr>
                        <a:t>6.5.4.2.</a:t>
                      </a:r>
                      <a:r>
                        <a:rPr sz="700" b="0" i="1">
                          <a:solidFill>
                            <a:srgbClr val="000000"/>
                          </a:solidFill>
                          <a:latin typeface="Times New Roman"/>
                        </a:rPr>
                        <a:t>    </a:t>
                      </a:r>
                      <a:r>
                        <a:rPr sz="1100" b="0" i="1">
                          <a:solidFill>
                            <a:srgbClr val="000000"/>
                          </a:solidFill>
                          <a:latin typeface="Calibri"/>
                        </a:rPr>
                        <a:t>Thailand</a:t>
                      </a:r>
                      <a:endParaRPr sz="1100"/>
                    </a:p>
                  </a:txBody>
                  <a:tcPr marL="1028700" marR="9525" marT="9525" marB="0" anchor="ctr"/>
                </a:tc>
              </a:tr>
              <a:tr h="175260">
                <a:tc>
                  <a:txBody>
                    <a:bodyPr wrap="square"/>
                    <a:lstStyle/>
                    <a:p>
                      <a:pPr algn="l"/>
                      <a:r>
                        <a:rPr sz="1100" b="0" i="1">
                          <a:solidFill>
                            <a:srgbClr val="000000"/>
                          </a:solidFill>
                          <a:latin typeface="Calibri"/>
                        </a:rPr>
                        <a:t>6.5.4.3.</a:t>
                      </a:r>
                      <a:r>
                        <a:rPr sz="700" b="0" i="1">
                          <a:solidFill>
                            <a:srgbClr val="000000"/>
                          </a:solidFill>
                          <a:latin typeface="Times New Roman"/>
                        </a:rPr>
                        <a:t>    </a:t>
                      </a:r>
                      <a:r>
                        <a:rPr sz="1100" b="0" i="1">
                          <a:solidFill>
                            <a:srgbClr val="000000"/>
                          </a:solidFill>
                          <a:latin typeface="Calibri"/>
                        </a:rPr>
                        <a:t>Malaysia</a:t>
                      </a:r>
                      <a:endParaRPr sz="1100"/>
                    </a:p>
                  </a:txBody>
                  <a:tcPr marL="1028700" marR="9525" marT="9525" marB="0" anchor="ctr"/>
                </a:tc>
              </a:tr>
              <a:tr h="175260">
                <a:tc>
                  <a:txBody>
                    <a:bodyPr wrap="square"/>
                    <a:lstStyle/>
                    <a:p>
                      <a:pPr algn="l"/>
                      <a:r>
                        <a:rPr sz="1100" b="0" i="1">
                          <a:solidFill>
                            <a:srgbClr val="000000"/>
                          </a:solidFill>
                          <a:latin typeface="Calibri"/>
                        </a:rPr>
                        <a:t>6.5.4.4.</a:t>
                      </a:r>
                      <a:r>
                        <a:rPr sz="700" b="0" i="1">
                          <a:solidFill>
                            <a:srgbClr val="000000"/>
                          </a:solidFill>
                          <a:latin typeface="Times New Roman"/>
                        </a:rPr>
                        <a:t>    </a:t>
                      </a:r>
                      <a:r>
                        <a:rPr sz="1100" b="0" i="1">
                          <a:solidFill>
                            <a:srgbClr val="000000"/>
                          </a:solidFill>
                          <a:latin typeface="Calibri"/>
                        </a:rPr>
                        <a:t>Indonesia</a:t>
                      </a:r>
                      <a:endParaRPr sz="1100"/>
                    </a:p>
                  </a:txBody>
                  <a:tcPr marL="1028700" marR="9525" marT="9525" marB="0" anchor="ctr"/>
                </a:tc>
              </a:tr>
              <a:tr h="175260">
                <a:tc>
                  <a:txBody>
                    <a:bodyPr wrap="square"/>
                    <a:lstStyle/>
                    <a:p>
                      <a:pPr algn="l"/>
                      <a:r>
                        <a:rPr sz="1100" b="0" i="1">
                          <a:solidFill>
                            <a:srgbClr val="000000"/>
                          </a:solidFill>
                          <a:latin typeface="Calibri"/>
                        </a:rPr>
                        <a:t>6.5.4.5.</a:t>
                      </a:r>
                      <a:r>
                        <a:rPr sz="700" b="0" i="1">
                          <a:solidFill>
                            <a:srgbClr val="000000"/>
                          </a:solidFill>
                          <a:latin typeface="Times New Roman"/>
                        </a:rPr>
                        <a:t>    </a:t>
                      </a:r>
                      <a:r>
                        <a:rPr sz="1100" b="0" i="1">
                          <a:solidFill>
                            <a:srgbClr val="000000"/>
                          </a:solidFill>
                          <a:latin typeface="Calibri"/>
                        </a:rPr>
                        <a:t>Philippines</a:t>
                      </a:r>
                      <a:endParaRPr sz="1100"/>
                    </a:p>
                  </a:txBody>
                  <a:tcPr marL="1028700" marR="9525" marT="9525" marB="0" anchor="ctr"/>
                </a:tc>
              </a:tr>
              <a:tr h="175260">
                <a:tc>
                  <a:txBody>
                    <a:bodyPr wrap="square"/>
                    <a:lstStyle/>
                    <a:p>
                      <a:pPr algn="l"/>
                      <a:r>
                        <a:rPr sz="1100" b="0" i="1">
                          <a:solidFill>
                            <a:srgbClr val="000000"/>
                          </a:solidFill>
                          <a:latin typeface="Calibri"/>
                        </a:rPr>
                        <a:t>6.5.4.6.</a:t>
                      </a:r>
                      <a:r>
                        <a:rPr sz="700" b="0" i="1">
                          <a:solidFill>
                            <a:srgbClr val="000000"/>
                          </a:solidFill>
                          <a:latin typeface="Times New Roman"/>
                        </a:rPr>
                        <a:t>    </a:t>
                      </a:r>
                      <a:r>
                        <a:rPr sz="1100" b="0" i="1">
                          <a:solidFill>
                            <a:srgbClr val="000000"/>
                          </a:solidFill>
                          <a:latin typeface="Calibri"/>
                        </a:rPr>
                        <a:t>Singapore</a:t>
                      </a:r>
                      <a:endParaRPr sz="1100"/>
                    </a:p>
                  </a:txBody>
                  <a:tcPr marL="1028700" marR="9525" marT="9525" marB="0" anchor="ctr"/>
                </a:tc>
              </a:tr>
              <a:tr h="175260">
                <a:tc>
                  <a:txBody>
                    <a:bodyPr wrap="square"/>
                    <a:lstStyle/>
                    <a:p>
                      <a:pPr algn="l"/>
                      <a:r>
                        <a:rPr sz="1100" b="0" i="1">
                          <a:solidFill>
                            <a:srgbClr val="000000"/>
                          </a:solidFill>
                          <a:latin typeface="Calibri"/>
                        </a:rPr>
                        <a:t>6.5.4.7.</a:t>
                      </a:r>
                      <a:r>
                        <a:rPr sz="700" b="0" i="1">
                          <a:solidFill>
                            <a:srgbClr val="000000"/>
                          </a:solidFill>
                          <a:latin typeface="Times New Roman"/>
                        </a:rPr>
                        <a:t>    </a:t>
                      </a:r>
                      <a:r>
                        <a:rPr sz="1100" b="0" i="1">
                          <a:solidFill>
                            <a:srgbClr val="000000"/>
                          </a:solidFill>
                          <a:latin typeface="Calibri"/>
                        </a:rPr>
                        <a:t>Australia</a:t>
                      </a:r>
                      <a:endParaRPr sz="1100"/>
                    </a:p>
                  </a:txBody>
                  <a:tcPr marL="1028700" marR="9525" marT="9525" marB="0" anchor="ctr"/>
                </a:tc>
              </a:tr>
              <a:tr h="175260">
                <a:tc>
                  <a:txBody>
                    <a:bodyPr wrap="square"/>
                    <a:lstStyle/>
                    <a:p>
                      <a:pPr algn="l"/>
                      <a:r>
                        <a:rPr sz="1100" b="0" i="1">
                          <a:solidFill>
                            <a:srgbClr val="000000"/>
                          </a:solidFill>
                          <a:latin typeface="Calibri"/>
                        </a:rPr>
                        <a:t>6.5.4.8.</a:t>
                      </a:r>
                      <a:r>
                        <a:rPr sz="700" b="0" i="1">
                          <a:solidFill>
                            <a:srgbClr val="000000"/>
                          </a:solidFill>
                          <a:latin typeface="Times New Roman"/>
                        </a:rPr>
                        <a:t>    </a:t>
                      </a:r>
                      <a:r>
                        <a:rPr sz="1100" b="0" i="1">
                          <a:solidFill>
                            <a:srgbClr val="000000"/>
                          </a:solidFill>
                          <a:latin typeface="Calibri"/>
                        </a:rPr>
                        <a:t>New Zealand</a:t>
                      </a:r>
                      <a:endParaRPr sz="1100"/>
                    </a:p>
                  </a:txBody>
                  <a:tcPr marL="1028700" marR="9525" marT="9525" marB="0" anchor="ctr"/>
                </a:tc>
              </a:tr>
              <a:tr h="175260">
                <a:tc>
                  <a:txBody>
                    <a:bodyPr wrap="square"/>
                    <a:lstStyle/>
                    <a:p>
                      <a:pPr algn="l"/>
                      <a:r>
                        <a:rPr sz="1100" b="0" i="1">
                          <a:solidFill>
                            <a:srgbClr val="000000"/>
                          </a:solidFill>
                          <a:latin typeface="Calibri"/>
                        </a:rPr>
                        <a:t>6.5.4.9.</a:t>
                      </a:r>
                      <a:r>
                        <a:rPr sz="700" b="0" i="1">
                          <a:solidFill>
                            <a:srgbClr val="000000"/>
                          </a:solidFill>
                          <a:latin typeface="Times New Roman"/>
                        </a:rPr>
                        <a:t>    </a:t>
                      </a:r>
                      <a:r>
                        <a:rPr sz="1100" b="0" i="1">
                          <a:solidFill>
                            <a:srgbClr val="000000"/>
                          </a:solidFill>
                          <a:latin typeface="Calibri"/>
                        </a:rPr>
                        <a:t>Rest of South East Asia</a:t>
                      </a:r>
                      <a:endParaRPr sz="1100"/>
                    </a:p>
                  </a:txBody>
                  <a:tcPr marL="1028700" marR="9525" marT="9525" marB="0" anchor="ctr"/>
                </a:tc>
              </a:tr>
              <a:tr h="175260">
                <a:tc>
                  <a:txBody>
                    <a:bodyPr wrap="square"/>
                    <a:lstStyle/>
                    <a:p>
                      <a:pPr algn="l"/>
                      <a:r>
                        <a:rPr sz="1100" b="0" i="0">
                          <a:solidFill>
                            <a:srgbClr val="000000"/>
                          </a:solidFill>
                          <a:latin typeface="Calibri"/>
                        </a:rPr>
                        <a:t>6.5.5.</a:t>
                      </a:r>
                      <a:r>
                        <a:rPr sz="700" b="0" i="0">
                          <a:solidFill>
                            <a:srgbClr val="000000"/>
                          </a:solidFill>
                          <a:latin typeface="Times New Roman"/>
                        </a:rPr>
                        <a:t>   </a:t>
                      </a:r>
                      <a:r>
                        <a:rPr sz="1100" b="0" i="0">
                          <a:solidFill>
                            <a:srgbClr val="000000"/>
                          </a:solidFill>
                          <a:latin typeface="Calibri"/>
                        </a:rPr>
                        <a:t>Europe</a:t>
                      </a:r>
                      <a:endParaRPr sz="1100"/>
                    </a:p>
                  </a:txBody>
                  <a:tcPr marL="771525" marR="9525" marT="9525" marB="0" anchor="ctr"/>
                </a:tc>
              </a:tr>
              <a:tr h="175260">
                <a:tc>
                  <a:txBody>
                    <a:bodyPr wrap="square"/>
                    <a:lstStyle/>
                    <a:p>
                      <a:pPr algn="l"/>
                      <a:r>
                        <a:rPr sz="1100" b="0" i="1">
                          <a:solidFill>
                            <a:srgbClr val="000000"/>
                          </a:solidFill>
                          <a:latin typeface="Calibri"/>
                        </a:rPr>
                        <a:t>6.5.5.1.</a:t>
                      </a:r>
                      <a:r>
                        <a:rPr sz="700" b="0" i="1">
                          <a:solidFill>
                            <a:srgbClr val="000000"/>
                          </a:solidFill>
                          <a:latin typeface="Times New Roman"/>
                        </a:rPr>
                        <a:t>    </a:t>
                      </a:r>
                      <a:r>
                        <a:rPr sz="1100" b="0" i="1">
                          <a:solidFill>
                            <a:srgbClr val="000000"/>
                          </a:solidFill>
                          <a:latin typeface="Calibri"/>
                        </a:rPr>
                        <a:t>Germany</a:t>
                      </a:r>
                      <a:endParaRPr sz="1100"/>
                    </a:p>
                  </a:txBody>
                  <a:tcPr marL="1028700" marR="9525" marT="9525" marB="0" anchor="ctr"/>
                </a:tc>
              </a:tr>
              <a:tr h="175260">
                <a:tc>
                  <a:txBody>
                    <a:bodyPr wrap="square"/>
                    <a:lstStyle/>
                    <a:p>
                      <a:pPr algn="l"/>
                      <a:r>
                        <a:rPr sz="1100" b="0" i="1">
                          <a:solidFill>
                            <a:srgbClr val="000000"/>
                          </a:solidFill>
                          <a:latin typeface="Calibri"/>
                        </a:rPr>
                        <a:t>6.5.5.2.</a:t>
                      </a:r>
                      <a:r>
                        <a:rPr sz="700" b="0" i="1">
                          <a:solidFill>
                            <a:srgbClr val="000000"/>
                          </a:solidFill>
                          <a:latin typeface="Times New Roman"/>
                        </a:rPr>
                        <a:t>    </a:t>
                      </a:r>
                      <a:r>
                        <a:rPr sz="1100" b="0" i="1">
                          <a:solidFill>
                            <a:srgbClr val="000000"/>
                          </a:solidFill>
                          <a:latin typeface="Calibri"/>
                        </a:rPr>
                        <a:t>U.K.</a:t>
                      </a:r>
                      <a:endParaRPr sz="1100"/>
                    </a:p>
                  </a:txBody>
                  <a:tcPr marL="1028700" marR="9525" marT="9525" marB="0" anchor="ctr"/>
                </a:tc>
              </a:tr>
              <a:tr h="175260">
                <a:tc>
                  <a:txBody>
                    <a:bodyPr wrap="square"/>
                    <a:lstStyle/>
                    <a:p>
                      <a:pPr algn="l"/>
                      <a:r>
                        <a:rPr sz="1100" b="0" i="1">
                          <a:solidFill>
                            <a:srgbClr val="000000"/>
                          </a:solidFill>
                          <a:latin typeface="Calibri"/>
                        </a:rPr>
                        <a:t>6.5.5.3.</a:t>
                      </a:r>
                      <a:r>
                        <a:rPr sz="700" b="0" i="1">
                          <a:solidFill>
                            <a:srgbClr val="000000"/>
                          </a:solidFill>
                          <a:latin typeface="Times New Roman"/>
                        </a:rPr>
                        <a:t>    </a:t>
                      </a:r>
                      <a:r>
                        <a:rPr sz="1100" b="0" i="1">
                          <a:solidFill>
                            <a:srgbClr val="000000"/>
                          </a:solidFill>
                          <a:latin typeface="Calibri"/>
                        </a:rPr>
                        <a:t>France</a:t>
                      </a:r>
                      <a:endParaRPr sz="1100"/>
                    </a:p>
                  </a:txBody>
                  <a:tcPr marL="1028700" marR="9525" marT="9525" marB="0" anchor="ctr"/>
                </a:tc>
              </a:tr>
              <a:tr h="175260">
                <a:tc>
                  <a:txBody>
                    <a:bodyPr wrap="square"/>
                    <a:lstStyle/>
                    <a:p>
                      <a:pPr algn="l"/>
                      <a:r>
                        <a:rPr sz="1100" b="0" i="1">
                          <a:solidFill>
                            <a:srgbClr val="000000"/>
                          </a:solidFill>
                          <a:latin typeface="Calibri"/>
                        </a:rPr>
                        <a:t>6.5.5.4.</a:t>
                      </a:r>
                      <a:r>
                        <a:rPr sz="700" b="0" i="1">
                          <a:solidFill>
                            <a:srgbClr val="000000"/>
                          </a:solidFill>
                          <a:latin typeface="Times New Roman"/>
                        </a:rPr>
                        <a:t>    </a:t>
                      </a:r>
                      <a:r>
                        <a:rPr sz="1100" b="0" i="1">
                          <a:solidFill>
                            <a:srgbClr val="000000"/>
                          </a:solidFill>
                          <a:latin typeface="Calibri"/>
                        </a:rPr>
                        <a:t>Italy</a:t>
                      </a:r>
                      <a:endParaRPr sz="1100"/>
                    </a:p>
                  </a:txBody>
                  <a:tcPr marL="1028700" marR="9525" marT="9525" marB="0" anchor="ctr"/>
                </a:tc>
              </a:tr>
              <a:tr h="175260">
                <a:tc>
                  <a:txBody>
                    <a:bodyPr wrap="square"/>
                    <a:lstStyle/>
                    <a:p>
                      <a:pPr algn="l"/>
                      <a:r>
                        <a:rPr sz="1100" b="0" i="1">
                          <a:solidFill>
                            <a:srgbClr val="000000"/>
                          </a:solidFill>
                          <a:latin typeface="Calibri"/>
                        </a:rPr>
                        <a:t>6.5.5.5.</a:t>
                      </a:r>
                      <a:r>
                        <a:rPr sz="700" b="0" i="1">
                          <a:solidFill>
                            <a:srgbClr val="000000"/>
                          </a:solidFill>
                          <a:latin typeface="Times New Roman"/>
                        </a:rPr>
                        <a:t>    </a:t>
                      </a:r>
                      <a:r>
                        <a:rPr sz="1100" b="0" i="1">
                          <a:solidFill>
                            <a:srgbClr val="000000"/>
                          </a:solidFill>
                          <a:latin typeface="Calibri"/>
                        </a:rPr>
                        <a:t>Spain</a:t>
                      </a:r>
                      <a:endParaRPr sz="1100"/>
                    </a:p>
                  </a:txBody>
                  <a:tcPr marL="1028700" marR="9525" marT="9525" marB="0" anchor="ctr"/>
                </a:tc>
              </a:tr>
              <a:tr h="175260">
                <a:tc>
                  <a:txBody>
                    <a:bodyPr wrap="square"/>
                    <a:lstStyle/>
                    <a:p>
                      <a:pPr algn="l"/>
                      <a:r>
                        <a:rPr sz="1100" b="0" i="1">
                          <a:solidFill>
                            <a:srgbClr val="000000"/>
                          </a:solidFill>
                          <a:latin typeface="Calibri"/>
                        </a:rPr>
                        <a:t>6.5.5.6.</a:t>
                      </a:r>
                      <a:r>
                        <a:rPr sz="700" b="0" i="1">
                          <a:solidFill>
                            <a:srgbClr val="000000"/>
                          </a:solidFill>
                          <a:latin typeface="Times New Roman"/>
                        </a:rPr>
                        <a:t>    </a:t>
                      </a:r>
                      <a:r>
                        <a:rPr sz="1100" b="0" i="1">
                          <a:solidFill>
                            <a:srgbClr val="000000"/>
                          </a:solidFill>
                          <a:latin typeface="Calibri"/>
                        </a:rPr>
                        <a:t>Belgium</a:t>
                      </a:r>
                      <a:endParaRPr sz="1100"/>
                    </a:p>
                  </a:txBody>
                  <a:tcPr marL="1028700" marR="9525" marT="9525" marB="0" anchor="ctr"/>
                </a:tc>
              </a:tr>
              <a:tr h="175260">
                <a:tc>
                  <a:txBody>
                    <a:bodyPr wrap="square"/>
                    <a:lstStyle/>
                    <a:p>
                      <a:pPr algn="l"/>
                      <a:r>
                        <a:rPr sz="1100" b="0" i="1">
                          <a:solidFill>
                            <a:srgbClr val="000000"/>
                          </a:solidFill>
                          <a:latin typeface="Calibri"/>
                        </a:rPr>
                        <a:t>6.5.5.7.</a:t>
                      </a:r>
                      <a:r>
                        <a:rPr sz="700" b="0" i="1">
                          <a:solidFill>
                            <a:srgbClr val="000000"/>
                          </a:solidFill>
                          <a:latin typeface="Times New Roman"/>
                        </a:rPr>
                        <a:t>    </a:t>
                      </a:r>
                      <a:r>
                        <a:rPr sz="1100" b="0" i="1">
                          <a:solidFill>
                            <a:srgbClr val="000000"/>
                          </a:solidFill>
                          <a:latin typeface="Calibri"/>
                        </a:rPr>
                        <a:t>Netherlands</a:t>
                      </a:r>
                      <a:endParaRPr sz="1100"/>
                    </a:p>
                  </a:txBody>
                  <a:tcPr marL="1028700" marR="9525" marT="9525" marB="0" anchor="ctr"/>
                </a:tc>
              </a:tr>
              <a:tr h="175260">
                <a:tc>
                  <a:txBody>
                    <a:bodyPr wrap="square"/>
                    <a:lstStyle/>
                    <a:p>
                      <a:pPr algn="l"/>
                      <a:r>
                        <a:rPr sz="1100" b="0" i="1">
                          <a:solidFill>
                            <a:srgbClr val="000000"/>
                          </a:solidFill>
                          <a:latin typeface="Calibri"/>
                        </a:rPr>
                        <a:t>6.5.5.8.</a:t>
                      </a:r>
                      <a:r>
                        <a:rPr sz="700" b="0" i="1">
                          <a:solidFill>
                            <a:srgbClr val="000000"/>
                          </a:solidFill>
                          <a:latin typeface="Times New Roman"/>
                        </a:rPr>
                        <a:t>    </a:t>
                      </a:r>
                      <a:r>
                        <a:rPr sz="1100" b="0" i="1">
                          <a:solidFill>
                            <a:srgbClr val="000000"/>
                          </a:solidFill>
                          <a:latin typeface="Calibri"/>
                        </a:rPr>
                        <a:t>Nordic</a:t>
                      </a:r>
                      <a:endParaRPr sz="1100"/>
                    </a:p>
                  </a:txBody>
                  <a:tcPr marL="1028700"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(4/6)</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1">
                          <a:solidFill>
                            <a:srgbClr val="000000"/>
                          </a:solidFill>
                          <a:latin typeface="Calibri"/>
                        </a:rPr>
                        <a:t>6.5.5.9.</a:t>
                      </a:r>
                      <a:r>
                        <a:rPr sz="700" b="0" i="1">
                          <a:solidFill>
                            <a:srgbClr val="000000"/>
                          </a:solidFill>
                          <a:latin typeface="Times New Roman"/>
                        </a:rPr>
                        <a:t>    </a:t>
                      </a:r>
                      <a:r>
                        <a:rPr sz="1100" b="0" i="1">
                          <a:solidFill>
                            <a:srgbClr val="000000"/>
                          </a:solidFill>
                          <a:latin typeface="Calibri"/>
                        </a:rPr>
                        <a:t>Russia</a:t>
                      </a:r>
                      <a:endParaRPr sz="1100"/>
                    </a:p>
                  </a:txBody>
                  <a:tcPr marL="1028700" marR="9525" marT="9525" marB="0" anchor="ctr"/>
                </a:tc>
              </a:tr>
              <a:tr h="175260">
                <a:tc>
                  <a:txBody>
                    <a:bodyPr wrap="square"/>
                    <a:lstStyle/>
                    <a:p>
                      <a:pPr algn="l"/>
                      <a:r>
                        <a:rPr sz="1100" b="0" i="1">
                          <a:solidFill>
                            <a:srgbClr val="000000"/>
                          </a:solidFill>
                          <a:latin typeface="Calibri"/>
                        </a:rPr>
                        <a:t>6.5.5.10.</a:t>
                      </a:r>
                      <a:r>
                        <a:rPr sz="700" b="0" i="1">
                          <a:solidFill>
                            <a:srgbClr val="000000"/>
                          </a:solidFill>
                          <a:latin typeface="Times New Roman"/>
                        </a:rPr>
                        <a:t> </a:t>
                      </a:r>
                      <a:r>
                        <a:rPr sz="1100" b="0" i="1">
                          <a:solidFill>
                            <a:srgbClr val="000000"/>
                          </a:solidFill>
                          <a:latin typeface="Calibri"/>
                        </a:rPr>
                        <a:t>Poland</a:t>
                      </a:r>
                      <a:endParaRPr sz="1100"/>
                    </a:p>
                  </a:txBody>
                  <a:tcPr marL="1028700" marR="9525" marT="9525" marB="0" anchor="ctr"/>
                </a:tc>
              </a:tr>
              <a:tr h="175260">
                <a:tc>
                  <a:txBody>
                    <a:bodyPr wrap="square"/>
                    <a:lstStyle/>
                    <a:p>
                      <a:pPr algn="l"/>
                      <a:r>
                        <a:rPr sz="1100" b="0" i="1">
                          <a:solidFill>
                            <a:srgbClr val="000000"/>
                          </a:solidFill>
                          <a:latin typeface="Calibri"/>
                        </a:rPr>
                        <a:t>6.5.5.11.</a:t>
                      </a:r>
                      <a:r>
                        <a:rPr sz="700" b="0" i="1">
                          <a:solidFill>
                            <a:srgbClr val="000000"/>
                          </a:solidFill>
                          <a:latin typeface="Times New Roman"/>
                        </a:rPr>
                        <a:t> </a:t>
                      </a:r>
                      <a:r>
                        <a:rPr sz="1100" b="0" i="1">
                          <a:solidFill>
                            <a:srgbClr val="000000"/>
                          </a:solidFill>
                          <a:latin typeface="Calibri"/>
                        </a:rPr>
                        <a:t>Switzerland</a:t>
                      </a:r>
                      <a:endParaRPr sz="1100"/>
                    </a:p>
                  </a:txBody>
                  <a:tcPr marL="1028700" marR="9525" marT="9525" marB="0" anchor="ctr"/>
                </a:tc>
              </a:tr>
              <a:tr h="175260">
                <a:tc>
                  <a:txBody>
                    <a:bodyPr wrap="square"/>
                    <a:lstStyle/>
                    <a:p>
                      <a:pPr algn="l"/>
                      <a:r>
                        <a:rPr sz="1100" b="0" i="1">
                          <a:solidFill>
                            <a:srgbClr val="000000"/>
                          </a:solidFill>
                          <a:latin typeface="Calibri"/>
                        </a:rPr>
                        <a:t>6.5.5.12.</a:t>
                      </a:r>
                      <a:r>
                        <a:rPr sz="700" b="0" i="1">
                          <a:solidFill>
                            <a:srgbClr val="000000"/>
                          </a:solidFill>
                          <a:latin typeface="Times New Roman"/>
                        </a:rPr>
                        <a:t> </a:t>
                      </a:r>
                      <a:r>
                        <a:rPr sz="1100" b="0" i="1">
                          <a:solidFill>
                            <a:srgbClr val="000000"/>
                          </a:solidFill>
                          <a:latin typeface="Calibri"/>
                        </a:rPr>
                        <a:t>Rest of Europe</a:t>
                      </a:r>
                      <a:endParaRPr sz="1100"/>
                    </a:p>
                  </a:txBody>
                  <a:tcPr marL="1028700" marR="9525" marT="9525" marB="0" anchor="ctr"/>
                </a:tc>
              </a:tr>
              <a:tr h="175260">
                <a:tc>
                  <a:txBody>
                    <a:bodyPr wrap="square"/>
                    <a:lstStyle/>
                    <a:p>
                      <a:pPr algn="l"/>
                      <a:r>
                        <a:rPr sz="1100" b="0" i="0">
                          <a:solidFill>
                            <a:srgbClr val="000000"/>
                          </a:solidFill>
                          <a:latin typeface="Calibri"/>
                        </a:rPr>
                        <a:t>6.5.6.</a:t>
                      </a:r>
                      <a:r>
                        <a:rPr sz="700" b="0" i="0">
                          <a:solidFill>
                            <a:srgbClr val="000000"/>
                          </a:solidFill>
                          <a:latin typeface="Times New Roman"/>
                        </a:rPr>
                        <a:t>   </a:t>
                      </a:r>
                      <a:r>
                        <a:rPr sz="1100" b="0" i="0">
                          <a:solidFill>
                            <a:srgbClr val="000000"/>
                          </a:solidFill>
                          <a:latin typeface="Calibri"/>
                        </a:rPr>
                        <a:t>Middle East &amp; Africa</a:t>
                      </a:r>
                      <a:endParaRPr sz="1100"/>
                    </a:p>
                  </a:txBody>
                  <a:tcPr marL="771525" marR="9525" marT="9525" marB="0" anchor="ctr"/>
                </a:tc>
              </a:tr>
              <a:tr h="175260">
                <a:tc>
                  <a:txBody>
                    <a:bodyPr wrap="square"/>
                    <a:lstStyle/>
                    <a:p>
                      <a:pPr algn="l"/>
                      <a:r>
                        <a:rPr sz="1100" b="0" i="1">
                          <a:solidFill>
                            <a:srgbClr val="000000"/>
                          </a:solidFill>
                          <a:latin typeface="Calibri"/>
                        </a:rPr>
                        <a:t>6.5.6.1.</a:t>
                      </a:r>
                      <a:r>
                        <a:rPr sz="700" b="0" i="1">
                          <a:solidFill>
                            <a:srgbClr val="000000"/>
                          </a:solidFill>
                          <a:latin typeface="Times New Roman"/>
                        </a:rPr>
                        <a:t>    </a:t>
                      </a:r>
                      <a:r>
                        <a:rPr sz="1100" b="0" i="1">
                          <a:solidFill>
                            <a:srgbClr val="000000"/>
                          </a:solidFill>
                          <a:latin typeface="Calibri"/>
                        </a:rPr>
                        <a:t>UAE</a:t>
                      </a:r>
                      <a:endParaRPr sz="1100"/>
                    </a:p>
                  </a:txBody>
                  <a:tcPr marL="1028700" marR="9525" marT="9525" marB="0" anchor="ctr"/>
                </a:tc>
              </a:tr>
              <a:tr h="175260">
                <a:tc>
                  <a:txBody>
                    <a:bodyPr wrap="square"/>
                    <a:lstStyle/>
                    <a:p>
                      <a:pPr algn="l"/>
                      <a:r>
                        <a:rPr sz="1100" b="0" i="1">
                          <a:solidFill>
                            <a:srgbClr val="000000"/>
                          </a:solidFill>
                          <a:latin typeface="Calibri"/>
                        </a:rPr>
                        <a:t>6.5.6.2.</a:t>
                      </a:r>
                      <a:r>
                        <a:rPr sz="700" b="0" i="1">
                          <a:solidFill>
                            <a:srgbClr val="000000"/>
                          </a:solidFill>
                          <a:latin typeface="Times New Roman"/>
                        </a:rPr>
                        <a:t>    </a:t>
                      </a:r>
                      <a:r>
                        <a:rPr sz="1100" b="0" i="1">
                          <a:solidFill>
                            <a:srgbClr val="000000"/>
                          </a:solidFill>
                          <a:latin typeface="Calibri"/>
                        </a:rPr>
                        <a:t>Saudi Arabia</a:t>
                      </a:r>
                      <a:endParaRPr sz="1100"/>
                    </a:p>
                  </a:txBody>
                  <a:tcPr marL="1028700" marR="9525" marT="9525" marB="0" anchor="ctr"/>
                </a:tc>
              </a:tr>
              <a:tr h="175260">
                <a:tc>
                  <a:txBody>
                    <a:bodyPr wrap="square"/>
                    <a:lstStyle/>
                    <a:p>
                      <a:pPr algn="l"/>
                      <a:r>
                        <a:rPr sz="1100" b="0" i="1">
                          <a:solidFill>
                            <a:srgbClr val="000000"/>
                          </a:solidFill>
                          <a:latin typeface="Calibri"/>
                        </a:rPr>
                        <a:t>6.5.6.3.</a:t>
                      </a:r>
                      <a:r>
                        <a:rPr sz="700" b="0" i="1">
                          <a:solidFill>
                            <a:srgbClr val="000000"/>
                          </a:solidFill>
                          <a:latin typeface="Times New Roman"/>
                        </a:rPr>
                        <a:t>    </a:t>
                      </a:r>
                      <a:r>
                        <a:rPr sz="1100" b="0" i="1">
                          <a:solidFill>
                            <a:srgbClr val="000000"/>
                          </a:solidFill>
                          <a:latin typeface="Calibri"/>
                        </a:rPr>
                        <a:t>Turkey</a:t>
                      </a:r>
                      <a:endParaRPr sz="1100"/>
                    </a:p>
                  </a:txBody>
                  <a:tcPr marL="1028700" marR="9525" marT="9525" marB="0" anchor="ctr"/>
                </a:tc>
              </a:tr>
              <a:tr h="175260">
                <a:tc>
                  <a:txBody>
                    <a:bodyPr wrap="square"/>
                    <a:lstStyle/>
                    <a:p>
                      <a:pPr algn="l"/>
                      <a:r>
                        <a:rPr sz="1100" b="0" i="1">
                          <a:solidFill>
                            <a:srgbClr val="000000"/>
                          </a:solidFill>
                          <a:latin typeface="Calibri"/>
                        </a:rPr>
                        <a:t>6.5.6.4.</a:t>
                      </a:r>
                      <a:r>
                        <a:rPr sz="700" b="0" i="1">
                          <a:solidFill>
                            <a:srgbClr val="000000"/>
                          </a:solidFill>
                          <a:latin typeface="Times New Roman"/>
                        </a:rPr>
                        <a:t>    </a:t>
                      </a:r>
                      <a:r>
                        <a:rPr sz="1100" b="0" i="1">
                          <a:solidFill>
                            <a:srgbClr val="000000"/>
                          </a:solidFill>
                          <a:latin typeface="Calibri"/>
                        </a:rPr>
                        <a:t>Israel</a:t>
                      </a:r>
                      <a:endParaRPr sz="1100"/>
                    </a:p>
                  </a:txBody>
                  <a:tcPr marL="1028700" marR="9525" marT="9525" marB="0" anchor="ctr"/>
                </a:tc>
              </a:tr>
              <a:tr h="175260">
                <a:tc>
                  <a:txBody>
                    <a:bodyPr wrap="square"/>
                    <a:lstStyle/>
                    <a:p>
                      <a:pPr algn="l"/>
                      <a:r>
                        <a:rPr sz="1100" b="0" i="1">
                          <a:solidFill>
                            <a:srgbClr val="000000"/>
                          </a:solidFill>
                          <a:latin typeface="Calibri"/>
                        </a:rPr>
                        <a:t>6.5.6.5.</a:t>
                      </a:r>
                      <a:r>
                        <a:rPr sz="700" b="0" i="1">
                          <a:solidFill>
                            <a:srgbClr val="000000"/>
                          </a:solidFill>
                          <a:latin typeface="Times New Roman"/>
                        </a:rPr>
                        <a:t>    </a:t>
                      </a:r>
                      <a:r>
                        <a:rPr sz="1100" b="0" i="1">
                          <a:solidFill>
                            <a:srgbClr val="000000"/>
                          </a:solidFill>
                          <a:latin typeface="Calibri"/>
                        </a:rPr>
                        <a:t>Rest of GCC</a:t>
                      </a:r>
                      <a:endParaRPr sz="1100"/>
                    </a:p>
                  </a:txBody>
                  <a:tcPr marL="1028700" marR="9525" marT="9525" marB="0" anchor="ctr"/>
                </a:tc>
              </a:tr>
              <a:tr h="175260">
                <a:tc>
                  <a:txBody>
                    <a:bodyPr wrap="square"/>
                    <a:lstStyle/>
                    <a:p>
                      <a:pPr algn="l"/>
                      <a:r>
                        <a:rPr sz="1100" b="0" i="1">
                          <a:solidFill>
                            <a:srgbClr val="000000"/>
                          </a:solidFill>
                          <a:latin typeface="Calibri"/>
                        </a:rPr>
                        <a:t>6.5.6.6.</a:t>
                      </a:r>
                      <a:r>
                        <a:rPr sz="700" b="0" i="1">
                          <a:solidFill>
                            <a:srgbClr val="000000"/>
                          </a:solidFill>
                          <a:latin typeface="Times New Roman"/>
                        </a:rPr>
                        <a:t>    </a:t>
                      </a:r>
                      <a:r>
                        <a:rPr sz="1100" b="0" i="1">
                          <a:solidFill>
                            <a:srgbClr val="000000"/>
                          </a:solidFill>
                          <a:latin typeface="Calibri"/>
                        </a:rPr>
                        <a:t>South Africa</a:t>
                      </a:r>
                      <a:endParaRPr sz="1100"/>
                    </a:p>
                  </a:txBody>
                  <a:tcPr marL="1028700" marR="9525" marT="9525" marB="0" anchor="ctr"/>
                </a:tc>
              </a:tr>
              <a:tr h="175260">
                <a:tc>
                  <a:txBody>
                    <a:bodyPr wrap="square"/>
                    <a:lstStyle/>
                    <a:p>
                      <a:pPr algn="l"/>
                      <a:r>
                        <a:rPr sz="1100" b="0" i="1">
                          <a:solidFill>
                            <a:srgbClr val="000000"/>
                          </a:solidFill>
                          <a:latin typeface="Calibri"/>
                        </a:rPr>
                        <a:t>6.5.6.7.</a:t>
                      </a:r>
                      <a:r>
                        <a:rPr sz="700" b="0" i="1">
                          <a:solidFill>
                            <a:srgbClr val="000000"/>
                          </a:solidFill>
                          <a:latin typeface="Times New Roman"/>
                        </a:rPr>
                        <a:t>    </a:t>
                      </a:r>
                      <a:r>
                        <a:rPr sz="1100" b="0" i="1">
                          <a:solidFill>
                            <a:srgbClr val="000000"/>
                          </a:solidFill>
                          <a:latin typeface="Calibri"/>
                        </a:rPr>
                        <a:t>Rest if MEA</a:t>
                      </a:r>
                      <a:endParaRPr sz="1100"/>
                    </a:p>
                  </a:txBody>
                  <a:tcPr marL="1028700" marR="9525" marT="9525" marB="0" anchor="ctr"/>
                </a:tc>
              </a:tr>
              <a:tr h="350520">
                <a:tc>
                  <a:txBody>
                    <a:bodyPr wrap="square"/>
                    <a:lstStyle/>
                    <a:p>
                      <a:pPr algn="l"/>
                      <a:r>
                        <a:rPr sz="1100" b="0" i="1">
                          <a:solidFill>
                            <a:srgbClr val="EE0000"/>
                          </a:solidFill>
                          <a:latin typeface="Calibri"/>
                        </a:rPr>
                        <a:t>Note: Value &amp; Volume (US$ Mn / UNITS) for all segments will be provided for each region/ Country</a:t>
                      </a:r>
                      <a:endParaRPr sz="1100"/>
                    </a:p>
                  </a:txBody>
                  <a:tcPr marL="9525" marR="9525" marT="9525" marB="0" anchor="ctr"/>
                </a:tc>
              </a:tr>
              <a:tr h="175260">
                <a:tc>
                  <a:txBody>
                    <a:bodyPr wrap="square"/>
                    <a:lstStyle/>
                    <a:p>
                      <a:pPr algn="l"/>
                      <a:r>
                        <a:rPr sz="1100" b="1" i="0">
                          <a:solidFill>
                            <a:srgbClr val="000000"/>
                          </a:solidFill>
                          <a:latin typeface="Calibri"/>
                        </a:rPr>
                        <a:t>7.</a:t>
                      </a:r>
                      <a:r>
                        <a:rPr sz="700" b="1" i="0">
                          <a:solidFill>
                            <a:srgbClr val="000000"/>
                          </a:solidFill>
                          <a:latin typeface="Times New Roman"/>
                        </a:rPr>
                        <a:t>       </a:t>
                      </a:r>
                      <a:r>
                        <a:rPr sz="1100" b="1" i="0">
                          <a:solidFill>
                            <a:srgbClr val="000000"/>
                          </a:solidFill>
                          <a:latin typeface="Calibri"/>
                        </a:rPr>
                        <a:t>Cross-sectional Assessment</a:t>
                      </a:r>
                      <a:endParaRPr sz="1100"/>
                    </a:p>
                  </a:txBody>
                  <a:tcPr marL="171450" marR="9525" marT="9525" marB="0" anchor="ctr"/>
                </a:tc>
              </a:tr>
              <a:tr h="175260">
                <a:tc>
                  <a:txBody>
                    <a:bodyPr wrap="square"/>
                    <a:lstStyle/>
                    <a:p>
                      <a:pPr algn="l"/>
                      <a:r>
                        <a:rPr sz="1100" b="0" i="0">
                          <a:solidFill>
                            <a:srgbClr val="0070C0"/>
                          </a:solidFill>
                          <a:latin typeface="Calibri"/>
                        </a:rPr>
                        <a:t>7.1.</a:t>
                      </a:r>
                      <a:r>
                        <a:rPr sz="700" b="0" i="0">
                          <a:solidFill>
                            <a:srgbClr val="0070C0"/>
                          </a:solidFill>
                          <a:latin typeface="Times New Roman"/>
                        </a:rPr>
                        <a:t>    </a:t>
                      </a:r>
                      <a:r>
                        <a:rPr sz="1100" b="0" i="0">
                          <a:solidFill>
                            <a:srgbClr val="0070C0"/>
                          </a:solidFill>
                          <a:latin typeface="Calibri"/>
                        </a:rPr>
                        <a:t>Product Type × End-Use Industry</a:t>
                      </a:r>
                      <a:endParaRPr sz="1100"/>
                    </a:p>
                  </a:txBody>
                  <a:tcPr marL="428625" marR="9525" marT="9525" marB="0" anchor="ctr"/>
                </a:tc>
              </a:tr>
              <a:tr h="175260">
                <a:tc>
                  <a:txBody>
                    <a:bodyPr wrap="square"/>
                    <a:lstStyle/>
                    <a:p>
                      <a:pPr algn="l"/>
                      <a:r>
                        <a:rPr sz="1100" b="0" i="0">
                          <a:solidFill>
                            <a:srgbClr val="0070C0"/>
                          </a:solidFill>
                          <a:latin typeface="Calibri"/>
                        </a:rPr>
                        <a:t>7.2.</a:t>
                      </a:r>
                      <a:r>
                        <a:rPr sz="700" b="0" i="0">
                          <a:solidFill>
                            <a:srgbClr val="0070C0"/>
                          </a:solidFill>
                          <a:latin typeface="Times New Roman"/>
                        </a:rPr>
                        <a:t>    </a:t>
                      </a:r>
                      <a:r>
                        <a:rPr sz="1100" b="0" i="0">
                          <a:solidFill>
                            <a:srgbClr val="0070C0"/>
                          </a:solidFill>
                          <a:latin typeface="Calibri"/>
                        </a:rPr>
                        <a:t>End-Use Industry × Material</a:t>
                      </a:r>
                      <a:endParaRPr sz="1100"/>
                    </a:p>
                  </a:txBody>
                  <a:tcPr marL="428625" marR="9525" marT="9525" marB="0" anchor="ctr"/>
                </a:tc>
              </a:tr>
              <a:tr h="175260">
                <a:tc>
                  <a:txBody>
                    <a:bodyPr wrap="square"/>
                    <a:lstStyle/>
                    <a:p>
                      <a:pPr algn="l"/>
                      <a:r>
                        <a:rPr sz="1100" b="0" i="1">
                          <a:solidFill>
                            <a:srgbClr val="EE0000"/>
                          </a:solidFill>
                          <a:latin typeface="Calibri"/>
                        </a:rPr>
                        <a:t>Note: Cross Sectional Assessment shall be provided on custom request</a:t>
                      </a:r>
                      <a:endParaRPr sz="1100"/>
                    </a:p>
                  </a:txBody>
                  <a:tcPr marL="9525" marR="9525" marT="9525" marB="0" anchor="ctr"/>
                </a:tc>
              </a:tr>
              <a:tr h="175260">
                <a:tc>
                  <a:txBody>
                    <a:bodyPr wrap="square"/>
                    <a:lstStyle/>
                    <a:p>
                      <a:pPr algn="l"/>
                      <a:r>
                        <a:rPr sz="1100" b="1" i="0">
                          <a:solidFill>
                            <a:srgbClr val="000000"/>
                          </a:solidFill>
                          <a:latin typeface="Calibri"/>
                        </a:rPr>
                        <a:t>Section 2: Regional and Country Market Outlook</a:t>
                      </a:r>
                      <a:endParaRPr sz="1100"/>
                    </a:p>
                  </a:txBody>
                  <a:tcPr marL="9525" marR="9525" marT="9525" marB="0" anchor="ctr"/>
                </a:tc>
              </a:tr>
              <a:tr h="175260">
                <a:tc>
                  <a:txBody>
                    <a:bodyPr wrap="square"/>
                    <a:lstStyle/>
                    <a:p>
                      <a:pPr algn="l"/>
                      <a:r>
                        <a:rPr sz="1100" b="1" i="0">
                          <a:solidFill>
                            <a:srgbClr val="000000"/>
                          </a:solidFill>
                          <a:latin typeface="Calibri"/>
                        </a:rPr>
                        <a:t>8.</a:t>
                      </a:r>
                      <a:r>
                        <a:rPr sz="700" b="1" i="0">
                          <a:solidFill>
                            <a:srgbClr val="000000"/>
                          </a:solidFill>
                          <a:latin typeface="Times New Roman"/>
                        </a:rPr>
                        <a:t>       </a:t>
                      </a:r>
                      <a:r>
                        <a:rPr sz="1100" b="1" i="0">
                          <a:solidFill>
                            <a:srgbClr val="000000"/>
                          </a:solidFill>
                          <a:latin typeface="Calibri"/>
                        </a:rPr>
                        <a:t>North America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8.1.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8.2.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8.3.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8.4.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8.4.1.</a:t>
                      </a:r>
                      <a:r>
                        <a:rPr sz="700" b="0" i="0">
                          <a:solidFill>
                            <a:srgbClr val="000000"/>
                          </a:solidFill>
                          <a:latin typeface="Times New Roman"/>
                        </a:rPr>
                        <a:t>   </a:t>
                      </a:r>
                      <a:r>
                        <a:rPr sz="1100" b="0" i="0">
                          <a:solidFill>
                            <a:srgbClr val="000000"/>
                          </a:solidFill>
                          <a:latin typeface="Calibri"/>
                        </a:rPr>
                        <a:t>By Product Type</a:t>
                      </a:r>
                      <a:endParaRPr sz="1100"/>
                    </a:p>
                  </a:txBody>
                  <a:tcPr marL="771525" marR="9525" marT="9525" marB="0" anchor="ctr"/>
                </a:tc>
              </a:tr>
              <a:tr h="175260">
                <a:tc>
                  <a:txBody>
                    <a:bodyPr wrap="square"/>
                    <a:lstStyle/>
                    <a:p>
                      <a:pPr algn="l"/>
                      <a:r>
                        <a:rPr sz="1100" b="0" i="0">
                          <a:solidFill>
                            <a:srgbClr val="000000"/>
                          </a:solidFill>
                          <a:latin typeface="Calibri"/>
                        </a:rPr>
                        <a:t>8.4.2.</a:t>
                      </a:r>
                      <a:r>
                        <a:rPr sz="700" b="0" i="0">
                          <a:solidFill>
                            <a:srgbClr val="000000"/>
                          </a:solidFill>
                          <a:latin typeface="Times New Roman"/>
                        </a:rPr>
                        <a:t>   </a:t>
                      </a:r>
                      <a:r>
                        <a:rPr sz="1100" b="0" i="0">
                          <a:solidFill>
                            <a:srgbClr val="000000"/>
                          </a:solidFill>
                          <a:latin typeface="Calibri"/>
                        </a:rPr>
                        <a:t>By Material</a:t>
                      </a:r>
                      <a:endParaRPr sz="1100"/>
                    </a:p>
                  </a:txBody>
                  <a:tcPr marL="771525" marR="9525" marT="9525" marB="0" anchor="ctr"/>
                </a:tc>
              </a:tr>
              <a:tr h="175260">
                <a:tc>
                  <a:txBody>
                    <a:bodyPr wrap="square"/>
                    <a:lstStyle/>
                    <a:p>
                      <a:pPr algn="l"/>
                      <a:r>
                        <a:rPr sz="1100" b="0" i="0">
                          <a:solidFill>
                            <a:srgbClr val="000000"/>
                          </a:solidFill>
                          <a:latin typeface="Calibri"/>
                        </a:rPr>
                        <a:t>8.4.3.</a:t>
                      </a:r>
                      <a:r>
                        <a:rPr sz="700" b="0" i="0">
                          <a:solidFill>
                            <a:srgbClr val="000000"/>
                          </a:solidFill>
                          <a:latin typeface="Times New Roman"/>
                        </a:rPr>
                        <a:t>   </a:t>
                      </a:r>
                      <a:r>
                        <a:rPr sz="1100" b="0" i="0">
                          <a:solidFill>
                            <a:srgbClr val="000000"/>
                          </a:solidFill>
                          <a:latin typeface="Calibri"/>
                        </a:rPr>
                        <a:t>By End-Use Industry</a:t>
                      </a:r>
                      <a:endParaRPr sz="1100"/>
                    </a:p>
                  </a:txBody>
                  <a:tcPr marL="771525" marR="9525" marT="9525" marB="0" anchor="ctr"/>
                </a:tc>
              </a:tr>
              <a:tr h="175260">
                <a:tc>
                  <a:txBody>
                    <a:bodyPr wrap="square"/>
                    <a:lstStyle/>
                    <a:p>
                      <a:pPr algn="l"/>
                      <a:r>
                        <a:rPr sz="1100" b="1" i="0">
                          <a:solidFill>
                            <a:srgbClr val="000000"/>
                          </a:solidFill>
                          <a:latin typeface="Calibri"/>
                        </a:rPr>
                        <a:t>9.</a:t>
                      </a:r>
                      <a:r>
                        <a:rPr sz="700" b="1" i="0">
                          <a:solidFill>
                            <a:srgbClr val="000000"/>
                          </a:solidFill>
                          <a:latin typeface="Times New Roman"/>
                        </a:rPr>
                        <a:t>       </a:t>
                      </a:r>
                      <a:r>
                        <a:rPr sz="1100" b="1" i="0">
                          <a:solidFill>
                            <a:srgbClr val="000000"/>
                          </a:solidFill>
                          <a:latin typeface="Calibri"/>
                        </a:rPr>
                        <a:t>Latin America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9.1.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9.2.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9.3.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9.4.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9.4.1.</a:t>
                      </a:r>
                      <a:r>
                        <a:rPr sz="700" b="0" i="0">
                          <a:solidFill>
                            <a:srgbClr val="000000"/>
                          </a:solidFill>
                          <a:latin typeface="Times New Roman"/>
                        </a:rPr>
                        <a:t>   </a:t>
                      </a:r>
                      <a:r>
                        <a:rPr sz="1100" b="0" i="0">
                          <a:solidFill>
                            <a:srgbClr val="000000"/>
                          </a:solidFill>
                          <a:latin typeface="Calibri"/>
                        </a:rPr>
                        <a:t>By Product Type</a:t>
                      </a:r>
                      <a:endParaRPr sz="1100"/>
                    </a:p>
                  </a:txBody>
                  <a:tcPr marL="771525" marR="9525" marT="9525" marB="0" anchor="ctr"/>
                </a:tc>
              </a:tr>
              <a:tr h="175260">
                <a:tc>
                  <a:txBody>
                    <a:bodyPr wrap="square"/>
                    <a:lstStyle/>
                    <a:p>
                      <a:pPr algn="l"/>
                      <a:r>
                        <a:rPr sz="1100" b="0" i="0">
                          <a:solidFill>
                            <a:srgbClr val="000000"/>
                          </a:solidFill>
                          <a:latin typeface="Calibri"/>
                        </a:rPr>
                        <a:t>9.4.2.</a:t>
                      </a:r>
                      <a:r>
                        <a:rPr sz="700" b="0" i="0">
                          <a:solidFill>
                            <a:srgbClr val="000000"/>
                          </a:solidFill>
                          <a:latin typeface="Times New Roman"/>
                        </a:rPr>
                        <a:t>   </a:t>
                      </a:r>
                      <a:r>
                        <a:rPr sz="1100" b="0" i="0">
                          <a:solidFill>
                            <a:srgbClr val="000000"/>
                          </a:solidFill>
                          <a:latin typeface="Calibri"/>
                        </a:rPr>
                        <a:t>By Material</a:t>
                      </a:r>
                      <a:endParaRPr sz="1100"/>
                    </a:p>
                  </a:txBody>
                  <a:tcPr marL="771525" marR="9525" marT="9525" marB="0" anchor="ctr"/>
                </a:tc>
              </a:tr>
              <a:tr h="175260">
                <a:tc>
                  <a:txBody>
                    <a:bodyPr wrap="square"/>
                    <a:lstStyle/>
                    <a:p>
                      <a:pPr algn="l"/>
                      <a:r>
                        <a:rPr sz="1100" b="0" i="0">
                          <a:solidFill>
                            <a:srgbClr val="000000"/>
                          </a:solidFill>
                          <a:latin typeface="Calibri"/>
                        </a:rPr>
                        <a:t>9.4.3.</a:t>
                      </a:r>
                      <a:r>
                        <a:rPr sz="700" b="0" i="0">
                          <a:solidFill>
                            <a:srgbClr val="000000"/>
                          </a:solidFill>
                          <a:latin typeface="Times New Roman"/>
                        </a:rPr>
                        <a:t>   </a:t>
                      </a:r>
                      <a:r>
                        <a:rPr sz="1100" b="0" i="0">
                          <a:solidFill>
                            <a:srgbClr val="000000"/>
                          </a:solidFill>
                          <a:latin typeface="Calibri"/>
                        </a:rPr>
                        <a:t>By End-Use Industry</a:t>
                      </a:r>
                      <a:endParaRPr sz="1100"/>
                    </a:p>
                  </a:txBody>
                  <a:tcPr marL="771525" marR="9525" marT="9525" marB="0" anchor="ctr"/>
                </a:tc>
              </a:tr>
              <a:tr h="175260">
                <a:tc>
                  <a:txBody>
                    <a:bodyPr wrap="square"/>
                    <a:lstStyle/>
                    <a:p>
                      <a:pPr algn="l"/>
                      <a:r>
                        <a:rPr sz="1100" b="1" i="0">
                          <a:solidFill>
                            <a:srgbClr val="000000"/>
                          </a:solidFill>
                          <a:latin typeface="Calibri"/>
                        </a:rPr>
                        <a:t>10.</a:t>
                      </a:r>
                      <a:r>
                        <a:rPr sz="700" b="1" i="0">
                          <a:solidFill>
                            <a:srgbClr val="000000"/>
                          </a:solidFill>
                          <a:latin typeface="Times New Roman"/>
                        </a:rPr>
                        <a:t>    </a:t>
                      </a:r>
                      <a:r>
                        <a:rPr sz="1100" b="1" i="0">
                          <a:solidFill>
                            <a:srgbClr val="000000"/>
                          </a:solidFill>
                          <a:latin typeface="Calibri"/>
                        </a:rPr>
                        <a:t>Europe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10.1.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10.2.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10.3.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10.4.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10.4.1.</a:t>
                      </a:r>
                      <a:r>
                        <a:rPr sz="700" b="0" i="0">
                          <a:solidFill>
                            <a:srgbClr val="000000"/>
                          </a:solidFill>
                          <a:latin typeface="Times New Roman"/>
                        </a:rPr>
                        <a:t> </a:t>
                      </a:r>
                      <a:r>
                        <a:rPr sz="1100" b="0" i="0">
                          <a:solidFill>
                            <a:srgbClr val="000000"/>
                          </a:solidFill>
                          <a:latin typeface="Calibri"/>
                        </a:rPr>
                        <a:t>By Product Type</a:t>
                      </a:r>
                      <a:endParaRPr sz="1100"/>
                    </a:p>
                  </a:txBody>
                  <a:tcPr marL="771525" marR="9525" marT="9525" marB="0" anchor="ctr"/>
                </a:tc>
              </a:tr>
              <a:tr h="175260">
                <a:tc>
                  <a:txBody>
                    <a:bodyPr wrap="square"/>
                    <a:lstStyle/>
                    <a:p>
                      <a:pPr algn="l"/>
                      <a:r>
                        <a:rPr sz="1100" b="0" i="0">
                          <a:solidFill>
                            <a:srgbClr val="000000"/>
                          </a:solidFill>
                          <a:latin typeface="Calibri"/>
                        </a:rPr>
                        <a:t>10.4.2.</a:t>
                      </a:r>
                      <a:r>
                        <a:rPr sz="700" b="0" i="0">
                          <a:solidFill>
                            <a:srgbClr val="000000"/>
                          </a:solidFill>
                          <a:latin typeface="Times New Roman"/>
                        </a:rPr>
                        <a:t> </a:t>
                      </a:r>
                      <a:r>
                        <a:rPr sz="1100" b="0" i="0">
                          <a:solidFill>
                            <a:srgbClr val="000000"/>
                          </a:solidFill>
                          <a:latin typeface="Calibri"/>
                        </a:rPr>
                        <a:t>By Material</a:t>
                      </a:r>
                      <a:endParaRPr sz="1100"/>
                    </a:p>
                  </a:txBody>
                  <a:tcPr marL="771525" marR="9525" marT="9525" marB="0" anchor="ctr"/>
                </a:tc>
              </a:tr>
              <a:tr h="175260">
                <a:tc>
                  <a:txBody>
                    <a:bodyPr wrap="square"/>
                    <a:lstStyle/>
                    <a:p>
                      <a:pPr algn="l"/>
                      <a:r>
                        <a:rPr sz="1100" b="0" i="0">
                          <a:solidFill>
                            <a:srgbClr val="000000"/>
                          </a:solidFill>
                          <a:latin typeface="Calibri"/>
                        </a:rPr>
                        <a:t>10.4.3.</a:t>
                      </a:r>
                      <a:r>
                        <a:rPr sz="700" b="0" i="0">
                          <a:solidFill>
                            <a:srgbClr val="000000"/>
                          </a:solidFill>
                          <a:latin typeface="Times New Roman"/>
                        </a:rPr>
                        <a:t> </a:t>
                      </a:r>
                      <a:r>
                        <a:rPr sz="1100" b="0" i="0">
                          <a:solidFill>
                            <a:srgbClr val="000000"/>
                          </a:solidFill>
                          <a:latin typeface="Calibri"/>
                        </a:rPr>
                        <a:t>By End-Use Industry</a:t>
                      </a:r>
                      <a:endParaRPr sz="1100"/>
                    </a:p>
                  </a:txBody>
                  <a:tcPr marL="771525" marR="9525" marT="9525" marB="0" anchor="ctr"/>
                </a:tc>
              </a:tr>
              <a:tr h="175260">
                <a:tc>
                  <a:txBody>
                    <a:bodyPr wrap="square"/>
                    <a:lstStyle/>
                    <a:p>
                      <a:pPr algn="l"/>
                      <a:r>
                        <a:rPr sz="1100" b="1" i="0">
                          <a:solidFill>
                            <a:srgbClr val="000000"/>
                          </a:solidFill>
                          <a:latin typeface="Calibri"/>
                        </a:rPr>
                        <a:t>11.</a:t>
                      </a:r>
                      <a:r>
                        <a:rPr sz="700" b="1" i="0">
                          <a:solidFill>
                            <a:srgbClr val="000000"/>
                          </a:solidFill>
                          <a:latin typeface="Times New Roman"/>
                        </a:rPr>
                        <a:t>    </a:t>
                      </a:r>
                      <a:r>
                        <a:rPr sz="1100" b="1" i="0">
                          <a:solidFill>
                            <a:srgbClr val="000000"/>
                          </a:solidFill>
                          <a:latin typeface="Calibri"/>
                        </a:rPr>
                        <a:t>East Asia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11.1.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11.2.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11.3.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11.4.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11.4.1.</a:t>
                      </a:r>
                      <a:r>
                        <a:rPr sz="700" b="0" i="0">
                          <a:solidFill>
                            <a:srgbClr val="000000"/>
                          </a:solidFill>
                          <a:latin typeface="Times New Roman"/>
                        </a:rPr>
                        <a:t> </a:t>
                      </a:r>
                      <a:r>
                        <a:rPr sz="1100" b="0" i="0">
                          <a:solidFill>
                            <a:srgbClr val="000000"/>
                          </a:solidFill>
                          <a:latin typeface="Calibri"/>
                        </a:rPr>
                        <a:t>By Product Type</a:t>
                      </a:r>
                      <a:endParaRPr sz="1100"/>
                    </a:p>
                  </a:txBody>
                  <a:tcPr marL="771525" marR="9525" marT="9525" marB="0" anchor="ctr"/>
                </a:tc>
              </a:tr>
              <a:tr h="175260">
                <a:tc>
                  <a:txBody>
                    <a:bodyPr wrap="square"/>
                    <a:lstStyle/>
                    <a:p>
                      <a:pPr algn="l"/>
                      <a:r>
                        <a:rPr sz="1100" b="0" i="0">
                          <a:solidFill>
                            <a:srgbClr val="000000"/>
                          </a:solidFill>
                          <a:latin typeface="Calibri"/>
                        </a:rPr>
                        <a:t>11.4.2.</a:t>
                      </a:r>
                      <a:r>
                        <a:rPr sz="700" b="0" i="0">
                          <a:solidFill>
                            <a:srgbClr val="000000"/>
                          </a:solidFill>
                          <a:latin typeface="Times New Roman"/>
                        </a:rPr>
                        <a:t> </a:t>
                      </a:r>
                      <a:r>
                        <a:rPr sz="1100" b="0" i="0">
                          <a:solidFill>
                            <a:srgbClr val="000000"/>
                          </a:solidFill>
                          <a:latin typeface="Calibri"/>
                        </a:rPr>
                        <a:t>By Material</a:t>
                      </a:r>
                      <a:endParaRPr sz="1100"/>
                    </a:p>
                  </a:txBody>
                  <a:tcPr marL="771525" marR="9525" marT="9525" marB="0" anchor="ctr"/>
                </a:tc>
              </a:tr>
              <a:tr h="175260">
                <a:tc>
                  <a:txBody>
                    <a:bodyPr wrap="square"/>
                    <a:lstStyle/>
                    <a:p>
                      <a:pPr algn="l"/>
                      <a:r>
                        <a:rPr sz="1100" b="0" i="0">
                          <a:solidFill>
                            <a:srgbClr val="000000"/>
                          </a:solidFill>
                          <a:latin typeface="Calibri"/>
                        </a:rPr>
                        <a:t>11.4.3.</a:t>
                      </a:r>
                      <a:r>
                        <a:rPr sz="700" b="0" i="0">
                          <a:solidFill>
                            <a:srgbClr val="000000"/>
                          </a:solidFill>
                          <a:latin typeface="Times New Roman"/>
                        </a:rPr>
                        <a:t> </a:t>
                      </a:r>
                      <a:r>
                        <a:rPr sz="1100" b="0" i="0">
                          <a:solidFill>
                            <a:srgbClr val="000000"/>
                          </a:solidFill>
                          <a:latin typeface="Calibri"/>
                        </a:rPr>
                        <a:t>By End-Use Industry</a:t>
                      </a:r>
                      <a:endParaRPr sz="1100"/>
                    </a:p>
                  </a:txBody>
                  <a:tcPr marL="771525" marR="9525" marT="9525" marB="0" anchor="ctr"/>
                </a:tc>
              </a:tr>
              <a:tr h="175260">
                <a:tc>
                  <a:txBody>
                    <a:bodyPr wrap="square"/>
                    <a:lstStyle/>
                    <a:p>
                      <a:pPr algn="l"/>
                      <a:r>
                        <a:rPr sz="1100" b="1" i="0">
                          <a:solidFill>
                            <a:srgbClr val="000000"/>
                          </a:solidFill>
                          <a:latin typeface="Calibri"/>
                        </a:rPr>
                        <a:t>12.</a:t>
                      </a:r>
                      <a:r>
                        <a:rPr sz="700" b="1" i="0">
                          <a:solidFill>
                            <a:srgbClr val="000000"/>
                          </a:solidFill>
                          <a:latin typeface="Times New Roman"/>
                        </a:rPr>
                        <a:t>    </a:t>
                      </a:r>
                      <a:r>
                        <a:rPr sz="1100" b="1" i="0">
                          <a:solidFill>
                            <a:srgbClr val="000000"/>
                          </a:solidFill>
                          <a:latin typeface="Calibri"/>
                        </a:rPr>
                        <a:t>South Asia &amp; Pacific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12.1.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12.2.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12.3.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12.4.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12.4.1.</a:t>
                      </a:r>
                      <a:r>
                        <a:rPr sz="700" b="0" i="0">
                          <a:solidFill>
                            <a:srgbClr val="000000"/>
                          </a:solidFill>
                          <a:latin typeface="Times New Roman"/>
                        </a:rPr>
                        <a:t> </a:t>
                      </a:r>
                      <a:r>
                        <a:rPr sz="1100" b="0" i="0">
                          <a:solidFill>
                            <a:srgbClr val="000000"/>
                          </a:solidFill>
                          <a:latin typeface="Calibri"/>
                        </a:rPr>
                        <a:t>By Product Type</a:t>
                      </a:r>
                      <a:endParaRPr sz="1100"/>
                    </a:p>
                  </a:txBody>
                  <a:tcPr marL="771525" marR="9525" marT="9525" marB="0" anchor="ctr"/>
                </a:tc>
              </a:tr>
              <a:tr h="175260">
                <a:tc>
                  <a:txBody>
                    <a:bodyPr wrap="square"/>
                    <a:lstStyle/>
                    <a:p>
                      <a:pPr algn="l"/>
                      <a:r>
                        <a:rPr sz="1100" b="0" i="0">
                          <a:solidFill>
                            <a:srgbClr val="000000"/>
                          </a:solidFill>
                          <a:latin typeface="Calibri"/>
                        </a:rPr>
                        <a:t>12.4.2.</a:t>
                      </a:r>
                      <a:r>
                        <a:rPr sz="700" b="0" i="0">
                          <a:solidFill>
                            <a:srgbClr val="000000"/>
                          </a:solidFill>
                          <a:latin typeface="Times New Roman"/>
                        </a:rPr>
                        <a:t> </a:t>
                      </a:r>
                      <a:r>
                        <a:rPr sz="1100" b="0" i="0">
                          <a:solidFill>
                            <a:srgbClr val="000000"/>
                          </a:solidFill>
                          <a:latin typeface="Calibri"/>
                        </a:rPr>
                        <a:t>By Material</a:t>
                      </a:r>
                      <a:endParaRPr sz="1100"/>
                    </a:p>
                  </a:txBody>
                  <a:tcPr marL="771525" marR="9525" marT="9525" marB="0" anchor="ctr"/>
                </a:tc>
              </a:tr>
              <a:tr h="175260">
                <a:tc>
                  <a:txBody>
                    <a:bodyPr wrap="square"/>
                    <a:lstStyle/>
                    <a:p>
                      <a:pPr algn="l"/>
                      <a:r>
                        <a:rPr sz="1100" b="0" i="0">
                          <a:solidFill>
                            <a:srgbClr val="000000"/>
                          </a:solidFill>
                          <a:latin typeface="Calibri"/>
                        </a:rPr>
                        <a:t>12.4.3.</a:t>
                      </a:r>
                      <a:r>
                        <a:rPr sz="700" b="0" i="0">
                          <a:solidFill>
                            <a:srgbClr val="000000"/>
                          </a:solidFill>
                          <a:latin typeface="Times New Roman"/>
                        </a:rPr>
                        <a:t> </a:t>
                      </a:r>
                      <a:r>
                        <a:rPr sz="1100" b="0" i="0">
                          <a:solidFill>
                            <a:srgbClr val="000000"/>
                          </a:solidFill>
                          <a:latin typeface="Calibri"/>
                        </a:rPr>
                        <a:t>By End-Use Industry</a:t>
                      </a:r>
                      <a:endParaRPr sz="1100"/>
                    </a:p>
                  </a:txBody>
                  <a:tcPr marL="771525" marR="9525" marT="9525" marB="0" anchor="ctr"/>
                </a:tc>
              </a:tr>
              <a:tr h="175260">
                <a:tc>
                  <a:txBody>
                    <a:bodyPr wrap="square"/>
                    <a:lstStyle/>
                    <a:p>
                      <a:pPr algn="l"/>
                      <a:r>
                        <a:rPr sz="1100" b="1" i="0">
                          <a:solidFill>
                            <a:srgbClr val="000000"/>
                          </a:solidFill>
                          <a:latin typeface="Calibri"/>
                        </a:rPr>
                        <a:t>13.</a:t>
                      </a:r>
                      <a:r>
                        <a:rPr sz="700" b="1" i="0">
                          <a:solidFill>
                            <a:srgbClr val="000000"/>
                          </a:solidFill>
                          <a:latin typeface="Times New Roman"/>
                        </a:rPr>
                        <a:t>    </a:t>
                      </a:r>
                      <a:r>
                        <a:rPr sz="1100" b="1" i="0">
                          <a:solidFill>
                            <a:srgbClr val="000000"/>
                          </a:solidFill>
                          <a:latin typeface="Calibri"/>
                        </a:rPr>
                        <a:t>Middle East &amp; Africa Market Size (Value &amp; Volume) 2021–2036</a:t>
                      </a:r>
                      <a:endParaRPr sz="1100"/>
                    </a:p>
                  </a:txBody>
                  <a:tcPr marL="171450"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(5/6)</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13.1.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13.2.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13.3.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13.4.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13.4.1.</a:t>
                      </a:r>
                      <a:r>
                        <a:rPr sz="700" b="0" i="0">
                          <a:solidFill>
                            <a:srgbClr val="000000"/>
                          </a:solidFill>
                          <a:latin typeface="Times New Roman"/>
                        </a:rPr>
                        <a:t> </a:t>
                      </a:r>
                      <a:r>
                        <a:rPr sz="1100" b="0" i="0">
                          <a:solidFill>
                            <a:srgbClr val="000000"/>
                          </a:solidFill>
                          <a:latin typeface="Calibri"/>
                        </a:rPr>
                        <a:t>By Product Type</a:t>
                      </a:r>
                      <a:endParaRPr sz="1100"/>
                    </a:p>
                  </a:txBody>
                  <a:tcPr marL="771525" marR="9525" marT="9525" marB="0" anchor="ctr"/>
                </a:tc>
              </a:tr>
              <a:tr h="175260">
                <a:tc>
                  <a:txBody>
                    <a:bodyPr wrap="square"/>
                    <a:lstStyle/>
                    <a:p>
                      <a:pPr algn="l"/>
                      <a:r>
                        <a:rPr sz="1100" b="0" i="0">
                          <a:solidFill>
                            <a:srgbClr val="000000"/>
                          </a:solidFill>
                          <a:latin typeface="Calibri"/>
                        </a:rPr>
                        <a:t>13.4.2.</a:t>
                      </a:r>
                      <a:r>
                        <a:rPr sz="700" b="0" i="0">
                          <a:solidFill>
                            <a:srgbClr val="000000"/>
                          </a:solidFill>
                          <a:latin typeface="Times New Roman"/>
                        </a:rPr>
                        <a:t> </a:t>
                      </a:r>
                      <a:r>
                        <a:rPr sz="1100" b="0" i="0">
                          <a:solidFill>
                            <a:srgbClr val="000000"/>
                          </a:solidFill>
                          <a:latin typeface="Calibri"/>
                        </a:rPr>
                        <a:t>By Material</a:t>
                      </a:r>
                      <a:endParaRPr sz="1100"/>
                    </a:p>
                  </a:txBody>
                  <a:tcPr marL="771525" marR="9525" marT="9525" marB="0" anchor="ctr"/>
                </a:tc>
              </a:tr>
              <a:tr h="175260">
                <a:tc>
                  <a:txBody>
                    <a:bodyPr wrap="square"/>
                    <a:lstStyle/>
                    <a:p>
                      <a:pPr algn="l"/>
                      <a:r>
                        <a:rPr sz="1100" b="0" i="0">
                          <a:solidFill>
                            <a:srgbClr val="000000"/>
                          </a:solidFill>
                          <a:latin typeface="Calibri"/>
                        </a:rPr>
                        <a:t>13.4.3.</a:t>
                      </a:r>
                      <a:r>
                        <a:rPr sz="700" b="0" i="0">
                          <a:solidFill>
                            <a:srgbClr val="000000"/>
                          </a:solidFill>
                          <a:latin typeface="Times New Roman"/>
                        </a:rPr>
                        <a:t> </a:t>
                      </a:r>
                      <a:r>
                        <a:rPr sz="1100" b="0" i="0">
                          <a:solidFill>
                            <a:srgbClr val="000000"/>
                          </a:solidFill>
                          <a:latin typeface="Calibri"/>
                        </a:rPr>
                        <a:t>By End-Use Industry</a:t>
                      </a:r>
                      <a:endParaRPr sz="1100"/>
                    </a:p>
                  </a:txBody>
                  <a:tcPr marL="771525" marR="9525" marT="9525" marB="0" anchor="ctr"/>
                </a:tc>
              </a:tr>
              <a:tr h="175260">
                <a:tc>
                  <a:txBody>
                    <a:bodyPr wrap="square"/>
                    <a:lstStyle/>
                    <a:p>
                      <a:pPr algn="l"/>
                      <a:r>
                        <a:rPr sz="1100" b="1" i="0">
                          <a:solidFill>
                            <a:srgbClr val="000000"/>
                          </a:solidFill>
                          <a:latin typeface="Calibri"/>
                        </a:rPr>
                        <a:t>Section 3: Pricing Assessment</a:t>
                      </a:r>
                      <a:endParaRPr sz="1100"/>
                    </a:p>
                  </a:txBody>
                  <a:tcPr marL="9525" marR="9525" marT="9525" marB="0" anchor="ctr"/>
                </a:tc>
              </a:tr>
              <a:tr h="175260">
                <a:tc>
                  <a:txBody>
                    <a:bodyPr wrap="square"/>
                    <a:lstStyle/>
                    <a:p>
                      <a:pPr algn="l"/>
                      <a:r>
                        <a:rPr sz="1100" b="1" i="0">
                          <a:solidFill>
                            <a:srgbClr val="000000"/>
                          </a:solidFill>
                          <a:latin typeface="Calibri"/>
                        </a:rPr>
                        <a:t>14.</a:t>
                      </a:r>
                      <a:r>
                        <a:rPr sz="700" b="1" i="0">
                          <a:solidFill>
                            <a:srgbClr val="000000"/>
                          </a:solidFill>
                          <a:latin typeface="Times New Roman"/>
                        </a:rPr>
                        <a:t>    </a:t>
                      </a:r>
                      <a:r>
                        <a:rPr sz="1100" b="1" i="0">
                          <a:solidFill>
                            <a:srgbClr val="000000"/>
                          </a:solidFill>
                          <a:latin typeface="Calibri"/>
                        </a:rPr>
                        <a:t>Global Pricing Analysis</a:t>
                      </a:r>
                      <a:endParaRPr sz="1100"/>
                    </a:p>
                  </a:txBody>
                  <a:tcPr marL="171450" marR="9525" marT="9525" marB="0" anchor="ctr"/>
                </a:tc>
              </a:tr>
              <a:tr h="175260">
                <a:tc>
                  <a:txBody>
                    <a:bodyPr wrap="square"/>
                    <a:lstStyle/>
                    <a:p>
                      <a:pPr algn="l"/>
                      <a:r>
                        <a:rPr sz="1100" b="0" i="0">
                          <a:solidFill>
                            <a:srgbClr val="0070C0"/>
                          </a:solidFill>
                          <a:latin typeface="Calibri"/>
                        </a:rPr>
                        <a:t>14.1.</a:t>
                      </a:r>
                      <a:r>
                        <a:rPr sz="700" b="0" i="0">
                          <a:solidFill>
                            <a:srgbClr val="0070C0"/>
                          </a:solidFill>
                          <a:latin typeface="Times New Roman"/>
                        </a:rPr>
                        <a:t>  </a:t>
                      </a:r>
                      <a:r>
                        <a:rPr sz="1100" b="0" i="0">
                          <a:solidFill>
                            <a:srgbClr val="0070C0"/>
                          </a:solidFill>
                          <a:latin typeface="Calibri"/>
                        </a:rPr>
                        <a:t>Regional Price Assessment</a:t>
                      </a:r>
                      <a:endParaRPr sz="1100"/>
                    </a:p>
                  </a:txBody>
                  <a:tcPr marL="428625" marR="9525" marT="9525" marB="0" anchor="ctr"/>
                </a:tc>
              </a:tr>
              <a:tr h="175260">
                <a:tc>
                  <a:txBody>
                    <a:bodyPr wrap="square"/>
                    <a:lstStyle/>
                    <a:p>
                      <a:pPr algn="l"/>
                      <a:r>
                        <a:rPr sz="1100" b="0" i="0">
                          <a:solidFill>
                            <a:srgbClr val="000000"/>
                          </a:solidFill>
                          <a:latin typeface="Calibri"/>
                        </a:rPr>
                        <a:t>14.1.1.</a:t>
                      </a:r>
                      <a:r>
                        <a:rPr sz="700" b="0" i="0">
                          <a:solidFill>
                            <a:srgbClr val="000000"/>
                          </a:solidFill>
                          <a:latin typeface="Times New Roman"/>
                        </a:rPr>
                        <a:t> </a:t>
                      </a:r>
                      <a:r>
                        <a:rPr sz="1100" b="0" i="0">
                          <a:solidFill>
                            <a:srgbClr val="000000"/>
                          </a:solidFill>
                          <a:latin typeface="Calibri"/>
                        </a:rPr>
                        <a:t>Manufacturer Level Pricing</a:t>
                      </a:r>
                      <a:endParaRPr sz="1100"/>
                    </a:p>
                  </a:txBody>
                  <a:tcPr marL="771525" marR="9525" marT="9525" marB="0" anchor="ctr"/>
                </a:tc>
              </a:tr>
              <a:tr h="175260">
                <a:tc>
                  <a:txBody>
                    <a:bodyPr wrap="square"/>
                    <a:lstStyle/>
                    <a:p>
                      <a:pPr algn="l"/>
                      <a:r>
                        <a:rPr sz="1100" b="0" i="0">
                          <a:solidFill>
                            <a:srgbClr val="000000"/>
                          </a:solidFill>
                          <a:latin typeface="Calibri"/>
                        </a:rPr>
                        <a:t>14.1.2.</a:t>
                      </a:r>
                      <a:r>
                        <a:rPr sz="700" b="0" i="0">
                          <a:solidFill>
                            <a:srgbClr val="000000"/>
                          </a:solidFill>
                          <a:latin typeface="Times New Roman"/>
                        </a:rPr>
                        <a:t> </a:t>
                      </a:r>
                      <a:r>
                        <a:rPr sz="1100" b="0" i="0">
                          <a:solidFill>
                            <a:srgbClr val="000000"/>
                          </a:solidFill>
                          <a:latin typeface="Calibri"/>
                        </a:rPr>
                        <a:t>Distributor Level Pricing</a:t>
                      </a:r>
                      <a:endParaRPr sz="1100"/>
                    </a:p>
                  </a:txBody>
                  <a:tcPr marL="771525" marR="9525" marT="9525" marB="0" anchor="ctr"/>
                </a:tc>
              </a:tr>
              <a:tr h="175260">
                <a:tc>
                  <a:txBody>
                    <a:bodyPr wrap="square"/>
                    <a:lstStyle/>
                    <a:p>
                      <a:pPr algn="l"/>
                      <a:r>
                        <a:rPr sz="1100" b="0" i="0">
                          <a:solidFill>
                            <a:srgbClr val="000000"/>
                          </a:solidFill>
                          <a:latin typeface="Calibri"/>
                        </a:rPr>
                        <a:t>14.1.3.</a:t>
                      </a:r>
                      <a:r>
                        <a:rPr sz="700" b="0" i="0">
                          <a:solidFill>
                            <a:srgbClr val="000000"/>
                          </a:solidFill>
                          <a:latin typeface="Times New Roman"/>
                        </a:rPr>
                        <a:t> </a:t>
                      </a:r>
                      <a:r>
                        <a:rPr sz="1100" b="0" i="0">
                          <a:solidFill>
                            <a:srgbClr val="000000"/>
                          </a:solidFill>
                          <a:latin typeface="Calibri"/>
                        </a:rPr>
                        <a:t>Retail Pricing (where applicable)</a:t>
                      </a:r>
                      <a:endParaRPr sz="1100"/>
                    </a:p>
                  </a:txBody>
                  <a:tcPr marL="771525" marR="9525" marT="9525" marB="0" anchor="ctr"/>
                </a:tc>
              </a:tr>
              <a:tr h="175260">
                <a:tc>
                  <a:txBody>
                    <a:bodyPr wrap="square"/>
                    <a:lstStyle/>
                    <a:p>
                      <a:pPr algn="l"/>
                      <a:r>
                        <a:rPr sz="1100" b="0" i="0">
                          <a:solidFill>
                            <a:srgbClr val="0070C0"/>
                          </a:solidFill>
                          <a:latin typeface="Calibri"/>
                        </a:rPr>
                        <a:t>14.2.</a:t>
                      </a:r>
                      <a:r>
                        <a:rPr sz="700" b="0" i="0">
                          <a:solidFill>
                            <a:srgbClr val="0070C0"/>
                          </a:solidFill>
                          <a:latin typeface="Times New Roman"/>
                        </a:rPr>
                        <a:t>  </a:t>
                      </a:r>
                      <a:r>
                        <a:rPr sz="1100" b="0" i="0">
                          <a:solidFill>
                            <a:srgbClr val="0070C0"/>
                          </a:solidFill>
                          <a:latin typeface="Calibri"/>
                        </a:rPr>
                        <a:t>Segment-wise Price Comparison (Product Type vs Material)</a:t>
                      </a:r>
                      <a:endParaRPr sz="1100"/>
                    </a:p>
                  </a:txBody>
                  <a:tcPr marL="428625" marR="9525" marT="9525" marB="0" anchor="ctr"/>
                </a:tc>
              </a:tr>
              <a:tr h="175260">
                <a:tc>
                  <a:txBody>
                    <a:bodyPr wrap="square"/>
                    <a:lstStyle/>
                    <a:p>
                      <a:pPr algn="l"/>
                      <a:r>
                        <a:rPr sz="1100" b="0" i="0">
                          <a:solidFill>
                            <a:srgbClr val="0070C0"/>
                          </a:solidFill>
                          <a:latin typeface="Calibri"/>
                        </a:rPr>
                        <a:t>14.3.</a:t>
                      </a:r>
                      <a:r>
                        <a:rPr sz="700" b="0" i="0">
                          <a:solidFill>
                            <a:srgbClr val="0070C0"/>
                          </a:solidFill>
                          <a:latin typeface="Times New Roman"/>
                        </a:rPr>
                        <a:t>  </a:t>
                      </a:r>
                      <a:r>
                        <a:rPr sz="1100" b="0" i="0">
                          <a:solidFill>
                            <a:srgbClr val="0070C0"/>
                          </a:solidFill>
                          <a:latin typeface="Calibri"/>
                        </a:rPr>
                        <a:t>Country-wise Price Comparison (Product Type)</a:t>
                      </a:r>
                      <a:endParaRPr sz="1100"/>
                    </a:p>
                  </a:txBody>
                  <a:tcPr marL="428625" marR="9525" marT="9525" marB="0" anchor="ctr"/>
                </a:tc>
              </a:tr>
              <a:tr h="175260">
                <a:tc>
                  <a:txBody>
                    <a:bodyPr wrap="square"/>
                    <a:lstStyle/>
                    <a:p>
                      <a:pPr algn="l"/>
                      <a:r>
                        <a:rPr sz="1100" b="0" i="0">
                          <a:solidFill>
                            <a:srgbClr val="0070C0"/>
                          </a:solidFill>
                          <a:latin typeface="Calibri"/>
                        </a:rPr>
                        <a:t>14.4.</a:t>
                      </a:r>
                      <a:r>
                        <a:rPr sz="700" b="0" i="0">
                          <a:solidFill>
                            <a:srgbClr val="0070C0"/>
                          </a:solidFill>
                          <a:latin typeface="Times New Roman"/>
                        </a:rPr>
                        <a:t>  </a:t>
                      </a:r>
                      <a:r>
                        <a:rPr sz="1100" b="0" i="0">
                          <a:solidFill>
                            <a:srgbClr val="0070C0"/>
                          </a:solidFill>
                          <a:latin typeface="Calibri"/>
                        </a:rPr>
                        <a:t>Price Forecast till 2036</a:t>
                      </a:r>
                      <a:endParaRPr sz="1100"/>
                    </a:p>
                  </a:txBody>
                  <a:tcPr marL="428625" marR="9525" marT="9525" marB="0" anchor="ctr"/>
                </a:tc>
              </a:tr>
              <a:tr h="175260">
                <a:tc>
                  <a:txBody>
                    <a:bodyPr wrap="square"/>
                    <a:lstStyle/>
                    <a:p>
                      <a:pPr algn="l"/>
                      <a:r>
                        <a:rPr sz="1100" b="0" i="0">
                          <a:solidFill>
                            <a:srgbClr val="0070C0"/>
                          </a:solidFill>
                          <a:latin typeface="Calibri"/>
                        </a:rPr>
                        <a:t>14.5.</a:t>
                      </a:r>
                      <a:r>
                        <a:rPr sz="700" b="0" i="0">
                          <a:solidFill>
                            <a:srgbClr val="0070C0"/>
                          </a:solidFill>
                          <a:latin typeface="Times New Roman"/>
                        </a:rPr>
                        <a:t>  </a:t>
                      </a:r>
                      <a:r>
                        <a:rPr sz="1100" b="0" i="0">
                          <a:solidFill>
                            <a:srgbClr val="0070C0"/>
                          </a:solidFill>
                          <a:latin typeface="Calibri"/>
                        </a:rPr>
                        <a:t>Factors Impacting Pricing</a:t>
                      </a:r>
                      <a:endParaRPr sz="1100"/>
                    </a:p>
                  </a:txBody>
                  <a:tcPr marL="428625" marR="9525" marT="9525" marB="0" anchor="ctr"/>
                </a:tc>
              </a:tr>
              <a:tr h="175260">
                <a:tc>
                  <a:txBody>
                    <a:bodyPr wrap="square"/>
                    <a:lstStyle/>
                    <a:p>
                      <a:pPr algn="l"/>
                      <a:r>
                        <a:rPr sz="1100" b="0" i="0">
                          <a:solidFill>
                            <a:srgbClr val="0070C0"/>
                          </a:solidFill>
                          <a:latin typeface="Calibri"/>
                        </a:rPr>
                        <a:t>14.6.</a:t>
                      </a:r>
                      <a:r>
                        <a:rPr sz="700" b="0" i="0">
                          <a:solidFill>
                            <a:srgbClr val="0070C0"/>
                          </a:solidFill>
                          <a:latin typeface="Times New Roman"/>
                        </a:rPr>
                        <a:t>  </a:t>
                      </a:r>
                      <a:r>
                        <a:rPr sz="1100" b="0" i="0">
                          <a:solidFill>
                            <a:srgbClr val="0070C0"/>
                          </a:solidFill>
                          <a:latin typeface="Calibri"/>
                        </a:rPr>
                        <a:t>Competitor Pricing Strategies</a:t>
                      </a:r>
                      <a:endParaRPr sz="1100"/>
                    </a:p>
                  </a:txBody>
                  <a:tcPr marL="428625" marR="9525" marT="9525" marB="0" anchor="ctr"/>
                </a:tc>
              </a:tr>
              <a:tr h="175260">
                <a:tc>
                  <a:txBody>
                    <a:bodyPr wrap="square"/>
                    <a:lstStyle/>
                    <a:p>
                      <a:pPr algn="l"/>
                      <a:r>
                        <a:rPr sz="1100" b="1" i="0">
                          <a:solidFill>
                            <a:srgbClr val="000000"/>
                          </a:solidFill>
                          <a:latin typeface="Calibri"/>
                        </a:rPr>
                        <a:t>Section 4: Market Dynamics</a:t>
                      </a:r>
                      <a:endParaRPr sz="1100"/>
                    </a:p>
                  </a:txBody>
                  <a:tcPr marL="9525" marR="9525" marT="9525" marB="0" anchor="ctr"/>
                </a:tc>
              </a:tr>
              <a:tr h="175260">
                <a:tc>
                  <a:txBody>
                    <a:bodyPr wrap="square"/>
                    <a:lstStyle/>
                    <a:p>
                      <a:pPr algn="l"/>
                      <a:r>
                        <a:rPr sz="1100" b="1" i="0">
                          <a:solidFill>
                            <a:srgbClr val="000000"/>
                          </a:solidFill>
                          <a:latin typeface="Calibri"/>
                        </a:rPr>
                        <a:t>15.</a:t>
                      </a:r>
                      <a:r>
                        <a:rPr sz="700" b="1" i="0">
                          <a:solidFill>
                            <a:srgbClr val="000000"/>
                          </a:solidFill>
                          <a:latin typeface="Times New Roman"/>
                        </a:rPr>
                        <a:t>    </a:t>
                      </a:r>
                      <a:r>
                        <a:rPr sz="1100" b="1" i="0">
                          <a:solidFill>
                            <a:srgbClr val="000000"/>
                          </a:solidFill>
                          <a:latin typeface="Calibri"/>
                        </a:rPr>
                        <a:t>Innovation Tracker</a:t>
                      </a:r>
                      <a:endParaRPr sz="1100"/>
                    </a:p>
                  </a:txBody>
                  <a:tcPr marL="171450" marR="9525" marT="9525" marB="0" anchor="ctr"/>
                </a:tc>
              </a:tr>
              <a:tr h="175260">
                <a:tc>
                  <a:txBody>
                    <a:bodyPr wrap="square"/>
                    <a:lstStyle/>
                    <a:p>
                      <a:pPr algn="l"/>
                      <a:r>
                        <a:rPr sz="1100" b="0" i="0">
                          <a:solidFill>
                            <a:srgbClr val="0070C0"/>
                          </a:solidFill>
                          <a:latin typeface="Calibri"/>
                        </a:rPr>
                        <a:t>15.1.</a:t>
                      </a:r>
                      <a:r>
                        <a:rPr sz="700" b="0" i="0">
                          <a:solidFill>
                            <a:srgbClr val="0070C0"/>
                          </a:solidFill>
                          <a:latin typeface="Times New Roman"/>
                        </a:rPr>
                        <a:t>  </a:t>
                      </a:r>
                      <a:r>
                        <a:rPr sz="1100" b="0" i="0">
                          <a:solidFill>
                            <a:srgbClr val="0070C0"/>
                          </a:solidFill>
                          <a:latin typeface="Calibri"/>
                        </a:rPr>
                        <a:t>Major Deals and Strategic Alliance</a:t>
                      </a:r>
                      <a:endParaRPr sz="1100"/>
                    </a:p>
                  </a:txBody>
                  <a:tcPr marL="428625" marR="9525" marT="9525" marB="0" anchor="ctr"/>
                </a:tc>
              </a:tr>
              <a:tr h="175260">
                <a:tc>
                  <a:txBody>
                    <a:bodyPr wrap="square"/>
                    <a:lstStyle/>
                    <a:p>
                      <a:pPr algn="l"/>
                      <a:r>
                        <a:rPr sz="1100" b="0" i="0">
                          <a:solidFill>
                            <a:srgbClr val="000000"/>
                          </a:solidFill>
                          <a:latin typeface="Calibri"/>
                        </a:rPr>
                        <a:t>15.1.1.</a:t>
                      </a:r>
                      <a:r>
                        <a:rPr sz="700" b="0" i="0">
                          <a:solidFill>
                            <a:srgbClr val="000000"/>
                          </a:solidFill>
                          <a:latin typeface="Times New Roman"/>
                        </a:rPr>
                        <a:t> </a:t>
                      </a:r>
                      <a:r>
                        <a:rPr sz="1100" b="0" i="0">
                          <a:solidFill>
                            <a:srgbClr val="000000"/>
                          </a:solidFill>
                          <a:latin typeface="Calibri"/>
                        </a:rPr>
                        <a:t>Joint Ventures, M&amp;A, Licensing &amp; Partnerships</a:t>
                      </a:r>
                      <a:endParaRPr sz="1100"/>
                    </a:p>
                  </a:txBody>
                  <a:tcPr marL="771525" marR="9525" marT="9525" marB="0" anchor="ctr"/>
                </a:tc>
              </a:tr>
              <a:tr h="175260">
                <a:tc>
                  <a:txBody>
                    <a:bodyPr wrap="square"/>
                    <a:lstStyle/>
                    <a:p>
                      <a:pPr algn="l"/>
                      <a:r>
                        <a:rPr sz="1100" b="0" i="0">
                          <a:solidFill>
                            <a:srgbClr val="000000"/>
                          </a:solidFill>
                          <a:latin typeface="Calibri"/>
                        </a:rPr>
                        <a:t>15.1.2.</a:t>
                      </a:r>
                      <a:r>
                        <a:rPr sz="700" b="0" i="0">
                          <a:solidFill>
                            <a:srgbClr val="000000"/>
                          </a:solidFill>
                          <a:latin typeface="Times New Roman"/>
                        </a:rPr>
                        <a:t> </a:t>
                      </a:r>
                      <a:r>
                        <a:rPr sz="1100" b="0" i="0">
                          <a:solidFill>
                            <a:srgbClr val="000000"/>
                          </a:solidFill>
                          <a:latin typeface="Calibri"/>
                        </a:rPr>
                        <a:t>Technology Collaboration</a:t>
                      </a:r>
                      <a:endParaRPr sz="1100"/>
                    </a:p>
                  </a:txBody>
                  <a:tcPr marL="771525" marR="9525" marT="9525" marB="0" anchor="ctr"/>
                </a:tc>
              </a:tr>
              <a:tr h="175260">
                <a:tc>
                  <a:txBody>
                    <a:bodyPr wrap="square"/>
                    <a:lstStyle/>
                    <a:p>
                      <a:pPr algn="l"/>
                      <a:r>
                        <a:rPr sz="1100" b="0" i="0">
                          <a:solidFill>
                            <a:srgbClr val="000000"/>
                          </a:solidFill>
                          <a:latin typeface="Calibri"/>
                        </a:rPr>
                        <a:t>15.1.3.</a:t>
                      </a:r>
                      <a:r>
                        <a:rPr sz="700" b="0" i="0">
                          <a:solidFill>
                            <a:srgbClr val="000000"/>
                          </a:solidFill>
                          <a:latin typeface="Times New Roman"/>
                        </a:rPr>
                        <a:t> </a:t>
                      </a:r>
                      <a:r>
                        <a:rPr sz="1100" b="0" i="0">
                          <a:solidFill>
                            <a:srgbClr val="000000"/>
                          </a:solidFill>
                          <a:latin typeface="Calibri"/>
                        </a:rPr>
                        <a:t>Strategic Divestments/ Investments</a:t>
                      </a:r>
                      <a:endParaRPr sz="1100"/>
                    </a:p>
                  </a:txBody>
                  <a:tcPr marL="771525" marR="9525" marT="9525" marB="0" anchor="ctr"/>
                </a:tc>
              </a:tr>
              <a:tr h="175260">
                <a:tc>
                  <a:txBody>
                    <a:bodyPr wrap="square"/>
                    <a:lstStyle/>
                    <a:p>
                      <a:pPr algn="l"/>
                      <a:r>
                        <a:rPr sz="1100" b="0" i="0">
                          <a:solidFill>
                            <a:srgbClr val="0070C0"/>
                          </a:solidFill>
                          <a:latin typeface="Calibri"/>
                        </a:rPr>
                        <a:t>15.2.</a:t>
                      </a:r>
                      <a:r>
                        <a:rPr sz="700" b="0" i="0">
                          <a:solidFill>
                            <a:srgbClr val="0070C0"/>
                          </a:solidFill>
                          <a:latin typeface="Times New Roman"/>
                        </a:rPr>
                        <a:t>  </a:t>
                      </a:r>
                      <a:r>
                        <a:rPr sz="1100" b="0" i="0">
                          <a:solidFill>
                            <a:srgbClr val="0070C0"/>
                          </a:solidFill>
                          <a:latin typeface="Calibri"/>
                        </a:rPr>
                        <a:t>Product Launches &amp; Development</a:t>
                      </a:r>
                      <a:endParaRPr sz="1100"/>
                    </a:p>
                  </a:txBody>
                  <a:tcPr marL="428625" marR="9525" marT="9525" marB="0" anchor="ctr"/>
                </a:tc>
              </a:tr>
              <a:tr h="175260">
                <a:tc>
                  <a:txBody>
                    <a:bodyPr wrap="square"/>
                    <a:lstStyle/>
                    <a:p>
                      <a:pPr algn="l"/>
                      <a:r>
                        <a:rPr sz="1100" b="1" i="0">
                          <a:solidFill>
                            <a:srgbClr val="000000"/>
                          </a:solidFill>
                          <a:latin typeface="Calibri"/>
                        </a:rPr>
                        <a:t>16.</a:t>
                      </a:r>
                      <a:r>
                        <a:rPr sz="700" b="1" i="0">
                          <a:solidFill>
                            <a:srgbClr val="000000"/>
                          </a:solidFill>
                          <a:latin typeface="Times New Roman"/>
                        </a:rPr>
                        <a:t>    </a:t>
                      </a:r>
                      <a:r>
                        <a:rPr sz="1100" b="1" i="0">
                          <a:solidFill>
                            <a:srgbClr val="000000"/>
                          </a:solidFill>
                          <a:latin typeface="Calibri"/>
                        </a:rPr>
                        <a:t>Stakeholder Perspectives – Manufacturer, Customer &amp; Distributor Insights</a:t>
                      </a:r>
                      <a:endParaRPr sz="1100"/>
                    </a:p>
                  </a:txBody>
                  <a:tcPr marL="171450" marR="9525" marT="9525" marB="0" anchor="ctr"/>
                </a:tc>
              </a:tr>
              <a:tr h="175260">
                <a:tc>
                  <a:txBody>
                    <a:bodyPr wrap="square"/>
                    <a:lstStyle/>
                    <a:p>
                      <a:pPr algn="l"/>
                      <a:r>
                        <a:rPr sz="1100" b="0" i="0">
                          <a:solidFill>
                            <a:srgbClr val="0070C0"/>
                          </a:solidFill>
                          <a:latin typeface="Calibri"/>
                        </a:rPr>
                        <a:t>16.1.</a:t>
                      </a:r>
                      <a:r>
                        <a:rPr sz="700" b="0" i="0">
                          <a:solidFill>
                            <a:srgbClr val="0070C0"/>
                          </a:solidFill>
                          <a:latin typeface="Times New Roman"/>
                        </a:rPr>
                        <a:t>  </a:t>
                      </a:r>
                      <a:r>
                        <a:rPr sz="1100" b="0" i="0">
                          <a:solidFill>
                            <a:srgbClr val="0070C0"/>
                          </a:solidFill>
                          <a:latin typeface="Calibri"/>
                        </a:rPr>
                        <a:t>Stakeholder Insights</a:t>
                      </a:r>
                      <a:endParaRPr sz="1100"/>
                    </a:p>
                  </a:txBody>
                  <a:tcPr marL="428625" marR="9525" marT="9525" marB="0" anchor="ctr"/>
                </a:tc>
              </a:tr>
              <a:tr h="175260">
                <a:tc>
                  <a:txBody>
                    <a:bodyPr wrap="square"/>
                    <a:lstStyle/>
                    <a:p>
                      <a:pPr algn="l"/>
                      <a:r>
                        <a:rPr sz="1100" b="0" i="0">
                          <a:solidFill>
                            <a:srgbClr val="000000"/>
                          </a:solidFill>
                          <a:latin typeface="Calibri"/>
                        </a:rPr>
                        <a:t>16.1.1.</a:t>
                      </a:r>
                      <a:r>
                        <a:rPr sz="700" b="0" i="0">
                          <a:solidFill>
                            <a:srgbClr val="000000"/>
                          </a:solidFill>
                          <a:latin typeface="Times New Roman"/>
                        </a:rPr>
                        <a:t> </a:t>
                      </a:r>
                      <a:r>
                        <a:rPr sz="1100" b="0" i="0">
                          <a:solidFill>
                            <a:srgbClr val="000000"/>
                          </a:solidFill>
                          <a:latin typeface="Calibri"/>
                        </a:rPr>
                        <a:t>Manufacturers</a:t>
                      </a:r>
                      <a:endParaRPr sz="1100"/>
                    </a:p>
                  </a:txBody>
                  <a:tcPr marL="771525" marR="9525" marT="9525" marB="0" anchor="ctr"/>
                </a:tc>
              </a:tr>
              <a:tr h="175260">
                <a:tc>
                  <a:txBody>
                    <a:bodyPr wrap="square"/>
                    <a:lstStyle/>
                    <a:p>
                      <a:pPr algn="l"/>
                      <a:r>
                        <a:rPr sz="1100" b="0" i="0">
                          <a:solidFill>
                            <a:srgbClr val="000000"/>
                          </a:solidFill>
                          <a:latin typeface="Calibri"/>
                        </a:rPr>
                        <a:t>16.1.2.</a:t>
                      </a:r>
                      <a:r>
                        <a:rPr sz="700" b="0" i="0">
                          <a:solidFill>
                            <a:srgbClr val="000000"/>
                          </a:solidFill>
                          <a:latin typeface="Times New Roman"/>
                        </a:rPr>
                        <a:t> </a:t>
                      </a:r>
                      <a:r>
                        <a:rPr sz="1100" b="0" i="0">
                          <a:solidFill>
                            <a:srgbClr val="000000"/>
                          </a:solidFill>
                          <a:latin typeface="Calibri"/>
                        </a:rPr>
                        <a:t>Customers</a:t>
                      </a:r>
                      <a:endParaRPr sz="1100"/>
                    </a:p>
                  </a:txBody>
                  <a:tcPr marL="771525" marR="9525" marT="9525" marB="0" anchor="ctr"/>
                </a:tc>
              </a:tr>
              <a:tr h="175260">
                <a:tc>
                  <a:txBody>
                    <a:bodyPr wrap="square"/>
                    <a:lstStyle/>
                    <a:p>
                      <a:pPr algn="l"/>
                      <a:r>
                        <a:rPr sz="1100" b="0" i="0">
                          <a:solidFill>
                            <a:srgbClr val="000000"/>
                          </a:solidFill>
                          <a:latin typeface="Calibri"/>
                        </a:rPr>
                        <a:t>16.1.3.</a:t>
                      </a:r>
                      <a:r>
                        <a:rPr sz="700" b="0" i="0">
                          <a:solidFill>
                            <a:srgbClr val="000000"/>
                          </a:solidFill>
                          <a:latin typeface="Times New Roman"/>
                        </a:rPr>
                        <a:t> </a:t>
                      </a:r>
                      <a:r>
                        <a:rPr sz="1100" b="0" i="0">
                          <a:solidFill>
                            <a:srgbClr val="000000"/>
                          </a:solidFill>
                          <a:latin typeface="Calibri"/>
                        </a:rPr>
                        <a:t>Distributors</a:t>
                      </a:r>
                      <a:endParaRPr sz="1100"/>
                    </a:p>
                  </a:txBody>
                  <a:tcPr marL="771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16.2.</a:t>
                      </a:r>
                      <a:r>
                        <a:rPr sz="700" b="0" i="0">
                          <a:solidFill>
                            <a:srgbClr val="0070C0"/>
                          </a:solidFill>
                          <a:latin typeface="Times New Roman"/>
                        </a:rPr>
                        <a:t>  </a:t>
                      </a:r>
                      <a:r>
                        <a:rPr sz="1100" b="0" i="0">
                          <a:solidFill>
                            <a:srgbClr val="0070C0"/>
                          </a:solidFill>
                          <a:latin typeface="Calibri"/>
                        </a:rPr>
                        <a:t>Country- Level Market Drivers</a:t>
                      </a:r>
                      <a:endParaRPr sz="1100"/>
                    </a:p>
                  </a:txBody>
                  <a:tcPr marL="428625" marR="9525" marT="9525" marB="0" anchor="ctr"/>
                </a:tc>
              </a:tr>
              <a:tr h="175260">
                <a:tc>
                  <a:txBody>
                    <a:bodyPr wrap="square"/>
                    <a:lstStyle/>
                    <a:p>
                      <a:pPr algn="l"/>
                      <a:r>
                        <a:rPr sz="1100" b="0" i="0">
                          <a:solidFill>
                            <a:srgbClr val="000000"/>
                          </a:solidFill>
                          <a:latin typeface="Calibri"/>
                        </a:rPr>
                        <a:t>16.2.1.</a:t>
                      </a:r>
                      <a:r>
                        <a:rPr sz="700" b="0" i="0">
                          <a:solidFill>
                            <a:srgbClr val="000000"/>
                          </a:solidFill>
                          <a:latin typeface="Times New Roman"/>
                        </a:rPr>
                        <a:t> </a:t>
                      </a:r>
                      <a:r>
                        <a:rPr sz="1100" b="0" i="0">
                          <a:solidFill>
                            <a:srgbClr val="000000"/>
                          </a:solidFill>
                          <a:latin typeface="Calibri"/>
                        </a:rPr>
                        <a:t>Supply Side Drivers</a:t>
                      </a:r>
                      <a:endParaRPr sz="1100"/>
                    </a:p>
                  </a:txBody>
                  <a:tcPr marL="771525" marR="9525" marT="9525" marB="0" anchor="ctr"/>
                </a:tc>
              </a:tr>
              <a:tr h="175260">
                <a:tc>
                  <a:txBody>
                    <a:bodyPr wrap="square"/>
                    <a:lstStyle/>
                    <a:p>
                      <a:pPr algn="l"/>
                      <a:r>
                        <a:rPr sz="1100" b="0" i="0">
                          <a:solidFill>
                            <a:srgbClr val="000000"/>
                          </a:solidFill>
                          <a:latin typeface="Calibri"/>
                        </a:rPr>
                        <a:t>16.2.2.</a:t>
                      </a:r>
                      <a:r>
                        <a:rPr sz="700" b="0" i="0">
                          <a:solidFill>
                            <a:srgbClr val="000000"/>
                          </a:solidFill>
                          <a:latin typeface="Times New Roman"/>
                        </a:rPr>
                        <a:t> </a:t>
                      </a:r>
                      <a:r>
                        <a:rPr sz="1100" b="0" i="0">
                          <a:solidFill>
                            <a:srgbClr val="000000"/>
                          </a:solidFill>
                          <a:latin typeface="Calibri"/>
                        </a:rPr>
                        <a:t>Demand Side drivers</a:t>
                      </a:r>
                      <a:endParaRPr sz="1100"/>
                    </a:p>
                  </a:txBody>
                  <a:tcPr marL="771525" marR="9525" marT="9525" marB="0" anchor="ctr"/>
                </a:tc>
              </a:tr>
              <a:tr h="175260">
                <a:tc>
                  <a:txBody>
                    <a:bodyPr wrap="square"/>
                    <a:lstStyle/>
                    <a:p>
                      <a:pPr algn="l"/>
                      <a:r>
                        <a:rPr sz="1100" b="0" i="0">
                          <a:solidFill>
                            <a:srgbClr val="000000"/>
                          </a:solidFill>
                          <a:latin typeface="Calibri"/>
                        </a:rPr>
                        <a:t>16.2.3.</a:t>
                      </a:r>
                      <a:r>
                        <a:rPr sz="700" b="0" i="0">
                          <a:solidFill>
                            <a:srgbClr val="000000"/>
                          </a:solidFill>
                          <a:latin typeface="Times New Roman"/>
                        </a:rPr>
                        <a:t> </a:t>
                      </a:r>
                      <a:r>
                        <a:rPr sz="1100" b="0" i="0">
                          <a:solidFill>
                            <a:srgbClr val="000000"/>
                          </a:solidFill>
                          <a:latin typeface="Calibri"/>
                        </a:rPr>
                        <a:t>Economic Side Drivers</a:t>
                      </a:r>
                      <a:endParaRPr sz="1100"/>
                    </a:p>
                  </a:txBody>
                  <a:tcPr marL="771525" marR="9525" marT="9525" marB="0" anchor="ctr"/>
                </a:tc>
              </a:tr>
              <a:tr h="175260">
                <a:tc>
                  <a:txBody>
                    <a:bodyPr wrap="square"/>
                    <a:lstStyle/>
                    <a:p>
                      <a:pPr algn="l"/>
                      <a:r>
                        <a:rPr sz="1100" b="0" i="0">
                          <a:solidFill>
                            <a:srgbClr val="0070C0"/>
                          </a:solidFill>
                          <a:latin typeface="Calibri"/>
                        </a:rPr>
                        <a:t>16.3.</a:t>
                      </a:r>
                      <a:r>
                        <a:rPr sz="700" b="0" i="0">
                          <a:solidFill>
                            <a:srgbClr val="0070C0"/>
                          </a:solidFill>
                          <a:latin typeface="Times New Roman"/>
                        </a:rPr>
                        <a:t>  </a:t>
                      </a:r>
                      <a:r>
                        <a:rPr sz="1100" b="0" i="0">
                          <a:solidFill>
                            <a:srgbClr val="0070C0"/>
                          </a:solidFill>
                          <a:latin typeface="Calibri"/>
                        </a:rPr>
                        <a:t>Country Level Restraints</a:t>
                      </a:r>
                      <a:endParaRPr sz="1100"/>
                    </a:p>
                  </a:txBody>
                  <a:tcPr marL="428625" marR="9525" marT="9525" marB="0" anchor="ctr"/>
                </a:tc>
              </a:tr>
              <a:tr h="175260">
                <a:tc>
                  <a:txBody>
                    <a:bodyPr wrap="square"/>
                    <a:lstStyle/>
                    <a:p>
                      <a:pPr algn="l"/>
                      <a:r>
                        <a:rPr sz="1100" b="0" i="0">
                          <a:solidFill>
                            <a:srgbClr val="0070C0"/>
                          </a:solidFill>
                          <a:latin typeface="Calibri"/>
                        </a:rPr>
                        <a:t>16.4.</a:t>
                      </a:r>
                      <a:r>
                        <a:rPr sz="700" b="0" i="0">
                          <a:solidFill>
                            <a:srgbClr val="0070C0"/>
                          </a:solidFill>
                          <a:latin typeface="Times New Roman"/>
                        </a:rPr>
                        <a:t>  </a:t>
                      </a:r>
                      <a:r>
                        <a:rPr sz="1100" b="0" i="0">
                          <a:solidFill>
                            <a:srgbClr val="0070C0"/>
                          </a:solidFill>
                          <a:latin typeface="Calibri"/>
                        </a:rPr>
                        <a:t>Country Level Opportunity</a:t>
                      </a:r>
                      <a:endParaRPr sz="1100"/>
                    </a:p>
                  </a:txBody>
                  <a:tcPr marL="428625" marR="9525" marT="9525" marB="0" anchor="ctr"/>
                </a:tc>
              </a:tr>
              <a:tr h="175260">
                <a:tc>
                  <a:txBody>
                    <a:bodyPr wrap="square"/>
                    <a:lstStyle/>
                    <a:p>
                      <a:pPr algn="l"/>
                      <a:r>
                        <a:rPr sz="1100" b="0" i="0">
                          <a:solidFill>
                            <a:srgbClr val="0070C0"/>
                          </a:solidFill>
                          <a:latin typeface="Calibri"/>
                        </a:rPr>
                        <a:t>16.5.</a:t>
                      </a:r>
                      <a:r>
                        <a:rPr sz="700" b="0" i="0">
                          <a:solidFill>
                            <a:srgbClr val="0070C0"/>
                          </a:solidFill>
                          <a:latin typeface="Times New Roman"/>
                        </a:rPr>
                        <a:t>  </a:t>
                      </a:r>
                      <a:r>
                        <a:rPr sz="1100" b="0" i="0">
                          <a:solidFill>
                            <a:srgbClr val="0070C0"/>
                          </a:solidFill>
                          <a:latin typeface="Calibri"/>
                        </a:rPr>
                        <a:t>Country Level Market Trends</a:t>
                      </a:r>
                      <a:endParaRPr sz="1100"/>
                    </a:p>
                  </a:txBody>
                  <a:tcPr marL="428625" marR="9525" marT="9525" marB="0" anchor="ctr"/>
                </a:tc>
              </a:tr>
              <a:tr h="175260">
                <a:tc>
                  <a:txBody>
                    <a:bodyPr wrap="square"/>
                    <a:lstStyle/>
                    <a:p>
                      <a:pPr algn="l"/>
                      <a:r>
                        <a:rPr sz="1100" b="0" i="0">
                          <a:solidFill>
                            <a:srgbClr val="0070C0"/>
                          </a:solidFill>
                          <a:latin typeface="Calibri"/>
                        </a:rPr>
                        <a:t>16.6.</a:t>
                      </a:r>
                      <a:r>
                        <a:rPr sz="700" b="0" i="0">
                          <a:solidFill>
                            <a:srgbClr val="0070C0"/>
                          </a:solidFill>
                          <a:latin typeface="Times New Roman"/>
                        </a:rPr>
                        <a:t>  </a:t>
                      </a:r>
                      <a:r>
                        <a:rPr sz="1100" b="0" i="0">
                          <a:solidFill>
                            <a:srgbClr val="0070C0"/>
                          </a:solidFill>
                          <a:latin typeface="Calibri"/>
                        </a:rPr>
                        <a:t>Forecast Factors – Top 20 Drivers by Relevance &amp; Impact</a:t>
                      </a:r>
                      <a:endParaRPr sz="1100"/>
                    </a:p>
                  </a:txBody>
                  <a:tcPr marL="428625" marR="9525" marT="9525" marB="0" anchor="ctr"/>
                </a:tc>
              </a:tr>
              <a:tr h="175260">
                <a:tc>
                  <a:txBody>
                    <a:bodyPr wrap="square"/>
                    <a:lstStyle/>
                    <a:p>
                      <a:pPr algn="l"/>
                      <a:r>
                        <a:rPr sz="1100" b="0" i="0">
                          <a:solidFill>
                            <a:srgbClr val="0070C0"/>
                          </a:solidFill>
                          <a:latin typeface="Calibri"/>
                        </a:rPr>
                        <a:t>16.7.</a:t>
                      </a:r>
                      <a:r>
                        <a:rPr sz="700" b="0" i="0">
                          <a:solidFill>
                            <a:srgbClr val="0070C0"/>
                          </a:solidFill>
                          <a:latin typeface="Times New Roman"/>
                        </a:rPr>
                        <a:t>  </a:t>
                      </a:r>
                      <a:r>
                        <a:rPr sz="1100" b="0" i="0">
                          <a:solidFill>
                            <a:srgbClr val="0070C0"/>
                          </a:solidFill>
                          <a:latin typeface="Calibri"/>
                        </a:rPr>
                        <a:t>Regional Macro-&amp; Micro Economic Indicators</a:t>
                      </a:r>
                      <a:endParaRPr sz="1100"/>
                    </a:p>
                  </a:txBody>
                  <a:tcPr marL="428625" marR="9525" marT="9525" marB="0" anchor="ctr"/>
                </a:tc>
              </a:tr>
              <a:tr h="175260">
                <a:tc>
                  <a:txBody>
                    <a:bodyPr wrap="square"/>
                    <a:lstStyle/>
                    <a:p>
                      <a:pPr algn="l"/>
                      <a:r>
                        <a:rPr sz="1100" b="0" i="0">
                          <a:solidFill>
                            <a:srgbClr val="0070C0"/>
                          </a:solidFill>
                          <a:latin typeface="Calibri"/>
                        </a:rPr>
                        <a:t>16.8.</a:t>
                      </a:r>
                      <a:r>
                        <a:rPr sz="700" b="0" i="0">
                          <a:solidFill>
                            <a:srgbClr val="0070C0"/>
                          </a:solidFill>
                          <a:latin typeface="Times New Roman"/>
                        </a:rPr>
                        <a:t>  </a:t>
                      </a:r>
                      <a:r>
                        <a:rPr sz="1100" b="0" i="0">
                          <a:solidFill>
                            <a:srgbClr val="0070C0"/>
                          </a:solidFill>
                          <a:latin typeface="Calibri"/>
                        </a:rPr>
                        <a:t>PESTEL Analysis</a:t>
                      </a:r>
                      <a:endParaRPr sz="1100"/>
                    </a:p>
                  </a:txBody>
                  <a:tcPr marL="428625" marR="9525" marT="9525" marB="0" anchor="ctr"/>
                </a:tc>
              </a:tr>
              <a:tr h="175260">
                <a:tc>
                  <a:txBody>
                    <a:bodyPr wrap="square"/>
                    <a:lstStyle/>
                    <a:p>
                      <a:pPr algn="l"/>
                      <a:r>
                        <a:rPr sz="1100" b="0" i="0">
                          <a:solidFill>
                            <a:srgbClr val="0070C0"/>
                          </a:solidFill>
                          <a:latin typeface="Calibri"/>
                        </a:rPr>
                        <a:t>16.9.</a:t>
                      </a:r>
                      <a:r>
                        <a:rPr sz="700" b="0" i="0">
                          <a:solidFill>
                            <a:srgbClr val="0070C0"/>
                          </a:solidFill>
                          <a:latin typeface="Times New Roman"/>
                        </a:rPr>
                        <a:t>  </a:t>
                      </a:r>
                      <a:r>
                        <a:rPr sz="1100" b="0" i="0">
                          <a:solidFill>
                            <a:srgbClr val="0070C0"/>
                          </a:solidFill>
                          <a:latin typeface="Calibri"/>
                        </a:rPr>
                        <a:t>Porter’s Analysis</a:t>
                      </a:r>
                      <a:endParaRPr sz="1100"/>
                    </a:p>
                  </a:txBody>
                  <a:tcPr marL="428625" marR="9525" marT="9525" marB="0" anchor="ctr"/>
                </a:tc>
              </a:tr>
              <a:tr h="175260">
                <a:tc>
                  <a:txBody>
                    <a:bodyPr wrap="square"/>
                    <a:lstStyle/>
                    <a:p>
                      <a:pPr algn="l"/>
                      <a:r>
                        <a:rPr sz="1100" b="1" i="0">
                          <a:solidFill>
                            <a:srgbClr val="000000"/>
                          </a:solidFill>
                          <a:latin typeface="Calibri"/>
                        </a:rPr>
                        <a:t>17.</a:t>
                      </a:r>
                      <a:r>
                        <a:rPr sz="700" b="1" i="0">
                          <a:solidFill>
                            <a:srgbClr val="000000"/>
                          </a:solidFill>
                          <a:latin typeface="Times New Roman"/>
                        </a:rPr>
                        <a:t>    </a:t>
                      </a:r>
                      <a:r>
                        <a:rPr sz="1100" b="1" i="0">
                          <a:solidFill>
                            <a:srgbClr val="000000"/>
                          </a:solidFill>
                          <a:latin typeface="Calibri"/>
                        </a:rPr>
                        <a:t>Regulations</a:t>
                      </a:r>
                      <a:endParaRPr sz="1100"/>
                    </a:p>
                  </a:txBody>
                  <a:tcPr marL="171450" marR="9525" marT="9525" marB="0" anchor="ctr"/>
                </a:tc>
              </a:tr>
              <a:tr h="175260">
                <a:tc>
                  <a:txBody>
                    <a:bodyPr wrap="square"/>
                    <a:lstStyle/>
                    <a:p>
                      <a:pPr algn="l"/>
                      <a:r>
                        <a:rPr sz="1100" b="0" i="0">
                          <a:solidFill>
                            <a:srgbClr val="0070C0"/>
                          </a:solidFill>
                          <a:latin typeface="Calibri"/>
                        </a:rPr>
                        <a:t>17.1.</a:t>
                      </a:r>
                      <a:r>
                        <a:rPr sz="700" b="0" i="0">
                          <a:solidFill>
                            <a:srgbClr val="0070C0"/>
                          </a:solidFill>
                          <a:latin typeface="Times New Roman"/>
                        </a:rPr>
                        <a:t>  </a:t>
                      </a:r>
                      <a:r>
                        <a:rPr sz="1100" b="0" i="0">
                          <a:solidFill>
                            <a:srgbClr val="0070C0"/>
                          </a:solidFill>
                          <a:latin typeface="Calibri"/>
                        </a:rPr>
                        <a:t>Certifications and Certifying Agency Overview</a:t>
                      </a:r>
                      <a:endParaRPr sz="1100"/>
                    </a:p>
                  </a:txBody>
                  <a:tcPr marL="428625" marR="9525" marT="9525" marB="0" anchor="ctr"/>
                </a:tc>
              </a:tr>
              <a:tr h="175260">
                <a:tc>
                  <a:txBody>
                    <a:bodyPr wrap="square"/>
                    <a:lstStyle/>
                    <a:p>
                      <a:pPr algn="l"/>
                      <a:r>
                        <a:rPr sz="1100" b="0" i="0">
                          <a:solidFill>
                            <a:srgbClr val="0070C0"/>
                          </a:solidFill>
                          <a:latin typeface="Calibri"/>
                        </a:rPr>
                        <a:t>17.2.</a:t>
                      </a:r>
                      <a:r>
                        <a:rPr sz="700" b="0" i="0">
                          <a:solidFill>
                            <a:srgbClr val="0070C0"/>
                          </a:solidFill>
                          <a:latin typeface="Times New Roman"/>
                        </a:rPr>
                        <a:t>  </a:t>
                      </a:r>
                      <a:r>
                        <a:rPr sz="1100" b="0" i="0">
                          <a:solidFill>
                            <a:srgbClr val="0070C0"/>
                          </a:solidFill>
                          <a:latin typeface="Calibri"/>
                        </a:rPr>
                        <a:t>Import/Export Policies</a:t>
                      </a:r>
                      <a:endParaRPr sz="1100"/>
                    </a:p>
                  </a:txBody>
                  <a:tcPr marL="428625" marR="9525" marT="9525" marB="0" anchor="ctr"/>
                </a:tc>
              </a:tr>
              <a:tr h="175260">
                <a:tc>
                  <a:txBody>
                    <a:bodyPr wrap="square"/>
                    <a:lstStyle/>
                    <a:p>
                      <a:pPr algn="l"/>
                      <a:r>
                        <a:rPr sz="1100" b="0" i="0">
                          <a:solidFill>
                            <a:srgbClr val="0070C0"/>
                          </a:solidFill>
                          <a:latin typeface="Calibri"/>
                        </a:rPr>
                        <a:t>17.3.</a:t>
                      </a:r>
                      <a:r>
                        <a:rPr sz="700" b="0" i="0">
                          <a:solidFill>
                            <a:srgbClr val="0070C0"/>
                          </a:solidFill>
                          <a:latin typeface="Times New Roman"/>
                        </a:rPr>
                        <a:t>  </a:t>
                      </a:r>
                      <a:r>
                        <a:rPr sz="1100" b="0" i="0">
                          <a:solidFill>
                            <a:srgbClr val="0070C0"/>
                          </a:solidFill>
                          <a:latin typeface="Calibri"/>
                        </a:rPr>
                        <a:t>Formula Requirements</a:t>
                      </a:r>
                      <a:endParaRPr sz="1100"/>
                    </a:p>
                  </a:txBody>
                  <a:tcPr marL="428625" marR="9525" marT="9525" marB="0" anchor="ctr"/>
                </a:tc>
              </a:tr>
              <a:tr h="175260">
                <a:tc>
                  <a:txBody>
                    <a:bodyPr wrap="square"/>
                    <a:lstStyle/>
                    <a:p>
                      <a:pPr algn="l"/>
                      <a:r>
                        <a:rPr sz="1100" b="0" i="0">
                          <a:solidFill>
                            <a:srgbClr val="0070C0"/>
                          </a:solidFill>
                          <a:latin typeface="Calibri"/>
                        </a:rPr>
                        <a:t>17.4.</a:t>
                      </a:r>
                      <a:r>
                        <a:rPr sz="700" b="0" i="0">
                          <a:solidFill>
                            <a:srgbClr val="0070C0"/>
                          </a:solidFill>
                          <a:latin typeface="Times New Roman"/>
                        </a:rPr>
                        <a:t>  </a:t>
                      </a:r>
                      <a:r>
                        <a:rPr sz="1100" b="0" i="0">
                          <a:solidFill>
                            <a:srgbClr val="0070C0"/>
                          </a:solidFill>
                          <a:latin typeface="Calibri"/>
                        </a:rPr>
                        <a:t>Standards as per institutions</a:t>
                      </a:r>
                      <a:endParaRPr sz="1100"/>
                    </a:p>
                  </a:txBody>
                  <a:tcPr marL="428625" marR="9525" marT="9525" marB="0" anchor="ctr"/>
                </a:tc>
              </a:tr>
              <a:tr h="175260">
                <a:tc>
                  <a:txBody>
                    <a:bodyPr wrap="square"/>
                    <a:lstStyle/>
                    <a:p>
                      <a:pPr algn="l"/>
                      <a:r>
                        <a:rPr sz="1100" b="0" i="0">
                          <a:solidFill>
                            <a:srgbClr val="000000"/>
                          </a:solidFill>
                          <a:latin typeface="Calibri"/>
                        </a:rPr>
                        <a:t>17.4.1.</a:t>
                      </a:r>
                      <a:r>
                        <a:rPr sz="700" b="0" i="0">
                          <a:solidFill>
                            <a:srgbClr val="000000"/>
                          </a:solidFill>
                          <a:latin typeface="Times New Roman"/>
                        </a:rPr>
                        <a:t> </a:t>
                      </a:r>
                      <a:r>
                        <a:rPr sz="1100" b="0" i="0">
                          <a:solidFill>
                            <a:srgbClr val="000000"/>
                          </a:solidFill>
                          <a:latin typeface="Calibri"/>
                        </a:rPr>
                        <a:t>FDA</a:t>
                      </a:r>
                      <a:endParaRPr sz="1100"/>
                    </a:p>
                  </a:txBody>
                  <a:tcPr marL="771525" marR="9525" marT="9525" marB="0" anchor="ctr"/>
                </a:tc>
              </a:tr>
              <a:tr h="175260">
                <a:tc>
                  <a:txBody>
                    <a:bodyPr wrap="square"/>
                    <a:lstStyle/>
                    <a:p>
                      <a:pPr algn="l"/>
                      <a:r>
                        <a:rPr sz="1100" b="0" i="0">
                          <a:solidFill>
                            <a:srgbClr val="000000"/>
                          </a:solidFill>
                          <a:latin typeface="Calibri"/>
                        </a:rPr>
                        <a:t>17.4.2.</a:t>
                      </a:r>
                      <a:r>
                        <a:rPr sz="700" b="0" i="0">
                          <a:solidFill>
                            <a:srgbClr val="000000"/>
                          </a:solidFill>
                          <a:latin typeface="Times New Roman"/>
                        </a:rPr>
                        <a:t> </a:t>
                      </a:r>
                      <a:r>
                        <a:rPr sz="1100" b="0" i="0">
                          <a:solidFill>
                            <a:srgbClr val="000000"/>
                          </a:solidFill>
                          <a:latin typeface="Calibri"/>
                        </a:rPr>
                        <a:t>USDA</a:t>
                      </a:r>
                      <a:endParaRPr sz="1100"/>
                    </a:p>
                  </a:txBody>
                  <a:tcPr marL="771525" marR="9525" marT="9525" marB="0" anchor="ctr"/>
                </a:tc>
              </a:tr>
              <a:tr h="175260">
                <a:tc>
                  <a:txBody>
                    <a:bodyPr wrap="square"/>
                    <a:lstStyle/>
                    <a:p>
                      <a:pPr algn="l"/>
                      <a:r>
                        <a:rPr sz="1100" b="0" i="0">
                          <a:solidFill>
                            <a:srgbClr val="000000"/>
                          </a:solidFill>
                          <a:latin typeface="Calibri"/>
                        </a:rPr>
                        <a:t>17.4.3.</a:t>
                      </a:r>
                      <a:r>
                        <a:rPr sz="700" b="0" i="0">
                          <a:solidFill>
                            <a:srgbClr val="000000"/>
                          </a:solidFill>
                          <a:latin typeface="Times New Roman"/>
                        </a:rPr>
                        <a:t> </a:t>
                      </a:r>
                      <a:r>
                        <a:rPr sz="1100" b="0" i="0">
                          <a:solidFill>
                            <a:srgbClr val="000000"/>
                          </a:solidFill>
                          <a:latin typeface="Calibri"/>
                        </a:rPr>
                        <a:t>FASSAI</a:t>
                      </a:r>
                      <a:endParaRPr sz="1100"/>
                    </a:p>
                  </a:txBody>
                  <a:tcPr marL="771525" marR="9525" marT="9525" marB="0" anchor="ctr"/>
                </a:tc>
              </a:tr>
              <a:tr h="175260">
                <a:tc>
                  <a:txBody>
                    <a:bodyPr wrap="square"/>
                    <a:lstStyle/>
                    <a:p>
                      <a:pPr algn="l"/>
                      <a:r>
                        <a:rPr sz="1100" b="0" i="0">
                          <a:solidFill>
                            <a:srgbClr val="000000"/>
                          </a:solidFill>
                          <a:latin typeface="Calibri"/>
                        </a:rPr>
                        <a:t>17.4.4.</a:t>
                      </a:r>
                      <a:r>
                        <a:rPr sz="700" b="0" i="0">
                          <a:solidFill>
                            <a:srgbClr val="000000"/>
                          </a:solidFill>
                          <a:latin typeface="Times New Roman"/>
                        </a:rPr>
                        <a:t> </a:t>
                      </a:r>
                      <a:r>
                        <a:rPr sz="1100" b="0" i="0">
                          <a:solidFill>
                            <a:srgbClr val="000000"/>
                          </a:solidFill>
                          <a:latin typeface="Calibri"/>
                        </a:rPr>
                        <a:t>EU Commissions</a:t>
                      </a:r>
                      <a:endParaRPr sz="1100"/>
                    </a:p>
                  </a:txBody>
                  <a:tcPr marL="771525" marR="9525" marT="9525" marB="0" anchor="ctr"/>
                </a:tc>
              </a:tr>
              <a:tr h="175260">
                <a:tc>
                  <a:txBody>
                    <a:bodyPr wrap="square"/>
                    <a:lstStyle/>
                    <a:p>
                      <a:pPr algn="l"/>
                      <a:r>
                        <a:rPr sz="1100" b="1" i="0">
                          <a:solidFill>
                            <a:srgbClr val="000000"/>
                          </a:solidFill>
                          <a:latin typeface="Calibri"/>
                        </a:rPr>
                        <a:t>Section 5: Production and Trade Outlook</a:t>
                      </a:r>
                      <a:endParaRPr sz="1100"/>
                    </a:p>
                  </a:txBody>
                  <a:tcPr marL="9525" marR="9525" marT="9525" marB="0" anchor="ctr"/>
                </a:tc>
              </a:tr>
              <a:tr h="175260">
                <a:tc>
                  <a:txBody>
                    <a:bodyPr wrap="square"/>
                    <a:lstStyle/>
                    <a:p>
                      <a:pPr algn="l"/>
                      <a:r>
                        <a:rPr sz="1100" b="1" i="0">
                          <a:solidFill>
                            <a:srgbClr val="000000"/>
                          </a:solidFill>
                          <a:latin typeface="Calibri"/>
                        </a:rPr>
                        <a:t>18.</a:t>
                      </a:r>
                      <a:r>
                        <a:rPr sz="700" b="1" i="0">
                          <a:solidFill>
                            <a:srgbClr val="000000"/>
                          </a:solidFill>
                          <a:latin typeface="Times New Roman"/>
                        </a:rPr>
                        <a:t>    </a:t>
                      </a:r>
                      <a:r>
                        <a:rPr sz="1100" b="1" i="0">
                          <a:solidFill>
                            <a:srgbClr val="000000"/>
                          </a:solidFill>
                          <a:latin typeface="Calibri"/>
                        </a:rPr>
                        <a:t>Global Market- Production and Trade Analysis</a:t>
                      </a:r>
                      <a:endParaRPr sz="1100"/>
                    </a:p>
                  </a:txBody>
                  <a:tcPr marL="171450" marR="9525" marT="9525" marB="0" anchor="ctr"/>
                </a:tc>
              </a:tr>
              <a:tr h="175260">
                <a:tc>
                  <a:txBody>
                    <a:bodyPr wrap="square"/>
                    <a:lstStyle/>
                    <a:p>
                      <a:pPr algn="l"/>
                      <a:r>
                        <a:rPr sz="1100" b="0" i="0">
                          <a:solidFill>
                            <a:srgbClr val="0070C0"/>
                          </a:solidFill>
                          <a:latin typeface="Calibri"/>
                        </a:rPr>
                        <a:t>18.1.</a:t>
                      </a:r>
                      <a:r>
                        <a:rPr sz="700" b="0" i="0">
                          <a:solidFill>
                            <a:srgbClr val="0070C0"/>
                          </a:solidFill>
                          <a:latin typeface="Times New Roman"/>
                        </a:rPr>
                        <a:t>  </a:t>
                      </a:r>
                      <a:r>
                        <a:rPr sz="1100" b="0" i="0">
                          <a:solidFill>
                            <a:srgbClr val="0070C0"/>
                          </a:solidFill>
                          <a:latin typeface="Calibri"/>
                        </a:rPr>
                        <a:t>Production Volume (UNITS), (2021-2026) by Region/ Country</a:t>
                      </a:r>
                      <a:endParaRPr sz="1100"/>
                    </a:p>
                  </a:txBody>
                  <a:tcPr marL="428625" marR="9525" marT="9525" marB="0" anchor="ctr"/>
                </a:tc>
              </a:tr>
              <a:tr h="175260">
                <a:tc>
                  <a:txBody>
                    <a:bodyPr wrap="square"/>
                    <a:lstStyle/>
                    <a:p>
                      <a:pPr algn="l"/>
                      <a:r>
                        <a:rPr sz="1100" b="0" i="0">
                          <a:solidFill>
                            <a:srgbClr val="0070C0"/>
                          </a:solidFill>
                          <a:latin typeface="Calibri"/>
                        </a:rPr>
                        <a:t>18.2.</a:t>
                      </a:r>
                      <a:r>
                        <a:rPr sz="700" b="0" i="0">
                          <a:solidFill>
                            <a:srgbClr val="0070C0"/>
                          </a:solidFill>
                          <a:latin typeface="Times New Roman"/>
                        </a:rPr>
                        <a:t>  </a:t>
                      </a:r>
                      <a:r>
                        <a:rPr sz="1100" b="0" i="0">
                          <a:solidFill>
                            <a:srgbClr val="0070C0"/>
                          </a:solidFill>
                          <a:latin typeface="Calibri"/>
                        </a:rPr>
                        <a:t>Exports: Key Countries, Share &amp; Value (US$ Mn / UNITS)</a:t>
                      </a:r>
                      <a:endParaRPr sz="1100"/>
                    </a:p>
                  </a:txBody>
                  <a:tcPr marL="428625" marR="9525" marT="9525" marB="0" anchor="ctr"/>
                </a:tc>
              </a:tr>
              <a:tr h="175260">
                <a:tc>
                  <a:txBody>
                    <a:bodyPr wrap="square"/>
                    <a:lstStyle/>
                    <a:p>
                      <a:pPr algn="l"/>
                      <a:r>
                        <a:rPr sz="1100" b="0" i="0">
                          <a:solidFill>
                            <a:srgbClr val="0070C0"/>
                          </a:solidFill>
                          <a:latin typeface="Calibri"/>
                        </a:rPr>
                        <a:t>18.3.</a:t>
                      </a:r>
                      <a:r>
                        <a:rPr sz="700" b="0" i="0">
                          <a:solidFill>
                            <a:srgbClr val="0070C0"/>
                          </a:solidFill>
                          <a:latin typeface="Times New Roman"/>
                        </a:rPr>
                        <a:t>  </a:t>
                      </a:r>
                      <a:r>
                        <a:rPr sz="1100" b="0" i="0">
                          <a:solidFill>
                            <a:srgbClr val="0070C0"/>
                          </a:solidFill>
                          <a:latin typeface="Calibri"/>
                        </a:rPr>
                        <a:t>Imports: Key Countries, Share &amp; Value (US$ Mn / UNITS)</a:t>
                      </a:r>
                      <a:endParaRPr sz="1100"/>
                    </a:p>
                  </a:txBody>
                  <a:tcPr marL="428625" marR="9525" marT="9525" marB="0" anchor="ctr"/>
                </a:tc>
              </a:tr>
              <a:tr h="175260">
                <a:tc>
                  <a:txBody>
                    <a:bodyPr wrap="square"/>
                    <a:lstStyle/>
                    <a:p>
                      <a:pPr algn="l"/>
                      <a:r>
                        <a:rPr sz="1100" b="0" i="0">
                          <a:solidFill>
                            <a:srgbClr val="0070C0"/>
                          </a:solidFill>
                          <a:latin typeface="Calibri"/>
                        </a:rPr>
                        <a:t>18.4.</a:t>
                      </a:r>
                      <a:r>
                        <a:rPr sz="700" b="0" i="0">
                          <a:solidFill>
                            <a:srgbClr val="0070C0"/>
                          </a:solidFill>
                          <a:latin typeface="Times New Roman"/>
                        </a:rPr>
                        <a:t>  </a:t>
                      </a:r>
                      <a:r>
                        <a:rPr sz="1100" b="0" i="0">
                          <a:solidFill>
                            <a:srgbClr val="0070C0"/>
                          </a:solidFill>
                          <a:latin typeface="Calibri"/>
                        </a:rPr>
                        <a:t>Global Supply-Demand Overview (Prod., Sales, Import, Export)</a:t>
                      </a:r>
                      <a:endParaRPr sz="1100"/>
                    </a:p>
                  </a:txBody>
                  <a:tcPr marL="428625" marR="9525" marT="9525" marB="0" anchor="ctr"/>
                </a:tc>
              </a:tr>
              <a:tr h="175260">
                <a:tc>
                  <a:txBody>
                    <a:bodyPr wrap="square"/>
                    <a:lstStyle/>
                    <a:p>
                      <a:pPr algn="l"/>
                      <a:r>
                        <a:rPr sz="1100" b="1" i="0">
                          <a:solidFill>
                            <a:srgbClr val="000000"/>
                          </a:solidFill>
                          <a:latin typeface="Calibri"/>
                        </a:rPr>
                        <a:t>19.</a:t>
                      </a:r>
                      <a:r>
                        <a:rPr sz="700" b="1" i="0">
                          <a:solidFill>
                            <a:srgbClr val="000000"/>
                          </a:solidFill>
                          <a:latin typeface="Times New Roman"/>
                        </a:rPr>
                        <a:t>    </a:t>
                      </a:r>
                      <a:r>
                        <a:rPr sz="1100" b="1" i="0">
                          <a:solidFill>
                            <a:srgbClr val="000000"/>
                          </a:solidFill>
                          <a:latin typeface="Calibri"/>
                        </a:rPr>
                        <a:t>Value Chain Analysis</a:t>
                      </a:r>
                      <a:endParaRPr sz="1100"/>
                    </a:p>
                  </a:txBody>
                  <a:tcPr marL="171450" marR="9525" marT="9525" marB="0" anchor="ctr"/>
                </a:tc>
              </a:tr>
              <a:tr h="175260">
                <a:tc>
                  <a:txBody>
                    <a:bodyPr wrap="square"/>
                    <a:lstStyle/>
                    <a:p>
                      <a:pPr algn="l"/>
                      <a:r>
                        <a:rPr sz="1100" b="0" i="0">
                          <a:solidFill>
                            <a:srgbClr val="0070C0"/>
                          </a:solidFill>
                          <a:latin typeface="Calibri"/>
                        </a:rPr>
                        <a:t>19.1.</a:t>
                      </a:r>
                      <a:r>
                        <a:rPr sz="700" b="0" i="0">
                          <a:solidFill>
                            <a:srgbClr val="0070C0"/>
                          </a:solidFill>
                          <a:latin typeface="Times New Roman"/>
                        </a:rPr>
                        <a:t>  </a:t>
                      </a:r>
                      <a:r>
                        <a:rPr sz="1100" b="0" i="0">
                          <a:solidFill>
                            <a:srgbClr val="0070C0"/>
                          </a:solidFill>
                          <a:latin typeface="Calibri"/>
                        </a:rPr>
                        <a:t>Industry-Wide Operating Margin</a:t>
                      </a:r>
                      <a:endParaRPr sz="1100"/>
                    </a:p>
                  </a:txBody>
                  <a:tcPr marL="428625" marR="9525" marT="9525" marB="0" anchor="ctr"/>
                </a:tc>
              </a:tr>
              <a:tr h="175260">
                <a:tc>
                  <a:txBody>
                    <a:bodyPr wrap="square"/>
                    <a:lstStyle/>
                    <a:p>
                      <a:pPr algn="l"/>
                      <a:r>
                        <a:rPr sz="1100" b="0" i="0">
                          <a:solidFill>
                            <a:srgbClr val="000000"/>
                          </a:solidFill>
                          <a:latin typeface="Calibri"/>
                        </a:rPr>
                        <a:t>19.1.1.</a:t>
                      </a:r>
                      <a:r>
                        <a:rPr sz="700" b="0" i="0">
                          <a:solidFill>
                            <a:srgbClr val="000000"/>
                          </a:solidFill>
                          <a:latin typeface="Times New Roman"/>
                        </a:rPr>
                        <a:t> </a:t>
                      </a:r>
                      <a:r>
                        <a:rPr sz="1100" b="0" i="0">
                          <a:solidFill>
                            <a:srgbClr val="000000"/>
                          </a:solidFill>
                          <a:latin typeface="Calibri"/>
                        </a:rPr>
                        <a:t>Operating margins at each node of supply chain</a:t>
                      </a:r>
                      <a:endParaRPr sz="1100"/>
                    </a:p>
                  </a:txBody>
                  <a:tcPr marL="771525" marR="9525" marT="9525" marB="0" anchor="ctr"/>
                </a:tc>
              </a:tr>
              <a:tr h="175260">
                <a:tc>
                  <a:txBody>
                    <a:bodyPr wrap="square"/>
                    <a:lstStyle/>
                    <a:p>
                      <a:pPr algn="l"/>
                      <a:r>
                        <a:rPr sz="1100" b="0" i="0">
                          <a:solidFill>
                            <a:srgbClr val="000000"/>
                          </a:solidFill>
                          <a:latin typeface="Calibri"/>
                        </a:rPr>
                        <a:t>19.1.2.</a:t>
                      </a:r>
                      <a:r>
                        <a:rPr sz="700" b="0" i="0">
                          <a:solidFill>
                            <a:srgbClr val="000000"/>
                          </a:solidFill>
                          <a:latin typeface="Times New Roman"/>
                        </a:rPr>
                        <a:t> </a:t>
                      </a:r>
                      <a:r>
                        <a:rPr sz="1100" b="0" i="0">
                          <a:solidFill>
                            <a:srgbClr val="000000"/>
                          </a:solidFill>
                          <a:latin typeface="Calibri"/>
                        </a:rPr>
                        <a:t>Operating margins Comparison to Parent/Associated Market</a:t>
                      </a:r>
                      <a:endParaRPr sz="1100"/>
                    </a:p>
                  </a:txBody>
                  <a:tcPr marL="771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(6/6)</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19.2.</a:t>
                      </a:r>
                      <a:r>
                        <a:rPr sz="700" b="0" i="0">
                          <a:solidFill>
                            <a:srgbClr val="0070C0"/>
                          </a:solidFill>
                          <a:latin typeface="Times New Roman"/>
                        </a:rPr>
                        <a:t>  </a:t>
                      </a:r>
                      <a:r>
                        <a:rPr sz="1100" b="0" i="0">
                          <a:solidFill>
                            <a:srgbClr val="0070C0"/>
                          </a:solidFill>
                          <a:latin typeface="Calibri"/>
                        </a:rPr>
                        <a:t>Margin Optimization Strategies</a:t>
                      </a:r>
                      <a:endParaRPr sz="1100"/>
                    </a:p>
                  </a:txBody>
                  <a:tcPr marL="428625" marR="9525" marT="9525" marB="0" anchor="ctr"/>
                </a:tc>
              </a:tr>
              <a:tr h="175260">
                <a:tc>
                  <a:txBody>
                    <a:bodyPr wrap="square"/>
                    <a:lstStyle/>
                    <a:p>
                      <a:pPr algn="l"/>
                      <a:r>
                        <a:rPr sz="1100" b="0" i="0">
                          <a:solidFill>
                            <a:srgbClr val="0070C0"/>
                          </a:solidFill>
                          <a:latin typeface="Calibri"/>
                        </a:rPr>
                        <a:t>19.3.</a:t>
                      </a:r>
                      <a:r>
                        <a:rPr sz="700" b="0" i="0">
                          <a:solidFill>
                            <a:srgbClr val="0070C0"/>
                          </a:solidFill>
                          <a:latin typeface="Times New Roman"/>
                        </a:rPr>
                        <a:t>  </a:t>
                      </a:r>
                      <a:r>
                        <a:rPr sz="1100" b="0" i="0">
                          <a:solidFill>
                            <a:srgbClr val="0070C0"/>
                          </a:solidFill>
                          <a:latin typeface="Calibri"/>
                        </a:rPr>
                        <a:t>List of Active Market Participants</a:t>
                      </a:r>
                      <a:endParaRPr sz="1100"/>
                    </a:p>
                  </a:txBody>
                  <a:tcPr marL="428625" marR="9525" marT="9525" marB="0" anchor="ctr"/>
                </a:tc>
              </a:tr>
              <a:tr h="175260">
                <a:tc>
                  <a:txBody>
                    <a:bodyPr wrap="square"/>
                    <a:lstStyle/>
                    <a:p>
                      <a:pPr algn="l"/>
                      <a:r>
                        <a:rPr sz="1100" b="0" i="0">
                          <a:solidFill>
                            <a:srgbClr val="000000"/>
                          </a:solidFill>
                          <a:latin typeface="Calibri"/>
                        </a:rPr>
                        <a:t>19.3.1.</a:t>
                      </a:r>
                      <a:r>
                        <a:rPr sz="700" b="0" i="0">
                          <a:solidFill>
                            <a:srgbClr val="000000"/>
                          </a:solidFill>
                          <a:latin typeface="Times New Roman"/>
                        </a:rPr>
                        <a:t> </a:t>
                      </a:r>
                      <a:r>
                        <a:rPr sz="1100" b="0" i="0">
                          <a:solidFill>
                            <a:srgbClr val="000000"/>
                          </a:solidFill>
                          <a:latin typeface="Calibri"/>
                        </a:rPr>
                        <a:t>Product Manufacturers/ Key Brands</a:t>
                      </a:r>
                      <a:endParaRPr sz="1100"/>
                    </a:p>
                  </a:txBody>
                  <a:tcPr marL="771525" marR="9525" marT="9525" marB="0" anchor="ctr"/>
                </a:tc>
              </a:tr>
              <a:tr h="175260">
                <a:tc>
                  <a:txBody>
                    <a:bodyPr wrap="square"/>
                    <a:lstStyle/>
                    <a:p>
                      <a:pPr algn="l"/>
                      <a:r>
                        <a:rPr sz="1100" b="0" i="0">
                          <a:solidFill>
                            <a:srgbClr val="000000"/>
                          </a:solidFill>
                          <a:latin typeface="Calibri"/>
                        </a:rPr>
                        <a:t>19.3.2.</a:t>
                      </a:r>
                      <a:r>
                        <a:rPr sz="700" b="0" i="0">
                          <a:solidFill>
                            <a:srgbClr val="000000"/>
                          </a:solidFill>
                          <a:latin typeface="Times New Roman"/>
                        </a:rPr>
                        <a:t> </a:t>
                      </a:r>
                      <a:r>
                        <a:rPr sz="1100" b="0" i="0">
                          <a:solidFill>
                            <a:srgbClr val="000000"/>
                          </a:solidFill>
                          <a:latin typeface="Calibri"/>
                        </a:rPr>
                        <a:t>Distributors/Suppliers</a:t>
                      </a:r>
                      <a:endParaRPr sz="1100"/>
                    </a:p>
                  </a:txBody>
                  <a:tcPr marL="771525" marR="9525" marT="9525" marB="0" anchor="ctr"/>
                </a:tc>
              </a:tr>
              <a:tr h="175260">
                <a:tc>
                  <a:txBody>
                    <a:bodyPr wrap="square"/>
                    <a:lstStyle/>
                    <a:p>
                      <a:pPr algn="l"/>
                      <a:r>
                        <a:rPr sz="1100" b="0" i="0">
                          <a:solidFill>
                            <a:srgbClr val="000000"/>
                          </a:solidFill>
                          <a:latin typeface="Calibri"/>
                        </a:rPr>
                        <a:t>19.3.3.</a:t>
                      </a:r>
                      <a:r>
                        <a:rPr sz="700" b="0" i="0">
                          <a:solidFill>
                            <a:srgbClr val="000000"/>
                          </a:solidFill>
                          <a:latin typeface="Times New Roman"/>
                        </a:rPr>
                        <a:t> </a:t>
                      </a:r>
                      <a:r>
                        <a:rPr sz="1100" b="0" i="0">
                          <a:solidFill>
                            <a:srgbClr val="000000"/>
                          </a:solidFill>
                          <a:latin typeface="Calibri"/>
                        </a:rPr>
                        <a:t>End Users</a:t>
                      </a:r>
                      <a:endParaRPr sz="1100"/>
                    </a:p>
                  </a:txBody>
                  <a:tcPr marL="771525" marR="9525" marT="9525" marB="0" anchor="ctr"/>
                </a:tc>
              </a:tr>
              <a:tr h="350520">
                <a:tc>
                  <a:txBody>
                    <a:bodyPr wrap="square"/>
                    <a:lstStyle/>
                    <a:p>
                      <a:pPr algn="l"/>
                      <a:r>
                        <a:rPr sz="1100" b="0" i="1">
                          <a:solidFill>
                            <a:srgbClr val="FF0000"/>
                          </a:solidFill>
                          <a:latin typeface="Calibri"/>
                        </a:rPr>
                        <a:t>Note: The section lists 20-30 active market participants. For a comprehensive list, please contact the respective sales personnel</a:t>
                      </a:r>
                      <a:endParaRPr sz="1100"/>
                    </a:p>
                  </a:txBody>
                  <a:tcPr marL="9525" marR="9525" marT="9525" marB="0" anchor="ctr"/>
                </a:tc>
              </a:tr>
              <a:tr h="175260">
                <a:tc>
                  <a:txBody>
                    <a:bodyPr wrap="square"/>
                    <a:lstStyle/>
                    <a:p>
                      <a:pPr algn="l"/>
                      <a:r>
                        <a:rPr sz="1100" b="1" i="0">
                          <a:solidFill>
                            <a:srgbClr val="000000"/>
                          </a:solidFill>
                          <a:latin typeface="Calibri"/>
                        </a:rPr>
                        <a:t>Section 7: Competition Assessment</a:t>
                      </a:r>
                      <a:endParaRPr sz="1100"/>
                    </a:p>
                  </a:txBody>
                  <a:tcPr marL="9525" marR="9525" marT="9525" marB="0" anchor="ctr"/>
                </a:tc>
              </a:tr>
              <a:tr h="175260">
                <a:tc>
                  <a:txBody>
                    <a:bodyPr wrap="square"/>
                    <a:lstStyle/>
                    <a:p>
                      <a:pPr algn="l"/>
                      <a:r>
                        <a:rPr sz="1100" b="1" i="0">
                          <a:solidFill>
                            <a:srgbClr val="000000"/>
                          </a:solidFill>
                          <a:latin typeface="Calibri"/>
                        </a:rPr>
                        <a:t>20.</a:t>
                      </a:r>
                      <a:r>
                        <a:rPr sz="700" b="1" i="0">
                          <a:solidFill>
                            <a:srgbClr val="000000"/>
                          </a:solidFill>
                          <a:latin typeface="Times New Roman"/>
                        </a:rPr>
                        <a:t>    </a:t>
                      </a:r>
                      <a:r>
                        <a:rPr sz="1100" b="1" i="0">
                          <a:solidFill>
                            <a:srgbClr val="000000"/>
                          </a:solidFill>
                          <a:latin typeface="Calibri"/>
                        </a:rPr>
                        <a:t>Competition at a Glance- a Dashboard View</a:t>
                      </a:r>
                      <a:endParaRPr sz="1100"/>
                    </a:p>
                  </a:txBody>
                  <a:tcPr marL="171450" marR="9525" marT="9525" marB="0" anchor="ctr"/>
                </a:tc>
              </a:tr>
              <a:tr h="175260">
                <a:tc>
                  <a:txBody>
                    <a:bodyPr wrap="square"/>
                    <a:lstStyle/>
                    <a:p>
                      <a:pPr algn="l"/>
                      <a:r>
                        <a:rPr sz="1100" b="1" i="0">
                          <a:solidFill>
                            <a:srgbClr val="000000"/>
                          </a:solidFill>
                          <a:latin typeface="Calibri"/>
                        </a:rPr>
                        <a:t>21.</a:t>
                      </a:r>
                      <a:r>
                        <a:rPr sz="700" b="1" i="0">
                          <a:solidFill>
                            <a:srgbClr val="000000"/>
                          </a:solidFill>
                          <a:latin typeface="Times New Roman"/>
                        </a:rPr>
                        <a:t>    </a:t>
                      </a:r>
                      <a:r>
                        <a:rPr sz="1100" b="1" i="0">
                          <a:solidFill>
                            <a:srgbClr val="000000"/>
                          </a:solidFill>
                          <a:latin typeface="Calibri"/>
                        </a:rPr>
                        <a:t>Company Share (%) Analysis, 2023, 2025, 2026</a:t>
                      </a:r>
                      <a:endParaRPr sz="1100"/>
                    </a:p>
                  </a:txBody>
                  <a:tcPr marL="171450" marR="9525" marT="9525" marB="0" anchor="ctr"/>
                </a:tc>
              </a:tr>
              <a:tr h="175260">
                <a:tc>
                  <a:txBody>
                    <a:bodyPr wrap="square"/>
                    <a:lstStyle/>
                    <a:p>
                      <a:pPr algn="l"/>
                      <a:r>
                        <a:rPr sz="1100" b="0" i="0">
                          <a:solidFill>
                            <a:srgbClr val="0070C0"/>
                          </a:solidFill>
                          <a:latin typeface="Calibri"/>
                        </a:rPr>
                        <a:t>21.1.</a:t>
                      </a:r>
                      <a:r>
                        <a:rPr sz="700" b="0" i="0">
                          <a:solidFill>
                            <a:srgbClr val="0070C0"/>
                          </a:solidFill>
                          <a:latin typeface="Times New Roman"/>
                        </a:rPr>
                        <a:t>  </a:t>
                      </a:r>
                      <a:r>
                        <a:rPr sz="1100" b="0" i="0">
                          <a:solidFill>
                            <a:srgbClr val="0070C0"/>
                          </a:solidFill>
                          <a:latin typeface="Calibri"/>
                        </a:rPr>
                        <a:t>By Region</a:t>
                      </a:r>
                      <a:endParaRPr sz="1100"/>
                    </a:p>
                  </a:txBody>
                  <a:tcPr marL="428625" marR="9525" marT="9525" marB="0" anchor="ctr"/>
                </a:tc>
              </a:tr>
              <a:tr h="175260">
                <a:tc>
                  <a:txBody>
                    <a:bodyPr wrap="square"/>
                    <a:lstStyle/>
                    <a:p>
                      <a:pPr algn="l"/>
                      <a:r>
                        <a:rPr sz="1100" b="0" i="0">
                          <a:solidFill>
                            <a:srgbClr val="0070C0"/>
                          </a:solidFill>
                          <a:latin typeface="Calibri"/>
                        </a:rPr>
                        <a:t>21.2.</a:t>
                      </a:r>
                      <a:r>
                        <a:rPr sz="700" b="0" i="0">
                          <a:solidFill>
                            <a:srgbClr val="0070C0"/>
                          </a:solidFill>
                          <a:latin typeface="Times New Roman"/>
                        </a:rPr>
                        <a:t>  </a:t>
                      </a:r>
                      <a:r>
                        <a:rPr sz="1100" b="0" i="0">
                          <a:solidFill>
                            <a:srgbClr val="0070C0"/>
                          </a:solidFill>
                          <a:latin typeface="Calibri"/>
                        </a:rPr>
                        <a:t>By Product Type</a:t>
                      </a:r>
                      <a:endParaRPr sz="1100"/>
                    </a:p>
                  </a:txBody>
                  <a:tcPr marL="428625" marR="9525" marT="9525" marB="0" anchor="ctr"/>
                </a:tc>
              </a:tr>
              <a:tr h="175260">
                <a:tc>
                  <a:txBody>
                    <a:bodyPr wrap="square"/>
                    <a:lstStyle/>
                    <a:p>
                      <a:pPr algn="l"/>
                      <a:r>
                        <a:rPr sz="1100" b="0" i="0">
                          <a:solidFill>
                            <a:srgbClr val="0070C0"/>
                          </a:solidFill>
                          <a:latin typeface="Calibri"/>
                        </a:rPr>
                        <a:t>21.3.</a:t>
                      </a:r>
                      <a:r>
                        <a:rPr sz="700" b="0" i="0">
                          <a:solidFill>
                            <a:srgbClr val="0070C0"/>
                          </a:solidFill>
                          <a:latin typeface="Times New Roman"/>
                        </a:rPr>
                        <a:t>  </a:t>
                      </a:r>
                      <a:r>
                        <a:rPr sz="1100" b="0" i="0">
                          <a:solidFill>
                            <a:srgbClr val="0070C0"/>
                          </a:solidFill>
                          <a:latin typeface="Calibri"/>
                        </a:rPr>
                        <a:t>By End Use Application/ Sales Channel</a:t>
                      </a:r>
                      <a:endParaRPr sz="1100"/>
                    </a:p>
                  </a:txBody>
                  <a:tcPr marL="428625" marR="9525" marT="9525" marB="0" anchor="ctr"/>
                </a:tc>
              </a:tr>
              <a:tr h="175260">
                <a:tc>
                  <a:txBody>
                    <a:bodyPr wrap="square"/>
                    <a:lstStyle/>
                    <a:p>
                      <a:pPr algn="l"/>
                      <a:r>
                        <a:rPr sz="1100" b="1" i="0">
                          <a:solidFill>
                            <a:srgbClr val="000000"/>
                          </a:solidFill>
                          <a:latin typeface="Calibri"/>
                        </a:rPr>
                        <a:t>22.</a:t>
                      </a:r>
                      <a:r>
                        <a:rPr sz="700" b="1" i="0">
                          <a:solidFill>
                            <a:srgbClr val="000000"/>
                          </a:solidFill>
                          <a:latin typeface="Times New Roman"/>
                        </a:rPr>
                        <a:t>    </a:t>
                      </a:r>
                      <a:r>
                        <a:rPr sz="1100" b="1" i="0">
                          <a:solidFill>
                            <a:srgbClr val="000000"/>
                          </a:solidFill>
                          <a:latin typeface="Calibri"/>
                        </a:rPr>
                        <a:t>Company Share Breakdown (2026)</a:t>
                      </a:r>
                      <a:endParaRPr sz="1100"/>
                    </a:p>
                  </a:txBody>
                  <a:tcPr marL="171450" marR="9525" marT="9525" marB="0" anchor="ctr"/>
                </a:tc>
              </a:tr>
              <a:tr h="175260">
                <a:tc>
                  <a:txBody>
                    <a:bodyPr wrap="square"/>
                    <a:lstStyle/>
                    <a:p>
                      <a:pPr algn="l"/>
                      <a:r>
                        <a:rPr sz="1100" b="0" i="0">
                          <a:solidFill>
                            <a:srgbClr val="0070C0"/>
                          </a:solidFill>
                          <a:latin typeface="Calibri"/>
                        </a:rPr>
                        <a:t>22.1.</a:t>
                      </a:r>
                      <a:r>
                        <a:rPr sz="700" b="0" i="0">
                          <a:solidFill>
                            <a:srgbClr val="0070C0"/>
                          </a:solidFill>
                          <a:latin typeface="Times New Roman"/>
                        </a:rPr>
                        <a:t>  </a:t>
                      </a:r>
                      <a:r>
                        <a:rPr sz="1100" b="0" i="0">
                          <a:solidFill>
                            <a:srgbClr val="0070C0"/>
                          </a:solidFill>
                          <a:latin typeface="Calibri"/>
                        </a:rPr>
                        <a:t>Top Players (Tier 1)</a:t>
                      </a:r>
                      <a:endParaRPr sz="1100"/>
                    </a:p>
                  </a:txBody>
                  <a:tcPr marL="428625" marR="9525" marT="9525" marB="0" anchor="ctr"/>
                </a:tc>
              </a:tr>
              <a:tr h="175260">
                <a:tc>
                  <a:txBody>
                    <a:bodyPr wrap="square"/>
                    <a:lstStyle/>
                    <a:p>
                      <a:pPr algn="l"/>
                      <a:r>
                        <a:rPr sz="1100" b="0" i="0">
                          <a:solidFill>
                            <a:srgbClr val="0070C0"/>
                          </a:solidFill>
                          <a:latin typeface="Calibri"/>
                        </a:rPr>
                        <a:t>22.2.</a:t>
                      </a:r>
                      <a:r>
                        <a:rPr sz="700" b="0" i="0">
                          <a:solidFill>
                            <a:srgbClr val="0070C0"/>
                          </a:solidFill>
                          <a:latin typeface="Times New Roman"/>
                        </a:rPr>
                        <a:t>  </a:t>
                      </a:r>
                      <a:r>
                        <a:rPr sz="1100" b="0" i="0">
                          <a:solidFill>
                            <a:srgbClr val="0070C0"/>
                          </a:solidFill>
                          <a:latin typeface="Calibri"/>
                        </a:rPr>
                        <a:t>Mid-Sized Players (Tier 2)</a:t>
                      </a:r>
                      <a:endParaRPr sz="1100"/>
                    </a:p>
                  </a:txBody>
                  <a:tcPr marL="428625" marR="9525" marT="9525" marB="0" anchor="ctr"/>
                </a:tc>
              </a:tr>
              <a:tr h="175260">
                <a:tc>
                  <a:txBody>
                    <a:bodyPr wrap="square"/>
                    <a:lstStyle/>
                    <a:p>
                      <a:pPr algn="l"/>
                      <a:r>
                        <a:rPr sz="1100" b="0" i="0">
                          <a:solidFill>
                            <a:srgbClr val="0070C0"/>
                          </a:solidFill>
                          <a:latin typeface="Calibri"/>
                        </a:rPr>
                        <a:t>22.3.</a:t>
                      </a:r>
                      <a:r>
                        <a:rPr sz="700" b="0" i="0">
                          <a:solidFill>
                            <a:srgbClr val="0070C0"/>
                          </a:solidFill>
                          <a:latin typeface="Times New Roman"/>
                        </a:rPr>
                        <a:t>  </a:t>
                      </a:r>
                      <a:r>
                        <a:rPr sz="1100" b="0" i="0">
                          <a:solidFill>
                            <a:srgbClr val="0070C0"/>
                          </a:solidFill>
                          <a:latin typeface="Calibri"/>
                        </a:rPr>
                        <a:t>Emerging/Local Players (Tier 3)</a:t>
                      </a:r>
                      <a:endParaRPr sz="1100"/>
                    </a:p>
                  </a:txBody>
                  <a:tcPr marL="428625" marR="9525" marT="9525" marB="0" anchor="ctr"/>
                </a:tc>
              </a:tr>
              <a:tr h="175260">
                <a:tc>
                  <a:txBody>
                    <a:bodyPr wrap="square"/>
                    <a:lstStyle/>
                    <a:p>
                      <a:pPr algn="l"/>
                      <a:r>
                        <a:rPr sz="1100" b="1" i="0">
                          <a:solidFill>
                            <a:srgbClr val="000000"/>
                          </a:solidFill>
                          <a:latin typeface="Calibri"/>
                        </a:rPr>
                        <a:t>23.</a:t>
                      </a:r>
                      <a:r>
                        <a:rPr sz="700" b="1" i="0">
                          <a:solidFill>
                            <a:srgbClr val="000000"/>
                          </a:solidFill>
                          <a:latin typeface="Times New Roman"/>
                        </a:rPr>
                        <a:t>    </a:t>
                      </a:r>
                      <a:r>
                        <a:rPr sz="1100" b="1" i="0">
                          <a:solidFill>
                            <a:srgbClr val="000000"/>
                          </a:solidFill>
                          <a:latin typeface="Calibri"/>
                        </a:rPr>
                        <a:t>Company Profile- MNCs</a:t>
                      </a:r>
                      <a:endParaRPr sz="1100"/>
                    </a:p>
                  </a:txBody>
                  <a:tcPr marL="171450" marR="9525" marT="9525" marB="0" anchor="ctr"/>
                </a:tc>
              </a:tr>
              <a:tr h="175260">
                <a:tc>
                  <a:txBody>
                    <a:bodyPr wrap="square"/>
                    <a:lstStyle/>
                    <a:p>
                      <a:pPr algn="l"/>
                      <a:r>
                        <a:rPr sz="1100" b="0" i="0">
                          <a:solidFill>
                            <a:srgbClr val="0070C0"/>
                          </a:solidFill>
                          <a:latin typeface="Calibri"/>
                        </a:rPr>
                        <a:t>23.1.</a:t>
                      </a:r>
                      <a:r>
                        <a:rPr sz="700" b="0" i="0">
                          <a:solidFill>
                            <a:srgbClr val="0070C0"/>
                          </a:solidFill>
                          <a:latin typeface="Times New Roman"/>
                        </a:rPr>
                        <a:t>  </a:t>
                      </a:r>
                      <a:r>
                        <a:rPr sz="1100" b="0" i="0">
                          <a:solidFill>
                            <a:srgbClr val="0070C0"/>
                          </a:solidFill>
                          <a:latin typeface="Calibri"/>
                        </a:rPr>
                        <a:t>Amcor plc</a:t>
                      </a:r>
                      <a:endParaRPr sz="1100"/>
                    </a:p>
                  </a:txBody>
                  <a:tcPr marL="428625" marR="9525" marT="9525" marB="0" anchor="ctr"/>
                </a:tc>
              </a:tr>
              <a:tr h="175260">
                <a:tc>
                  <a:txBody>
                    <a:bodyPr wrap="square"/>
                    <a:lstStyle/>
                    <a:p>
                      <a:pPr algn="l"/>
                      <a:r>
                        <a:rPr sz="1100" b="0" i="0">
                          <a:solidFill>
                            <a:srgbClr val="000000"/>
                          </a:solidFill>
                          <a:latin typeface="Calibri"/>
                        </a:rPr>
                        <a:t>23.1.1.</a:t>
                      </a:r>
                      <a:r>
                        <a:rPr sz="700" b="0" i="0">
                          <a:solidFill>
                            <a:srgbClr val="000000"/>
                          </a:solidFill>
                          <a:latin typeface="Times New Roman"/>
                        </a:rPr>
                        <a:t> </a:t>
                      </a:r>
                      <a:r>
                        <a:rPr sz="1100" b="0" i="0">
                          <a:solidFill>
                            <a:srgbClr val="000000"/>
                          </a:solidFill>
                          <a:latin typeface="Calibri"/>
                        </a:rPr>
                        <a:t>Product Portfolio</a:t>
                      </a:r>
                      <a:endParaRPr sz="1100"/>
                    </a:p>
                  </a:txBody>
                  <a:tcPr marL="771525" marR="9525" marT="9525" marB="0" anchor="ctr"/>
                </a:tc>
              </a:tr>
              <a:tr h="175260">
                <a:tc>
                  <a:txBody>
                    <a:bodyPr wrap="square"/>
                    <a:lstStyle/>
                    <a:p>
                      <a:pPr algn="l"/>
                      <a:r>
                        <a:rPr sz="1100" b="0" i="0">
                          <a:solidFill>
                            <a:srgbClr val="000000"/>
                          </a:solidFill>
                          <a:latin typeface="Calibri"/>
                        </a:rPr>
                        <a:t>23.1.2.</a:t>
                      </a:r>
                      <a:r>
                        <a:rPr sz="700" b="0" i="0">
                          <a:solidFill>
                            <a:srgbClr val="000000"/>
                          </a:solidFill>
                          <a:latin typeface="Times New Roman"/>
                        </a:rPr>
                        <a:t> </a:t>
                      </a:r>
                      <a:r>
                        <a:rPr sz="1100" b="0" i="0">
                          <a:solidFill>
                            <a:srgbClr val="000000"/>
                          </a:solidFill>
                          <a:latin typeface="Calibri"/>
                        </a:rPr>
                        <a:t>Apparent Production Volume (UNITS)</a:t>
                      </a:r>
                      <a:endParaRPr sz="1100"/>
                    </a:p>
                  </a:txBody>
                  <a:tcPr marL="771525" marR="9525" marT="9525" marB="0" anchor="ctr"/>
                </a:tc>
              </a:tr>
              <a:tr h="175260">
                <a:tc>
                  <a:txBody>
                    <a:bodyPr wrap="square"/>
                    <a:lstStyle/>
                    <a:p>
                      <a:pPr algn="l"/>
                      <a:r>
                        <a:rPr sz="1100" b="0" i="0">
                          <a:solidFill>
                            <a:srgbClr val="000000"/>
                          </a:solidFill>
                          <a:latin typeface="Calibri"/>
                        </a:rPr>
                        <a:t>23.1.3.</a:t>
                      </a:r>
                      <a:r>
                        <a:rPr sz="700" b="0" i="0">
                          <a:solidFill>
                            <a:srgbClr val="000000"/>
                          </a:solidFill>
                          <a:latin typeface="Times New Roman"/>
                        </a:rPr>
                        <a:t> </a:t>
                      </a:r>
                      <a:r>
                        <a:rPr sz="1100" b="0" i="0">
                          <a:solidFill>
                            <a:srgbClr val="000000"/>
                          </a:solidFill>
                          <a:latin typeface="Calibri"/>
                        </a:rPr>
                        <a:t>Pricing Analysis (USD Per Unit) By Product Type</a:t>
                      </a:r>
                      <a:endParaRPr sz="1100"/>
                    </a:p>
                  </a:txBody>
                  <a:tcPr marL="771525" marR="9525" marT="9525" marB="0" anchor="ctr"/>
                </a:tc>
              </a:tr>
              <a:tr h="175260">
                <a:tc>
                  <a:txBody>
                    <a:bodyPr wrap="square"/>
                    <a:lstStyle/>
                    <a:p>
                      <a:pPr algn="l"/>
                      <a:r>
                        <a:rPr sz="1100" b="0" i="0">
                          <a:solidFill>
                            <a:srgbClr val="000000"/>
                          </a:solidFill>
                          <a:latin typeface="Calibri"/>
                        </a:rPr>
                        <a:t>23.1.4.</a:t>
                      </a:r>
                      <a:r>
                        <a:rPr sz="700" b="0" i="0">
                          <a:solidFill>
                            <a:srgbClr val="000000"/>
                          </a:solidFill>
                          <a:latin typeface="Times New Roman"/>
                        </a:rPr>
                        <a:t> </a:t>
                      </a:r>
                      <a:r>
                        <a:rPr sz="1100" b="0" i="0">
                          <a:solidFill>
                            <a:srgbClr val="000000"/>
                          </a:solidFill>
                          <a:latin typeface="Calibri"/>
                        </a:rPr>
                        <a:t>Revenue (USD Mn) and Market Share by Market Segments</a:t>
                      </a:r>
                      <a:endParaRPr sz="1100"/>
                    </a:p>
                  </a:txBody>
                  <a:tcPr marL="771525" marR="9525" marT="9525" marB="0" anchor="ctr"/>
                </a:tc>
              </a:tr>
              <a:tr h="175260">
                <a:tc>
                  <a:txBody>
                    <a:bodyPr wrap="square"/>
                    <a:lstStyle/>
                    <a:p>
                      <a:pPr algn="l"/>
                      <a:r>
                        <a:rPr sz="1100" b="0" i="1">
                          <a:solidFill>
                            <a:srgbClr val="000000"/>
                          </a:solidFill>
                          <a:latin typeface="Calibri"/>
                        </a:rPr>
                        <a:t>23.1.4.1.</a:t>
                      </a:r>
                      <a:r>
                        <a:rPr sz="700" b="0" i="1">
                          <a:solidFill>
                            <a:srgbClr val="000000"/>
                          </a:solidFill>
                          <a:latin typeface="Times New Roman"/>
                        </a:rPr>
                        <a:t> </a:t>
                      </a:r>
                      <a:r>
                        <a:rPr sz="1100" b="0" i="1">
                          <a:solidFill>
                            <a:srgbClr val="000000"/>
                          </a:solidFill>
                          <a:latin typeface="Calibri"/>
                        </a:rPr>
                        <a:t>Product Sales</a:t>
                      </a:r>
                      <a:endParaRPr sz="1100"/>
                    </a:p>
                  </a:txBody>
                  <a:tcPr marL="1028700" marR="9525" marT="9525" marB="0" anchor="ctr"/>
                </a:tc>
              </a:tr>
              <a:tr h="175260">
                <a:tc>
                  <a:txBody>
                    <a:bodyPr wrap="square"/>
                    <a:lstStyle/>
                    <a:p>
                      <a:pPr algn="l"/>
                      <a:r>
                        <a:rPr sz="1100" b="0" i="1">
                          <a:solidFill>
                            <a:srgbClr val="000000"/>
                          </a:solidFill>
                          <a:latin typeface="Calibri"/>
                        </a:rPr>
                        <a:t>23.1.4.2.</a:t>
                      </a:r>
                      <a:r>
                        <a:rPr sz="700" b="0" i="1">
                          <a:solidFill>
                            <a:srgbClr val="000000"/>
                          </a:solidFill>
                          <a:latin typeface="Times New Roman"/>
                        </a:rPr>
                        <a:t> </a:t>
                      </a:r>
                      <a:r>
                        <a:rPr sz="1100" b="0" i="1">
                          <a:solidFill>
                            <a:srgbClr val="000000"/>
                          </a:solidFill>
                          <a:latin typeface="Calibri"/>
                        </a:rPr>
                        <a:t>Channel Sales</a:t>
                      </a:r>
                      <a:endParaRPr sz="1100"/>
                    </a:p>
                  </a:txBody>
                  <a:tcPr marL="1028700" marR="9525" marT="9525" marB="0" anchor="ctr"/>
                </a:tc>
              </a:tr>
              <a:tr h="175260">
                <a:tc>
                  <a:txBody>
                    <a:bodyPr wrap="square"/>
                    <a:lstStyle/>
                    <a:p>
                      <a:pPr algn="l"/>
                      <a:r>
                        <a:rPr sz="1100" b="0" i="1">
                          <a:solidFill>
                            <a:srgbClr val="000000"/>
                          </a:solidFill>
                          <a:latin typeface="Calibri"/>
                        </a:rPr>
                        <a:t>23.1.4.3.</a:t>
                      </a:r>
                      <a:r>
                        <a:rPr sz="700" b="0" i="1">
                          <a:solidFill>
                            <a:srgbClr val="000000"/>
                          </a:solidFill>
                          <a:latin typeface="Times New Roman"/>
                        </a:rPr>
                        <a:t> </a:t>
                      </a:r>
                      <a:r>
                        <a:rPr sz="1100" b="0" i="1">
                          <a:solidFill>
                            <a:srgbClr val="000000"/>
                          </a:solidFill>
                          <a:latin typeface="Calibri"/>
                        </a:rPr>
                        <a:t>Regional Sales</a:t>
                      </a:r>
                      <a:endParaRPr sz="1100"/>
                    </a:p>
                  </a:txBody>
                  <a:tcPr marL="1028700" marR="9525" marT="9525" marB="0" anchor="ctr"/>
                </a:tc>
              </a:tr>
              <a:tr h="175260">
                <a:tc>
                  <a:txBody>
                    <a:bodyPr wrap="square"/>
                    <a:lstStyle/>
                    <a:p>
                      <a:pPr algn="l"/>
                      <a:r>
                        <a:rPr sz="1100" b="0" i="0">
                          <a:solidFill>
                            <a:srgbClr val="000000"/>
                          </a:solidFill>
                          <a:latin typeface="Calibri"/>
                        </a:rPr>
                        <a:t>23.1.5.</a:t>
                      </a:r>
                      <a:r>
                        <a:rPr sz="700" b="0" i="0">
                          <a:solidFill>
                            <a:srgbClr val="000000"/>
                          </a:solidFill>
                          <a:latin typeface="Times New Roman"/>
                        </a:rPr>
                        <a:t> </a:t>
                      </a:r>
                      <a:r>
                        <a:rPr sz="1100" b="0" i="0">
                          <a:solidFill>
                            <a:srgbClr val="000000"/>
                          </a:solidFill>
                          <a:latin typeface="Calibri"/>
                        </a:rPr>
                        <a:t>Sales Footprint</a:t>
                      </a:r>
                      <a:endParaRPr sz="1100"/>
                    </a:p>
                  </a:txBody>
                  <a:tcPr marL="771525" marR="9525" marT="9525" marB="0" anchor="ctr"/>
                </a:tc>
              </a:tr>
              <a:tr h="175260">
                <a:tc>
                  <a:txBody>
                    <a:bodyPr wrap="square"/>
                    <a:lstStyle/>
                    <a:p>
                      <a:pPr algn="l"/>
                      <a:r>
                        <a:rPr sz="1100" b="0" i="0">
                          <a:solidFill>
                            <a:srgbClr val="000000"/>
                          </a:solidFill>
                          <a:latin typeface="Calibri"/>
                        </a:rPr>
                        <a:t>23.1.6.</a:t>
                      </a:r>
                      <a:r>
                        <a:rPr sz="700" b="0" i="0">
                          <a:solidFill>
                            <a:srgbClr val="000000"/>
                          </a:solidFill>
                          <a:latin typeface="Times New Roman"/>
                        </a:rPr>
                        <a:t> </a:t>
                      </a:r>
                      <a:r>
                        <a:rPr sz="1100" b="0" i="0">
                          <a:solidFill>
                            <a:srgbClr val="000000"/>
                          </a:solidFill>
                          <a:latin typeface="Calibri"/>
                        </a:rPr>
                        <a:t>Strategy Overview</a:t>
                      </a:r>
                      <a:endParaRPr sz="1100"/>
                    </a:p>
                  </a:txBody>
                  <a:tcPr marL="771525" marR="9525" marT="9525" marB="0" anchor="ctr"/>
                </a:tc>
              </a:tr>
              <a:tr h="175260">
                <a:tc>
                  <a:txBody>
                    <a:bodyPr wrap="square"/>
                    <a:lstStyle/>
                    <a:p>
                      <a:pPr algn="l"/>
                      <a:r>
                        <a:rPr sz="1100" b="0" i="1">
                          <a:solidFill>
                            <a:srgbClr val="000000"/>
                          </a:solidFill>
                          <a:latin typeface="Calibri"/>
                        </a:rPr>
                        <a:t>23.1.6.1.</a:t>
                      </a:r>
                      <a:r>
                        <a:rPr sz="700" b="0" i="1">
                          <a:solidFill>
                            <a:srgbClr val="000000"/>
                          </a:solidFill>
                          <a:latin typeface="Times New Roman"/>
                        </a:rPr>
                        <a:t> </a:t>
                      </a:r>
                      <a:r>
                        <a:rPr sz="1100" b="0" i="1">
                          <a:solidFill>
                            <a:srgbClr val="000000"/>
                          </a:solidFill>
                          <a:latin typeface="Calibri"/>
                        </a:rPr>
                        <a:t>Marketing Strategy</a:t>
                      </a:r>
                      <a:endParaRPr sz="1100"/>
                    </a:p>
                  </a:txBody>
                  <a:tcPr marL="1028700" marR="9525" marT="9525" marB="0" anchor="ctr"/>
                </a:tc>
              </a:tr>
              <a:tr h="175260">
                <a:tc>
                  <a:txBody>
                    <a:bodyPr wrap="square"/>
                    <a:lstStyle/>
                    <a:p>
                      <a:pPr algn="l"/>
                      <a:r>
                        <a:rPr sz="1100" b="0" i="1">
                          <a:solidFill>
                            <a:srgbClr val="000000"/>
                          </a:solidFill>
                          <a:latin typeface="Calibri"/>
                        </a:rPr>
                        <a:t>23.1.6.2.</a:t>
                      </a:r>
                      <a:r>
                        <a:rPr sz="700" b="0" i="1">
                          <a:solidFill>
                            <a:srgbClr val="000000"/>
                          </a:solidFill>
                          <a:latin typeface="Times New Roman"/>
                        </a:rPr>
                        <a:t> </a:t>
                      </a:r>
                      <a:r>
                        <a:rPr sz="1100" b="0" i="1">
                          <a:solidFill>
                            <a:srgbClr val="000000"/>
                          </a:solidFill>
                          <a:latin typeface="Calibri"/>
                        </a:rPr>
                        <a:t>Product Strategy</a:t>
                      </a:r>
                      <a:endParaRPr sz="1100"/>
                    </a:p>
                  </a:txBody>
                  <a:tcPr marL="1028700"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403098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1">
                          <a:solidFill>
                            <a:srgbClr val="000000"/>
                          </a:solidFill>
                          <a:latin typeface="Calibri"/>
                        </a:rPr>
                        <a:t>23.1.6.3.</a:t>
                      </a:r>
                      <a:r>
                        <a:rPr sz="700" b="0" i="1">
                          <a:solidFill>
                            <a:srgbClr val="000000"/>
                          </a:solidFill>
                          <a:latin typeface="Times New Roman"/>
                        </a:rPr>
                        <a:t> </a:t>
                      </a:r>
                      <a:r>
                        <a:rPr sz="1100" b="0" i="1">
                          <a:solidFill>
                            <a:srgbClr val="000000"/>
                          </a:solidFill>
                          <a:latin typeface="Calibri"/>
                        </a:rPr>
                        <a:t>Channel Strategy</a:t>
                      </a:r>
                      <a:endParaRPr sz="1100"/>
                    </a:p>
                  </a:txBody>
                  <a:tcPr marL="1028700" marR="9525" marT="9525" marB="0" anchor="ctr"/>
                </a:tc>
              </a:tr>
              <a:tr h="175260">
                <a:tc>
                  <a:txBody>
                    <a:bodyPr wrap="square"/>
                    <a:lstStyle/>
                    <a:p>
                      <a:pPr algn="l"/>
                      <a:r>
                        <a:rPr sz="1100" b="0" i="1">
                          <a:solidFill>
                            <a:srgbClr val="000000"/>
                          </a:solidFill>
                          <a:latin typeface="Calibri"/>
                        </a:rPr>
                        <a:t>23.1.6.4.</a:t>
                      </a:r>
                      <a:r>
                        <a:rPr sz="700" b="0" i="1">
                          <a:solidFill>
                            <a:srgbClr val="000000"/>
                          </a:solidFill>
                          <a:latin typeface="Times New Roman"/>
                        </a:rPr>
                        <a:t> </a:t>
                      </a:r>
                      <a:r>
                        <a:rPr sz="1100" b="0" i="1">
                          <a:solidFill>
                            <a:srgbClr val="000000"/>
                          </a:solidFill>
                          <a:latin typeface="Calibri"/>
                        </a:rPr>
                        <a:t>Pricing Strategy</a:t>
                      </a:r>
                      <a:endParaRPr sz="1100"/>
                    </a:p>
                  </a:txBody>
                  <a:tcPr marL="1028700" marR="9525" marT="9525" marB="0" anchor="ctr"/>
                </a:tc>
              </a:tr>
              <a:tr h="175260">
                <a:tc>
                  <a:txBody>
                    <a:bodyPr wrap="square"/>
                    <a:lstStyle/>
                    <a:p>
                      <a:pPr algn="l"/>
                      <a:r>
                        <a:rPr sz="1100" b="0" i="0">
                          <a:solidFill>
                            <a:srgbClr val="000000"/>
                          </a:solidFill>
                          <a:latin typeface="Calibri"/>
                        </a:rPr>
                        <a:t>23.1.7.</a:t>
                      </a:r>
                      <a:r>
                        <a:rPr sz="700" b="0" i="0">
                          <a:solidFill>
                            <a:srgbClr val="000000"/>
                          </a:solidFill>
                          <a:latin typeface="Times New Roman"/>
                        </a:rPr>
                        <a:t> </a:t>
                      </a:r>
                      <a:r>
                        <a:rPr sz="1100" b="0" i="0">
                          <a:solidFill>
                            <a:srgbClr val="000000"/>
                          </a:solidFill>
                          <a:latin typeface="Calibri"/>
                        </a:rPr>
                        <a:t>SWOT</a:t>
                      </a:r>
                      <a:endParaRPr sz="1100"/>
                    </a:p>
                  </a:txBody>
                  <a:tcPr marL="771525" marR="9525" marT="9525" marB="0" anchor="ctr"/>
                </a:tc>
              </a:tr>
              <a:tr h="175260">
                <a:tc>
                  <a:txBody>
                    <a:bodyPr wrap="square"/>
                    <a:lstStyle/>
                    <a:p>
                      <a:pPr algn="l"/>
                      <a:r>
                        <a:rPr sz="1100" b="0" i="0">
                          <a:solidFill>
                            <a:srgbClr val="000000"/>
                          </a:solidFill>
                          <a:latin typeface="Calibri"/>
                        </a:rPr>
                        <a:t>23.1.8.</a:t>
                      </a:r>
                      <a:r>
                        <a:rPr sz="700" b="0" i="0">
                          <a:solidFill>
                            <a:srgbClr val="000000"/>
                          </a:solidFill>
                          <a:latin typeface="Times New Roman"/>
                        </a:rPr>
                        <a:t> </a:t>
                      </a:r>
                      <a:r>
                        <a:rPr sz="1100" b="0" i="0">
                          <a:solidFill>
                            <a:srgbClr val="000000"/>
                          </a:solidFill>
                          <a:latin typeface="Calibri"/>
                        </a:rPr>
                        <a:t>Analyst Comment</a:t>
                      </a:r>
                      <a:endParaRPr sz="1100"/>
                    </a:p>
                  </a:txBody>
                  <a:tcPr marL="771525" marR="9525" marT="9525" marB="0" anchor="ctr"/>
                </a:tc>
              </a:tr>
              <a:tr h="175260">
                <a:tc>
                  <a:txBody>
                    <a:bodyPr wrap="square"/>
                    <a:lstStyle/>
                    <a:p>
                      <a:pPr algn="l"/>
                      <a:r>
                        <a:rPr sz="1100" b="0" i="1">
                          <a:solidFill>
                            <a:srgbClr val="EE0000"/>
                          </a:solidFill>
                          <a:latin typeface="Calibri"/>
                        </a:rPr>
                        <a:t>Note: All companies shall be indicated in similar manner</a:t>
                      </a:r>
                      <a:endParaRPr sz="1100"/>
                    </a:p>
                  </a:txBody>
                  <a:tcPr marL="9525" marR="9525" marT="9525" marB="0" anchor="ctr"/>
                </a:tc>
              </a:tr>
              <a:tr h="175260">
                <a:tc>
                  <a:txBody>
                    <a:bodyPr wrap="square"/>
                    <a:lstStyle/>
                    <a:p>
                      <a:pPr algn="l"/>
                      <a:r>
                        <a:rPr sz="1100" b="0" i="0">
                          <a:solidFill>
                            <a:srgbClr val="0070C0"/>
                          </a:solidFill>
                          <a:latin typeface="Calibri"/>
                        </a:rPr>
                        <a:t>23.2.</a:t>
                      </a:r>
                      <a:r>
                        <a:rPr sz="700" b="0" i="0">
                          <a:solidFill>
                            <a:srgbClr val="0070C0"/>
                          </a:solidFill>
                          <a:latin typeface="Times New Roman"/>
                        </a:rPr>
                        <a:t>  </a:t>
                      </a:r>
                      <a:r>
                        <a:rPr sz="1100" b="0" i="0">
                          <a:solidFill>
                            <a:srgbClr val="0070C0"/>
                          </a:solidFill>
                          <a:latin typeface="Calibri"/>
                        </a:rPr>
                        <a:t>Sealed Air Corporation</a:t>
                      </a:r>
                      <a:endParaRPr sz="1100"/>
                    </a:p>
                  </a:txBody>
                  <a:tcPr marL="428625" marR="9525" marT="9525" marB="0" anchor="ctr"/>
                </a:tc>
              </a:tr>
              <a:tr h="175260">
                <a:tc>
                  <a:txBody>
                    <a:bodyPr wrap="square"/>
                    <a:lstStyle/>
                    <a:p>
                      <a:pPr algn="l"/>
                      <a:r>
                        <a:rPr sz="1100" b="0" i="0">
                          <a:solidFill>
                            <a:srgbClr val="0070C0"/>
                          </a:solidFill>
                          <a:latin typeface="Calibri"/>
                        </a:rPr>
                        <a:t>23.3.</a:t>
                      </a:r>
                      <a:r>
                        <a:rPr sz="700" b="0" i="0">
                          <a:solidFill>
                            <a:srgbClr val="0070C0"/>
                          </a:solidFill>
                          <a:latin typeface="Times New Roman"/>
                        </a:rPr>
                        <a:t>  </a:t>
                      </a:r>
                      <a:r>
                        <a:rPr sz="1100" b="0" i="0">
                          <a:solidFill>
                            <a:srgbClr val="0070C0"/>
                          </a:solidFill>
                          <a:latin typeface="Calibri"/>
                        </a:rPr>
                        <a:t>Inteplast Group</a:t>
                      </a:r>
                      <a:endParaRPr sz="1100"/>
                    </a:p>
                  </a:txBody>
                  <a:tcPr marL="428625" marR="9525" marT="9525" marB="0" anchor="ctr"/>
                </a:tc>
              </a:tr>
              <a:tr h="175260">
                <a:tc>
                  <a:txBody>
                    <a:bodyPr wrap="square"/>
                    <a:lstStyle/>
                    <a:p>
                      <a:pPr algn="l"/>
                      <a:r>
                        <a:rPr sz="1100" b="0" i="0">
                          <a:solidFill>
                            <a:srgbClr val="0070C0"/>
                          </a:solidFill>
                          <a:latin typeface="Calibri"/>
                        </a:rPr>
                        <a:t>23.4.</a:t>
                      </a:r>
                      <a:r>
                        <a:rPr sz="700" b="0" i="0">
                          <a:solidFill>
                            <a:srgbClr val="0070C0"/>
                          </a:solidFill>
                          <a:latin typeface="Times New Roman"/>
                        </a:rPr>
                        <a:t>  </a:t>
                      </a:r>
                      <a:r>
                        <a:rPr sz="1100" b="0" i="0">
                          <a:solidFill>
                            <a:srgbClr val="0070C0"/>
                          </a:solidFill>
                          <a:latin typeface="Calibri"/>
                        </a:rPr>
                        <a:t>Novolex</a:t>
                      </a:r>
                      <a:endParaRPr sz="1100"/>
                    </a:p>
                  </a:txBody>
                  <a:tcPr marL="428625" marR="9525" marT="9525" marB="0" anchor="ctr"/>
                </a:tc>
              </a:tr>
              <a:tr h="175260">
                <a:tc>
                  <a:txBody>
                    <a:bodyPr wrap="square"/>
                    <a:lstStyle/>
                    <a:p>
                      <a:pPr algn="l"/>
                      <a:r>
                        <a:rPr sz="1100" b="0" i="0">
                          <a:solidFill>
                            <a:srgbClr val="0070C0"/>
                          </a:solidFill>
                          <a:latin typeface="Calibri"/>
                        </a:rPr>
                        <a:t>23.5.</a:t>
                      </a:r>
                      <a:r>
                        <a:rPr sz="700" b="0" i="0">
                          <a:solidFill>
                            <a:srgbClr val="0070C0"/>
                          </a:solidFill>
                          <a:latin typeface="Times New Roman"/>
                        </a:rPr>
                        <a:t>  </a:t>
                      </a:r>
                      <a:r>
                        <a:rPr sz="1100" b="0" i="0">
                          <a:solidFill>
                            <a:srgbClr val="0070C0"/>
                          </a:solidFill>
                          <a:latin typeface="Calibri"/>
                        </a:rPr>
                        <a:t>Coveris</a:t>
                      </a:r>
                      <a:endParaRPr sz="1100"/>
                    </a:p>
                  </a:txBody>
                  <a:tcPr marL="428625" marR="9525" marT="9525" marB="0" anchor="ctr"/>
                </a:tc>
              </a:tr>
              <a:tr h="175260">
                <a:tc>
                  <a:txBody>
                    <a:bodyPr wrap="square"/>
                    <a:lstStyle/>
                    <a:p>
                      <a:pPr algn="l"/>
                      <a:r>
                        <a:rPr sz="1100" b="0" i="0">
                          <a:solidFill>
                            <a:srgbClr val="0070C0"/>
                          </a:solidFill>
                          <a:latin typeface="Calibri"/>
                        </a:rPr>
                        <a:t>23.6.</a:t>
                      </a:r>
                      <a:r>
                        <a:rPr sz="700" b="0" i="0">
                          <a:solidFill>
                            <a:srgbClr val="0070C0"/>
                          </a:solidFill>
                          <a:latin typeface="Times New Roman"/>
                        </a:rPr>
                        <a:t>  </a:t>
                      </a:r>
                      <a:r>
                        <a:rPr sz="1100" b="0" i="0">
                          <a:solidFill>
                            <a:srgbClr val="0070C0"/>
                          </a:solidFill>
                          <a:latin typeface="Calibri"/>
                        </a:rPr>
                        <a:t>Printpack</a:t>
                      </a:r>
                      <a:endParaRPr sz="1100"/>
                    </a:p>
                  </a:txBody>
                  <a:tcPr marL="428625" marR="9525" marT="9525" marB="0" anchor="ctr"/>
                </a:tc>
              </a:tr>
              <a:tr h="175260">
                <a:tc>
                  <a:txBody>
                    <a:bodyPr wrap="square"/>
                    <a:lstStyle/>
                    <a:p>
                      <a:pPr algn="l"/>
                      <a:r>
                        <a:rPr sz="1100" b="0" i="0">
                          <a:solidFill>
                            <a:srgbClr val="0070C0"/>
                          </a:solidFill>
                          <a:latin typeface="Calibri"/>
                        </a:rPr>
                        <a:t>23.7.</a:t>
                      </a:r>
                      <a:r>
                        <a:rPr sz="700" b="0" i="0">
                          <a:solidFill>
                            <a:srgbClr val="0070C0"/>
                          </a:solidFill>
                          <a:latin typeface="Times New Roman"/>
                        </a:rPr>
                        <a:t>  </a:t>
                      </a:r>
                      <a:r>
                        <a:rPr sz="1100" b="0" i="0">
                          <a:solidFill>
                            <a:srgbClr val="0070C0"/>
                          </a:solidFill>
                          <a:latin typeface="Calibri"/>
                        </a:rPr>
                        <a:t>Winpak Ltd.</a:t>
                      </a:r>
                      <a:endParaRPr sz="1100"/>
                    </a:p>
                  </a:txBody>
                  <a:tcPr marL="428625" marR="9525" marT="9525" marB="0" anchor="ctr"/>
                </a:tc>
              </a:tr>
              <a:tr h="175260">
                <a:tc>
                  <a:txBody>
                    <a:bodyPr wrap="square"/>
                    <a:lstStyle/>
                    <a:p>
                      <a:pPr algn="l"/>
                      <a:r>
                        <a:rPr sz="1100" b="0" i="0">
                          <a:solidFill>
                            <a:srgbClr val="0070C0"/>
                          </a:solidFill>
                          <a:latin typeface="Calibri"/>
                        </a:rPr>
                        <a:t>23.8.</a:t>
                      </a:r>
                      <a:r>
                        <a:rPr sz="700" b="0" i="0">
                          <a:solidFill>
                            <a:srgbClr val="0070C0"/>
                          </a:solidFill>
                          <a:latin typeface="Times New Roman"/>
                        </a:rPr>
                        <a:t>  </a:t>
                      </a:r>
                      <a:r>
                        <a:rPr sz="1100" b="0" i="0">
                          <a:solidFill>
                            <a:srgbClr val="0070C0"/>
                          </a:solidFill>
                          <a:latin typeface="Calibri"/>
                        </a:rPr>
                        <a:t>Huhtamaki</a:t>
                      </a:r>
                      <a:endParaRPr sz="1100"/>
                    </a:p>
                  </a:txBody>
                  <a:tcPr marL="428625" marR="9525" marT="9525" marB="0" anchor="ctr"/>
                </a:tc>
              </a:tr>
              <a:tr h="175260">
                <a:tc>
                  <a:txBody>
                    <a:bodyPr wrap="square"/>
                    <a:lstStyle/>
                    <a:p>
                      <a:pPr algn="l"/>
                      <a:r>
                        <a:rPr sz="1100" b="0" i="0">
                          <a:solidFill>
                            <a:srgbClr val="0070C0"/>
                          </a:solidFill>
                          <a:latin typeface="Calibri"/>
                        </a:rPr>
                        <a:t>23.9.</a:t>
                      </a:r>
                      <a:r>
                        <a:rPr sz="700" b="0" i="0">
                          <a:solidFill>
                            <a:srgbClr val="0070C0"/>
                          </a:solidFill>
                          <a:latin typeface="Times New Roman"/>
                        </a:rPr>
                        <a:t>  </a:t>
                      </a:r>
                      <a:r>
                        <a:rPr sz="1100" b="0" i="0">
                          <a:solidFill>
                            <a:srgbClr val="0070C0"/>
                          </a:solidFill>
                          <a:latin typeface="Calibri"/>
                        </a:rPr>
                        <a:t>Berry Global Group</a:t>
                      </a:r>
                      <a:endParaRPr sz="1100"/>
                    </a:p>
                  </a:txBody>
                  <a:tcPr marL="428625" marR="9525" marT="9525" marB="0" anchor="ctr"/>
                </a:tc>
              </a:tr>
              <a:tr h="175260">
                <a:tc>
                  <a:txBody>
                    <a:bodyPr wrap="square"/>
                    <a:lstStyle/>
                    <a:p>
                      <a:pPr algn="l"/>
                      <a:r>
                        <a:rPr sz="1100" b="0" i="0">
                          <a:solidFill>
                            <a:srgbClr val="0070C0"/>
                          </a:solidFill>
                          <a:latin typeface="Calibri"/>
                        </a:rPr>
                        <a:t>23.10.</a:t>
                      </a:r>
                      <a:r>
                        <a:rPr sz="700" b="0" i="0">
                          <a:solidFill>
                            <a:srgbClr val="0070C0"/>
                          </a:solidFill>
                          <a:latin typeface="Times New Roman"/>
                        </a:rPr>
                        <a:t> </a:t>
                      </a:r>
                      <a:r>
                        <a:rPr sz="1100" b="0" i="0">
                          <a:solidFill>
                            <a:srgbClr val="0070C0"/>
                          </a:solidFill>
                          <a:latin typeface="Calibri"/>
                        </a:rPr>
                        <a:t>Mondi Group</a:t>
                      </a:r>
                      <a:endParaRPr sz="1100"/>
                    </a:p>
                  </a:txBody>
                  <a:tcPr marL="428625" marR="9525" marT="9525" marB="0" anchor="ctr"/>
                </a:tc>
              </a:tr>
              <a:tr h="175260">
                <a:tc>
                  <a:txBody>
                    <a:bodyPr wrap="square"/>
                    <a:lstStyle/>
                    <a:p>
                      <a:pPr algn="l"/>
                      <a:r>
                        <a:rPr sz="1100" b="0" i="0">
                          <a:solidFill>
                            <a:srgbClr val="0070C0"/>
                          </a:solidFill>
                          <a:latin typeface="Calibri"/>
                        </a:rPr>
                        <a:t>23.11.</a:t>
                      </a:r>
                      <a:r>
                        <a:rPr sz="700" b="0" i="0">
                          <a:solidFill>
                            <a:srgbClr val="0070C0"/>
                          </a:solidFill>
                          <a:latin typeface="Times New Roman"/>
                        </a:rPr>
                        <a:t> </a:t>
                      </a:r>
                      <a:r>
                        <a:rPr sz="1100" b="0" i="0">
                          <a:solidFill>
                            <a:srgbClr val="0070C0"/>
                          </a:solidFill>
                          <a:latin typeface="Calibri"/>
                        </a:rPr>
                        <a:t>Pactiv Evergreen</a:t>
                      </a:r>
                      <a:endParaRPr sz="1100"/>
                    </a:p>
                  </a:txBody>
                  <a:tcPr marL="428625" marR="9525" marT="9525" marB="0" anchor="ctr"/>
                </a:tc>
              </a:tr>
              <a:tr h="175260">
                <a:tc>
                  <a:txBody>
                    <a:bodyPr wrap="square"/>
                    <a:lstStyle/>
                    <a:p>
                      <a:pPr algn="l"/>
                      <a:r>
                        <a:rPr sz="1100" b="0" i="0">
                          <a:solidFill>
                            <a:srgbClr val="0070C0"/>
                          </a:solidFill>
                          <a:latin typeface="Calibri"/>
                        </a:rPr>
                        <a:t>23.12.</a:t>
                      </a:r>
                      <a:r>
                        <a:rPr sz="700" b="0" i="0">
                          <a:solidFill>
                            <a:srgbClr val="0070C0"/>
                          </a:solidFill>
                          <a:latin typeface="Times New Roman"/>
                        </a:rPr>
                        <a:t> </a:t>
                      </a:r>
                      <a:r>
                        <a:rPr sz="1100" b="0" i="0">
                          <a:solidFill>
                            <a:srgbClr val="0070C0"/>
                          </a:solidFill>
                          <a:latin typeface="Calibri"/>
                        </a:rPr>
                        <a:t>Sonoco Products Company</a:t>
                      </a:r>
                      <a:endParaRPr sz="1100"/>
                    </a:p>
                  </a:txBody>
                  <a:tcPr marL="428625" marR="9525" marT="9525" marB="0" anchor="ctr"/>
                </a:tc>
              </a:tr>
              <a:tr h="175260">
                <a:tc>
                  <a:txBody>
                    <a:bodyPr wrap="square"/>
                    <a:lstStyle/>
                    <a:p>
                      <a:pPr algn="l"/>
                      <a:r>
                        <a:rPr sz="1100" b="0" i="0">
                          <a:solidFill>
                            <a:srgbClr val="0070C0"/>
                          </a:solidFill>
                          <a:latin typeface="Calibri"/>
                        </a:rPr>
                        <a:t>23.13.</a:t>
                      </a:r>
                      <a:r>
                        <a:rPr sz="700" b="0" i="0">
                          <a:solidFill>
                            <a:srgbClr val="0070C0"/>
                          </a:solidFill>
                          <a:latin typeface="Times New Roman"/>
                        </a:rPr>
                        <a:t> </a:t>
                      </a:r>
                      <a:r>
                        <a:rPr sz="1100" b="0" i="0">
                          <a:solidFill>
                            <a:srgbClr val="0070C0"/>
                          </a:solidFill>
                          <a:latin typeface="Calibri"/>
                        </a:rPr>
                        <a:t>A-Pac Manufacturing Co., Inc.</a:t>
                      </a:r>
                      <a:endParaRPr sz="1100"/>
                    </a:p>
                  </a:txBody>
                  <a:tcPr marL="428625" marR="9525" marT="9525" marB="0" anchor="ctr"/>
                </a:tc>
              </a:tr>
              <a:tr h="175260">
                <a:tc>
                  <a:txBody>
                    <a:bodyPr wrap="square"/>
                    <a:lstStyle/>
                    <a:p>
                      <a:pPr algn="l"/>
                      <a:r>
                        <a:rPr sz="1100" b="0" i="0">
                          <a:solidFill>
                            <a:srgbClr val="0070C0"/>
                          </a:solidFill>
                          <a:latin typeface="Calibri"/>
                        </a:rPr>
                        <a:t>23.14.</a:t>
                      </a:r>
                      <a:r>
                        <a:rPr sz="700" b="0" i="0">
                          <a:solidFill>
                            <a:srgbClr val="0070C0"/>
                          </a:solidFill>
                          <a:latin typeface="Times New Roman"/>
                        </a:rPr>
                        <a:t> </a:t>
                      </a:r>
                      <a:r>
                        <a:rPr sz="1100" b="0" i="0">
                          <a:solidFill>
                            <a:srgbClr val="0070C0"/>
                          </a:solidFill>
                          <a:latin typeface="Calibri"/>
                        </a:rPr>
                        <a:t>PPC Flex</a:t>
                      </a:r>
                      <a:endParaRPr sz="1100"/>
                    </a:p>
                  </a:txBody>
                  <a:tcPr marL="428625" marR="9525" marT="9525" marB="0" anchor="ctr"/>
                </a:tc>
              </a:tr>
              <a:tr h="175260">
                <a:tc>
                  <a:txBody>
                    <a:bodyPr wrap="square"/>
                    <a:lstStyle/>
                    <a:p>
                      <a:pPr algn="l"/>
                      <a:r>
                        <a:rPr sz="1100" b="0" i="0">
                          <a:solidFill>
                            <a:srgbClr val="0070C0"/>
                          </a:solidFill>
                          <a:latin typeface="Calibri"/>
                        </a:rPr>
                        <a:t>23.15.</a:t>
                      </a:r>
                      <a:r>
                        <a:rPr sz="700" b="0" i="0">
                          <a:solidFill>
                            <a:srgbClr val="0070C0"/>
                          </a:solidFill>
                          <a:latin typeface="Times New Roman"/>
                        </a:rPr>
                        <a:t> </a:t>
                      </a:r>
                      <a:r>
                        <a:rPr sz="1100" b="0" i="0">
                          <a:solidFill>
                            <a:srgbClr val="0070C0"/>
                          </a:solidFill>
                          <a:latin typeface="Calibri"/>
                        </a:rPr>
                        <a:t>Arihant Packers</a:t>
                      </a:r>
                      <a:endParaRPr sz="1100"/>
                    </a:p>
                  </a:txBody>
                  <a:tcPr marL="428625" marR="9525" marT="9525" marB="0" anchor="ctr"/>
                </a:tc>
              </a:tr>
              <a:tr h="175260">
                <a:tc>
                  <a:txBody>
                    <a:bodyPr wrap="square"/>
                    <a:lstStyle/>
                    <a:p>
                      <a:pPr algn="l"/>
                      <a:r>
                        <a:rPr sz="1100" b="0" i="0">
                          <a:solidFill>
                            <a:srgbClr val="0070C0"/>
                          </a:solidFill>
                          <a:latin typeface="Calibri"/>
                        </a:rPr>
                        <a:t>23.16.</a:t>
                      </a:r>
                      <a:r>
                        <a:rPr sz="700" b="0" i="0">
                          <a:solidFill>
                            <a:srgbClr val="0070C0"/>
                          </a:solidFill>
                          <a:latin typeface="Times New Roman"/>
                        </a:rPr>
                        <a:t> </a:t>
                      </a:r>
                      <a:r>
                        <a:rPr sz="1100" b="0" i="0">
                          <a:solidFill>
                            <a:srgbClr val="0070C0"/>
                          </a:solidFill>
                          <a:latin typeface="Calibri"/>
                        </a:rPr>
                        <a:t>Others on request</a:t>
                      </a:r>
                      <a:endParaRPr sz="1100"/>
                    </a:p>
                  </a:txBody>
                  <a:tcPr marL="428625" marR="9525" marT="9525" marB="0" anchor="ctr"/>
                </a:tc>
              </a:tr>
              <a:tr h="175260">
                <a:tc>
                  <a:txBody>
                    <a:bodyPr wrap="square"/>
                    <a:lstStyle/>
                    <a:p>
                      <a:pPr algn="l"/>
                      <a:r>
                        <a:rPr sz="1100" b="1" i="0">
                          <a:solidFill>
                            <a:srgbClr val="EE0000"/>
                          </a:solidFill>
                          <a:latin typeface="Calibri"/>
                        </a:rPr>
                        <a:t>ADD SECTIONS AS PER STORY LINE</a:t>
                      </a:r>
                      <a:endParaRPr sz="1100"/>
                    </a:p>
                  </a:txBody>
                  <a:tcPr marL="9525" marR="9525" marT="9525" marB="0" anchor="ctr"/>
                </a:tc>
              </a:tr>
              <a:tr h="175260">
                <a:tc>
                  <a:txBody>
                    <a:bodyPr wrap="square"/>
                    <a:lstStyle/>
                    <a:p>
                      <a:pPr algn="l"/>
                      <a:r>
                        <a:rPr sz="1100" b="1" i="0">
                          <a:solidFill>
                            <a:srgbClr val="000000"/>
                          </a:solidFill>
                          <a:latin typeface="Calibri"/>
                        </a:rPr>
                        <a:t>24.</a:t>
                      </a:r>
                      <a:r>
                        <a:rPr sz="700" b="1" i="0">
                          <a:solidFill>
                            <a:srgbClr val="000000"/>
                          </a:solidFill>
                          <a:latin typeface="Times New Roman"/>
                        </a:rPr>
                        <a:t>    </a:t>
                      </a:r>
                      <a:r>
                        <a:rPr sz="1100" b="1" i="0">
                          <a:solidFill>
                            <a:srgbClr val="000000"/>
                          </a:solidFill>
                          <a:latin typeface="Calibri"/>
                        </a:rPr>
                        <a:t>Assumptions and Acronyms Used</a:t>
                      </a:r>
                      <a:endParaRPr sz="1100"/>
                    </a:p>
                  </a:txBody>
                  <a:tcPr marL="171450" marR="9525" marT="9525" marB="0" anchor="ctr"/>
                </a:tc>
              </a:tr>
              <a:tr h="175260">
                <a:tc>
                  <a:txBody>
                    <a:bodyPr wrap="square"/>
                    <a:lstStyle/>
                    <a:p>
                      <a:pPr algn="l"/>
                      <a:r>
                        <a:rPr sz="1100" b="1" i="0">
                          <a:solidFill>
                            <a:srgbClr val="000000"/>
                          </a:solidFill>
                          <a:latin typeface="Calibri"/>
                        </a:rPr>
                        <a:t>25.</a:t>
                      </a:r>
                      <a:r>
                        <a:rPr sz="700" b="1" i="0">
                          <a:solidFill>
                            <a:srgbClr val="000000"/>
                          </a:solidFill>
                          <a:latin typeface="Times New Roman"/>
                        </a:rPr>
                        <a:t>    </a:t>
                      </a:r>
                      <a:r>
                        <a:rPr sz="1100" b="1" i="0">
                          <a:solidFill>
                            <a:srgbClr val="000000"/>
                          </a:solidFill>
                          <a:latin typeface="Calibri"/>
                        </a:rPr>
                        <a:t>Research Methodology</a:t>
                      </a:r>
                      <a:endParaRPr sz="1100"/>
                    </a:p>
                  </a:txBody>
                  <a:tcPr marL="171450"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3146425"/>
            <a:ext cx="8572500" cy="304800"/>
          </a:xfrm>
          <a:prstGeom prst="rect">
            <a:avLst/>
          </a:prstGeom>
          <a:noFill/>
        </p:spPr>
        <p:txBody>
          <a:bodyPr wrap="none" lIns="0" tIns="0">
            <a:spAutoFit/>
          </a:bodyPr>
          <a:lstStyle/>
          <a:p>
            <a:r>
              <a:rPr sz="1800" b="0">
                <a:solidFill>
                  <a:srgbClr val="0E72AE"/>
                </a:solidFill>
                <a:latin typeface="Calibri"/>
              </a:rPr>
              <a:t>Flexible Plastic Packaging Market</a:t>
            </a:r>
          </a:p>
        </p:txBody>
      </p:sp>
      <p:sp>
        <p:nvSpPr>
          <p:cNvPr id="10" name="FMI Section Title"/>
          <p:cNvSpPr txBox="1"/>
          <p:nvPr/>
        </p:nvSpPr>
        <p:spPr>
          <a:xfrm>
            <a:off x="914400" y="3489325"/>
            <a:ext cx="8572500" cy="514350"/>
          </a:xfrm>
          <a:prstGeom prst="rect">
            <a:avLst/>
          </a:prstGeom>
          <a:noFill/>
        </p:spPr>
        <p:txBody>
          <a:bodyPr wrap="square" lIns="0" rIns="0" tIns="0">
            <a:spAutoFit/>
          </a:bodyPr>
          <a:lstStyle/>
          <a:p>
            <a:r>
              <a:rPr sz="3000" b="1">
                <a:solidFill>
                  <a:srgbClr val="0B3C8C"/>
                </a:solidFill>
                <a:latin typeface="Calibri"/>
              </a:rPr>
              <a:t>Table of Contents</a:t>
            </a:r>
          </a:p>
        </p:txBody>
      </p:sp>
      <p:sp>
        <p:nvSpPr>
          <p:cNvPr id="11" name="TextBox 10"/>
          <p:cNvSpPr txBox="1"/>
          <p:nvPr/>
        </p:nvSpPr>
        <p:spPr>
          <a:xfrm>
            <a:off x="914400" y="4175125"/>
            <a:ext cx="84582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The full contents of this study, as delivered</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(1/4)</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1: Global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2: Global Market Value Snapshot, US$ Mn, 2026 and 2036</a:t>
                      </a:r>
                      <a:endParaRPr sz="1050"/>
                    </a:p>
                  </a:txBody>
                  <a:tcPr marL="9525" marR="9525" marT="9525" marB="0" anchor="ctr"/>
                </a:tc>
              </a:tr>
              <a:tr h="169606">
                <a:tc>
                  <a:txBody>
                    <a:bodyPr wrap="square"/>
                    <a:lstStyle/>
                    <a:p>
                      <a:pPr algn="l"/>
                      <a:r>
                        <a:rPr sz="1050" b="0" i="0">
                          <a:solidFill>
                            <a:srgbClr val="000000"/>
                          </a:solidFill>
                          <a:latin typeface="Calibri"/>
                        </a:rPr>
                        <a:t>Figure 3: Global Market Taxonomy by Segment, 2026</a:t>
                      </a:r>
                      <a:endParaRPr sz="1050"/>
                    </a:p>
                  </a:txBody>
                  <a:tcPr marL="9525" marR="9525" marT="9525" marB="0" anchor="ctr"/>
                </a:tc>
              </a:tr>
              <a:tr h="169606">
                <a:tc>
                  <a:txBody>
                    <a:bodyPr wrap="square"/>
                    <a:lstStyle/>
                    <a:p>
                      <a:pPr algn="l"/>
                      <a:r>
                        <a:rPr sz="1050" b="0" i="0">
                          <a:solidFill>
                            <a:srgbClr val="000000"/>
                          </a:solidFill>
                          <a:latin typeface="Calibri"/>
                        </a:rPr>
                        <a:t>Figure 4: Global Market Share by Product Type, %, 2026</a:t>
                      </a:r>
                      <a:endParaRPr sz="1050"/>
                    </a:p>
                  </a:txBody>
                  <a:tcPr marL="9525" marR="9525" marT="9525" marB="0" anchor="ctr"/>
                </a:tc>
              </a:tr>
              <a:tr h="169606">
                <a:tc>
                  <a:txBody>
                    <a:bodyPr wrap="square"/>
                    <a:lstStyle/>
                    <a:p>
                      <a:pPr algn="l"/>
                      <a:r>
                        <a:rPr sz="1050" b="0" i="0">
                          <a:solidFill>
                            <a:srgbClr val="000000"/>
                          </a:solidFill>
                          <a:latin typeface="Calibri"/>
                        </a:rPr>
                        <a:t>Figure 5: Global Market Share by Principal Material / Barrier Technology, %, 2026</a:t>
                      </a:r>
                      <a:endParaRPr sz="1050"/>
                    </a:p>
                  </a:txBody>
                  <a:tcPr marL="9525" marR="9525" marT="9525" marB="0" anchor="ctr"/>
                </a:tc>
              </a:tr>
              <a:tr h="169606">
                <a:tc>
                  <a:txBody>
                    <a:bodyPr wrap="square"/>
                    <a:lstStyle/>
                    <a:p>
                      <a:pPr algn="l"/>
                      <a:r>
                        <a:rPr sz="1050" b="0" i="0">
                          <a:solidFill>
                            <a:srgbClr val="000000"/>
                          </a:solidFill>
                          <a:latin typeface="Calibri"/>
                        </a:rPr>
                        <a:t>Figure 6: Global Market Share by Material Structure, %, 2026</a:t>
                      </a:r>
                      <a:endParaRPr sz="1050"/>
                    </a:p>
                  </a:txBody>
                  <a:tcPr marL="9525" marR="9525" marT="9525" marB="0" anchor="ctr"/>
                </a:tc>
              </a:tr>
              <a:tr h="169606">
                <a:tc>
                  <a:txBody>
                    <a:bodyPr wrap="square"/>
                    <a:lstStyle/>
                    <a:p>
                      <a:pPr algn="l"/>
                      <a:r>
                        <a:rPr sz="1050" b="0" i="0">
                          <a:solidFill>
                            <a:srgbClr val="000000"/>
                          </a:solidFill>
                          <a:latin typeface="Calibri"/>
                        </a:rPr>
                        <a:t>Figure 7: Global Market Share by Barrier Level, %, 2026</a:t>
                      </a:r>
                      <a:endParaRPr sz="1050"/>
                    </a:p>
                  </a:txBody>
                  <a:tcPr marL="9525" marR="9525" marT="9525" marB="0" anchor="ctr"/>
                </a:tc>
              </a:tr>
              <a:tr h="169606">
                <a:tc>
                  <a:txBody>
                    <a:bodyPr wrap="square"/>
                    <a:lstStyle/>
                    <a:p>
                      <a:pPr algn="l"/>
                      <a:r>
                        <a:rPr sz="1050" b="0" i="0">
                          <a:solidFill>
                            <a:srgbClr val="000000"/>
                          </a:solidFill>
                          <a:latin typeface="Calibri"/>
                        </a:rPr>
                        <a:t>Figure 8: Global Market Share by Application, %, 2026</a:t>
                      </a:r>
                      <a:endParaRPr sz="1050"/>
                    </a:p>
                  </a:txBody>
                  <a:tcPr marL="9525" marR="9525" marT="9525" marB="0" anchor="ctr"/>
                </a:tc>
              </a:tr>
              <a:tr h="169606">
                <a:tc>
                  <a:txBody>
                    <a:bodyPr wrap="square"/>
                    <a:lstStyle/>
                    <a:p>
                      <a:pPr algn="l"/>
                      <a:r>
                        <a:rPr sz="1050" b="0" i="0">
                          <a:solidFill>
                            <a:srgbClr val="000000"/>
                          </a:solidFill>
                          <a:latin typeface="Calibri"/>
                        </a:rPr>
                        <a:t>Figure 9: Global Market Share by Barrier Level Vs Application, %, 2026</a:t>
                      </a:r>
                      <a:endParaRPr sz="1050"/>
                    </a:p>
                  </a:txBody>
                  <a:tcPr marL="9525" marR="9525" marT="9525" marB="0" anchor="ctr"/>
                </a:tc>
              </a:tr>
              <a:tr h="169606">
                <a:tc>
                  <a:txBody>
                    <a:bodyPr wrap="square"/>
                    <a:lstStyle/>
                    <a:p>
                      <a:pPr algn="l"/>
                      <a:r>
                        <a:rPr sz="1050" b="0" i="0">
                          <a:solidFill>
                            <a:srgbClr val="000000"/>
                          </a:solidFill>
                          <a:latin typeface="Calibri"/>
                        </a:rPr>
                        <a:t>Figure 10: Global Market Historical Value, US$ Mn, 2021–2025</a:t>
                      </a:r>
                      <a:endParaRPr sz="1050"/>
                    </a:p>
                  </a:txBody>
                  <a:tcPr marL="9525" marR="9525" marT="9525" marB="0" anchor="ctr"/>
                </a:tc>
              </a:tr>
              <a:tr h="169606">
                <a:tc>
                  <a:txBody>
                    <a:bodyPr wrap="square"/>
                    <a:lstStyle/>
                    <a:p>
                      <a:pPr algn="l"/>
                      <a:r>
                        <a:rPr sz="1050" b="0" i="0">
                          <a:solidFill>
                            <a:srgbClr val="000000"/>
                          </a:solidFill>
                          <a:latin typeface="Calibri"/>
                        </a:rPr>
                        <a:t>Figure 11: Global Market Forecast Value, US$ Mn, 2026–2036</a:t>
                      </a:r>
                      <a:endParaRPr sz="1050"/>
                    </a:p>
                  </a:txBody>
                  <a:tcPr marL="9525" marR="9525" marT="9525" marB="0" anchor="ctr"/>
                </a:tc>
              </a:tr>
              <a:tr h="169606">
                <a:tc>
                  <a:txBody>
                    <a:bodyPr wrap="square"/>
                    <a:lstStyle/>
                    <a:p>
                      <a:pPr algn="l"/>
                      <a:r>
                        <a:rPr sz="1050" b="0" i="0">
                          <a:solidFill>
                            <a:srgbClr val="000000"/>
                          </a:solidFill>
                          <a:latin typeface="Calibri"/>
                        </a:rPr>
                        <a:t>Figure 12: Global Market YoY Growth, %, 2021–2036</a:t>
                      </a:r>
                      <a:endParaRPr sz="1050"/>
                    </a:p>
                  </a:txBody>
                  <a:tcPr marL="9525" marR="9525" marT="9525" marB="0" anchor="ctr"/>
                </a:tc>
              </a:tr>
              <a:tr h="169606">
                <a:tc>
                  <a:txBody>
                    <a:bodyPr wrap="square"/>
                    <a:lstStyle/>
                    <a:p>
                      <a:pPr algn="l"/>
                      <a:r>
                        <a:rPr sz="1050" b="0" i="0">
                          <a:solidFill>
                            <a:srgbClr val="000000"/>
                          </a:solidFill>
                          <a:latin typeface="Calibri"/>
                        </a:rPr>
                        <a:t>Figure 13: Global Market Volume and YoY Growth, Thousand MT and %, 2021–2036</a:t>
                      </a:r>
                      <a:endParaRPr sz="1050"/>
                    </a:p>
                  </a:txBody>
                  <a:tcPr marL="9525" marR="9525" marT="9525" marB="0" anchor="ctr"/>
                </a:tc>
              </a:tr>
              <a:tr h="169606">
                <a:tc>
                  <a:txBody>
                    <a:bodyPr wrap="square"/>
                    <a:lstStyle/>
                    <a:p>
                      <a:pPr algn="l"/>
                      <a:r>
                        <a:rPr sz="1050" b="0" i="0">
                          <a:solidFill>
                            <a:srgbClr val="000000"/>
                          </a:solidFill>
                          <a:latin typeface="Calibri"/>
                        </a:rPr>
                        <a:t>Figure 14: Global Market Volume vs Value CAGR Comparison, %, 2026–2036</a:t>
                      </a:r>
                      <a:endParaRPr sz="1050"/>
                    </a:p>
                  </a:txBody>
                  <a:tcPr marL="9525" marR="9525" marT="9525" marB="0" anchor="ctr"/>
                </a:tc>
              </a:tr>
              <a:tr h="169606">
                <a:tc>
                  <a:txBody>
                    <a:bodyPr wrap="square"/>
                    <a:lstStyle/>
                    <a:p>
                      <a:pPr algn="l"/>
                      <a:r>
                        <a:rPr sz="1050" b="0" i="0">
                          <a:solidFill>
                            <a:srgbClr val="000000"/>
                          </a:solidFill>
                          <a:latin typeface="Calibri"/>
                        </a:rPr>
                        <a:t>Figure 15: Global Market Average Selling Price, US$/MT, 2021–2036</a:t>
                      </a:r>
                      <a:endParaRPr sz="1050"/>
                    </a:p>
                  </a:txBody>
                  <a:tcPr marL="9525" marR="9525" marT="9525" marB="0" anchor="ctr"/>
                </a:tc>
              </a:tr>
              <a:tr h="169606">
                <a:tc>
                  <a:txBody>
                    <a:bodyPr wrap="square"/>
                    <a:lstStyle/>
                    <a:p>
                      <a:pPr algn="l"/>
                      <a:r>
                        <a:rPr sz="1050" b="0" i="0">
                          <a:solidFill>
                            <a:srgbClr val="000000"/>
                          </a:solidFill>
                          <a:latin typeface="Calibri"/>
                        </a:rPr>
                        <a:t>Figure 16: Global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17: Global Market Incremental Opportunity by Year, US$ Mn, 2026–2036</a:t>
                      </a:r>
                      <a:endParaRPr sz="1050"/>
                    </a:p>
                  </a:txBody>
                  <a:tcPr marL="9525" marR="9525" marT="9525" marB="0" anchor="ctr"/>
                </a:tc>
              </a:tr>
              <a:tr h="169606">
                <a:tc>
                  <a:txBody>
                    <a:bodyPr wrap="square"/>
                    <a:lstStyle/>
                    <a:p>
                      <a:pPr algn="l"/>
                      <a:r>
                        <a:rPr sz="1050" b="0" i="0">
                          <a:solidFill>
                            <a:srgbClr val="000000"/>
                          </a:solidFill>
                          <a:latin typeface="Calibri"/>
                        </a:rPr>
                        <a:t>Figure 18: Global Market Historical vs Forecast CAGR, %, 2021–2036</a:t>
                      </a:r>
                      <a:endParaRPr sz="1050"/>
                    </a:p>
                  </a:txBody>
                  <a:tcPr marL="9525" marR="9525" marT="9525" marB="0" anchor="ctr"/>
                </a:tc>
              </a:tr>
              <a:tr h="169606">
                <a:tc>
                  <a:txBody>
                    <a:bodyPr wrap="square"/>
                    <a:lstStyle/>
                    <a:p>
                      <a:pPr algn="l"/>
                      <a:r>
                        <a:rPr sz="1050" b="0" i="0">
                          <a:solidFill>
                            <a:srgbClr val="000000"/>
                          </a:solidFill>
                          <a:latin typeface="Calibri"/>
                        </a:rPr>
                        <a:t>Figure 19: Global Market Value by Scenario (Optimistic, Likely, Pessimistic), US$ Mn, 2026–2036</a:t>
                      </a:r>
                      <a:endParaRPr sz="1050"/>
                    </a:p>
                  </a:txBody>
                  <a:tcPr marL="9525" marR="9525" marT="9525" marB="0" anchor="ctr"/>
                </a:tc>
              </a:tr>
              <a:tr h="169606">
                <a:tc>
                  <a:txBody>
                    <a:bodyPr wrap="square"/>
                    <a:lstStyle/>
                    <a:p>
                      <a:pPr algn="l"/>
                      <a:r>
                        <a:rPr sz="1050" b="0" i="0">
                          <a:solidFill>
                            <a:srgbClr val="000000"/>
                          </a:solidFill>
                          <a:latin typeface="Calibri"/>
                        </a:rPr>
                        <a:t>Figure 20: Global Market Size Evolution Index, 2025=100, 2021–2036</a:t>
                      </a:r>
                      <a:endParaRPr sz="1050"/>
                    </a:p>
                  </a:txBody>
                  <a:tcPr marL="9525" marR="9525" marT="9525" marB="0" anchor="ctr"/>
                </a:tc>
              </a:tr>
              <a:tr h="169606">
                <a:tc>
                  <a:txBody>
                    <a:bodyPr wrap="square"/>
                    <a:lstStyle/>
                    <a:p>
                      <a:pPr algn="l"/>
                      <a:r>
                        <a:rPr sz="1050" b="0" i="0">
                          <a:solidFill>
                            <a:srgbClr val="000000"/>
                          </a:solidFill>
                          <a:latin typeface="Calibri"/>
                        </a:rPr>
                        <a:t>Figure 21: Global Market Value by Product Type, US$ Mn, 2021–2036</a:t>
                      </a:r>
                      <a:endParaRPr sz="1050"/>
                    </a:p>
                  </a:txBody>
                  <a:tcPr marL="9525" marR="9525" marT="9525" marB="0" anchor="ctr"/>
                </a:tc>
              </a:tr>
              <a:tr h="169606">
                <a:tc>
                  <a:txBody>
                    <a:bodyPr wrap="square"/>
                    <a:lstStyle/>
                    <a:p>
                      <a:pPr algn="l"/>
                      <a:r>
                        <a:rPr sz="1050" b="0" i="0">
                          <a:solidFill>
                            <a:srgbClr val="000000"/>
                          </a:solidFill>
                          <a:latin typeface="Calibri"/>
                        </a:rPr>
                        <a:t>Figure 22: Global Market Value by Principal Material / Barrier Technology, US$ Mn, 2021–2036</a:t>
                      </a:r>
                      <a:endParaRPr sz="1050"/>
                    </a:p>
                  </a:txBody>
                  <a:tcPr marL="9525" marR="9525" marT="9525" marB="0" anchor="ctr"/>
                </a:tc>
              </a:tr>
              <a:tr h="169606">
                <a:tc>
                  <a:txBody>
                    <a:bodyPr wrap="square"/>
                    <a:lstStyle/>
                    <a:p>
                      <a:pPr algn="l"/>
                      <a:r>
                        <a:rPr sz="1050" b="0" i="0">
                          <a:solidFill>
                            <a:srgbClr val="000000"/>
                          </a:solidFill>
                          <a:latin typeface="Calibri"/>
                        </a:rPr>
                        <a:t>Figure 23: Global Market Value by Material Structure, US$ Mn, 2021–2036</a:t>
                      </a:r>
                      <a:endParaRPr sz="1050"/>
                    </a:p>
                  </a:txBody>
                  <a:tcPr marL="9525" marR="9525" marT="9525" marB="0" anchor="ctr"/>
                </a:tc>
              </a:tr>
              <a:tr h="169606">
                <a:tc>
                  <a:txBody>
                    <a:bodyPr wrap="square"/>
                    <a:lstStyle/>
                    <a:p>
                      <a:pPr algn="l"/>
                      <a:r>
                        <a:rPr sz="1050" b="0" i="0">
                          <a:solidFill>
                            <a:srgbClr val="000000"/>
                          </a:solidFill>
                          <a:latin typeface="Calibri"/>
                        </a:rPr>
                        <a:t>Figure 24: Global Market Value by Barrier Level, US$ Mn, 2021–2036</a:t>
                      </a:r>
                      <a:endParaRPr sz="1050"/>
                    </a:p>
                  </a:txBody>
                  <a:tcPr marL="9525" marR="9525" marT="9525" marB="0" anchor="ctr"/>
                </a:tc>
              </a:tr>
              <a:tr h="169606">
                <a:tc>
                  <a:txBody>
                    <a:bodyPr wrap="square"/>
                    <a:lstStyle/>
                    <a:p>
                      <a:pPr algn="l"/>
                      <a:r>
                        <a:rPr sz="1050" b="0" i="0">
                          <a:solidFill>
                            <a:srgbClr val="000000"/>
                          </a:solidFill>
                          <a:latin typeface="Calibri"/>
                        </a:rPr>
                        <a:t>Figure 25: Global Market Value by Application, US$ Mn, 2021–2036</a:t>
                      </a:r>
                      <a:endParaRPr sz="1050"/>
                    </a:p>
                  </a:txBody>
                  <a:tcPr marL="9525" marR="9525" marT="9525" marB="0" anchor="ctr"/>
                </a:tc>
              </a:tr>
              <a:tr h="169606">
                <a:tc>
                  <a:txBody>
                    <a:bodyPr wrap="square"/>
                    <a:lstStyle/>
                    <a:p>
                      <a:pPr algn="l"/>
                      <a:r>
                        <a:rPr sz="1050" b="0" i="0">
                          <a:solidFill>
                            <a:srgbClr val="000000"/>
                          </a:solidFill>
                          <a:latin typeface="Calibri"/>
                        </a:rPr>
                        <a:t>Figure 26: Global Market Value by Barrier Level Vs Application, US$ Mn, 2021–2036</a:t>
                      </a:r>
                      <a:endParaRPr sz="1050"/>
                    </a:p>
                  </a:txBody>
                  <a:tcPr marL="9525" marR="9525" marT="9525" marB="0" anchor="ctr"/>
                </a:tc>
              </a:tr>
              <a:tr h="169606">
                <a:tc>
                  <a:txBody>
                    <a:bodyPr wrap="square"/>
                    <a:lstStyle/>
                    <a:p>
                      <a:pPr algn="l"/>
                      <a:r>
                        <a:rPr sz="1050" b="0" i="0">
                          <a:solidFill>
                            <a:srgbClr val="000000"/>
                          </a:solidFill>
                          <a:latin typeface="Calibri"/>
                        </a:rPr>
                        <a:t>Figure 27: Global Market Share by Product Type, %, 2026 and 2036</a:t>
                      </a:r>
                      <a:endParaRPr sz="1050"/>
                    </a:p>
                  </a:txBody>
                  <a:tcPr marL="9525" marR="9525" marT="9525" marB="0" anchor="ctr"/>
                </a:tc>
              </a:tr>
              <a:tr h="169606">
                <a:tc>
                  <a:txBody>
                    <a:bodyPr wrap="square"/>
                    <a:lstStyle/>
                    <a:p>
                      <a:pPr algn="l"/>
                      <a:r>
                        <a:rPr sz="1050" b="0" i="0">
                          <a:solidFill>
                            <a:srgbClr val="000000"/>
                          </a:solidFill>
                          <a:latin typeface="Calibri"/>
                        </a:rPr>
                        <a:t>Figure 28: Global Market Share by Principal Material / Barrier Technology, %, 2026 and 2036</a:t>
                      </a:r>
                      <a:endParaRPr sz="1050"/>
                    </a:p>
                  </a:txBody>
                  <a:tcPr marL="9525" marR="9525" marT="9525" marB="0" anchor="ctr"/>
                </a:tc>
              </a:tr>
              <a:tr h="169606">
                <a:tc>
                  <a:txBody>
                    <a:bodyPr wrap="square"/>
                    <a:lstStyle/>
                    <a:p>
                      <a:pPr algn="l"/>
                      <a:r>
                        <a:rPr sz="1050" b="0" i="0">
                          <a:solidFill>
                            <a:srgbClr val="000000"/>
                          </a:solidFill>
                          <a:latin typeface="Calibri"/>
                        </a:rPr>
                        <a:t>Figure 29: Global Market Share by Material Structure, %, 2026 and 2036</a:t>
                      </a:r>
                      <a:endParaRPr sz="1050"/>
                    </a:p>
                  </a:txBody>
                  <a:tcPr marL="9525" marR="9525" marT="9525" marB="0" anchor="ctr"/>
                </a:tc>
              </a:tr>
              <a:tr h="169606">
                <a:tc>
                  <a:txBody>
                    <a:bodyPr wrap="square"/>
                    <a:lstStyle/>
                    <a:p>
                      <a:pPr algn="l"/>
                      <a:r>
                        <a:rPr sz="1050" b="0" i="0">
                          <a:solidFill>
                            <a:srgbClr val="000000"/>
                          </a:solidFill>
                          <a:latin typeface="Calibri"/>
                        </a:rPr>
                        <a:t>Figure 30: Global Market Share by Barrier Level, %, 2026 and 2036</a:t>
                      </a:r>
                      <a:endParaRPr sz="1050"/>
                    </a:p>
                  </a:txBody>
                  <a:tcPr marL="9525" marR="9525" marT="9525" marB="0" anchor="ctr"/>
                </a:tc>
              </a:tr>
              <a:tr h="169606">
                <a:tc>
                  <a:txBody>
                    <a:bodyPr wrap="square"/>
                    <a:lstStyle/>
                    <a:p>
                      <a:pPr algn="l"/>
                      <a:r>
                        <a:rPr sz="1050" b="0" i="0">
                          <a:solidFill>
                            <a:srgbClr val="000000"/>
                          </a:solidFill>
                          <a:latin typeface="Calibri"/>
                        </a:rPr>
                        <a:t>Figure 31: Global Market Share by Application, %, 2026 and 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12"/>
        </p:xfrm>
        <a:graphic>
          <a:graphicData uri="http://schemas.openxmlformats.org/drawingml/2006/table">
            <a:tbl>
              <a:tblPr>
                <a:tableStyleId>{3B4B98B0-60AC-42C2-AFA5-B58CD77FA1E5}</a:tableStyleId>
              </a:tblPr>
              <a:tblGrid>
                <a:gridCol w="5876925"/>
              </a:tblGrid>
              <a:tr h="169826">
                <a:tc>
                  <a:txBody>
                    <a:bodyPr wrap="square"/>
                    <a:lstStyle/>
                    <a:p>
                      <a:pPr algn="l"/>
                      <a:r>
                        <a:rPr sz="1050" b="0" i="0">
                          <a:solidFill>
                            <a:srgbClr val="000000"/>
                          </a:solidFill>
                          <a:latin typeface="Calibri"/>
                        </a:rPr>
                        <a:t>Figure 32: Global Market Share by Barrier Level Vs Application, %, 2026 and 2036</a:t>
                      </a:r>
                      <a:endParaRPr sz="1050"/>
                    </a:p>
                  </a:txBody>
                  <a:tcPr marL="9525" marR="9525" marT="9525" marB="0" anchor="ctr"/>
                </a:tc>
              </a:tr>
              <a:tr h="169826">
                <a:tc>
                  <a:txBody>
                    <a:bodyPr wrap="square"/>
                    <a:lstStyle/>
                    <a:p>
                      <a:pPr algn="l"/>
                      <a:r>
                        <a:rPr sz="1050" b="0" i="0">
                          <a:solidFill>
                            <a:srgbClr val="000000"/>
                          </a:solidFill>
                          <a:latin typeface="Calibri"/>
                        </a:rPr>
                        <a:t>Figure 33: Global Market Absolute $ Opportunity by Product Type, US$ Mn, 2026–2036</a:t>
                      </a:r>
                      <a:endParaRPr sz="1050"/>
                    </a:p>
                  </a:txBody>
                  <a:tcPr marL="9525" marR="9525" marT="9525" marB="0" anchor="ctr"/>
                </a:tc>
              </a:tr>
              <a:tr h="332858">
                <a:tc>
                  <a:txBody>
                    <a:bodyPr wrap="square"/>
                    <a:lstStyle/>
                    <a:p>
                      <a:pPr algn="l"/>
                      <a:r>
                        <a:rPr sz="1050" b="0" i="0">
                          <a:solidFill>
                            <a:srgbClr val="000000"/>
                          </a:solidFill>
                          <a:latin typeface="Calibri"/>
                        </a:rPr>
                        <a:t>Figure 34: Global Market Absolute $ Opportunity by Principal Material / Barrier Technology, US$ Mn, 2026–2036</a:t>
                      </a:r>
                      <a:endParaRPr sz="1050"/>
                    </a:p>
                  </a:txBody>
                  <a:tcPr marL="9525" marR="9525" marT="9525" marB="0" anchor="ctr"/>
                </a:tc>
              </a:tr>
              <a:tr h="169826">
                <a:tc>
                  <a:txBody>
                    <a:bodyPr wrap="square"/>
                    <a:lstStyle/>
                    <a:p>
                      <a:pPr algn="l"/>
                      <a:r>
                        <a:rPr sz="1050" b="0" i="0">
                          <a:solidFill>
                            <a:srgbClr val="000000"/>
                          </a:solidFill>
                          <a:latin typeface="Calibri"/>
                        </a:rPr>
                        <a:t>Figure 35: Global Market Absolute $ Opportunity by Material Structure, US$ Mn, 2026–2036</a:t>
                      </a:r>
                      <a:endParaRPr sz="1050"/>
                    </a:p>
                  </a:txBody>
                  <a:tcPr marL="9525" marR="9525" marT="9525" marB="0" anchor="ctr"/>
                </a:tc>
              </a:tr>
              <a:tr h="169826">
                <a:tc>
                  <a:txBody>
                    <a:bodyPr wrap="square"/>
                    <a:lstStyle/>
                    <a:p>
                      <a:pPr algn="l"/>
                      <a:r>
                        <a:rPr sz="1050" b="0" i="0">
                          <a:solidFill>
                            <a:srgbClr val="000000"/>
                          </a:solidFill>
                          <a:latin typeface="Calibri"/>
                        </a:rPr>
                        <a:t>Figure 36: Global Market Absolute $ Opportunity by Barrier Level, US$ Mn, 2026–2036</a:t>
                      </a:r>
                      <a:endParaRPr sz="1050"/>
                    </a:p>
                  </a:txBody>
                  <a:tcPr marL="9525" marR="9525" marT="9525" marB="0" anchor="ctr"/>
                </a:tc>
              </a:tr>
              <a:tr h="169826">
                <a:tc>
                  <a:txBody>
                    <a:bodyPr wrap="square"/>
                    <a:lstStyle/>
                    <a:p>
                      <a:pPr algn="l"/>
                      <a:r>
                        <a:rPr sz="1050" b="0" i="0">
                          <a:solidFill>
                            <a:srgbClr val="000000"/>
                          </a:solidFill>
                          <a:latin typeface="Calibri"/>
                        </a:rPr>
                        <a:t>Figure 37: Global Market Absolute $ Opportunity by Application, US$ Mn, 2026–2036</a:t>
                      </a:r>
                      <a:endParaRPr sz="1050"/>
                    </a:p>
                  </a:txBody>
                  <a:tcPr marL="9525" marR="9525" marT="9525" marB="0" anchor="ctr"/>
                </a:tc>
              </a:tr>
              <a:tr h="169826">
                <a:tc>
                  <a:txBody>
                    <a:bodyPr wrap="square"/>
                    <a:lstStyle/>
                    <a:p>
                      <a:pPr algn="l"/>
                      <a:r>
                        <a:rPr sz="1050" b="0" i="0">
                          <a:solidFill>
                            <a:srgbClr val="000000"/>
                          </a:solidFill>
                          <a:latin typeface="Calibri"/>
                        </a:rPr>
                        <a:t>Figure 38: Global Market Absolute $ Opportunity by Barrier Level Vs Application, US$ Mn, 2026–2036</a:t>
                      </a:r>
                      <a:endParaRPr sz="1050"/>
                    </a:p>
                  </a:txBody>
                  <a:tcPr marL="9525" marR="9525" marT="9525" marB="0" anchor="ctr"/>
                </a:tc>
              </a:tr>
              <a:tr h="169826">
                <a:tc>
                  <a:txBody>
                    <a:bodyPr wrap="square"/>
                    <a:lstStyle/>
                    <a:p>
                      <a:pPr algn="l"/>
                      <a:r>
                        <a:rPr sz="1050" b="0" i="0">
                          <a:solidFill>
                            <a:srgbClr val="000000"/>
                          </a:solidFill>
                          <a:latin typeface="Calibri"/>
                        </a:rPr>
                        <a:t>Figure 39: Global Market BPS Share Change by Product Type, 2026–2036</a:t>
                      </a:r>
                      <a:endParaRPr sz="1050"/>
                    </a:p>
                  </a:txBody>
                  <a:tcPr marL="9525" marR="9525" marT="9525" marB="0" anchor="ctr"/>
                </a:tc>
              </a:tr>
              <a:tr h="169826">
                <a:tc>
                  <a:txBody>
                    <a:bodyPr wrap="square"/>
                    <a:lstStyle/>
                    <a:p>
                      <a:pPr algn="l"/>
                      <a:r>
                        <a:rPr sz="1050" b="0" i="0">
                          <a:solidFill>
                            <a:srgbClr val="000000"/>
                          </a:solidFill>
                          <a:latin typeface="Calibri"/>
                        </a:rPr>
                        <a:t>Figure 40: Global Market BPS Share Change by Principal Material / Barrier Technology, 2026–2036</a:t>
                      </a:r>
                      <a:endParaRPr sz="1050"/>
                    </a:p>
                  </a:txBody>
                  <a:tcPr marL="9525" marR="9525" marT="9525" marB="0" anchor="ctr"/>
                </a:tc>
              </a:tr>
              <a:tr h="169826">
                <a:tc>
                  <a:txBody>
                    <a:bodyPr wrap="square"/>
                    <a:lstStyle/>
                    <a:p>
                      <a:pPr algn="l"/>
                      <a:r>
                        <a:rPr sz="1050" b="0" i="0">
                          <a:solidFill>
                            <a:srgbClr val="000000"/>
                          </a:solidFill>
                          <a:latin typeface="Calibri"/>
                        </a:rPr>
                        <a:t>Figure 41: Global Market BPS Share Change by Material Structure, 2026–2036</a:t>
                      </a:r>
                      <a:endParaRPr sz="1050"/>
                    </a:p>
                  </a:txBody>
                  <a:tcPr marL="9525" marR="9525" marT="9525" marB="0" anchor="ctr"/>
                </a:tc>
              </a:tr>
              <a:tr h="169826">
                <a:tc>
                  <a:txBody>
                    <a:bodyPr wrap="square"/>
                    <a:lstStyle/>
                    <a:p>
                      <a:pPr algn="l"/>
                      <a:r>
                        <a:rPr sz="1050" b="0" i="0">
                          <a:solidFill>
                            <a:srgbClr val="000000"/>
                          </a:solidFill>
                          <a:latin typeface="Calibri"/>
                        </a:rPr>
                        <a:t>Figure 42: Global Market BPS Share Change by Barrier Level, 2026–2036</a:t>
                      </a:r>
                      <a:endParaRPr sz="1050"/>
                    </a:p>
                  </a:txBody>
                  <a:tcPr marL="9525" marR="9525" marT="9525" marB="0" anchor="ctr"/>
                </a:tc>
              </a:tr>
              <a:tr h="169826">
                <a:tc>
                  <a:txBody>
                    <a:bodyPr wrap="square"/>
                    <a:lstStyle/>
                    <a:p>
                      <a:pPr algn="l"/>
                      <a:r>
                        <a:rPr sz="1050" b="0" i="0">
                          <a:solidFill>
                            <a:srgbClr val="000000"/>
                          </a:solidFill>
                          <a:latin typeface="Calibri"/>
                        </a:rPr>
                        <a:t>Figure 43: Global Market BPS Share Change by Application, 2026–2036</a:t>
                      </a:r>
                      <a:endParaRPr sz="1050"/>
                    </a:p>
                  </a:txBody>
                  <a:tcPr marL="9525" marR="9525" marT="9525" marB="0" anchor="ctr"/>
                </a:tc>
              </a:tr>
              <a:tr h="169826">
                <a:tc>
                  <a:txBody>
                    <a:bodyPr wrap="square"/>
                    <a:lstStyle/>
                    <a:p>
                      <a:pPr algn="l"/>
                      <a:r>
                        <a:rPr sz="1050" b="0" i="0">
                          <a:solidFill>
                            <a:srgbClr val="000000"/>
                          </a:solidFill>
                          <a:latin typeface="Calibri"/>
                        </a:rPr>
                        <a:t>Figure 44: Global Market BPS Share Change by Barrier Level Vs Application, 2026–2036</a:t>
                      </a:r>
                      <a:endParaRPr sz="1050"/>
                    </a:p>
                  </a:txBody>
                  <a:tcPr marL="9525" marR="9525" marT="9525" marB="0" anchor="ctr"/>
                </a:tc>
              </a:tr>
              <a:tr h="169826">
                <a:tc>
                  <a:txBody>
                    <a:bodyPr wrap="square"/>
                    <a:lstStyle/>
                    <a:p>
                      <a:pPr algn="l"/>
                      <a:r>
                        <a:rPr sz="1050" b="0" i="0">
                          <a:solidFill>
                            <a:srgbClr val="000000"/>
                          </a:solidFill>
                          <a:latin typeface="Calibri"/>
                        </a:rPr>
                        <a:t>Figure 45: Global Market YoY Growth by Product Type, %, 2026–2036</a:t>
                      </a:r>
                      <a:endParaRPr sz="1050"/>
                    </a:p>
                  </a:txBody>
                  <a:tcPr marL="9525" marR="9525" marT="9525" marB="0" anchor="ctr"/>
                </a:tc>
              </a:tr>
              <a:tr h="169826">
                <a:tc>
                  <a:txBody>
                    <a:bodyPr wrap="square"/>
                    <a:lstStyle/>
                    <a:p>
                      <a:pPr algn="l"/>
                      <a:r>
                        <a:rPr sz="1050" b="0" i="0">
                          <a:solidFill>
                            <a:srgbClr val="000000"/>
                          </a:solidFill>
                          <a:latin typeface="Calibri"/>
                        </a:rPr>
                        <a:t>Figure 46: Global Market YoY Growth by Principal Material / Barrier Technology, %, 2026–2036</a:t>
                      </a:r>
                      <a:endParaRPr sz="1050"/>
                    </a:p>
                  </a:txBody>
                  <a:tcPr marL="9525" marR="9525" marT="9525" marB="0" anchor="ctr"/>
                </a:tc>
              </a:tr>
              <a:tr h="169826">
                <a:tc>
                  <a:txBody>
                    <a:bodyPr wrap="square"/>
                    <a:lstStyle/>
                    <a:p>
                      <a:pPr algn="l"/>
                      <a:r>
                        <a:rPr sz="1050" b="0" i="0">
                          <a:solidFill>
                            <a:srgbClr val="000000"/>
                          </a:solidFill>
                          <a:latin typeface="Calibri"/>
                        </a:rPr>
                        <a:t>Figure 47: Global Market YoY Growth by Material Structure, %, 2026–2036</a:t>
                      </a:r>
                      <a:endParaRPr sz="1050"/>
                    </a:p>
                  </a:txBody>
                  <a:tcPr marL="9525" marR="9525" marT="9525" marB="0" anchor="ctr"/>
                </a:tc>
              </a:tr>
              <a:tr h="169826">
                <a:tc>
                  <a:txBody>
                    <a:bodyPr wrap="square"/>
                    <a:lstStyle/>
                    <a:p>
                      <a:pPr algn="l"/>
                      <a:r>
                        <a:rPr sz="1050" b="0" i="0">
                          <a:solidFill>
                            <a:srgbClr val="000000"/>
                          </a:solidFill>
                          <a:latin typeface="Calibri"/>
                        </a:rPr>
                        <a:t>Figure 48: Global Market YoY Growth by Barrier Level, %, 2026–2036</a:t>
                      </a:r>
                      <a:endParaRPr sz="1050"/>
                    </a:p>
                  </a:txBody>
                  <a:tcPr marL="9525" marR="9525" marT="9525" marB="0" anchor="ctr"/>
                </a:tc>
              </a:tr>
              <a:tr h="169826">
                <a:tc>
                  <a:txBody>
                    <a:bodyPr wrap="square"/>
                    <a:lstStyle/>
                    <a:p>
                      <a:pPr algn="l"/>
                      <a:r>
                        <a:rPr sz="1050" b="0" i="0">
                          <a:solidFill>
                            <a:srgbClr val="000000"/>
                          </a:solidFill>
                          <a:latin typeface="Calibri"/>
                        </a:rPr>
                        <a:t>Figure 49: Global Market YoY Growth by Application, %, 2026–2036</a:t>
                      </a:r>
                      <a:endParaRPr sz="1050"/>
                    </a:p>
                  </a:txBody>
                  <a:tcPr marL="9525" marR="9525" marT="9525" marB="0" anchor="ctr"/>
                </a:tc>
              </a:tr>
              <a:tr h="169826">
                <a:tc>
                  <a:txBody>
                    <a:bodyPr wrap="square"/>
                    <a:lstStyle/>
                    <a:p>
                      <a:pPr algn="l"/>
                      <a:r>
                        <a:rPr sz="1050" b="0" i="0">
                          <a:solidFill>
                            <a:srgbClr val="000000"/>
                          </a:solidFill>
                          <a:latin typeface="Calibri"/>
                        </a:rPr>
                        <a:t>Figure 50: Global Market YoY Growth by Barrier Level Vs Application, %, 2026–2036</a:t>
                      </a:r>
                      <a:endParaRPr sz="1050"/>
                    </a:p>
                  </a:txBody>
                  <a:tcPr marL="9525" marR="9525" marT="9525" marB="0" anchor="ctr"/>
                </a:tc>
              </a:tr>
              <a:tr h="169826">
                <a:tc>
                  <a:txBody>
                    <a:bodyPr wrap="square"/>
                    <a:lstStyle/>
                    <a:p>
                      <a:pPr algn="l"/>
                      <a:r>
                        <a:rPr sz="1050" b="0" i="0">
                          <a:solidFill>
                            <a:srgbClr val="000000"/>
                          </a:solidFill>
                          <a:latin typeface="Calibri"/>
                        </a:rPr>
                        <a:t>Figure 51: Global Market Attractiveness by Product Type, 2026–2036</a:t>
                      </a:r>
                      <a:endParaRPr sz="1050"/>
                    </a:p>
                  </a:txBody>
                  <a:tcPr marL="9525" marR="9525" marT="9525" marB="0" anchor="ctr"/>
                </a:tc>
              </a:tr>
              <a:tr h="169826">
                <a:tc>
                  <a:txBody>
                    <a:bodyPr wrap="square"/>
                    <a:lstStyle/>
                    <a:p>
                      <a:pPr algn="l"/>
                      <a:r>
                        <a:rPr sz="1050" b="0" i="0">
                          <a:solidFill>
                            <a:srgbClr val="000000"/>
                          </a:solidFill>
                          <a:latin typeface="Calibri"/>
                        </a:rPr>
                        <a:t>Figure 52: Global Market Attractiveness by Principal Material / Barrier Technology, 2026–2036</a:t>
                      </a:r>
                      <a:endParaRPr sz="1050"/>
                    </a:p>
                  </a:txBody>
                  <a:tcPr marL="9525" marR="9525" marT="9525" marB="0" anchor="ctr"/>
                </a:tc>
              </a:tr>
              <a:tr h="169826">
                <a:tc>
                  <a:txBody>
                    <a:bodyPr wrap="square"/>
                    <a:lstStyle/>
                    <a:p>
                      <a:pPr algn="l"/>
                      <a:r>
                        <a:rPr sz="1050" b="0" i="0">
                          <a:solidFill>
                            <a:srgbClr val="000000"/>
                          </a:solidFill>
                          <a:latin typeface="Calibri"/>
                        </a:rPr>
                        <a:t>Figure 53: Global Market Attractiveness by Material Structure, 2026–2036</a:t>
                      </a:r>
                      <a:endParaRPr sz="1050"/>
                    </a:p>
                  </a:txBody>
                  <a:tcPr marL="9525" marR="9525" marT="9525" marB="0" anchor="ctr"/>
                </a:tc>
              </a:tr>
              <a:tr h="169826">
                <a:tc>
                  <a:txBody>
                    <a:bodyPr wrap="square"/>
                    <a:lstStyle/>
                    <a:p>
                      <a:pPr algn="l"/>
                      <a:r>
                        <a:rPr sz="1050" b="0" i="0">
                          <a:solidFill>
                            <a:srgbClr val="000000"/>
                          </a:solidFill>
                          <a:latin typeface="Calibri"/>
                        </a:rPr>
                        <a:t>Figure 54: Global Market Attractiveness by Barrier Level, 2026–2036</a:t>
                      </a:r>
                      <a:endParaRPr sz="1050"/>
                    </a:p>
                  </a:txBody>
                  <a:tcPr marL="9525" marR="9525" marT="9525" marB="0" anchor="ctr"/>
                </a:tc>
              </a:tr>
              <a:tr h="169826">
                <a:tc>
                  <a:txBody>
                    <a:bodyPr wrap="square"/>
                    <a:lstStyle/>
                    <a:p>
                      <a:pPr algn="l"/>
                      <a:r>
                        <a:rPr sz="1050" b="0" i="0">
                          <a:solidFill>
                            <a:srgbClr val="000000"/>
                          </a:solidFill>
                          <a:latin typeface="Calibri"/>
                        </a:rPr>
                        <a:t>Figure 55: Global Market Attractiveness by Application, 2026–2036</a:t>
                      </a:r>
                      <a:endParaRPr sz="1050"/>
                    </a:p>
                  </a:txBody>
                  <a:tcPr marL="9525" marR="9525" marT="9525" marB="0" anchor="ctr"/>
                </a:tc>
              </a:tr>
              <a:tr h="169826">
                <a:tc>
                  <a:txBody>
                    <a:bodyPr wrap="square"/>
                    <a:lstStyle/>
                    <a:p>
                      <a:pPr algn="l"/>
                      <a:r>
                        <a:rPr sz="1050" b="0" i="0">
                          <a:solidFill>
                            <a:srgbClr val="000000"/>
                          </a:solidFill>
                          <a:latin typeface="Calibri"/>
                        </a:rPr>
                        <a:t>Figure 56: Global Market Attractiveness by Barrier Level Vs Application, 2026–2036</a:t>
                      </a:r>
                      <a:endParaRPr sz="1050"/>
                    </a:p>
                  </a:txBody>
                  <a:tcPr marL="9525" marR="9525" marT="9525" marB="0" anchor="ctr"/>
                </a:tc>
              </a:tr>
              <a:tr h="169826">
                <a:tc>
                  <a:txBody>
                    <a:bodyPr wrap="square"/>
                    <a:lstStyle/>
                    <a:p>
                      <a:pPr algn="l"/>
                      <a:r>
                        <a:rPr sz="1050" b="0" i="0">
                          <a:solidFill>
                            <a:srgbClr val="000000"/>
                          </a:solidFill>
                          <a:latin typeface="Calibri"/>
                        </a:rPr>
                        <a:t>Figure 57: Global Market Volume by Product Type, Thousand MT, 2021–2036</a:t>
                      </a:r>
                      <a:endParaRPr sz="1050"/>
                    </a:p>
                  </a:txBody>
                  <a:tcPr marL="9525" marR="9525" marT="9525" marB="0" anchor="ctr"/>
                </a:tc>
              </a:tr>
              <a:tr h="169826">
                <a:tc>
                  <a:txBody>
                    <a:bodyPr wrap="square"/>
                    <a:lstStyle/>
                    <a:p>
                      <a:pPr algn="l"/>
                      <a:r>
                        <a:rPr sz="1050" b="0" i="0">
                          <a:solidFill>
                            <a:srgbClr val="000000"/>
                          </a:solidFill>
                          <a:latin typeface="Calibri"/>
                        </a:rPr>
                        <a:t>Figure 58: Global Market Volume by Principal Material / Barrier Technology, Thousand MT, 2021–2036</a:t>
                      </a:r>
                      <a:endParaRPr sz="1050"/>
                    </a:p>
                  </a:txBody>
                  <a:tcPr marL="9525" marR="9525" marT="9525" marB="0" anchor="ctr"/>
                </a:tc>
              </a:tr>
              <a:tr h="169826">
                <a:tc>
                  <a:txBody>
                    <a:bodyPr wrap="square"/>
                    <a:lstStyle/>
                    <a:p>
                      <a:pPr algn="l"/>
                      <a:r>
                        <a:rPr sz="1050" b="0" i="0">
                          <a:solidFill>
                            <a:srgbClr val="000000"/>
                          </a:solidFill>
                          <a:latin typeface="Calibri"/>
                        </a:rPr>
                        <a:t>Figure 59: Global Market Volume by Material Structure, Thousand MT, 2021–2036</a:t>
                      </a:r>
                      <a:endParaRPr sz="1050"/>
                    </a:p>
                  </a:txBody>
                  <a:tcPr marL="9525" marR="9525" marT="9525" marB="0" anchor="ctr"/>
                </a:tc>
              </a:tr>
              <a:tr h="169826">
                <a:tc>
                  <a:txBody>
                    <a:bodyPr wrap="square"/>
                    <a:lstStyle/>
                    <a:p>
                      <a:pPr algn="l"/>
                      <a:r>
                        <a:rPr sz="1050" b="0" i="0">
                          <a:solidFill>
                            <a:srgbClr val="000000"/>
                          </a:solidFill>
                          <a:latin typeface="Calibri"/>
                        </a:rPr>
                        <a:t>Figure 60: Global Market Volume by Barrier Level, Thousand MT, 2021–2036</a:t>
                      </a:r>
                      <a:endParaRPr sz="1050"/>
                    </a:p>
                  </a:txBody>
                  <a:tcPr marL="9525" marR="9525" marT="9525" marB="0" anchor="ctr"/>
                </a:tc>
              </a:tr>
              <a:tr h="169826">
                <a:tc>
                  <a:txBody>
                    <a:bodyPr wrap="square"/>
                    <a:lstStyle/>
                    <a:p>
                      <a:pPr algn="l"/>
                      <a:r>
                        <a:rPr sz="1050" b="0" i="0">
                          <a:solidFill>
                            <a:srgbClr val="000000"/>
                          </a:solidFill>
                          <a:latin typeface="Calibri"/>
                        </a:rPr>
                        <a:t>Figure 61: Global Market Volume by Application, Thousand MT, 2021–2036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(2/4)</a:t>
            </a:r>
          </a:p>
        </p:txBody>
      </p:sp>
      <p:graphicFrame>
        <p:nvGraphicFramePr>
          <p:cNvPr id="9" name="FMI Contents Table"/>
          <p:cNvGraphicFramePr>
            <a:graphicFrameLocks noGrp="1"/>
          </p:cNvGraphicFramePr>
          <p:nvPr/>
        </p:nvGraphicFramePr>
        <p:xfrm>
          <a:off x="142875" y="981075"/>
          <a:ext cx="5876925" cy="5257793"/>
        </p:xfrm>
        <a:graphic>
          <a:graphicData uri="http://schemas.openxmlformats.org/drawingml/2006/table">
            <a:tbl>
              <a:tblPr>
                <a:tableStyleId>{3B4B98B0-60AC-42C2-AFA5-B58CD77FA1E5}</a:tableStyleId>
              </a:tblPr>
              <a:tblGrid>
                <a:gridCol w="5876925"/>
              </a:tblGrid>
              <a:tr h="170045">
                <a:tc>
                  <a:txBody>
                    <a:bodyPr wrap="square"/>
                    <a:lstStyle/>
                    <a:p>
                      <a:pPr algn="l"/>
                      <a:r>
                        <a:rPr sz="1050" b="0" i="0">
                          <a:solidFill>
                            <a:srgbClr val="000000"/>
                          </a:solidFill>
                          <a:latin typeface="Calibri"/>
                        </a:rPr>
                        <a:t>Figure 62: Global Market Volume by Barrier Level Vs Application, Thousand MT, 2021–2036</a:t>
                      </a:r>
                      <a:endParaRPr sz="1050"/>
                    </a:p>
                  </a:txBody>
                  <a:tcPr marL="9525" marR="9525" marT="9525" marB="0" anchor="ctr"/>
                </a:tc>
              </a:tr>
              <a:tr h="170045">
                <a:tc>
                  <a:txBody>
                    <a:bodyPr wrap="square"/>
                    <a:lstStyle/>
                    <a:p>
                      <a:pPr algn="l"/>
                      <a:r>
                        <a:rPr sz="1050" b="0" i="0">
                          <a:solidFill>
                            <a:srgbClr val="000000"/>
                          </a:solidFill>
                          <a:latin typeface="Calibri"/>
                        </a:rPr>
                        <a:t>Figure 63: Global Market Average Selling Price by Product Type, US$/MT, 2021–2036</a:t>
                      </a:r>
                      <a:endParaRPr sz="1050"/>
                    </a:p>
                  </a:txBody>
                  <a:tcPr marL="9525" marR="9525" marT="9525" marB="0" anchor="ctr"/>
                </a:tc>
              </a:tr>
              <a:tr h="333289">
                <a:tc>
                  <a:txBody>
                    <a:bodyPr wrap="square"/>
                    <a:lstStyle/>
                    <a:p>
                      <a:pPr algn="l"/>
                      <a:r>
                        <a:rPr sz="1050" b="0" i="0">
                          <a:solidFill>
                            <a:srgbClr val="000000"/>
                          </a:solidFill>
                          <a:latin typeface="Calibri"/>
                        </a:rPr>
                        <a:t>Figure 64: Global Market Average Selling Price by Principal Material / Barrier Technology, US$/MT, 2021–2036</a:t>
                      </a:r>
                      <a:endParaRPr sz="1050"/>
                    </a:p>
                  </a:txBody>
                  <a:tcPr marL="9525" marR="9525" marT="9525" marB="0" anchor="ctr"/>
                </a:tc>
              </a:tr>
              <a:tr h="170045">
                <a:tc>
                  <a:txBody>
                    <a:bodyPr wrap="square"/>
                    <a:lstStyle/>
                    <a:p>
                      <a:pPr algn="l"/>
                      <a:r>
                        <a:rPr sz="1050" b="0" i="0">
                          <a:solidFill>
                            <a:srgbClr val="000000"/>
                          </a:solidFill>
                          <a:latin typeface="Calibri"/>
                        </a:rPr>
                        <a:t>Figure 65: Product Type × Principal Material / Barrier Technology Opportunity Matrix, 2026–2036</a:t>
                      </a:r>
                      <a:endParaRPr sz="1050"/>
                    </a:p>
                  </a:txBody>
                  <a:tcPr marL="9525" marR="9525" marT="9525" marB="0" anchor="ctr"/>
                </a:tc>
              </a:tr>
              <a:tr h="170045">
                <a:tc>
                  <a:txBody>
                    <a:bodyPr wrap="square"/>
                    <a:lstStyle/>
                    <a:p>
                      <a:pPr algn="l"/>
                      <a:r>
                        <a:rPr sz="1050" b="0" i="0">
                          <a:solidFill>
                            <a:srgbClr val="000000"/>
                          </a:solidFill>
                          <a:latin typeface="Calibri"/>
                        </a:rPr>
                        <a:t>Figure 66: Product Type × Material Structure Opportunity Matrix, 2026–2036</a:t>
                      </a:r>
                      <a:endParaRPr sz="1050"/>
                    </a:p>
                  </a:txBody>
                  <a:tcPr marL="9525" marR="9525" marT="9525" marB="0" anchor="ctr"/>
                </a:tc>
              </a:tr>
              <a:tr h="170045">
                <a:tc>
                  <a:txBody>
                    <a:bodyPr wrap="square"/>
                    <a:lstStyle/>
                    <a:p>
                      <a:pPr algn="l"/>
                      <a:r>
                        <a:rPr sz="1050" b="0" i="0">
                          <a:solidFill>
                            <a:srgbClr val="000000"/>
                          </a:solidFill>
                          <a:latin typeface="Calibri"/>
                        </a:rPr>
                        <a:t>Figure 67: Product Type × Barrier Level Opportunity Matrix, 2026–2036</a:t>
                      </a:r>
                      <a:endParaRPr sz="1050"/>
                    </a:p>
                  </a:txBody>
                  <a:tcPr marL="9525" marR="9525" marT="9525" marB="0" anchor="ctr"/>
                </a:tc>
              </a:tr>
              <a:tr h="170045">
                <a:tc>
                  <a:txBody>
                    <a:bodyPr wrap="square"/>
                    <a:lstStyle/>
                    <a:p>
                      <a:pPr algn="l"/>
                      <a:r>
                        <a:rPr sz="1050" b="0" i="0">
                          <a:solidFill>
                            <a:srgbClr val="000000"/>
                          </a:solidFill>
                          <a:latin typeface="Calibri"/>
                        </a:rPr>
                        <a:t>Figure 68: Product Type × Application Opportunity Matrix, 2026–2036</a:t>
                      </a:r>
                      <a:endParaRPr sz="1050"/>
                    </a:p>
                  </a:txBody>
                  <a:tcPr marL="9525" marR="9525" marT="9525" marB="0" anchor="ctr"/>
                </a:tc>
              </a:tr>
              <a:tr h="170045">
                <a:tc>
                  <a:txBody>
                    <a:bodyPr wrap="square"/>
                    <a:lstStyle/>
                    <a:p>
                      <a:pPr algn="l"/>
                      <a:r>
                        <a:rPr sz="1050" b="0" i="0">
                          <a:solidFill>
                            <a:srgbClr val="000000"/>
                          </a:solidFill>
                          <a:latin typeface="Calibri"/>
                        </a:rPr>
                        <a:t>Figure 69: Product Type × Barrier Level Vs Application Opportunity Matrix, 2026–2036</a:t>
                      </a:r>
                      <a:endParaRPr sz="1050"/>
                    </a:p>
                  </a:txBody>
                  <a:tcPr marL="9525" marR="9525" marT="9525" marB="0" anchor="ctr"/>
                </a:tc>
              </a:tr>
              <a:tr h="170045">
                <a:tc>
                  <a:txBody>
                    <a:bodyPr wrap="square"/>
                    <a:lstStyle/>
                    <a:p>
                      <a:pPr algn="l"/>
                      <a:r>
                        <a:rPr sz="1050" b="0" i="0">
                          <a:solidFill>
                            <a:srgbClr val="000000"/>
                          </a:solidFill>
                          <a:latin typeface="Calibri"/>
                        </a:rPr>
                        <a:t>Figure 70: Principal Material / Barrier Technology × Material Structure Opportunity Matrix, 2026–2036</a:t>
                      </a:r>
                      <a:endParaRPr sz="1050"/>
                    </a:p>
                  </a:txBody>
                  <a:tcPr marL="9525" marR="9525" marT="9525" marB="0" anchor="ctr"/>
                </a:tc>
              </a:tr>
              <a:tr h="170045">
                <a:tc>
                  <a:txBody>
                    <a:bodyPr wrap="square"/>
                    <a:lstStyle/>
                    <a:p>
                      <a:pPr algn="l"/>
                      <a:r>
                        <a:rPr sz="1050" b="0" i="0">
                          <a:solidFill>
                            <a:srgbClr val="000000"/>
                          </a:solidFill>
                          <a:latin typeface="Calibri"/>
                        </a:rPr>
                        <a:t>Figure 71: Principal Material / Barrier Technology × Barrier Level Opportunity Matrix, 2026–2036</a:t>
                      </a:r>
                      <a:endParaRPr sz="1050"/>
                    </a:p>
                  </a:txBody>
                  <a:tcPr marL="9525" marR="9525" marT="9525" marB="0" anchor="ctr"/>
                </a:tc>
              </a:tr>
              <a:tr h="170045">
                <a:tc>
                  <a:txBody>
                    <a:bodyPr wrap="square"/>
                    <a:lstStyle/>
                    <a:p>
                      <a:pPr algn="l"/>
                      <a:r>
                        <a:rPr sz="1050" b="0" i="0">
                          <a:solidFill>
                            <a:srgbClr val="000000"/>
                          </a:solidFill>
                          <a:latin typeface="Calibri"/>
                        </a:rPr>
                        <a:t>Figure 72: Principal Material / Barrier Technology × Application Opportunity Matrix, 2026–2036</a:t>
                      </a:r>
                      <a:endParaRPr sz="1050"/>
                    </a:p>
                  </a:txBody>
                  <a:tcPr marL="9525" marR="9525" marT="9525" marB="0" anchor="ctr"/>
                </a:tc>
              </a:tr>
              <a:tr h="333289">
                <a:tc>
                  <a:txBody>
                    <a:bodyPr wrap="square"/>
                    <a:lstStyle/>
                    <a:p>
                      <a:pPr algn="l"/>
                      <a:r>
                        <a:rPr sz="1050" b="0" i="0">
                          <a:solidFill>
                            <a:srgbClr val="000000"/>
                          </a:solidFill>
                          <a:latin typeface="Calibri"/>
                        </a:rPr>
                        <a:t>Figure 73: Principal Material / Barrier Technology × Barrier Level Vs Application Opportunity Matrix, 2026–2036</a:t>
                      </a:r>
                      <a:endParaRPr sz="1050"/>
                    </a:p>
                  </a:txBody>
                  <a:tcPr marL="9525" marR="9525" marT="9525" marB="0" anchor="ctr"/>
                </a:tc>
              </a:tr>
              <a:tr h="170045">
                <a:tc>
                  <a:txBody>
                    <a:bodyPr wrap="square"/>
                    <a:lstStyle/>
                    <a:p>
                      <a:pPr algn="l"/>
                      <a:r>
                        <a:rPr sz="1050" b="0" i="0">
                          <a:solidFill>
                            <a:srgbClr val="000000"/>
                          </a:solidFill>
                          <a:latin typeface="Calibri"/>
                        </a:rPr>
                        <a:t>Figure 74: Material Structure × Barrier Level Opportunity Matrix, 2026–2036</a:t>
                      </a:r>
                      <a:endParaRPr sz="1050"/>
                    </a:p>
                  </a:txBody>
                  <a:tcPr marL="9525" marR="9525" marT="9525" marB="0" anchor="ctr"/>
                </a:tc>
              </a:tr>
              <a:tr h="170045">
                <a:tc>
                  <a:txBody>
                    <a:bodyPr wrap="square"/>
                    <a:lstStyle/>
                    <a:p>
                      <a:pPr algn="l"/>
                      <a:r>
                        <a:rPr sz="1050" b="0" i="0">
                          <a:solidFill>
                            <a:srgbClr val="000000"/>
                          </a:solidFill>
                          <a:latin typeface="Calibri"/>
                        </a:rPr>
                        <a:t>Figure 75: Material Structure × Application Opportunity Matrix, 2026–2036</a:t>
                      </a:r>
                      <a:endParaRPr sz="1050"/>
                    </a:p>
                  </a:txBody>
                  <a:tcPr marL="9525" marR="9525" marT="9525" marB="0" anchor="ctr"/>
                </a:tc>
              </a:tr>
              <a:tr h="170045">
                <a:tc>
                  <a:txBody>
                    <a:bodyPr wrap="square"/>
                    <a:lstStyle/>
                    <a:p>
                      <a:pPr algn="l"/>
                      <a:r>
                        <a:rPr sz="1050" b="0" i="0">
                          <a:solidFill>
                            <a:srgbClr val="000000"/>
                          </a:solidFill>
                          <a:latin typeface="Calibri"/>
                        </a:rPr>
                        <a:t>Figure 76: Material Structure × Barrier Level Vs Application Opportunity Matrix, 2026–2036</a:t>
                      </a:r>
                      <a:endParaRPr sz="1050"/>
                    </a:p>
                  </a:txBody>
                  <a:tcPr marL="9525" marR="9525" marT="9525" marB="0" anchor="ctr"/>
                </a:tc>
              </a:tr>
              <a:tr h="170045">
                <a:tc>
                  <a:txBody>
                    <a:bodyPr wrap="square"/>
                    <a:lstStyle/>
                    <a:p>
                      <a:pPr algn="l"/>
                      <a:r>
                        <a:rPr sz="1050" b="0" i="0">
                          <a:solidFill>
                            <a:srgbClr val="000000"/>
                          </a:solidFill>
                          <a:latin typeface="Calibri"/>
                        </a:rPr>
                        <a:t>Figure 77: Barrier Level × Application Opportunity Matrix, 2026–2036</a:t>
                      </a:r>
                      <a:endParaRPr sz="1050"/>
                    </a:p>
                  </a:txBody>
                  <a:tcPr marL="9525" marR="9525" marT="9525" marB="0" anchor="ctr"/>
                </a:tc>
              </a:tr>
              <a:tr h="170045">
                <a:tc>
                  <a:txBody>
                    <a:bodyPr wrap="square"/>
                    <a:lstStyle/>
                    <a:p>
                      <a:pPr algn="l"/>
                      <a:r>
                        <a:rPr sz="1050" b="0" i="0">
                          <a:solidFill>
                            <a:srgbClr val="000000"/>
                          </a:solidFill>
                          <a:latin typeface="Calibri"/>
                        </a:rPr>
                        <a:t>Figure 78: Barrier Level × Barrier Level Vs Application Opportunity Matrix, 2026–2036</a:t>
                      </a:r>
                      <a:endParaRPr sz="1050"/>
                    </a:p>
                  </a:txBody>
                  <a:tcPr marL="9525" marR="9525" marT="9525" marB="0" anchor="ctr"/>
                </a:tc>
              </a:tr>
              <a:tr h="170045">
                <a:tc>
                  <a:txBody>
                    <a:bodyPr wrap="square"/>
                    <a:lstStyle/>
                    <a:p>
                      <a:pPr algn="l"/>
                      <a:r>
                        <a:rPr sz="1050" b="0" i="0">
                          <a:solidFill>
                            <a:srgbClr val="000000"/>
                          </a:solidFill>
                          <a:latin typeface="Calibri"/>
                        </a:rPr>
                        <a:t>Figure 79: Application × Barrier Level Vs Application Opportunity Matrix, 2026–2036</a:t>
                      </a:r>
                      <a:endParaRPr sz="1050"/>
                    </a:p>
                  </a:txBody>
                  <a:tcPr marL="9525" marR="9525" marT="9525" marB="0" anchor="ctr"/>
                </a:tc>
              </a:tr>
              <a:tr h="170045">
                <a:tc>
                  <a:txBody>
                    <a:bodyPr wrap="square"/>
                    <a:lstStyle/>
                    <a:p>
                      <a:pPr algn="l"/>
                      <a:r>
                        <a:rPr sz="1050" b="0" i="0">
                          <a:solidFill>
                            <a:srgbClr val="000000"/>
                          </a:solidFill>
                          <a:latin typeface="Calibri"/>
                        </a:rPr>
                        <a:t>Figure 80: Region × Product Type Opportunity Matrix, 2026–2036</a:t>
                      </a:r>
                      <a:endParaRPr sz="1050"/>
                    </a:p>
                  </a:txBody>
                  <a:tcPr marL="9525" marR="9525" marT="9525" marB="0" anchor="ctr"/>
                </a:tc>
              </a:tr>
              <a:tr h="170045">
                <a:tc>
                  <a:txBody>
                    <a:bodyPr wrap="square"/>
                    <a:lstStyle/>
                    <a:p>
                      <a:pPr algn="l"/>
                      <a:r>
                        <a:rPr sz="1050" b="0" i="0">
                          <a:solidFill>
                            <a:srgbClr val="000000"/>
                          </a:solidFill>
                          <a:latin typeface="Calibri"/>
                        </a:rPr>
                        <a:t>Figure 81: Region × Principal Material / Barrier Technology Opportunity Matrix, 2026–2036</a:t>
                      </a:r>
                      <a:endParaRPr sz="1050"/>
                    </a:p>
                  </a:txBody>
                  <a:tcPr marL="9525" marR="9525" marT="9525" marB="0" anchor="ctr"/>
                </a:tc>
              </a:tr>
              <a:tr h="170045">
                <a:tc>
                  <a:txBody>
                    <a:bodyPr wrap="square"/>
                    <a:lstStyle/>
                    <a:p>
                      <a:pPr algn="l"/>
                      <a:r>
                        <a:rPr sz="1050" b="0" i="0">
                          <a:solidFill>
                            <a:srgbClr val="000000"/>
                          </a:solidFill>
                          <a:latin typeface="Calibri"/>
                        </a:rPr>
                        <a:t>Figure 82: Region × Material Structure Opportunity Matrix, 2026–2036</a:t>
                      </a:r>
                      <a:endParaRPr sz="1050"/>
                    </a:p>
                  </a:txBody>
                  <a:tcPr marL="9525" marR="9525" marT="9525" marB="0" anchor="ctr"/>
                </a:tc>
              </a:tr>
              <a:tr h="170045">
                <a:tc>
                  <a:txBody>
                    <a:bodyPr wrap="square"/>
                    <a:lstStyle/>
                    <a:p>
                      <a:pPr algn="l"/>
                      <a:r>
                        <a:rPr sz="1050" b="0" i="0">
                          <a:solidFill>
                            <a:srgbClr val="000000"/>
                          </a:solidFill>
                          <a:latin typeface="Calibri"/>
                        </a:rPr>
                        <a:t>Figure 83: Region × Barrier Level Opportunity Matrix, 2026–2036</a:t>
                      </a:r>
                      <a:endParaRPr sz="1050"/>
                    </a:p>
                  </a:txBody>
                  <a:tcPr marL="9525" marR="9525" marT="9525" marB="0" anchor="ctr"/>
                </a:tc>
              </a:tr>
              <a:tr h="170045">
                <a:tc>
                  <a:txBody>
                    <a:bodyPr wrap="square"/>
                    <a:lstStyle/>
                    <a:p>
                      <a:pPr algn="l"/>
                      <a:r>
                        <a:rPr sz="1050" b="0" i="0">
                          <a:solidFill>
                            <a:srgbClr val="000000"/>
                          </a:solidFill>
                          <a:latin typeface="Calibri"/>
                        </a:rPr>
                        <a:t>Figure 84: Region × Application Opportunity Matrix, 2026–2036</a:t>
                      </a:r>
                      <a:endParaRPr sz="1050"/>
                    </a:p>
                  </a:txBody>
                  <a:tcPr marL="9525" marR="9525" marT="9525" marB="0" anchor="ctr"/>
                </a:tc>
              </a:tr>
              <a:tr h="170045">
                <a:tc>
                  <a:txBody>
                    <a:bodyPr wrap="square"/>
                    <a:lstStyle/>
                    <a:p>
                      <a:pPr algn="l"/>
                      <a:r>
                        <a:rPr sz="1050" b="0" i="0">
                          <a:solidFill>
                            <a:srgbClr val="000000"/>
                          </a:solidFill>
                          <a:latin typeface="Calibri"/>
                        </a:rPr>
                        <a:t>Figure 85: Region × Barrier Level Vs Application Opportunity Matrix, 2026–2036</a:t>
                      </a:r>
                      <a:endParaRPr sz="1050"/>
                    </a:p>
                  </a:txBody>
                  <a:tcPr marL="9525" marR="9525" marT="9525" marB="0" anchor="ctr"/>
                </a:tc>
              </a:tr>
              <a:tr h="170045">
                <a:tc>
                  <a:txBody>
                    <a:bodyPr wrap="square"/>
                    <a:lstStyle/>
                    <a:p>
                      <a:pPr algn="l"/>
                      <a:r>
                        <a:rPr sz="1050" b="0" i="0">
                          <a:solidFill>
                            <a:srgbClr val="000000"/>
                          </a:solidFill>
                          <a:latin typeface="Calibri"/>
                        </a:rPr>
                        <a:t>Figure 86: Global Market Value by Region, US$ Mn, 2021–2036</a:t>
                      </a:r>
                      <a:endParaRPr sz="1050"/>
                    </a:p>
                  </a:txBody>
                  <a:tcPr marL="9525" marR="9525" marT="9525" marB="0" anchor="ctr"/>
                </a:tc>
              </a:tr>
              <a:tr h="170045">
                <a:tc>
                  <a:txBody>
                    <a:bodyPr wrap="square"/>
                    <a:lstStyle/>
                    <a:p>
                      <a:pPr algn="l"/>
                      <a:r>
                        <a:rPr sz="1050" b="0" i="0">
                          <a:solidFill>
                            <a:srgbClr val="000000"/>
                          </a:solidFill>
                          <a:latin typeface="Calibri"/>
                        </a:rPr>
                        <a:t>Figure 87: Global Market Share by Region, %, 2026 and 2036</a:t>
                      </a:r>
                      <a:endParaRPr sz="1050"/>
                    </a:p>
                  </a:txBody>
                  <a:tcPr marL="9525" marR="9525" marT="9525" marB="0" anchor="ctr"/>
                </a:tc>
              </a:tr>
              <a:tr h="170045">
                <a:tc>
                  <a:txBody>
                    <a:bodyPr wrap="square"/>
                    <a:lstStyle/>
                    <a:p>
                      <a:pPr algn="l"/>
                      <a:r>
                        <a:rPr sz="1050" b="0" i="0">
                          <a:solidFill>
                            <a:srgbClr val="000000"/>
                          </a:solidFill>
                          <a:latin typeface="Calibri"/>
                        </a:rPr>
                        <a:t>Figure 88: Global Market CAGR by Region, %, 2026–2036</a:t>
                      </a:r>
                      <a:endParaRPr sz="1050"/>
                    </a:p>
                  </a:txBody>
                  <a:tcPr marL="9525" marR="9525" marT="9525" marB="0" anchor="ctr"/>
                </a:tc>
              </a:tr>
              <a:tr h="170045">
                <a:tc>
                  <a:txBody>
                    <a:bodyPr wrap="square"/>
                    <a:lstStyle/>
                    <a:p>
                      <a:pPr algn="l"/>
                      <a:r>
                        <a:rPr sz="1050" b="0" i="0">
                          <a:solidFill>
                            <a:srgbClr val="000000"/>
                          </a:solidFill>
                          <a:latin typeface="Calibri"/>
                        </a:rPr>
                        <a:t>Figure 89: Global Market Absolute $ Opportunity by Region, US$ Mn, 2026–2036</a:t>
                      </a:r>
                      <a:endParaRPr sz="1050"/>
                    </a:p>
                  </a:txBody>
                  <a:tcPr marL="9525" marR="9525" marT="9525" marB="0" anchor="ctr"/>
                </a:tc>
              </a:tr>
              <a:tr h="170045">
                <a:tc>
                  <a:txBody>
                    <a:bodyPr wrap="square"/>
                    <a:lstStyle/>
                    <a:p>
                      <a:pPr algn="l"/>
                      <a:r>
                        <a:rPr sz="1050" b="0" i="0">
                          <a:solidFill>
                            <a:srgbClr val="000000"/>
                          </a:solidFill>
                          <a:latin typeface="Calibri"/>
                        </a:rPr>
                        <a:t>Figure 90: Global Market Attractiveness by Region, 2026–2036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91: Global Market BPS Share Change by Region, 2026–2036</a:t>
                      </a:r>
                      <a:endParaRPr sz="1050"/>
                    </a:p>
                  </a:txBody>
                  <a:tcPr marL="9525" marR="9525" marT="9525" marB="0" anchor="ctr"/>
                </a:tc>
              </a:tr>
              <a:tr h="169606">
                <a:tc>
                  <a:txBody>
                    <a:bodyPr wrap="square"/>
                    <a:lstStyle/>
                    <a:p>
                      <a:pPr algn="l"/>
                      <a:r>
                        <a:rPr sz="1050" b="0" i="0">
                          <a:solidFill>
                            <a:srgbClr val="000000"/>
                          </a:solidFill>
                          <a:latin typeface="Calibri"/>
                        </a:rPr>
                        <a:t>Figure 92: North America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93: Latin America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94: Europe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95: East Asia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96: South Asia &amp; Pacific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97: Middle East &amp; Africa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98: North America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99: Latin America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100: Europe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101: East Asia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102: South Asia &amp; Pacific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103: Middle East &amp; Africa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104: North America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105: Latin America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106: Europe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107: East Asia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108: South Asia &amp; Pacific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109: Middle East &amp; Africa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110: North America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111: Latin America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112: Europe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113: East Asia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114: U.S.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115: U.S. Market Value by Product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116: U.S. Market Value by Application,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117: U.S. Market Share within North America, %, 2026 and 2036</a:t>
                      </a:r>
                      <a:endParaRPr sz="1050"/>
                    </a:p>
                  </a:txBody>
                  <a:tcPr marL="9525" marR="9525" marT="9525" marB="0" anchor="ctr"/>
                </a:tc>
              </a:tr>
              <a:tr h="169606">
                <a:tc>
                  <a:txBody>
                    <a:bodyPr wrap="square"/>
                    <a:lstStyle/>
                    <a:p>
                      <a:pPr algn="l"/>
                      <a:r>
                        <a:rPr sz="1050" b="0" i="0">
                          <a:solidFill>
                            <a:srgbClr val="000000"/>
                          </a:solidFill>
                          <a:latin typeface="Calibri"/>
                        </a:rPr>
                        <a:t>Figure 118: U.S. Market Value by Principal Material / Barrier Technology,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119: U.S. Market Value by Material Structure,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120: U.S. Market Value by Barrier Level,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121: U.S. Market Value by Barrier Level Vs Application, US$ Mn, 2026 and 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(3/4)</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122: China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123: China Market Value by Product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124: China Market Value by Application,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125: China Market Share within East Asia, %, 2026 and 2036</a:t>
                      </a:r>
                      <a:endParaRPr sz="1050"/>
                    </a:p>
                  </a:txBody>
                  <a:tcPr marL="9525" marR="9525" marT="9525" marB="0" anchor="ctr"/>
                </a:tc>
              </a:tr>
              <a:tr h="169606">
                <a:tc>
                  <a:txBody>
                    <a:bodyPr wrap="square"/>
                    <a:lstStyle/>
                    <a:p>
                      <a:pPr algn="l"/>
                      <a:r>
                        <a:rPr sz="1050" b="0" i="0">
                          <a:solidFill>
                            <a:srgbClr val="000000"/>
                          </a:solidFill>
                          <a:latin typeface="Calibri"/>
                        </a:rPr>
                        <a:t>Figure 126: China Market Value by Principal Material / Barrier Technology,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127: China Market Value by Material Structure,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128: China Market Value by Barrier Level,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129: China Market Value by Barrier Level Vs Application,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130: Japan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131: Japan Market Value by Product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132: Japan Market Value by Application,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133: Japan Market Share within East Asia, %, 2026 and 2036</a:t>
                      </a:r>
                      <a:endParaRPr sz="1050"/>
                    </a:p>
                  </a:txBody>
                  <a:tcPr marL="9525" marR="9525" marT="9525" marB="0" anchor="ctr"/>
                </a:tc>
              </a:tr>
              <a:tr h="169606">
                <a:tc>
                  <a:txBody>
                    <a:bodyPr wrap="square"/>
                    <a:lstStyle/>
                    <a:p>
                      <a:pPr algn="l"/>
                      <a:r>
                        <a:rPr sz="1050" b="0" i="0">
                          <a:solidFill>
                            <a:srgbClr val="000000"/>
                          </a:solidFill>
                          <a:latin typeface="Calibri"/>
                        </a:rPr>
                        <a:t>Figure 134: Japan Market Value by Principal Material / Barrier Technology,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135: Japan Market Value by Material Structure,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136: Japan Market Value by Barrier Level,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137: Japan Market Value by Barrier Level Vs Application,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138: India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139: India Market Value by Product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140: South Korea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141: South Korea Market Value by Product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142: Germany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143: Germany Market Value by Product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144: U.K.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145: U.K. Market Value by Product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146: Canada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147: Canada Market Value by Product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148: Brazil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149: Brazil Market Value by Product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150: Global Market Average Selling Price Trend, US$/MT, 2021–2036</a:t>
                      </a:r>
                      <a:endParaRPr sz="1050"/>
                    </a:p>
                  </a:txBody>
                  <a:tcPr marL="9525" marR="9525" marT="9525" marB="0" anchor="ctr"/>
                </a:tc>
              </a:tr>
              <a:tr h="169606">
                <a:tc>
                  <a:txBody>
                    <a:bodyPr wrap="square"/>
                    <a:lstStyle/>
                    <a:p>
                      <a:pPr algn="l"/>
                      <a:r>
                        <a:rPr sz="1050" b="0" i="0">
                          <a:solidFill>
                            <a:srgbClr val="000000"/>
                          </a:solidFill>
                          <a:latin typeface="Calibri"/>
                        </a:rPr>
                        <a:t>Figure 151: Global Market Average Selling Price by Region, US$/MT, 2026 and 2036</a:t>
                      </a:r>
                      <a:endParaRPr sz="1050"/>
                    </a:p>
                  </a:txBody>
                  <a:tcPr marL="9525" marR="9525" marT="9525" marB="0" anchor="ctr"/>
                </a:tc>
              </a:tr>
              <a:tr h="169606">
                <a:tc>
                  <a:txBody>
                    <a:bodyPr wrap="square"/>
                    <a:lstStyle/>
                    <a:p>
                      <a:pPr algn="l"/>
                      <a:r>
                        <a:rPr sz="1050" b="0" i="0">
                          <a:solidFill>
                            <a:srgbClr val="000000"/>
                          </a:solidFill>
                          <a:latin typeface="Calibri"/>
                        </a:rPr>
                        <a:t>Figure 152: Global Market Average Selling Price by Product Type, US$/MT, 2026 and 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93"/>
        </p:xfrm>
        <a:graphic>
          <a:graphicData uri="http://schemas.openxmlformats.org/drawingml/2006/table">
            <a:tbl>
              <a:tblPr>
                <a:tableStyleId>{3B4B98B0-60AC-42C2-AFA5-B58CD77FA1E5}</a:tableStyleId>
              </a:tblPr>
              <a:tblGrid>
                <a:gridCol w="5876925"/>
              </a:tblGrid>
              <a:tr h="333289">
                <a:tc>
                  <a:txBody>
                    <a:bodyPr wrap="square"/>
                    <a:lstStyle/>
                    <a:p>
                      <a:pPr algn="l"/>
                      <a:r>
                        <a:rPr sz="1050" b="0" i="0">
                          <a:solidFill>
                            <a:srgbClr val="000000"/>
                          </a:solidFill>
                          <a:latin typeface="Calibri"/>
                        </a:rPr>
                        <a:t>Figure 153: Global Market Average Selling Price by Principal Material / Barrier Technology, US$/MT, 2026 and 2036</a:t>
                      </a:r>
                      <a:endParaRPr sz="1050"/>
                    </a:p>
                  </a:txBody>
                  <a:tcPr marL="9525" marR="9525" marT="9525" marB="0" anchor="ctr"/>
                </a:tc>
              </a:tr>
              <a:tr h="170045">
                <a:tc>
                  <a:txBody>
                    <a:bodyPr wrap="square"/>
                    <a:lstStyle/>
                    <a:p>
                      <a:pPr algn="l"/>
                      <a:r>
                        <a:rPr sz="1050" b="0" i="0">
                          <a:solidFill>
                            <a:srgbClr val="000000"/>
                          </a:solidFill>
                          <a:latin typeface="Calibri"/>
                        </a:rPr>
                        <a:t>Figure 154: Global Market Average Selling Price by Material Structure, US$/MT, 2026 and 2036</a:t>
                      </a:r>
                      <a:endParaRPr sz="1050"/>
                    </a:p>
                  </a:txBody>
                  <a:tcPr marL="9525" marR="9525" marT="9525" marB="0" anchor="ctr"/>
                </a:tc>
              </a:tr>
              <a:tr h="170045">
                <a:tc>
                  <a:txBody>
                    <a:bodyPr wrap="square"/>
                    <a:lstStyle/>
                    <a:p>
                      <a:pPr algn="l"/>
                      <a:r>
                        <a:rPr sz="1050" b="0" i="0">
                          <a:solidFill>
                            <a:srgbClr val="000000"/>
                          </a:solidFill>
                          <a:latin typeface="Calibri"/>
                        </a:rPr>
                        <a:t>Figure 155: Global Market Average Selling Price by Barrier Level, US$/MT, 2026 and 2036</a:t>
                      </a:r>
                      <a:endParaRPr sz="1050"/>
                    </a:p>
                  </a:txBody>
                  <a:tcPr marL="9525" marR="9525" marT="9525" marB="0" anchor="ctr"/>
                </a:tc>
              </a:tr>
              <a:tr h="170045">
                <a:tc>
                  <a:txBody>
                    <a:bodyPr wrap="square"/>
                    <a:lstStyle/>
                    <a:p>
                      <a:pPr algn="l"/>
                      <a:r>
                        <a:rPr sz="1050" b="0" i="0">
                          <a:solidFill>
                            <a:srgbClr val="000000"/>
                          </a:solidFill>
                          <a:latin typeface="Calibri"/>
                        </a:rPr>
                        <a:t>Figure 156: Global Market Average Selling Price by Application, US$/MT, 2026 and 2036</a:t>
                      </a:r>
                      <a:endParaRPr sz="1050"/>
                    </a:p>
                  </a:txBody>
                  <a:tcPr marL="9525" marR="9525" marT="9525" marB="0" anchor="ctr"/>
                </a:tc>
              </a:tr>
              <a:tr h="333289">
                <a:tc>
                  <a:txBody>
                    <a:bodyPr wrap="square"/>
                    <a:lstStyle/>
                    <a:p>
                      <a:pPr algn="l"/>
                      <a:r>
                        <a:rPr sz="1050" b="0" i="0">
                          <a:solidFill>
                            <a:srgbClr val="000000"/>
                          </a:solidFill>
                          <a:latin typeface="Calibri"/>
                        </a:rPr>
                        <a:t>Figure 157: Global Market Average Selling Price by Barrier Level Vs Application, US$/MT, 2026 and 2036</a:t>
                      </a:r>
                      <a:endParaRPr sz="1050"/>
                    </a:p>
                  </a:txBody>
                  <a:tcPr marL="9525" marR="9525" marT="9525" marB="0" anchor="ctr"/>
                </a:tc>
              </a:tr>
              <a:tr h="170045">
                <a:tc>
                  <a:txBody>
                    <a:bodyPr wrap="square"/>
                    <a:lstStyle/>
                    <a:p>
                      <a:pPr algn="l"/>
                      <a:r>
                        <a:rPr sz="1050" b="0" i="0">
                          <a:solidFill>
                            <a:srgbClr val="000000"/>
                          </a:solidFill>
                          <a:latin typeface="Calibri"/>
                        </a:rPr>
                        <a:t>Figure 158: Global Market Value Chain Structure, 2026</a:t>
                      </a:r>
                      <a:endParaRPr sz="1050"/>
                    </a:p>
                  </a:txBody>
                  <a:tcPr marL="9525" marR="9525" marT="9525" marB="0" anchor="ctr"/>
                </a:tc>
              </a:tr>
              <a:tr h="170045">
                <a:tc>
                  <a:txBody>
                    <a:bodyPr wrap="square"/>
                    <a:lstStyle/>
                    <a:p>
                      <a:pPr algn="l"/>
                      <a:r>
                        <a:rPr sz="1050" b="0" i="0">
                          <a:solidFill>
                            <a:srgbClr val="000000"/>
                          </a:solidFill>
                          <a:latin typeface="Calibri"/>
                        </a:rPr>
                        <a:t>Figure 159: Global Market Margin Distribution across the Value Chain, %, 2026</a:t>
                      </a:r>
                      <a:endParaRPr sz="1050"/>
                    </a:p>
                  </a:txBody>
                  <a:tcPr marL="9525" marR="9525" marT="9525" marB="0" anchor="ctr"/>
                </a:tc>
              </a:tr>
              <a:tr h="170045">
                <a:tc>
                  <a:txBody>
                    <a:bodyPr wrap="square"/>
                    <a:lstStyle/>
                    <a:p>
                      <a:pPr algn="l"/>
                      <a:r>
                        <a:rPr sz="1050" b="0" i="0">
                          <a:solidFill>
                            <a:srgbClr val="000000"/>
                          </a:solidFill>
                          <a:latin typeface="Calibri"/>
                        </a:rPr>
                        <a:t>Figure 160: Global Market Cost Structure Breakdown, %, 2026</a:t>
                      </a:r>
                      <a:endParaRPr sz="1050"/>
                    </a:p>
                  </a:txBody>
                  <a:tcPr marL="9525" marR="9525" marT="9525" marB="0" anchor="ctr"/>
                </a:tc>
              </a:tr>
              <a:tr h="170045">
                <a:tc>
                  <a:txBody>
                    <a:bodyPr wrap="square"/>
                    <a:lstStyle/>
                    <a:p>
                      <a:pPr algn="l"/>
                      <a:r>
                        <a:rPr sz="1050" b="0" i="0">
                          <a:solidFill>
                            <a:srgbClr val="000000"/>
                          </a:solidFill>
                          <a:latin typeface="Calibri"/>
                        </a:rPr>
                        <a:t>Figure 161: Global Market Pricing Pressure Assessment by Product Type, 2026–2036</a:t>
                      </a:r>
                      <a:endParaRPr sz="1050"/>
                    </a:p>
                  </a:txBody>
                  <a:tcPr marL="9525" marR="9525" marT="9525" marB="0" anchor="ctr"/>
                </a:tc>
              </a:tr>
              <a:tr h="170045">
                <a:tc>
                  <a:txBody>
                    <a:bodyPr wrap="square"/>
                    <a:lstStyle/>
                    <a:p>
                      <a:pPr algn="l"/>
                      <a:r>
                        <a:rPr sz="1050" b="0" i="0">
                          <a:solidFill>
                            <a:srgbClr val="000000"/>
                          </a:solidFill>
                          <a:latin typeface="Calibri"/>
                        </a:rPr>
                        <a:t>Figure 162: Global Market Import and Export Share by Region, %, 2025</a:t>
                      </a:r>
                      <a:endParaRPr sz="1050"/>
                    </a:p>
                  </a:txBody>
                  <a:tcPr marL="9525" marR="9525" marT="9525" marB="0" anchor="ctr"/>
                </a:tc>
              </a:tr>
              <a:tr h="170045">
                <a:tc>
                  <a:txBody>
                    <a:bodyPr wrap="square"/>
                    <a:lstStyle/>
                    <a:p>
                      <a:pPr algn="l"/>
                      <a:r>
                        <a:rPr sz="1050" b="0" i="0">
                          <a:solidFill>
                            <a:srgbClr val="000000"/>
                          </a:solidFill>
                          <a:latin typeface="Calibri"/>
                        </a:rPr>
                        <a:t>Figure 163: Global Market Trade Balance by Leading Country, US$ Mn, 2025</a:t>
                      </a:r>
                      <a:endParaRPr sz="1050"/>
                    </a:p>
                  </a:txBody>
                  <a:tcPr marL="9525" marR="9525" marT="9525" marB="0" anchor="ctr"/>
                </a:tc>
              </a:tr>
              <a:tr h="170045">
                <a:tc>
                  <a:txBody>
                    <a:bodyPr wrap="square"/>
                    <a:lstStyle/>
                    <a:p>
                      <a:pPr algn="l"/>
                      <a:r>
                        <a:rPr sz="1050" b="0" i="0">
                          <a:solidFill>
                            <a:srgbClr val="000000"/>
                          </a:solidFill>
                          <a:latin typeface="Calibri"/>
                        </a:rPr>
                        <a:t>Figure 164: Company Market Share in the Global Market, %, 2026</a:t>
                      </a:r>
                      <a:endParaRPr sz="1050"/>
                    </a:p>
                  </a:txBody>
                  <a:tcPr marL="9525" marR="9525" marT="9525" marB="0" anchor="ctr"/>
                </a:tc>
              </a:tr>
              <a:tr h="170045">
                <a:tc>
                  <a:txBody>
                    <a:bodyPr wrap="square"/>
                    <a:lstStyle/>
                    <a:p>
                      <a:pPr algn="l"/>
                      <a:r>
                        <a:rPr sz="1050" b="0" i="0">
                          <a:solidFill>
                            <a:srgbClr val="000000"/>
                          </a:solidFill>
                          <a:latin typeface="Calibri"/>
                        </a:rPr>
                        <a:t>Figure 165: Competitive Positioning of Leading Flexible Plastic Packaging Manufacturers, 2026</a:t>
                      </a:r>
                      <a:endParaRPr sz="1050"/>
                    </a:p>
                  </a:txBody>
                  <a:tcPr marL="9525" marR="9525" marT="9525" marB="0" anchor="ctr"/>
                </a:tc>
              </a:tr>
              <a:tr h="170045">
                <a:tc>
                  <a:txBody>
                    <a:bodyPr wrap="square"/>
                    <a:lstStyle/>
                    <a:p>
                      <a:pPr algn="l"/>
                      <a:r>
                        <a:rPr sz="1050" b="0" i="0">
                          <a:solidFill>
                            <a:srgbClr val="000000"/>
                          </a:solidFill>
                          <a:latin typeface="Calibri"/>
                        </a:rPr>
                        <a:t>Figure 166: Company Revenue from the Global Market, US$ Mn, 2026</a:t>
                      </a:r>
                      <a:endParaRPr sz="1050"/>
                    </a:p>
                  </a:txBody>
                  <a:tcPr marL="9525" marR="9525" marT="9525" marB="0" anchor="ctr"/>
                </a:tc>
              </a:tr>
              <a:tr h="170045">
                <a:tc>
                  <a:txBody>
                    <a:bodyPr wrap="square"/>
                    <a:lstStyle/>
                    <a:p>
                      <a:pPr algn="l"/>
                      <a:r>
                        <a:rPr sz="1050" b="0" i="0">
                          <a:solidFill>
                            <a:srgbClr val="000000"/>
                          </a:solidFill>
                          <a:latin typeface="Calibri"/>
                        </a:rPr>
                        <a:t>Figure 167: Global Market Concentration by Company Tier, %, 2026</a:t>
                      </a:r>
                      <a:endParaRPr sz="1050"/>
                    </a:p>
                  </a:txBody>
                  <a:tcPr marL="9525" marR="9525" marT="9525" marB="0" anchor="ctr"/>
                </a:tc>
              </a:tr>
              <a:tr h="170045">
                <a:tc>
                  <a:txBody>
                    <a:bodyPr wrap="square"/>
                    <a:lstStyle/>
                    <a:p>
                      <a:pPr algn="l"/>
                      <a:r>
                        <a:rPr sz="1050" b="0" i="0">
                          <a:solidFill>
                            <a:srgbClr val="000000"/>
                          </a:solidFill>
                          <a:latin typeface="Calibri"/>
                        </a:rPr>
                        <a:t>Figure 168: Global Market Competitive Intensity Assessment, 2026</a:t>
                      </a:r>
                      <a:endParaRPr sz="1050"/>
                    </a:p>
                  </a:txBody>
                  <a:tcPr marL="9525" marR="9525" marT="9525" marB="0" anchor="ctr"/>
                </a:tc>
              </a:tr>
              <a:tr h="170045">
                <a:tc>
                  <a:txBody>
                    <a:bodyPr wrap="square"/>
                    <a:lstStyle/>
                    <a:p>
                      <a:pPr algn="l"/>
                      <a:r>
                        <a:rPr sz="1050" b="0" i="0">
                          <a:solidFill>
                            <a:srgbClr val="000000"/>
                          </a:solidFill>
                          <a:latin typeface="Calibri"/>
                        </a:rPr>
                        <a:t>Figure 169: Company Market Share in the North America Market, %, 2026</a:t>
                      </a:r>
                      <a:endParaRPr sz="1050"/>
                    </a:p>
                  </a:txBody>
                  <a:tcPr marL="9525" marR="9525" marT="9525" marB="0" anchor="ctr"/>
                </a:tc>
              </a:tr>
              <a:tr h="170045">
                <a:tc>
                  <a:txBody>
                    <a:bodyPr wrap="square"/>
                    <a:lstStyle/>
                    <a:p>
                      <a:pPr algn="l"/>
                      <a:r>
                        <a:rPr sz="1050" b="0" i="0">
                          <a:solidFill>
                            <a:srgbClr val="000000"/>
                          </a:solidFill>
                          <a:latin typeface="Calibri"/>
                        </a:rPr>
                        <a:t>Figure 170: Company Market Share in the Latin America Market, %, 2026</a:t>
                      </a:r>
                      <a:endParaRPr sz="1050"/>
                    </a:p>
                  </a:txBody>
                  <a:tcPr marL="9525" marR="9525" marT="9525" marB="0" anchor="ctr"/>
                </a:tc>
              </a:tr>
              <a:tr h="170045">
                <a:tc>
                  <a:txBody>
                    <a:bodyPr wrap="square"/>
                    <a:lstStyle/>
                    <a:p>
                      <a:pPr algn="l"/>
                      <a:r>
                        <a:rPr sz="1050" b="0" i="0">
                          <a:solidFill>
                            <a:srgbClr val="000000"/>
                          </a:solidFill>
                          <a:latin typeface="Calibri"/>
                        </a:rPr>
                        <a:t>Figure 171: Company Market Share in the Europe Market, %, 2026</a:t>
                      </a:r>
                      <a:endParaRPr sz="1050"/>
                    </a:p>
                  </a:txBody>
                  <a:tcPr marL="9525" marR="9525" marT="9525" marB="0" anchor="ctr"/>
                </a:tc>
              </a:tr>
              <a:tr h="170045">
                <a:tc>
                  <a:txBody>
                    <a:bodyPr wrap="square"/>
                    <a:lstStyle/>
                    <a:p>
                      <a:pPr algn="l"/>
                      <a:r>
                        <a:rPr sz="1050" b="0" i="0">
                          <a:solidFill>
                            <a:srgbClr val="000000"/>
                          </a:solidFill>
                          <a:latin typeface="Calibri"/>
                        </a:rPr>
                        <a:t>Figure 172: Company Market Share in the East Asia Market, %, 2026</a:t>
                      </a:r>
                      <a:endParaRPr sz="1050"/>
                    </a:p>
                  </a:txBody>
                  <a:tcPr marL="9525" marR="9525" marT="9525" marB="0" anchor="ctr"/>
                </a:tc>
              </a:tr>
              <a:tr h="170045">
                <a:tc>
                  <a:txBody>
                    <a:bodyPr wrap="square"/>
                    <a:lstStyle/>
                    <a:p>
                      <a:pPr algn="l"/>
                      <a:r>
                        <a:rPr sz="1050" b="0" i="0">
                          <a:solidFill>
                            <a:srgbClr val="000000"/>
                          </a:solidFill>
                          <a:latin typeface="Calibri"/>
                        </a:rPr>
                        <a:t>Figure 173: Company Market Share in the South Asia &amp; Pacific Market, %, 2026</a:t>
                      </a:r>
                      <a:endParaRPr sz="1050"/>
                    </a:p>
                  </a:txBody>
                  <a:tcPr marL="9525" marR="9525" marT="9525" marB="0" anchor="ctr"/>
                </a:tc>
              </a:tr>
              <a:tr h="170045">
                <a:tc>
                  <a:txBody>
                    <a:bodyPr wrap="square"/>
                    <a:lstStyle/>
                    <a:p>
                      <a:pPr algn="l"/>
                      <a:r>
                        <a:rPr sz="1050" b="0" i="0">
                          <a:solidFill>
                            <a:srgbClr val="000000"/>
                          </a:solidFill>
                          <a:latin typeface="Calibri"/>
                        </a:rPr>
                        <a:t>Figure 174: Company Market Share in the Middle East &amp; Africa Market, %, 2026</a:t>
                      </a:r>
                      <a:endParaRPr sz="1050"/>
                    </a:p>
                  </a:txBody>
                  <a:tcPr marL="9525" marR="9525" marT="9525" marB="0" anchor="ctr"/>
                </a:tc>
              </a:tr>
              <a:tr h="170045">
                <a:tc>
                  <a:txBody>
                    <a:bodyPr wrap="square"/>
                    <a:lstStyle/>
                    <a:p>
                      <a:pPr algn="l"/>
                      <a:r>
                        <a:rPr sz="1050" b="0" i="0">
                          <a:solidFill>
                            <a:srgbClr val="000000"/>
                          </a:solidFill>
                          <a:latin typeface="Calibri"/>
                        </a:rPr>
                        <a:t>Figure 175: Company A: Revenue from the Global Market and Share, US$ Mn and %, 2026</a:t>
                      </a:r>
                      <a:endParaRPr sz="1050"/>
                    </a:p>
                  </a:txBody>
                  <a:tcPr marL="9525" marR="9525" marT="9525" marB="0" anchor="ctr"/>
                </a:tc>
              </a:tr>
              <a:tr h="170045">
                <a:tc>
                  <a:txBody>
                    <a:bodyPr wrap="square"/>
                    <a:lstStyle/>
                    <a:p>
                      <a:pPr algn="l"/>
                      <a:r>
                        <a:rPr sz="1050" b="0" i="0">
                          <a:solidFill>
                            <a:srgbClr val="000000"/>
                          </a:solidFill>
                          <a:latin typeface="Calibri"/>
                        </a:rPr>
                        <a:t>Figure 176: Company B: Revenue from the Global Market and Share, US$ Mn and %, 2026</a:t>
                      </a:r>
                      <a:endParaRPr sz="1050"/>
                    </a:p>
                  </a:txBody>
                  <a:tcPr marL="9525" marR="9525" marT="9525" marB="0" anchor="ctr"/>
                </a:tc>
              </a:tr>
              <a:tr h="170045">
                <a:tc>
                  <a:txBody>
                    <a:bodyPr wrap="square"/>
                    <a:lstStyle/>
                    <a:p>
                      <a:pPr algn="l"/>
                      <a:r>
                        <a:rPr sz="1050" b="0" i="0">
                          <a:solidFill>
                            <a:srgbClr val="000000"/>
                          </a:solidFill>
                          <a:latin typeface="Calibri"/>
                        </a:rPr>
                        <a:t>Figure 177: Company C: Revenue from the Global Market and Share, US$ Mn and %, 2026</a:t>
                      </a:r>
                      <a:endParaRPr sz="1050"/>
                    </a:p>
                  </a:txBody>
                  <a:tcPr marL="9525" marR="9525" marT="9525" marB="0" anchor="ctr"/>
                </a:tc>
              </a:tr>
              <a:tr h="170045">
                <a:tc>
                  <a:txBody>
                    <a:bodyPr wrap="square"/>
                    <a:lstStyle/>
                    <a:p>
                      <a:pPr algn="l"/>
                      <a:r>
                        <a:rPr sz="1050" b="0" i="0">
                          <a:solidFill>
                            <a:srgbClr val="000000"/>
                          </a:solidFill>
                          <a:latin typeface="Calibri"/>
                        </a:rPr>
                        <a:t>Figure 178: Company D: Revenue from the Global Market and Share, US$ Mn and %, 2026</a:t>
                      </a:r>
                      <a:endParaRPr sz="1050"/>
                    </a:p>
                  </a:txBody>
                  <a:tcPr marL="9525" marR="9525" marT="9525" marB="0" anchor="ctr"/>
                </a:tc>
              </a:tr>
              <a:tr h="170045">
                <a:tc>
                  <a:txBody>
                    <a:bodyPr wrap="square"/>
                    <a:lstStyle/>
                    <a:p>
                      <a:pPr algn="l"/>
                      <a:r>
                        <a:rPr sz="1050" b="0" i="0">
                          <a:solidFill>
                            <a:srgbClr val="000000"/>
                          </a:solidFill>
                          <a:latin typeface="Calibri"/>
                        </a:rPr>
                        <a:t>Figure 179: Company E: Revenue from the Global Market and Share, US$ Mn and %, 2026</a:t>
                      </a:r>
                      <a:endParaRPr sz="1050"/>
                    </a:p>
                  </a:txBody>
                  <a:tcPr marL="9525" marR="9525" marT="9525" marB="0" anchor="ctr"/>
                </a:tc>
              </a:tr>
              <a:tr h="170045">
                <a:tc>
                  <a:txBody>
                    <a:bodyPr wrap="square"/>
                    <a:lstStyle/>
                    <a:p>
                      <a:pPr algn="l"/>
                      <a:r>
                        <a:rPr sz="1050" b="0" i="0">
                          <a:solidFill>
                            <a:srgbClr val="000000"/>
                          </a:solidFill>
                          <a:latin typeface="Calibri"/>
                        </a:rPr>
                        <a:t>Figure 180: Company F: Revenue from the Global Market and Share, US$ Mn and %, 2026</a:t>
                      </a:r>
                      <a:endParaRPr sz="1050"/>
                    </a:p>
                  </a:txBody>
                  <a:tcPr marL="9525" marR="9525" marT="9525" marB="0" anchor="ctr"/>
                </a:tc>
              </a:tr>
              <a:tr h="170045">
                <a:tc>
                  <a:txBody>
                    <a:bodyPr wrap="square"/>
                    <a:lstStyle/>
                    <a:p>
                      <a:pPr algn="l"/>
                      <a:r>
                        <a:rPr sz="1050" b="0" i="0">
                          <a:solidFill>
                            <a:srgbClr val="000000"/>
                          </a:solidFill>
                          <a:latin typeface="Calibri"/>
                        </a:rPr>
                        <a:t>Figure 181: Company G: Revenue from the Global Market and Share, US$ Mn and %, 2026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(4/4)</a:t>
            </a:r>
          </a:p>
        </p:txBody>
      </p:sp>
      <p:graphicFrame>
        <p:nvGraphicFramePr>
          <p:cNvPr id="9" name="FMI Contents Table"/>
          <p:cNvGraphicFramePr>
            <a:graphicFrameLocks noGrp="1"/>
          </p:cNvGraphicFramePr>
          <p:nvPr/>
        </p:nvGraphicFramePr>
        <p:xfrm>
          <a:off x="142875" y="981075"/>
          <a:ext cx="5876925" cy="3167072"/>
        </p:xfrm>
        <a:graphic>
          <a:graphicData uri="http://schemas.openxmlformats.org/drawingml/2006/table">
            <a:tbl>
              <a:tblPr>
                <a:tableStyleId>{3B4B98B0-60AC-42C2-AFA5-B58CD77FA1E5}</a:tableStyleId>
              </a:tblPr>
              <a:tblGrid>
                <a:gridCol w="5876925"/>
              </a:tblGrid>
              <a:tr h="166688">
                <a:tc>
                  <a:txBody>
                    <a:bodyPr wrap="square"/>
                    <a:lstStyle/>
                    <a:p>
                      <a:pPr algn="l"/>
                      <a:r>
                        <a:rPr sz="1050" b="0" i="0">
                          <a:solidFill>
                            <a:srgbClr val="000000"/>
                          </a:solidFill>
                          <a:latin typeface="Calibri"/>
                        </a:rPr>
                        <a:t>Figure 182: Company H: Revenue from the Global Market and Share, US$ Mn and %, 2026</a:t>
                      </a:r>
                      <a:endParaRPr sz="1050"/>
                    </a:p>
                  </a:txBody>
                  <a:tcPr marL="9525" marR="9525" marT="9525" marB="0" anchor="ctr"/>
                </a:tc>
              </a:tr>
              <a:tr h="166688">
                <a:tc>
                  <a:txBody>
                    <a:bodyPr wrap="square"/>
                    <a:lstStyle/>
                    <a:p>
                      <a:pPr algn="l"/>
                      <a:r>
                        <a:rPr sz="1050" b="0" i="0">
                          <a:solidFill>
                            <a:srgbClr val="000000"/>
                          </a:solidFill>
                          <a:latin typeface="Calibri"/>
                        </a:rPr>
                        <a:t>Figure 183: Global Market Strategic Developments by Type, %, 2025–2026</a:t>
                      </a:r>
                      <a:endParaRPr sz="1050"/>
                    </a:p>
                  </a:txBody>
                  <a:tcPr marL="9525" marR="9525" marT="9525" marB="0" anchor="ctr"/>
                </a:tc>
              </a:tr>
              <a:tr h="166688">
                <a:tc>
                  <a:txBody>
                    <a:bodyPr wrap="square"/>
                    <a:lstStyle/>
                    <a:p>
                      <a:pPr algn="l"/>
                      <a:r>
                        <a:rPr sz="1050" b="0" i="0">
                          <a:solidFill>
                            <a:srgbClr val="000000"/>
                          </a:solidFill>
                          <a:latin typeface="Calibri"/>
                        </a:rPr>
                        <a:t>Figure 184: Global Market Company Footprint by Region, 2026</a:t>
                      </a:r>
                      <a:endParaRPr sz="1050"/>
                    </a:p>
                  </a:txBody>
                  <a:tcPr marL="9525" marR="9525" marT="9525" marB="0" anchor="ctr"/>
                </a:tc>
              </a:tr>
              <a:tr h="166688">
                <a:tc>
                  <a:txBody>
                    <a:bodyPr wrap="square"/>
                    <a:lstStyle/>
                    <a:p>
                      <a:pPr algn="l"/>
                      <a:r>
                        <a:rPr sz="1050" b="0" i="0">
                          <a:solidFill>
                            <a:srgbClr val="000000"/>
                          </a:solidFill>
                          <a:latin typeface="Calibri"/>
                        </a:rPr>
                        <a:t>Figure 185: Global Market Value Forecast by Scenario, US$ Mn, 2026–2036</a:t>
                      </a:r>
                      <a:endParaRPr sz="1050"/>
                    </a:p>
                  </a:txBody>
                  <a:tcPr marL="9525" marR="9525" marT="9525" marB="0" anchor="ctr"/>
                </a:tc>
              </a:tr>
              <a:tr h="166688">
                <a:tc>
                  <a:txBody>
                    <a:bodyPr wrap="square"/>
                    <a:lstStyle/>
                    <a:p>
                      <a:pPr algn="l"/>
                      <a:r>
                        <a:rPr sz="1050" b="0" i="0">
                          <a:solidFill>
                            <a:srgbClr val="000000"/>
                          </a:solidFill>
                          <a:latin typeface="Calibri"/>
                        </a:rPr>
                        <a:t>Figure 186: Global Market YoY Growth by Scenario, %, 2026–2036</a:t>
                      </a:r>
                      <a:endParaRPr sz="1050"/>
                    </a:p>
                  </a:txBody>
                  <a:tcPr marL="9525" marR="9525" marT="9525" marB="0" anchor="ctr"/>
                </a:tc>
              </a:tr>
              <a:tr h="166688">
                <a:tc>
                  <a:txBody>
                    <a:bodyPr wrap="square"/>
                    <a:lstStyle/>
                    <a:p>
                      <a:pPr algn="l"/>
                      <a:r>
                        <a:rPr sz="1050" b="0" i="0">
                          <a:solidFill>
                            <a:srgbClr val="000000"/>
                          </a:solidFill>
                          <a:latin typeface="Calibri"/>
                        </a:rPr>
                        <a:t>Figure 187: Global Market Key Trends Impact Assessment, 2026–2036</a:t>
                      </a:r>
                      <a:endParaRPr sz="1050"/>
                    </a:p>
                  </a:txBody>
                  <a:tcPr marL="9525" marR="9525" marT="9525" marB="0" anchor="ctr"/>
                </a:tc>
              </a:tr>
              <a:tr h="166688">
                <a:tc>
                  <a:txBody>
                    <a:bodyPr wrap="square"/>
                    <a:lstStyle/>
                    <a:p>
                      <a:pPr algn="l"/>
                      <a:r>
                        <a:rPr sz="1050" b="0" i="0">
                          <a:solidFill>
                            <a:srgbClr val="000000"/>
                          </a:solidFill>
                          <a:latin typeface="Calibri"/>
                        </a:rPr>
                        <a:t>Figure 188: Global Market Drivers, Restraints and Opportunities Impact, 2026–2036</a:t>
                      </a:r>
                      <a:endParaRPr sz="1050"/>
                    </a:p>
                  </a:txBody>
                  <a:tcPr marL="9525" marR="9525" marT="9525" marB="0" anchor="ctr"/>
                </a:tc>
              </a:tr>
              <a:tr h="166688">
                <a:tc>
                  <a:txBody>
                    <a:bodyPr wrap="square"/>
                    <a:lstStyle/>
                    <a:p>
                      <a:pPr algn="l"/>
                      <a:r>
                        <a:rPr sz="1050" b="0" i="0">
                          <a:solidFill>
                            <a:srgbClr val="000000"/>
                          </a:solidFill>
                          <a:latin typeface="Calibri"/>
                        </a:rPr>
                        <a:t>Figure 189: Global Market Opportunity Map by Region and Product Type, 2026–2036</a:t>
                      </a:r>
                      <a:endParaRPr sz="1050"/>
                    </a:p>
                  </a:txBody>
                  <a:tcPr marL="9525" marR="9525" marT="9525" marB="0" anchor="ctr"/>
                </a:tc>
              </a:tr>
              <a:tr h="166688">
                <a:tc>
                  <a:txBody>
                    <a:bodyPr wrap="square"/>
                    <a:lstStyle/>
                    <a:p>
                      <a:pPr algn="l"/>
                      <a:r>
                        <a:rPr sz="1050" b="0" i="0">
                          <a:solidFill>
                            <a:srgbClr val="000000"/>
                          </a:solidFill>
                          <a:latin typeface="Calibri"/>
                        </a:rPr>
                        <a:t>Figure 190: Global Market Technology Adoption Roadmap, 2021–2036</a:t>
                      </a:r>
                      <a:endParaRPr sz="1050"/>
                    </a:p>
                  </a:txBody>
                  <a:tcPr marL="9525" marR="9525" marT="9525" marB="0" anchor="ctr"/>
                </a:tc>
              </a:tr>
              <a:tr h="166688">
                <a:tc>
                  <a:txBody>
                    <a:bodyPr wrap="square"/>
                    <a:lstStyle/>
                    <a:p>
                      <a:pPr algn="l"/>
                      <a:r>
                        <a:rPr sz="1050" b="0" i="0">
                          <a:solidFill>
                            <a:srgbClr val="000000"/>
                          </a:solidFill>
                          <a:latin typeface="Calibri"/>
                        </a:rPr>
                        <a:t>Figure 191: Global Market Emerging Opportunity Pockets by Product Type, US$ Mn, 2026–2036</a:t>
                      </a:r>
                      <a:endParaRPr sz="1050"/>
                    </a:p>
                  </a:txBody>
                  <a:tcPr marL="9525" marR="9525" marT="9525" marB="0" anchor="ctr"/>
                </a:tc>
              </a:tr>
              <a:tr h="166688">
                <a:tc>
                  <a:txBody>
                    <a:bodyPr wrap="square"/>
                    <a:lstStyle/>
                    <a:p>
                      <a:pPr algn="l"/>
                      <a:r>
                        <a:rPr sz="1050" b="0" i="0">
                          <a:solidFill>
                            <a:srgbClr val="000000"/>
                          </a:solidFill>
                          <a:latin typeface="Calibri"/>
                        </a:rPr>
                        <a:t>Figure 192: Global Market Risk and Sensitivity Analysis, %, 2026–2036</a:t>
                      </a:r>
                      <a:endParaRPr sz="1050"/>
                    </a:p>
                  </a:txBody>
                  <a:tcPr marL="9525" marR="9525" marT="9525" marB="0" anchor="ctr"/>
                </a:tc>
              </a:tr>
              <a:tr h="166688">
                <a:tc>
                  <a:txBody>
                    <a:bodyPr wrap="square"/>
                    <a:lstStyle/>
                    <a:p>
                      <a:pPr algn="l"/>
                      <a:r>
                        <a:rPr sz="1050" b="0" i="0">
                          <a:solidFill>
                            <a:srgbClr val="000000"/>
                          </a:solidFill>
                          <a:latin typeface="Calibri"/>
                        </a:rPr>
                        <a:t>Figure 193: Global Market Regulatory Landscape Timeline, 2021–2036</a:t>
                      </a:r>
                      <a:endParaRPr sz="1050"/>
                    </a:p>
                  </a:txBody>
                  <a:tcPr marL="9525" marR="9525" marT="9525" marB="0" anchor="ctr"/>
                </a:tc>
              </a:tr>
              <a:tr h="166688">
                <a:tc>
                  <a:txBody>
                    <a:bodyPr wrap="square"/>
                    <a:lstStyle/>
                    <a:p>
                      <a:pPr algn="l"/>
                      <a:r>
                        <a:rPr sz="1050" b="0" i="0">
                          <a:solidFill>
                            <a:srgbClr val="000000"/>
                          </a:solidFill>
                          <a:latin typeface="Calibri"/>
                        </a:rPr>
                        <a:t>Figure 194: Global Market Investment Hotspots by Region, 2026–2036</a:t>
                      </a:r>
                      <a:endParaRPr sz="1050"/>
                    </a:p>
                  </a:txBody>
                  <a:tcPr marL="9525" marR="9525" marT="9525" marB="0" anchor="ctr"/>
                </a:tc>
              </a:tr>
              <a:tr h="166688">
                <a:tc>
                  <a:txBody>
                    <a:bodyPr wrap="square"/>
                    <a:lstStyle/>
                    <a:p>
                      <a:pPr algn="l"/>
                      <a:r>
                        <a:rPr sz="1050" b="0" i="0">
                          <a:solidFill>
                            <a:srgbClr val="000000"/>
                          </a:solidFill>
                          <a:latin typeface="Calibri"/>
                        </a:rPr>
                        <a:t>Figure 195: Global Market Innovation Pipeline Assessment, 2026</a:t>
                      </a:r>
                      <a:endParaRPr sz="1050"/>
                    </a:p>
                  </a:txBody>
                  <a:tcPr marL="9525" marR="9525" marT="9525" marB="0" anchor="ctr"/>
                </a:tc>
              </a:tr>
              <a:tr h="166688">
                <a:tc>
                  <a:txBody>
                    <a:bodyPr wrap="square"/>
                    <a:lstStyle/>
                    <a:p>
                      <a:pPr algn="l"/>
                      <a:r>
                        <a:rPr sz="1050" b="0" i="0">
                          <a:solidFill>
                            <a:srgbClr val="000000"/>
                          </a:solidFill>
                          <a:latin typeface="Calibri"/>
                        </a:rPr>
                        <a:t>Figure 196: Global Market White-Space Opportunity Assessment, 2026–2036</a:t>
                      </a:r>
                      <a:endParaRPr sz="1050"/>
                    </a:p>
                  </a:txBody>
                  <a:tcPr marL="9525" marR="9525" marT="9525" marB="0" anchor="ctr"/>
                </a:tc>
              </a:tr>
              <a:tr h="166688">
                <a:tc>
                  <a:txBody>
                    <a:bodyPr wrap="square"/>
                    <a:lstStyle/>
                    <a:p>
                      <a:pPr algn="l"/>
                      <a:r>
                        <a:rPr sz="1050" b="0" i="0">
                          <a:solidFill>
                            <a:srgbClr val="000000"/>
                          </a:solidFill>
                          <a:latin typeface="Calibri"/>
                        </a:rPr>
                        <a:t>Figure 197: Global Market Customer Purchase Criteria Assessment, 2026</a:t>
                      </a:r>
                      <a:endParaRPr sz="1050"/>
                    </a:p>
                  </a:txBody>
                  <a:tcPr marL="9525" marR="9525" marT="9525" marB="0" anchor="ctr"/>
                </a:tc>
              </a:tr>
              <a:tr h="166688">
                <a:tc>
                  <a:txBody>
                    <a:bodyPr wrap="square"/>
                    <a:lstStyle/>
                    <a:p>
                      <a:pPr algn="l"/>
                      <a:r>
                        <a:rPr sz="1050" b="0" i="0">
                          <a:solidFill>
                            <a:srgbClr val="000000"/>
                          </a:solidFill>
                          <a:latin typeface="Calibri"/>
                        </a:rPr>
                        <a:t>Figure 198: Global Market Go-to-Market Priority by Region, 2026–2036</a:t>
                      </a:r>
                      <a:endParaRPr sz="1050"/>
                    </a:p>
                  </a:txBody>
                  <a:tcPr marL="9525" marR="9525" marT="9525" marB="0" anchor="ctr"/>
                </a:tc>
              </a:tr>
              <a:tr h="166688">
                <a:tc>
                  <a:txBody>
                    <a:bodyPr wrap="square"/>
                    <a:lstStyle/>
                    <a:p>
                      <a:pPr algn="l"/>
                      <a:r>
                        <a:rPr sz="1050" b="0" i="0">
                          <a:solidFill>
                            <a:srgbClr val="000000"/>
                          </a:solidFill>
                          <a:latin typeface="Calibri"/>
                        </a:rPr>
                        <a:t>Figure 199: Global Market Unmet Needs Analysis by Product Type, 2026</a:t>
                      </a:r>
                      <a:endParaRPr sz="1050"/>
                    </a:p>
                  </a:txBody>
                  <a:tcPr marL="9525" marR="9525" marT="9525" marB="0" anchor="ctr"/>
                </a:tc>
              </a:tr>
              <a:tr h="166688">
                <a:tc>
                  <a:txBody>
                    <a:bodyPr wrap="square"/>
                    <a:lstStyle/>
                    <a:p>
                      <a:pPr algn="l"/>
                      <a:r>
                        <a:rPr sz="1050" b="0" i="0">
                          <a:solidFill>
                            <a:srgbClr val="000000"/>
                          </a:solidFill>
                          <a:latin typeface="Calibri"/>
                        </a:rPr>
                        <a:t>Figure 200: Global Market Right-to-Win Assessment, 2026</a:t>
                      </a:r>
                      <a:endParaRPr sz="1050"/>
                    </a:p>
                  </a:txBody>
                  <a:tcPr marL="9525" marR="9525" marT="9525" marB="0" anchor="ctr"/>
                </a:tc>
              </a:tr>
            </a:tbl>
          </a:graphicData>
        </a:graphic>
      </p:graphicFrame>
      <p:sp>
        <p:nvSpPr>
          <p:cNvPr id="10" name="TextBox 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(1/4)</a:t>
            </a:r>
          </a:p>
        </p:txBody>
      </p:sp>
      <p:graphicFrame>
        <p:nvGraphicFramePr>
          <p:cNvPr id="9" name="FMI Contents Table"/>
          <p:cNvGraphicFramePr>
            <a:graphicFrameLocks noGrp="1"/>
          </p:cNvGraphicFramePr>
          <p:nvPr/>
        </p:nvGraphicFramePr>
        <p:xfrm>
          <a:off x="142875" y="981075"/>
          <a:ext cx="5876925" cy="5257793"/>
        </p:xfrm>
        <a:graphic>
          <a:graphicData uri="http://schemas.openxmlformats.org/drawingml/2006/table">
            <a:tbl>
              <a:tblPr>
                <a:tableStyleId>{3B4B98B0-60AC-42C2-AFA5-B58CD77FA1E5}</a:tableStyleId>
              </a:tblPr>
              <a:tblGrid>
                <a:gridCol w="5876925"/>
              </a:tblGrid>
              <a:tr h="170045">
                <a:tc>
                  <a:txBody>
                    <a:bodyPr wrap="square"/>
                    <a:lstStyle/>
                    <a:p>
                      <a:pPr algn="l"/>
                      <a:r>
                        <a:rPr sz="1050" b="0" i="0">
                          <a:solidFill>
                            <a:srgbClr val="000000"/>
                          </a:solidFill>
                          <a:latin typeface="Calibri"/>
                        </a:rPr>
                        <a:t>Table 1: Global Market Snapshot: Value, Volume and CAGR, US$ Mn, 2025–2036</a:t>
                      </a:r>
                      <a:endParaRPr sz="1050"/>
                    </a:p>
                  </a:txBody>
                  <a:tcPr marL="9525" marR="9525" marT="9525" marB="0" anchor="ctr"/>
                </a:tc>
              </a:tr>
              <a:tr h="170045">
                <a:tc>
                  <a:txBody>
                    <a:bodyPr wrap="square"/>
                    <a:lstStyle/>
                    <a:p>
                      <a:pPr algn="l"/>
                      <a:r>
                        <a:rPr sz="1050" b="0" i="0">
                          <a:solidFill>
                            <a:srgbClr val="000000"/>
                          </a:solidFill>
                          <a:latin typeface="Calibri"/>
                        </a:rPr>
                        <a:t>Table 2: Global Market Taxonomy by Segment, 2026</a:t>
                      </a:r>
                      <a:endParaRPr sz="1050"/>
                    </a:p>
                  </a:txBody>
                  <a:tcPr marL="9525" marR="9525" marT="9525" marB="0" anchor="ctr"/>
                </a:tc>
              </a:tr>
              <a:tr h="170045">
                <a:tc>
                  <a:txBody>
                    <a:bodyPr wrap="square"/>
                    <a:lstStyle/>
                    <a:p>
                      <a:pPr algn="l"/>
                      <a:r>
                        <a:rPr sz="1050" b="0" i="0">
                          <a:solidFill>
                            <a:srgbClr val="000000"/>
                          </a:solidFill>
                          <a:latin typeface="Calibri"/>
                        </a:rPr>
                        <a:t>Table 3: Global Market Scope: Inclusions and Exclusions by Segment, 2026</a:t>
                      </a:r>
                      <a:endParaRPr sz="1050"/>
                    </a:p>
                  </a:txBody>
                  <a:tcPr marL="9525" marR="9525" marT="9525" marB="0" anchor="ctr"/>
                </a:tc>
              </a:tr>
              <a:tr h="170045">
                <a:tc>
                  <a:txBody>
                    <a:bodyPr wrap="square"/>
                    <a:lstStyle/>
                    <a:p>
                      <a:pPr algn="l"/>
                      <a:r>
                        <a:rPr sz="1050" b="0" i="0">
                          <a:solidFill>
                            <a:srgbClr val="000000"/>
                          </a:solidFill>
                          <a:latin typeface="Calibri"/>
                        </a:rPr>
                        <a:t>Table 4: Global Market Key Demand Drivers and Impact Rating, 2026–2036</a:t>
                      </a:r>
                      <a:endParaRPr sz="1050"/>
                    </a:p>
                  </a:txBody>
                  <a:tcPr marL="9525" marR="9525" marT="9525" marB="0" anchor="ctr"/>
                </a:tc>
              </a:tr>
              <a:tr h="170045">
                <a:tc>
                  <a:txBody>
                    <a:bodyPr wrap="square"/>
                    <a:lstStyle/>
                    <a:p>
                      <a:pPr algn="l"/>
                      <a:r>
                        <a:rPr sz="1050" b="0" i="0">
                          <a:solidFill>
                            <a:srgbClr val="000000"/>
                          </a:solidFill>
                          <a:latin typeface="Calibri"/>
                        </a:rPr>
                        <a:t>Table 5: Global Market Key Restraints and Impact Rating, 2026–2036</a:t>
                      </a:r>
                      <a:endParaRPr sz="1050"/>
                    </a:p>
                  </a:txBody>
                  <a:tcPr marL="9525" marR="9525" marT="9525" marB="0" anchor="ctr"/>
                </a:tc>
              </a:tr>
              <a:tr h="170045">
                <a:tc>
                  <a:txBody>
                    <a:bodyPr wrap="square"/>
                    <a:lstStyle/>
                    <a:p>
                      <a:pPr algn="l"/>
                      <a:r>
                        <a:rPr sz="1050" b="0" i="0">
                          <a:solidFill>
                            <a:srgbClr val="000000"/>
                          </a:solidFill>
                          <a:latin typeface="Calibri"/>
                        </a:rPr>
                        <a:t>Table 6: Global Market Analyst Recommendations by Segment, 2026–2036</a:t>
                      </a:r>
                      <a:endParaRPr sz="1050"/>
                    </a:p>
                  </a:txBody>
                  <a:tcPr marL="9525" marR="9525" marT="9525" marB="0" anchor="ctr"/>
                </a:tc>
              </a:tr>
              <a:tr h="170045">
                <a:tc>
                  <a:txBody>
                    <a:bodyPr wrap="square"/>
                    <a:lstStyle/>
                    <a:p>
                      <a:pPr algn="l"/>
                      <a:r>
                        <a:rPr sz="1050" b="0" i="0">
                          <a:solidFill>
                            <a:srgbClr val="000000"/>
                          </a:solidFill>
                          <a:latin typeface="Calibri"/>
                        </a:rPr>
                        <a:t>Table 7: Global Market Key Market Signals and Data Points, 2026</a:t>
                      </a:r>
                      <a:endParaRPr sz="1050"/>
                    </a:p>
                  </a:txBody>
                  <a:tcPr marL="9525" marR="9525" marT="9525" marB="0" anchor="ctr"/>
                </a:tc>
              </a:tr>
              <a:tr h="170045">
                <a:tc>
                  <a:txBody>
                    <a:bodyPr wrap="square"/>
                    <a:lstStyle/>
                    <a:p>
                      <a:pPr algn="l"/>
                      <a:r>
                        <a:rPr sz="1050" b="0" i="0">
                          <a:solidFill>
                            <a:srgbClr val="000000"/>
                          </a:solidFill>
                          <a:latin typeface="Calibri"/>
                        </a:rPr>
                        <a:t>Table 8: Global Market Value and YoY Growth, US$ Mn and %, 2021–2036</a:t>
                      </a:r>
                      <a:endParaRPr sz="1050"/>
                    </a:p>
                  </a:txBody>
                  <a:tcPr marL="9525" marR="9525" marT="9525" marB="0" anchor="ctr"/>
                </a:tc>
              </a:tr>
              <a:tr h="170045">
                <a:tc>
                  <a:txBody>
                    <a:bodyPr wrap="square"/>
                    <a:lstStyle/>
                    <a:p>
                      <a:pPr algn="l"/>
                      <a:r>
                        <a:rPr sz="1050" b="0" i="0">
                          <a:solidFill>
                            <a:srgbClr val="000000"/>
                          </a:solidFill>
                          <a:latin typeface="Calibri"/>
                        </a:rPr>
                        <a:t>Table 9: Global Market Historical Value Analysis, US$ Mn, 2021–2025</a:t>
                      </a:r>
                      <a:endParaRPr sz="1050"/>
                    </a:p>
                  </a:txBody>
                  <a:tcPr marL="9525" marR="9525" marT="9525" marB="0" anchor="ctr"/>
                </a:tc>
              </a:tr>
              <a:tr h="170045">
                <a:tc>
                  <a:txBody>
                    <a:bodyPr wrap="square"/>
                    <a:lstStyle/>
                    <a:p>
                      <a:pPr algn="l"/>
                      <a:r>
                        <a:rPr sz="1050" b="0" i="0">
                          <a:solidFill>
                            <a:srgbClr val="000000"/>
                          </a:solidFill>
                          <a:latin typeface="Calibri"/>
                        </a:rPr>
                        <a:t>Table 10: Global Market Forecast Value Analysis, US$ Mn, 2026–2036</a:t>
                      </a:r>
                      <a:endParaRPr sz="1050"/>
                    </a:p>
                  </a:txBody>
                  <a:tcPr marL="9525" marR="9525" marT="9525" marB="0" anchor="ctr"/>
                </a:tc>
              </a:tr>
              <a:tr h="170045">
                <a:tc>
                  <a:txBody>
                    <a:bodyPr wrap="square"/>
                    <a:lstStyle/>
                    <a:p>
                      <a:pPr algn="l"/>
                      <a:r>
                        <a:rPr sz="1050" b="0" i="0">
                          <a:solidFill>
                            <a:srgbClr val="000000"/>
                          </a:solidFill>
                          <a:latin typeface="Calibri"/>
                        </a:rPr>
                        <a:t>Table 11: Global Market Volume and YoY Growth, Thousand MT and %, 2021–2036</a:t>
                      </a:r>
                      <a:endParaRPr sz="1050"/>
                    </a:p>
                  </a:txBody>
                  <a:tcPr marL="9525" marR="9525" marT="9525" marB="0" anchor="ctr"/>
                </a:tc>
              </a:tr>
              <a:tr h="170045">
                <a:tc>
                  <a:txBody>
                    <a:bodyPr wrap="square"/>
                    <a:lstStyle/>
                    <a:p>
                      <a:pPr algn="l"/>
                      <a:r>
                        <a:rPr sz="1050" b="0" i="0">
                          <a:solidFill>
                            <a:srgbClr val="000000"/>
                          </a:solidFill>
                          <a:latin typeface="Calibri"/>
                        </a:rPr>
                        <a:t>Table 12: Global Market Volume Forecast, Thousand MT, 2026–2036</a:t>
                      </a:r>
                      <a:endParaRPr sz="1050"/>
                    </a:p>
                  </a:txBody>
                  <a:tcPr marL="9525" marR="9525" marT="9525" marB="0" anchor="ctr"/>
                </a:tc>
              </a:tr>
              <a:tr h="170045">
                <a:tc>
                  <a:txBody>
                    <a:bodyPr wrap="square"/>
                    <a:lstStyle/>
                    <a:p>
                      <a:pPr algn="l"/>
                      <a:r>
                        <a:rPr sz="1050" b="0" i="0">
                          <a:solidFill>
                            <a:srgbClr val="000000"/>
                          </a:solidFill>
                          <a:latin typeface="Calibri"/>
                        </a:rPr>
                        <a:t>Table 13: Global Market Average Selling Price, US$/MT, 2021–2036</a:t>
                      </a:r>
                      <a:endParaRPr sz="1050"/>
                    </a:p>
                  </a:txBody>
                  <a:tcPr marL="9525" marR="9525" marT="9525" marB="0" anchor="ctr"/>
                </a:tc>
              </a:tr>
              <a:tr h="170045">
                <a:tc>
                  <a:txBody>
                    <a:bodyPr wrap="square"/>
                    <a:lstStyle/>
                    <a:p>
                      <a:pPr algn="l"/>
                      <a:r>
                        <a:rPr sz="1050" b="0" i="0">
                          <a:solidFill>
                            <a:srgbClr val="000000"/>
                          </a:solidFill>
                          <a:latin typeface="Calibri"/>
                        </a:rPr>
                        <a:t>Table 14: Global Market Average Selling Price YoY Change, %, 2026–2036</a:t>
                      </a:r>
                      <a:endParaRPr sz="1050"/>
                    </a:p>
                  </a:txBody>
                  <a:tcPr marL="9525" marR="9525" marT="9525" marB="0" anchor="ctr"/>
                </a:tc>
              </a:tr>
              <a:tr h="170045">
                <a:tc>
                  <a:txBody>
                    <a:bodyPr wrap="square"/>
                    <a:lstStyle/>
                    <a:p>
                      <a:pPr algn="l"/>
                      <a:r>
                        <a:rPr sz="1050" b="0" i="0">
                          <a:solidFill>
                            <a:srgbClr val="000000"/>
                          </a:solidFill>
                          <a:latin typeface="Calibri"/>
                        </a:rPr>
                        <a:t>Table 15: Global Market CAGR and Absolute $ Opportunity, %, US$ Mn, 2026–2036</a:t>
                      </a:r>
                      <a:endParaRPr sz="1050"/>
                    </a:p>
                  </a:txBody>
                  <a:tcPr marL="9525" marR="9525" marT="9525" marB="0" anchor="ctr"/>
                </a:tc>
              </a:tr>
              <a:tr h="170045">
                <a:tc>
                  <a:txBody>
                    <a:bodyPr wrap="square"/>
                    <a:lstStyle/>
                    <a:p>
                      <a:pPr algn="l"/>
                      <a:r>
                        <a:rPr sz="1050" b="0" i="0">
                          <a:solidFill>
                            <a:srgbClr val="000000"/>
                          </a:solidFill>
                          <a:latin typeface="Calibri"/>
                        </a:rPr>
                        <a:t>Table 16: Global Market Absolute $ Opportunity by Year, US$ Mn, 2026–2036</a:t>
                      </a:r>
                      <a:endParaRPr sz="1050"/>
                    </a:p>
                  </a:txBody>
                  <a:tcPr marL="9525" marR="9525" marT="9525" marB="0" anchor="ctr"/>
                </a:tc>
              </a:tr>
              <a:tr h="170045">
                <a:tc>
                  <a:txBody>
                    <a:bodyPr wrap="square"/>
                    <a:lstStyle/>
                    <a:p>
                      <a:pPr algn="l"/>
                      <a:r>
                        <a:rPr sz="1050" b="0" i="0">
                          <a:solidFill>
                            <a:srgbClr val="000000"/>
                          </a:solidFill>
                          <a:latin typeface="Calibri"/>
                        </a:rPr>
                        <a:t>Table 17: Global Market Value by Scenario (Optimistic, Likely, Pessimistic), US$ Mn, 2026–2036</a:t>
                      </a:r>
                      <a:endParaRPr sz="1050"/>
                    </a:p>
                  </a:txBody>
                  <a:tcPr marL="9525" marR="9525" marT="9525" marB="0" anchor="ctr"/>
                </a:tc>
              </a:tr>
              <a:tr h="170045">
                <a:tc>
                  <a:txBody>
                    <a:bodyPr wrap="square"/>
                    <a:lstStyle/>
                    <a:p>
                      <a:pPr algn="l"/>
                      <a:r>
                        <a:rPr sz="1050" b="0" i="0">
                          <a:solidFill>
                            <a:srgbClr val="000000"/>
                          </a:solidFill>
                          <a:latin typeface="Calibri"/>
                        </a:rPr>
                        <a:t>Table 18: Global Market Scenario CAGR Comparison, %, 2026–2036</a:t>
                      </a:r>
                      <a:endParaRPr sz="1050"/>
                    </a:p>
                  </a:txBody>
                  <a:tcPr marL="9525" marR="9525" marT="9525" marB="0" anchor="ctr"/>
                </a:tc>
              </a:tr>
              <a:tr h="170045">
                <a:tc>
                  <a:txBody>
                    <a:bodyPr wrap="square"/>
                    <a:lstStyle/>
                    <a:p>
                      <a:pPr algn="l"/>
                      <a:r>
                        <a:rPr sz="1050" b="0" i="0">
                          <a:solidFill>
                            <a:srgbClr val="000000"/>
                          </a:solidFill>
                          <a:latin typeface="Calibri"/>
                        </a:rPr>
                        <a:t>Table 19: Global Market Historical vs Forecast Growth Comparison, %, 2021–2036</a:t>
                      </a:r>
                      <a:endParaRPr sz="1050"/>
                    </a:p>
                  </a:txBody>
                  <a:tcPr marL="9525" marR="9525" marT="9525" marB="0" anchor="ctr"/>
                </a:tc>
              </a:tr>
              <a:tr h="170045">
                <a:tc>
                  <a:txBody>
                    <a:bodyPr wrap="square"/>
                    <a:lstStyle/>
                    <a:p>
                      <a:pPr algn="l"/>
                      <a:r>
                        <a:rPr sz="1050" b="0" i="0">
                          <a:solidFill>
                            <a:srgbClr val="000000"/>
                          </a:solidFill>
                          <a:latin typeface="Calibri"/>
                        </a:rPr>
                        <a:t>Table 20: Global Market Five-Year Block Value Summary, US$ Mn, 2021–2036</a:t>
                      </a:r>
                      <a:endParaRPr sz="1050"/>
                    </a:p>
                  </a:txBody>
                  <a:tcPr marL="9525" marR="9525" marT="9525" marB="0" anchor="ctr"/>
                </a:tc>
              </a:tr>
              <a:tr h="170045">
                <a:tc>
                  <a:txBody>
                    <a:bodyPr wrap="square"/>
                    <a:lstStyle/>
                    <a:p>
                      <a:pPr algn="l"/>
                      <a:r>
                        <a:rPr sz="1050" b="0" i="0">
                          <a:solidFill>
                            <a:srgbClr val="000000"/>
                          </a:solidFill>
                          <a:latin typeface="Calibri"/>
                        </a:rPr>
                        <a:t>Table 21: Global Market Value by Product Type, US$ Mn, 2021–2036</a:t>
                      </a:r>
                      <a:endParaRPr sz="1050"/>
                    </a:p>
                  </a:txBody>
                  <a:tcPr marL="9525" marR="9525" marT="9525" marB="0" anchor="ctr"/>
                </a:tc>
              </a:tr>
              <a:tr h="170045">
                <a:tc>
                  <a:txBody>
                    <a:bodyPr wrap="square"/>
                    <a:lstStyle/>
                    <a:p>
                      <a:pPr algn="l"/>
                      <a:r>
                        <a:rPr sz="1050" b="0" i="0">
                          <a:solidFill>
                            <a:srgbClr val="000000"/>
                          </a:solidFill>
                          <a:latin typeface="Calibri"/>
                        </a:rPr>
                        <a:t>Table 22: Global Market Value by Principal Material / Barrier Technology, US$ Mn, 2021–2036</a:t>
                      </a:r>
                      <a:endParaRPr sz="1050"/>
                    </a:p>
                  </a:txBody>
                  <a:tcPr marL="9525" marR="9525" marT="9525" marB="0" anchor="ctr"/>
                </a:tc>
              </a:tr>
              <a:tr h="170045">
                <a:tc>
                  <a:txBody>
                    <a:bodyPr wrap="square"/>
                    <a:lstStyle/>
                    <a:p>
                      <a:pPr algn="l"/>
                      <a:r>
                        <a:rPr sz="1050" b="0" i="0">
                          <a:solidFill>
                            <a:srgbClr val="000000"/>
                          </a:solidFill>
                          <a:latin typeface="Calibri"/>
                        </a:rPr>
                        <a:t>Table 23: Global Market Value by Material Structure, US$ Mn, 2021–2036</a:t>
                      </a:r>
                      <a:endParaRPr sz="1050"/>
                    </a:p>
                  </a:txBody>
                  <a:tcPr marL="9525" marR="9525" marT="9525" marB="0" anchor="ctr"/>
                </a:tc>
              </a:tr>
              <a:tr h="170045">
                <a:tc>
                  <a:txBody>
                    <a:bodyPr wrap="square"/>
                    <a:lstStyle/>
                    <a:p>
                      <a:pPr algn="l"/>
                      <a:r>
                        <a:rPr sz="1050" b="0" i="0">
                          <a:solidFill>
                            <a:srgbClr val="000000"/>
                          </a:solidFill>
                          <a:latin typeface="Calibri"/>
                        </a:rPr>
                        <a:t>Table 24: Global Market Value by Barrier Level, US$ Mn, 2021–2036</a:t>
                      </a:r>
                      <a:endParaRPr sz="1050"/>
                    </a:p>
                  </a:txBody>
                  <a:tcPr marL="9525" marR="9525" marT="9525" marB="0" anchor="ctr"/>
                </a:tc>
              </a:tr>
              <a:tr h="170045">
                <a:tc>
                  <a:txBody>
                    <a:bodyPr wrap="square"/>
                    <a:lstStyle/>
                    <a:p>
                      <a:pPr algn="l"/>
                      <a:r>
                        <a:rPr sz="1050" b="0" i="0">
                          <a:solidFill>
                            <a:srgbClr val="000000"/>
                          </a:solidFill>
                          <a:latin typeface="Calibri"/>
                        </a:rPr>
                        <a:t>Table 25: Global Market Value by Application, US$ Mn, 2021–2036</a:t>
                      </a:r>
                      <a:endParaRPr sz="1050"/>
                    </a:p>
                  </a:txBody>
                  <a:tcPr marL="9525" marR="9525" marT="9525" marB="0" anchor="ctr"/>
                </a:tc>
              </a:tr>
              <a:tr h="170045">
                <a:tc>
                  <a:txBody>
                    <a:bodyPr wrap="square"/>
                    <a:lstStyle/>
                    <a:p>
                      <a:pPr algn="l"/>
                      <a:r>
                        <a:rPr sz="1050" b="0" i="0">
                          <a:solidFill>
                            <a:srgbClr val="000000"/>
                          </a:solidFill>
                          <a:latin typeface="Calibri"/>
                        </a:rPr>
                        <a:t>Table 26: Global Market Value by Barrier Level Vs Application, US$ Mn, 2021–2036</a:t>
                      </a:r>
                      <a:endParaRPr sz="1050"/>
                    </a:p>
                  </a:txBody>
                  <a:tcPr marL="9525" marR="9525" marT="9525" marB="0" anchor="ctr"/>
                </a:tc>
              </a:tr>
              <a:tr h="170045">
                <a:tc>
                  <a:txBody>
                    <a:bodyPr wrap="square"/>
                    <a:lstStyle/>
                    <a:p>
                      <a:pPr algn="l"/>
                      <a:r>
                        <a:rPr sz="1050" b="0" i="0">
                          <a:solidFill>
                            <a:srgbClr val="000000"/>
                          </a:solidFill>
                          <a:latin typeface="Calibri"/>
                        </a:rPr>
                        <a:t>Table 27: Global Market CAGR and Absolute $ Opportunity by Product Type, %, US$ Mn, 2026–2036</a:t>
                      </a:r>
                      <a:endParaRPr sz="1050"/>
                    </a:p>
                  </a:txBody>
                  <a:tcPr marL="9525" marR="9525" marT="9525" marB="0" anchor="ctr"/>
                </a:tc>
              </a:tr>
              <a:tr h="333289">
                <a:tc>
                  <a:txBody>
                    <a:bodyPr wrap="square"/>
                    <a:lstStyle/>
                    <a:p>
                      <a:pPr algn="l"/>
                      <a:r>
                        <a:rPr sz="1050" b="0" i="0">
                          <a:solidFill>
                            <a:srgbClr val="000000"/>
                          </a:solidFill>
                          <a:latin typeface="Calibri"/>
                        </a:rPr>
                        <a:t>Table 28: Global Market CAGR and Absolute $ Opportunity by Principal Material / Barrier Technology, %, US$ Mn, 2026–2036</a:t>
                      </a:r>
                      <a:endParaRPr sz="1050"/>
                    </a:p>
                  </a:txBody>
                  <a:tcPr marL="9525" marR="9525" marT="9525" marB="0" anchor="ctr"/>
                </a:tc>
              </a:tr>
              <a:tr h="333289">
                <a:tc>
                  <a:txBody>
                    <a:bodyPr wrap="square"/>
                    <a:lstStyle/>
                    <a:p>
                      <a:pPr algn="l"/>
                      <a:r>
                        <a:rPr sz="1050" b="0" i="0">
                          <a:solidFill>
                            <a:srgbClr val="000000"/>
                          </a:solidFill>
                          <a:latin typeface="Calibri"/>
                        </a:rPr>
                        <a:t>Table 29: Global Market CAGR and Absolute $ Opportunity by Material Structure, %, US$ Mn, 2026–2036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10"/>
        </p:xfrm>
        <a:graphic>
          <a:graphicData uri="http://schemas.openxmlformats.org/drawingml/2006/table">
            <a:tbl>
              <a:tblPr>
                <a:tableStyleId>{3B4B98B0-60AC-42C2-AFA5-B58CD77FA1E5}</a:tableStyleId>
              </a:tblPr>
              <a:tblGrid>
                <a:gridCol w="5876925"/>
              </a:tblGrid>
              <a:tr h="170266">
                <a:tc>
                  <a:txBody>
                    <a:bodyPr wrap="square"/>
                    <a:lstStyle/>
                    <a:p>
                      <a:pPr algn="l"/>
                      <a:r>
                        <a:rPr sz="1050" b="0" i="0">
                          <a:solidFill>
                            <a:srgbClr val="000000"/>
                          </a:solidFill>
                          <a:latin typeface="Calibri"/>
                        </a:rPr>
                        <a:t>Table 30: Global Market CAGR and Absolute $ Opportunity by Barrier Level, %, US$ Mn, 2026–2036</a:t>
                      </a:r>
                      <a:endParaRPr sz="1050"/>
                    </a:p>
                  </a:txBody>
                  <a:tcPr marL="9525" marR="9525" marT="9525" marB="0" anchor="ctr"/>
                </a:tc>
              </a:tr>
              <a:tr h="170266">
                <a:tc>
                  <a:txBody>
                    <a:bodyPr wrap="square"/>
                    <a:lstStyle/>
                    <a:p>
                      <a:pPr algn="l"/>
                      <a:r>
                        <a:rPr sz="1050" b="0" i="0">
                          <a:solidFill>
                            <a:srgbClr val="000000"/>
                          </a:solidFill>
                          <a:latin typeface="Calibri"/>
                        </a:rPr>
                        <a:t>Table 31: Global Market CAGR and Absolute $ Opportunity by Application, %, US$ Mn, 2026–2036</a:t>
                      </a:r>
                      <a:endParaRPr sz="1050"/>
                    </a:p>
                  </a:txBody>
                  <a:tcPr marL="9525" marR="9525" marT="9525" marB="0" anchor="ctr"/>
                </a:tc>
              </a:tr>
              <a:tr h="333720">
                <a:tc>
                  <a:txBody>
                    <a:bodyPr wrap="square"/>
                    <a:lstStyle/>
                    <a:p>
                      <a:pPr algn="l"/>
                      <a:r>
                        <a:rPr sz="1050" b="0" i="0">
                          <a:solidFill>
                            <a:srgbClr val="000000"/>
                          </a:solidFill>
                          <a:latin typeface="Calibri"/>
                        </a:rPr>
                        <a:t>Table 32: Global Market CAGR and Absolute $ Opportunity by Barrier Level Vs Application, %, US$ Mn, 2026–2036</a:t>
                      </a:r>
                      <a:endParaRPr sz="1050"/>
                    </a:p>
                  </a:txBody>
                  <a:tcPr marL="9525" marR="9525" marT="9525" marB="0" anchor="ctr"/>
                </a:tc>
              </a:tr>
              <a:tr h="170266">
                <a:tc>
                  <a:txBody>
                    <a:bodyPr wrap="square"/>
                    <a:lstStyle/>
                    <a:p>
                      <a:pPr algn="l"/>
                      <a:r>
                        <a:rPr sz="1050" b="0" i="0">
                          <a:solidFill>
                            <a:srgbClr val="000000"/>
                          </a:solidFill>
                          <a:latin typeface="Calibri"/>
                        </a:rPr>
                        <a:t>Table 33: Global Market Share and BPS Change by Product Type, %, 2025, 2026 and 2036</a:t>
                      </a:r>
                      <a:endParaRPr sz="1050"/>
                    </a:p>
                  </a:txBody>
                  <a:tcPr marL="9525" marR="9525" marT="9525" marB="0" anchor="ctr"/>
                </a:tc>
              </a:tr>
              <a:tr h="333720">
                <a:tc>
                  <a:txBody>
                    <a:bodyPr wrap="square"/>
                    <a:lstStyle/>
                    <a:p>
                      <a:pPr algn="l"/>
                      <a:r>
                        <a:rPr sz="1050" b="0" i="0">
                          <a:solidFill>
                            <a:srgbClr val="000000"/>
                          </a:solidFill>
                          <a:latin typeface="Calibri"/>
                        </a:rPr>
                        <a:t>Table 34: Global Market Share and BPS Change by Principal Material / Barrier Technology, %, 2025, 2026 and 2036</a:t>
                      </a:r>
                      <a:endParaRPr sz="1050"/>
                    </a:p>
                  </a:txBody>
                  <a:tcPr marL="9525" marR="9525" marT="9525" marB="0" anchor="ctr"/>
                </a:tc>
              </a:tr>
              <a:tr h="170266">
                <a:tc>
                  <a:txBody>
                    <a:bodyPr wrap="square"/>
                    <a:lstStyle/>
                    <a:p>
                      <a:pPr algn="l"/>
                      <a:r>
                        <a:rPr sz="1050" b="0" i="0">
                          <a:solidFill>
                            <a:srgbClr val="000000"/>
                          </a:solidFill>
                          <a:latin typeface="Calibri"/>
                        </a:rPr>
                        <a:t>Table 35: Global Market Share and BPS Change by Material Structure, %, 2025, 2026 and 2036</a:t>
                      </a:r>
                      <a:endParaRPr sz="1050"/>
                    </a:p>
                  </a:txBody>
                  <a:tcPr marL="9525" marR="9525" marT="9525" marB="0" anchor="ctr"/>
                </a:tc>
              </a:tr>
              <a:tr h="170266">
                <a:tc>
                  <a:txBody>
                    <a:bodyPr wrap="square"/>
                    <a:lstStyle/>
                    <a:p>
                      <a:pPr algn="l"/>
                      <a:r>
                        <a:rPr sz="1050" b="0" i="0">
                          <a:solidFill>
                            <a:srgbClr val="000000"/>
                          </a:solidFill>
                          <a:latin typeface="Calibri"/>
                        </a:rPr>
                        <a:t>Table 36: Global Market Share and BPS Change by Barrier Level, %, 2025, 2026 and 2036</a:t>
                      </a:r>
                      <a:endParaRPr sz="1050"/>
                    </a:p>
                  </a:txBody>
                  <a:tcPr marL="9525" marR="9525" marT="9525" marB="0" anchor="ctr"/>
                </a:tc>
              </a:tr>
              <a:tr h="170266">
                <a:tc>
                  <a:txBody>
                    <a:bodyPr wrap="square"/>
                    <a:lstStyle/>
                    <a:p>
                      <a:pPr algn="l"/>
                      <a:r>
                        <a:rPr sz="1050" b="0" i="0">
                          <a:solidFill>
                            <a:srgbClr val="000000"/>
                          </a:solidFill>
                          <a:latin typeface="Calibri"/>
                        </a:rPr>
                        <a:t>Table 37: Global Market Share and BPS Change by Application, %, 2025, 2026 and 2036</a:t>
                      </a:r>
                      <a:endParaRPr sz="1050"/>
                    </a:p>
                  </a:txBody>
                  <a:tcPr marL="9525" marR="9525" marT="9525" marB="0" anchor="ctr"/>
                </a:tc>
              </a:tr>
              <a:tr h="170266">
                <a:tc>
                  <a:txBody>
                    <a:bodyPr wrap="square"/>
                    <a:lstStyle/>
                    <a:p>
                      <a:pPr algn="l"/>
                      <a:r>
                        <a:rPr sz="1050" b="0" i="0">
                          <a:solidFill>
                            <a:srgbClr val="000000"/>
                          </a:solidFill>
                          <a:latin typeface="Calibri"/>
                        </a:rPr>
                        <a:t>Table 38: Global Market Share and BPS Change by Barrier Level Vs Application, %, 2025, 2026 and 2036</a:t>
                      </a:r>
                      <a:endParaRPr sz="1050"/>
                    </a:p>
                  </a:txBody>
                  <a:tcPr marL="9525" marR="9525" marT="9525" marB="0" anchor="ctr"/>
                </a:tc>
              </a:tr>
              <a:tr h="170266">
                <a:tc>
                  <a:txBody>
                    <a:bodyPr wrap="square"/>
                    <a:lstStyle/>
                    <a:p>
                      <a:pPr algn="l"/>
                      <a:r>
                        <a:rPr sz="1050" b="0" i="0">
                          <a:solidFill>
                            <a:srgbClr val="000000"/>
                          </a:solidFill>
                          <a:latin typeface="Calibri"/>
                        </a:rPr>
                        <a:t>Table 39: Global Market YoY Growth by Product Type, %, 2026–2036</a:t>
                      </a:r>
                      <a:endParaRPr sz="1050"/>
                    </a:p>
                  </a:txBody>
                  <a:tcPr marL="9525" marR="9525" marT="9525" marB="0" anchor="ctr"/>
                </a:tc>
              </a:tr>
              <a:tr h="170266">
                <a:tc>
                  <a:txBody>
                    <a:bodyPr wrap="square"/>
                    <a:lstStyle/>
                    <a:p>
                      <a:pPr algn="l"/>
                      <a:r>
                        <a:rPr sz="1050" b="0" i="0">
                          <a:solidFill>
                            <a:srgbClr val="000000"/>
                          </a:solidFill>
                          <a:latin typeface="Calibri"/>
                        </a:rPr>
                        <a:t>Table 40: Global Market YoY Growth by Principal Material / Barrier Technology, %, 2026–2036</a:t>
                      </a:r>
                      <a:endParaRPr sz="1050"/>
                    </a:p>
                  </a:txBody>
                  <a:tcPr marL="9525" marR="9525" marT="9525" marB="0" anchor="ctr"/>
                </a:tc>
              </a:tr>
              <a:tr h="170266">
                <a:tc>
                  <a:txBody>
                    <a:bodyPr wrap="square"/>
                    <a:lstStyle/>
                    <a:p>
                      <a:pPr algn="l"/>
                      <a:r>
                        <a:rPr sz="1050" b="0" i="0">
                          <a:solidFill>
                            <a:srgbClr val="000000"/>
                          </a:solidFill>
                          <a:latin typeface="Calibri"/>
                        </a:rPr>
                        <a:t>Table 41: Global Market YoY Growth by Material Structure, %, 2026–2036</a:t>
                      </a:r>
                      <a:endParaRPr sz="1050"/>
                    </a:p>
                  </a:txBody>
                  <a:tcPr marL="9525" marR="9525" marT="9525" marB="0" anchor="ctr"/>
                </a:tc>
              </a:tr>
              <a:tr h="170266">
                <a:tc>
                  <a:txBody>
                    <a:bodyPr wrap="square"/>
                    <a:lstStyle/>
                    <a:p>
                      <a:pPr algn="l"/>
                      <a:r>
                        <a:rPr sz="1050" b="0" i="0">
                          <a:solidFill>
                            <a:srgbClr val="000000"/>
                          </a:solidFill>
                          <a:latin typeface="Calibri"/>
                        </a:rPr>
                        <a:t>Table 42: Global Market YoY Growth by Barrier Level, %, 2026–2036</a:t>
                      </a:r>
                      <a:endParaRPr sz="1050"/>
                    </a:p>
                  </a:txBody>
                  <a:tcPr marL="9525" marR="9525" marT="9525" marB="0" anchor="ctr"/>
                </a:tc>
              </a:tr>
              <a:tr h="170266">
                <a:tc>
                  <a:txBody>
                    <a:bodyPr wrap="square"/>
                    <a:lstStyle/>
                    <a:p>
                      <a:pPr algn="l"/>
                      <a:r>
                        <a:rPr sz="1050" b="0" i="0">
                          <a:solidFill>
                            <a:srgbClr val="000000"/>
                          </a:solidFill>
                          <a:latin typeface="Calibri"/>
                        </a:rPr>
                        <a:t>Table 43: Global Market YoY Growth by Application, %, 2026–2036</a:t>
                      </a:r>
                      <a:endParaRPr sz="1050"/>
                    </a:p>
                  </a:txBody>
                  <a:tcPr marL="9525" marR="9525" marT="9525" marB="0" anchor="ctr"/>
                </a:tc>
              </a:tr>
              <a:tr h="170266">
                <a:tc>
                  <a:txBody>
                    <a:bodyPr wrap="square"/>
                    <a:lstStyle/>
                    <a:p>
                      <a:pPr algn="l"/>
                      <a:r>
                        <a:rPr sz="1050" b="0" i="0">
                          <a:solidFill>
                            <a:srgbClr val="000000"/>
                          </a:solidFill>
                          <a:latin typeface="Calibri"/>
                        </a:rPr>
                        <a:t>Table 44: Global Market YoY Growth by Barrier Level Vs Application, %, 2026–2036</a:t>
                      </a:r>
                      <a:endParaRPr sz="1050"/>
                    </a:p>
                  </a:txBody>
                  <a:tcPr marL="9525" marR="9525" marT="9525" marB="0" anchor="ctr"/>
                </a:tc>
              </a:tr>
              <a:tr h="170266">
                <a:tc>
                  <a:txBody>
                    <a:bodyPr wrap="square"/>
                    <a:lstStyle/>
                    <a:p>
                      <a:pPr algn="l"/>
                      <a:r>
                        <a:rPr sz="1050" b="0" i="0">
                          <a:solidFill>
                            <a:srgbClr val="000000"/>
                          </a:solidFill>
                          <a:latin typeface="Calibri"/>
                        </a:rPr>
                        <a:t>Table 45: Global Market Volume by Product Type, Thousand MT, 2021–2036</a:t>
                      </a:r>
                      <a:endParaRPr sz="1050"/>
                    </a:p>
                  </a:txBody>
                  <a:tcPr marL="9525" marR="9525" marT="9525" marB="0" anchor="ctr"/>
                </a:tc>
              </a:tr>
              <a:tr h="170266">
                <a:tc>
                  <a:txBody>
                    <a:bodyPr wrap="square"/>
                    <a:lstStyle/>
                    <a:p>
                      <a:pPr algn="l"/>
                      <a:r>
                        <a:rPr sz="1050" b="0" i="0">
                          <a:solidFill>
                            <a:srgbClr val="000000"/>
                          </a:solidFill>
                          <a:latin typeface="Calibri"/>
                        </a:rPr>
                        <a:t>Table 46: Global Market Volume by Principal Material / Barrier Technology, Thousand MT, 2021–2036</a:t>
                      </a:r>
                      <a:endParaRPr sz="1050"/>
                    </a:p>
                  </a:txBody>
                  <a:tcPr marL="9525" marR="9525" marT="9525" marB="0" anchor="ctr"/>
                </a:tc>
              </a:tr>
              <a:tr h="170266">
                <a:tc>
                  <a:txBody>
                    <a:bodyPr wrap="square"/>
                    <a:lstStyle/>
                    <a:p>
                      <a:pPr algn="l"/>
                      <a:r>
                        <a:rPr sz="1050" b="0" i="0">
                          <a:solidFill>
                            <a:srgbClr val="000000"/>
                          </a:solidFill>
                          <a:latin typeface="Calibri"/>
                        </a:rPr>
                        <a:t>Table 47: Global Market Volume by Material Structure, Thousand MT, 2021–2036</a:t>
                      </a:r>
                      <a:endParaRPr sz="1050"/>
                    </a:p>
                  </a:txBody>
                  <a:tcPr marL="9525" marR="9525" marT="9525" marB="0" anchor="ctr"/>
                </a:tc>
              </a:tr>
              <a:tr h="170266">
                <a:tc>
                  <a:txBody>
                    <a:bodyPr wrap="square"/>
                    <a:lstStyle/>
                    <a:p>
                      <a:pPr algn="l"/>
                      <a:r>
                        <a:rPr sz="1050" b="0" i="0">
                          <a:solidFill>
                            <a:srgbClr val="000000"/>
                          </a:solidFill>
                          <a:latin typeface="Calibri"/>
                        </a:rPr>
                        <a:t>Table 48: Global Market Volume by Barrier Level, Thousand MT, 2021–2036</a:t>
                      </a:r>
                      <a:endParaRPr sz="1050"/>
                    </a:p>
                  </a:txBody>
                  <a:tcPr marL="9525" marR="9525" marT="9525" marB="0" anchor="ctr"/>
                </a:tc>
              </a:tr>
              <a:tr h="170266">
                <a:tc>
                  <a:txBody>
                    <a:bodyPr wrap="square"/>
                    <a:lstStyle/>
                    <a:p>
                      <a:pPr algn="l"/>
                      <a:r>
                        <a:rPr sz="1050" b="0" i="0">
                          <a:solidFill>
                            <a:srgbClr val="000000"/>
                          </a:solidFill>
                          <a:latin typeface="Calibri"/>
                        </a:rPr>
                        <a:t>Table 49: Global Market Volume by Application, Thousand MT, 2021–2036</a:t>
                      </a:r>
                      <a:endParaRPr sz="1050"/>
                    </a:p>
                  </a:txBody>
                  <a:tcPr marL="9525" marR="9525" marT="9525" marB="0" anchor="ctr"/>
                </a:tc>
              </a:tr>
              <a:tr h="170266">
                <a:tc>
                  <a:txBody>
                    <a:bodyPr wrap="square"/>
                    <a:lstStyle/>
                    <a:p>
                      <a:pPr algn="l"/>
                      <a:r>
                        <a:rPr sz="1050" b="0" i="0">
                          <a:solidFill>
                            <a:srgbClr val="000000"/>
                          </a:solidFill>
                          <a:latin typeface="Calibri"/>
                        </a:rPr>
                        <a:t>Table 50: Global Market Volume by Barrier Level Vs Application, Thousand MT, 2021–2036</a:t>
                      </a:r>
                      <a:endParaRPr sz="1050"/>
                    </a:p>
                  </a:txBody>
                  <a:tcPr marL="9525" marR="9525" marT="9525" marB="0" anchor="ctr"/>
                </a:tc>
              </a:tr>
              <a:tr h="170266">
                <a:tc>
                  <a:txBody>
                    <a:bodyPr wrap="square"/>
                    <a:lstStyle/>
                    <a:p>
                      <a:pPr algn="l"/>
                      <a:r>
                        <a:rPr sz="1050" b="0" i="0">
                          <a:solidFill>
                            <a:srgbClr val="000000"/>
                          </a:solidFill>
                          <a:latin typeface="Calibri"/>
                        </a:rPr>
                        <a:t>Table 51: Global Market Average Selling Price by Product Type, US$/MT, 2021–2036</a:t>
                      </a:r>
                      <a:endParaRPr sz="1050"/>
                    </a:p>
                  </a:txBody>
                  <a:tcPr marL="9525" marR="9525" marT="9525" marB="0" anchor="ctr"/>
                </a:tc>
              </a:tr>
              <a:tr h="333720">
                <a:tc>
                  <a:txBody>
                    <a:bodyPr wrap="square"/>
                    <a:lstStyle/>
                    <a:p>
                      <a:pPr algn="l"/>
                      <a:r>
                        <a:rPr sz="1050" b="0" i="0">
                          <a:solidFill>
                            <a:srgbClr val="000000"/>
                          </a:solidFill>
                          <a:latin typeface="Calibri"/>
                        </a:rPr>
                        <a:t>Table 52: Global Market Average Selling Price by Principal Material / Barrier Technology, US$/MT, 2021–2036</a:t>
                      </a:r>
                      <a:endParaRPr sz="1050"/>
                    </a:p>
                  </a:txBody>
                  <a:tcPr marL="9525" marR="9525" marT="9525" marB="0" anchor="ctr"/>
                </a:tc>
              </a:tr>
              <a:tr h="170266">
                <a:tc>
                  <a:txBody>
                    <a:bodyPr wrap="square"/>
                    <a:lstStyle/>
                    <a:p>
                      <a:pPr algn="l"/>
                      <a:r>
                        <a:rPr sz="1050" b="0" i="0">
                          <a:solidFill>
                            <a:srgbClr val="000000"/>
                          </a:solidFill>
                          <a:latin typeface="Calibri"/>
                        </a:rPr>
                        <a:t>Table 53: Global Market Average Selling Price by Material Structure, US$/MT, 2021–2036</a:t>
                      </a:r>
                      <a:endParaRPr sz="1050"/>
                    </a:p>
                  </a:txBody>
                  <a:tcPr marL="9525" marR="9525" marT="9525" marB="0" anchor="ctr"/>
                </a:tc>
              </a:tr>
              <a:tr h="170266">
                <a:tc>
                  <a:txBody>
                    <a:bodyPr wrap="square"/>
                    <a:lstStyle/>
                    <a:p>
                      <a:pPr algn="l"/>
                      <a:r>
                        <a:rPr sz="1050" b="0" i="0">
                          <a:solidFill>
                            <a:srgbClr val="000000"/>
                          </a:solidFill>
                          <a:latin typeface="Calibri"/>
                        </a:rPr>
                        <a:t>Table 54: Global Market Average Selling Price by Barrier Level, US$/MT, 2021–2036</a:t>
                      </a:r>
                      <a:endParaRPr sz="1050"/>
                    </a:p>
                  </a:txBody>
                  <a:tcPr marL="9525" marR="9525" marT="9525" marB="0" anchor="ctr"/>
                </a:tc>
              </a:tr>
              <a:tr h="170266">
                <a:tc>
                  <a:txBody>
                    <a:bodyPr wrap="square"/>
                    <a:lstStyle/>
                    <a:p>
                      <a:pPr algn="l"/>
                      <a:r>
                        <a:rPr sz="1050" b="0" i="0">
                          <a:solidFill>
                            <a:srgbClr val="000000"/>
                          </a:solidFill>
                          <a:latin typeface="Calibri"/>
                        </a:rPr>
                        <a:t>Table 55: Global Market Average Selling Price by Application, US$/MT, 2021–2036</a:t>
                      </a:r>
                      <a:endParaRPr sz="1050"/>
                    </a:p>
                  </a:txBody>
                  <a:tcPr marL="9525" marR="9525" marT="9525" marB="0" anchor="ctr"/>
                </a:tc>
              </a:tr>
              <a:tr h="170266">
                <a:tc>
                  <a:txBody>
                    <a:bodyPr wrap="square"/>
                    <a:lstStyle/>
                    <a:p>
                      <a:pPr algn="l"/>
                      <a:r>
                        <a:rPr sz="1050" b="0" i="0">
                          <a:solidFill>
                            <a:srgbClr val="000000"/>
                          </a:solidFill>
                          <a:latin typeface="Calibri"/>
                        </a:rPr>
                        <a:t>Table 56: Global Market Average Selling Price by Barrier Level Vs Application, US$/MT, 2021–2036</a:t>
                      </a:r>
                      <a:endParaRPr sz="1050"/>
                    </a:p>
                  </a:txBody>
                  <a:tcPr marL="9525" marR="9525" marT="9525" marB="0" anchor="ctr"/>
                </a:tc>
              </a:tr>
              <a:tr h="170266">
                <a:tc>
                  <a:txBody>
                    <a:bodyPr wrap="square"/>
                    <a:lstStyle/>
                    <a:p>
                      <a:pPr algn="l"/>
                      <a:r>
                        <a:rPr sz="1050" b="0" i="0">
                          <a:solidFill>
                            <a:srgbClr val="000000"/>
                          </a:solidFill>
                          <a:latin typeface="Calibri"/>
                        </a:rPr>
                        <a:t>Table 57: Global Market Attractiveness Index by Product Type, 2026–2036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(2/4)</a:t>
            </a:r>
          </a:p>
        </p:txBody>
      </p:sp>
      <p:graphicFrame>
        <p:nvGraphicFramePr>
          <p:cNvPr id="9" name="FMI Contents Table"/>
          <p:cNvGraphicFramePr>
            <a:graphicFrameLocks noGrp="1"/>
          </p:cNvGraphicFramePr>
          <p:nvPr/>
        </p:nvGraphicFramePr>
        <p:xfrm>
          <a:off x="142875" y="981075"/>
          <a:ext cx="5876925" cy="5257790"/>
        </p:xfrm>
        <a:graphic>
          <a:graphicData uri="http://schemas.openxmlformats.org/drawingml/2006/table">
            <a:tbl>
              <a:tblPr>
                <a:tableStyleId>{3B4B98B0-60AC-42C2-AFA5-B58CD77FA1E5}</a:tableStyleId>
              </a:tblPr>
              <a:tblGrid>
                <a:gridCol w="5876925"/>
              </a:tblGrid>
              <a:tr h="170486">
                <a:tc>
                  <a:txBody>
                    <a:bodyPr wrap="square"/>
                    <a:lstStyle/>
                    <a:p>
                      <a:pPr algn="l"/>
                      <a:r>
                        <a:rPr sz="1050" b="0" i="0">
                          <a:solidFill>
                            <a:srgbClr val="000000"/>
                          </a:solidFill>
                          <a:latin typeface="Calibri"/>
                        </a:rPr>
                        <a:t>Table 58: Global Market Attractiveness Index by Principal Material / Barrier Technology, 2026–2036</a:t>
                      </a:r>
                      <a:endParaRPr sz="1050"/>
                    </a:p>
                  </a:txBody>
                  <a:tcPr marL="9525" marR="9525" marT="9525" marB="0" anchor="ctr"/>
                </a:tc>
              </a:tr>
              <a:tr h="170486">
                <a:tc>
                  <a:txBody>
                    <a:bodyPr wrap="square"/>
                    <a:lstStyle/>
                    <a:p>
                      <a:pPr algn="l"/>
                      <a:r>
                        <a:rPr sz="1050" b="0" i="0">
                          <a:solidFill>
                            <a:srgbClr val="000000"/>
                          </a:solidFill>
                          <a:latin typeface="Calibri"/>
                        </a:rPr>
                        <a:t>Table 59: Global Market Attractiveness Index by Material Structure, 2026–2036</a:t>
                      </a:r>
                      <a:endParaRPr sz="1050"/>
                    </a:p>
                  </a:txBody>
                  <a:tcPr marL="9525" marR="9525" marT="9525" marB="0" anchor="ctr"/>
                </a:tc>
              </a:tr>
              <a:tr h="170486">
                <a:tc>
                  <a:txBody>
                    <a:bodyPr wrap="square"/>
                    <a:lstStyle/>
                    <a:p>
                      <a:pPr algn="l"/>
                      <a:r>
                        <a:rPr sz="1050" b="0" i="0">
                          <a:solidFill>
                            <a:srgbClr val="000000"/>
                          </a:solidFill>
                          <a:latin typeface="Calibri"/>
                        </a:rPr>
                        <a:t>Table 60: Global Market Attractiveness Index by Barrier Level, 2026–2036</a:t>
                      </a:r>
                      <a:endParaRPr sz="1050"/>
                    </a:p>
                  </a:txBody>
                  <a:tcPr marL="9525" marR="9525" marT="9525" marB="0" anchor="ctr"/>
                </a:tc>
              </a:tr>
              <a:tr h="170486">
                <a:tc>
                  <a:txBody>
                    <a:bodyPr wrap="square"/>
                    <a:lstStyle/>
                    <a:p>
                      <a:pPr algn="l"/>
                      <a:r>
                        <a:rPr sz="1050" b="0" i="0">
                          <a:solidFill>
                            <a:srgbClr val="000000"/>
                          </a:solidFill>
                          <a:latin typeface="Calibri"/>
                        </a:rPr>
                        <a:t>Table 61: Global Market Attractiveness Index by Application, 2026–2036</a:t>
                      </a:r>
                      <a:endParaRPr sz="1050"/>
                    </a:p>
                  </a:txBody>
                  <a:tcPr marL="9525" marR="9525" marT="9525" marB="0" anchor="ctr"/>
                </a:tc>
              </a:tr>
              <a:tr h="170486">
                <a:tc>
                  <a:txBody>
                    <a:bodyPr wrap="square"/>
                    <a:lstStyle/>
                    <a:p>
                      <a:pPr algn="l"/>
                      <a:r>
                        <a:rPr sz="1050" b="0" i="0">
                          <a:solidFill>
                            <a:srgbClr val="000000"/>
                          </a:solidFill>
                          <a:latin typeface="Calibri"/>
                        </a:rPr>
                        <a:t>Table 62: Global Market Attractiveness Index by Barrier Level Vs Application, 2026–2036</a:t>
                      </a:r>
                      <a:endParaRPr sz="1050"/>
                    </a:p>
                  </a:txBody>
                  <a:tcPr marL="9525" marR="9525" marT="9525" marB="0" anchor="ctr"/>
                </a:tc>
              </a:tr>
              <a:tr h="170486">
                <a:tc>
                  <a:txBody>
                    <a:bodyPr wrap="square"/>
                    <a:lstStyle/>
                    <a:p>
                      <a:pPr algn="l"/>
                      <a:r>
                        <a:rPr sz="1050" b="0" i="0">
                          <a:solidFill>
                            <a:srgbClr val="000000"/>
                          </a:solidFill>
                          <a:latin typeface="Calibri"/>
                        </a:rPr>
                        <a:t>Table 63: Global Market Value of Rollstock Films by Region, US$ Mn, 2021–2036</a:t>
                      </a:r>
                      <a:endParaRPr sz="1050"/>
                    </a:p>
                  </a:txBody>
                  <a:tcPr marL="9525" marR="9525" marT="9525" marB="0" anchor="ctr"/>
                </a:tc>
              </a:tr>
              <a:tr h="170486">
                <a:tc>
                  <a:txBody>
                    <a:bodyPr wrap="square"/>
                    <a:lstStyle/>
                    <a:p>
                      <a:pPr algn="l"/>
                      <a:r>
                        <a:rPr sz="1050" b="0" i="0">
                          <a:solidFill>
                            <a:srgbClr val="000000"/>
                          </a:solidFill>
                          <a:latin typeface="Calibri"/>
                        </a:rPr>
                        <a:t>Table 64: Global Market Value of PE-Based by Region, US$ Mn, 2021–2036</a:t>
                      </a:r>
                      <a:endParaRPr sz="1050"/>
                    </a:p>
                  </a:txBody>
                  <a:tcPr marL="9525" marR="9525" marT="9525" marB="0" anchor="ctr"/>
                </a:tc>
              </a:tr>
              <a:tr h="170486">
                <a:tc>
                  <a:txBody>
                    <a:bodyPr wrap="square"/>
                    <a:lstStyle/>
                    <a:p>
                      <a:pPr algn="l"/>
                      <a:r>
                        <a:rPr sz="1050" b="0" i="0">
                          <a:solidFill>
                            <a:srgbClr val="000000"/>
                          </a:solidFill>
                          <a:latin typeface="Calibri"/>
                        </a:rPr>
                        <a:t>Table 65: Global Market Value of Monolayer Films by Region, US$ Mn, 2021–2036</a:t>
                      </a:r>
                      <a:endParaRPr sz="1050"/>
                    </a:p>
                  </a:txBody>
                  <a:tcPr marL="9525" marR="9525" marT="9525" marB="0" anchor="ctr"/>
                </a:tc>
              </a:tr>
              <a:tr h="170486">
                <a:tc>
                  <a:txBody>
                    <a:bodyPr wrap="square"/>
                    <a:lstStyle/>
                    <a:p>
                      <a:pPr algn="l"/>
                      <a:r>
                        <a:rPr sz="1050" b="0" i="0">
                          <a:solidFill>
                            <a:srgbClr val="000000"/>
                          </a:solidFill>
                          <a:latin typeface="Calibri"/>
                        </a:rPr>
                        <a:t>Table 66: Global Market Value of Low-Barrier Films by Region, US$ Mn, 2021–2036</a:t>
                      </a:r>
                      <a:endParaRPr sz="1050"/>
                    </a:p>
                  </a:txBody>
                  <a:tcPr marL="9525" marR="9525" marT="9525" marB="0" anchor="ctr"/>
                </a:tc>
              </a:tr>
              <a:tr h="170486">
                <a:tc>
                  <a:txBody>
                    <a:bodyPr wrap="square"/>
                    <a:lstStyle/>
                    <a:p>
                      <a:pPr algn="l"/>
                      <a:r>
                        <a:rPr sz="1050" b="0" i="0">
                          <a:solidFill>
                            <a:srgbClr val="000000"/>
                          </a:solidFill>
                          <a:latin typeface="Calibri"/>
                        </a:rPr>
                        <a:t>Table 67: Global Market Value of Food Packaging by Region, US$ Mn, 2021–2036</a:t>
                      </a:r>
                      <a:endParaRPr sz="1050"/>
                    </a:p>
                  </a:txBody>
                  <a:tcPr marL="9525" marR="9525" marT="9525" marB="0" anchor="ctr"/>
                </a:tc>
              </a:tr>
              <a:tr h="170486">
                <a:tc>
                  <a:txBody>
                    <a:bodyPr wrap="square"/>
                    <a:lstStyle/>
                    <a:p>
                      <a:pPr algn="l"/>
                      <a:r>
                        <a:rPr sz="1050" b="0" i="0">
                          <a:solidFill>
                            <a:srgbClr val="000000"/>
                          </a:solidFill>
                          <a:latin typeface="Calibri"/>
                        </a:rPr>
                        <a:t>Table 68: Global Market Value of Barrier Casings by Region, US$ Mn, 2021–2036</a:t>
                      </a:r>
                      <a:endParaRPr sz="1050"/>
                    </a:p>
                  </a:txBody>
                  <a:tcPr marL="9525" marR="9525" marT="9525" marB="0" anchor="ctr"/>
                </a:tc>
              </a:tr>
              <a:tr h="170486">
                <a:tc>
                  <a:txBody>
                    <a:bodyPr wrap="square"/>
                    <a:lstStyle/>
                    <a:p>
                      <a:pPr algn="l"/>
                      <a:r>
                        <a:rPr sz="1050" b="0" i="0">
                          <a:solidFill>
                            <a:srgbClr val="000000"/>
                          </a:solidFill>
                          <a:latin typeface="Calibri"/>
                        </a:rPr>
                        <a:t>Table 69: Global Market Value of PP-Based by Region, US$ Mn, 2021–2036</a:t>
                      </a:r>
                      <a:endParaRPr sz="1050"/>
                    </a:p>
                  </a:txBody>
                  <a:tcPr marL="9525" marR="9525" marT="9525" marB="0" anchor="ctr"/>
                </a:tc>
              </a:tr>
              <a:tr h="170486">
                <a:tc>
                  <a:txBody>
                    <a:bodyPr wrap="square"/>
                    <a:lstStyle/>
                    <a:p>
                      <a:pPr algn="l"/>
                      <a:r>
                        <a:rPr sz="1050" b="0" i="0">
                          <a:solidFill>
                            <a:srgbClr val="000000"/>
                          </a:solidFill>
                          <a:latin typeface="Calibri"/>
                        </a:rPr>
                        <a:t>Table 70: Global Market Value of Coextruded Multilayer Films by Region, US$ Mn, 2021–2036</a:t>
                      </a:r>
                      <a:endParaRPr sz="1050"/>
                    </a:p>
                  </a:txBody>
                  <a:tcPr marL="9525" marR="9525" marT="9525" marB="0" anchor="ctr"/>
                </a:tc>
              </a:tr>
              <a:tr h="170486">
                <a:tc>
                  <a:txBody>
                    <a:bodyPr wrap="square"/>
                    <a:lstStyle/>
                    <a:p>
                      <a:pPr algn="l"/>
                      <a:r>
                        <a:rPr sz="1050" b="0" i="0">
                          <a:solidFill>
                            <a:srgbClr val="000000"/>
                          </a:solidFill>
                          <a:latin typeface="Calibri"/>
                        </a:rPr>
                        <a:t>Table 71: Global Market Value of Medium-Barrier Films by Region, US$ Mn, 2021–2036</a:t>
                      </a:r>
                      <a:endParaRPr sz="1050"/>
                    </a:p>
                  </a:txBody>
                  <a:tcPr marL="9525" marR="9525" marT="9525" marB="0" anchor="ctr"/>
                </a:tc>
              </a:tr>
              <a:tr h="170486">
                <a:tc>
                  <a:txBody>
                    <a:bodyPr wrap="square"/>
                    <a:lstStyle/>
                    <a:p>
                      <a:pPr algn="l"/>
                      <a:r>
                        <a:rPr sz="1050" b="0" i="0">
                          <a:solidFill>
                            <a:srgbClr val="000000"/>
                          </a:solidFill>
                          <a:latin typeface="Calibri"/>
                        </a:rPr>
                        <a:t>Table 72: Global Market Value of Non-Food Packaging by Region, US$ Mn, 2021–2036</a:t>
                      </a:r>
                      <a:endParaRPr sz="1050"/>
                    </a:p>
                  </a:txBody>
                  <a:tcPr marL="9525" marR="9525" marT="9525" marB="0" anchor="ctr"/>
                </a:tc>
              </a:tr>
              <a:tr h="170486">
                <a:tc>
                  <a:txBody>
                    <a:bodyPr wrap="square"/>
                    <a:lstStyle/>
                    <a:p>
                      <a:pPr algn="l"/>
                      <a:r>
                        <a:rPr sz="1050" b="0" i="0">
                          <a:solidFill>
                            <a:srgbClr val="000000"/>
                          </a:solidFill>
                          <a:latin typeface="Calibri"/>
                        </a:rPr>
                        <a:t>Table 73: Global Market Value of Premade Pouches &amp; Bags by Region, US$ Mn, 2021–2036</a:t>
                      </a:r>
                      <a:endParaRPr sz="1050"/>
                    </a:p>
                  </a:txBody>
                  <a:tcPr marL="9525" marR="9525" marT="9525" marB="0" anchor="ctr"/>
                </a:tc>
              </a:tr>
              <a:tr h="170486">
                <a:tc>
                  <a:txBody>
                    <a:bodyPr wrap="square"/>
                    <a:lstStyle/>
                    <a:p>
                      <a:pPr algn="l"/>
                      <a:r>
                        <a:rPr sz="1050" b="0" i="0">
                          <a:solidFill>
                            <a:srgbClr val="000000"/>
                          </a:solidFill>
                          <a:latin typeface="Calibri"/>
                        </a:rPr>
                        <a:t>Table 74: Global Market Value of PET-Based by Region, US$ Mn, 2021–2036</a:t>
                      </a:r>
                      <a:endParaRPr sz="1050"/>
                    </a:p>
                  </a:txBody>
                  <a:tcPr marL="9525" marR="9525" marT="9525" marB="0" anchor="ctr"/>
                </a:tc>
              </a:tr>
              <a:tr h="170486">
                <a:tc>
                  <a:txBody>
                    <a:bodyPr wrap="square"/>
                    <a:lstStyle/>
                    <a:p>
                      <a:pPr algn="l"/>
                      <a:r>
                        <a:rPr sz="1050" b="0" i="0">
                          <a:solidFill>
                            <a:srgbClr val="000000"/>
                          </a:solidFill>
                          <a:latin typeface="Calibri"/>
                        </a:rPr>
                        <a:t>Table 75: Global Market Value of Laminated Films by Region, US$ Mn, 2021–2036</a:t>
                      </a:r>
                      <a:endParaRPr sz="1050"/>
                    </a:p>
                  </a:txBody>
                  <a:tcPr marL="9525" marR="9525" marT="9525" marB="0" anchor="ctr"/>
                </a:tc>
              </a:tr>
              <a:tr h="170486">
                <a:tc>
                  <a:txBody>
                    <a:bodyPr wrap="square"/>
                    <a:lstStyle/>
                    <a:p>
                      <a:pPr algn="l"/>
                      <a:r>
                        <a:rPr sz="1050" b="0" i="0">
                          <a:solidFill>
                            <a:srgbClr val="000000"/>
                          </a:solidFill>
                          <a:latin typeface="Calibri"/>
                        </a:rPr>
                        <a:t>Table 76: Global Market Value of High-Barrier Films by Region, US$ Mn, 2021–2036</a:t>
                      </a:r>
                      <a:endParaRPr sz="1050"/>
                    </a:p>
                  </a:txBody>
                  <a:tcPr marL="9525" marR="9525" marT="9525" marB="0" anchor="ctr"/>
                </a:tc>
              </a:tr>
              <a:tr h="334153">
                <a:tc>
                  <a:txBody>
                    <a:bodyPr wrap="square"/>
                    <a:lstStyle/>
                    <a:p>
                      <a:pPr algn="l"/>
                      <a:r>
                        <a:rPr sz="1050" b="0" i="0">
                          <a:solidFill>
                            <a:srgbClr val="000000"/>
                          </a:solidFill>
                          <a:latin typeface="Calibri"/>
                        </a:rPr>
                        <a:t>Table 77: Global Market Value by Product Type and Principal Material / Barrier Technology, US$ Mn, 2026–2036</a:t>
                      </a:r>
                      <a:endParaRPr sz="1050"/>
                    </a:p>
                  </a:txBody>
                  <a:tcPr marL="9525" marR="9525" marT="9525" marB="0" anchor="ctr"/>
                </a:tc>
              </a:tr>
              <a:tr h="170486">
                <a:tc>
                  <a:txBody>
                    <a:bodyPr wrap="square"/>
                    <a:lstStyle/>
                    <a:p>
                      <a:pPr algn="l"/>
                      <a:r>
                        <a:rPr sz="1050" b="0" i="0">
                          <a:solidFill>
                            <a:srgbClr val="000000"/>
                          </a:solidFill>
                          <a:latin typeface="Calibri"/>
                        </a:rPr>
                        <a:t>Table 78: Global Market Value by Product Type and Material Structure, US$ Mn, 2026–2036</a:t>
                      </a:r>
                      <a:endParaRPr sz="1050"/>
                    </a:p>
                  </a:txBody>
                  <a:tcPr marL="9525" marR="9525" marT="9525" marB="0" anchor="ctr"/>
                </a:tc>
              </a:tr>
              <a:tr h="170486">
                <a:tc>
                  <a:txBody>
                    <a:bodyPr wrap="square"/>
                    <a:lstStyle/>
                    <a:p>
                      <a:pPr algn="l"/>
                      <a:r>
                        <a:rPr sz="1050" b="0" i="0">
                          <a:solidFill>
                            <a:srgbClr val="000000"/>
                          </a:solidFill>
                          <a:latin typeface="Calibri"/>
                        </a:rPr>
                        <a:t>Table 79: Global Market Value by Product Type and Barrier Level, US$ Mn, 2026–2036</a:t>
                      </a:r>
                      <a:endParaRPr sz="1050"/>
                    </a:p>
                  </a:txBody>
                  <a:tcPr marL="9525" marR="9525" marT="9525" marB="0" anchor="ctr"/>
                </a:tc>
              </a:tr>
              <a:tr h="170486">
                <a:tc>
                  <a:txBody>
                    <a:bodyPr wrap="square"/>
                    <a:lstStyle/>
                    <a:p>
                      <a:pPr algn="l"/>
                      <a:r>
                        <a:rPr sz="1050" b="0" i="0">
                          <a:solidFill>
                            <a:srgbClr val="000000"/>
                          </a:solidFill>
                          <a:latin typeface="Calibri"/>
                        </a:rPr>
                        <a:t>Table 80: Global Market Value by Product Type and Application, US$ Mn, 2026–2036</a:t>
                      </a:r>
                      <a:endParaRPr sz="1050"/>
                    </a:p>
                  </a:txBody>
                  <a:tcPr marL="9525" marR="9525" marT="9525" marB="0" anchor="ctr"/>
                </a:tc>
              </a:tr>
              <a:tr h="170486">
                <a:tc>
                  <a:txBody>
                    <a:bodyPr wrap="square"/>
                    <a:lstStyle/>
                    <a:p>
                      <a:pPr algn="l"/>
                      <a:r>
                        <a:rPr sz="1050" b="0" i="0">
                          <a:solidFill>
                            <a:srgbClr val="000000"/>
                          </a:solidFill>
                          <a:latin typeface="Calibri"/>
                        </a:rPr>
                        <a:t>Table 81: Global Market Value by Product Type and Barrier Level Vs Application, US$ Mn, 2026–2036</a:t>
                      </a:r>
                      <a:endParaRPr sz="1050"/>
                    </a:p>
                  </a:txBody>
                  <a:tcPr marL="9525" marR="9525" marT="9525" marB="0" anchor="ctr"/>
                </a:tc>
              </a:tr>
              <a:tr h="334153">
                <a:tc>
                  <a:txBody>
                    <a:bodyPr wrap="square"/>
                    <a:lstStyle/>
                    <a:p>
                      <a:pPr algn="l"/>
                      <a:r>
                        <a:rPr sz="1050" b="0" i="0">
                          <a:solidFill>
                            <a:srgbClr val="000000"/>
                          </a:solidFill>
                          <a:latin typeface="Calibri"/>
                        </a:rPr>
                        <a:t>Table 82: Global Market Value by Principal Material / Barrier Technology and Material Structure, US$ Mn, 2026–2036</a:t>
                      </a:r>
                      <a:endParaRPr sz="1050"/>
                    </a:p>
                  </a:txBody>
                  <a:tcPr marL="9525" marR="9525" marT="9525" marB="0" anchor="ctr"/>
                </a:tc>
              </a:tr>
              <a:tr h="334153">
                <a:tc>
                  <a:txBody>
                    <a:bodyPr wrap="square"/>
                    <a:lstStyle/>
                    <a:p>
                      <a:pPr algn="l"/>
                      <a:r>
                        <a:rPr sz="1050" b="0" i="0">
                          <a:solidFill>
                            <a:srgbClr val="000000"/>
                          </a:solidFill>
                          <a:latin typeface="Calibri"/>
                        </a:rPr>
                        <a:t>Table 83: Global Market Value by Principal Material / Barrier Technology and Barrier Level, US$ Mn, 2026–2036</a:t>
                      </a:r>
                      <a:endParaRPr sz="1050"/>
                    </a:p>
                  </a:txBody>
                  <a:tcPr marL="9525" marR="9525" marT="9525" marB="0" anchor="ctr"/>
                </a:tc>
              </a:tr>
              <a:tr h="334153">
                <a:tc>
                  <a:txBody>
                    <a:bodyPr wrap="square"/>
                    <a:lstStyle/>
                    <a:p>
                      <a:pPr algn="l"/>
                      <a:r>
                        <a:rPr sz="1050" b="0" i="0">
                          <a:solidFill>
                            <a:srgbClr val="000000"/>
                          </a:solidFill>
                          <a:latin typeface="Calibri"/>
                        </a:rPr>
                        <a:t>Table 84: Global Market Value by Principal Material / Barrier Technology and Application, US$ Mn, 2026–2036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97"/>
        </p:xfrm>
        <a:graphic>
          <a:graphicData uri="http://schemas.openxmlformats.org/drawingml/2006/table">
            <a:tbl>
              <a:tblPr>
                <a:tableStyleId>{3B4B98B0-60AC-42C2-AFA5-B58CD77FA1E5}</a:tableStyleId>
              </a:tblPr>
              <a:tblGrid>
                <a:gridCol w="5876925"/>
              </a:tblGrid>
              <a:tr h="335459">
                <a:tc>
                  <a:txBody>
                    <a:bodyPr wrap="square"/>
                    <a:lstStyle/>
                    <a:p>
                      <a:pPr algn="l"/>
                      <a:r>
                        <a:rPr sz="1050" b="0" i="0">
                          <a:solidFill>
                            <a:srgbClr val="000000"/>
                          </a:solidFill>
                          <a:latin typeface="Calibri"/>
                        </a:rPr>
                        <a:t>Table 85: Global Market Value by Principal Material / Barrier Technology and Barrier Level Vs Application, US$ Mn, 2026–2036</a:t>
                      </a:r>
                      <a:endParaRPr sz="1050"/>
                    </a:p>
                  </a:txBody>
                  <a:tcPr marL="9525" marR="9525" marT="9525" marB="0" anchor="ctr"/>
                </a:tc>
              </a:tr>
              <a:tr h="171152">
                <a:tc>
                  <a:txBody>
                    <a:bodyPr wrap="square"/>
                    <a:lstStyle/>
                    <a:p>
                      <a:pPr algn="l"/>
                      <a:r>
                        <a:rPr sz="1050" b="0" i="0">
                          <a:solidFill>
                            <a:srgbClr val="000000"/>
                          </a:solidFill>
                          <a:latin typeface="Calibri"/>
                        </a:rPr>
                        <a:t>Table 86: Global Market Value by Material Structure and Barrier Level, US$ Mn, 2026–2036</a:t>
                      </a:r>
                      <a:endParaRPr sz="1050"/>
                    </a:p>
                  </a:txBody>
                  <a:tcPr marL="9525" marR="9525" marT="9525" marB="0" anchor="ctr"/>
                </a:tc>
              </a:tr>
              <a:tr h="171152">
                <a:tc>
                  <a:txBody>
                    <a:bodyPr wrap="square"/>
                    <a:lstStyle/>
                    <a:p>
                      <a:pPr algn="l"/>
                      <a:r>
                        <a:rPr sz="1050" b="0" i="0">
                          <a:solidFill>
                            <a:srgbClr val="000000"/>
                          </a:solidFill>
                          <a:latin typeface="Calibri"/>
                        </a:rPr>
                        <a:t>Table 87: Global Market Value by Material Structure and Application, US$ Mn, 2026–2036</a:t>
                      </a:r>
                      <a:endParaRPr sz="1050"/>
                    </a:p>
                  </a:txBody>
                  <a:tcPr marL="9525" marR="9525" marT="9525" marB="0" anchor="ctr"/>
                </a:tc>
              </a:tr>
              <a:tr h="335459">
                <a:tc>
                  <a:txBody>
                    <a:bodyPr wrap="square"/>
                    <a:lstStyle/>
                    <a:p>
                      <a:pPr algn="l"/>
                      <a:r>
                        <a:rPr sz="1050" b="0" i="0">
                          <a:solidFill>
                            <a:srgbClr val="000000"/>
                          </a:solidFill>
                          <a:latin typeface="Calibri"/>
                        </a:rPr>
                        <a:t>Table 88: Global Market Value by Material Structure and Barrier Level Vs Application, US$ Mn, 2026–2036</a:t>
                      </a:r>
                      <a:endParaRPr sz="1050"/>
                    </a:p>
                  </a:txBody>
                  <a:tcPr marL="9525" marR="9525" marT="9525" marB="0" anchor="ctr"/>
                </a:tc>
              </a:tr>
              <a:tr h="171152">
                <a:tc>
                  <a:txBody>
                    <a:bodyPr wrap="square"/>
                    <a:lstStyle/>
                    <a:p>
                      <a:pPr algn="l"/>
                      <a:r>
                        <a:rPr sz="1050" b="0" i="0">
                          <a:solidFill>
                            <a:srgbClr val="000000"/>
                          </a:solidFill>
                          <a:latin typeface="Calibri"/>
                        </a:rPr>
                        <a:t>Table 89: Global Market Value by Barrier Level and Application, US$ Mn, 2026–2036</a:t>
                      </a:r>
                      <a:endParaRPr sz="1050"/>
                    </a:p>
                  </a:txBody>
                  <a:tcPr marL="9525" marR="9525" marT="9525" marB="0" anchor="ctr"/>
                </a:tc>
              </a:tr>
              <a:tr h="171152">
                <a:tc>
                  <a:txBody>
                    <a:bodyPr wrap="square"/>
                    <a:lstStyle/>
                    <a:p>
                      <a:pPr algn="l"/>
                      <a:r>
                        <a:rPr sz="1050" b="0" i="0">
                          <a:solidFill>
                            <a:srgbClr val="000000"/>
                          </a:solidFill>
                          <a:latin typeface="Calibri"/>
                        </a:rPr>
                        <a:t>Table 90: Global Market Value by Barrier Level and Barrier Level Vs Application, US$ Mn, 2026–2036</a:t>
                      </a:r>
                      <a:endParaRPr sz="1050"/>
                    </a:p>
                  </a:txBody>
                  <a:tcPr marL="9525" marR="9525" marT="9525" marB="0" anchor="ctr"/>
                </a:tc>
              </a:tr>
              <a:tr h="171152">
                <a:tc>
                  <a:txBody>
                    <a:bodyPr wrap="square"/>
                    <a:lstStyle/>
                    <a:p>
                      <a:pPr algn="l"/>
                      <a:r>
                        <a:rPr sz="1050" b="0" i="0">
                          <a:solidFill>
                            <a:srgbClr val="000000"/>
                          </a:solidFill>
                          <a:latin typeface="Calibri"/>
                        </a:rPr>
                        <a:t>Table 91: Global Market Value by Application and Barrier Level Vs Application, US$ Mn, 2026–2036</a:t>
                      </a:r>
                      <a:endParaRPr sz="1050"/>
                    </a:p>
                  </a:txBody>
                  <a:tcPr marL="9525" marR="9525" marT="9525" marB="0" anchor="ctr"/>
                </a:tc>
              </a:tr>
              <a:tr h="171152">
                <a:tc>
                  <a:txBody>
                    <a:bodyPr wrap="square"/>
                    <a:lstStyle/>
                    <a:p>
                      <a:pPr algn="l"/>
                      <a:r>
                        <a:rPr sz="1050" b="0" i="0">
                          <a:solidFill>
                            <a:srgbClr val="000000"/>
                          </a:solidFill>
                          <a:latin typeface="Calibri"/>
                        </a:rPr>
                        <a:t>Table 92: Global Market Value by Region and Product Type, US$ Mn, 2026–2036</a:t>
                      </a:r>
                      <a:endParaRPr sz="1050"/>
                    </a:p>
                  </a:txBody>
                  <a:tcPr marL="9525" marR="9525" marT="9525" marB="0" anchor="ctr"/>
                </a:tc>
              </a:tr>
              <a:tr h="335459">
                <a:tc>
                  <a:txBody>
                    <a:bodyPr wrap="square"/>
                    <a:lstStyle/>
                    <a:p>
                      <a:pPr algn="l"/>
                      <a:r>
                        <a:rPr sz="1050" b="0" i="0">
                          <a:solidFill>
                            <a:srgbClr val="000000"/>
                          </a:solidFill>
                          <a:latin typeface="Calibri"/>
                        </a:rPr>
                        <a:t>Table 93: Global Market Value by Region and Principal Material / Barrier Technology, US$ Mn, 2026–2036</a:t>
                      </a:r>
                      <a:endParaRPr sz="1050"/>
                    </a:p>
                  </a:txBody>
                  <a:tcPr marL="9525" marR="9525" marT="9525" marB="0" anchor="ctr"/>
                </a:tc>
              </a:tr>
              <a:tr h="171152">
                <a:tc>
                  <a:txBody>
                    <a:bodyPr wrap="square"/>
                    <a:lstStyle/>
                    <a:p>
                      <a:pPr algn="l"/>
                      <a:r>
                        <a:rPr sz="1050" b="0" i="0">
                          <a:solidFill>
                            <a:srgbClr val="000000"/>
                          </a:solidFill>
                          <a:latin typeface="Calibri"/>
                        </a:rPr>
                        <a:t>Table 94: Global Market Value by Region and Material Structure, US$ Mn, 2026–2036</a:t>
                      </a:r>
                      <a:endParaRPr sz="1050"/>
                    </a:p>
                  </a:txBody>
                  <a:tcPr marL="9525" marR="9525" marT="9525" marB="0" anchor="ctr"/>
                </a:tc>
              </a:tr>
              <a:tr h="171152">
                <a:tc>
                  <a:txBody>
                    <a:bodyPr wrap="square"/>
                    <a:lstStyle/>
                    <a:p>
                      <a:pPr algn="l"/>
                      <a:r>
                        <a:rPr sz="1050" b="0" i="0">
                          <a:solidFill>
                            <a:srgbClr val="000000"/>
                          </a:solidFill>
                          <a:latin typeface="Calibri"/>
                        </a:rPr>
                        <a:t>Table 95: Global Market Value by Region and Barrier Level, US$ Mn, 2026–2036</a:t>
                      </a:r>
                      <a:endParaRPr sz="1050"/>
                    </a:p>
                  </a:txBody>
                  <a:tcPr marL="9525" marR="9525" marT="9525" marB="0" anchor="ctr"/>
                </a:tc>
              </a:tr>
              <a:tr h="171152">
                <a:tc>
                  <a:txBody>
                    <a:bodyPr wrap="square"/>
                    <a:lstStyle/>
                    <a:p>
                      <a:pPr algn="l"/>
                      <a:r>
                        <a:rPr sz="1050" b="0" i="0">
                          <a:solidFill>
                            <a:srgbClr val="000000"/>
                          </a:solidFill>
                          <a:latin typeface="Calibri"/>
                        </a:rPr>
                        <a:t>Table 96: Global Market Value by Region and Application, US$ Mn, 2026–2036</a:t>
                      </a:r>
                      <a:endParaRPr sz="1050"/>
                    </a:p>
                  </a:txBody>
                  <a:tcPr marL="9525" marR="9525" marT="9525" marB="0" anchor="ctr"/>
                </a:tc>
              </a:tr>
              <a:tr h="171152">
                <a:tc>
                  <a:txBody>
                    <a:bodyPr wrap="square"/>
                    <a:lstStyle/>
                    <a:p>
                      <a:pPr algn="l"/>
                      <a:r>
                        <a:rPr sz="1050" b="0" i="0">
                          <a:solidFill>
                            <a:srgbClr val="000000"/>
                          </a:solidFill>
                          <a:latin typeface="Calibri"/>
                        </a:rPr>
                        <a:t>Table 97: Global Market Value by Region and Barrier Level Vs Application, US$ Mn, 2026–2036</a:t>
                      </a:r>
                      <a:endParaRPr sz="1050"/>
                    </a:p>
                  </a:txBody>
                  <a:tcPr marL="9525" marR="9525" marT="9525" marB="0" anchor="ctr"/>
                </a:tc>
              </a:tr>
              <a:tr h="335459">
                <a:tc>
                  <a:txBody>
                    <a:bodyPr wrap="square"/>
                    <a:lstStyle/>
                    <a:p>
                      <a:pPr algn="l"/>
                      <a:r>
                        <a:rPr sz="1050" b="0" i="0">
                          <a:solidFill>
                            <a:srgbClr val="000000"/>
                          </a:solidFill>
                          <a:latin typeface="Calibri"/>
                        </a:rPr>
                        <a:t>Table 98: Global Market CAGR by Product Type and Principal Material / Barrier Technology, %, 2026–2036</a:t>
                      </a:r>
                      <a:endParaRPr sz="1050"/>
                    </a:p>
                  </a:txBody>
                  <a:tcPr marL="9525" marR="9525" marT="9525" marB="0" anchor="ctr"/>
                </a:tc>
              </a:tr>
              <a:tr h="171152">
                <a:tc>
                  <a:txBody>
                    <a:bodyPr wrap="square"/>
                    <a:lstStyle/>
                    <a:p>
                      <a:pPr algn="l"/>
                      <a:r>
                        <a:rPr sz="1050" b="0" i="0">
                          <a:solidFill>
                            <a:srgbClr val="000000"/>
                          </a:solidFill>
                          <a:latin typeface="Calibri"/>
                        </a:rPr>
                        <a:t>Table 99: Global Market CAGR by Product Type and Material Structure, %, 2026–2036</a:t>
                      </a:r>
                      <a:endParaRPr sz="1050"/>
                    </a:p>
                  </a:txBody>
                  <a:tcPr marL="9525" marR="9525" marT="9525" marB="0" anchor="ctr"/>
                </a:tc>
              </a:tr>
              <a:tr h="171152">
                <a:tc>
                  <a:txBody>
                    <a:bodyPr wrap="square"/>
                    <a:lstStyle/>
                    <a:p>
                      <a:pPr algn="l"/>
                      <a:r>
                        <a:rPr sz="1050" b="0" i="0">
                          <a:solidFill>
                            <a:srgbClr val="000000"/>
                          </a:solidFill>
                          <a:latin typeface="Calibri"/>
                        </a:rPr>
                        <a:t>Table 100: Global Market CAGR by Product Type and Barrier Level, %, 2026–2036</a:t>
                      </a:r>
                      <a:endParaRPr sz="1050"/>
                    </a:p>
                  </a:txBody>
                  <a:tcPr marL="9525" marR="9525" marT="9525" marB="0" anchor="ctr"/>
                </a:tc>
              </a:tr>
              <a:tr h="171152">
                <a:tc>
                  <a:txBody>
                    <a:bodyPr wrap="square"/>
                    <a:lstStyle/>
                    <a:p>
                      <a:pPr algn="l"/>
                      <a:r>
                        <a:rPr sz="1050" b="0" i="0">
                          <a:solidFill>
                            <a:srgbClr val="000000"/>
                          </a:solidFill>
                          <a:latin typeface="Calibri"/>
                        </a:rPr>
                        <a:t>Table 101: Global Market CAGR by Product Type and Application, %, 2026–2036</a:t>
                      </a:r>
                      <a:endParaRPr sz="1050"/>
                    </a:p>
                  </a:txBody>
                  <a:tcPr marL="9525" marR="9525" marT="9525" marB="0" anchor="ctr"/>
                </a:tc>
              </a:tr>
              <a:tr h="171152">
                <a:tc>
                  <a:txBody>
                    <a:bodyPr wrap="square"/>
                    <a:lstStyle/>
                    <a:p>
                      <a:pPr algn="l"/>
                      <a:r>
                        <a:rPr sz="1050" b="0" i="0">
                          <a:solidFill>
                            <a:srgbClr val="000000"/>
                          </a:solidFill>
                          <a:latin typeface="Calibri"/>
                        </a:rPr>
                        <a:t>Table 102: Global Market CAGR by Product Type and Barrier Level Vs Application, %, 2026–2036</a:t>
                      </a:r>
                      <a:endParaRPr sz="1050"/>
                    </a:p>
                  </a:txBody>
                  <a:tcPr marL="9525" marR="9525" marT="9525" marB="0" anchor="ctr"/>
                </a:tc>
              </a:tr>
              <a:tr h="335459">
                <a:tc>
                  <a:txBody>
                    <a:bodyPr wrap="square"/>
                    <a:lstStyle/>
                    <a:p>
                      <a:pPr algn="l"/>
                      <a:r>
                        <a:rPr sz="1050" b="0" i="0">
                          <a:solidFill>
                            <a:srgbClr val="000000"/>
                          </a:solidFill>
                          <a:latin typeface="Calibri"/>
                        </a:rPr>
                        <a:t>Table 103: Global Market CAGR by Principal Material / Barrier Technology and Material Structure, %, 2026–2036</a:t>
                      </a:r>
                      <a:endParaRPr sz="1050"/>
                    </a:p>
                  </a:txBody>
                  <a:tcPr marL="9525" marR="9525" marT="9525" marB="0" anchor="ctr"/>
                </a:tc>
              </a:tr>
              <a:tr h="335459">
                <a:tc>
                  <a:txBody>
                    <a:bodyPr wrap="square"/>
                    <a:lstStyle/>
                    <a:p>
                      <a:pPr algn="l"/>
                      <a:r>
                        <a:rPr sz="1050" b="0" i="0">
                          <a:solidFill>
                            <a:srgbClr val="000000"/>
                          </a:solidFill>
                          <a:latin typeface="Calibri"/>
                        </a:rPr>
                        <a:t>Table 104: Global Market CAGR by Principal Material / Barrier Technology and Barrier Level, %, 2026–2036</a:t>
                      </a:r>
                      <a:endParaRPr sz="1050"/>
                    </a:p>
                  </a:txBody>
                  <a:tcPr marL="9525" marR="9525" marT="9525" marB="0" anchor="ctr"/>
                </a:tc>
              </a:tr>
              <a:tr h="335459">
                <a:tc>
                  <a:txBody>
                    <a:bodyPr wrap="square"/>
                    <a:lstStyle/>
                    <a:p>
                      <a:pPr algn="l"/>
                      <a:r>
                        <a:rPr sz="1050" b="0" i="0">
                          <a:solidFill>
                            <a:srgbClr val="000000"/>
                          </a:solidFill>
                          <a:latin typeface="Calibri"/>
                        </a:rPr>
                        <a:t>Table 105: Global Market CAGR by Principal Material / Barrier Technology and Application, %, 2026–2036</a:t>
                      </a:r>
                      <a:endParaRPr sz="1050"/>
                    </a:p>
                  </a:txBody>
                  <a:tcPr marL="9525" marR="9525" marT="9525" marB="0" anchor="ctr"/>
                </a:tc>
              </a:tr>
              <a:tr h="171152">
                <a:tc>
                  <a:txBody>
                    <a:bodyPr wrap="square"/>
                    <a:lstStyle/>
                    <a:p>
                      <a:pPr algn="l"/>
                      <a:r>
                        <a:rPr sz="1050" b="0" i="0">
                          <a:solidFill>
                            <a:srgbClr val="000000"/>
                          </a:solidFill>
                          <a:latin typeface="Calibri"/>
                        </a:rPr>
                        <a:t>Table 106: Global Market Value by Region, US$ Mn, 2021–2036</a:t>
                      </a:r>
                      <a:endParaRPr sz="1050"/>
                    </a:p>
                  </a:txBody>
                  <a:tcPr marL="9525" marR="9525" marT="9525" marB="0" anchor="ctr"/>
                </a:tc>
              </a:tr>
              <a:tr h="171152">
                <a:tc>
                  <a:txBody>
                    <a:bodyPr wrap="square"/>
                    <a:lstStyle/>
                    <a:p>
                      <a:pPr algn="l"/>
                      <a:r>
                        <a:rPr sz="1050" b="0" i="0">
                          <a:solidFill>
                            <a:srgbClr val="000000"/>
                          </a:solidFill>
                          <a:latin typeface="Calibri"/>
                        </a:rPr>
                        <a:t>Table 107: Global Market CAGR and Absolute $ Opportunity by Region, %, US$ Mn, 2026–2036</a:t>
                      </a:r>
                      <a:endParaRPr sz="1050"/>
                    </a:p>
                  </a:txBody>
                  <a:tcPr marL="9525" marR="9525" marT="9525" marB="0" anchor="ctr"/>
                </a:tc>
              </a:tr>
              <a:tr h="171152">
                <a:tc>
                  <a:txBody>
                    <a:bodyPr wrap="square"/>
                    <a:lstStyle/>
                    <a:p>
                      <a:pPr algn="l"/>
                      <a:r>
                        <a:rPr sz="1050" b="0" i="0">
                          <a:solidFill>
                            <a:srgbClr val="000000"/>
                          </a:solidFill>
                          <a:latin typeface="Calibri"/>
                        </a:rPr>
                        <a:t>Table 108: Global Market Share and BPS Change by Region, %, 2026 and 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(3/4)</a:t>
            </a:r>
          </a:p>
        </p:txBody>
      </p:sp>
      <p:graphicFrame>
        <p:nvGraphicFramePr>
          <p:cNvPr id="9" name="FMI Contents Table"/>
          <p:cNvGraphicFramePr>
            <a:graphicFrameLocks noGrp="1"/>
          </p:cNvGraphicFramePr>
          <p:nvPr/>
        </p:nvGraphicFramePr>
        <p:xfrm>
          <a:off x="142875" y="981075"/>
          <a:ext cx="5876925" cy="5257790"/>
        </p:xfrm>
        <a:graphic>
          <a:graphicData uri="http://schemas.openxmlformats.org/drawingml/2006/table">
            <a:tbl>
              <a:tblPr>
                <a:tableStyleId>{3B4B98B0-60AC-42C2-AFA5-B58CD77FA1E5}</a:tableStyleId>
              </a:tblPr>
              <a:tblGrid>
                <a:gridCol w="5876925"/>
              </a:tblGrid>
              <a:tr h="170486">
                <a:tc>
                  <a:txBody>
                    <a:bodyPr wrap="square"/>
                    <a:lstStyle/>
                    <a:p>
                      <a:pPr algn="l"/>
                      <a:r>
                        <a:rPr sz="1050" b="0" i="0">
                          <a:solidFill>
                            <a:srgbClr val="000000"/>
                          </a:solidFill>
                          <a:latin typeface="Calibri"/>
                        </a:rPr>
                        <a:t>Table 109: Global Market Volume by Region, Thousand MT, 2021–2036</a:t>
                      </a:r>
                      <a:endParaRPr sz="1050"/>
                    </a:p>
                  </a:txBody>
                  <a:tcPr marL="9525" marR="9525" marT="9525" marB="0" anchor="ctr"/>
                </a:tc>
              </a:tr>
              <a:tr h="170486">
                <a:tc>
                  <a:txBody>
                    <a:bodyPr wrap="square"/>
                    <a:lstStyle/>
                    <a:p>
                      <a:pPr algn="l"/>
                      <a:r>
                        <a:rPr sz="1050" b="0" i="0">
                          <a:solidFill>
                            <a:srgbClr val="000000"/>
                          </a:solidFill>
                          <a:latin typeface="Calibri"/>
                        </a:rPr>
                        <a:t>Table 110: North America Market Value by Country, US$ Mn, 2021–2036</a:t>
                      </a:r>
                      <a:endParaRPr sz="1050"/>
                    </a:p>
                  </a:txBody>
                  <a:tcPr marL="9525" marR="9525" marT="9525" marB="0" anchor="ctr"/>
                </a:tc>
              </a:tr>
              <a:tr h="170486">
                <a:tc>
                  <a:txBody>
                    <a:bodyPr wrap="square"/>
                    <a:lstStyle/>
                    <a:p>
                      <a:pPr algn="l"/>
                      <a:r>
                        <a:rPr sz="1050" b="0" i="0">
                          <a:solidFill>
                            <a:srgbClr val="000000"/>
                          </a:solidFill>
                          <a:latin typeface="Calibri"/>
                        </a:rPr>
                        <a:t>Table 111: Latin America Market Value by Country, US$ Mn, 2021–2036</a:t>
                      </a:r>
                      <a:endParaRPr sz="1050"/>
                    </a:p>
                  </a:txBody>
                  <a:tcPr marL="9525" marR="9525" marT="9525" marB="0" anchor="ctr"/>
                </a:tc>
              </a:tr>
              <a:tr h="170486">
                <a:tc>
                  <a:txBody>
                    <a:bodyPr wrap="square"/>
                    <a:lstStyle/>
                    <a:p>
                      <a:pPr algn="l"/>
                      <a:r>
                        <a:rPr sz="1050" b="0" i="0">
                          <a:solidFill>
                            <a:srgbClr val="000000"/>
                          </a:solidFill>
                          <a:latin typeface="Calibri"/>
                        </a:rPr>
                        <a:t>Table 112: Europe Market Value by Country, US$ Mn, 2021–2036</a:t>
                      </a:r>
                      <a:endParaRPr sz="1050"/>
                    </a:p>
                  </a:txBody>
                  <a:tcPr marL="9525" marR="9525" marT="9525" marB="0" anchor="ctr"/>
                </a:tc>
              </a:tr>
              <a:tr h="170486">
                <a:tc>
                  <a:txBody>
                    <a:bodyPr wrap="square"/>
                    <a:lstStyle/>
                    <a:p>
                      <a:pPr algn="l"/>
                      <a:r>
                        <a:rPr sz="1050" b="0" i="0">
                          <a:solidFill>
                            <a:srgbClr val="000000"/>
                          </a:solidFill>
                          <a:latin typeface="Calibri"/>
                        </a:rPr>
                        <a:t>Table 113: East Asia Market Value by Country, US$ Mn, 2021–2036</a:t>
                      </a:r>
                      <a:endParaRPr sz="1050"/>
                    </a:p>
                  </a:txBody>
                  <a:tcPr marL="9525" marR="9525" marT="9525" marB="0" anchor="ctr"/>
                </a:tc>
              </a:tr>
              <a:tr h="170486">
                <a:tc>
                  <a:txBody>
                    <a:bodyPr wrap="square"/>
                    <a:lstStyle/>
                    <a:p>
                      <a:pPr algn="l"/>
                      <a:r>
                        <a:rPr sz="1050" b="0" i="0">
                          <a:solidFill>
                            <a:srgbClr val="000000"/>
                          </a:solidFill>
                          <a:latin typeface="Calibri"/>
                        </a:rPr>
                        <a:t>Table 114: South Asia &amp; Pacific Market Value by Country, US$ Mn, 2021–2036</a:t>
                      </a:r>
                      <a:endParaRPr sz="1050"/>
                    </a:p>
                  </a:txBody>
                  <a:tcPr marL="9525" marR="9525" marT="9525" marB="0" anchor="ctr"/>
                </a:tc>
              </a:tr>
              <a:tr h="170486">
                <a:tc>
                  <a:txBody>
                    <a:bodyPr wrap="square"/>
                    <a:lstStyle/>
                    <a:p>
                      <a:pPr algn="l"/>
                      <a:r>
                        <a:rPr sz="1050" b="0" i="0">
                          <a:solidFill>
                            <a:srgbClr val="000000"/>
                          </a:solidFill>
                          <a:latin typeface="Calibri"/>
                        </a:rPr>
                        <a:t>Table 115: Middle East &amp; Africa Market Value by Country, US$ Mn, 2021–2036</a:t>
                      </a:r>
                      <a:endParaRPr sz="1050"/>
                    </a:p>
                  </a:txBody>
                  <a:tcPr marL="9525" marR="9525" marT="9525" marB="0" anchor="ctr"/>
                </a:tc>
              </a:tr>
              <a:tr h="334153">
                <a:tc>
                  <a:txBody>
                    <a:bodyPr wrap="square"/>
                    <a:lstStyle/>
                    <a:p>
                      <a:pPr algn="l"/>
                      <a:r>
                        <a:rPr sz="1050" b="0" i="0">
                          <a:solidFill>
                            <a:srgbClr val="000000"/>
                          </a:solidFill>
                          <a:latin typeface="Calibri"/>
                        </a:rPr>
                        <a:t>Table 116: North America Market CAGR and Absolute $ Opportunity by Country, %, US$ Mn, 2026–2036</a:t>
                      </a:r>
                      <a:endParaRPr sz="1050"/>
                    </a:p>
                  </a:txBody>
                  <a:tcPr marL="9525" marR="9525" marT="9525" marB="0" anchor="ctr"/>
                </a:tc>
              </a:tr>
              <a:tr h="170486">
                <a:tc>
                  <a:txBody>
                    <a:bodyPr wrap="square"/>
                    <a:lstStyle/>
                    <a:p>
                      <a:pPr algn="l"/>
                      <a:r>
                        <a:rPr sz="1050" b="0" i="0">
                          <a:solidFill>
                            <a:srgbClr val="000000"/>
                          </a:solidFill>
                          <a:latin typeface="Calibri"/>
                        </a:rPr>
                        <a:t>Table 117: Latin America Market CAGR and Absolute $ Opportunity by Country, %, US$ Mn, 2026–2036</a:t>
                      </a:r>
                      <a:endParaRPr sz="1050"/>
                    </a:p>
                  </a:txBody>
                  <a:tcPr marL="9525" marR="9525" marT="9525" marB="0" anchor="ctr"/>
                </a:tc>
              </a:tr>
              <a:tr h="170486">
                <a:tc>
                  <a:txBody>
                    <a:bodyPr wrap="square"/>
                    <a:lstStyle/>
                    <a:p>
                      <a:pPr algn="l"/>
                      <a:r>
                        <a:rPr sz="1050" b="0" i="0">
                          <a:solidFill>
                            <a:srgbClr val="000000"/>
                          </a:solidFill>
                          <a:latin typeface="Calibri"/>
                        </a:rPr>
                        <a:t>Table 118: Europe Market CAGR and Absolute $ Opportunity by Country, %, US$ Mn, 2026–2036</a:t>
                      </a:r>
                      <a:endParaRPr sz="1050"/>
                    </a:p>
                  </a:txBody>
                  <a:tcPr marL="9525" marR="9525" marT="9525" marB="0" anchor="ctr"/>
                </a:tc>
              </a:tr>
              <a:tr h="170486">
                <a:tc>
                  <a:txBody>
                    <a:bodyPr wrap="square"/>
                    <a:lstStyle/>
                    <a:p>
                      <a:pPr algn="l"/>
                      <a:r>
                        <a:rPr sz="1050" b="0" i="0">
                          <a:solidFill>
                            <a:srgbClr val="000000"/>
                          </a:solidFill>
                          <a:latin typeface="Calibri"/>
                        </a:rPr>
                        <a:t>Table 119: East Asia Market CAGR and Absolute $ Opportunity by Country, %, US$ Mn, 2026–2036</a:t>
                      </a:r>
                      <a:endParaRPr sz="1050"/>
                    </a:p>
                  </a:txBody>
                  <a:tcPr marL="9525" marR="9525" marT="9525" marB="0" anchor="ctr"/>
                </a:tc>
              </a:tr>
              <a:tr h="334153">
                <a:tc>
                  <a:txBody>
                    <a:bodyPr wrap="square"/>
                    <a:lstStyle/>
                    <a:p>
                      <a:pPr algn="l"/>
                      <a:r>
                        <a:rPr sz="1050" b="0" i="0">
                          <a:solidFill>
                            <a:srgbClr val="000000"/>
                          </a:solidFill>
                          <a:latin typeface="Calibri"/>
                        </a:rPr>
                        <a:t>Table 120: South Asia &amp; Pacific Market CAGR and Absolute $ Opportunity by Country, %, US$ Mn, 2026–2036</a:t>
                      </a:r>
                      <a:endParaRPr sz="1050"/>
                    </a:p>
                  </a:txBody>
                  <a:tcPr marL="9525" marR="9525" marT="9525" marB="0" anchor="ctr"/>
                </a:tc>
              </a:tr>
              <a:tr h="334153">
                <a:tc>
                  <a:txBody>
                    <a:bodyPr wrap="square"/>
                    <a:lstStyle/>
                    <a:p>
                      <a:pPr algn="l"/>
                      <a:r>
                        <a:rPr sz="1050" b="0" i="0">
                          <a:solidFill>
                            <a:srgbClr val="000000"/>
                          </a:solidFill>
                          <a:latin typeface="Calibri"/>
                        </a:rPr>
                        <a:t>Table 121: Middle East &amp; Africa Market CAGR and Absolute $ Opportunity by Country, %, US$ Mn, 2026–2036</a:t>
                      </a:r>
                      <a:endParaRPr sz="1050"/>
                    </a:p>
                  </a:txBody>
                  <a:tcPr marL="9525" marR="9525" marT="9525" marB="0" anchor="ctr"/>
                </a:tc>
              </a:tr>
              <a:tr h="170486">
                <a:tc>
                  <a:txBody>
                    <a:bodyPr wrap="square"/>
                    <a:lstStyle/>
                    <a:p>
                      <a:pPr algn="l"/>
                      <a:r>
                        <a:rPr sz="1050" b="0" i="0">
                          <a:solidFill>
                            <a:srgbClr val="000000"/>
                          </a:solidFill>
                          <a:latin typeface="Calibri"/>
                        </a:rPr>
                        <a:t>Table 122: North America Market Value by Product Type, US$ Mn, 2021–2036</a:t>
                      </a:r>
                      <a:endParaRPr sz="1050"/>
                    </a:p>
                  </a:txBody>
                  <a:tcPr marL="9525" marR="9525" marT="9525" marB="0" anchor="ctr"/>
                </a:tc>
              </a:tr>
              <a:tr h="170486">
                <a:tc>
                  <a:txBody>
                    <a:bodyPr wrap="square"/>
                    <a:lstStyle/>
                    <a:p>
                      <a:pPr algn="l"/>
                      <a:r>
                        <a:rPr sz="1050" b="0" i="0">
                          <a:solidFill>
                            <a:srgbClr val="000000"/>
                          </a:solidFill>
                          <a:latin typeface="Calibri"/>
                        </a:rPr>
                        <a:t>Table 123: Latin America Market Value by Product Type, US$ Mn, 2021–2036</a:t>
                      </a:r>
                      <a:endParaRPr sz="1050"/>
                    </a:p>
                  </a:txBody>
                  <a:tcPr marL="9525" marR="9525" marT="9525" marB="0" anchor="ctr"/>
                </a:tc>
              </a:tr>
              <a:tr h="170486">
                <a:tc>
                  <a:txBody>
                    <a:bodyPr wrap="square"/>
                    <a:lstStyle/>
                    <a:p>
                      <a:pPr algn="l"/>
                      <a:r>
                        <a:rPr sz="1050" b="0" i="0">
                          <a:solidFill>
                            <a:srgbClr val="000000"/>
                          </a:solidFill>
                          <a:latin typeface="Calibri"/>
                        </a:rPr>
                        <a:t>Table 124: Europe Market Value by Product Type, US$ Mn, 2021–2036</a:t>
                      </a:r>
                      <a:endParaRPr sz="1050"/>
                    </a:p>
                  </a:txBody>
                  <a:tcPr marL="9525" marR="9525" marT="9525" marB="0" anchor="ctr"/>
                </a:tc>
              </a:tr>
              <a:tr h="170486">
                <a:tc>
                  <a:txBody>
                    <a:bodyPr wrap="square"/>
                    <a:lstStyle/>
                    <a:p>
                      <a:pPr algn="l"/>
                      <a:r>
                        <a:rPr sz="1050" b="0" i="0">
                          <a:solidFill>
                            <a:srgbClr val="000000"/>
                          </a:solidFill>
                          <a:latin typeface="Calibri"/>
                        </a:rPr>
                        <a:t>Table 125: East Asia Market Value by Product Type, US$ Mn, 2021–2036</a:t>
                      </a:r>
                      <a:endParaRPr sz="1050"/>
                    </a:p>
                  </a:txBody>
                  <a:tcPr marL="9525" marR="9525" marT="9525" marB="0" anchor="ctr"/>
                </a:tc>
              </a:tr>
              <a:tr h="170486">
                <a:tc>
                  <a:txBody>
                    <a:bodyPr wrap="square"/>
                    <a:lstStyle/>
                    <a:p>
                      <a:pPr algn="l"/>
                      <a:r>
                        <a:rPr sz="1050" b="0" i="0">
                          <a:solidFill>
                            <a:srgbClr val="000000"/>
                          </a:solidFill>
                          <a:latin typeface="Calibri"/>
                        </a:rPr>
                        <a:t>Table 126: South Asia &amp; Pacific Market Value by Product Type, US$ Mn, 2021–2036</a:t>
                      </a:r>
                      <a:endParaRPr sz="1050"/>
                    </a:p>
                  </a:txBody>
                  <a:tcPr marL="9525" marR="9525" marT="9525" marB="0" anchor="ctr"/>
                </a:tc>
              </a:tr>
              <a:tr h="170486">
                <a:tc>
                  <a:txBody>
                    <a:bodyPr wrap="square"/>
                    <a:lstStyle/>
                    <a:p>
                      <a:pPr algn="l"/>
                      <a:r>
                        <a:rPr sz="1050" b="0" i="0">
                          <a:solidFill>
                            <a:srgbClr val="000000"/>
                          </a:solidFill>
                          <a:latin typeface="Calibri"/>
                        </a:rPr>
                        <a:t>Table 127: Middle East &amp; Africa Market Value by Product Type, US$ Mn, 2021–2036</a:t>
                      </a:r>
                      <a:endParaRPr sz="1050"/>
                    </a:p>
                  </a:txBody>
                  <a:tcPr marL="9525" marR="9525" marT="9525" marB="0" anchor="ctr"/>
                </a:tc>
              </a:tr>
              <a:tr h="334153">
                <a:tc>
                  <a:txBody>
                    <a:bodyPr wrap="square"/>
                    <a:lstStyle/>
                    <a:p>
                      <a:pPr algn="l"/>
                      <a:r>
                        <a:rPr sz="1050" b="0" i="0">
                          <a:solidFill>
                            <a:srgbClr val="000000"/>
                          </a:solidFill>
                          <a:latin typeface="Calibri"/>
                        </a:rPr>
                        <a:t>Table 128: North America Market Value by Principal Material / Barrier Technology, US$ Mn, 2021–2036</a:t>
                      </a:r>
                      <a:endParaRPr sz="1050"/>
                    </a:p>
                  </a:txBody>
                  <a:tcPr marL="9525" marR="9525" marT="9525" marB="0" anchor="ctr"/>
                </a:tc>
              </a:tr>
              <a:tr h="170486">
                <a:tc>
                  <a:txBody>
                    <a:bodyPr wrap="square"/>
                    <a:lstStyle/>
                    <a:p>
                      <a:pPr algn="l"/>
                      <a:r>
                        <a:rPr sz="1050" b="0" i="0">
                          <a:solidFill>
                            <a:srgbClr val="000000"/>
                          </a:solidFill>
                          <a:latin typeface="Calibri"/>
                        </a:rPr>
                        <a:t>Table 129: Latin America Market Value by Principal Material / Barrier Technology, US$ Mn, 2021–2036</a:t>
                      </a:r>
                      <a:endParaRPr sz="1050"/>
                    </a:p>
                  </a:txBody>
                  <a:tcPr marL="9525" marR="9525" marT="9525" marB="0" anchor="ctr"/>
                </a:tc>
              </a:tr>
              <a:tr h="170486">
                <a:tc>
                  <a:txBody>
                    <a:bodyPr wrap="square"/>
                    <a:lstStyle/>
                    <a:p>
                      <a:pPr algn="l"/>
                      <a:r>
                        <a:rPr sz="1050" b="0" i="0">
                          <a:solidFill>
                            <a:srgbClr val="000000"/>
                          </a:solidFill>
                          <a:latin typeface="Calibri"/>
                        </a:rPr>
                        <a:t>Table 130: Europe Market Value by Principal Material / Barrier Technology, US$ Mn, 2021–2036</a:t>
                      </a:r>
                      <a:endParaRPr sz="1050"/>
                    </a:p>
                  </a:txBody>
                  <a:tcPr marL="9525" marR="9525" marT="9525" marB="0" anchor="ctr"/>
                </a:tc>
              </a:tr>
              <a:tr h="170486">
                <a:tc>
                  <a:txBody>
                    <a:bodyPr wrap="square"/>
                    <a:lstStyle/>
                    <a:p>
                      <a:pPr algn="l"/>
                      <a:r>
                        <a:rPr sz="1050" b="0" i="0">
                          <a:solidFill>
                            <a:srgbClr val="000000"/>
                          </a:solidFill>
                          <a:latin typeface="Calibri"/>
                        </a:rPr>
                        <a:t>Table 131: East Asia Market Value by Principal Material / Barrier Technology, US$ Mn, 2021–2036</a:t>
                      </a:r>
                      <a:endParaRPr sz="1050"/>
                    </a:p>
                  </a:txBody>
                  <a:tcPr marL="9525" marR="9525" marT="9525" marB="0" anchor="ctr"/>
                </a:tc>
              </a:tr>
              <a:tr h="170486">
                <a:tc>
                  <a:txBody>
                    <a:bodyPr wrap="square"/>
                    <a:lstStyle/>
                    <a:p>
                      <a:pPr algn="l"/>
                      <a:r>
                        <a:rPr sz="1050" b="0" i="0">
                          <a:solidFill>
                            <a:srgbClr val="000000"/>
                          </a:solidFill>
                          <a:latin typeface="Calibri"/>
                        </a:rPr>
                        <a:t>Table 132: U.S. Market Value by Product Type, US$ Mn, 2021–2036</a:t>
                      </a:r>
                      <a:endParaRPr sz="1050"/>
                    </a:p>
                  </a:txBody>
                  <a:tcPr marL="9525" marR="9525" marT="9525" marB="0" anchor="ctr"/>
                </a:tc>
              </a:tr>
              <a:tr h="170486">
                <a:tc>
                  <a:txBody>
                    <a:bodyPr wrap="square"/>
                    <a:lstStyle/>
                    <a:p>
                      <a:pPr algn="l"/>
                      <a:r>
                        <a:rPr sz="1050" b="0" i="0">
                          <a:solidFill>
                            <a:srgbClr val="000000"/>
                          </a:solidFill>
                          <a:latin typeface="Calibri"/>
                        </a:rPr>
                        <a:t>Table 133: U.S. Market Historical and Forecast Growth, %, 2021–2036</a:t>
                      </a:r>
                      <a:endParaRPr sz="1050"/>
                    </a:p>
                  </a:txBody>
                  <a:tcPr marL="9525" marR="9525" marT="9525" marB="0" anchor="ctr"/>
                </a:tc>
              </a:tr>
              <a:tr h="170486">
                <a:tc>
                  <a:txBody>
                    <a:bodyPr wrap="square"/>
                    <a:lstStyle/>
                    <a:p>
                      <a:pPr algn="l"/>
                      <a:r>
                        <a:rPr sz="1050" b="0" i="0">
                          <a:solidFill>
                            <a:srgbClr val="000000"/>
                          </a:solidFill>
                          <a:latin typeface="Calibri"/>
                        </a:rPr>
                        <a:t>Table 134: U.S. Market Value by Application, US$ Mn, 2021–2036</a:t>
                      </a:r>
                      <a:endParaRPr sz="1050"/>
                    </a:p>
                  </a:txBody>
                  <a:tcPr marL="9525" marR="9525" marT="9525" marB="0" anchor="ctr"/>
                </a:tc>
              </a:tr>
              <a:tr h="170486">
                <a:tc>
                  <a:txBody>
                    <a:bodyPr wrap="square"/>
                    <a:lstStyle/>
                    <a:p>
                      <a:pPr algn="l"/>
                      <a:r>
                        <a:rPr sz="1050" b="0" i="0">
                          <a:solidFill>
                            <a:srgbClr val="000000"/>
                          </a:solidFill>
                          <a:latin typeface="Calibri"/>
                        </a:rPr>
                        <a:t>Table 135: U.S. Market Share within North America, %, 2025, 2026 and 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Table 136: U.S. Market Value by Principal Material / Barrier Technology, US$ Mn, 2021–2036</a:t>
                      </a:r>
                      <a:endParaRPr sz="1050"/>
                    </a:p>
                  </a:txBody>
                  <a:tcPr marL="9525" marR="9525" marT="9525" marB="0" anchor="ctr"/>
                </a:tc>
              </a:tr>
              <a:tr h="169606">
                <a:tc>
                  <a:txBody>
                    <a:bodyPr wrap="square"/>
                    <a:lstStyle/>
                    <a:p>
                      <a:pPr algn="l"/>
                      <a:r>
                        <a:rPr sz="1050" b="0" i="0">
                          <a:solidFill>
                            <a:srgbClr val="000000"/>
                          </a:solidFill>
                          <a:latin typeface="Calibri"/>
                        </a:rPr>
                        <a:t>Table 137: U.S. Market Value by Material Structure, US$ Mn, 2021–2036</a:t>
                      </a:r>
                      <a:endParaRPr sz="1050"/>
                    </a:p>
                  </a:txBody>
                  <a:tcPr marL="9525" marR="9525" marT="9525" marB="0" anchor="ctr"/>
                </a:tc>
              </a:tr>
              <a:tr h="169606">
                <a:tc>
                  <a:txBody>
                    <a:bodyPr wrap="square"/>
                    <a:lstStyle/>
                    <a:p>
                      <a:pPr algn="l"/>
                      <a:r>
                        <a:rPr sz="1050" b="0" i="0">
                          <a:solidFill>
                            <a:srgbClr val="000000"/>
                          </a:solidFill>
                          <a:latin typeface="Calibri"/>
                        </a:rPr>
                        <a:t>Table 138: U.S. Market Value by Barrier Level, US$ Mn, 2021–2036</a:t>
                      </a:r>
                      <a:endParaRPr sz="1050"/>
                    </a:p>
                  </a:txBody>
                  <a:tcPr marL="9525" marR="9525" marT="9525" marB="0" anchor="ctr"/>
                </a:tc>
              </a:tr>
              <a:tr h="169606">
                <a:tc>
                  <a:txBody>
                    <a:bodyPr wrap="square"/>
                    <a:lstStyle/>
                    <a:p>
                      <a:pPr algn="l"/>
                      <a:r>
                        <a:rPr sz="1050" b="0" i="0">
                          <a:solidFill>
                            <a:srgbClr val="000000"/>
                          </a:solidFill>
                          <a:latin typeface="Calibri"/>
                        </a:rPr>
                        <a:t>Table 139: U.S. Market Value by Barrier Level Vs Application, US$ Mn, 2021–2036</a:t>
                      </a:r>
                      <a:endParaRPr sz="1050"/>
                    </a:p>
                  </a:txBody>
                  <a:tcPr marL="9525" marR="9525" marT="9525" marB="0" anchor="ctr"/>
                </a:tc>
              </a:tr>
              <a:tr h="169606">
                <a:tc>
                  <a:txBody>
                    <a:bodyPr wrap="square"/>
                    <a:lstStyle/>
                    <a:p>
                      <a:pPr algn="l"/>
                      <a:r>
                        <a:rPr sz="1050" b="0" i="0">
                          <a:solidFill>
                            <a:srgbClr val="000000"/>
                          </a:solidFill>
                          <a:latin typeface="Calibri"/>
                        </a:rPr>
                        <a:t>Table 140: China Market Value by Product Type, US$ Mn, 2021–2036</a:t>
                      </a:r>
                      <a:endParaRPr sz="1050"/>
                    </a:p>
                  </a:txBody>
                  <a:tcPr marL="9525" marR="9525" marT="9525" marB="0" anchor="ctr"/>
                </a:tc>
              </a:tr>
              <a:tr h="169606">
                <a:tc>
                  <a:txBody>
                    <a:bodyPr wrap="square"/>
                    <a:lstStyle/>
                    <a:p>
                      <a:pPr algn="l"/>
                      <a:r>
                        <a:rPr sz="1050" b="0" i="0">
                          <a:solidFill>
                            <a:srgbClr val="000000"/>
                          </a:solidFill>
                          <a:latin typeface="Calibri"/>
                        </a:rPr>
                        <a:t>Table 141: China Market Historical and Forecast Growth, %, 2021–2036</a:t>
                      </a:r>
                      <a:endParaRPr sz="1050"/>
                    </a:p>
                  </a:txBody>
                  <a:tcPr marL="9525" marR="9525" marT="9525" marB="0" anchor="ctr"/>
                </a:tc>
              </a:tr>
              <a:tr h="169606">
                <a:tc>
                  <a:txBody>
                    <a:bodyPr wrap="square"/>
                    <a:lstStyle/>
                    <a:p>
                      <a:pPr algn="l"/>
                      <a:r>
                        <a:rPr sz="1050" b="0" i="0">
                          <a:solidFill>
                            <a:srgbClr val="000000"/>
                          </a:solidFill>
                          <a:latin typeface="Calibri"/>
                        </a:rPr>
                        <a:t>Table 142: China Market Value by Application, US$ Mn, 2021–2036</a:t>
                      </a:r>
                      <a:endParaRPr sz="1050"/>
                    </a:p>
                  </a:txBody>
                  <a:tcPr marL="9525" marR="9525" marT="9525" marB="0" anchor="ctr"/>
                </a:tc>
              </a:tr>
              <a:tr h="169606">
                <a:tc>
                  <a:txBody>
                    <a:bodyPr wrap="square"/>
                    <a:lstStyle/>
                    <a:p>
                      <a:pPr algn="l"/>
                      <a:r>
                        <a:rPr sz="1050" b="0" i="0">
                          <a:solidFill>
                            <a:srgbClr val="000000"/>
                          </a:solidFill>
                          <a:latin typeface="Calibri"/>
                        </a:rPr>
                        <a:t>Table 143: China Market Share within East Asia, %, 2025, 2026 and 2036</a:t>
                      </a:r>
                      <a:endParaRPr sz="1050"/>
                    </a:p>
                  </a:txBody>
                  <a:tcPr marL="9525" marR="9525" marT="9525" marB="0" anchor="ctr"/>
                </a:tc>
              </a:tr>
              <a:tr h="169606">
                <a:tc>
                  <a:txBody>
                    <a:bodyPr wrap="square"/>
                    <a:lstStyle/>
                    <a:p>
                      <a:pPr algn="l"/>
                      <a:r>
                        <a:rPr sz="1050" b="0" i="0">
                          <a:solidFill>
                            <a:srgbClr val="000000"/>
                          </a:solidFill>
                          <a:latin typeface="Calibri"/>
                        </a:rPr>
                        <a:t>Table 144: China Market Value by Principal Material / Barrier Technology, US$ Mn, 2021–2036</a:t>
                      </a:r>
                      <a:endParaRPr sz="1050"/>
                    </a:p>
                  </a:txBody>
                  <a:tcPr marL="9525" marR="9525" marT="9525" marB="0" anchor="ctr"/>
                </a:tc>
              </a:tr>
              <a:tr h="169606">
                <a:tc>
                  <a:txBody>
                    <a:bodyPr wrap="square"/>
                    <a:lstStyle/>
                    <a:p>
                      <a:pPr algn="l"/>
                      <a:r>
                        <a:rPr sz="1050" b="0" i="0">
                          <a:solidFill>
                            <a:srgbClr val="000000"/>
                          </a:solidFill>
                          <a:latin typeface="Calibri"/>
                        </a:rPr>
                        <a:t>Table 145: China Market Value by Material Structure, US$ Mn, 2021–2036</a:t>
                      </a:r>
                      <a:endParaRPr sz="1050"/>
                    </a:p>
                  </a:txBody>
                  <a:tcPr marL="9525" marR="9525" marT="9525" marB="0" anchor="ctr"/>
                </a:tc>
              </a:tr>
              <a:tr h="169606">
                <a:tc>
                  <a:txBody>
                    <a:bodyPr wrap="square"/>
                    <a:lstStyle/>
                    <a:p>
                      <a:pPr algn="l"/>
                      <a:r>
                        <a:rPr sz="1050" b="0" i="0">
                          <a:solidFill>
                            <a:srgbClr val="000000"/>
                          </a:solidFill>
                          <a:latin typeface="Calibri"/>
                        </a:rPr>
                        <a:t>Table 146: China Market Value by Barrier Level, US$ Mn, 2021–2036</a:t>
                      </a:r>
                      <a:endParaRPr sz="1050"/>
                    </a:p>
                  </a:txBody>
                  <a:tcPr marL="9525" marR="9525" marT="9525" marB="0" anchor="ctr"/>
                </a:tc>
              </a:tr>
              <a:tr h="169606">
                <a:tc>
                  <a:txBody>
                    <a:bodyPr wrap="square"/>
                    <a:lstStyle/>
                    <a:p>
                      <a:pPr algn="l"/>
                      <a:r>
                        <a:rPr sz="1050" b="0" i="0">
                          <a:solidFill>
                            <a:srgbClr val="000000"/>
                          </a:solidFill>
                          <a:latin typeface="Calibri"/>
                        </a:rPr>
                        <a:t>Table 147: China Market Value by Barrier Level Vs Application, US$ Mn, 2021–2036</a:t>
                      </a:r>
                      <a:endParaRPr sz="1050"/>
                    </a:p>
                  </a:txBody>
                  <a:tcPr marL="9525" marR="9525" marT="9525" marB="0" anchor="ctr"/>
                </a:tc>
              </a:tr>
              <a:tr h="169606">
                <a:tc>
                  <a:txBody>
                    <a:bodyPr wrap="square"/>
                    <a:lstStyle/>
                    <a:p>
                      <a:pPr algn="l"/>
                      <a:r>
                        <a:rPr sz="1050" b="0" i="0">
                          <a:solidFill>
                            <a:srgbClr val="000000"/>
                          </a:solidFill>
                          <a:latin typeface="Calibri"/>
                        </a:rPr>
                        <a:t>Table 148: Japan Market Value by Product Type, US$ Mn, 2021–2036</a:t>
                      </a:r>
                      <a:endParaRPr sz="1050"/>
                    </a:p>
                  </a:txBody>
                  <a:tcPr marL="9525" marR="9525" marT="9525" marB="0" anchor="ctr"/>
                </a:tc>
              </a:tr>
              <a:tr h="169606">
                <a:tc>
                  <a:txBody>
                    <a:bodyPr wrap="square"/>
                    <a:lstStyle/>
                    <a:p>
                      <a:pPr algn="l"/>
                      <a:r>
                        <a:rPr sz="1050" b="0" i="0">
                          <a:solidFill>
                            <a:srgbClr val="000000"/>
                          </a:solidFill>
                          <a:latin typeface="Calibri"/>
                        </a:rPr>
                        <a:t>Table 149: Japan Market Historical and Forecast Growth, %, 2021–2036</a:t>
                      </a:r>
                      <a:endParaRPr sz="1050"/>
                    </a:p>
                  </a:txBody>
                  <a:tcPr marL="9525" marR="9525" marT="9525" marB="0" anchor="ctr"/>
                </a:tc>
              </a:tr>
              <a:tr h="169606">
                <a:tc>
                  <a:txBody>
                    <a:bodyPr wrap="square"/>
                    <a:lstStyle/>
                    <a:p>
                      <a:pPr algn="l"/>
                      <a:r>
                        <a:rPr sz="1050" b="0" i="0">
                          <a:solidFill>
                            <a:srgbClr val="000000"/>
                          </a:solidFill>
                          <a:latin typeface="Calibri"/>
                        </a:rPr>
                        <a:t>Table 150: Japan Market Value by Application, US$ Mn, 2021–2036</a:t>
                      </a:r>
                      <a:endParaRPr sz="1050"/>
                    </a:p>
                  </a:txBody>
                  <a:tcPr marL="9525" marR="9525" marT="9525" marB="0" anchor="ctr"/>
                </a:tc>
              </a:tr>
              <a:tr h="169606">
                <a:tc>
                  <a:txBody>
                    <a:bodyPr wrap="square"/>
                    <a:lstStyle/>
                    <a:p>
                      <a:pPr algn="l"/>
                      <a:r>
                        <a:rPr sz="1050" b="0" i="0">
                          <a:solidFill>
                            <a:srgbClr val="000000"/>
                          </a:solidFill>
                          <a:latin typeface="Calibri"/>
                        </a:rPr>
                        <a:t>Table 151: Japan Market Share within East Asia, %, 2025, 2026 and 2036</a:t>
                      </a:r>
                      <a:endParaRPr sz="1050"/>
                    </a:p>
                  </a:txBody>
                  <a:tcPr marL="9525" marR="9525" marT="9525" marB="0" anchor="ctr"/>
                </a:tc>
              </a:tr>
              <a:tr h="169606">
                <a:tc>
                  <a:txBody>
                    <a:bodyPr wrap="square"/>
                    <a:lstStyle/>
                    <a:p>
                      <a:pPr algn="l"/>
                      <a:r>
                        <a:rPr sz="1050" b="0" i="0">
                          <a:solidFill>
                            <a:srgbClr val="000000"/>
                          </a:solidFill>
                          <a:latin typeface="Calibri"/>
                        </a:rPr>
                        <a:t>Table 152: Japan Market Value by Principal Material / Barrier Technology, US$ Mn, 2021–2036</a:t>
                      </a:r>
                      <a:endParaRPr sz="1050"/>
                    </a:p>
                  </a:txBody>
                  <a:tcPr marL="9525" marR="9525" marT="9525" marB="0" anchor="ctr"/>
                </a:tc>
              </a:tr>
              <a:tr h="169606">
                <a:tc>
                  <a:txBody>
                    <a:bodyPr wrap="square"/>
                    <a:lstStyle/>
                    <a:p>
                      <a:pPr algn="l"/>
                      <a:r>
                        <a:rPr sz="1050" b="0" i="0">
                          <a:solidFill>
                            <a:srgbClr val="000000"/>
                          </a:solidFill>
                          <a:latin typeface="Calibri"/>
                        </a:rPr>
                        <a:t>Table 153: Japan Market Value by Material Structure, US$ Mn, 2021–2036</a:t>
                      </a:r>
                      <a:endParaRPr sz="1050"/>
                    </a:p>
                  </a:txBody>
                  <a:tcPr marL="9525" marR="9525" marT="9525" marB="0" anchor="ctr"/>
                </a:tc>
              </a:tr>
              <a:tr h="169606">
                <a:tc>
                  <a:txBody>
                    <a:bodyPr wrap="square"/>
                    <a:lstStyle/>
                    <a:p>
                      <a:pPr algn="l"/>
                      <a:r>
                        <a:rPr sz="1050" b="0" i="0">
                          <a:solidFill>
                            <a:srgbClr val="000000"/>
                          </a:solidFill>
                          <a:latin typeface="Calibri"/>
                        </a:rPr>
                        <a:t>Table 154: Japan Market Value by Barrier Level, US$ Mn, 2021–2036</a:t>
                      </a:r>
                      <a:endParaRPr sz="1050"/>
                    </a:p>
                  </a:txBody>
                  <a:tcPr marL="9525" marR="9525" marT="9525" marB="0" anchor="ctr"/>
                </a:tc>
              </a:tr>
              <a:tr h="169606">
                <a:tc>
                  <a:txBody>
                    <a:bodyPr wrap="square"/>
                    <a:lstStyle/>
                    <a:p>
                      <a:pPr algn="l"/>
                      <a:r>
                        <a:rPr sz="1050" b="0" i="0">
                          <a:solidFill>
                            <a:srgbClr val="000000"/>
                          </a:solidFill>
                          <a:latin typeface="Calibri"/>
                        </a:rPr>
                        <a:t>Table 155: Japan Market Value by Barrier Level Vs Application, US$ Mn, 2021–2036</a:t>
                      </a:r>
                      <a:endParaRPr sz="1050"/>
                    </a:p>
                  </a:txBody>
                  <a:tcPr marL="9525" marR="9525" marT="9525" marB="0" anchor="ctr"/>
                </a:tc>
              </a:tr>
              <a:tr h="169606">
                <a:tc>
                  <a:txBody>
                    <a:bodyPr wrap="square"/>
                    <a:lstStyle/>
                    <a:p>
                      <a:pPr algn="l"/>
                      <a:r>
                        <a:rPr sz="1050" b="0" i="0">
                          <a:solidFill>
                            <a:srgbClr val="000000"/>
                          </a:solidFill>
                          <a:latin typeface="Calibri"/>
                        </a:rPr>
                        <a:t>Table 156: India Market Value by Product Type, US$ Mn, 2021–2036</a:t>
                      </a:r>
                      <a:endParaRPr sz="1050"/>
                    </a:p>
                  </a:txBody>
                  <a:tcPr marL="9525" marR="9525" marT="9525" marB="0" anchor="ctr"/>
                </a:tc>
              </a:tr>
              <a:tr h="169606">
                <a:tc>
                  <a:txBody>
                    <a:bodyPr wrap="square"/>
                    <a:lstStyle/>
                    <a:p>
                      <a:pPr algn="l"/>
                      <a:r>
                        <a:rPr sz="1050" b="0" i="0">
                          <a:solidFill>
                            <a:srgbClr val="000000"/>
                          </a:solidFill>
                          <a:latin typeface="Calibri"/>
                        </a:rPr>
                        <a:t>Table 157: India Market Historical and Forecast Growth, %, 2021–2036</a:t>
                      </a:r>
                      <a:endParaRPr sz="1050"/>
                    </a:p>
                  </a:txBody>
                  <a:tcPr marL="9525" marR="9525" marT="9525" marB="0" anchor="ctr"/>
                </a:tc>
              </a:tr>
              <a:tr h="169606">
                <a:tc>
                  <a:txBody>
                    <a:bodyPr wrap="square"/>
                    <a:lstStyle/>
                    <a:p>
                      <a:pPr algn="l"/>
                      <a:r>
                        <a:rPr sz="1050" b="0" i="0">
                          <a:solidFill>
                            <a:srgbClr val="000000"/>
                          </a:solidFill>
                          <a:latin typeface="Calibri"/>
                        </a:rPr>
                        <a:t>Table 158: India Market Value by Application, US$ Mn, 2021–2036</a:t>
                      </a:r>
                      <a:endParaRPr sz="1050"/>
                    </a:p>
                  </a:txBody>
                  <a:tcPr marL="9525" marR="9525" marT="9525" marB="0" anchor="ctr"/>
                </a:tc>
              </a:tr>
              <a:tr h="169606">
                <a:tc>
                  <a:txBody>
                    <a:bodyPr wrap="square"/>
                    <a:lstStyle/>
                    <a:p>
                      <a:pPr algn="l"/>
                      <a:r>
                        <a:rPr sz="1050" b="0" i="0">
                          <a:solidFill>
                            <a:srgbClr val="000000"/>
                          </a:solidFill>
                          <a:latin typeface="Calibri"/>
                        </a:rPr>
                        <a:t>Table 159: South Korea Market Value by Product Type, US$ Mn, 2021–2036</a:t>
                      </a:r>
                      <a:endParaRPr sz="1050"/>
                    </a:p>
                  </a:txBody>
                  <a:tcPr marL="9525" marR="9525" marT="9525" marB="0" anchor="ctr"/>
                </a:tc>
              </a:tr>
              <a:tr h="169606">
                <a:tc>
                  <a:txBody>
                    <a:bodyPr wrap="square"/>
                    <a:lstStyle/>
                    <a:p>
                      <a:pPr algn="l"/>
                      <a:r>
                        <a:rPr sz="1050" b="0" i="0">
                          <a:solidFill>
                            <a:srgbClr val="000000"/>
                          </a:solidFill>
                          <a:latin typeface="Calibri"/>
                        </a:rPr>
                        <a:t>Table 160: South Korea Market Historical and Forecast Growth, %, 2021–2036</a:t>
                      </a:r>
                      <a:endParaRPr sz="1050"/>
                    </a:p>
                  </a:txBody>
                  <a:tcPr marL="9525" marR="9525" marT="9525" marB="0" anchor="ctr"/>
                </a:tc>
              </a:tr>
              <a:tr h="169606">
                <a:tc>
                  <a:txBody>
                    <a:bodyPr wrap="square"/>
                    <a:lstStyle/>
                    <a:p>
                      <a:pPr algn="l"/>
                      <a:r>
                        <a:rPr sz="1050" b="0" i="0">
                          <a:solidFill>
                            <a:srgbClr val="000000"/>
                          </a:solidFill>
                          <a:latin typeface="Calibri"/>
                        </a:rPr>
                        <a:t>Table 161: Germany Market Value by Product Type, US$ Mn, 2021–2036</a:t>
                      </a:r>
                      <a:endParaRPr sz="1050"/>
                    </a:p>
                  </a:txBody>
                  <a:tcPr marL="9525" marR="9525" marT="9525" marB="0" anchor="ctr"/>
                </a:tc>
              </a:tr>
              <a:tr h="169606">
                <a:tc>
                  <a:txBody>
                    <a:bodyPr wrap="square"/>
                    <a:lstStyle/>
                    <a:p>
                      <a:pPr algn="l"/>
                      <a:r>
                        <a:rPr sz="1050" b="0" i="0">
                          <a:solidFill>
                            <a:srgbClr val="000000"/>
                          </a:solidFill>
                          <a:latin typeface="Calibri"/>
                        </a:rPr>
                        <a:t>Table 162: Germany Market Historical and Forecast Growth, %, 2021–2036</a:t>
                      </a:r>
                      <a:endParaRPr sz="1050"/>
                    </a:p>
                  </a:txBody>
                  <a:tcPr marL="9525" marR="9525" marT="9525" marB="0" anchor="ctr"/>
                </a:tc>
              </a:tr>
              <a:tr h="169606">
                <a:tc>
                  <a:txBody>
                    <a:bodyPr wrap="square"/>
                    <a:lstStyle/>
                    <a:p>
                      <a:pPr algn="l"/>
                      <a:r>
                        <a:rPr sz="1050" b="0" i="0">
                          <a:solidFill>
                            <a:srgbClr val="000000"/>
                          </a:solidFill>
                          <a:latin typeface="Calibri"/>
                        </a:rPr>
                        <a:t>Table 163: U.K. Market Value by Product Type, US$ Mn, 2021–2036</a:t>
                      </a:r>
                      <a:endParaRPr sz="1050"/>
                    </a:p>
                  </a:txBody>
                  <a:tcPr marL="9525" marR="9525" marT="9525" marB="0" anchor="ctr"/>
                </a:tc>
              </a:tr>
              <a:tr h="169606">
                <a:tc>
                  <a:txBody>
                    <a:bodyPr wrap="square"/>
                    <a:lstStyle/>
                    <a:p>
                      <a:pPr algn="l"/>
                      <a:r>
                        <a:rPr sz="1050" b="0" i="0">
                          <a:solidFill>
                            <a:srgbClr val="000000"/>
                          </a:solidFill>
                          <a:latin typeface="Calibri"/>
                        </a:rPr>
                        <a:t>Table 164: U.K. Market Historical and Forecast Growth, %, 2021–2036</a:t>
                      </a:r>
                      <a:endParaRPr sz="1050"/>
                    </a:p>
                  </a:txBody>
                  <a:tcPr marL="9525" marR="9525" marT="9525" marB="0" anchor="ctr"/>
                </a:tc>
              </a:tr>
              <a:tr h="169606">
                <a:tc>
                  <a:txBody>
                    <a:bodyPr wrap="square"/>
                    <a:lstStyle/>
                    <a:p>
                      <a:pPr algn="l"/>
                      <a:r>
                        <a:rPr sz="1050" b="0" i="0">
                          <a:solidFill>
                            <a:srgbClr val="000000"/>
                          </a:solidFill>
                          <a:latin typeface="Calibri"/>
                        </a:rPr>
                        <a:t>Table 165: Market Product Price Comparison by Company and Product Type, US$/MT, 2026</a:t>
                      </a:r>
                      <a:endParaRPr sz="1050"/>
                    </a:p>
                  </a:txBody>
                  <a:tcPr marL="9525" marR="9525" marT="9525" marB="0" anchor="ctr"/>
                </a:tc>
              </a:tr>
              <a:tr h="169606">
                <a:tc>
                  <a:txBody>
                    <a:bodyPr wrap="square"/>
                    <a:lstStyle/>
                    <a:p>
                      <a:pPr algn="l"/>
                      <a:r>
                        <a:rPr sz="1050" b="0" i="0">
                          <a:solidFill>
                            <a:srgbClr val="000000"/>
                          </a:solidFill>
                          <a:latin typeface="Calibri"/>
                        </a:rPr>
                        <a:t>Table 166: Global Market Average Selling Price by Region, US$/MT, 2021–2036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(4/4)</a:t>
            </a:r>
          </a:p>
        </p:txBody>
      </p:sp>
      <p:graphicFrame>
        <p:nvGraphicFramePr>
          <p:cNvPr id="9" name="FMI Contents Table"/>
          <p:cNvGraphicFramePr>
            <a:graphicFrameLocks noGrp="1"/>
          </p:cNvGraphicFramePr>
          <p:nvPr/>
        </p:nvGraphicFramePr>
        <p:xfrm>
          <a:off x="142875" y="981075"/>
          <a:ext cx="5876925" cy="5257793"/>
        </p:xfrm>
        <a:graphic>
          <a:graphicData uri="http://schemas.openxmlformats.org/drawingml/2006/table">
            <a:tbl>
              <a:tblPr>
                <a:tableStyleId>{3B4B98B0-60AC-42C2-AFA5-B58CD77FA1E5}</a:tableStyleId>
              </a:tblPr>
              <a:tblGrid>
                <a:gridCol w="5876925"/>
              </a:tblGrid>
              <a:tr h="170045">
                <a:tc>
                  <a:txBody>
                    <a:bodyPr wrap="square"/>
                    <a:lstStyle/>
                    <a:p>
                      <a:pPr algn="l"/>
                      <a:r>
                        <a:rPr sz="1050" b="0" i="0">
                          <a:solidFill>
                            <a:srgbClr val="000000"/>
                          </a:solidFill>
                          <a:latin typeface="Calibri"/>
                        </a:rPr>
                        <a:t>Table 167: Global Market Average Selling Price by Product Type, US$/MT, 2021–2036</a:t>
                      </a:r>
                      <a:endParaRPr sz="1050"/>
                    </a:p>
                  </a:txBody>
                  <a:tcPr marL="9525" marR="9525" marT="9525" marB="0" anchor="ctr"/>
                </a:tc>
              </a:tr>
              <a:tr h="333289">
                <a:tc>
                  <a:txBody>
                    <a:bodyPr wrap="square"/>
                    <a:lstStyle/>
                    <a:p>
                      <a:pPr algn="l"/>
                      <a:r>
                        <a:rPr sz="1050" b="0" i="0">
                          <a:solidFill>
                            <a:srgbClr val="000000"/>
                          </a:solidFill>
                          <a:latin typeface="Calibri"/>
                        </a:rPr>
                        <a:t>Table 168: Global Market Average Selling Price by Principal Material / Barrier Technology, US$/MT, 2021–2036</a:t>
                      </a:r>
                      <a:endParaRPr sz="1050"/>
                    </a:p>
                  </a:txBody>
                  <a:tcPr marL="9525" marR="9525" marT="9525" marB="0" anchor="ctr"/>
                </a:tc>
              </a:tr>
              <a:tr h="170045">
                <a:tc>
                  <a:txBody>
                    <a:bodyPr wrap="square"/>
                    <a:lstStyle/>
                    <a:p>
                      <a:pPr algn="l"/>
                      <a:r>
                        <a:rPr sz="1050" b="0" i="0">
                          <a:solidFill>
                            <a:srgbClr val="000000"/>
                          </a:solidFill>
                          <a:latin typeface="Calibri"/>
                        </a:rPr>
                        <a:t>Table 169: Global Market Average Selling Price by Material Structure, US$/MT, 2021–2036</a:t>
                      </a:r>
                      <a:endParaRPr sz="1050"/>
                    </a:p>
                  </a:txBody>
                  <a:tcPr marL="9525" marR="9525" marT="9525" marB="0" anchor="ctr"/>
                </a:tc>
              </a:tr>
              <a:tr h="170045">
                <a:tc>
                  <a:txBody>
                    <a:bodyPr wrap="square"/>
                    <a:lstStyle/>
                    <a:p>
                      <a:pPr algn="l"/>
                      <a:r>
                        <a:rPr sz="1050" b="0" i="0">
                          <a:solidFill>
                            <a:srgbClr val="000000"/>
                          </a:solidFill>
                          <a:latin typeface="Calibri"/>
                        </a:rPr>
                        <a:t>Table 170: Global Market Average Selling Price by Barrier Level, US$/MT, 2021–2036</a:t>
                      </a:r>
                      <a:endParaRPr sz="1050"/>
                    </a:p>
                  </a:txBody>
                  <a:tcPr marL="9525" marR="9525" marT="9525" marB="0" anchor="ctr"/>
                </a:tc>
              </a:tr>
              <a:tr h="170045">
                <a:tc>
                  <a:txBody>
                    <a:bodyPr wrap="square"/>
                    <a:lstStyle/>
                    <a:p>
                      <a:pPr algn="l"/>
                      <a:r>
                        <a:rPr sz="1050" b="0" i="0">
                          <a:solidFill>
                            <a:srgbClr val="000000"/>
                          </a:solidFill>
                          <a:latin typeface="Calibri"/>
                        </a:rPr>
                        <a:t>Table 171: Global Market Average Selling Price by Application, US$/MT, 2021–2036</a:t>
                      </a:r>
                      <a:endParaRPr sz="1050"/>
                    </a:p>
                  </a:txBody>
                  <a:tcPr marL="9525" marR="9525" marT="9525" marB="0" anchor="ctr"/>
                </a:tc>
              </a:tr>
              <a:tr h="170045">
                <a:tc>
                  <a:txBody>
                    <a:bodyPr wrap="square"/>
                    <a:lstStyle/>
                    <a:p>
                      <a:pPr algn="l"/>
                      <a:r>
                        <a:rPr sz="1050" b="0" i="0">
                          <a:solidFill>
                            <a:srgbClr val="000000"/>
                          </a:solidFill>
                          <a:latin typeface="Calibri"/>
                        </a:rPr>
                        <a:t>Table 172: Global Market Average Selling Price by Barrier Level Vs Application, US$/MT, 2021–2036</a:t>
                      </a:r>
                      <a:endParaRPr sz="1050"/>
                    </a:p>
                  </a:txBody>
                  <a:tcPr marL="9525" marR="9525" marT="9525" marB="0" anchor="ctr"/>
                </a:tc>
              </a:tr>
              <a:tr h="170045">
                <a:tc>
                  <a:txBody>
                    <a:bodyPr wrap="square"/>
                    <a:lstStyle/>
                    <a:p>
                      <a:pPr algn="l"/>
                      <a:r>
                        <a:rPr sz="1050" b="0" i="0">
                          <a:solidFill>
                            <a:srgbClr val="000000"/>
                          </a:solidFill>
                          <a:latin typeface="Calibri"/>
                        </a:rPr>
                        <a:t>Table 173: Supplier-to-Customer Relationship Mapping in U.S., 2026</a:t>
                      </a:r>
                      <a:endParaRPr sz="1050"/>
                    </a:p>
                  </a:txBody>
                  <a:tcPr marL="9525" marR="9525" marT="9525" marB="0" anchor="ctr"/>
                </a:tc>
              </a:tr>
              <a:tr h="170045">
                <a:tc>
                  <a:txBody>
                    <a:bodyPr wrap="square"/>
                    <a:lstStyle/>
                    <a:p>
                      <a:pPr algn="l"/>
                      <a:r>
                        <a:rPr sz="1050" b="0" i="0">
                          <a:solidFill>
                            <a:srgbClr val="000000"/>
                          </a:solidFill>
                          <a:latin typeface="Calibri"/>
                        </a:rPr>
                        <a:t>Table 174: Global Market Value Chain Participants by Stage, 2026</a:t>
                      </a:r>
                      <a:endParaRPr sz="1050"/>
                    </a:p>
                  </a:txBody>
                  <a:tcPr marL="9525" marR="9525" marT="9525" marB="0" anchor="ctr"/>
                </a:tc>
              </a:tr>
              <a:tr h="170045">
                <a:tc>
                  <a:txBody>
                    <a:bodyPr wrap="square"/>
                    <a:lstStyle/>
                    <a:p>
                      <a:pPr algn="l"/>
                      <a:r>
                        <a:rPr sz="1050" b="0" i="0">
                          <a:solidFill>
                            <a:srgbClr val="000000"/>
                          </a:solidFill>
                          <a:latin typeface="Calibri"/>
                        </a:rPr>
                        <a:t>Table 175: Global Market Margin Analysis by Value Chain Stage, %, 2026</a:t>
                      </a:r>
                      <a:endParaRPr sz="1050"/>
                    </a:p>
                  </a:txBody>
                  <a:tcPr marL="9525" marR="9525" marT="9525" marB="0" anchor="ctr"/>
                </a:tc>
              </a:tr>
              <a:tr h="170045">
                <a:tc>
                  <a:txBody>
                    <a:bodyPr wrap="square"/>
                    <a:lstStyle/>
                    <a:p>
                      <a:pPr algn="l"/>
                      <a:r>
                        <a:rPr sz="1050" b="0" i="0">
                          <a:solidFill>
                            <a:srgbClr val="000000"/>
                          </a:solidFill>
                          <a:latin typeface="Calibri"/>
                        </a:rPr>
                        <a:t>Table 176: Global Market Cost Structure by Component, %, 2026</a:t>
                      </a:r>
                      <a:endParaRPr sz="1050"/>
                    </a:p>
                  </a:txBody>
                  <a:tcPr marL="9525" marR="9525" marT="9525" marB="0" anchor="ctr"/>
                </a:tc>
              </a:tr>
              <a:tr h="170045">
                <a:tc>
                  <a:txBody>
                    <a:bodyPr wrap="square"/>
                    <a:lstStyle/>
                    <a:p>
                      <a:pPr algn="l"/>
                      <a:r>
                        <a:rPr sz="1050" b="0" i="0">
                          <a:solidFill>
                            <a:srgbClr val="000000"/>
                          </a:solidFill>
                          <a:latin typeface="Calibri"/>
                        </a:rPr>
                        <a:t>Table 177: Global Market Import Value by Leading Country, US$ Mn, 2021–2025</a:t>
                      </a:r>
                      <a:endParaRPr sz="1050"/>
                    </a:p>
                  </a:txBody>
                  <a:tcPr marL="9525" marR="9525" marT="9525" marB="0" anchor="ctr"/>
                </a:tc>
              </a:tr>
              <a:tr h="170045">
                <a:tc>
                  <a:txBody>
                    <a:bodyPr wrap="square"/>
                    <a:lstStyle/>
                    <a:p>
                      <a:pPr algn="l"/>
                      <a:r>
                        <a:rPr sz="1050" b="0" i="0">
                          <a:solidFill>
                            <a:srgbClr val="000000"/>
                          </a:solidFill>
                          <a:latin typeface="Calibri"/>
                        </a:rPr>
                        <a:t>Table 178: Global Market Export Value by Leading Country, US$ Mn, 2021–2025</a:t>
                      </a:r>
                      <a:endParaRPr sz="1050"/>
                    </a:p>
                  </a:txBody>
                  <a:tcPr marL="9525" marR="9525" marT="9525" marB="0" anchor="ctr"/>
                </a:tc>
              </a:tr>
              <a:tr h="170045">
                <a:tc>
                  <a:txBody>
                    <a:bodyPr wrap="square"/>
                    <a:lstStyle/>
                    <a:p>
                      <a:pPr algn="l"/>
                      <a:r>
                        <a:rPr sz="1050" b="0" i="0">
                          <a:solidFill>
                            <a:srgbClr val="000000"/>
                          </a:solidFill>
                          <a:latin typeface="Calibri"/>
                        </a:rPr>
                        <a:t>Table 179: Global Market Trade Flow Matrix by Region, US$ Mn, 2025</a:t>
                      </a:r>
                      <a:endParaRPr sz="1050"/>
                    </a:p>
                  </a:txBody>
                  <a:tcPr marL="9525" marR="9525" marT="9525" marB="0" anchor="ctr"/>
                </a:tc>
              </a:tr>
              <a:tr h="170045">
                <a:tc>
                  <a:txBody>
                    <a:bodyPr wrap="square"/>
                    <a:lstStyle/>
                    <a:p>
                      <a:pPr algn="l"/>
                      <a:r>
                        <a:rPr sz="1050" b="0" i="0">
                          <a:solidFill>
                            <a:srgbClr val="000000"/>
                          </a:solidFill>
                          <a:latin typeface="Calibri"/>
                        </a:rPr>
                        <a:t>Table 180: Global Market Pricing Factors and Impact Rating, 2026–2036</a:t>
                      </a:r>
                      <a:endParaRPr sz="1050"/>
                    </a:p>
                  </a:txBody>
                  <a:tcPr marL="9525" marR="9525" marT="9525" marB="0" anchor="ctr"/>
                </a:tc>
              </a:tr>
              <a:tr h="333289">
                <a:tc>
                  <a:txBody>
                    <a:bodyPr wrap="square"/>
                    <a:lstStyle/>
                    <a:p>
                      <a:pPr algn="l"/>
                      <a:r>
                        <a:rPr sz="1050" b="0" i="0">
                          <a:solidFill>
                            <a:srgbClr val="000000"/>
                          </a:solidFill>
                          <a:latin typeface="Calibri"/>
                        </a:rPr>
                        <a:t>Table 181: Leading Flexible Plastic Packaging Manufacturers: Product Portfolio and Geographic Presence, 2026</a:t>
                      </a:r>
                      <a:endParaRPr sz="1050"/>
                    </a:p>
                  </a:txBody>
                  <a:tcPr marL="9525" marR="9525" marT="9525" marB="0" anchor="ctr"/>
                </a:tc>
              </a:tr>
              <a:tr h="170045">
                <a:tc>
                  <a:txBody>
                    <a:bodyPr wrap="square"/>
                    <a:lstStyle/>
                    <a:p>
                      <a:pPr algn="l"/>
                      <a:r>
                        <a:rPr sz="1050" b="0" i="0">
                          <a:solidFill>
                            <a:srgbClr val="000000"/>
                          </a:solidFill>
                          <a:latin typeface="Calibri"/>
                        </a:rPr>
                        <a:t>Table 182: Company Revenue from the Global Market, US$ Mn, 2025–2026</a:t>
                      </a:r>
                      <a:endParaRPr sz="1050"/>
                    </a:p>
                  </a:txBody>
                  <a:tcPr marL="9525" marR="9525" marT="9525" marB="0" anchor="ctr"/>
                </a:tc>
              </a:tr>
              <a:tr h="170045">
                <a:tc>
                  <a:txBody>
                    <a:bodyPr wrap="square"/>
                    <a:lstStyle/>
                    <a:p>
                      <a:pPr algn="l"/>
                      <a:r>
                        <a:rPr sz="1050" b="0" i="0">
                          <a:solidFill>
                            <a:srgbClr val="000000"/>
                          </a:solidFill>
                          <a:latin typeface="Calibri"/>
                        </a:rPr>
                        <a:t>Table 183: Company Market Share in the Global Market by Region, %, 2026</a:t>
                      </a:r>
                      <a:endParaRPr sz="1050"/>
                    </a:p>
                  </a:txBody>
                  <a:tcPr marL="9525" marR="9525" marT="9525" marB="0" anchor="ctr"/>
                </a:tc>
              </a:tr>
              <a:tr h="170045">
                <a:tc>
                  <a:txBody>
                    <a:bodyPr wrap="square"/>
                    <a:lstStyle/>
                    <a:p>
                      <a:pPr algn="l"/>
                      <a:r>
                        <a:rPr sz="1050" b="0" i="0">
                          <a:solidFill>
                            <a:srgbClr val="000000"/>
                          </a:solidFill>
                          <a:latin typeface="Calibri"/>
                        </a:rPr>
                        <a:t>Table 184: Global Market Competitive Benchmarking Matrix, 2026</a:t>
                      </a:r>
                      <a:endParaRPr sz="1050"/>
                    </a:p>
                  </a:txBody>
                  <a:tcPr marL="9525" marR="9525" marT="9525" marB="0" anchor="ctr"/>
                </a:tc>
              </a:tr>
              <a:tr h="170045">
                <a:tc>
                  <a:txBody>
                    <a:bodyPr wrap="square"/>
                    <a:lstStyle/>
                    <a:p>
                      <a:pPr algn="l"/>
                      <a:r>
                        <a:rPr sz="1050" b="0" i="0">
                          <a:solidFill>
                            <a:srgbClr val="000000"/>
                          </a:solidFill>
                          <a:latin typeface="Calibri"/>
                        </a:rPr>
                        <a:t>Table 185: Global Market Mergers, Acquisitions and Partnerships, 2021–2026</a:t>
                      </a:r>
                      <a:endParaRPr sz="1050"/>
                    </a:p>
                  </a:txBody>
                  <a:tcPr marL="9525" marR="9525" marT="9525" marB="0" anchor="ctr"/>
                </a:tc>
              </a:tr>
              <a:tr h="170045">
                <a:tc>
                  <a:txBody>
                    <a:bodyPr wrap="square"/>
                    <a:lstStyle/>
                    <a:p>
                      <a:pPr algn="l"/>
                      <a:r>
                        <a:rPr sz="1050" b="0" i="0">
                          <a:solidFill>
                            <a:srgbClr val="000000"/>
                          </a:solidFill>
                          <a:latin typeface="Calibri"/>
                        </a:rPr>
                        <a:t>Table 186: Company A: Company Overview, Products and Strategy, 2026</a:t>
                      </a:r>
                      <a:endParaRPr sz="1050"/>
                    </a:p>
                  </a:txBody>
                  <a:tcPr marL="9525" marR="9525" marT="9525" marB="0" anchor="ctr"/>
                </a:tc>
              </a:tr>
              <a:tr h="170045">
                <a:tc>
                  <a:txBody>
                    <a:bodyPr wrap="square"/>
                    <a:lstStyle/>
                    <a:p>
                      <a:pPr algn="l"/>
                      <a:r>
                        <a:rPr sz="1050" b="0" i="0">
                          <a:solidFill>
                            <a:srgbClr val="000000"/>
                          </a:solidFill>
                          <a:latin typeface="Calibri"/>
                        </a:rPr>
                        <a:t>Table 187: Company B: Company Overview, Products and Strategy, 2026</a:t>
                      </a:r>
                      <a:endParaRPr sz="1050"/>
                    </a:p>
                  </a:txBody>
                  <a:tcPr marL="9525" marR="9525" marT="9525" marB="0" anchor="ctr"/>
                </a:tc>
              </a:tr>
              <a:tr h="170045">
                <a:tc>
                  <a:txBody>
                    <a:bodyPr wrap="square"/>
                    <a:lstStyle/>
                    <a:p>
                      <a:pPr algn="l"/>
                      <a:r>
                        <a:rPr sz="1050" b="0" i="0">
                          <a:solidFill>
                            <a:srgbClr val="000000"/>
                          </a:solidFill>
                          <a:latin typeface="Calibri"/>
                        </a:rPr>
                        <a:t>Table 188: Company C: Company Overview, Products and Strategy, 2026</a:t>
                      </a:r>
                      <a:endParaRPr sz="1050"/>
                    </a:p>
                  </a:txBody>
                  <a:tcPr marL="9525" marR="9525" marT="9525" marB="0" anchor="ctr"/>
                </a:tc>
              </a:tr>
              <a:tr h="170045">
                <a:tc>
                  <a:txBody>
                    <a:bodyPr wrap="square"/>
                    <a:lstStyle/>
                    <a:p>
                      <a:pPr algn="l"/>
                      <a:r>
                        <a:rPr sz="1050" b="0" i="0">
                          <a:solidFill>
                            <a:srgbClr val="000000"/>
                          </a:solidFill>
                          <a:latin typeface="Calibri"/>
                        </a:rPr>
                        <a:t>Table 189: Company D: Company Overview, Products and Strategy, 2026</a:t>
                      </a:r>
                      <a:endParaRPr sz="1050"/>
                    </a:p>
                  </a:txBody>
                  <a:tcPr marL="9525" marR="9525" marT="9525" marB="0" anchor="ctr"/>
                </a:tc>
              </a:tr>
              <a:tr h="170045">
                <a:tc>
                  <a:txBody>
                    <a:bodyPr wrap="square"/>
                    <a:lstStyle/>
                    <a:p>
                      <a:pPr algn="l"/>
                      <a:r>
                        <a:rPr sz="1050" b="0" i="0">
                          <a:solidFill>
                            <a:srgbClr val="000000"/>
                          </a:solidFill>
                          <a:latin typeface="Calibri"/>
                        </a:rPr>
                        <a:t>Table 190: Company E: Company Overview, Products and Strategy, 2026</a:t>
                      </a:r>
                      <a:endParaRPr sz="1050"/>
                    </a:p>
                  </a:txBody>
                  <a:tcPr marL="9525" marR="9525" marT="9525" marB="0" anchor="ctr"/>
                </a:tc>
              </a:tr>
              <a:tr h="170045">
                <a:tc>
                  <a:txBody>
                    <a:bodyPr wrap="square"/>
                    <a:lstStyle/>
                    <a:p>
                      <a:pPr algn="l"/>
                      <a:r>
                        <a:rPr sz="1050" b="0" i="0">
                          <a:solidFill>
                            <a:srgbClr val="000000"/>
                          </a:solidFill>
                          <a:latin typeface="Calibri"/>
                        </a:rPr>
                        <a:t>Table 191: Company F: Company Overview, Products and Strategy, 2026</a:t>
                      </a:r>
                      <a:endParaRPr sz="1050"/>
                    </a:p>
                  </a:txBody>
                  <a:tcPr marL="9525" marR="9525" marT="9525" marB="0" anchor="ctr"/>
                </a:tc>
              </a:tr>
              <a:tr h="170045">
                <a:tc>
                  <a:txBody>
                    <a:bodyPr wrap="square"/>
                    <a:lstStyle/>
                    <a:p>
                      <a:pPr algn="l"/>
                      <a:r>
                        <a:rPr sz="1050" b="0" i="0">
                          <a:solidFill>
                            <a:srgbClr val="000000"/>
                          </a:solidFill>
                          <a:latin typeface="Calibri"/>
                        </a:rPr>
                        <a:t>Table 192: Company G: Company Overview, Products and Strategy, 2026</a:t>
                      </a:r>
                      <a:endParaRPr sz="1050"/>
                    </a:p>
                  </a:txBody>
                  <a:tcPr marL="9525" marR="9525" marT="9525" marB="0" anchor="ctr"/>
                </a:tc>
              </a:tr>
              <a:tr h="170045">
                <a:tc>
                  <a:txBody>
                    <a:bodyPr wrap="square"/>
                    <a:lstStyle/>
                    <a:p>
                      <a:pPr algn="l"/>
                      <a:r>
                        <a:rPr sz="1050" b="0" i="0">
                          <a:solidFill>
                            <a:srgbClr val="000000"/>
                          </a:solidFill>
                          <a:latin typeface="Calibri"/>
                        </a:rPr>
                        <a:t>Table 193: Company H: Company Overview, Products and Strategy, 2026</a:t>
                      </a:r>
                      <a:endParaRPr sz="1050"/>
                    </a:p>
                  </a:txBody>
                  <a:tcPr marL="9525" marR="9525" marT="9525" marB="0" anchor="ctr"/>
                </a:tc>
              </a:tr>
              <a:tr h="170045">
                <a:tc>
                  <a:txBody>
                    <a:bodyPr wrap="square"/>
                    <a:lstStyle/>
                    <a:p>
                      <a:pPr algn="l"/>
                      <a:r>
                        <a:rPr sz="1050" b="0" i="0">
                          <a:solidFill>
                            <a:srgbClr val="000000"/>
                          </a:solidFill>
                          <a:latin typeface="Calibri"/>
                        </a:rPr>
                        <a:t>Table 194: Global Market Value by Scenario and Region, US$ Mn, 2026–2036</a:t>
                      </a:r>
                      <a:endParaRPr sz="1050"/>
                    </a:p>
                  </a:txBody>
                  <a:tcPr marL="9525" marR="9525" marT="9525" marB="0" anchor="ctr"/>
                </a:tc>
              </a:tr>
              <a:tr h="170045">
                <a:tc>
                  <a:txBody>
                    <a:bodyPr wrap="square"/>
                    <a:lstStyle/>
                    <a:p>
                      <a:pPr algn="l"/>
                      <a:r>
                        <a:rPr sz="1050" b="0" i="0">
                          <a:solidFill>
                            <a:srgbClr val="000000"/>
                          </a:solidFill>
                          <a:latin typeface="Calibri"/>
                        </a:rPr>
                        <a:t>Table 195: Global Market Key Trends and Impact Rating, 2026–2036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833440"/>
        </p:xfrm>
        <a:graphic>
          <a:graphicData uri="http://schemas.openxmlformats.org/drawingml/2006/table">
            <a:tbl>
              <a:tblPr>
                <a:tableStyleId>{3B4B98B0-60AC-42C2-AFA5-B58CD77FA1E5}</a:tableStyleId>
              </a:tblPr>
              <a:tblGrid>
                <a:gridCol w="5876925"/>
              </a:tblGrid>
              <a:tr h="166688">
                <a:tc>
                  <a:txBody>
                    <a:bodyPr wrap="square"/>
                    <a:lstStyle/>
                    <a:p>
                      <a:pPr algn="l"/>
                      <a:r>
                        <a:rPr sz="1050" b="0" i="0">
                          <a:solidFill>
                            <a:srgbClr val="000000"/>
                          </a:solidFill>
                          <a:latin typeface="Calibri"/>
                        </a:rPr>
                        <a:t>Table 196: Global Market Opportunity Assessment by Product Type, US$ Mn, 2026–2036</a:t>
                      </a:r>
                      <a:endParaRPr sz="1050"/>
                    </a:p>
                  </a:txBody>
                  <a:tcPr marL="9525" marR="9525" marT="9525" marB="0" anchor="ctr"/>
                </a:tc>
              </a:tr>
              <a:tr h="166688">
                <a:tc>
                  <a:txBody>
                    <a:bodyPr wrap="square"/>
                    <a:lstStyle/>
                    <a:p>
                      <a:pPr algn="l"/>
                      <a:r>
                        <a:rPr sz="1050" b="0" i="0">
                          <a:solidFill>
                            <a:srgbClr val="000000"/>
                          </a:solidFill>
                          <a:latin typeface="Calibri"/>
                        </a:rPr>
                        <a:t>Table 197: Global Market Scenario Assumptions, 2026–2036</a:t>
                      </a:r>
                      <a:endParaRPr sz="1050"/>
                    </a:p>
                  </a:txBody>
                  <a:tcPr marL="9525" marR="9525" marT="9525" marB="0" anchor="ctr"/>
                </a:tc>
              </a:tr>
              <a:tr h="166688">
                <a:tc>
                  <a:txBody>
                    <a:bodyPr wrap="square"/>
                    <a:lstStyle/>
                    <a:p>
                      <a:pPr algn="l"/>
                      <a:r>
                        <a:rPr sz="1050" b="0" i="0">
                          <a:solidFill>
                            <a:srgbClr val="000000"/>
                          </a:solidFill>
                          <a:latin typeface="Calibri"/>
                        </a:rPr>
                        <a:t>Table 198: Global Market Client Opportunity Prioritisation by Product Type, 2026–2036</a:t>
                      </a:r>
                      <a:endParaRPr sz="1050"/>
                    </a:p>
                  </a:txBody>
                  <a:tcPr marL="9525" marR="9525" marT="9525" marB="0" anchor="ctr"/>
                </a:tc>
              </a:tr>
              <a:tr h="166688">
                <a:tc>
                  <a:txBody>
                    <a:bodyPr wrap="square"/>
                    <a:lstStyle/>
                    <a:p>
                      <a:pPr algn="l"/>
                      <a:r>
                        <a:rPr sz="1050" b="0" i="0">
                          <a:solidFill>
                            <a:srgbClr val="000000"/>
                          </a:solidFill>
                          <a:latin typeface="Calibri"/>
                        </a:rPr>
                        <a:t>Table 199: Global Market Customer Purchase Criteria by Product Type, 2026</a:t>
                      </a:r>
                      <a:endParaRPr sz="1050"/>
                    </a:p>
                  </a:txBody>
                  <a:tcPr marL="9525" marR="9525" marT="9525" marB="0" anchor="ctr"/>
                </a:tc>
              </a:tr>
              <a:tr h="166688">
                <a:tc>
                  <a:txBody>
                    <a:bodyPr wrap="square"/>
                    <a:lstStyle/>
                    <a:p>
                      <a:pPr algn="l"/>
                      <a:r>
                        <a:rPr sz="1050" b="0" i="0">
                          <a:solidFill>
                            <a:srgbClr val="000000"/>
                          </a:solidFill>
                          <a:latin typeface="Calibri"/>
                        </a:rPr>
                        <a:t>Table 200: Global Market Strategic Recommendations and Action Plan, 2026–2036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949575"/>
            <a:ext cx="8572500" cy="304800"/>
          </a:xfrm>
          <a:prstGeom prst="rect">
            <a:avLst/>
          </a:prstGeom>
          <a:noFill/>
        </p:spPr>
        <p:txBody>
          <a:bodyPr wrap="none" lIns="0" tIns="0">
            <a:spAutoFit/>
          </a:bodyPr>
          <a:lstStyle/>
          <a:p>
            <a:r>
              <a:rPr sz="1800" b="0">
                <a:solidFill>
                  <a:srgbClr val="0E72AE"/>
                </a:solidFill>
                <a:latin typeface="Calibri"/>
              </a:rPr>
              <a:t>Flexible Plastic Packaging Market</a:t>
            </a:r>
          </a:p>
        </p:txBody>
      </p:sp>
      <p:sp>
        <p:nvSpPr>
          <p:cNvPr id="10" name="FMI Section Title"/>
          <p:cNvSpPr txBox="1"/>
          <p:nvPr/>
        </p:nvSpPr>
        <p:spPr>
          <a:xfrm>
            <a:off x="914400" y="3292475"/>
            <a:ext cx="8572500" cy="514350"/>
          </a:xfrm>
          <a:prstGeom prst="rect">
            <a:avLst/>
          </a:prstGeom>
          <a:noFill/>
        </p:spPr>
        <p:txBody>
          <a:bodyPr wrap="square" lIns="0" rIns="0" tIns="0">
            <a:spAutoFit/>
          </a:bodyPr>
          <a:lstStyle/>
          <a:p>
            <a:r>
              <a:rPr sz="3000" b="1">
                <a:solidFill>
                  <a:srgbClr val="0B3C8C"/>
                </a:solidFill>
                <a:latin typeface="Calibri"/>
              </a:rPr>
              <a:t>List of Figures, List of Tables</a:t>
            </a:r>
          </a:p>
        </p:txBody>
      </p:sp>
      <p:sp>
        <p:nvSpPr>
          <p:cNvPr id="11" name="TextBox 10"/>
          <p:cNvSpPr txBox="1"/>
          <p:nvPr/>
        </p:nvSpPr>
        <p:spPr>
          <a:xfrm>
            <a:off x="914400" y="3978275"/>
            <a:ext cx="8458200" cy="8826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Every figure in the full study, by analysis block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Every table in the full study, by analysis block</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theme/theme1.xml><?xml version="1.0" encoding="utf-8"?>
<a:theme xmlns:a="http://schemas.openxmlformats.org/drawingml/2006/main" name="Office Theme">
  <a:themeElements>
    <a:clrScheme name="Custom 70">
      <a:dk1>
        <a:sysClr val="windowText" lastClr="000000"/>
      </a:dk1>
      <a:lt1>
        <a:sysClr val="window" lastClr="FFFFFF"/>
      </a:lt1>
      <a:dk2>
        <a:srgbClr val="000000"/>
      </a:dk2>
      <a:lt2>
        <a:srgbClr val="F8F8F8"/>
      </a:lt2>
      <a:accent1>
        <a:srgbClr val="3D85C6"/>
      </a:accent1>
      <a:accent2>
        <a:srgbClr val="9E7E0A"/>
      </a:accent2>
      <a:accent3>
        <a:srgbClr val="40315E"/>
      </a:accent3>
      <a:accent4>
        <a:srgbClr val="008189"/>
      </a:accent4>
      <a:accent5>
        <a:srgbClr val="A35313"/>
      </a:accent5>
      <a:accent6>
        <a:srgbClr val="5F5F5F"/>
      </a:accent6>
      <a:hlink>
        <a:srgbClr val="5F5F5F"/>
      </a:hlink>
      <a:folHlink>
        <a:srgbClr val="919191"/>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