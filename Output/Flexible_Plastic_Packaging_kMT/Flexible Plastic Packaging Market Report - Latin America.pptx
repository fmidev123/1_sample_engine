
<file path=[Content_Types].xml><?xml version="1.0" encoding="utf-8"?>
<Types xmlns="http://schemas.openxmlformats.org/package/2006/content-types">
  <Default Extension="bin" ContentType="application/vnd.openxmlformats-officedocument.presentationml.printerSettings"/>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charts/chart10.xml" ContentType="application/vnd.openxmlformats-officedocument.drawingml.chart+xml"/>
  <Override PartName="/ppt/charts/chart100.xml" ContentType="application/vnd.openxmlformats-officedocument.drawingml.chart+xml"/>
  <Override PartName="/ppt/charts/chart101.xml" ContentType="application/vnd.openxmlformats-officedocument.drawingml.chart+xml"/>
  <Override PartName="/ppt/charts/chart102.xml" ContentType="application/vnd.openxmlformats-officedocument.drawingml.chart+xml"/>
  <Override PartName="/ppt/charts/chart103.xml" ContentType="application/vnd.openxmlformats-officedocument.drawingml.chart+xml"/>
  <Override PartName="/ppt/charts/chart104.xml" ContentType="application/vnd.openxmlformats-officedocument.drawingml.chart+xml"/>
  <Override PartName="/ppt/charts/chart105.xml" ContentType="application/vnd.openxmlformats-officedocument.drawingml.chart+xml"/>
  <Override PartName="/ppt/charts/chart106.xml" ContentType="application/vnd.openxmlformats-officedocument.drawingml.chart+xml"/>
  <Override PartName="/ppt/charts/chart107.xml" ContentType="application/vnd.openxmlformats-officedocument.drawingml.chart+xml"/>
  <Override PartName="/ppt/charts/chart108.xml" ContentType="application/vnd.openxmlformats-officedocument.drawingml.chart+xml"/>
  <Override PartName="/ppt/charts/chart109.xml" ContentType="application/vnd.openxmlformats-officedocument.drawingml.chart+xml"/>
  <Override PartName="/ppt/charts/chart11.xml" ContentType="application/vnd.openxmlformats-officedocument.drawingml.chart+xml"/>
  <Override PartName="/ppt/charts/chart110.xml" ContentType="application/vnd.openxmlformats-officedocument.drawingml.chart+xml"/>
  <Override PartName="/ppt/charts/chart111.xml" ContentType="application/vnd.openxmlformats-officedocument.drawingml.chart+xml"/>
  <Override PartName="/ppt/charts/chart112.xml" ContentType="application/vnd.openxmlformats-officedocument.drawingml.chart+xml"/>
  <Override PartName="/ppt/charts/chart113.xml" ContentType="application/vnd.openxmlformats-officedocument.drawingml.chart+xml"/>
  <Override PartName="/ppt/charts/chart114.xml" ContentType="application/vnd.openxmlformats-officedocument.drawingml.chart+xml"/>
  <Override PartName="/ppt/charts/chart115.xml" ContentType="application/vnd.openxmlformats-officedocument.drawingml.chart+xml"/>
  <Override PartName="/ppt/charts/chart116.xml" ContentType="application/vnd.openxmlformats-officedocument.drawingml.chart+xml"/>
  <Override PartName="/ppt/charts/chart117.xml" ContentType="application/vnd.openxmlformats-officedocument.drawingml.chart+xml"/>
  <Override PartName="/ppt/charts/chart118.xml" ContentType="application/vnd.openxmlformats-officedocument.drawingml.chart+xml"/>
  <Override PartName="/ppt/charts/chart119.xml" ContentType="application/vnd.openxmlformats-officedocument.drawingml.chart+xml"/>
  <Override PartName="/ppt/charts/chart12.xml" ContentType="application/vnd.openxmlformats-officedocument.drawingml.chart+xml"/>
  <Override PartName="/ppt/charts/chart120.xml" ContentType="application/vnd.openxmlformats-officedocument.drawingml.chart+xml"/>
  <Override PartName="/ppt/charts/chart121.xml" ContentType="application/vnd.openxmlformats-officedocument.drawingml.chart+xml"/>
  <Override PartName="/ppt/charts/chart122.xml" ContentType="application/vnd.openxmlformats-officedocument.drawingml.chart+xml"/>
  <Override PartName="/ppt/charts/chart123.xml" ContentType="application/vnd.openxmlformats-officedocument.drawingml.chart+xml"/>
  <Override PartName="/ppt/charts/chart124.xml" ContentType="application/vnd.openxmlformats-officedocument.drawingml.chart+xml"/>
  <Override PartName="/ppt/charts/chart125.xml" ContentType="application/vnd.openxmlformats-officedocument.drawingml.chart+xml"/>
  <Override PartName="/ppt/charts/chart126.xml" ContentType="application/vnd.openxmlformats-officedocument.drawingml.chart+xml"/>
  <Override PartName="/ppt/charts/chart127.xml" ContentType="application/vnd.openxmlformats-officedocument.drawingml.chart+xml"/>
  <Override PartName="/ppt/charts/chart128.xml" ContentType="application/vnd.openxmlformats-officedocument.drawingml.chart+xml"/>
  <Override PartName="/ppt/charts/chart129.xml" ContentType="application/vnd.openxmlformats-officedocument.drawingml.chart+xml"/>
  <Override PartName="/ppt/charts/chart13.xml" ContentType="application/vnd.openxmlformats-officedocument.drawingml.chart+xml"/>
  <Override PartName="/ppt/charts/chart130.xml" ContentType="application/vnd.openxmlformats-officedocument.drawingml.chart+xml"/>
  <Override PartName="/ppt/charts/chart131.xml" ContentType="application/vnd.openxmlformats-officedocument.drawingml.chart+xml"/>
  <Override PartName="/ppt/charts/chart132.xml" ContentType="application/vnd.openxmlformats-officedocument.drawingml.chart+xml"/>
  <Override PartName="/ppt/charts/chart133.xml" ContentType="application/vnd.openxmlformats-officedocument.drawingml.chart+xml"/>
  <Override PartName="/ppt/charts/chart134.xml" ContentType="application/vnd.openxmlformats-officedocument.drawingml.chart+xml"/>
  <Override PartName="/ppt/charts/chart135.xml" ContentType="application/vnd.openxmlformats-officedocument.drawingml.chart+xml"/>
  <Override PartName="/ppt/charts/chart136.xml" ContentType="application/vnd.openxmlformats-officedocument.drawingml.chart+xml"/>
  <Override PartName="/ppt/charts/chart137.xml" ContentType="application/vnd.openxmlformats-officedocument.drawingml.chart+xml"/>
  <Override PartName="/ppt/charts/chart138.xml" ContentType="application/vnd.openxmlformats-officedocument.drawingml.chart+xml"/>
  <Override PartName="/ppt/charts/chart139.xml" ContentType="application/vnd.openxmlformats-officedocument.drawingml.chart+xml"/>
  <Override PartName="/ppt/charts/chart14.xml" ContentType="application/vnd.openxmlformats-officedocument.drawingml.chart+xml"/>
  <Override PartName="/ppt/charts/chart140.xml" ContentType="application/vnd.openxmlformats-officedocument.drawingml.chart+xml"/>
  <Override PartName="/ppt/charts/chart141.xml" ContentType="application/vnd.openxmlformats-officedocument.drawingml.chart+xml"/>
  <Override PartName="/ppt/charts/chart142.xml" ContentType="application/vnd.openxmlformats-officedocument.drawingml.chart+xml"/>
  <Override PartName="/ppt/charts/chart143.xml" ContentType="application/vnd.openxmlformats-officedocument.drawingml.chart+xml"/>
  <Override PartName="/ppt/charts/chart144.xml" ContentType="application/vnd.openxmlformats-officedocument.drawingml.chart+xml"/>
  <Override PartName="/ppt/charts/chart145.xml" ContentType="application/vnd.openxmlformats-officedocument.drawingml.chart+xml"/>
  <Override PartName="/ppt/charts/chart146.xml" ContentType="application/vnd.openxmlformats-officedocument.drawingml.chart+xml"/>
  <Override PartName="/ppt/charts/chart147.xml" ContentType="application/vnd.openxmlformats-officedocument.drawingml.chart+xml"/>
  <Override PartName="/ppt/charts/chart148.xml" ContentType="application/vnd.openxmlformats-officedocument.drawingml.chart+xml"/>
  <Override PartName="/ppt/charts/chart149.xml" ContentType="application/vnd.openxmlformats-officedocument.drawingml.chart+xml"/>
  <Override PartName="/ppt/charts/chart15.xml" ContentType="application/vnd.openxmlformats-officedocument.drawingml.chart+xml"/>
  <Override PartName="/ppt/charts/chart150.xml" ContentType="application/vnd.openxmlformats-officedocument.drawingml.chart+xml"/>
  <Override PartName="/ppt/charts/chart151.xml" ContentType="application/vnd.openxmlformats-officedocument.drawingml.chart+xml"/>
  <Override PartName="/ppt/charts/chart152.xml" ContentType="application/vnd.openxmlformats-officedocument.drawingml.chart+xml"/>
  <Override PartName="/ppt/charts/chart153.xml" ContentType="application/vnd.openxmlformats-officedocument.drawingml.chart+xml"/>
  <Override PartName="/ppt/charts/chart154.xml" ContentType="application/vnd.openxmlformats-officedocument.drawingml.chart+xml"/>
  <Override PartName="/ppt/charts/chart155.xml" ContentType="application/vnd.openxmlformats-officedocument.drawingml.chart+xml"/>
  <Override PartName="/ppt/charts/chart156.xml" ContentType="application/vnd.openxmlformats-officedocument.drawingml.chart+xml"/>
  <Override PartName="/ppt/charts/chart157.xml" ContentType="application/vnd.openxmlformats-officedocument.drawingml.chart+xml"/>
  <Override PartName="/ppt/charts/chart158.xml" ContentType="application/vnd.openxmlformats-officedocument.drawingml.chart+xml"/>
  <Override PartName="/ppt/charts/chart159.xml" ContentType="application/vnd.openxmlformats-officedocument.drawingml.chart+xml"/>
  <Override PartName="/ppt/charts/chart16.xml" ContentType="application/vnd.openxmlformats-officedocument.drawingml.chart+xml"/>
  <Override PartName="/ppt/charts/chart160.xml" ContentType="application/vnd.openxmlformats-officedocument.drawingml.chart+xml"/>
  <Override PartName="/ppt/charts/chart161.xml" ContentType="application/vnd.openxmlformats-officedocument.drawingml.chart+xml"/>
  <Override PartName="/ppt/charts/chart162.xml" ContentType="application/vnd.openxmlformats-officedocument.drawingml.chart+xml"/>
  <Override PartName="/ppt/charts/chart163.xml" ContentType="application/vnd.openxmlformats-officedocument.drawingml.chart+xml"/>
  <Override PartName="/ppt/charts/chart164.xml" ContentType="application/vnd.openxmlformats-officedocument.drawingml.chart+xml"/>
  <Override PartName="/ppt/charts/chart165.xml" ContentType="application/vnd.openxmlformats-officedocument.drawingml.chart+xml"/>
  <Override PartName="/ppt/charts/chart166.xml" ContentType="application/vnd.openxmlformats-officedocument.drawingml.chart+xml"/>
  <Override PartName="/ppt/charts/chart167.xml" ContentType="application/vnd.openxmlformats-officedocument.drawingml.chart+xml"/>
  <Override PartName="/ppt/charts/chart168.xml" ContentType="application/vnd.openxmlformats-officedocument.drawingml.chart+xml"/>
  <Override PartName="/ppt/charts/chart169.xml" ContentType="application/vnd.openxmlformats-officedocument.drawingml.chart+xml"/>
  <Override PartName="/ppt/charts/chart17.xml" ContentType="application/vnd.openxmlformats-officedocument.drawingml.chart+xml"/>
  <Override PartName="/ppt/charts/chart170.xml" ContentType="application/vnd.openxmlformats-officedocument.drawingml.chart+xml"/>
  <Override PartName="/ppt/charts/chart171.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charts/chart4.xml" ContentType="application/vnd.openxmlformats-officedocument.drawingml.chart+xml"/>
  <Override PartName="/ppt/charts/chart40.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xml" ContentType="application/vnd.openxmlformats-officedocument.drawingml.chart+xml"/>
  <Override PartName="/ppt/charts/chart50.xml" ContentType="application/vnd.openxmlformats-officedocument.drawingml.chart+xml"/>
  <Override PartName="/ppt/charts/chart51.xml" ContentType="application/vnd.openxmlformats-officedocument.drawingml.chart+xml"/>
  <Override PartName="/ppt/charts/chart52.xml" ContentType="application/vnd.openxmlformats-officedocument.drawingml.chart+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charts/chart57.xml" ContentType="application/vnd.openxmlformats-officedocument.drawingml.chart+xml"/>
  <Override PartName="/ppt/charts/chart58.xml" ContentType="application/vnd.openxmlformats-officedocument.drawingml.chart+xml"/>
  <Override PartName="/ppt/charts/chart59.xml" ContentType="application/vnd.openxmlformats-officedocument.drawingml.chart+xml"/>
  <Override PartName="/ppt/charts/chart6.xml" ContentType="application/vnd.openxmlformats-officedocument.drawingml.chart+xml"/>
  <Override PartName="/ppt/charts/chart60.xml" ContentType="application/vnd.openxmlformats-officedocument.drawingml.chart+xml"/>
  <Override PartName="/ppt/charts/chart61.xml" ContentType="application/vnd.openxmlformats-officedocument.drawingml.chart+xml"/>
  <Override PartName="/ppt/charts/chart62.xml" ContentType="application/vnd.openxmlformats-officedocument.drawingml.chart+xml"/>
  <Override PartName="/ppt/charts/chart63.xml" ContentType="application/vnd.openxmlformats-officedocument.drawingml.chart+xml"/>
  <Override PartName="/ppt/charts/chart64.xml" ContentType="application/vnd.openxmlformats-officedocument.drawingml.chart+xml"/>
  <Override PartName="/ppt/charts/chart65.xml" ContentType="application/vnd.openxmlformats-officedocument.drawingml.chart+xml"/>
  <Override PartName="/ppt/charts/chart66.xml" ContentType="application/vnd.openxmlformats-officedocument.drawingml.chart+xml"/>
  <Override PartName="/ppt/charts/chart67.xml" ContentType="application/vnd.openxmlformats-officedocument.drawingml.chart+xml"/>
  <Override PartName="/ppt/charts/chart68.xml" ContentType="application/vnd.openxmlformats-officedocument.drawingml.chart+xml"/>
  <Override PartName="/ppt/charts/chart69.xml" ContentType="application/vnd.openxmlformats-officedocument.drawingml.chart+xml"/>
  <Override PartName="/ppt/charts/chart7.xml" ContentType="application/vnd.openxmlformats-officedocument.drawingml.chart+xml"/>
  <Override PartName="/ppt/charts/chart70.xml" ContentType="application/vnd.openxmlformats-officedocument.drawingml.chart+xml"/>
  <Override PartName="/ppt/charts/chart71.xml" ContentType="application/vnd.openxmlformats-officedocument.drawingml.chart+xml"/>
  <Override PartName="/ppt/charts/chart72.xml" ContentType="application/vnd.openxmlformats-officedocument.drawingml.chart+xml"/>
  <Override PartName="/ppt/charts/chart73.xml" ContentType="application/vnd.openxmlformats-officedocument.drawingml.chart+xml"/>
  <Override PartName="/ppt/charts/chart74.xml" ContentType="application/vnd.openxmlformats-officedocument.drawingml.chart+xml"/>
  <Override PartName="/ppt/charts/chart75.xml" ContentType="application/vnd.openxmlformats-officedocument.drawingml.chart+xml"/>
  <Override PartName="/ppt/charts/chart76.xml" ContentType="application/vnd.openxmlformats-officedocument.drawingml.chart+xml"/>
  <Override PartName="/ppt/charts/chart77.xml" ContentType="application/vnd.openxmlformats-officedocument.drawingml.chart+xml"/>
  <Override PartName="/ppt/charts/chart78.xml" ContentType="application/vnd.openxmlformats-officedocument.drawingml.chart+xml"/>
  <Override PartName="/ppt/charts/chart79.xml" ContentType="application/vnd.openxmlformats-officedocument.drawingml.chart+xml"/>
  <Override PartName="/ppt/charts/chart8.xml" ContentType="application/vnd.openxmlformats-officedocument.drawingml.chart+xml"/>
  <Override PartName="/ppt/charts/chart80.xml" ContentType="application/vnd.openxmlformats-officedocument.drawingml.chart+xml"/>
  <Override PartName="/ppt/charts/chart81.xml" ContentType="application/vnd.openxmlformats-officedocument.drawingml.chart+xml"/>
  <Override PartName="/ppt/charts/chart82.xml" ContentType="application/vnd.openxmlformats-officedocument.drawingml.chart+xml"/>
  <Override PartName="/ppt/charts/chart83.xml" ContentType="application/vnd.openxmlformats-officedocument.drawingml.chart+xml"/>
  <Override PartName="/ppt/charts/chart84.xml" ContentType="application/vnd.openxmlformats-officedocument.drawingml.chart+xml"/>
  <Override PartName="/ppt/charts/chart85.xml" ContentType="application/vnd.openxmlformats-officedocument.drawingml.chart+xml"/>
  <Override PartName="/ppt/charts/chart86.xml" ContentType="application/vnd.openxmlformats-officedocument.drawingml.chart+xml"/>
  <Override PartName="/ppt/charts/chart87.xml" ContentType="application/vnd.openxmlformats-officedocument.drawingml.chart+xml"/>
  <Override PartName="/ppt/charts/chart88.xml" ContentType="application/vnd.openxmlformats-officedocument.drawingml.chart+xml"/>
  <Override PartName="/ppt/charts/chart89.xml" ContentType="application/vnd.openxmlformats-officedocument.drawingml.chart+xml"/>
  <Override PartName="/ppt/charts/chart9.xml" ContentType="application/vnd.openxmlformats-officedocument.drawingml.chart+xml"/>
  <Override PartName="/ppt/charts/chart90.xml" ContentType="application/vnd.openxmlformats-officedocument.drawingml.chart+xml"/>
  <Override PartName="/ppt/charts/chart91.xml" ContentType="application/vnd.openxmlformats-officedocument.drawingml.chart+xml"/>
  <Override PartName="/ppt/charts/chart92.xml" ContentType="application/vnd.openxmlformats-officedocument.drawingml.chart+xml"/>
  <Override PartName="/ppt/charts/chart93.xml" ContentType="application/vnd.openxmlformats-officedocument.drawingml.chart+xml"/>
  <Override PartName="/ppt/charts/chart94.xml" ContentType="application/vnd.openxmlformats-officedocument.drawingml.chart+xml"/>
  <Override PartName="/ppt/charts/chart95.xml" ContentType="application/vnd.openxmlformats-officedocument.drawingml.chart+xml"/>
  <Override PartName="/ppt/charts/chart96.xml" ContentType="application/vnd.openxmlformats-officedocument.drawingml.chart+xml"/>
  <Override PartName="/ppt/charts/chart97.xml" ContentType="application/vnd.openxmlformats-officedocument.drawingml.chart+xml"/>
  <Override PartName="/ppt/charts/chart98.xml" ContentType="application/vnd.openxmlformats-officedocument.drawingml.chart+xml"/>
  <Override PartName="/ppt/charts/chart99.xml" ContentType="application/vnd.openxmlformats-officedocument.drawingml.chart+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7"/>
    <p:sldId id="257" r:id="rId8"/>
    <p:sldId id="258" r:id="rId9"/>
    <p:sldId id="259" r:id="rId10"/>
    <p:sldId id="260" r:id="rId12"/>
    <p:sldId id="261" r:id="rId13"/>
    <p:sldId id="262" r:id="rId14"/>
    <p:sldId id="263" r:id="rId15"/>
    <p:sldId id="264" r:id="rId16"/>
    <p:sldId id="530" r:id="rId282"/>
    <p:sldId id="524" r:id="rId276"/>
    <p:sldId id="525" r:id="rId277"/>
    <p:sldId id="526" r:id="rId278"/>
    <p:sldId id="527" r:id="rId279"/>
    <p:sldId id="528" r:id="rId280"/>
    <p:sldId id="529" r:id="rId281"/>
    <p:sldId id="540" r:id="rId292"/>
    <p:sldId id="531" r:id="rId283"/>
    <p:sldId id="532" r:id="rId284"/>
    <p:sldId id="533" r:id="rId285"/>
    <p:sldId id="534" r:id="rId286"/>
    <p:sldId id="535" r:id="rId287"/>
    <p:sldId id="536" r:id="rId288"/>
    <p:sldId id="537" r:id="rId289"/>
    <p:sldId id="538" r:id="rId290"/>
    <p:sldId id="539" r:id="rId291"/>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 id="339" r:id="rId91"/>
    <p:sldId id="340" r:id="rId92"/>
    <p:sldId id="341" r:id="rId93"/>
    <p:sldId id="342" r:id="rId94"/>
    <p:sldId id="343" r:id="rId95"/>
    <p:sldId id="344" r:id="rId96"/>
    <p:sldId id="345" r:id="rId97"/>
    <p:sldId id="346" r:id="rId98"/>
    <p:sldId id="347" r:id="rId99"/>
    <p:sldId id="348" r:id="rId100"/>
    <p:sldId id="349" r:id="rId101"/>
    <p:sldId id="350" r:id="rId102"/>
    <p:sldId id="351" r:id="rId103"/>
    <p:sldId id="352" r:id="rId104"/>
    <p:sldId id="353" r:id="rId105"/>
    <p:sldId id="354" r:id="rId106"/>
    <p:sldId id="355" r:id="rId107"/>
    <p:sldId id="356" r:id="rId108"/>
    <p:sldId id="357" r:id="rId109"/>
    <p:sldId id="358" r:id="rId110"/>
    <p:sldId id="359" r:id="rId111"/>
    <p:sldId id="360" r:id="rId112"/>
    <p:sldId id="361" r:id="rId113"/>
    <p:sldId id="362" r:id="rId114"/>
    <p:sldId id="363" r:id="rId115"/>
    <p:sldId id="364" r:id="rId116"/>
    <p:sldId id="365" r:id="rId117"/>
    <p:sldId id="366" r:id="rId118"/>
    <p:sldId id="367" r:id="rId119"/>
    <p:sldId id="368" r:id="rId120"/>
    <p:sldId id="369" r:id="rId121"/>
    <p:sldId id="370" r:id="rId122"/>
    <p:sldId id="371" r:id="rId123"/>
    <p:sldId id="372" r:id="rId124"/>
    <p:sldId id="373" r:id="rId125"/>
    <p:sldId id="374" r:id="rId126"/>
    <p:sldId id="375" r:id="rId127"/>
    <p:sldId id="376" r:id="rId128"/>
    <p:sldId id="377" r:id="rId129"/>
    <p:sldId id="378" r:id="rId130"/>
    <p:sldId id="379" r:id="rId131"/>
    <p:sldId id="380" r:id="rId132"/>
    <p:sldId id="381" r:id="rId133"/>
    <p:sldId id="382" r:id="rId134"/>
    <p:sldId id="383" r:id="rId135"/>
    <p:sldId id="384" r:id="rId136"/>
    <p:sldId id="385" r:id="rId137"/>
    <p:sldId id="386" r:id="rId138"/>
    <p:sldId id="387" r:id="rId139"/>
    <p:sldId id="388" r:id="rId140"/>
    <p:sldId id="389" r:id="rId141"/>
    <p:sldId id="390" r:id="rId142"/>
    <p:sldId id="391" r:id="rId143"/>
    <p:sldId id="392" r:id="rId144"/>
    <p:sldId id="393" r:id="rId145"/>
    <p:sldId id="394" r:id="rId146"/>
    <p:sldId id="395" r:id="rId147"/>
    <p:sldId id="396" r:id="rId148"/>
    <p:sldId id="397" r:id="rId149"/>
    <p:sldId id="398" r:id="rId150"/>
    <p:sldId id="399" r:id="rId151"/>
    <p:sldId id="400" r:id="rId152"/>
    <p:sldId id="401" r:id="rId153"/>
    <p:sldId id="402" r:id="rId154"/>
    <p:sldId id="403" r:id="rId155"/>
    <p:sldId id="404" r:id="rId156"/>
    <p:sldId id="405" r:id="rId157"/>
    <p:sldId id="406" r:id="rId158"/>
    <p:sldId id="407" r:id="rId159"/>
    <p:sldId id="408" r:id="rId160"/>
    <p:sldId id="409" r:id="rId161"/>
    <p:sldId id="410" r:id="rId162"/>
    <p:sldId id="411" r:id="rId163"/>
    <p:sldId id="412" r:id="rId164"/>
    <p:sldId id="413" r:id="rId165"/>
    <p:sldId id="414" r:id="rId166"/>
    <p:sldId id="415" r:id="rId167"/>
    <p:sldId id="416" r:id="rId168"/>
    <p:sldId id="417" r:id="rId169"/>
    <p:sldId id="418" r:id="rId170"/>
    <p:sldId id="419" r:id="rId171"/>
    <p:sldId id="420" r:id="rId172"/>
    <p:sldId id="421" r:id="rId173"/>
    <p:sldId id="422" r:id="rId174"/>
    <p:sldId id="423" r:id="rId175"/>
    <p:sldId id="424" r:id="rId176"/>
    <p:sldId id="425" r:id="rId177"/>
    <p:sldId id="426" r:id="rId178"/>
    <p:sldId id="427" r:id="rId179"/>
    <p:sldId id="428" r:id="rId180"/>
    <p:sldId id="429" r:id="rId181"/>
    <p:sldId id="430" r:id="rId182"/>
    <p:sldId id="431" r:id="rId183"/>
    <p:sldId id="432" r:id="rId184"/>
    <p:sldId id="433" r:id="rId185"/>
    <p:sldId id="434" r:id="rId186"/>
    <p:sldId id="435" r:id="rId187"/>
    <p:sldId id="436" r:id="rId188"/>
    <p:sldId id="437" r:id="rId189"/>
    <p:sldId id="438" r:id="rId190"/>
    <p:sldId id="439" r:id="rId191"/>
    <p:sldId id="440" r:id="rId192"/>
    <p:sldId id="441" r:id="rId193"/>
    <p:sldId id="442" r:id="rId194"/>
    <p:sldId id="443" r:id="rId195"/>
    <p:sldId id="444" r:id="rId196"/>
    <p:sldId id="445" r:id="rId197"/>
    <p:sldId id="446" r:id="rId198"/>
    <p:sldId id="447" r:id="rId199"/>
    <p:sldId id="448" r:id="rId200"/>
    <p:sldId id="449" r:id="rId201"/>
    <p:sldId id="450" r:id="rId202"/>
    <p:sldId id="451" r:id="rId203"/>
    <p:sldId id="452" r:id="rId204"/>
    <p:sldId id="453" r:id="rId205"/>
    <p:sldId id="454" r:id="rId206"/>
    <p:sldId id="455" r:id="rId207"/>
    <p:sldId id="456" r:id="rId208"/>
    <p:sldId id="457" r:id="rId209"/>
    <p:sldId id="458" r:id="rId210"/>
    <p:sldId id="459" r:id="rId211"/>
    <p:sldId id="460" r:id="rId212"/>
    <p:sldId id="461" r:id="rId213"/>
    <p:sldId id="462" r:id="rId214"/>
    <p:sldId id="463" r:id="rId215"/>
    <p:sldId id="464" r:id="rId216"/>
    <p:sldId id="465" r:id="rId217"/>
    <p:sldId id="466" r:id="rId218"/>
    <p:sldId id="467" r:id="rId219"/>
    <p:sldId id="468" r:id="rId220"/>
    <p:sldId id="469" r:id="rId221"/>
    <p:sldId id="470" r:id="rId222"/>
    <p:sldId id="471" r:id="rId223"/>
    <p:sldId id="472" r:id="rId224"/>
    <p:sldId id="473" r:id="rId225"/>
    <p:sldId id="474" r:id="rId226"/>
    <p:sldId id="475" r:id="rId227"/>
    <p:sldId id="476" r:id="rId228"/>
    <p:sldId id="477" r:id="rId229"/>
    <p:sldId id="478" r:id="rId230"/>
    <p:sldId id="479" r:id="rId231"/>
    <p:sldId id="480" r:id="rId232"/>
    <p:sldId id="481" r:id="rId233"/>
    <p:sldId id="482" r:id="rId234"/>
    <p:sldId id="483" r:id="rId235"/>
    <p:sldId id="484" r:id="rId236"/>
    <p:sldId id="485" r:id="rId237"/>
    <p:sldId id="486" r:id="rId238"/>
    <p:sldId id="487" r:id="rId239"/>
    <p:sldId id="488" r:id="rId240"/>
    <p:sldId id="489" r:id="rId241"/>
    <p:sldId id="490" r:id="rId242"/>
    <p:sldId id="491" r:id="rId243"/>
    <p:sldId id="492" r:id="rId244"/>
    <p:sldId id="493" r:id="rId245"/>
    <p:sldId id="494" r:id="rId246"/>
    <p:sldId id="495" r:id="rId247"/>
    <p:sldId id="496" r:id="rId248"/>
    <p:sldId id="497" r:id="rId249"/>
    <p:sldId id="498" r:id="rId250"/>
    <p:sldId id="499" r:id="rId251"/>
    <p:sldId id="500" r:id="rId252"/>
    <p:sldId id="501" r:id="rId253"/>
    <p:sldId id="502" r:id="rId254"/>
    <p:sldId id="503" r:id="rId255"/>
    <p:sldId id="504" r:id="rId256"/>
    <p:sldId id="505" r:id="rId257"/>
    <p:sldId id="506" r:id="rId258"/>
    <p:sldId id="507" r:id="rId259"/>
    <p:sldId id="508" r:id="rId260"/>
    <p:sldId id="509" r:id="rId261"/>
    <p:sldId id="510" r:id="rId262"/>
    <p:sldId id="511" r:id="rId263"/>
    <p:sldId id="512" r:id="rId264"/>
    <p:sldId id="513" r:id="rId265"/>
    <p:sldId id="514" r:id="rId266"/>
    <p:sldId id="515" r:id="rId267"/>
    <p:sldId id="516" r:id="rId268"/>
    <p:sldId id="517" r:id="rId269"/>
    <p:sldId id="518" r:id="rId270"/>
    <p:sldId id="519" r:id="rId271"/>
    <p:sldId id="520" r:id="rId272"/>
    <p:sldId id="521" r:id="rId273"/>
    <p:sldId id="522" r:id="rId274"/>
    <p:sldId id="523" r:id="rId275"/>
  </p:sldIdLst>
  <p:sldSz cx="12192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124" d="100"/>
          <a:sy n="124" d="100"/>
        </p:scale>
        <p:origin x="-1512" y="-11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printerSettings" Target="printerSettings/printerSettings1.bin"/><Relationship Id="rId3" Type="http://schemas.openxmlformats.org/officeDocument/2006/relationships/presProps" Target="presProps.xml"/><Relationship Id="rId4" Type="http://schemas.openxmlformats.org/officeDocument/2006/relationships/viewProps" Target="viewProps.xml"/><Relationship Id="rId5" Type="http://schemas.openxmlformats.org/officeDocument/2006/relationships/theme" Target="theme/theme1.xml"/><Relationship Id="rId6" Type="http://schemas.openxmlformats.org/officeDocument/2006/relationships/tableStyles" Target="tableStyles.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notesMaster" Target="notesMasters/notesMaster1.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10.xml"/><Relationship Id="rId18" Type="http://schemas.openxmlformats.org/officeDocument/2006/relationships/slide" Target="slides/slide11.xml"/><Relationship Id="rId19" Type="http://schemas.openxmlformats.org/officeDocument/2006/relationships/slide" Target="slides/slide12.xml"/><Relationship Id="rId20" Type="http://schemas.openxmlformats.org/officeDocument/2006/relationships/slide" Target="slides/slide13.xml"/><Relationship Id="rId21" Type="http://schemas.openxmlformats.org/officeDocument/2006/relationships/slide" Target="slides/slide14.xml"/><Relationship Id="rId22" Type="http://schemas.openxmlformats.org/officeDocument/2006/relationships/slide" Target="slides/slide15.xml"/><Relationship Id="rId23" Type="http://schemas.openxmlformats.org/officeDocument/2006/relationships/slide" Target="slides/slide16.xml"/><Relationship Id="rId24" Type="http://schemas.openxmlformats.org/officeDocument/2006/relationships/slide" Target="slides/slide17.xml"/><Relationship Id="rId25" Type="http://schemas.openxmlformats.org/officeDocument/2006/relationships/slide" Target="slides/slide18.xml"/><Relationship Id="rId26" Type="http://schemas.openxmlformats.org/officeDocument/2006/relationships/slide" Target="slides/slide19.xml"/><Relationship Id="rId27" Type="http://schemas.openxmlformats.org/officeDocument/2006/relationships/slide" Target="slides/slide20.xml"/><Relationship Id="rId28" Type="http://schemas.openxmlformats.org/officeDocument/2006/relationships/slide" Target="slides/slide21.xml"/><Relationship Id="rId29" Type="http://schemas.openxmlformats.org/officeDocument/2006/relationships/slide" Target="slides/slide22.xml"/><Relationship Id="rId30" Type="http://schemas.openxmlformats.org/officeDocument/2006/relationships/slide" Target="slides/slide23.xml"/><Relationship Id="rId31" Type="http://schemas.openxmlformats.org/officeDocument/2006/relationships/slide" Target="slides/slide24.xml"/><Relationship Id="rId32" Type="http://schemas.openxmlformats.org/officeDocument/2006/relationships/slide" Target="slides/slide25.xml"/><Relationship Id="rId33" Type="http://schemas.openxmlformats.org/officeDocument/2006/relationships/slide" Target="slides/slide26.xml"/><Relationship Id="rId34" Type="http://schemas.openxmlformats.org/officeDocument/2006/relationships/slide" Target="slides/slide27.xml"/><Relationship Id="rId35" Type="http://schemas.openxmlformats.org/officeDocument/2006/relationships/slide" Target="slides/slide28.xml"/><Relationship Id="rId36" Type="http://schemas.openxmlformats.org/officeDocument/2006/relationships/slide" Target="slides/slide29.xml"/><Relationship Id="rId37" Type="http://schemas.openxmlformats.org/officeDocument/2006/relationships/slide" Target="slides/slide30.xml"/><Relationship Id="rId38" Type="http://schemas.openxmlformats.org/officeDocument/2006/relationships/slide" Target="slides/slide31.xml"/><Relationship Id="rId39" Type="http://schemas.openxmlformats.org/officeDocument/2006/relationships/slide" Target="slides/slide32.xml"/><Relationship Id="rId40" Type="http://schemas.openxmlformats.org/officeDocument/2006/relationships/slide" Target="slides/slide33.xml"/><Relationship Id="rId41" Type="http://schemas.openxmlformats.org/officeDocument/2006/relationships/slide" Target="slides/slide34.xml"/><Relationship Id="rId42" Type="http://schemas.openxmlformats.org/officeDocument/2006/relationships/slide" Target="slides/slide35.xml"/><Relationship Id="rId43" Type="http://schemas.openxmlformats.org/officeDocument/2006/relationships/slide" Target="slides/slide36.xml"/><Relationship Id="rId44" Type="http://schemas.openxmlformats.org/officeDocument/2006/relationships/slide" Target="slides/slide37.xml"/><Relationship Id="rId45" Type="http://schemas.openxmlformats.org/officeDocument/2006/relationships/slide" Target="slides/slide38.xml"/><Relationship Id="rId46" Type="http://schemas.openxmlformats.org/officeDocument/2006/relationships/slide" Target="slides/slide39.xml"/><Relationship Id="rId47" Type="http://schemas.openxmlformats.org/officeDocument/2006/relationships/slide" Target="slides/slide40.xml"/><Relationship Id="rId48" Type="http://schemas.openxmlformats.org/officeDocument/2006/relationships/slide" Target="slides/slide41.xml"/><Relationship Id="rId49" Type="http://schemas.openxmlformats.org/officeDocument/2006/relationships/slide" Target="slides/slide42.xml"/><Relationship Id="rId50" Type="http://schemas.openxmlformats.org/officeDocument/2006/relationships/slide" Target="slides/slide43.xml"/><Relationship Id="rId51" Type="http://schemas.openxmlformats.org/officeDocument/2006/relationships/slide" Target="slides/slide44.xml"/><Relationship Id="rId52" Type="http://schemas.openxmlformats.org/officeDocument/2006/relationships/slide" Target="slides/slide45.xml"/><Relationship Id="rId53" Type="http://schemas.openxmlformats.org/officeDocument/2006/relationships/slide" Target="slides/slide46.xml"/><Relationship Id="rId54" Type="http://schemas.openxmlformats.org/officeDocument/2006/relationships/slide" Target="slides/slide47.xml"/><Relationship Id="rId55" Type="http://schemas.openxmlformats.org/officeDocument/2006/relationships/slide" Target="slides/slide48.xml"/><Relationship Id="rId56" Type="http://schemas.openxmlformats.org/officeDocument/2006/relationships/slide" Target="slides/slide49.xml"/><Relationship Id="rId57" Type="http://schemas.openxmlformats.org/officeDocument/2006/relationships/slide" Target="slides/slide50.xml"/><Relationship Id="rId58" Type="http://schemas.openxmlformats.org/officeDocument/2006/relationships/slide" Target="slides/slide51.xml"/><Relationship Id="rId59" Type="http://schemas.openxmlformats.org/officeDocument/2006/relationships/slide" Target="slides/slide52.xml"/><Relationship Id="rId60" Type="http://schemas.openxmlformats.org/officeDocument/2006/relationships/slide" Target="slides/slide53.xml"/><Relationship Id="rId61" Type="http://schemas.openxmlformats.org/officeDocument/2006/relationships/slide" Target="slides/slide54.xml"/><Relationship Id="rId62" Type="http://schemas.openxmlformats.org/officeDocument/2006/relationships/slide" Target="slides/slide55.xml"/><Relationship Id="rId63" Type="http://schemas.openxmlformats.org/officeDocument/2006/relationships/slide" Target="slides/slide56.xml"/><Relationship Id="rId64" Type="http://schemas.openxmlformats.org/officeDocument/2006/relationships/slide" Target="slides/slide57.xml"/><Relationship Id="rId65" Type="http://schemas.openxmlformats.org/officeDocument/2006/relationships/slide" Target="slides/slide58.xml"/><Relationship Id="rId66" Type="http://schemas.openxmlformats.org/officeDocument/2006/relationships/slide" Target="slides/slide59.xml"/><Relationship Id="rId67" Type="http://schemas.openxmlformats.org/officeDocument/2006/relationships/slide" Target="slides/slide60.xml"/><Relationship Id="rId68" Type="http://schemas.openxmlformats.org/officeDocument/2006/relationships/slide" Target="slides/slide61.xml"/><Relationship Id="rId69" Type="http://schemas.openxmlformats.org/officeDocument/2006/relationships/slide" Target="slides/slide62.xml"/><Relationship Id="rId70" Type="http://schemas.openxmlformats.org/officeDocument/2006/relationships/slide" Target="slides/slide63.xml"/><Relationship Id="rId71" Type="http://schemas.openxmlformats.org/officeDocument/2006/relationships/slide" Target="slides/slide64.xml"/><Relationship Id="rId72" Type="http://schemas.openxmlformats.org/officeDocument/2006/relationships/slide" Target="slides/slide65.xml"/><Relationship Id="rId73" Type="http://schemas.openxmlformats.org/officeDocument/2006/relationships/slide" Target="slides/slide66.xml"/><Relationship Id="rId74" Type="http://schemas.openxmlformats.org/officeDocument/2006/relationships/slide" Target="slides/slide67.xml"/><Relationship Id="rId75" Type="http://schemas.openxmlformats.org/officeDocument/2006/relationships/slide" Target="slides/slide68.xml"/><Relationship Id="rId76" Type="http://schemas.openxmlformats.org/officeDocument/2006/relationships/slide" Target="slides/slide69.xml"/><Relationship Id="rId77" Type="http://schemas.openxmlformats.org/officeDocument/2006/relationships/slide" Target="slides/slide70.xml"/><Relationship Id="rId78" Type="http://schemas.openxmlformats.org/officeDocument/2006/relationships/slide" Target="slides/slide71.xml"/><Relationship Id="rId79" Type="http://schemas.openxmlformats.org/officeDocument/2006/relationships/slide" Target="slides/slide72.xml"/><Relationship Id="rId80" Type="http://schemas.openxmlformats.org/officeDocument/2006/relationships/slide" Target="slides/slide73.xml"/><Relationship Id="rId81" Type="http://schemas.openxmlformats.org/officeDocument/2006/relationships/slide" Target="slides/slide74.xml"/><Relationship Id="rId82" Type="http://schemas.openxmlformats.org/officeDocument/2006/relationships/slide" Target="slides/slide75.xml"/><Relationship Id="rId83" Type="http://schemas.openxmlformats.org/officeDocument/2006/relationships/slide" Target="slides/slide76.xml"/><Relationship Id="rId84" Type="http://schemas.openxmlformats.org/officeDocument/2006/relationships/slide" Target="slides/slide77.xml"/><Relationship Id="rId85" Type="http://schemas.openxmlformats.org/officeDocument/2006/relationships/slide" Target="slides/slide78.xml"/><Relationship Id="rId86" Type="http://schemas.openxmlformats.org/officeDocument/2006/relationships/slide" Target="slides/slide79.xml"/><Relationship Id="rId87" Type="http://schemas.openxmlformats.org/officeDocument/2006/relationships/slide" Target="slides/slide80.xml"/><Relationship Id="rId88" Type="http://schemas.openxmlformats.org/officeDocument/2006/relationships/slide" Target="slides/slide81.xml"/><Relationship Id="rId89" Type="http://schemas.openxmlformats.org/officeDocument/2006/relationships/slide" Target="slides/slide82.xml"/><Relationship Id="rId90" Type="http://schemas.openxmlformats.org/officeDocument/2006/relationships/slide" Target="slides/slide83.xml"/><Relationship Id="rId91" Type="http://schemas.openxmlformats.org/officeDocument/2006/relationships/slide" Target="slides/slide84.xml"/><Relationship Id="rId92" Type="http://schemas.openxmlformats.org/officeDocument/2006/relationships/slide" Target="slides/slide85.xml"/><Relationship Id="rId93" Type="http://schemas.openxmlformats.org/officeDocument/2006/relationships/slide" Target="slides/slide86.xml"/><Relationship Id="rId94" Type="http://schemas.openxmlformats.org/officeDocument/2006/relationships/slide" Target="slides/slide87.xml"/><Relationship Id="rId95" Type="http://schemas.openxmlformats.org/officeDocument/2006/relationships/slide" Target="slides/slide88.xml"/><Relationship Id="rId96" Type="http://schemas.openxmlformats.org/officeDocument/2006/relationships/slide" Target="slides/slide89.xml"/><Relationship Id="rId97" Type="http://schemas.openxmlformats.org/officeDocument/2006/relationships/slide" Target="slides/slide90.xml"/><Relationship Id="rId98" Type="http://schemas.openxmlformats.org/officeDocument/2006/relationships/slide" Target="slides/slide91.xml"/><Relationship Id="rId99" Type="http://schemas.openxmlformats.org/officeDocument/2006/relationships/slide" Target="slides/slide92.xml"/><Relationship Id="rId100" Type="http://schemas.openxmlformats.org/officeDocument/2006/relationships/slide" Target="slides/slide93.xml"/><Relationship Id="rId101" Type="http://schemas.openxmlformats.org/officeDocument/2006/relationships/slide" Target="slides/slide94.xml"/><Relationship Id="rId102" Type="http://schemas.openxmlformats.org/officeDocument/2006/relationships/slide" Target="slides/slide95.xml"/><Relationship Id="rId103" Type="http://schemas.openxmlformats.org/officeDocument/2006/relationships/slide" Target="slides/slide96.xml"/><Relationship Id="rId104" Type="http://schemas.openxmlformats.org/officeDocument/2006/relationships/slide" Target="slides/slide97.xml"/><Relationship Id="rId105" Type="http://schemas.openxmlformats.org/officeDocument/2006/relationships/slide" Target="slides/slide98.xml"/><Relationship Id="rId106" Type="http://schemas.openxmlformats.org/officeDocument/2006/relationships/slide" Target="slides/slide99.xml"/><Relationship Id="rId107" Type="http://schemas.openxmlformats.org/officeDocument/2006/relationships/slide" Target="slides/slide100.xml"/><Relationship Id="rId108" Type="http://schemas.openxmlformats.org/officeDocument/2006/relationships/slide" Target="slides/slide101.xml"/><Relationship Id="rId109" Type="http://schemas.openxmlformats.org/officeDocument/2006/relationships/slide" Target="slides/slide102.xml"/><Relationship Id="rId110" Type="http://schemas.openxmlformats.org/officeDocument/2006/relationships/slide" Target="slides/slide103.xml"/><Relationship Id="rId111" Type="http://schemas.openxmlformats.org/officeDocument/2006/relationships/slide" Target="slides/slide104.xml"/><Relationship Id="rId112" Type="http://schemas.openxmlformats.org/officeDocument/2006/relationships/slide" Target="slides/slide105.xml"/><Relationship Id="rId113" Type="http://schemas.openxmlformats.org/officeDocument/2006/relationships/slide" Target="slides/slide106.xml"/><Relationship Id="rId114" Type="http://schemas.openxmlformats.org/officeDocument/2006/relationships/slide" Target="slides/slide107.xml"/><Relationship Id="rId115" Type="http://schemas.openxmlformats.org/officeDocument/2006/relationships/slide" Target="slides/slide108.xml"/><Relationship Id="rId116" Type="http://schemas.openxmlformats.org/officeDocument/2006/relationships/slide" Target="slides/slide109.xml"/><Relationship Id="rId117" Type="http://schemas.openxmlformats.org/officeDocument/2006/relationships/slide" Target="slides/slide110.xml"/><Relationship Id="rId118" Type="http://schemas.openxmlformats.org/officeDocument/2006/relationships/slide" Target="slides/slide111.xml"/><Relationship Id="rId119" Type="http://schemas.openxmlformats.org/officeDocument/2006/relationships/slide" Target="slides/slide112.xml"/><Relationship Id="rId120" Type="http://schemas.openxmlformats.org/officeDocument/2006/relationships/slide" Target="slides/slide113.xml"/><Relationship Id="rId121" Type="http://schemas.openxmlformats.org/officeDocument/2006/relationships/slide" Target="slides/slide114.xml"/><Relationship Id="rId122" Type="http://schemas.openxmlformats.org/officeDocument/2006/relationships/slide" Target="slides/slide115.xml"/><Relationship Id="rId123" Type="http://schemas.openxmlformats.org/officeDocument/2006/relationships/slide" Target="slides/slide116.xml"/><Relationship Id="rId124" Type="http://schemas.openxmlformats.org/officeDocument/2006/relationships/slide" Target="slides/slide117.xml"/><Relationship Id="rId125" Type="http://schemas.openxmlformats.org/officeDocument/2006/relationships/slide" Target="slides/slide118.xml"/><Relationship Id="rId126" Type="http://schemas.openxmlformats.org/officeDocument/2006/relationships/slide" Target="slides/slide119.xml"/><Relationship Id="rId127" Type="http://schemas.openxmlformats.org/officeDocument/2006/relationships/slide" Target="slides/slide120.xml"/><Relationship Id="rId128" Type="http://schemas.openxmlformats.org/officeDocument/2006/relationships/slide" Target="slides/slide121.xml"/><Relationship Id="rId129" Type="http://schemas.openxmlformats.org/officeDocument/2006/relationships/slide" Target="slides/slide122.xml"/><Relationship Id="rId130" Type="http://schemas.openxmlformats.org/officeDocument/2006/relationships/slide" Target="slides/slide123.xml"/><Relationship Id="rId131" Type="http://schemas.openxmlformats.org/officeDocument/2006/relationships/slide" Target="slides/slide124.xml"/><Relationship Id="rId132" Type="http://schemas.openxmlformats.org/officeDocument/2006/relationships/slide" Target="slides/slide125.xml"/><Relationship Id="rId133" Type="http://schemas.openxmlformats.org/officeDocument/2006/relationships/slide" Target="slides/slide126.xml"/><Relationship Id="rId134" Type="http://schemas.openxmlformats.org/officeDocument/2006/relationships/slide" Target="slides/slide127.xml"/><Relationship Id="rId135" Type="http://schemas.openxmlformats.org/officeDocument/2006/relationships/slide" Target="slides/slide128.xml"/><Relationship Id="rId136" Type="http://schemas.openxmlformats.org/officeDocument/2006/relationships/slide" Target="slides/slide129.xml"/><Relationship Id="rId137" Type="http://schemas.openxmlformats.org/officeDocument/2006/relationships/slide" Target="slides/slide130.xml"/><Relationship Id="rId138" Type="http://schemas.openxmlformats.org/officeDocument/2006/relationships/slide" Target="slides/slide131.xml"/><Relationship Id="rId139" Type="http://schemas.openxmlformats.org/officeDocument/2006/relationships/slide" Target="slides/slide132.xml"/><Relationship Id="rId140" Type="http://schemas.openxmlformats.org/officeDocument/2006/relationships/slide" Target="slides/slide133.xml"/><Relationship Id="rId141" Type="http://schemas.openxmlformats.org/officeDocument/2006/relationships/slide" Target="slides/slide134.xml"/><Relationship Id="rId142" Type="http://schemas.openxmlformats.org/officeDocument/2006/relationships/slide" Target="slides/slide135.xml"/><Relationship Id="rId143" Type="http://schemas.openxmlformats.org/officeDocument/2006/relationships/slide" Target="slides/slide136.xml"/><Relationship Id="rId144" Type="http://schemas.openxmlformats.org/officeDocument/2006/relationships/slide" Target="slides/slide137.xml"/><Relationship Id="rId145" Type="http://schemas.openxmlformats.org/officeDocument/2006/relationships/slide" Target="slides/slide138.xml"/><Relationship Id="rId146" Type="http://schemas.openxmlformats.org/officeDocument/2006/relationships/slide" Target="slides/slide139.xml"/><Relationship Id="rId147" Type="http://schemas.openxmlformats.org/officeDocument/2006/relationships/slide" Target="slides/slide140.xml"/><Relationship Id="rId148" Type="http://schemas.openxmlformats.org/officeDocument/2006/relationships/slide" Target="slides/slide141.xml"/><Relationship Id="rId149" Type="http://schemas.openxmlformats.org/officeDocument/2006/relationships/slide" Target="slides/slide142.xml"/><Relationship Id="rId150" Type="http://schemas.openxmlformats.org/officeDocument/2006/relationships/slide" Target="slides/slide143.xml"/><Relationship Id="rId151" Type="http://schemas.openxmlformats.org/officeDocument/2006/relationships/slide" Target="slides/slide144.xml"/><Relationship Id="rId152" Type="http://schemas.openxmlformats.org/officeDocument/2006/relationships/slide" Target="slides/slide145.xml"/><Relationship Id="rId153" Type="http://schemas.openxmlformats.org/officeDocument/2006/relationships/slide" Target="slides/slide146.xml"/><Relationship Id="rId154" Type="http://schemas.openxmlformats.org/officeDocument/2006/relationships/slide" Target="slides/slide147.xml"/><Relationship Id="rId155" Type="http://schemas.openxmlformats.org/officeDocument/2006/relationships/slide" Target="slides/slide148.xml"/><Relationship Id="rId156" Type="http://schemas.openxmlformats.org/officeDocument/2006/relationships/slide" Target="slides/slide149.xml"/><Relationship Id="rId157" Type="http://schemas.openxmlformats.org/officeDocument/2006/relationships/slide" Target="slides/slide150.xml"/><Relationship Id="rId158" Type="http://schemas.openxmlformats.org/officeDocument/2006/relationships/slide" Target="slides/slide151.xml"/><Relationship Id="rId159" Type="http://schemas.openxmlformats.org/officeDocument/2006/relationships/slide" Target="slides/slide152.xml"/><Relationship Id="rId160" Type="http://schemas.openxmlformats.org/officeDocument/2006/relationships/slide" Target="slides/slide153.xml"/><Relationship Id="rId161" Type="http://schemas.openxmlformats.org/officeDocument/2006/relationships/slide" Target="slides/slide154.xml"/><Relationship Id="rId162" Type="http://schemas.openxmlformats.org/officeDocument/2006/relationships/slide" Target="slides/slide155.xml"/><Relationship Id="rId163" Type="http://schemas.openxmlformats.org/officeDocument/2006/relationships/slide" Target="slides/slide156.xml"/><Relationship Id="rId164" Type="http://schemas.openxmlformats.org/officeDocument/2006/relationships/slide" Target="slides/slide157.xml"/><Relationship Id="rId165" Type="http://schemas.openxmlformats.org/officeDocument/2006/relationships/slide" Target="slides/slide158.xml"/><Relationship Id="rId166" Type="http://schemas.openxmlformats.org/officeDocument/2006/relationships/slide" Target="slides/slide159.xml"/><Relationship Id="rId167" Type="http://schemas.openxmlformats.org/officeDocument/2006/relationships/slide" Target="slides/slide160.xml"/><Relationship Id="rId168" Type="http://schemas.openxmlformats.org/officeDocument/2006/relationships/slide" Target="slides/slide161.xml"/><Relationship Id="rId169" Type="http://schemas.openxmlformats.org/officeDocument/2006/relationships/slide" Target="slides/slide162.xml"/><Relationship Id="rId170" Type="http://schemas.openxmlformats.org/officeDocument/2006/relationships/slide" Target="slides/slide163.xml"/><Relationship Id="rId171" Type="http://schemas.openxmlformats.org/officeDocument/2006/relationships/slide" Target="slides/slide164.xml"/><Relationship Id="rId172" Type="http://schemas.openxmlformats.org/officeDocument/2006/relationships/slide" Target="slides/slide165.xml"/><Relationship Id="rId173" Type="http://schemas.openxmlformats.org/officeDocument/2006/relationships/slide" Target="slides/slide166.xml"/><Relationship Id="rId174" Type="http://schemas.openxmlformats.org/officeDocument/2006/relationships/slide" Target="slides/slide167.xml"/><Relationship Id="rId175" Type="http://schemas.openxmlformats.org/officeDocument/2006/relationships/slide" Target="slides/slide168.xml"/><Relationship Id="rId176" Type="http://schemas.openxmlformats.org/officeDocument/2006/relationships/slide" Target="slides/slide169.xml"/><Relationship Id="rId177" Type="http://schemas.openxmlformats.org/officeDocument/2006/relationships/slide" Target="slides/slide170.xml"/><Relationship Id="rId178" Type="http://schemas.openxmlformats.org/officeDocument/2006/relationships/slide" Target="slides/slide171.xml"/><Relationship Id="rId179" Type="http://schemas.openxmlformats.org/officeDocument/2006/relationships/slide" Target="slides/slide172.xml"/><Relationship Id="rId180" Type="http://schemas.openxmlformats.org/officeDocument/2006/relationships/slide" Target="slides/slide173.xml"/><Relationship Id="rId181" Type="http://schemas.openxmlformats.org/officeDocument/2006/relationships/slide" Target="slides/slide174.xml"/><Relationship Id="rId182" Type="http://schemas.openxmlformats.org/officeDocument/2006/relationships/slide" Target="slides/slide175.xml"/><Relationship Id="rId183" Type="http://schemas.openxmlformats.org/officeDocument/2006/relationships/slide" Target="slides/slide176.xml"/><Relationship Id="rId184" Type="http://schemas.openxmlformats.org/officeDocument/2006/relationships/slide" Target="slides/slide177.xml"/><Relationship Id="rId185" Type="http://schemas.openxmlformats.org/officeDocument/2006/relationships/slide" Target="slides/slide178.xml"/><Relationship Id="rId186" Type="http://schemas.openxmlformats.org/officeDocument/2006/relationships/slide" Target="slides/slide179.xml"/><Relationship Id="rId187" Type="http://schemas.openxmlformats.org/officeDocument/2006/relationships/slide" Target="slides/slide180.xml"/><Relationship Id="rId188" Type="http://schemas.openxmlformats.org/officeDocument/2006/relationships/slide" Target="slides/slide181.xml"/><Relationship Id="rId189" Type="http://schemas.openxmlformats.org/officeDocument/2006/relationships/slide" Target="slides/slide182.xml"/><Relationship Id="rId190" Type="http://schemas.openxmlformats.org/officeDocument/2006/relationships/slide" Target="slides/slide183.xml"/><Relationship Id="rId191" Type="http://schemas.openxmlformats.org/officeDocument/2006/relationships/slide" Target="slides/slide184.xml"/><Relationship Id="rId192" Type="http://schemas.openxmlformats.org/officeDocument/2006/relationships/slide" Target="slides/slide185.xml"/><Relationship Id="rId193" Type="http://schemas.openxmlformats.org/officeDocument/2006/relationships/slide" Target="slides/slide186.xml"/><Relationship Id="rId194" Type="http://schemas.openxmlformats.org/officeDocument/2006/relationships/slide" Target="slides/slide187.xml"/><Relationship Id="rId195" Type="http://schemas.openxmlformats.org/officeDocument/2006/relationships/slide" Target="slides/slide188.xml"/><Relationship Id="rId196" Type="http://schemas.openxmlformats.org/officeDocument/2006/relationships/slide" Target="slides/slide189.xml"/><Relationship Id="rId197" Type="http://schemas.openxmlformats.org/officeDocument/2006/relationships/slide" Target="slides/slide190.xml"/><Relationship Id="rId198" Type="http://schemas.openxmlformats.org/officeDocument/2006/relationships/slide" Target="slides/slide191.xml"/><Relationship Id="rId199" Type="http://schemas.openxmlformats.org/officeDocument/2006/relationships/slide" Target="slides/slide192.xml"/><Relationship Id="rId200" Type="http://schemas.openxmlformats.org/officeDocument/2006/relationships/slide" Target="slides/slide193.xml"/><Relationship Id="rId201" Type="http://schemas.openxmlformats.org/officeDocument/2006/relationships/slide" Target="slides/slide194.xml"/><Relationship Id="rId202" Type="http://schemas.openxmlformats.org/officeDocument/2006/relationships/slide" Target="slides/slide195.xml"/><Relationship Id="rId203" Type="http://schemas.openxmlformats.org/officeDocument/2006/relationships/slide" Target="slides/slide196.xml"/><Relationship Id="rId204" Type="http://schemas.openxmlformats.org/officeDocument/2006/relationships/slide" Target="slides/slide197.xml"/><Relationship Id="rId205" Type="http://schemas.openxmlformats.org/officeDocument/2006/relationships/slide" Target="slides/slide198.xml"/><Relationship Id="rId206" Type="http://schemas.openxmlformats.org/officeDocument/2006/relationships/slide" Target="slides/slide199.xml"/><Relationship Id="rId207" Type="http://schemas.openxmlformats.org/officeDocument/2006/relationships/slide" Target="slides/slide200.xml"/><Relationship Id="rId208" Type="http://schemas.openxmlformats.org/officeDocument/2006/relationships/slide" Target="slides/slide201.xml"/><Relationship Id="rId209" Type="http://schemas.openxmlformats.org/officeDocument/2006/relationships/slide" Target="slides/slide202.xml"/><Relationship Id="rId210" Type="http://schemas.openxmlformats.org/officeDocument/2006/relationships/slide" Target="slides/slide203.xml"/><Relationship Id="rId211" Type="http://schemas.openxmlformats.org/officeDocument/2006/relationships/slide" Target="slides/slide204.xml"/><Relationship Id="rId212" Type="http://schemas.openxmlformats.org/officeDocument/2006/relationships/slide" Target="slides/slide205.xml"/><Relationship Id="rId213" Type="http://schemas.openxmlformats.org/officeDocument/2006/relationships/slide" Target="slides/slide206.xml"/><Relationship Id="rId214" Type="http://schemas.openxmlformats.org/officeDocument/2006/relationships/slide" Target="slides/slide207.xml"/><Relationship Id="rId215" Type="http://schemas.openxmlformats.org/officeDocument/2006/relationships/slide" Target="slides/slide208.xml"/><Relationship Id="rId216" Type="http://schemas.openxmlformats.org/officeDocument/2006/relationships/slide" Target="slides/slide209.xml"/><Relationship Id="rId217" Type="http://schemas.openxmlformats.org/officeDocument/2006/relationships/slide" Target="slides/slide210.xml"/><Relationship Id="rId218" Type="http://schemas.openxmlformats.org/officeDocument/2006/relationships/slide" Target="slides/slide211.xml"/><Relationship Id="rId219" Type="http://schemas.openxmlformats.org/officeDocument/2006/relationships/slide" Target="slides/slide212.xml"/><Relationship Id="rId220" Type="http://schemas.openxmlformats.org/officeDocument/2006/relationships/slide" Target="slides/slide213.xml"/><Relationship Id="rId221" Type="http://schemas.openxmlformats.org/officeDocument/2006/relationships/slide" Target="slides/slide214.xml"/><Relationship Id="rId222" Type="http://schemas.openxmlformats.org/officeDocument/2006/relationships/slide" Target="slides/slide215.xml"/><Relationship Id="rId223" Type="http://schemas.openxmlformats.org/officeDocument/2006/relationships/slide" Target="slides/slide216.xml"/><Relationship Id="rId224" Type="http://schemas.openxmlformats.org/officeDocument/2006/relationships/slide" Target="slides/slide217.xml"/><Relationship Id="rId225" Type="http://schemas.openxmlformats.org/officeDocument/2006/relationships/slide" Target="slides/slide218.xml"/><Relationship Id="rId226" Type="http://schemas.openxmlformats.org/officeDocument/2006/relationships/slide" Target="slides/slide219.xml"/><Relationship Id="rId227" Type="http://schemas.openxmlformats.org/officeDocument/2006/relationships/slide" Target="slides/slide220.xml"/><Relationship Id="rId228" Type="http://schemas.openxmlformats.org/officeDocument/2006/relationships/slide" Target="slides/slide221.xml"/><Relationship Id="rId229" Type="http://schemas.openxmlformats.org/officeDocument/2006/relationships/slide" Target="slides/slide222.xml"/><Relationship Id="rId230" Type="http://schemas.openxmlformats.org/officeDocument/2006/relationships/slide" Target="slides/slide223.xml"/><Relationship Id="rId231" Type="http://schemas.openxmlformats.org/officeDocument/2006/relationships/slide" Target="slides/slide224.xml"/><Relationship Id="rId232" Type="http://schemas.openxmlformats.org/officeDocument/2006/relationships/slide" Target="slides/slide225.xml"/><Relationship Id="rId233" Type="http://schemas.openxmlformats.org/officeDocument/2006/relationships/slide" Target="slides/slide226.xml"/><Relationship Id="rId234" Type="http://schemas.openxmlformats.org/officeDocument/2006/relationships/slide" Target="slides/slide227.xml"/><Relationship Id="rId235" Type="http://schemas.openxmlformats.org/officeDocument/2006/relationships/slide" Target="slides/slide228.xml"/><Relationship Id="rId236" Type="http://schemas.openxmlformats.org/officeDocument/2006/relationships/slide" Target="slides/slide229.xml"/><Relationship Id="rId237" Type="http://schemas.openxmlformats.org/officeDocument/2006/relationships/slide" Target="slides/slide230.xml"/><Relationship Id="rId238" Type="http://schemas.openxmlformats.org/officeDocument/2006/relationships/slide" Target="slides/slide231.xml"/><Relationship Id="rId239" Type="http://schemas.openxmlformats.org/officeDocument/2006/relationships/slide" Target="slides/slide232.xml"/><Relationship Id="rId240" Type="http://schemas.openxmlformats.org/officeDocument/2006/relationships/slide" Target="slides/slide233.xml"/><Relationship Id="rId241" Type="http://schemas.openxmlformats.org/officeDocument/2006/relationships/slide" Target="slides/slide234.xml"/><Relationship Id="rId242" Type="http://schemas.openxmlformats.org/officeDocument/2006/relationships/slide" Target="slides/slide235.xml"/><Relationship Id="rId243" Type="http://schemas.openxmlformats.org/officeDocument/2006/relationships/slide" Target="slides/slide236.xml"/><Relationship Id="rId244" Type="http://schemas.openxmlformats.org/officeDocument/2006/relationships/slide" Target="slides/slide237.xml"/><Relationship Id="rId245" Type="http://schemas.openxmlformats.org/officeDocument/2006/relationships/slide" Target="slides/slide238.xml"/><Relationship Id="rId246" Type="http://schemas.openxmlformats.org/officeDocument/2006/relationships/slide" Target="slides/slide239.xml"/><Relationship Id="rId247" Type="http://schemas.openxmlformats.org/officeDocument/2006/relationships/slide" Target="slides/slide240.xml"/><Relationship Id="rId248" Type="http://schemas.openxmlformats.org/officeDocument/2006/relationships/slide" Target="slides/slide241.xml"/><Relationship Id="rId249" Type="http://schemas.openxmlformats.org/officeDocument/2006/relationships/slide" Target="slides/slide242.xml"/><Relationship Id="rId250" Type="http://schemas.openxmlformats.org/officeDocument/2006/relationships/slide" Target="slides/slide243.xml"/><Relationship Id="rId251" Type="http://schemas.openxmlformats.org/officeDocument/2006/relationships/slide" Target="slides/slide244.xml"/><Relationship Id="rId252" Type="http://schemas.openxmlformats.org/officeDocument/2006/relationships/slide" Target="slides/slide245.xml"/><Relationship Id="rId253" Type="http://schemas.openxmlformats.org/officeDocument/2006/relationships/slide" Target="slides/slide246.xml"/><Relationship Id="rId254" Type="http://schemas.openxmlformats.org/officeDocument/2006/relationships/slide" Target="slides/slide247.xml"/><Relationship Id="rId255" Type="http://schemas.openxmlformats.org/officeDocument/2006/relationships/slide" Target="slides/slide248.xml"/><Relationship Id="rId256" Type="http://schemas.openxmlformats.org/officeDocument/2006/relationships/slide" Target="slides/slide249.xml"/><Relationship Id="rId257" Type="http://schemas.openxmlformats.org/officeDocument/2006/relationships/slide" Target="slides/slide250.xml"/><Relationship Id="rId258" Type="http://schemas.openxmlformats.org/officeDocument/2006/relationships/slide" Target="slides/slide251.xml"/><Relationship Id="rId259" Type="http://schemas.openxmlformats.org/officeDocument/2006/relationships/slide" Target="slides/slide252.xml"/><Relationship Id="rId260" Type="http://schemas.openxmlformats.org/officeDocument/2006/relationships/slide" Target="slides/slide253.xml"/><Relationship Id="rId261" Type="http://schemas.openxmlformats.org/officeDocument/2006/relationships/slide" Target="slides/slide254.xml"/><Relationship Id="rId262" Type="http://schemas.openxmlformats.org/officeDocument/2006/relationships/slide" Target="slides/slide255.xml"/><Relationship Id="rId263" Type="http://schemas.openxmlformats.org/officeDocument/2006/relationships/slide" Target="slides/slide256.xml"/><Relationship Id="rId264" Type="http://schemas.openxmlformats.org/officeDocument/2006/relationships/slide" Target="slides/slide257.xml"/><Relationship Id="rId265" Type="http://schemas.openxmlformats.org/officeDocument/2006/relationships/slide" Target="slides/slide258.xml"/><Relationship Id="rId266" Type="http://schemas.openxmlformats.org/officeDocument/2006/relationships/slide" Target="slides/slide259.xml"/><Relationship Id="rId267" Type="http://schemas.openxmlformats.org/officeDocument/2006/relationships/slide" Target="slides/slide260.xml"/><Relationship Id="rId268" Type="http://schemas.openxmlformats.org/officeDocument/2006/relationships/slide" Target="slides/slide261.xml"/><Relationship Id="rId269" Type="http://schemas.openxmlformats.org/officeDocument/2006/relationships/slide" Target="slides/slide262.xml"/><Relationship Id="rId270" Type="http://schemas.openxmlformats.org/officeDocument/2006/relationships/slide" Target="slides/slide263.xml"/><Relationship Id="rId271" Type="http://schemas.openxmlformats.org/officeDocument/2006/relationships/slide" Target="slides/slide264.xml"/><Relationship Id="rId272" Type="http://schemas.openxmlformats.org/officeDocument/2006/relationships/slide" Target="slides/slide265.xml"/><Relationship Id="rId273" Type="http://schemas.openxmlformats.org/officeDocument/2006/relationships/slide" Target="slides/slide266.xml"/><Relationship Id="rId274" Type="http://schemas.openxmlformats.org/officeDocument/2006/relationships/slide" Target="slides/slide267.xml"/><Relationship Id="rId275" Type="http://schemas.openxmlformats.org/officeDocument/2006/relationships/slide" Target="slides/slide268.xml"/><Relationship Id="rId276" Type="http://schemas.openxmlformats.org/officeDocument/2006/relationships/slide" Target="slides/slide269.xml"/><Relationship Id="rId277" Type="http://schemas.openxmlformats.org/officeDocument/2006/relationships/slide" Target="slides/slide270.xml"/><Relationship Id="rId278" Type="http://schemas.openxmlformats.org/officeDocument/2006/relationships/slide" Target="slides/slide271.xml"/><Relationship Id="rId279" Type="http://schemas.openxmlformats.org/officeDocument/2006/relationships/slide" Target="slides/slide272.xml"/><Relationship Id="rId280" Type="http://schemas.openxmlformats.org/officeDocument/2006/relationships/slide" Target="slides/slide273.xml"/><Relationship Id="rId281" Type="http://schemas.openxmlformats.org/officeDocument/2006/relationships/slide" Target="slides/slide274.xml"/><Relationship Id="rId282" Type="http://schemas.openxmlformats.org/officeDocument/2006/relationships/slide" Target="slides/slide275.xml"/><Relationship Id="rId283" Type="http://schemas.openxmlformats.org/officeDocument/2006/relationships/slide" Target="slides/slide276.xml"/><Relationship Id="rId284" Type="http://schemas.openxmlformats.org/officeDocument/2006/relationships/slide" Target="slides/slide277.xml"/><Relationship Id="rId285" Type="http://schemas.openxmlformats.org/officeDocument/2006/relationships/slide" Target="slides/slide278.xml"/><Relationship Id="rId286" Type="http://schemas.openxmlformats.org/officeDocument/2006/relationships/slide" Target="slides/slide279.xml"/><Relationship Id="rId287" Type="http://schemas.openxmlformats.org/officeDocument/2006/relationships/slide" Target="slides/slide280.xml"/><Relationship Id="rId288" Type="http://schemas.openxmlformats.org/officeDocument/2006/relationships/slide" Target="slides/slide281.xml"/><Relationship Id="rId289" Type="http://schemas.openxmlformats.org/officeDocument/2006/relationships/slide" Target="slides/slide282.xml"/><Relationship Id="rId290" Type="http://schemas.openxmlformats.org/officeDocument/2006/relationships/slide" Target="slides/slide283.xml"/><Relationship Id="rId291" Type="http://schemas.openxmlformats.org/officeDocument/2006/relationships/slide" Target="slides/slide284.xml"/><Relationship Id="rId292" Type="http://schemas.openxmlformats.org/officeDocument/2006/relationships/slide" Target="slides/slide285.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Sheet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Sheet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Sheet3.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Sheet4.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Sheet5.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Sheet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Sheet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Sheet8.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Sheet9.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Sheet10.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Sheet11.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Sheet12.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Sheet13.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Sheet14.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Sheet15.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Sheet16.xlsx"/></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Sheet17.xlsx"/></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Sheet18.xlsx"/></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Sheet19.xlsx"/></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Sheet20.xlsx"/></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Sheet21.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Sheet22.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Sheet23.xlsx"/></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Sheet24.xlsx"/></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Sheet25.xlsx"/></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Sheet26.xlsx"/></Relationships>
</file>

<file path=ppt/charts/_rels/chart27.xml.rels><?xml version='1.0' encoding='UTF-8' standalone='yes'?>
<Relationships xmlns="http://schemas.openxmlformats.org/package/2006/relationships"><Relationship Id="rId1" Type="http://schemas.openxmlformats.org/officeDocument/2006/relationships/package" Target="../embeddings/Microsoft_Excel_Sheet27.xlsx"/></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Excel_Sheet28.xlsx"/></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Excel_Sheet29.xlsx"/></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Excel_Sheet30.xlsx"/></Relationships>
</file>

<file path=ppt/charts/_rels/chart31.xml.rels><?xml version='1.0' encoding='UTF-8' standalone='yes'?>
<Relationships xmlns="http://schemas.openxmlformats.org/package/2006/relationships"><Relationship Id="rId1" Type="http://schemas.openxmlformats.org/officeDocument/2006/relationships/package" Target="../embeddings/Microsoft_Excel_Sheet31.xlsx"/></Relationships>
</file>

<file path=ppt/charts/_rels/chart32.xml.rels><?xml version='1.0' encoding='UTF-8' standalone='yes'?>
<Relationships xmlns="http://schemas.openxmlformats.org/package/2006/relationships"><Relationship Id="rId1" Type="http://schemas.openxmlformats.org/officeDocument/2006/relationships/package" Target="../embeddings/Microsoft_Excel_Sheet32.xlsx"/></Relationships>
</file>

<file path=ppt/charts/_rels/chart33.xml.rels><?xml version='1.0' encoding='UTF-8' standalone='yes'?>
<Relationships xmlns="http://schemas.openxmlformats.org/package/2006/relationships"><Relationship Id="rId1" Type="http://schemas.openxmlformats.org/officeDocument/2006/relationships/package" Target="../embeddings/Microsoft_Excel_Sheet33.xlsx"/></Relationships>
</file>

<file path=ppt/charts/_rels/chart34.xml.rels><?xml version='1.0' encoding='UTF-8' standalone='yes'?>
<Relationships xmlns="http://schemas.openxmlformats.org/package/2006/relationships"><Relationship Id="rId1" Type="http://schemas.openxmlformats.org/officeDocument/2006/relationships/package" Target="../embeddings/Microsoft_Excel_Sheet34.xlsx"/></Relationships>
</file>

<file path=ppt/charts/_rels/chart35.xml.rels><?xml version='1.0' encoding='UTF-8' standalone='yes'?>
<Relationships xmlns="http://schemas.openxmlformats.org/package/2006/relationships"><Relationship Id="rId1" Type="http://schemas.openxmlformats.org/officeDocument/2006/relationships/package" Target="../embeddings/Microsoft_Excel_Sheet35.xlsx"/></Relationships>
</file>

<file path=ppt/charts/_rels/chart36.xml.rels><?xml version='1.0' encoding='UTF-8' standalone='yes'?>
<Relationships xmlns="http://schemas.openxmlformats.org/package/2006/relationships"><Relationship Id="rId1" Type="http://schemas.openxmlformats.org/officeDocument/2006/relationships/package" Target="../embeddings/Microsoft_Excel_Sheet36.xlsx"/></Relationships>
</file>

<file path=ppt/charts/_rels/chart37.xml.rels><?xml version='1.0' encoding='UTF-8' standalone='yes'?>
<Relationships xmlns="http://schemas.openxmlformats.org/package/2006/relationships"><Relationship Id="rId1" Type="http://schemas.openxmlformats.org/officeDocument/2006/relationships/package" Target="../embeddings/Microsoft_Excel_Sheet37.xlsx"/></Relationships>
</file>

<file path=ppt/charts/_rels/chart38.xml.rels><?xml version='1.0' encoding='UTF-8' standalone='yes'?>
<Relationships xmlns="http://schemas.openxmlformats.org/package/2006/relationships"><Relationship Id="rId1" Type="http://schemas.openxmlformats.org/officeDocument/2006/relationships/package" Target="../embeddings/Microsoft_Excel_Sheet38.xlsx"/></Relationships>
</file>

<file path=ppt/charts/_rels/chart39.xml.rels><?xml version='1.0' encoding='UTF-8' standalone='yes'?>
<Relationships xmlns="http://schemas.openxmlformats.org/package/2006/relationships"><Relationship Id="rId1" Type="http://schemas.openxmlformats.org/officeDocument/2006/relationships/package" Target="../embeddings/Microsoft_Excel_Sheet39.xlsx"/></Relationships>
</file>

<file path=ppt/charts/_rels/chart40.xml.rels><?xml version='1.0' encoding='UTF-8' standalone='yes'?>
<Relationships xmlns="http://schemas.openxmlformats.org/package/2006/relationships"><Relationship Id="rId1" Type="http://schemas.openxmlformats.org/officeDocument/2006/relationships/package" Target="../embeddings/Microsoft_Excel_Sheet40.xlsx"/></Relationships>
</file>

<file path=ppt/charts/_rels/chart41.xml.rels><?xml version='1.0' encoding='UTF-8' standalone='yes'?>
<Relationships xmlns="http://schemas.openxmlformats.org/package/2006/relationships"><Relationship Id="rId1" Type="http://schemas.openxmlformats.org/officeDocument/2006/relationships/package" Target="../embeddings/Microsoft_Excel_Sheet41.xlsx"/></Relationships>
</file>

<file path=ppt/charts/_rels/chart42.xml.rels><?xml version='1.0' encoding='UTF-8' standalone='yes'?>
<Relationships xmlns="http://schemas.openxmlformats.org/package/2006/relationships"><Relationship Id="rId1" Type="http://schemas.openxmlformats.org/officeDocument/2006/relationships/package" Target="../embeddings/Microsoft_Excel_Sheet42.xlsx"/></Relationships>
</file>

<file path=ppt/charts/_rels/chart43.xml.rels><?xml version='1.0' encoding='UTF-8' standalone='yes'?>
<Relationships xmlns="http://schemas.openxmlformats.org/package/2006/relationships"><Relationship Id="rId1" Type="http://schemas.openxmlformats.org/officeDocument/2006/relationships/package" Target="../embeddings/Microsoft_Excel_Sheet43.xlsx"/></Relationships>
</file>

<file path=ppt/charts/_rels/chart44.xml.rels><?xml version='1.0' encoding='UTF-8' standalone='yes'?>
<Relationships xmlns="http://schemas.openxmlformats.org/package/2006/relationships"><Relationship Id="rId1" Type="http://schemas.openxmlformats.org/officeDocument/2006/relationships/package" Target="../embeddings/Microsoft_Excel_Sheet44.xlsx"/></Relationships>
</file>

<file path=ppt/charts/_rels/chart45.xml.rels><?xml version='1.0' encoding='UTF-8' standalone='yes'?>
<Relationships xmlns="http://schemas.openxmlformats.org/package/2006/relationships"><Relationship Id="rId1" Type="http://schemas.openxmlformats.org/officeDocument/2006/relationships/package" Target="../embeddings/Microsoft_Excel_Sheet45.xlsx"/></Relationships>
</file>

<file path=ppt/charts/_rels/chart46.xml.rels><?xml version='1.0' encoding='UTF-8' standalone='yes'?>
<Relationships xmlns="http://schemas.openxmlformats.org/package/2006/relationships"><Relationship Id="rId1" Type="http://schemas.openxmlformats.org/officeDocument/2006/relationships/package" Target="../embeddings/Microsoft_Excel_Sheet46.xlsx"/></Relationships>
</file>

<file path=ppt/charts/_rels/chart47.xml.rels><?xml version='1.0' encoding='UTF-8' standalone='yes'?>
<Relationships xmlns="http://schemas.openxmlformats.org/package/2006/relationships"><Relationship Id="rId1" Type="http://schemas.openxmlformats.org/officeDocument/2006/relationships/package" Target="../embeddings/Microsoft_Excel_Sheet47.xlsx"/></Relationships>
</file>

<file path=ppt/charts/_rels/chart48.xml.rels><?xml version='1.0' encoding='UTF-8' standalone='yes'?>
<Relationships xmlns="http://schemas.openxmlformats.org/package/2006/relationships"><Relationship Id="rId1" Type="http://schemas.openxmlformats.org/officeDocument/2006/relationships/package" Target="../embeddings/Microsoft_Excel_Sheet48.xlsx"/></Relationships>
</file>

<file path=ppt/charts/_rels/chart49.xml.rels><?xml version='1.0' encoding='UTF-8' standalone='yes'?>
<Relationships xmlns="http://schemas.openxmlformats.org/package/2006/relationships"><Relationship Id="rId1" Type="http://schemas.openxmlformats.org/officeDocument/2006/relationships/package" Target="../embeddings/Microsoft_Excel_Sheet49.xlsx"/></Relationships>
</file>

<file path=ppt/charts/_rels/chart50.xml.rels><?xml version='1.0' encoding='UTF-8' standalone='yes'?>
<Relationships xmlns="http://schemas.openxmlformats.org/package/2006/relationships"><Relationship Id="rId1" Type="http://schemas.openxmlformats.org/officeDocument/2006/relationships/package" Target="../embeddings/Microsoft_Excel_Sheet50.xlsx"/></Relationships>
</file>

<file path=ppt/charts/_rels/chart51.xml.rels><?xml version='1.0' encoding='UTF-8' standalone='yes'?>
<Relationships xmlns="http://schemas.openxmlformats.org/package/2006/relationships"><Relationship Id="rId1" Type="http://schemas.openxmlformats.org/officeDocument/2006/relationships/package" Target="../embeddings/Microsoft_Excel_Sheet51.xlsx"/></Relationships>
</file>

<file path=ppt/charts/_rels/chart52.xml.rels><?xml version='1.0' encoding='UTF-8' standalone='yes'?>
<Relationships xmlns="http://schemas.openxmlformats.org/package/2006/relationships"><Relationship Id="rId1" Type="http://schemas.openxmlformats.org/officeDocument/2006/relationships/package" Target="../embeddings/Microsoft_Excel_Sheet52.xlsx"/></Relationships>
</file>

<file path=ppt/charts/_rels/chart53.xml.rels><?xml version='1.0' encoding='UTF-8' standalone='yes'?>
<Relationships xmlns="http://schemas.openxmlformats.org/package/2006/relationships"><Relationship Id="rId1" Type="http://schemas.openxmlformats.org/officeDocument/2006/relationships/package" Target="../embeddings/Microsoft_Excel_Sheet53.xlsx"/></Relationships>
</file>

<file path=ppt/charts/_rels/chart54.xml.rels><?xml version='1.0' encoding='UTF-8' standalone='yes'?>
<Relationships xmlns="http://schemas.openxmlformats.org/package/2006/relationships"><Relationship Id="rId1" Type="http://schemas.openxmlformats.org/officeDocument/2006/relationships/package" Target="../embeddings/Microsoft_Excel_Sheet54.xlsx"/></Relationships>
</file>

<file path=ppt/charts/_rels/chart55.xml.rels><?xml version='1.0' encoding='UTF-8' standalone='yes'?>
<Relationships xmlns="http://schemas.openxmlformats.org/package/2006/relationships"><Relationship Id="rId1" Type="http://schemas.openxmlformats.org/officeDocument/2006/relationships/package" Target="../embeddings/Microsoft_Excel_Sheet55.xlsx"/></Relationships>
</file>

<file path=ppt/charts/_rels/chart56.xml.rels><?xml version='1.0' encoding='UTF-8' standalone='yes'?>
<Relationships xmlns="http://schemas.openxmlformats.org/package/2006/relationships"><Relationship Id="rId1" Type="http://schemas.openxmlformats.org/officeDocument/2006/relationships/package" Target="../embeddings/Microsoft_Excel_Sheet56.xlsx"/></Relationships>
</file>

<file path=ppt/charts/_rels/chart57.xml.rels><?xml version='1.0' encoding='UTF-8' standalone='yes'?>
<Relationships xmlns="http://schemas.openxmlformats.org/package/2006/relationships"><Relationship Id="rId1" Type="http://schemas.openxmlformats.org/officeDocument/2006/relationships/package" Target="../embeddings/Microsoft_Excel_Sheet57.xlsx"/></Relationships>
</file>

<file path=ppt/charts/_rels/chart58.xml.rels><?xml version='1.0' encoding='UTF-8' standalone='yes'?>
<Relationships xmlns="http://schemas.openxmlformats.org/package/2006/relationships"><Relationship Id="rId1" Type="http://schemas.openxmlformats.org/officeDocument/2006/relationships/package" Target="../embeddings/Microsoft_Excel_Sheet58.xlsx"/></Relationships>
</file>

<file path=ppt/charts/_rels/chart59.xml.rels><?xml version='1.0' encoding='UTF-8' standalone='yes'?>
<Relationships xmlns="http://schemas.openxmlformats.org/package/2006/relationships"><Relationship Id="rId1" Type="http://schemas.openxmlformats.org/officeDocument/2006/relationships/package" Target="../embeddings/Microsoft_Excel_Sheet59.xlsx"/></Relationships>
</file>

<file path=ppt/charts/_rels/chart60.xml.rels><?xml version='1.0' encoding='UTF-8' standalone='yes'?>
<Relationships xmlns="http://schemas.openxmlformats.org/package/2006/relationships"><Relationship Id="rId1" Type="http://schemas.openxmlformats.org/officeDocument/2006/relationships/package" Target="../embeddings/Microsoft_Excel_Sheet60.xlsx"/></Relationships>
</file>

<file path=ppt/charts/_rels/chart61.xml.rels><?xml version='1.0' encoding='UTF-8' standalone='yes'?>
<Relationships xmlns="http://schemas.openxmlformats.org/package/2006/relationships"><Relationship Id="rId1" Type="http://schemas.openxmlformats.org/officeDocument/2006/relationships/package" Target="../embeddings/Microsoft_Excel_Sheet61.xlsx"/></Relationships>
</file>

<file path=ppt/charts/_rels/chart62.xml.rels><?xml version='1.0' encoding='UTF-8' standalone='yes'?>
<Relationships xmlns="http://schemas.openxmlformats.org/package/2006/relationships"><Relationship Id="rId1" Type="http://schemas.openxmlformats.org/officeDocument/2006/relationships/package" Target="../embeddings/Microsoft_Excel_Sheet62.xlsx"/></Relationships>
</file>

<file path=ppt/charts/_rels/chart63.xml.rels><?xml version='1.0' encoding='UTF-8' standalone='yes'?>
<Relationships xmlns="http://schemas.openxmlformats.org/package/2006/relationships"><Relationship Id="rId1" Type="http://schemas.openxmlformats.org/officeDocument/2006/relationships/package" Target="../embeddings/Microsoft_Excel_Sheet63.xlsx"/></Relationships>
</file>

<file path=ppt/charts/_rels/chart64.xml.rels><?xml version='1.0' encoding='UTF-8' standalone='yes'?>
<Relationships xmlns="http://schemas.openxmlformats.org/package/2006/relationships"><Relationship Id="rId1" Type="http://schemas.openxmlformats.org/officeDocument/2006/relationships/package" Target="../embeddings/Microsoft_Excel_Sheet64.xlsx"/></Relationships>
</file>

<file path=ppt/charts/_rels/chart65.xml.rels><?xml version='1.0' encoding='UTF-8' standalone='yes'?>
<Relationships xmlns="http://schemas.openxmlformats.org/package/2006/relationships"><Relationship Id="rId1" Type="http://schemas.openxmlformats.org/officeDocument/2006/relationships/package" Target="../embeddings/Microsoft_Excel_Sheet65.xlsx"/></Relationships>
</file>

<file path=ppt/charts/_rels/chart66.xml.rels><?xml version='1.0' encoding='UTF-8' standalone='yes'?>
<Relationships xmlns="http://schemas.openxmlformats.org/package/2006/relationships"><Relationship Id="rId1" Type="http://schemas.openxmlformats.org/officeDocument/2006/relationships/package" Target="../embeddings/Microsoft_Excel_Sheet66.xlsx"/></Relationships>
</file>

<file path=ppt/charts/_rels/chart67.xml.rels><?xml version='1.0' encoding='UTF-8' standalone='yes'?>
<Relationships xmlns="http://schemas.openxmlformats.org/package/2006/relationships"><Relationship Id="rId1" Type="http://schemas.openxmlformats.org/officeDocument/2006/relationships/package" Target="../embeddings/Microsoft_Excel_Sheet67.xlsx"/></Relationships>
</file>

<file path=ppt/charts/_rels/chart68.xml.rels><?xml version='1.0' encoding='UTF-8' standalone='yes'?>
<Relationships xmlns="http://schemas.openxmlformats.org/package/2006/relationships"><Relationship Id="rId1" Type="http://schemas.openxmlformats.org/officeDocument/2006/relationships/package" Target="../embeddings/Microsoft_Excel_Sheet68.xlsx"/></Relationships>
</file>

<file path=ppt/charts/_rels/chart69.xml.rels><?xml version='1.0' encoding='UTF-8' standalone='yes'?>
<Relationships xmlns="http://schemas.openxmlformats.org/package/2006/relationships"><Relationship Id="rId1" Type="http://schemas.openxmlformats.org/officeDocument/2006/relationships/package" Target="../embeddings/Microsoft_Excel_Sheet69.xlsx"/></Relationships>
</file>

<file path=ppt/charts/_rels/chart70.xml.rels><?xml version='1.0' encoding='UTF-8' standalone='yes'?>
<Relationships xmlns="http://schemas.openxmlformats.org/package/2006/relationships"><Relationship Id="rId1" Type="http://schemas.openxmlformats.org/officeDocument/2006/relationships/package" Target="../embeddings/Microsoft_Excel_Sheet70.xlsx"/></Relationships>
</file>

<file path=ppt/charts/_rels/chart71.xml.rels><?xml version='1.0' encoding='UTF-8' standalone='yes'?>
<Relationships xmlns="http://schemas.openxmlformats.org/package/2006/relationships"><Relationship Id="rId1" Type="http://schemas.openxmlformats.org/officeDocument/2006/relationships/package" Target="../embeddings/Microsoft_Excel_Sheet71.xlsx"/></Relationships>
</file>

<file path=ppt/charts/_rels/chart72.xml.rels><?xml version='1.0' encoding='UTF-8' standalone='yes'?>
<Relationships xmlns="http://schemas.openxmlformats.org/package/2006/relationships"><Relationship Id="rId1" Type="http://schemas.openxmlformats.org/officeDocument/2006/relationships/package" Target="../embeddings/Microsoft_Excel_Sheet72.xlsx"/></Relationships>
</file>

<file path=ppt/charts/_rels/chart73.xml.rels><?xml version='1.0' encoding='UTF-8' standalone='yes'?>
<Relationships xmlns="http://schemas.openxmlformats.org/package/2006/relationships"><Relationship Id="rId1" Type="http://schemas.openxmlformats.org/officeDocument/2006/relationships/package" Target="../embeddings/Microsoft_Excel_Sheet73.xlsx"/></Relationships>
</file>

<file path=ppt/charts/_rels/chart74.xml.rels><?xml version='1.0' encoding='UTF-8' standalone='yes'?>
<Relationships xmlns="http://schemas.openxmlformats.org/package/2006/relationships"><Relationship Id="rId1" Type="http://schemas.openxmlformats.org/officeDocument/2006/relationships/package" Target="../embeddings/Microsoft_Excel_Sheet74.xlsx"/></Relationships>
</file>

<file path=ppt/charts/_rels/chart75.xml.rels><?xml version='1.0' encoding='UTF-8' standalone='yes'?>
<Relationships xmlns="http://schemas.openxmlformats.org/package/2006/relationships"><Relationship Id="rId1" Type="http://schemas.openxmlformats.org/officeDocument/2006/relationships/package" Target="../embeddings/Microsoft_Excel_Sheet75.xlsx"/></Relationships>
</file>

<file path=ppt/charts/_rels/chart76.xml.rels><?xml version='1.0' encoding='UTF-8' standalone='yes'?>
<Relationships xmlns="http://schemas.openxmlformats.org/package/2006/relationships"><Relationship Id="rId1" Type="http://schemas.openxmlformats.org/officeDocument/2006/relationships/package" Target="../embeddings/Microsoft_Excel_Sheet76.xlsx"/></Relationships>
</file>

<file path=ppt/charts/_rels/chart77.xml.rels><?xml version='1.0' encoding='UTF-8' standalone='yes'?>
<Relationships xmlns="http://schemas.openxmlformats.org/package/2006/relationships"><Relationship Id="rId1" Type="http://schemas.openxmlformats.org/officeDocument/2006/relationships/package" Target="../embeddings/Microsoft_Excel_Sheet77.xlsx"/></Relationships>
</file>

<file path=ppt/charts/_rels/chart78.xml.rels><?xml version='1.0' encoding='UTF-8' standalone='yes'?>
<Relationships xmlns="http://schemas.openxmlformats.org/package/2006/relationships"><Relationship Id="rId1" Type="http://schemas.openxmlformats.org/officeDocument/2006/relationships/package" Target="../embeddings/Microsoft_Excel_Sheet78.xlsx"/></Relationships>
</file>

<file path=ppt/charts/_rels/chart79.xml.rels><?xml version='1.0' encoding='UTF-8' standalone='yes'?>
<Relationships xmlns="http://schemas.openxmlformats.org/package/2006/relationships"><Relationship Id="rId1" Type="http://schemas.openxmlformats.org/officeDocument/2006/relationships/package" Target="../embeddings/Microsoft_Excel_Sheet79.xlsx"/></Relationships>
</file>

<file path=ppt/charts/_rels/chart80.xml.rels><?xml version='1.0' encoding='UTF-8' standalone='yes'?>
<Relationships xmlns="http://schemas.openxmlformats.org/package/2006/relationships"><Relationship Id="rId1" Type="http://schemas.openxmlformats.org/officeDocument/2006/relationships/package" Target="../embeddings/Microsoft_Excel_Sheet80.xlsx"/></Relationships>
</file>

<file path=ppt/charts/_rels/chart81.xml.rels><?xml version='1.0' encoding='UTF-8' standalone='yes'?>
<Relationships xmlns="http://schemas.openxmlformats.org/package/2006/relationships"><Relationship Id="rId1" Type="http://schemas.openxmlformats.org/officeDocument/2006/relationships/package" Target="../embeddings/Microsoft_Excel_Sheet81.xlsx"/></Relationships>
</file>

<file path=ppt/charts/_rels/chart82.xml.rels><?xml version='1.0' encoding='UTF-8' standalone='yes'?>
<Relationships xmlns="http://schemas.openxmlformats.org/package/2006/relationships"><Relationship Id="rId1" Type="http://schemas.openxmlformats.org/officeDocument/2006/relationships/package" Target="../embeddings/Microsoft_Excel_Sheet82.xlsx"/></Relationships>
</file>

<file path=ppt/charts/_rels/chart83.xml.rels><?xml version='1.0' encoding='UTF-8' standalone='yes'?>
<Relationships xmlns="http://schemas.openxmlformats.org/package/2006/relationships"><Relationship Id="rId1" Type="http://schemas.openxmlformats.org/officeDocument/2006/relationships/package" Target="../embeddings/Microsoft_Excel_Sheet83.xlsx"/></Relationships>
</file>

<file path=ppt/charts/_rels/chart84.xml.rels><?xml version='1.0' encoding='UTF-8' standalone='yes'?>
<Relationships xmlns="http://schemas.openxmlformats.org/package/2006/relationships"><Relationship Id="rId1" Type="http://schemas.openxmlformats.org/officeDocument/2006/relationships/package" Target="../embeddings/Microsoft_Excel_Sheet84.xlsx"/></Relationships>
</file>

<file path=ppt/charts/_rels/chart85.xml.rels><?xml version='1.0' encoding='UTF-8' standalone='yes'?>
<Relationships xmlns="http://schemas.openxmlformats.org/package/2006/relationships"><Relationship Id="rId1" Type="http://schemas.openxmlformats.org/officeDocument/2006/relationships/package" Target="../embeddings/Microsoft_Excel_Sheet85.xlsx"/></Relationships>
</file>

<file path=ppt/charts/_rels/chart86.xml.rels><?xml version='1.0' encoding='UTF-8' standalone='yes'?>
<Relationships xmlns="http://schemas.openxmlformats.org/package/2006/relationships"><Relationship Id="rId1" Type="http://schemas.openxmlformats.org/officeDocument/2006/relationships/package" Target="../embeddings/Microsoft_Excel_Sheet86.xlsx"/></Relationships>
</file>

<file path=ppt/charts/_rels/chart87.xml.rels><?xml version='1.0' encoding='UTF-8' standalone='yes'?>
<Relationships xmlns="http://schemas.openxmlformats.org/package/2006/relationships"><Relationship Id="rId1" Type="http://schemas.openxmlformats.org/officeDocument/2006/relationships/package" Target="../embeddings/Microsoft_Excel_Sheet87.xlsx"/></Relationships>
</file>

<file path=ppt/charts/_rels/chart88.xml.rels><?xml version='1.0' encoding='UTF-8' standalone='yes'?>
<Relationships xmlns="http://schemas.openxmlformats.org/package/2006/relationships"><Relationship Id="rId1" Type="http://schemas.openxmlformats.org/officeDocument/2006/relationships/package" Target="../embeddings/Microsoft_Excel_Sheet88.xlsx"/></Relationships>
</file>

<file path=ppt/charts/_rels/chart89.xml.rels><?xml version='1.0' encoding='UTF-8' standalone='yes'?>
<Relationships xmlns="http://schemas.openxmlformats.org/package/2006/relationships"><Relationship Id="rId1" Type="http://schemas.openxmlformats.org/officeDocument/2006/relationships/package" Target="../embeddings/Microsoft_Excel_Sheet89.xlsx"/></Relationships>
</file>

<file path=ppt/charts/_rels/chart90.xml.rels><?xml version='1.0' encoding='UTF-8' standalone='yes'?>
<Relationships xmlns="http://schemas.openxmlformats.org/package/2006/relationships"><Relationship Id="rId1" Type="http://schemas.openxmlformats.org/officeDocument/2006/relationships/package" Target="../embeddings/Microsoft_Excel_Sheet90.xlsx"/></Relationships>
</file>

<file path=ppt/charts/_rels/chart91.xml.rels><?xml version='1.0' encoding='UTF-8' standalone='yes'?>
<Relationships xmlns="http://schemas.openxmlformats.org/package/2006/relationships"><Relationship Id="rId1" Type="http://schemas.openxmlformats.org/officeDocument/2006/relationships/package" Target="../embeddings/Microsoft_Excel_Sheet91.xlsx"/></Relationships>
</file>

<file path=ppt/charts/_rels/chart92.xml.rels><?xml version='1.0' encoding='UTF-8' standalone='yes'?>
<Relationships xmlns="http://schemas.openxmlformats.org/package/2006/relationships"><Relationship Id="rId1" Type="http://schemas.openxmlformats.org/officeDocument/2006/relationships/package" Target="../embeddings/Microsoft_Excel_Sheet92.xlsx"/></Relationships>
</file>

<file path=ppt/charts/_rels/chart93.xml.rels><?xml version='1.0' encoding='UTF-8' standalone='yes'?>
<Relationships xmlns="http://schemas.openxmlformats.org/package/2006/relationships"><Relationship Id="rId1" Type="http://schemas.openxmlformats.org/officeDocument/2006/relationships/package" Target="../embeddings/Microsoft_Excel_Sheet93.xlsx"/></Relationships>
</file>

<file path=ppt/charts/_rels/chart94.xml.rels><?xml version='1.0' encoding='UTF-8' standalone='yes'?>
<Relationships xmlns="http://schemas.openxmlformats.org/package/2006/relationships"><Relationship Id="rId1" Type="http://schemas.openxmlformats.org/officeDocument/2006/relationships/package" Target="../embeddings/Microsoft_Excel_Sheet94.xlsx"/></Relationships>
</file>

<file path=ppt/charts/_rels/chart95.xml.rels><?xml version='1.0' encoding='UTF-8' standalone='yes'?>
<Relationships xmlns="http://schemas.openxmlformats.org/package/2006/relationships"><Relationship Id="rId1" Type="http://schemas.openxmlformats.org/officeDocument/2006/relationships/package" Target="../embeddings/Microsoft_Excel_Sheet95.xlsx"/></Relationships>
</file>

<file path=ppt/charts/_rels/chart96.xml.rels><?xml version='1.0' encoding='UTF-8' standalone='yes'?>
<Relationships xmlns="http://schemas.openxmlformats.org/package/2006/relationships"><Relationship Id="rId1" Type="http://schemas.openxmlformats.org/officeDocument/2006/relationships/package" Target="../embeddings/Microsoft_Excel_Sheet96.xlsx"/></Relationships>
</file>

<file path=ppt/charts/_rels/chart97.xml.rels><?xml version='1.0' encoding='UTF-8' standalone='yes'?>
<Relationships xmlns="http://schemas.openxmlformats.org/package/2006/relationships"><Relationship Id="rId1" Type="http://schemas.openxmlformats.org/officeDocument/2006/relationships/package" Target="../embeddings/Microsoft_Excel_Sheet97.xlsx"/></Relationships>
</file>

<file path=ppt/charts/_rels/chart98.xml.rels><?xml version='1.0' encoding='UTF-8' standalone='yes'?>
<Relationships xmlns="http://schemas.openxmlformats.org/package/2006/relationships"><Relationship Id="rId1" Type="http://schemas.openxmlformats.org/officeDocument/2006/relationships/package" Target="../embeddings/Microsoft_Excel_Sheet98.xlsx"/></Relationships>
</file>

<file path=ppt/charts/_rels/chart99.xml.rels><?xml version='1.0' encoding='UTF-8' standalone='yes'?>
<Relationships xmlns="http://schemas.openxmlformats.org/package/2006/relationships"><Relationship Id="rId1" Type="http://schemas.openxmlformats.org/officeDocument/2006/relationships/package" Target="../embeddings/Microsoft_Excel_Sheet99.xlsx"/></Relationships>
</file>

<file path=ppt/charts/_rels/chart100.xml.rels><?xml version='1.0' encoding='UTF-8' standalone='yes'?>
<Relationships xmlns="http://schemas.openxmlformats.org/package/2006/relationships"><Relationship Id="rId1" Type="http://schemas.openxmlformats.org/officeDocument/2006/relationships/package" Target="../embeddings/Microsoft_Excel_Sheet100.xlsx"/></Relationships>
</file>

<file path=ppt/charts/_rels/chart101.xml.rels><?xml version='1.0' encoding='UTF-8' standalone='yes'?>
<Relationships xmlns="http://schemas.openxmlformats.org/package/2006/relationships"><Relationship Id="rId1" Type="http://schemas.openxmlformats.org/officeDocument/2006/relationships/package" Target="../embeddings/Microsoft_Excel_Sheet101.xlsx"/></Relationships>
</file>

<file path=ppt/charts/_rels/chart102.xml.rels><?xml version='1.0' encoding='UTF-8' standalone='yes'?>
<Relationships xmlns="http://schemas.openxmlformats.org/package/2006/relationships"><Relationship Id="rId1" Type="http://schemas.openxmlformats.org/officeDocument/2006/relationships/package" Target="../embeddings/Microsoft_Excel_Sheet102.xlsx"/></Relationships>
</file>

<file path=ppt/charts/_rels/chart103.xml.rels><?xml version='1.0' encoding='UTF-8' standalone='yes'?>
<Relationships xmlns="http://schemas.openxmlformats.org/package/2006/relationships"><Relationship Id="rId1" Type="http://schemas.openxmlformats.org/officeDocument/2006/relationships/package" Target="../embeddings/Microsoft_Excel_Sheet103.xlsx"/></Relationships>
</file>

<file path=ppt/charts/_rels/chart104.xml.rels><?xml version='1.0' encoding='UTF-8' standalone='yes'?>
<Relationships xmlns="http://schemas.openxmlformats.org/package/2006/relationships"><Relationship Id="rId1" Type="http://schemas.openxmlformats.org/officeDocument/2006/relationships/package" Target="../embeddings/Microsoft_Excel_Sheet104.xlsx"/></Relationships>
</file>

<file path=ppt/charts/_rels/chart105.xml.rels><?xml version='1.0' encoding='UTF-8' standalone='yes'?>
<Relationships xmlns="http://schemas.openxmlformats.org/package/2006/relationships"><Relationship Id="rId1" Type="http://schemas.openxmlformats.org/officeDocument/2006/relationships/package" Target="../embeddings/Microsoft_Excel_Sheet105.xlsx"/></Relationships>
</file>

<file path=ppt/charts/_rels/chart106.xml.rels><?xml version='1.0' encoding='UTF-8' standalone='yes'?>
<Relationships xmlns="http://schemas.openxmlformats.org/package/2006/relationships"><Relationship Id="rId1" Type="http://schemas.openxmlformats.org/officeDocument/2006/relationships/package" Target="../embeddings/Microsoft_Excel_Sheet106.xlsx"/></Relationships>
</file>

<file path=ppt/charts/_rels/chart107.xml.rels><?xml version='1.0' encoding='UTF-8' standalone='yes'?>
<Relationships xmlns="http://schemas.openxmlformats.org/package/2006/relationships"><Relationship Id="rId1" Type="http://schemas.openxmlformats.org/officeDocument/2006/relationships/package" Target="../embeddings/Microsoft_Excel_Sheet107.xlsx"/></Relationships>
</file>

<file path=ppt/charts/_rels/chart108.xml.rels><?xml version='1.0' encoding='UTF-8' standalone='yes'?>
<Relationships xmlns="http://schemas.openxmlformats.org/package/2006/relationships"><Relationship Id="rId1" Type="http://schemas.openxmlformats.org/officeDocument/2006/relationships/package" Target="../embeddings/Microsoft_Excel_Sheet108.xlsx"/></Relationships>
</file>

<file path=ppt/charts/_rels/chart109.xml.rels><?xml version='1.0' encoding='UTF-8' standalone='yes'?>
<Relationships xmlns="http://schemas.openxmlformats.org/package/2006/relationships"><Relationship Id="rId1" Type="http://schemas.openxmlformats.org/officeDocument/2006/relationships/package" Target="../embeddings/Microsoft_Excel_Sheet109.xlsx"/></Relationships>
</file>

<file path=ppt/charts/_rels/chart110.xml.rels><?xml version='1.0' encoding='UTF-8' standalone='yes'?>
<Relationships xmlns="http://schemas.openxmlformats.org/package/2006/relationships"><Relationship Id="rId1" Type="http://schemas.openxmlformats.org/officeDocument/2006/relationships/package" Target="../embeddings/Microsoft_Excel_Sheet110.xlsx"/></Relationships>
</file>

<file path=ppt/charts/_rels/chart111.xml.rels><?xml version='1.0' encoding='UTF-8' standalone='yes'?>
<Relationships xmlns="http://schemas.openxmlformats.org/package/2006/relationships"><Relationship Id="rId1" Type="http://schemas.openxmlformats.org/officeDocument/2006/relationships/package" Target="../embeddings/Microsoft_Excel_Sheet111.xlsx"/></Relationships>
</file>

<file path=ppt/charts/_rels/chart112.xml.rels><?xml version='1.0' encoding='UTF-8' standalone='yes'?>
<Relationships xmlns="http://schemas.openxmlformats.org/package/2006/relationships"><Relationship Id="rId1" Type="http://schemas.openxmlformats.org/officeDocument/2006/relationships/package" Target="../embeddings/Microsoft_Excel_Sheet112.xlsx"/></Relationships>
</file>

<file path=ppt/charts/_rels/chart113.xml.rels><?xml version='1.0' encoding='UTF-8' standalone='yes'?>
<Relationships xmlns="http://schemas.openxmlformats.org/package/2006/relationships"><Relationship Id="rId1" Type="http://schemas.openxmlformats.org/officeDocument/2006/relationships/package" Target="../embeddings/Microsoft_Excel_Sheet113.xlsx"/></Relationships>
</file>

<file path=ppt/charts/_rels/chart114.xml.rels><?xml version='1.0' encoding='UTF-8' standalone='yes'?>
<Relationships xmlns="http://schemas.openxmlformats.org/package/2006/relationships"><Relationship Id="rId1" Type="http://schemas.openxmlformats.org/officeDocument/2006/relationships/package" Target="../embeddings/Microsoft_Excel_Sheet114.xlsx"/></Relationships>
</file>

<file path=ppt/charts/_rels/chart115.xml.rels><?xml version='1.0' encoding='UTF-8' standalone='yes'?>
<Relationships xmlns="http://schemas.openxmlformats.org/package/2006/relationships"><Relationship Id="rId1" Type="http://schemas.openxmlformats.org/officeDocument/2006/relationships/package" Target="../embeddings/Microsoft_Excel_Sheet115.xlsx"/></Relationships>
</file>

<file path=ppt/charts/_rels/chart116.xml.rels><?xml version='1.0' encoding='UTF-8' standalone='yes'?>
<Relationships xmlns="http://schemas.openxmlformats.org/package/2006/relationships"><Relationship Id="rId1" Type="http://schemas.openxmlformats.org/officeDocument/2006/relationships/package" Target="../embeddings/Microsoft_Excel_Sheet116.xlsx"/></Relationships>
</file>

<file path=ppt/charts/_rels/chart117.xml.rels><?xml version='1.0' encoding='UTF-8' standalone='yes'?>
<Relationships xmlns="http://schemas.openxmlformats.org/package/2006/relationships"><Relationship Id="rId1" Type="http://schemas.openxmlformats.org/officeDocument/2006/relationships/package" Target="../embeddings/Microsoft_Excel_Sheet117.xlsx"/></Relationships>
</file>

<file path=ppt/charts/_rels/chart118.xml.rels><?xml version='1.0' encoding='UTF-8' standalone='yes'?>
<Relationships xmlns="http://schemas.openxmlformats.org/package/2006/relationships"><Relationship Id="rId1" Type="http://schemas.openxmlformats.org/officeDocument/2006/relationships/package" Target="../embeddings/Microsoft_Excel_Sheet118.xlsx"/></Relationships>
</file>

<file path=ppt/charts/_rels/chart119.xml.rels><?xml version='1.0' encoding='UTF-8' standalone='yes'?>
<Relationships xmlns="http://schemas.openxmlformats.org/package/2006/relationships"><Relationship Id="rId1" Type="http://schemas.openxmlformats.org/officeDocument/2006/relationships/package" Target="../embeddings/Microsoft_Excel_Sheet119.xlsx"/></Relationships>
</file>

<file path=ppt/charts/_rels/chart120.xml.rels><?xml version='1.0' encoding='UTF-8' standalone='yes'?>
<Relationships xmlns="http://schemas.openxmlformats.org/package/2006/relationships"><Relationship Id="rId1" Type="http://schemas.openxmlformats.org/officeDocument/2006/relationships/package" Target="../embeddings/Microsoft_Excel_Sheet120.xlsx"/></Relationships>
</file>

<file path=ppt/charts/_rels/chart121.xml.rels><?xml version='1.0' encoding='UTF-8' standalone='yes'?>
<Relationships xmlns="http://schemas.openxmlformats.org/package/2006/relationships"><Relationship Id="rId1" Type="http://schemas.openxmlformats.org/officeDocument/2006/relationships/package" Target="../embeddings/Microsoft_Excel_Sheet121.xlsx"/></Relationships>
</file>

<file path=ppt/charts/_rels/chart122.xml.rels><?xml version='1.0' encoding='UTF-8' standalone='yes'?>
<Relationships xmlns="http://schemas.openxmlformats.org/package/2006/relationships"><Relationship Id="rId1" Type="http://schemas.openxmlformats.org/officeDocument/2006/relationships/package" Target="../embeddings/Microsoft_Excel_Sheet122.xlsx"/></Relationships>
</file>

<file path=ppt/charts/_rels/chart123.xml.rels><?xml version='1.0' encoding='UTF-8' standalone='yes'?>
<Relationships xmlns="http://schemas.openxmlformats.org/package/2006/relationships"><Relationship Id="rId1" Type="http://schemas.openxmlformats.org/officeDocument/2006/relationships/package" Target="../embeddings/Microsoft_Excel_Sheet123.xlsx"/></Relationships>
</file>

<file path=ppt/charts/_rels/chart124.xml.rels><?xml version='1.0' encoding='UTF-8' standalone='yes'?>
<Relationships xmlns="http://schemas.openxmlformats.org/package/2006/relationships"><Relationship Id="rId1" Type="http://schemas.openxmlformats.org/officeDocument/2006/relationships/package" Target="../embeddings/Microsoft_Excel_Sheet124.xlsx"/></Relationships>
</file>

<file path=ppt/charts/_rels/chart125.xml.rels><?xml version='1.0' encoding='UTF-8' standalone='yes'?>
<Relationships xmlns="http://schemas.openxmlformats.org/package/2006/relationships"><Relationship Id="rId1" Type="http://schemas.openxmlformats.org/officeDocument/2006/relationships/package" Target="../embeddings/Microsoft_Excel_Sheet125.xlsx"/></Relationships>
</file>

<file path=ppt/charts/_rels/chart126.xml.rels><?xml version='1.0' encoding='UTF-8' standalone='yes'?>
<Relationships xmlns="http://schemas.openxmlformats.org/package/2006/relationships"><Relationship Id="rId1" Type="http://schemas.openxmlformats.org/officeDocument/2006/relationships/package" Target="../embeddings/Microsoft_Excel_Sheet126.xlsx"/></Relationships>
</file>

<file path=ppt/charts/_rels/chart127.xml.rels><?xml version='1.0' encoding='UTF-8' standalone='yes'?>
<Relationships xmlns="http://schemas.openxmlformats.org/package/2006/relationships"><Relationship Id="rId1" Type="http://schemas.openxmlformats.org/officeDocument/2006/relationships/package" Target="../embeddings/Microsoft_Excel_Sheet127.xlsx"/></Relationships>
</file>

<file path=ppt/charts/_rels/chart128.xml.rels><?xml version='1.0' encoding='UTF-8' standalone='yes'?>
<Relationships xmlns="http://schemas.openxmlformats.org/package/2006/relationships"><Relationship Id="rId1" Type="http://schemas.openxmlformats.org/officeDocument/2006/relationships/package" Target="../embeddings/Microsoft_Excel_Sheet128.xlsx"/></Relationships>
</file>

<file path=ppt/charts/_rels/chart129.xml.rels><?xml version='1.0' encoding='UTF-8' standalone='yes'?>
<Relationships xmlns="http://schemas.openxmlformats.org/package/2006/relationships"><Relationship Id="rId1" Type="http://schemas.openxmlformats.org/officeDocument/2006/relationships/package" Target="../embeddings/Microsoft_Excel_Sheet129.xlsx"/></Relationships>
</file>

<file path=ppt/charts/_rels/chart130.xml.rels><?xml version='1.0' encoding='UTF-8' standalone='yes'?>
<Relationships xmlns="http://schemas.openxmlformats.org/package/2006/relationships"><Relationship Id="rId1" Type="http://schemas.openxmlformats.org/officeDocument/2006/relationships/package" Target="../embeddings/Microsoft_Excel_Sheet130.xlsx"/></Relationships>
</file>

<file path=ppt/charts/_rels/chart131.xml.rels><?xml version='1.0' encoding='UTF-8' standalone='yes'?>
<Relationships xmlns="http://schemas.openxmlformats.org/package/2006/relationships"><Relationship Id="rId1" Type="http://schemas.openxmlformats.org/officeDocument/2006/relationships/package" Target="../embeddings/Microsoft_Excel_Sheet131.xlsx"/></Relationships>
</file>

<file path=ppt/charts/_rels/chart132.xml.rels><?xml version='1.0' encoding='UTF-8' standalone='yes'?>
<Relationships xmlns="http://schemas.openxmlformats.org/package/2006/relationships"><Relationship Id="rId1" Type="http://schemas.openxmlformats.org/officeDocument/2006/relationships/package" Target="../embeddings/Microsoft_Excel_Sheet132.xlsx"/></Relationships>
</file>

<file path=ppt/charts/_rels/chart133.xml.rels><?xml version='1.0' encoding='UTF-8' standalone='yes'?>
<Relationships xmlns="http://schemas.openxmlformats.org/package/2006/relationships"><Relationship Id="rId1" Type="http://schemas.openxmlformats.org/officeDocument/2006/relationships/package" Target="../embeddings/Microsoft_Excel_Sheet133.xlsx"/></Relationships>
</file>

<file path=ppt/charts/_rels/chart134.xml.rels><?xml version='1.0' encoding='UTF-8' standalone='yes'?>
<Relationships xmlns="http://schemas.openxmlformats.org/package/2006/relationships"><Relationship Id="rId1" Type="http://schemas.openxmlformats.org/officeDocument/2006/relationships/package" Target="../embeddings/Microsoft_Excel_Sheet134.xlsx"/></Relationships>
</file>

<file path=ppt/charts/_rels/chart135.xml.rels><?xml version='1.0' encoding='UTF-8' standalone='yes'?>
<Relationships xmlns="http://schemas.openxmlformats.org/package/2006/relationships"><Relationship Id="rId1" Type="http://schemas.openxmlformats.org/officeDocument/2006/relationships/package" Target="../embeddings/Microsoft_Excel_Sheet135.xlsx"/></Relationships>
</file>

<file path=ppt/charts/_rels/chart136.xml.rels><?xml version='1.0' encoding='UTF-8' standalone='yes'?>
<Relationships xmlns="http://schemas.openxmlformats.org/package/2006/relationships"><Relationship Id="rId1" Type="http://schemas.openxmlformats.org/officeDocument/2006/relationships/package" Target="../embeddings/Microsoft_Excel_Sheet136.xlsx"/></Relationships>
</file>

<file path=ppt/charts/_rels/chart137.xml.rels><?xml version='1.0' encoding='UTF-8' standalone='yes'?>
<Relationships xmlns="http://schemas.openxmlformats.org/package/2006/relationships"><Relationship Id="rId1" Type="http://schemas.openxmlformats.org/officeDocument/2006/relationships/package" Target="../embeddings/Microsoft_Excel_Sheet137.xlsx"/></Relationships>
</file>

<file path=ppt/charts/_rels/chart138.xml.rels><?xml version='1.0' encoding='UTF-8' standalone='yes'?>
<Relationships xmlns="http://schemas.openxmlformats.org/package/2006/relationships"><Relationship Id="rId1" Type="http://schemas.openxmlformats.org/officeDocument/2006/relationships/package" Target="../embeddings/Microsoft_Excel_Sheet138.xlsx"/></Relationships>
</file>

<file path=ppt/charts/_rels/chart139.xml.rels><?xml version='1.0' encoding='UTF-8' standalone='yes'?>
<Relationships xmlns="http://schemas.openxmlformats.org/package/2006/relationships"><Relationship Id="rId1" Type="http://schemas.openxmlformats.org/officeDocument/2006/relationships/package" Target="../embeddings/Microsoft_Excel_Sheet139.xlsx"/></Relationships>
</file>

<file path=ppt/charts/_rels/chart140.xml.rels><?xml version='1.0' encoding='UTF-8' standalone='yes'?>
<Relationships xmlns="http://schemas.openxmlformats.org/package/2006/relationships"><Relationship Id="rId1" Type="http://schemas.openxmlformats.org/officeDocument/2006/relationships/package" Target="../embeddings/Microsoft_Excel_Sheet140.xlsx"/></Relationships>
</file>

<file path=ppt/charts/_rels/chart141.xml.rels><?xml version='1.0' encoding='UTF-8' standalone='yes'?>
<Relationships xmlns="http://schemas.openxmlformats.org/package/2006/relationships"><Relationship Id="rId1" Type="http://schemas.openxmlformats.org/officeDocument/2006/relationships/package" Target="../embeddings/Microsoft_Excel_Sheet141.xlsx"/></Relationships>
</file>

<file path=ppt/charts/_rels/chart142.xml.rels><?xml version='1.0' encoding='UTF-8' standalone='yes'?>
<Relationships xmlns="http://schemas.openxmlformats.org/package/2006/relationships"><Relationship Id="rId1" Type="http://schemas.openxmlformats.org/officeDocument/2006/relationships/package" Target="../embeddings/Microsoft_Excel_Sheet142.xlsx"/></Relationships>
</file>

<file path=ppt/charts/_rels/chart143.xml.rels><?xml version='1.0' encoding='UTF-8' standalone='yes'?>
<Relationships xmlns="http://schemas.openxmlformats.org/package/2006/relationships"><Relationship Id="rId1" Type="http://schemas.openxmlformats.org/officeDocument/2006/relationships/package" Target="../embeddings/Microsoft_Excel_Sheet143.xlsx"/></Relationships>
</file>

<file path=ppt/charts/_rels/chart144.xml.rels><?xml version='1.0' encoding='UTF-8' standalone='yes'?>
<Relationships xmlns="http://schemas.openxmlformats.org/package/2006/relationships"><Relationship Id="rId1" Type="http://schemas.openxmlformats.org/officeDocument/2006/relationships/package" Target="../embeddings/Microsoft_Excel_Sheet144.xlsx"/></Relationships>
</file>

<file path=ppt/charts/_rels/chart145.xml.rels><?xml version='1.0' encoding='UTF-8' standalone='yes'?>
<Relationships xmlns="http://schemas.openxmlformats.org/package/2006/relationships"><Relationship Id="rId1" Type="http://schemas.openxmlformats.org/officeDocument/2006/relationships/package" Target="../embeddings/Microsoft_Excel_Sheet145.xlsx"/></Relationships>
</file>

<file path=ppt/charts/_rels/chart146.xml.rels><?xml version='1.0' encoding='UTF-8' standalone='yes'?>
<Relationships xmlns="http://schemas.openxmlformats.org/package/2006/relationships"><Relationship Id="rId1" Type="http://schemas.openxmlformats.org/officeDocument/2006/relationships/package" Target="../embeddings/Microsoft_Excel_Sheet146.xlsx"/></Relationships>
</file>

<file path=ppt/charts/_rels/chart147.xml.rels><?xml version='1.0' encoding='UTF-8' standalone='yes'?>
<Relationships xmlns="http://schemas.openxmlformats.org/package/2006/relationships"><Relationship Id="rId1" Type="http://schemas.openxmlformats.org/officeDocument/2006/relationships/package" Target="../embeddings/Microsoft_Excel_Sheet147.xlsx"/></Relationships>
</file>

<file path=ppt/charts/_rels/chart148.xml.rels><?xml version='1.0' encoding='UTF-8' standalone='yes'?>
<Relationships xmlns="http://schemas.openxmlformats.org/package/2006/relationships"><Relationship Id="rId1" Type="http://schemas.openxmlformats.org/officeDocument/2006/relationships/package" Target="../embeddings/Microsoft_Excel_Sheet148.xlsx"/></Relationships>
</file>

<file path=ppt/charts/_rels/chart149.xml.rels><?xml version='1.0' encoding='UTF-8' standalone='yes'?>
<Relationships xmlns="http://schemas.openxmlformats.org/package/2006/relationships"><Relationship Id="rId1" Type="http://schemas.openxmlformats.org/officeDocument/2006/relationships/package" Target="../embeddings/Microsoft_Excel_Sheet149.xlsx"/></Relationships>
</file>

<file path=ppt/charts/_rels/chart150.xml.rels><?xml version='1.0' encoding='UTF-8' standalone='yes'?>
<Relationships xmlns="http://schemas.openxmlformats.org/package/2006/relationships"><Relationship Id="rId1" Type="http://schemas.openxmlformats.org/officeDocument/2006/relationships/package" Target="../embeddings/Microsoft_Excel_Sheet150.xlsx"/></Relationships>
</file>

<file path=ppt/charts/_rels/chart151.xml.rels><?xml version='1.0' encoding='UTF-8' standalone='yes'?>
<Relationships xmlns="http://schemas.openxmlformats.org/package/2006/relationships"><Relationship Id="rId1" Type="http://schemas.openxmlformats.org/officeDocument/2006/relationships/package" Target="../embeddings/Microsoft_Excel_Sheet151.xlsx"/></Relationships>
</file>

<file path=ppt/charts/_rels/chart152.xml.rels><?xml version='1.0' encoding='UTF-8' standalone='yes'?>
<Relationships xmlns="http://schemas.openxmlformats.org/package/2006/relationships"><Relationship Id="rId1" Type="http://schemas.openxmlformats.org/officeDocument/2006/relationships/package" Target="../embeddings/Microsoft_Excel_Sheet152.xlsx"/></Relationships>
</file>

<file path=ppt/charts/_rels/chart153.xml.rels><?xml version='1.0' encoding='UTF-8' standalone='yes'?>
<Relationships xmlns="http://schemas.openxmlformats.org/package/2006/relationships"><Relationship Id="rId1" Type="http://schemas.openxmlformats.org/officeDocument/2006/relationships/package" Target="../embeddings/Microsoft_Excel_Sheet153.xlsx"/></Relationships>
</file>

<file path=ppt/charts/_rels/chart154.xml.rels><?xml version='1.0' encoding='UTF-8' standalone='yes'?>
<Relationships xmlns="http://schemas.openxmlformats.org/package/2006/relationships"><Relationship Id="rId1" Type="http://schemas.openxmlformats.org/officeDocument/2006/relationships/package" Target="../embeddings/Microsoft_Excel_Sheet154.xlsx"/></Relationships>
</file>

<file path=ppt/charts/_rels/chart155.xml.rels><?xml version='1.0' encoding='UTF-8' standalone='yes'?>
<Relationships xmlns="http://schemas.openxmlformats.org/package/2006/relationships"><Relationship Id="rId1" Type="http://schemas.openxmlformats.org/officeDocument/2006/relationships/package" Target="../embeddings/Microsoft_Excel_Sheet155.xlsx"/></Relationships>
</file>

<file path=ppt/charts/_rels/chart156.xml.rels><?xml version='1.0' encoding='UTF-8' standalone='yes'?>
<Relationships xmlns="http://schemas.openxmlformats.org/package/2006/relationships"><Relationship Id="rId1" Type="http://schemas.openxmlformats.org/officeDocument/2006/relationships/package" Target="../embeddings/Microsoft_Excel_Sheet156.xlsx"/></Relationships>
</file>

<file path=ppt/charts/_rels/chart157.xml.rels><?xml version='1.0' encoding='UTF-8' standalone='yes'?>
<Relationships xmlns="http://schemas.openxmlformats.org/package/2006/relationships"><Relationship Id="rId1" Type="http://schemas.openxmlformats.org/officeDocument/2006/relationships/package" Target="../embeddings/Microsoft_Excel_Sheet157.xlsx"/></Relationships>
</file>

<file path=ppt/charts/_rels/chart158.xml.rels><?xml version='1.0' encoding='UTF-8' standalone='yes'?>
<Relationships xmlns="http://schemas.openxmlformats.org/package/2006/relationships"><Relationship Id="rId1" Type="http://schemas.openxmlformats.org/officeDocument/2006/relationships/package" Target="../embeddings/Microsoft_Excel_Sheet158.xlsx"/></Relationships>
</file>

<file path=ppt/charts/_rels/chart159.xml.rels><?xml version='1.0' encoding='UTF-8' standalone='yes'?>
<Relationships xmlns="http://schemas.openxmlformats.org/package/2006/relationships"><Relationship Id="rId1" Type="http://schemas.openxmlformats.org/officeDocument/2006/relationships/package" Target="../embeddings/Microsoft_Excel_Sheet159.xlsx"/></Relationships>
</file>

<file path=ppt/charts/_rels/chart160.xml.rels><?xml version='1.0' encoding='UTF-8' standalone='yes'?>
<Relationships xmlns="http://schemas.openxmlformats.org/package/2006/relationships"><Relationship Id="rId1" Type="http://schemas.openxmlformats.org/officeDocument/2006/relationships/package" Target="../embeddings/Microsoft_Excel_Sheet160.xlsx"/></Relationships>
</file>

<file path=ppt/charts/_rels/chart161.xml.rels><?xml version='1.0' encoding='UTF-8' standalone='yes'?>
<Relationships xmlns="http://schemas.openxmlformats.org/package/2006/relationships"><Relationship Id="rId1" Type="http://schemas.openxmlformats.org/officeDocument/2006/relationships/package" Target="../embeddings/Microsoft_Excel_Sheet161.xlsx"/></Relationships>
</file>

<file path=ppt/charts/_rels/chart162.xml.rels><?xml version='1.0' encoding='UTF-8' standalone='yes'?>
<Relationships xmlns="http://schemas.openxmlformats.org/package/2006/relationships"><Relationship Id="rId1" Type="http://schemas.openxmlformats.org/officeDocument/2006/relationships/package" Target="../embeddings/Microsoft_Excel_Sheet162.xlsx"/></Relationships>
</file>

<file path=ppt/charts/_rels/chart163.xml.rels><?xml version='1.0' encoding='UTF-8' standalone='yes'?>
<Relationships xmlns="http://schemas.openxmlformats.org/package/2006/relationships"><Relationship Id="rId1" Type="http://schemas.openxmlformats.org/officeDocument/2006/relationships/package" Target="../embeddings/Microsoft_Excel_Sheet163.xlsx"/></Relationships>
</file>

<file path=ppt/charts/_rels/chart164.xml.rels><?xml version='1.0' encoding='UTF-8' standalone='yes'?>
<Relationships xmlns="http://schemas.openxmlformats.org/package/2006/relationships"><Relationship Id="rId1" Type="http://schemas.openxmlformats.org/officeDocument/2006/relationships/package" Target="../embeddings/Microsoft_Excel_Sheet164.xlsx"/></Relationships>
</file>

<file path=ppt/charts/_rels/chart165.xml.rels><?xml version='1.0' encoding='UTF-8' standalone='yes'?>
<Relationships xmlns="http://schemas.openxmlformats.org/package/2006/relationships"><Relationship Id="rId1" Type="http://schemas.openxmlformats.org/officeDocument/2006/relationships/package" Target="../embeddings/Microsoft_Excel_Sheet165.xlsx"/></Relationships>
</file>

<file path=ppt/charts/_rels/chart166.xml.rels><?xml version='1.0' encoding='UTF-8' standalone='yes'?>
<Relationships xmlns="http://schemas.openxmlformats.org/package/2006/relationships"><Relationship Id="rId1" Type="http://schemas.openxmlformats.org/officeDocument/2006/relationships/package" Target="../embeddings/Microsoft_Excel_Sheet166.xlsx"/></Relationships>
</file>

<file path=ppt/charts/_rels/chart167.xml.rels><?xml version='1.0' encoding='UTF-8' standalone='yes'?>
<Relationships xmlns="http://schemas.openxmlformats.org/package/2006/relationships"><Relationship Id="rId1" Type="http://schemas.openxmlformats.org/officeDocument/2006/relationships/package" Target="../embeddings/Microsoft_Excel_Sheet167.xlsx"/></Relationships>
</file>

<file path=ppt/charts/_rels/chart168.xml.rels><?xml version='1.0' encoding='UTF-8' standalone='yes'?>
<Relationships xmlns="http://schemas.openxmlformats.org/package/2006/relationships"><Relationship Id="rId1" Type="http://schemas.openxmlformats.org/officeDocument/2006/relationships/package" Target="../embeddings/Microsoft_Excel_Sheet168.xlsx"/></Relationships>
</file>

<file path=ppt/charts/_rels/chart169.xml.rels><?xml version='1.0' encoding='UTF-8' standalone='yes'?>
<Relationships xmlns="http://schemas.openxmlformats.org/package/2006/relationships"><Relationship Id="rId1" Type="http://schemas.openxmlformats.org/officeDocument/2006/relationships/package" Target="../embeddings/Microsoft_Excel_Sheet169.xlsx"/></Relationships>
</file>

<file path=ppt/charts/_rels/chart170.xml.rels><?xml version='1.0' encoding='UTF-8' standalone='yes'?>
<Relationships xmlns="http://schemas.openxmlformats.org/package/2006/relationships"><Relationship Id="rId1" Type="http://schemas.openxmlformats.org/officeDocument/2006/relationships/package" Target="../embeddings/Microsoft_Excel_Sheet170.xlsx"/></Relationships>
</file>

<file path=ppt/charts/_rels/chart171.xml.rels><?xml version='1.0' encoding='UTF-8' standalone='yes'?>
<Relationships xmlns="http://schemas.openxmlformats.org/package/2006/relationships"><Relationship Id="rId1" Type="http://schemas.openxmlformats.org/officeDocument/2006/relationships/package" Target="../embeddings/Microsoft_Excel_Sheet171.xlsx"/></Relationships>
</file>

<file path=ppt/charts/chart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4.843518993746132</c:v>
                </c:pt>
                <c:pt idx="1">
                  <c:v>5.7484041121296015</c:v>
                </c:pt>
                <c:pt idx="2">
                  <c:v>5.445911285026939</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7.587893428011074"/>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2236.7980000000002</c:v>
                </c:pt>
                <c:pt idx="2">
                  <c:v>0.0</c:v>
                </c:pt>
                <c:pt idx="3">
                  <c:v>2833.5750000000003</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2236.7980000000002</c:v>
                </c:pt>
                <c:pt idx="1">
                  <c:v>596.777</c:v>
                </c:pt>
                <c:pt idx="2">
                  <c:v>2833.5750000000003</c:v>
                </c:pt>
                <c:pt idx="3">
                  <c:v>2121.7589999999996</c:v>
                </c:pt>
                <c:pt idx="4">
                  <c:v>4955.334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5.334264951170686</c:v>
                </c:pt>
                <c:pt idx="1">
                  <c:v>7.15838035780032</c:v>
                </c:pt>
                <c:pt idx="2">
                  <c:v>6.546858751949314</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9.449062072296423"/>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6419.126</c:v>
                </c:pt>
                <c:pt idx="2">
                  <c:v>0.0</c:v>
                </c:pt>
                <c:pt idx="3">
                  <c:v>8323.85</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6419.126</c:v>
                </c:pt>
                <c:pt idx="1">
                  <c:v>1904.7240000000002</c:v>
                </c:pt>
                <c:pt idx="2">
                  <c:v>8323.85</c:v>
                </c:pt>
                <c:pt idx="3">
                  <c:v>8294.413999999999</c:v>
                </c:pt>
                <c:pt idx="4">
                  <c:v>16618.264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Sheet1!$B$2:$B$6</c:f>
              <c:numCache>
                <c:formatCode>General</c:formatCode>
                <c:ptCount val="5"/>
                <c:pt idx="0">
                  <c:v>6419.126</c:v>
                </c:pt>
                <c:pt idx="1">
                  <c:v>6744.237000000001</c:v>
                </c:pt>
                <c:pt idx="2">
                  <c:v>7089.355</c:v>
                </c:pt>
                <c:pt idx="3">
                  <c:v>7461.106</c:v>
                </c:pt>
                <c:pt idx="4">
                  <c:v>7858.503</c:v>
                </c:pt>
              </c:numCache>
            </c:numRef>
          </c:val>
        </c:ser>
        <c:gapWidth val="50"/>
        <c:axId val="-2068027336"/>
        <c:axId val="-2113994440"/>
      </c:barChart>
      <c:barChart>
        <c:barDir val="col"/>
        <c:grouping val="clustered"/>
        <c:varyColors val="0"/>
        <c:ser>
          <c:idx val="1"/>
          <c:order val="1"/>
          <c:tx>
            <c:strRef>
              <c:f>Sheet1!$C$1</c:f>
              <c:strCache>
                <c:ptCount val="1"/>
                <c:pt idx="0">
                  <c:v>Volume (Thousand MT)</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Sheet1!$C$2:$C$6</c:f>
              <c:numCache>
                <c:formatCode>General</c:formatCode>
                <c:ptCount val="5"/>
                <c:pt idx="0">
                  <c:v>2236.7980000000002</c:v>
                </c:pt>
                <c:pt idx="1">
                  <c:v>2343.132</c:v>
                </c:pt>
                <c:pt idx="2">
                  <c:v>2454.8489999999997</c:v>
                </c:pt>
                <c:pt idx="3">
                  <c:v>2572.9</c:v>
                </c:pt>
                <c:pt idx="4">
                  <c:v>2697.868</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9273"/>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3672"/>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8323.85</c:v>
                </c:pt>
                <c:pt idx="1">
                  <c:v>8838.469000000001</c:v>
                </c:pt>
                <c:pt idx="2">
                  <c:v>9411.938</c:v>
                </c:pt>
                <c:pt idx="3">
                  <c:v>10050.596</c:v>
                </c:pt>
                <c:pt idx="4">
                  <c:v>10763.368</c:v>
                </c:pt>
                <c:pt idx="5">
                  <c:v>11552.381</c:v>
                </c:pt>
                <c:pt idx="6">
                  <c:v>12420.307</c:v>
                </c:pt>
                <c:pt idx="7">
                  <c:v>13363.941</c:v>
                </c:pt>
                <c:pt idx="8">
                  <c:v>14379.669999999998</c:v>
                </c:pt>
                <c:pt idx="9">
                  <c:v>15464.321000000002</c:v>
                </c:pt>
                <c:pt idx="10">
                  <c:v>16618.264</c:v>
                </c:pt>
              </c:numCache>
            </c:numRef>
          </c:val>
        </c:ser>
        <c:gapWidth val="50"/>
        <c:axId val="-2068027336"/>
        <c:axId val="-2113994440"/>
      </c:barChart>
      <c:barChart>
        <c:barDir val="col"/>
        <c:grouping val="clustered"/>
        <c:varyColors val="0"/>
        <c:ser>
          <c:idx val="1"/>
          <c:order val="1"/>
          <c:tx>
            <c:strRef>
              <c:f>Sheet1!$C$1</c:f>
              <c:strCache>
                <c:ptCount val="1"/>
                <c:pt idx="0">
                  <c:v>Volume (Thousand MT)</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2833.5750000000003</c:v>
                </c:pt>
                <c:pt idx="1">
                  <c:v>2980.835</c:v>
                </c:pt>
                <c:pt idx="2">
                  <c:v>3141.957</c:v>
                </c:pt>
                <c:pt idx="3">
                  <c:v>3318.2749999999996</c:v>
                </c:pt>
                <c:pt idx="4">
                  <c:v>3511.3300000000004</c:v>
                </c:pt>
                <c:pt idx="5">
                  <c:v>3720.68</c:v>
                </c:pt>
                <c:pt idx="6">
                  <c:v>3945.813</c:v>
                </c:pt>
                <c:pt idx="7">
                  <c:v>4184.345</c:v>
                </c:pt>
                <c:pt idx="8">
                  <c:v>4433.942</c:v>
                </c:pt>
                <c:pt idx="9">
                  <c:v>4691.197</c:v>
                </c:pt>
                <c:pt idx="10">
                  <c:v>4955.334</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19610"/>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7586"/>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Sheet1!$A$2:$A$4</c:f>
              <c:strCache>
                <c:ptCount val="3"/>
                <c:pt idx="0">
                  <c:v>Brazil</c:v>
                </c:pt>
                <c:pt idx="1">
                  <c:v>Mexico</c:v>
                </c:pt>
                <c:pt idx="2">
                  <c:v>Colombia</c:v>
                </c:pt>
              </c:strCache>
            </c:strRef>
          </c:cat>
          <c:val>
            <c:numRef>
              <c:f>Sheet1!$B$2:$B$4</c:f>
              <c:numCache>
                <c:formatCode>General</c:formatCode>
                <c:ptCount val="3"/>
                <c:pt idx="0">
                  <c:v>87.43468983006069</c:v>
                </c:pt>
                <c:pt idx="1">
                  <c:v>109.27453253264119</c:v>
                </c:pt>
                <c:pt idx="2">
                  <c:v>117.1860821492328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Sheet1!$A$2:$A$4</c:f>
              <c:strCache>
                <c:ptCount val="3"/>
                <c:pt idx="0">
                  <c:v>Colombia</c:v>
                </c:pt>
                <c:pt idx="1">
                  <c:v>Brazil</c:v>
                </c:pt>
                <c:pt idx="2">
                  <c:v>Mexico</c:v>
                </c:pt>
              </c:strCache>
            </c:strRef>
          </c:cat>
          <c:val>
            <c:numRef>
              <c:f>Sheet1!$B$2:$B$4</c:f>
              <c:numCache>
                <c:formatCode>General</c:formatCode>
                <c:ptCount val="3"/>
                <c:pt idx="0">
                  <c:v>10.956614897688976</c:v>
                </c:pt>
                <c:pt idx="1">
                  <c:v>32.67263968256226</c:v>
                </c:pt>
                <c:pt idx="2">
                  <c:v>35.637840117457365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tx>
                <c:rich>
                  <a:bodyPr/>
                  <a:lstStyle/>
                  <a:p>
                    <a:pPr>
                      <a:defRPr sz="1100" b="1">
                        <a:solidFill>
                          <a:srgbClr val="FFFFFF"/>
                        </a:solidFill>
                        <a:latin typeface="Calibri"/>
                      </a:defRPr>
                    </a:pPr>
                    <a:r>
                      <a:t>54.1%</a:t>
                    </a:r>
                  </a:p>
                </c:rich>
              </c:tx>
              <c:showLegendKey val="0"/>
              <c:showVal val="1"/>
              <c:showCatName val="0"/>
              <c:showSerName val="0"/>
              <c:showPercent val="0"/>
              <c:showBubbleSize val="0"/>
            </c:dLbl>
            <c:dLbl>
              <c:idx val="1"/>
              <c:tx>
                <c:rich>
                  <a:bodyPr/>
                  <a:lstStyle/>
                  <a:p>
                    <a:pPr>
                      <a:defRPr sz="1100" b="1">
                        <a:solidFill>
                          <a:srgbClr val="FFFFFF"/>
                        </a:solidFill>
                        <a:latin typeface="Calibri"/>
                      </a:defRPr>
                    </a:pPr>
                    <a:r>
                      <a:t>11.1%</a:t>
                    </a:r>
                  </a:p>
                </c:rich>
              </c:tx>
              <c:showLegendKey val="0"/>
              <c:showVal val="1"/>
              <c:showCatName val="0"/>
              <c:showSerName val="0"/>
              <c:showPercent val="0"/>
              <c:showBubbleSize val="0"/>
            </c:dLbl>
            <c:dLbl>
              <c:idx val="2"/>
              <c:tx>
                <c:rich>
                  <a:bodyPr/>
                  <a:lstStyle/>
                  <a:p>
                    <a:pPr>
                      <a:defRPr sz="1100" b="1">
                        <a:solidFill>
                          <a:srgbClr val="FFFFFF"/>
                        </a:solidFill>
                        <a:latin typeface="Calibri"/>
                      </a:defRPr>
                    </a:pPr>
                    <a:r>
                      <a:t>27.8%</a:t>
                    </a:r>
                  </a:p>
                </c:rich>
              </c:tx>
              <c:showLegendKey val="0"/>
              <c:showVal val="1"/>
              <c:showCatName val="0"/>
              <c:showSerName val="0"/>
              <c:showPercent val="0"/>
              <c:showBubbleSize val="0"/>
            </c:dLbl>
            <c:dLbl>
              <c:idx val="3"/>
              <c:tx>
                <c:rich>
                  <a:bodyPr/>
                  <a:lstStyle/>
                  <a:p>
                    <a:pPr>
                      <a:defRPr sz="1100" b="1">
                        <a:solidFill>
                          <a:srgbClr val="FFFFFF"/>
                        </a:solidFill>
                        <a:latin typeface="Calibri"/>
                      </a:defRPr>
                    </a:pPr>
                    <a:r>
                      <a:t>6.9%</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Rollstock Films</c:v>
                </c:pt>
                <c:pt idx="1">
                  <c:v>Barrier Casings</c:v>
                </c:pt>
                <c:pt idx="2">
                  <c:v>Premade Pouches &amp; Bags</c:v>
                </c:pt>
                <c:pt idx="3">
                  <c:v>Sachets &amp; Stick Packs</c:v>
                </c:pt>
              </c:strCache>
            </c:strRef>
          </c:cat>
          <c:val>
            <c:numRef>
              <c:f>Sheet1!$B$2:$B$5</c:f>
              <c:numCache>
                <c:formatCode>General</c:formatCode>
                <c:ptCount val="4"/>
                <c:pt idx="0">
                  <c:v>8998.335</c:v>
                </c:pt>
                <c:pt idx="1">
                  <c:v>1849.445</c:v>
                </c:pt>
                <c:pt idx="2">
                  <c:v>4618.004</c:v>
                </c:pt>
                <c:pt idx="3">
                  <c:v>1152.48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f>Sheet1!$B$1</c: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0.09605632971006663</c:v>
                </c:pt>
                <c:pt idx="1">
                  <c:v>0.09432632971006663</c:v>
                </c:pt>
                <c:pt idx="2">
                  <c:v>0.09093632971006663</c:v>
                </c:pt>
                <c:pt idx="3">
                  <c:v>0.08754632971006664</c:v>
                </c:pt>
                <c:pt idx="4">
                  <c:v>0.08588632971006663</c:v>
                </c:pt>
                <c:pt idx="5">
                  <c:v>0.08629632971006664</c:v>
                </c:pt>
                <c:pt idx="6">
                  <c:v>0.08749632971006663</c:v>
                </c:pt>
                <c:pt idx="7">
                  <c:v>0.08796632971006663</c:v>
                </c:pt>
                <c:pt idx="8">
                  <c:v>0.08704632971006664</c:v>
                </c:pt>
                <c:pt idx="9">
                  <c:v>0.08390632971006663</c:v>
                </c:pt>
                <c:pt idx="10">
                  <c:v>0.08130632971006663</c:v>
                </c:pt>
              </c:numCache>
            </c:numRef>
          </c:val>
          <c:smooth val="0"/>
        </c:ser>
        <c:ser>
          <c:idx val="1"/>
          <c:order val="1"/>
          <c:tx>
            <c:strRef>
              <c:f>Sheet1!$C$1</c: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0.07851809533025622</c:v>
                </c:pt>
                <c:pt idx="1">
                  <c:v>0.07719854195175557</c:v>
                </c:pt>
                <c:pt idx="2">
                  <c:v>0.07507612778272138</c:v>
                </c:pt>
                <c:pt idx="3">
                  <c:v>0.07358964295272366</c:v>
                </c:pt>
                <c:pt idx="4">
                  <c:v>0.07189648108753909</c:v>
                </c:pt>
                <c:pt idx="5">
                  <c:v>0.07030665773994793</c:v>
                </c:pt>
                <c:pt idx="6">
                  <c:v>0.06845451354000423</c:v>
                </c:pt>
                <c:pt idx="7">
                  <c:v>0.0662526082035905</c:v>
                </c:pt>
                <c:pt idx="8">
                  <c:v>0.06537025624567741</c:v>
                </c:pt>
                <c:pt idx="9">
                  <c:v>0.06464688662252344</c:v>
                </c:pt>
                <c:pt idx="10">
                  <c:v>0.06380428024830012</c:v>
                </c:pt>
              </c:numCache>
            </c:numRef>
          </c:val>
          <c:smooth val="0"/>
        </c:ser>
        <c:ser>
          <c:idx val="2"/>
          <c:order val="2"/>
          <c:tx>
            <c:strRef>
              <c:f>Sheet1!$D$1</c: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Sheet1!$D$2:$D$12</c:f>
              <c:numCache>
                <c:formatCode>General</c:formatCode>
                <c:ptCount val="11"/>
                <c:pt idx="0">
                  <c:v>0.05706200865051527</c:v>
                </c:pt>
                <c:pt idx="1">
                  <c:v>0.05948200865051527</c:v>
                </c:pt>
                <c:pt idx="2">
                  <c:v>0.05706200865051527</c:v>
                </c:pt>
                <c:pt idx="3">
                  <c:v>0.051612008650515274</c:v>
                </c:pt>
                <c:pt idx="4">
                  <c:v>0.04691200865051527</c:v>
                </c:pt>
                <c:pt idx="5">
                  <c:v>0.045222008650515275</c:v>
                </c:pt>
                <c:pt idx="6">
                  <c:v>0.04619200865051527</c:v>
                </c:pt>
                <c:pt idx="7">
                  <c:v>0.04839200865051527</c:v>
                </c:pt>
                <c:pt idx="8">
                  <c:v>0.05335200865051527</c:v>
                </c:pt>
                <c:pt idx="9">
                  <c:v>0.05746200865051527</c:v>
                </c:pt>
                <c:pt idx="10">
                  <c:v>0.05866200865051527</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Mexico</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33.59833425972491</c:v>
                </c:pt>
                <c:pt idx="1">
                  <c:v>35.65456939935835</c:v>
                </c:pt>
              </c:numCache>
            </c:numRef>
          </c:val>
        </c:ser>
        <c:ser>
          <c:idx val="1"/>
          <c:order val="1"/>
          <c:tx>
            <c:strRef>
              <c:f>Sheet1!$C$1</c:f>
              <c:strCache>
                <c:ptCount val="1"/>
                <c:pt idx="0">
                  <c:v>Brazil</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37.543421296418835</c:v>
                </c:pt>
                <c:pt idx="1">
                  <c:v>34.42282598912607</c:v>
                </c:pt>
              </c:numCache>
            </c:numRef>
          </c:val>
        </c:ser>
        <c:ser>
          <c:idx val="2"/>
          <c:order val="2"/>
          <c:tx>
            <c:strRef>
              <c:f>Sheet1!$D$1</c:f>
              <c:strCache>
                <c:ptCount val="1"/>
                <c:pt idx="0">
                  <c:v>Rest of Latin America</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20.161986183531404</c:v>
                </c:pt>
                <c:pt idx="1">
                  <c:v>20.190122401436515</c:v>
                </c:pt>
              </c:numCache>
            </c:numRef>
          </c:val>
        </c:ser>
        <c:ser>
          <c:idx val="3"/>
          <c:order val="3"/>
          <c:tx>
            <c:strRef>
              <c:f>Sheet1!$E$1</c:f>
              <c:strCache>
                <c:ptCount val="1"/>
                <c:pt idx="0">
                  <c:v>Colombia</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8.696258260324855</c:v>
                </c:pt>
                <c:pt idx="1">
                  <c:v>9.732482210079079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Brazil</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38.98710067747513</c:v>
                </c:pt>
                <c:pt idx="1">
                  <c:v>35.83545960812037</c:v>
                </c:pt>
              </c:numCache>
            </c:numRef>
          </c:val>
        </c:ser>
        <c:ser>
          <c:idx val="1"/>
          <c:order val="1"/>
          <c:tx>
            <c:strRef>
              <c:f>Sheet1!$C$1</c:f>
              <c:strCache>
                <c:ptCount val="1"/>
                <c:pt idx="0">
                  <c:v>Mexico</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31.603640527794358</c:v>
                </c:pt>
                <c:pt idx="1">
                  <c:v>33.617165593570355</c:v>
                </c:pt>
              </c:numCache>
            </c:numRef>
          </c:val>
        </c:ser>
        <c:ser>
          <c:idx val="2"/>
          <c:order val="2"/>
          <c:tx>
            <c:strRef>
              <c:f>Sheet1!$D$1</c:f>
              <c:strCache>
                <c:ptCount val="1"/>
                <c:pt idx="0">
                  <c:v>Rest of Latin America</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20.589479769452783</c:v>
                </c:pt>
                <c:pt idx="1">
                  <c:v>20.661072581218765</c:v>
                </c:pt>
              </c:numCache>
            </c:numRef>
          </c:val>
        </c:ser>
        <c:ser>
          <c:idx val="3"/>
          <c:order val="3"/>
          <c:tx>
            <c:strRef>
              <c:f>Sheet1!$E$1</c:f>
              <c:strCache>
                <c:ptCount val="1"/>
                <c:pt idx="0">
                  <c:v>Colombia</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8.819779025277732</c:v>
                </c:pt>
                <c:pt idx="1">
                  <c:v>9.88630221709052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Brazil</c:v>
                </c:pt>
              </c:strCache>
            </c:strRef>
          </c:tx>
          <c:spPr>
            <a:solidFill>
              <a:srgbClr val="3D85C6"/>
            </a:solidFill>
            <a:ln>
              <a:noFill/>
            </a:ln>
          </c:spPr>
          <c:dLbls>
            <c:dLbl>
              <c:idx val="0"/>
              <c:tx>
                <c:rich>
                  <a:bodyPr/>
                  <a:lstStyle/>
                  <a:p>
                    <a:r>
                      <a:rPr sz="1100">
                        <a:solidFill>
                          <a:srgbClr val="FFFFFF"/>
                        </a:solidFill>
                        <a:latin typeface="Calibri"/>
                      </a:rPr>
                      <a:t>864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900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937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976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1,019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1,064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1,112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1,165</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1,220</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1,280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1,344</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1,412</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1,482</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1,556</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1,630</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1,706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864.146</c:v>
                </c:pt>
                <c:pt idx="1">
                  <c:v>899.503</c:v>
                </c:pt>
                <c:pt idx="2">
                  <c:v>936.797</c:v>
                </c:pt>
                <c:pt idx="3">
                  <c:v>976.403</c:v>
                </c:pt>
                <c:pt idx="4">
                  <c:v>1018.508</c:v>
                </c:pt>
                <c:pt idx="5">
                  <c:v>1063.821</c:v>
                </c:pt>
                <c:pt idx="6">
                  <c:v>1112.38</c:v>
                </c:pt>
                <c:pt idx="7">
                  <c:v>1164.539</c:v>
                </c:pt>
                <c:pt idx="8">
                  <c:v>1220.473</c:v>
                </c:pt>
                <c:pt idx="9">
                  <c:v>1280.4</c:v>
                </c:pt>
                <c:pt idx="10">
                  <c:v>1344.275</c:v>
                </c:pt>
                <c:pt idx="11">
                  <c:v>1411.82</c:v>
                </c:pt>
                <c:pt idx="12">
                  <c:v>1482.5</c:v>
                </c:pt>
                <c:pt idx="13">
                  <c:v>1555.657</c:v>
                </c:pt>
                <c:pt idx="14">
                  <c:v>1630.17</c:v>
                </c:pt>
                <c:pt idx="15">
                  <c:v>1705.766</c:v>
                </c:pt>
              </c:numCache>
            </c:numRef>
          </c:val>
        </c:ser>
        <c:ser>
          <c:idx val="1"/>
          <c:order val="1"/>
          <c:tx>
            <c:strRef>
              <c:f>Sheet1!$C$1</c:f>
              <c:strCache>
                <c:ptCount val="1"/>
                <c:pt idx="0">
                  <c:v>Mexico</c:v>
                </c:pt>
              </c:strCache>
            </c:strRef>
          </c:tx>
          <c:spPr>
            <a:solidFill>
              <a:srgbClr val="9E7E0A"/>
            </a:solidFill>
            <a:ln>
              <a:noFill/>
            </a:ln>
          </c:spPr>
          <c:dLbls>
            <c:dLbl>
              <c:idx val="0"/>
              <c:tx>
                <c:rich>
                  <a:bodyPr/>
                  <a:lstStyle/>
                  <a:p>
                    <a:r>
                      <a:rPr sz="1100">
                        <a:solidFill>
                          <a:srgbClr val="FFFFFF"/>
                        </a:solidFill>
                        <a:latin typeface="Calibri"/>
                      </a:rPr>
                      <a:t>737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776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859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903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952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1,005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1,064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1,129</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1,202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1,282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1,369</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1,462</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1,560</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1,662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1,767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736.713</c:v>
                </c:pt>
                <c:pt idx="1">
                  <c:v>775.651</c:v>
                </c:pt>
                <c:pt idx="2">
                  <c:v>816.219</c:v>
                </c:pt>
                <c:pt idx="3">
                  <c:v>858.719</c:v>
                </c:pt>
                <c:pt idx="4">
                  <c:v>903.353</c:v>
                </c:pt>
                <c:pt idx="5">
                  <c:v>952.034</c:v>
                </c:pt>
                <c:pt idx="6">
                  <c:v>1005.208</c:v>
                </c:pt>
                <c:pt idx="7">
                  <c:v>1064.036</c:v>
                </c:pt>
                <c:pt idx="8">
                  <c:v>1129.242</c:v>
                </c:pt>
                <c:pt idx="9">
                  <c:v>1201.816</c:v>
                </c:pt>
                <c:pt idx="10">
                  <c:v>1281.578</c:v>
                </c:pt>
                <c:pt idx="11">
                  <c:v>1368.578</c:v>
                </c:pt>
                <c:pt idx="12">
                  <c:v>1461.609</c:v>
                </c:pt>
                <c:pt idx="13">
                  <c:v>1559.697</c:v>
                </c:pt>
                <c:pt idx="14">
                  <c:v>1661.505</c:v>
                </c:pt>
                <c:pt idx="15">
                  <c:v>1766.803</c:v>
                </c:pt>
              </c:numCache>
            </c:numRef>
          </c:val>
        </c:ser>
        <c:ser>
          <c:idx val="2"/>
          <c:order val="2"/>
          <c:tx>
            <c:strRef>
              <c:f>Sheet1!$D$1</c:f>
              <c:strCache>
                <c:ptCount val="1"/>
                <c:pt idx="0">
                  <c:v>Rest of Latin America</c:v>
                </c:pt>
              </c:strCache>
            </c:strRef>
          </c:tx>
          <c:spPr>
            <a:solidFill>
              <a:srgbClr val="008189"/>
            </a:solidFill>
            <a:ln>
              <a:noFill/>
            </a:ln>
          </c:spPr>
          <c:dLbls>
            <c:dLbl>
              <c:idx val="0"/>
              <c:tx>
                <c:rich>
                  <a:bodyPr/>
                  <a:lstStyle/>
                  <a:p>
                    <a:r>
                      <a:rPr sz="1100">
                        <a:solidFill>
                          <a:srgbClr val="FFFFFF"/>
                        </a:solidFill>
                        <a:latin typeface="Calibri"/>
                      </a:rPr>
                      <a:t>453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474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496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520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544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571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601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633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669</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708</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750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795</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844</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895</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947</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1,000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452.929</c:v>
                </c:pt>
                <c:pt idx="1">
                  <c:v>474.167</c:v>
                </c:pt>
                <c:pt idx="2">
                  <c:v>496.379</c:v>
                </c:pt>
                <c:pt idx="3">
                  <c:v>519.753</c:v>
                </c:pt>
                <c:pt idx="4">
                  <c:v>544.414</c:v>
                </c:pt>
                <c:pt idx="5">
                  <c:v>571.305</c:v>
                </c:pt>
                <c:pt idx="6">
                  <c:v>600.68</c:v>
                </c:pt>
                <c:pt idx="7">
                  <c:v>633.028</c:v>
                </c:pt>
                <c:pt idx="8">
                  <c:v>668.565</c:v>
                </c:pt>
                <c:pt idx="9">
                  <c:v>707.533</c:v>
                </c:pt>
                <c:pt idx="10">
                  <c:v>749.854</c:v>
                </c:pt>
                <c:pt idx="11">
                  <c:v>795.464</c:v>
                </c:pt>
                <c:pt idx="12">
                  <c:v>843.917</c:v>
                </c:pt>
                <c:pt idx="13">
                  <c:v>894.598</c:v>
                </c:pt>
                <c:pt idx="14">
                  <c:v>946.841</c:v>
                </c:pt>
                <c:pt idx="15">
                  <c:v>1000.488</c:v>
                </c:pt>
              </c:numCache>
            </c:numRef>
          </c:val>
        </c:ser>
        <c:ser>
          <c:idx val="3"/>
          <c:order val="3"/>
          <c:tx>
            <c:strRef>
              <c:f>Sheet1!$E$1</c:f>
              <c:strCache>
                <c:ptCount val="1"/>
                <c:pt idx="0">
                  <c:v>Colombia</c:v>
                </c:pt>
              </c:strCache>
            </c:strRef>
          </c:tx>
          <c:spPr>
            <a:solidFill>
              <a:srgbClr val="40315E"/>
            </a:solidFill>
            <a:ln>
              <a:noFill/>
            </a:ln>
          </c:spPr>
          <c:dLbls>
            <c:dLbl>
              <c:idx val="8"/>
              <c:tx>
                <c:rich>
                  <a:bodyPr/>
                  <a:lstStyle/>
                  <a:p>
                    <a:r>
                      <a:rPr sz="1100">
                        <a:solidFill>
                          <a:srgbClr val="FFFFFF"/>
                        </a:solidFill>
                        <a:latin typeface="Calibri"/>
                      </a:rPr>
                      <a:t>300</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322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345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370</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396</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424</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453</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482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183.01</c:v>
                </c:pt>
                <c:pt idx="1">
                  <c:v>193.811</c:v>
                </c:pt>
                <c:pt idx="2">
                  <c:v>205.454</c:v>
                </c:pt>
                <c:pt idx="3">
                  <c:v>218.025</c:v>
                </c:pt>
                <c:pt idx="4">
                  <c:v>231.593</c:v>
                </c:pt>
                <c:pt idx="5">
                  <c:v>246.415</c:v>
                </c:pt>
                <c:pt idx="6">
                  <c:v>262.567</c:v>
                </c:pt>
                <c:pt idx="7">
                  <c:v>280.354</c:v>
                </c:pt>
                <c:pt idx="8">
                  <c:v>299.995</c:v>
                </c:pt>
                <c:pt idx="9">
                  <c:v>321.581</c:v>
                </c:pt>
                <c:pt idx="10">
                  <c:v>344.973</c:v>
                </c:pt>
                <c:pt idx="11">
                  <c:v>369.951</c:v>
                </c:pt>
                <c:pt idx="12">
                  <c:v>396.319</c:v>
                </c:pt>
                <c:pt idx="13">
                  <c:v>423.99</c:v>
                </c:pt>
                <c:pt idx="14">
                  <c:v>452.681</c:v>
                </c:pt>
                <c:pt idx="15">
                  <c:v>482.277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Brazil</c:v>
                </c:pt>
              </c:strCache>
            </c:strRef>
          </c:tx>
          <c:spPr>
            <a:solidFill>
              <a:srgbClr val="3D85C6"/>
            </a:solidFill>
            <a:ln>
              <a:noFill/>
            </a:ln>
          </c:spPr>
          <c:dLbls>
            <c:dLbl>
              <c:idx val="0"/>
              <c:tx>
                <c:rich>
                  <a:bodyPr/>
                  <a:lstStyle/>
                  <a:p>
                    <a:r>
                      <a:rPr sz="1100">
                        <a:solidFill>
                          <a:srgbClr val="FFFFFF"/>
                        </a:solidFill>
                        <a:latin typeface="Calibri"/>
                      </a:rPr>
                      <a:t>2,571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2,686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2,807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2,939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3,081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3,245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3,425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3,623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3,839</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4,076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4,335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4,617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4,921</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5,246</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5,591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5,955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2571.294</c:v>
                </c:pt>
                <c:pt idx="1">
                  <c:v>2685.685</c:v>
                </c:pt>
                <c:pt idx="2">
                  <c:v>2807.481</c:v>
                </c:pt>
                <c:pt idx="3">
                  <c:v>2939.311</c:v>
                </c:pt>
                <c:pt idx="4">
                  <c:v>3080.529</c:v>
                </c:pt>
                <c:pt idx="5">
                  <c:v>3245.227</c:v>
                </c:pt>
                <c:pt idx="6">
                  <c:v>3425.282</c:v>
                </c:pt>
                <c:pt idx="7">
                  <c:v>3622.797</c:v>
                </c:pt>
                <c:pt idx="8">
                  <c:v>3838.873</c:v>
                </c:pt>
                <c:pt idx="9">
                  <c:v>4075.982</c:v>
                </c:pt>
                <c:pt idx="10">
                  <c:v>4335.352</c:v>
                </c:pt>
                <c:pt idx="11">
                  <c:v>4617.308</c:v>
                </c:pt>
                <c:pt idx="12">
                  <c:v>4921.463</c:v>
                </c:pt>
                <c:pt idx="13">
                  <c:v>5246.437</c:v>
                </c:pt>
                <c:pt idx="14">
                  <c:v>5591.081</c:v>
                </c:pt>
                <c:pt idx="15">
                  <c:v>5955.232</c:v>
                </c:pt>
              </c:numCache>
            </c:numRef>
          </c:val>
        </c:ser>
        <c:ser>
          <c:idx val="1"/>
          <c:order val="1"/>
          <c:tx>
            <c:strRef>
              <c:f>Sheet1!$C$1</c:f>
              <c:strCache>
                <c:ptCount val="1"/>
                <c:pt idx="0">
                  <c:v>Mexico</c:v>
                </c:pt>
              </c:strCache>
            </c:strRef>
          </c:tx>
          <c:spPr>
            <a:solidFill>
              <a:srgbClr val="9E7E0A"/>
            </a:solidFill>
            <a:ln>
              <a:noFill/>
            </a:ln>
          </c:spPr>
          <c:dLbls>
            <c:dLbl>
              <c:idx val="0"/>
              <c:tx>
                <c:rich>
                  <a:bodyPr/>
                  <a:lstStyle/>
                  <a:p>
                    <a:r>
                      <a:rPr sz="1100">
                        <a:solidFill>
                          <a:srgbClr val="FFFFFF"/>
                        </a:solidFill>
                        <a:latin typeface="Calibri"/>
                      </a:rPr>
                      <a:t>1,992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2,102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2,219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2,343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2,475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2,631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2,803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2,998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3,218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3,467</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3,746</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4,057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4,398</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4,767</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5,163</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5,587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1991.612</c:v>
                </c:pt>
                <c:pt idx="1">
                  <c:v>2102.23</c:v>
                </c:pt>
                <c:pt idx="2">
                  <c:v>2218.746</c:v>
                </c:pt>
                <c:pt idx="3">
                  <c:v>2343.194</c:v>
                </c:pt>
                <c:pt idx="4">
                  <c:v>2475.429</c:v>
                </c:pt>
                <c:pt idx="5">
                  <c:v>2630.639</c:v>
                </c:pt>
                <c:pt idx="6">
                  <c:v>2803.466</c:v>
                </c:pt>
                <c:pt idx="7">
                  <c:v>2998.184</c:v>
                </c:pt>
                <c:pt idx="8">
                  <c:v>3218.018</c:v>
                </c:pt>
                <c:pt idx="9">
                  <c:v>3467.288</c:v>
                </c:pt>
                <c:pt idx="10">
                  <c:v>3746.491</c:v>
                </c:pt>
                <c:pt idx="11">
                  <c:v>4057.409</c:v>
                </c:pt>
                <c:pt idx="12">
                  <c:v>4397.893</c:v>
                </c:pt>
                <c:pt idx="13">
                  <c:v>4766.847</c:v>
                </c:pt>
                <c:pt idx="14">
                  <c:v>5162.839</c:v>
                </c:pt>
                <c:pt idx="15">
                  <c:v>5586.59</c:v>
                </c:pt>
              </c:numCache>
            </c:numRef>
          </c:val>
        </c:ser>
        <c:ser>
          <c:idx val="2"/>
          <c:order val="2"/>
          <c:tx>
            <c:strRef>
              <c:f>Sheet1!$D$1</c:f>
              <c:strCache>
                <c:ptCount val="1"/>
                <c:pt idx="0">
                  <c:v>Rest of Latin America</c:v>
                </c:pt>
              </c:strCache>
            </c:strRef>
          </c:tx>
          <c:spPr>
            <a:solidFill>
              <a:srgbClr val="008189"/>
            </a:solidFill>
            <a:ln>
              <a:noFill/>
            </a:ln>
          </c:spPr>
          <c:dLbls>
            <c:dLbl>
              <c:idx val="0"/>
              <c:tx>
                <c:rich>
                  <a:bodyPr/>
                  <a:lstStyle/>
                  <a:p>
                    <a:r>
                      <a:rPr sz="1100">
                        <a:solidFill>
                          <a:srgbClr val="FFFFFF"/>
                        </a:solidFill>
                        <a:latin typeface="Calibri"/>
                      </a:rPr>
                      <a:t>1,325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1,392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1,462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1,538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1,619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1,714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1,820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1,938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2,070</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2,218</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2,381</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2,561</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2,758</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2,968</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3,194</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3,434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1325.234</c:v>
                </c:pt>
                <c:pt idx="1">
                  <c:v>1391.94</c:v>
                </c:pt>
                <c:pt idx="2">
                  <c:v>1462.482</c:v>
                </c:pt>
                <c:pt idx="3">
                  <c:v>1538.188</c:v>
                </c:pt>
                <c:pt idx="4">
                  <c:v>1618.852</c:v>
                </c:pt>
                <c:pt idx="5">
                  <c:v>1713.837</c:v>
                </c:pt>
                <c:pt idx="6">
                  <c:v>1819.574</c:v>
                </c:pt>
                <c:pt idx="7">
                  <c:v>1938.037</c:v>
                </c:pt>
                <c:pt idx="8">
                  <c:v>2070.267</c:v>
                </c:pt>
                <c:pt idx="9">
                  <c:v>2217.809</c:v>
                </c:pt>
                <c:pt idx="10">
                  <c:v>2381.251</c:v>
                </c:pt>
                <c:pt idx="11">
                  <c:v>2561.309</c:v>
                </c:pt>
                <c:pt idx="12">
                  <c:v>2757.516</c:v>
                </c:pt>
                <c:pt idx="13">
                  <c:v>2968.469</c:v>
                </c:pt>
                <c:pt idx="14">
                  <c:v>3193.851</c:v>
                </c:pt>
                <c:pt idx="15">
                  <c:v>3433.512</c:v>
                </c:pt>
              </c:numCache>
            </c:numRef>
          </c:val>
        </c:ser>
        <c:ser>
          <c:idx val="3"/>
          <c:order val="3"/>
          <c:tx>
            <c:strRef>
              <c:f>Sheet1!$E$1</c:f>
              <c:strCache>
                <c:ptCount val="1"/>
                <c:pt idx="0">
                  <c:v>Colombia</c:v>
                </c:pt>
              </c:strCache>
            </c:strRef>
          </c:tx>
          <c:spPr>
            <a:solidFill>
              <a:srgbClr val="40315E"/>
            </a:solidFill>
            <a:ln>
              <a:noFill/>
            </a:ln>
          </c:spPr>
          <c:dLbls>
            <c:dLbl>
              <c:idx val="9"/>
              <c:tx>
                <c:rich>
                  <a:bodyPr/>
                  <a:lstStyle/>
                  <a:p>
                    <a:r>
                      <a:rPr sz="1100">
                        <a:solidFill>
                          <a:srgbClr val="FFFFFF"/>
                        </a:solidFill>
                        <a:latin typeface="Calibri"/>
                      </a:rPr>
                      <a:t>1,002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1,089</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1,184</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1,287</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1,398</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1,517</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1,643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530.985</c:v>
                </c:pt>
                <c:pt idx="1">
                  <c:v>564.381</c:v>
                </c:pt>
                <c:pt idx="2">
                  <c:v>600.648</c:v>
                </c:pt>
                <c:pt idx="3">
                  <c:v>640.41</c:v>
                </c:pt>
                <c:pt idx="4">
                  <c:v>683.691</c:v>
                </c:pt>
                <c:pt idx="5">
                  <c:v>734.145</c:v>
                </c:pt>
                <c:pt idx="6">
                  <c:v>790.145</c:v>
                </c:pt>
                <c:pt idx="7">
                  <c:v>852.92</c:v>
                </c:pt>
                <c:pt idx="8">
                  <c:v>923.438</c:v>
                </c:pt>
                <c:pt idx="9">
                  <c:v>1002.289</c:v>
                </c:pt>
                <c:pt idx="10">
                  <c:v>1089.285</c:v>
                </c:pt>
                <c:pt idx="11">
                  <c:v>1184.279</c:v>
                </c:pt>
                <c:pt idx="12">
                  <c:v>1287.068</c:v>
                </c:pt>
                <c:pt idx="13">
                  <c:v>1397.919</c:v>
                </c:pt>
                <c:pt idx="14">
                  <c:v>1516.55</c:v>
                </c:pt>
                <c:pt idx="15">
                  <c:v>1642.932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Rollstock Films</c:v>
                </c:pt>
              </c:strCache>
            </c:strRef>
          </c:tx>
          <c:spPr>
            <a:solidFill>
              <a:srgbClr val="3D85C6"/>
            </a:solidFill>
            <a:ln>
              <a:noFill/>
            </a:ln>
          </c:spPr>
          <c:dLbls>
            <c:dLbl>
              <c:idx val="0"/>
              <c:tx>
                <c:rich>
                  <a:bodyPr/>
                  <a:lstStyle/>
                  <a:p>
                    <a:r>
                      <a:rPr sz="1100">
                        <a:solidFill>
                          <a:srgbClr val="FFFFFF"/>
                        </a:solidFill>
                        <a:latin typeface="Calibri"/>
                      </a:rPr>
                      <a:t>55%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55%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54%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54%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Sheet1!$B$2:$B$5</c:f>
              <c:numCache>
                <c:formatCode>General</c:formatCode>
                <c:ptCount val="4"/>
                <c:pt idx="0">
                  <c:v>55.19966109411577</c:v>
                </c:pt>
                <c:pt idx="1">
                  <c:v>54.854886107802216</c:v>
                </c:pt>
                <c:pt idx="2">
                  <c:v>53.90665862359686</c:v>
                </c:pt>
                <c:pt idx="3">
                  <c:v>53.67468471421433</c:v>
                </c:pt>
              </c:numCache>
            </c:numRef>
          </c:val>
        </c:ser>
        <c:ser>
          <c:idx val="1"/>
          <c:order val="1"/>
          <c:tx>
            <c:strRef>
              <c:f>Sheet1!$C$1</c:f>
              <c:strCache>
                <c:ptCount val="1"/>
                <c:pt idx="0">
                  <c:v>Barrier Casings</c:v>
                </c:pt>
              </c:strCache>
            </c:strRef>
          </c:tx>
          <c:spPr>
            <a:solidFill>
              <a:srgbClr val="9E7E0A"/>
            </a:solidFill>
            <a:ln>
              <a:noFill/>
            </a:ln>
          </c:spPr>
          <c:dLbls>
            <c:dLbl>
              <c:idx val="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Sheet1!$C$2:$C$5</c:f>
              <c:numCache>
                <c:formatCode>General</c:formatCode>
                <c:ptCount val="4"/>
                <c:pt idx="0">
                  <c:v>10.555201852295953</c:v>
                </c:pt>
                <c:pt idx="1">
                  <c:v>10.917574144243062</c:v>
                </c:pt>
                <c:pt idx="2">
                  <c:v>11.44435156329711</c:v>
                </c:pt>
                <c:pt idx="3">
                  <c:v>11.113320186350425</c:v>
                </c:pt>
              </c:numCache>
            </c:numRef>
          </c:val>
        </c:ser>
        <c:ser>
          <c:idx val="2"/>
          <c:order val="2"/>
          <c:tx>
            <c:strRef>
              <c:f>Sheet1!$D$1</c:f>
              <c:strCache>
                <c:ptCount val="1"/>
                <c:pt idx="0">
                  <c:v>Premade Pouches &amp; Bags</c:v>
                </c:pt>
              </c:strCache>
            </c:strRef>
          </c:tx>
          <c:spPr>
            <a:solidFill>
              <a:srgbClr val="008189"/>
            </a:solidFill>
            <a:ln>
              <a:noFill/>
            </a:ln>
          </c:spPr>
          <c:dLbls>
            <c:dLbl>
              <c:idx val="0"/>
              <c:tx>
                <c:rich>
                  <a:bodyPr/>
                  <a:lstStyle/>
                  <a:p>
                    <a:r>
                      <a:rPr sz="1100">
                        <a:solidFill>
                          <a:srgbClr val="FFFFFF"/>
                        </a:solidFill>
                        <a:latin typeface="Calibri"/>
                      </a:rPr>
                      <a:t>27%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Sheet1!$D$2:$D$5</c:f>
              <c:numCache>
                <c:formatCode>General</c:formatCode>
                <c:ptCount val="4"/>
                <c:pt idx="0">
                  <c:v>27.461906564718973</c:v>
                </c:pt>
                <c:pt idx="1">
                  <c:v>27.72367052957469</c:v>
                </c:pt>
                <c:pt idx="2">
                  <c:v>27.343316763893537</c:v>
                </c:pt>
                <c:pt idx="3">
                  <c:v>28.334227784912493</c:v>
                </c:pt>
              </c:numCache>
            </c:numRef>
          </c:val>
        </c:ser>
        <c:ser>
          <c:idx val="3"/>
          <c:order val="3"/>
          <c:tx>
            <c:strRef>
              <c:f>Sheet1!$E$1</c:f>
              <c:strCache>
                <c:ptCount val="1"/>
                <c:pt idx="0">
                  <c:v>Sachets &amp; Stick Packs</c:v>
                </c:pt>
              </c:strCache>
            </c:strRef>
          </c:tx>
          <c:spPr>
            <a:solidFill>
              <a:srgbClr val="40315E"/>
            </a:solidFill>
            <a:ln>
              <a:noFill/>
            </a:ln>
          </c:spPr>
          <c:dLbls>
            <c:dLbl>
              <c:idx val="2"/>
              <c:tx>
                <c:rich>
                  <a:bodyPr/>
                  <a:lstStyle/>
                  <a:p>
                    <a:r>
                      <a:rPr sz="1100">
                        <a:solidFill>
                          <a:srgbClr val="FFFFFF"/>
                        </a:solidFill>
                        <a:latin typeface="Calibri"/>
                      </a:rPr>
                      <a:t>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Sheet1!$E$2:$E$5</c:f>
              <c:numCache>
                <c:formatCode>General</c:formatCode>
                <c:ptCount val="4"/>
                <c:pt idx="0">
                  <c:v>6.783230488869303</c:v>
                </c:pt>
                <c:pt idx="1">
                  <c:v>6.503869218380025</c:v>
                </c:pt>
                <c:pt idx="2">
                  <c:v>7.305673049212488</c:v>
                </c:pt>
                <c:pt idx="3">
                  <c:v>6.877767314522759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Rollstock Films</c:v>
                </c:pt>
              </c:strCache>
            </c:strRef>
          </c:tx>
          <c:spPr>
            <a:solidFill>
              <a:srgbClr val="3D85C6"/>
            </a:solidFill>
          </c:spPr>
          <c:invertIfNegative val="0"/>
          <c:xVal>
            <c:numRef>
              <c:f>Sheet1!$A$2:$A$2</c:f>
              <c:numCache>
                <c:formatCode>General</c:formatCode>
                <c:ptCount val="1"/>
                <c:pt idx="0">
                  <c:v>100.105023896825</c:v>
                </c:pt>
              </c:numCache>
            </c:numRef>
          </c:xVal>
          <c:yVal>
            <c:numRef>
              <c:f>Sheet1!$B$2:$B$2</c:f>
              <c:numCache>
                <c:formatCode>General</c:formatCode>
                <c:ptCount val="1"/>
                <c:pt idx="0">
                  <c:v>216.43715348066098</c:v>
                </c:pt>
              </c:numCache>
            </c:numRef>
          </c:yVal>
          <c:bubbleSize>
            <c:numRef>
              <c:f>Sheet1!$C$2:$C$2</c:f>
              <c:numCache>
                <c:formatCode>General</c:formatCode>
                <c:ptCount val="1"/>
                <c:pt idx="0">
                  <c:v>8998.335</c:v>
                </c:pt>
              </c:numCache>
            </c:numRef>
          </c:bubbleSize>
          <c:bubble3D val="0"/>
        </c:ser>
        <c:ser>
          <c:idx val="1"/>
          <c:order val="1"/>
          <c:tx>
            <c:strRef>
              <c:f>Sheet1!$B$4</c:f>
              <c:strCache>
                <c:ptCount val="1"/>
                <c:pt idx="0">
                  <c:v>Barrier Casings</c:v>
                </c:pt>
              </c:strCache>
            </c:strRef>
          </c:tx>
          <c:spPr>
            <a:solidFill>
              <a:srgbClr val="9E7E0A"/>
            </a:solidFill>
          </c:spPr>
          <c:invertIfNegative val="0"/>
          <c:xVal>
            <c:numRef>
              <c:f>Sheet1!$A$5:$A$5</c:f>
              <c:numCache>
                <c:formatCode>General</c:formatCode>
                <c:ptCount val="1"/>
                <c:pt idx="0">
                  <c:v>98.68331687140493</c:v>
                </c:pt>
              </c:numCache>
            </c:numRef>
          </c:xVal>
          <c:yVal>
            <c:numRef>
              <c:f>Sheet1!$B$5:$B$5</c:f>
              <c:numCache>
                <c:formatCode>General</c:formatCode>
                <c:ptCount val="1"/>
                <c:pt idx="0">
                  <c:v>44.90941090961514</c:v>
                </c:pt>
              </c:numCache>
            </c:numRef>
          </c:yVal>
          <c:bubbleSize>
            <c:numRef>
              <c:f>Sheet1!$C$5:$C$5</c:f>
              <c:numCache>
                <c:formatCode>General</c:formatCode>
                <c:ptCount val="1"/>
                <c:pt idx="0">
                  <c:v>1849.445</c:v>
                </c:pt>
              </c:numCache>
            </c:numRef>
          </c:bubbleSize>
          <c:bubble3D val="0"/>
        </c:ser>
        <c:ser>
          <c:idx val="2"/>
          <c:order val="2"/>
          <c:tx>
            <c:strRef>
              <c:f>Sheet1!$B$7</c:f>
              <c:strCache>
                <c:ptCount val="1"/>
                <c:pt idx="0">
                  <c:v>Premade Pouches &amp; Bags</c:v>
                </c:pt>
              </c:strCache>
            </c:strRef>
          </c:tx>
          <c:spPr>
            <a:solidFill>
              <a:srgbClr val="008189"/>
            </a:solidFill>
          </c:spPr>
          <c:invertIfNegative val="0"/>
          <c:xVal>
            <c:numRef>
              <c:f>Sheet1!$A$8:$A$8</c:f>
              <c:numCache>
                <c:formatCode>General</c:formatCode>
                <c:ptCount val="1"/>
                <c:pt idx="0">
                  <c:v>101.15575170571401</c:v>
                </c:pt>
              </c:numCache>
            </c:numRef>
          </c:xVal>
          <c:yVal>
            <c:numRef>
              <c:f>Sheet1!$B$8:$B$8</c:f>
              <c:numCache>
                <c:formatCode>General</c:formatCode>
                <c:ptCount val="1"/>
                <c:pt idx="0">
                  <c:v>110.3003538026274</c:v>
                </c:pt>
              </c:numCache>
            </c:numRef>
          </c:yVal>
          <c:bubbleSize>
            <c:numRef>
              <c:f>Sheet1!$C$8:$C$8</c:f>
              <c:numCache>
                <c:formatCode>General</c:formatCode>
                <c:ptCount val="1"/>
                <c:pt idx="0">
                  <c:v>4618.004</c:v>
                </c:pt>
              </c:numCache>
            </c:numRef>
          </c:bubbleSize>
          <c:bubble3D val="0"/>
        </c:ser>
        <c:ser>
          <c:idx val="3"/>
          <c:order val="3"/>
          <c:tx>
            <c:strRef>
              <c:f>Sheet1!$B$10</c:f>
              <c:strCache>
                <c:ptCount val="1"/>
                <c:pt idx="0">
                  <c:v>Sachets &amp; Stick Packs</c:v>
                </c:pt>
              </c:strCache>
            </c:strRef>
          </c:tx>
          <c:spPr>
            <a:solidFill>
              <a:srgbClr val="40315E"/>
            </a:solidFill>
          </c:spPr>
          <c:invertIfNegative val="0"/>
          <c:xVal>
            <c:numRef>
              <c:f>Sheet1!$A$11:$A$11</c:f>
              <c:numCache>
                <c:formatCode>General</c:formatCode>
                <c:ptCount val="1"/>
                <c:pt idx="0">
                  <c:v>96.73160319012007</c:v>
                </c:pt>
              </c:numCache>
            </c:numRef>
          </c:xVal>
          <c:yVal>
            <c:numRef>
              <c:f>Sheet1!$B$11:$B$11</c:f>
              <c:numCache>
                <c:formatCode>General</c:formatCode>
                <c:ptCount val="1"/>
                <c:pt idx="0">
                  <c:v>28.353081807096476</c:v>
                </c:pt>
              </c:numCache>
            </c:numRef>
          </c:yVal>
          <c:bubbleSize>
            <c:numRef>
              <c:f>Sheet1!$C$11:$C$11</c:f>
              <c:numCache>
                <c:formatCode>General</c:formatCode>
                <c:ptCount val="1"/>
                <c:pt idx="0">
                  <c:v>1152.48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7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4503.976</c:v>
                </c:pt>
                <c:pt idx="2">
                  <c:v>5092.646</c:v>
                </c:pt>
                <c:pt idx="3">
                  <c:v>5817.698</c:v>
                </c:pt>
                <c:pt idx="4">
                  <c:v>6714.129</c:v>
                </c:pt>
                <c:pt idx="5">
                  <c:v>7779.034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4503.976</c:v>
                </c:pt>
                <c:pt idx="1">
                  <c:v>588.6700000000001</c:v>
                </c:pt>
                <c:pt idx="2">
                  <c:v>725.0520000000006</c:v>
                </c:pt>
                <c:pt idx="3">
                  <c:v>896.4309999999996</c:v>
                </c:pt>
                <c:pt idx="4">
                  <c:v>1064.9049999999997</c:v>
                </c:pt>
                <c:pt idx="5">
                  <c:v>1219.3009999999995</c:v>
                </c:pt>
                <c:pt idx="6">
                  <c:v>8998.335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934.548</c:v>
                </c:pt>
                <c:pt idx="2">
                  <c:v>1051.061</c:v>
                </c:pt>
                <c:pt idx="3">
                  <c:v>1199.917</c:v>
                </c:pt>
                <c:pt idx="4">
                  <c:v>1383.619</c:v>
                </c:pt>
                <c:pt idx="5">
                  <c:v>1601.4080000000001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934.548</c:v>
                </c:pt>
                <c:pt idx="1">
                  <c:v>116.51299999999992</c:v>
                </c:pt>
                <c:pt idx="2">
                  <c:v>148.856</c:v>
                </c:pt>
                <c:pt idx="3">
                  <c:v>183.702</c:v>
                </c:pt>
                <c:pt idx="4">
                  <c:v>217.78900000000021</c:v>
                </c:pt>
                <c:pt idx="5">
                  <c:v>248.0369999999998</c:v>
                </c:pt>
                <c:pt idx="6">
                  <c:v>1849.445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2295.309</c:v>
                </c:pt>
                <c:pt idx="2">
                  <c:v>2600.31</c:v>
                </c:pt>
                <c:pt idx="3">
                  <c:v>2982.056</c:v>
                </c:pt>
                <c:pt idx="4">
                  <c:v>3447.689</c:v>
                </c:pt>
                <c:pt idx="5">
                  <c:v>3994.348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2295.309</c:v>
                </c:pt>
                <c:pt idx="1">
                  <c:v>305.00099999999975</c:v>
                </c:pt>
                <c:pt idx="2">
                  <c:v>381.7460000000001</c:v>
                </c:pt>
                <c:pt idx="3">
                  <c:v>465.6329999999998</c:v>
                </c:pt>
                <c:pt idx="4">
                  <c:v>546.6590000000001</c:v>
                </c:pt>
                <c:pt idx="5">
                  <c:v>623.656</c:v>
                </c:pt>
                <c:pt idx="6">
                  <c:v>4618.004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590.017</c:v>
                </c:pt>
                <c:pt idx="2">
                  <c:v>667.921</c:v>
                </c:pt>
                <c:pt idx="3">
                  <c:v>763.697</c:v>
                </c:pt>
                <c:pt idx="4">
                  <c:v>874.87</c:v>
                </c:pt>
                <c:pt idx="5">
                  <c:v>1004.88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590.017</c:v>
                </c:pt>
                <c:pt idx="1">
                  <c:v>77.904</c:v>
                </c:pt>
                <c:pt idx="2">
                  <c:v>95.77599999999995</c:v>
                </c:pt>
                <c:pt idx="3">
                  <c:v>111.173</c:v>
                </c:pt>
                <c:pt idx="4">
                  <c:v>130.01</c:v>
                </c:pt>
                <c:pt idx="5">
                  <c:v>147.60000000000002</c:v>
                </c:pt>
                <c:pt idx="6">
                  <c:v>1152.48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Rollstock Films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53.75943703239351</c:v>
                </c:pt>
                <c:pt idx="1">
                  <c:v>54.109288370165245</c:v>
                </c:pt>
                <c:pt idx="2">
                  <c:v>54.14726231331984</c:v>
                </c:pt>
              </c:numCache>
            </c:numRef>
          </c:val>
        </c:ser>
        <c:ser>
          <c:idx val="1"/>
          <c:order val="1"/>
          <c:tx>
            <c:strRef>
              <c:f>Sheet1!$C$1</c:f>
              <c:strCache>
                <c:ptCount val="1"/>
                <c:pt idx="0">
                  <c:v>Premade Pouches &amp; Bags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27.62740597395969</c:v>
                </c:pt>
                <c:pt idx="1">
                  <c:v>27.57508845065685</c:v>
                </c:pt>
                <c:pt idx="2">
                  <c:v>27.78872690914045</c:v>
                </c:pt>
              </c:numCache>
            </c:numRef>
          </c:val>
        </c:ser>
        <c:ser>
          <c:idx val="2"/>
          <c:order val="2"/>
          <c:tx>
            <c:strRef>
              <c:f>Sheet1!$D$1</c:f>
              <c:strCache>
                <c:ptCount val="1"/>
                <c:pt idx="0">
                  <c:v>Barrier Casings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11.527644106066774</c:v>
                </c:pt>
                <c:pt idx="1">
                  <c:v>11.227352727403785</c:v>
                </c:pt>
                <c:pt idx="2">
                  <c:v>11.128990368669074</c:v>
                </c:pt>
              </c:numCache>
            </c:numRef>
          </c:val>
        </c:ser>
        <c:ser>
          <c:idx val="3"/>
          <c:order val="3"/>
          <c:tx>
            <c:strRef>
              <c:f>Sheet1!$E$1</c:f>
              <c:strCache>
                <c:ptCount val="1"/>
                <c:pt idx="0">
                  <c:v>Sachets &amp; Stick Packs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7.0855128875800215</c:v>
                </c:pt>
                <c:pt idx="1">
                  <c:v>7.088270451774119</c:v>
                </c:pt>
                <c:pt idx="2">
                  <c:v>6.935020408870626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PE-Based</c:v>
                </c:pt>
              </c:strCache>
            </c:strRef>
          </c:tx>
          <c:spPr>
            <a:solidFill>
              <a:srgbClr val="3D85C6"/>
            </a:solidFill>
            <a:ln>
              <a:noFill/>
            </a:ln>
          </c:spPr>
          <c:dLbls>
            <c:dLbl>
              <c:idx val="0"/>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Sheet1!$B$2:$B$5</c:f>
              <c:numCache>
                <c:formatCode>General</c:formatCode>
                <c:ptCount val="4"/>
                <c:pt idx="0">
                  <c:v>30.711599316588075</c:v>
                </c:pt>
                <c:pt idx="1">
                  <c:v>30.208562083698602</c:v>
                </c:pt>
                <c:pt idx="2">
                  <c:v>31.985360650429328</c:v>
                </c:pt>
                <c:pt idx="3">
                  <c:v>30.170305679055716</c:v>
                </c:pt>
              </c:numCache>
            </c:numRef>
          </c:val>
        </c:ser>
        <c:ser>
          <c:idx val="1"/>
          <c:order val="1"/>
          <c:tx>
            <c:strRef>
              <c:f>Sheet1!$C$1</c:f>
              <c:strCache>
                <c:ptCount val="1"/>
                <c:pt idx="0">
                  <c:v>PP-Based</c:v>
                </c:pt>
              </c:strCache>
            </c:strRef>
          </c:tx>
          <c:spPr>
            <a:solidFill>
              <a:srgbClr val="9E7E0A"/>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Sheet1!$C$2:$C$5</c:f>
              <c:numCache>
                <c:formatCode>General</c:formatCode>
                <c:ptCount val="4"/>
                <c:pt idx="0">
                  <c:v>19.70195984863655</c:v>
                </c:pt>
                <c:pt idx="1">
                  <c:v>20.11728522707084</c:v>
                </c:pt>
                <c:pt idx="2">
                  <c:v>19.286533978617</c:v>
                </c:pt>
                <c:pt idx="3">
                  <c:v>21.667162309182526</c:v>
                </c:pt>
              </c:numCache>
            </c:numRef>
          </c:val>
        </c:ser>
        <c:ser>
          <c:idx val="2"/>
          <c:order val="2"/>
          <c:tx>
            <c:strRef>
              <c:f>Sheet1!$D$1</c:f>
              <c:strCache>
                <c:ptCount val="1"/>
                <c:pt idx="0">
                  <c:v>PET-Based</c:v>
                </c:pt>
              </c:strCache>
            </c:strRef>
          </c:tx>
          <c:spPr>
            <a:solidFill>
              <a:srgbClr val="008189"/>
            </a:solidFill>
            <a:ln>
              <a:noFill/>
            </a:ln>
          </c:spPr>
          <c:dLbls>
            <c:dLbl>
              <c:idx val="0"/>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Sheet1!$D$2:$D$5</c:f>
              <c:numCache>
                <c:formatCode>General</c:formatCode>
                <c:ptCount val="4"/>
                <c:pt idx="0">
                  <c:v>10.492941586784122</c:v>
                </c:pt>
                <c:pt idx="1">
                  <c:v>10.546350527594212</c:v>
                </c:pt>
                <c:pt idx="2">
                  <c:v>10.151045710019375</c:v>
                </c:pt>
                <c:pt idx="3">
                  <c:v>9.845660111031759</c:v>
                </c:pt>
              </c:numCache>
            </c:numRef>
          </c:val>
        </c:ser>
        <c:ser>
          <c:idx val="3"/>
          <c:order val="3"/>
          <c:tx>
            <c:strRef>
              <c:f>Sheet1!$E$1</c:f>
              <c:strCache>
                <c:ptCount val="1"/>
                <c:pt idx="0">
                  <c:v>PA-Based</c:v>
                </c:pt>
              </c:strCache>
            </c:strRef>
          </c:tx>
          <c:spPr>
            <a:solidFill>
              <a:srgbClr val="40315E"/>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Sheet1!$E$2:$E$5</c:f>
              <c:numCache>
                <c:formatCode>General</c:formatCode>
                <c:ptCount val="4"/>
                <c:pt idx="0">
                  <c:v>7.849863628035957</c:v>
                </c:pt>
                <c:pt idx="1">
                  <c:v>8.219606175604557</c:v>
                </c:pt>
                <c:pt idx="2">
                  <c:v>7.885709110052345</c:v>
                </c:pt>
                <c:pt idx="3">
                  <c:v>8.648024351020354</c:v>
                </c:pt>
              </c:numCache>
            </c:numRef>
          </c:val>
        </c:ser>
        <c:ser>
          <c:idx val="4"/>
          <c:order val="4"/>
          <c:tx>
            <c:strRef>
              <c:f>Sheet1!$F$1</c:f>
              <c:strCache>
                <c:ptCount val="1"/>
                <c:pt idx="0">
                  <c:v>EVOH-Based</c:v>
                </c:pt>
              </c:strCache>
            </c:strRef>
          </c:tx>
          <c:spPr>
            <a:solidFill>
              <a:srgbClr val="A35313"/>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Sheet1!$F$2:$F$5</c:f>
              <c:numCache>
                <c:formatCode>General</c:formatCode>
                <c:ptCount val="4"/>
                <c:pt idx="0">
                  <c:v>8.370700448527115</c:v>
                </c:pt>
                <c:pt idx="1">
                  <c:v>8.610896720848347</c:v>
                </c:pt>
                <c:pt idx="2">
                  <c:v>8.293167187765983</c:v>
                </c:pt>
                <c:pt idx="3">
                  <c:v>7.852723814500625</c:v>
                </c:pt>
              </c:numCache>
            </c:numRef>
          </c:val>
        </c:ser>
        <c:ser>
          <c:idx val="5"/>
          <c:order val="5"/>
          <c:tx>
            <c:strRef>
              <c:f>Sheet1!$G$1</c:f>
              <c:strCache>
                <c:ptCount val="1"/>
                <c:pt idx="0">
                  <c:v>PVDC-Based</c:v>
                </c:pt>
              </c:strCache>
            </c:strRef>
          </c:tx>
          <c:spPr>
            <a:solidFill>
              <a:srgbClr val="808080"/>
            </a:solidFill>
            <a:ln>
              <a:noFill/>
            </a:ln>
          </c:spPr>
          <c:cat>
            <c:strRef>
              <c:f>Sheet1!$A$2:$A$5</c:f>
              <c:strCache>
                <c:ptCount val="4"/>
                <c:pt idx="0">
                  <c:v>Colombia  ·  1,643</c:v>
                </c:pt>
                <c:pt idx="1">
                  <c:v>Rest of Latin America  ·  3,434</c:v>
                </c:pt>
                <c:pt idx="2">
                  <c:v>Mexico  ·  5,587</c:v>
                </c:pt>
                <c:pt idx="3">
                  <c:v>Brazil  ·  5,955</c:v>
                </c:pt>
              </c:strCache>
            </c:strRef>
          </c:cat>
          <c:val>
            <c:numRef>
              <c:f>Sheet1!$G$2:$G$5</c:f>
              <c:numCache>
                <c:formatCode>General</c:formatCode>
                <c:ptCount val="4"/>
                <c:pt idx="0">
                  <c:v>4.886626539244144</c:v>
                </c:pt>
                <c:pt idx="1">
                  <c:v>4.742988952995622</c:v>
                </c:pt>
                <c:pt idx="2">
                  <c:v>5.337999748325767</c:v>
                </c:pt>
                <c:pt idx="3">
                  <c:v>4.571559164855515</c:v>
                </c:pt>
              </c:numCache>
            </c:numRef>
          </c:val>
        </c:ser>
        <c:ser>
          <c:idx val="6"/>
          <c:order val="6"/>
          <c:tx>
            <c:strRef>
              <c:f>Sheet1!$H$1</c:f>
              <c:strCache>
                <c:ptCount val="1"/>
                <c:pt idx="0">
                  <c:v>PVOH-Based</c:v>
                </c:pt>
              </c:strCache>
            </c:strRef>
          </c:tx>
          <c:spPr>
            <a:solidFill>
              <a:srgbClr val="0E72AE"/>
            </a:solidFill>
            <a:ln>
              <a:noFill/>
            </a:ln>
          </c:spPr>
          <c:cat>
            <c:strRef>
              <c:f>Sheet1!$A$2:$A$5</c:f>
              <c:strCache>
                <c:ptCount val="4"/>
                <c:pt idx="0">
                  <c:v>Colombia  ·  1,643</c:v>
                </c:pt>
                <c:pt idx="1">
                  <c:v>Rest of Latin America  ·  3,434</c:v>
                </c:pt>
                <c:pt idx="2">
                  <c:v>Mexico  ·  5,587</c:v>
                </c:pt>
                <c:pt idx="3">
                  <c:v>Brazil  ·  5,955</c:v>
                </c:pt>
              </c:strCache>
            </c:strRef>
          </c:cat>
          <c:val>
            <c:numRef>
              <c:f>Sheet1!$H$2:$H$5</c:f>
              <c:numCache>
                <c:formatCode>General</c:formatCode>
                <c:ptCount val="4"/>
                <c:pt idx="0">
                  <c:v>2.1877337663800045</c:v>
                </c:pt>
                <c:pt idx="1">
                  <c:v>2.0993677024386126</c:v>
                </c:pt>
                <c:pt idx="2">
                  <c:v>2.0179941706805966</c:v>
                </c:pt>
                <c:pt idx="3">
                  <c:v>2.0540254260412647</c:v>
                </c:pt>
              </c:numCache>
            </c:numRef>
          </c:val>
        </c:ser>
        <c:ser>
          <c:idx val="7"/>
          <c:order val="7"/>
          <c:tx>
            <c:strRef>
              <c:f>Sheet1!$I$1</c:f>
              <c:strCache>
                <c:ptCount val="1"/>
                <c:pt idx="0">
                  <c:v>Metallized Barrier</c:v>
                </c:pt>
              </c:strCache>
            </c:strRef>
          </c:tx>
          <c:spPr>
            <a:solidFill>
              <a:srgbClr val="A86F00"/>
            </a:solidFill>
            <a:ln>
              <a:noFill/>
            </a:ln>
          </c:spPr>
          <c:cat>
            <c:strRef>
              <c:f>Sheet1!$A$2:$A$5</c:f>
              <c:strCache>
                <c:ptCount val="4"/>
                <c:pt idx="0">
                  <c:v>Colombia  ·  1,643</c:v>
                </c:pt>
                <c:pt idx="1">
                  <c:v>Rest of Latin America  ·  3,434</c:v>
                </c:pt>
                <c:pt idx="2">
                  <c:v>Mexico  ·  5,587</c:v>
                </c:pt>
                <c:pt idx="3">
                  <c:v>Brazil  ·  5,955</c:v>
                </c:pt>
              </c:strCache>
            </c:strRef>
          </c:cat>
          <c:val>
            <c:numRef>
              <c:f>Sheet1!$I$2:$I$5</c:f>
              <c:numCache>
                <c:formatCode>General</c:formatCode>
                <c:ptCount val="4"/>
                <c:pt idx="0">
                  <c:v>6.152472438011775</c:v>
                </c:pt>
                <c:pt idx="1">
                  <c:v>6.127111905892221</c:v>
                </c:pt>
                <c:pt idx="2">
                  <c:v>5.8694154409481145</c:v>
                </c:pt>
                <c:pt idx="3">
                  <c:v>5.76034556498461</c:v>
                </c:pt>
              </c:numCache>
            </c:numRef>
          </c:val>
        </c:ser>
        <c:ser>
          <c:idx val="8"/>
          <c:order val="8"/>
          <c:tx>
            <c:strRef>
              <c:f>Sheet1!$J$1</c:f>
              <c:strCache>
                <c:ptCount val="1"/>
                <c:pt idx="0">
                  <c:v>AlOx / SiOx-Coated</c:v>
                </c:pt>
              </c:strCache>
            </c:strRef>
          </c:tx>
          <c:spPr>
            <a:solidFill>
              <a:srgbClr val="0B2E4A"/>
            </a:solidFill>
            <a:ln>
              <a:noFill/>
            </a:ln>
          </c:spPr>
          <c:cat>
            <c:strRef>
              <c:f>Sheet1!$A$2:$A$5</c:f>
              <c:strCache>
                <c:ptCount val="4"/>
                <c:pt idx="0">
                  <c:v>Colombia  ·  1,643</c:v>
                </c:pt>
                <c:pt idx="1">
                  <c:v>Rest of Latin America  ·  3,434</c:v>
                </c:pt>
                <c:pt idx="2">
                  <c:v>Mexico  ·  5,587</c:v>
                </c:pt>
                <c:pt idx="3">
                  <c:v>Brazil  ·  5,955</c:v>
                </c:pt>
              </c:strCache>
            </c:strRef>
          </c:cat>
          <c:val>
            <c:numRef>
              <c:f>Sheet1!$J$2:$J$5</c:f>
              <c:numCache>
                <c:formatCode>General</c:formatCode>
                <c:ptCount val="4"/>
                <c:pt idx="0">
                  <c:v>3.2732314707903485</c:v>
                </c:pt>
                <c:pt idx="1">
                  <c:v>3.214727785851796</c:v>
                </c:pt>
                <c:pt idx="2">
                  <c:v>3.092138366412266</c:v>
                </c:pt>
                <c:pt idx="3">
                  <c:v>3.072574994127014</c:v>
                </c:pt>
              </c:numCache>
            </c:numRef>
          </c:val>
        </c:ser>
        <c:ser>
          <c:idx val="9"/>
          <c:order val="9"/>
          <c:tx>
            <c:strRef>
              <c:f>Sheet1!$K$1</c:f>
              <c:strCache>
                <c:ptCount val="1"/>
                <c:pt idx="0">
                  <c:v>Aluminum Foil-Based</c:v>
                </c:pt>
              </c:strCache>
            </c:strRef>
          </c:tx>
          <c:spPr>
            <a:solidFill>
              <a:srgbClr val="6C7A89"/>
            </a:solidFill>
            <a:ln>
              <a:noFill/>
            </a:ln>
          </c:spPr>
          <c:cat>
            <c:strRef>
              <c:f>Sheet1!$A$2:$A$5</c:f>
              <c:strCache>
                <c:ptCount val="4"/>
                <c:pt idx="0">
                  <c:v>Colombia  ·  1,643</c:v>
                </c:pt>
                <c:pt idx="1">
                  <c:v>Rest of Latin America  ·  3,434</c:v>
                </c:pt>
                <c:pt idx="2">
                  <c:v>Mexico  ·  5,587</c:v>
                </c:pt>
                <c:pt idx="3">
                  <c:v>Brazil  ·  5,955</c:v>
                </c:pt>
              </c:strCache>
            </c:strRef>
          </c:cat>
          <c:val>
            <c:numRef>
              <c:f>Sheet1!$K$2:$K$5</c:f>
              <c:numCache>
                <c:formatCode>General</c:formatCode>
                <c:ptCount val="4"/>
                <c:pt idx="0">
                  <c:v>3.061110830447742</c:v>
                </c:pt>
                <c:pt idx="1">
                  <c:v>2.825912841378065</c:v>
                </c:pt>
                <c:pt idx="2">
                  <c:v>2.995746777057263</c:v>
                </c:pt>
                <c:pt idx="3">
                  <c:v>3.054288555964141</c:v>
                </c:pt>
              </c:numCache>
            </c:numRef>
          </c:val>
        </c:ser>
        <c:ser>
          <c:idx val="10"/>
          <c:order val="10"/>
          <c:tx>
            <c:strRef>
              <c:f>Sheet1!$L$1</c:f>
              <c:strCache>
                <c:ptCount val="1"/>
                <c:pt idx="0">
                  <c:v>Other Specialty Barrier Technologies</c:v>
                </c:pt>
              </c:strCache>
            </c:strRef>
          </c:tx>
          <c:spPr>
            <a:solidFill>
              <a:srgbClr val="B2B2B2"/>
            </a:solidFill>
            <a:ln>
              <a:noFill/>
            </a:ln>
          </c:spPr>
          <c:cat>
            <c:strRef>
              <c:f>Sheet1!$A$2:$A$5</c:f>
              <c:strCache>
                <c:ptCount val="4"/>
                <c:pt idx="0">
                  <c:v>Colombia  ·  1,643</c:v>
                </c:pt>
                <c:pt idx="1">
                  <c:v>Rest of Latin America  ·  3,434</c:v>
                </c:pt>
                <c:pt idx="2">
                  <c:v>Mexico  ·  5,587</c:v>
                </c:pt>
                <c:pt idx="3">
                  <c:v>Brazil  ·  5,955</c:v>
                </c:pt>
              </c:strCache>
            </c:strRef>
          </c:cat>
          <c:val>
            <c:numRef>
              <c:f>Sheet1!$L$2:$L$5</c:f>
              <c:numCache>
                <c:formatCode>General</c:formatCode>
                <c:ptCount val="4"/>
                <c:pt idx="0">
                  <c:v>3.3117601265541556</c:v>
                </c:pt>
                <c:pt idx="1">
                  <c:v>3.287190076627125</c:v>
                </c:pt>
                <c:pt idx="2">
                  <c:v>3.0848888596919735</c:v>
                </c:pt>
                <c:pt idx="3">
                  <c:v>3.303330029236472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PE-Based</c:v>
                </c:pt>
              </c:strCache>
            </c:strRef>
          </c:tx>
          <c:spPr>
            <a:solidFill>
              <a:srgbClr val="3D85C6"/>
            </a:solidFill>
          </c:spPr>
          <c:invertIfNegative val="0"/>
          <c:xVal>
            <c:numRef>
              <c:f>Sheet1!$A$2:$A$2</c:f>
              <c:numCache>
                <c:formatCode>General</c:formatCode>
                <c:ptCount val="1"/>
                <c:pt idx="0">
                  <c:v>101.67361007385345</c:v>
                </c:pt>
              </c:numCache>
            </c:numRef>
          </c:xVal>
          <c:yVal>
            <c:numRef>
              <c:f>Sheet1!$B$2:$B$2</c:f>
              <c:numCache>
                <c:formatCode>General</c:formatCode>
                <c:ptCount val="1"/>
                <c:pt idx="0">
                  <c:v>335.49106134566614</c:v>
                </c:pt>
              </c:numCache>
            </c:numRef>
          </c:yVal>
          <c:bubbleSize>
            <c:numRef>
              <c:f>Sheet1!$C$2:$C$2</c:f>
              <c:numCache>
                <c:formatCode>General</c:formatCode>
                <c:ptCount val="1"/>
                <c:pt idx="0">
                  <c:v>5125.387</c:v>
                </c:pt>
              </c:numCache>
            </c:numRef>
          </c:bubbleSize>
          <c:bubble3D val="0"/>
        </c:ser>
        <c:ser>
          <c:idx val="1"/>
          <c:order val="1"/>
          <c:tx>
            <c:strRef>
              <c:f>Sheet1!$B$4</c:f>
              <c:strCache>
                <c:ptCount val="1"/>
                <c:pt idx="0">
                  <c:v>PP-Based</c:v>
                </c:pt>
              </c:strCache>
            </c:strRef>
          </c:tx>
          <c:spPr>
            <a:solidFill>
              <a:srgbClr val="9E7E0A"/>
            </a:solidFill>
          </c:spPr>
          <c:invertIfNegative val="0"/>
          <c:xVal>
            <c:numRef>
              <c:f>Sheet1!$A$5:$A$5</c:f>
              <c:numCache>
                <c:formatCode>General</c:formatCode>
                <c:ptCount val="1"/>
                <c:pt idx="0">
                  <c:v>97.90964494553256</c:v>
                </c:pt>
              </c:numCache>
            </c:numRef>
          </c:xVal>
          <c:yVal>
            <c:numRef>
              <c:f>Sheet1!$B$5:$B$5</c:f>
              <c:numCache>
                <c:formatCode>General</c:formatCode>
                <c:ptCount val="1"/>
                <c:pt idx="0">
                  <c:v>227.02622633185996</c:v>
                </c:pt>
              </c:numCache>
            </c:numRef>
          </c:yVal>
          <c:bubbleSize>
            <c:numRef>
              <c:f>Sheet1!$C$5:$C$5</c:f>
              <c:numCache>
                <c:formatCode>General</c:formatCode>
                <c:ptCount val="1"/>
                <c:pt idx="0">
                  <c:v>3382.208</c:v>
                </c:pt>
              </c:numCache>
            </c:numRef>
          </c:bubbleSize>
          <c:bubble3D val="0"/>
        </c:ser>
        <c:ser>
          <c:idx val="2"/>
          <c:order val="2"/>
          <c:tx>
            <c:strRef>
              <c:f>Sheet1!$B$7</c:f>
              <c:strCache>
                <c:ptCount val="1"/>
                <c:pt idx="0">
                  <c:v>PET-Based</c:v>
                </c:pt>
              </c:strCache>
            </c:strRef>
          </c:tx>
          <c:spPr>
            <a:solidFill>
              <a:srgbClr val="008189"/>
            </a:solidFill>
          </c:spPr>
          <c:invertIfNegative val="0"/>
          <c:xVal>
            <c:numRef>
              <c:f>Sheet1!$A$8:$A$8</c:f>
              <c:numCache>
                <c:formatCode>General</c:formatCode>
                <c:ptCount val="1"/>
                <c:pt idx="0">
                  <c:v>102.60137050842641</c:v>
                </c:pt>
              </c:numCache>
            </c:numRef>
          </c:xVal>
          <c:yVal>
            <c:numRef>
              <c:f>Sheet1!$B$8:$B$8</c:f>
              <c:numCache>
                <c:formatCode>General</c:formatCode>
                <c:ptCount val="1"/>
                <c:pt idx="0">
                  <c:v>109.80484026137911</c:v>
                </c:pt>
              </c:numCache>
            </c:numRef>
          </c:yVal>
          <c:bubbleSize>
            <c:numRef>
              <c:f>Sheet1!$C$8:$C$8</c:f>
              <c:numCache>
                <c:formatCode>General</c:formatCode>
                <c:ptCount val="1"/>
                <c:pt idx="0">
                  <c:v>1687.932</c:v>
                </c:pt>
              </c:numCache>
            </c:numRef>
          </c:bubbleSize>
          <c:bubble3D val="0"/>
        </c:ser>
        <c:ser>
          <c:idx val="3"/>
          <c:order val="3"/>
          <c:tx>
            <c:strRef>
              <c:f>Sheet1!$B$10</c:f>
              <c:strCache>
                <c:ptCount val="1"/>
                <c:pt idx="0">
                  <c:v>PA-Based</c:v>
                </c:pt>
              </c:strCache>
            </c:strRef>
          </c:tx>
          <c:spPr>
            <a:solidFill>
              <a:srgbClr val="40315E"/>
            </a:solidFill>
          </c:spPr>
          <c:invertIfNegative val="0"/>
          <c:xVal>
            <c:numRef>
              <c:f>Sheet1!$A$11:$A$11</c:f>
              <c:numCache>
                <c:formatCode>General</c:formatCode>
                <c:ptCount val="1"/>
                <c:pt idx="0">
                  <c:v>97.6651469076284</c:v>
                </c:pt>
              </c:numCache>
            </c:numRef>
          </c:xVal>
          <c:yVal>
            <c:numRef>
              <c:f>Sheet1!$B$11:$B$11</c:f>
              <c:numCache>
                <c:formatCode>General</c:formatCode>
                <c:ptCount val="1"/>
                <c:pt idx="0">
                  <c:v>91.89079377710885</c:v>
                </c:pt>
              </c:numCache>
            </c:numRef>
          </c:yVal>
          <c:bubbleSize>
            <c:numRef>
              <c:f>Sheet1!$C$11:$C$11</c:f>
              <c:numCache>
                <c:formatCode>General</c:formatCode>
                <c:ptCount val="1"/>
                <c:pt idx="0">
                  <c:v>1366.74</c:v>
                </c:pt>
              </c:numCache>
            </c:numRef>
          </c:bubbleSize>
          <c:bubble3D val="0"/>
        </c:ser>
        <c:ser>
          <c:idx val="4"/>
          <c:order val="4"/>
          <c:tx>
            <c:strRef>
              <c:f>Sheet1!$B$13</c:f>
              <c:strCache>
                <c:ptCount val="1"/>
                <c:pt idx="0">
                  <c:v>EVOH-Based</c:v>
                </c:pt>
              </c:strCache>
            </c:strRef>
          </c:tx>
          <c:spPr>
            <a:solidFill>
              <a:srgbClr val="A35313"/>
            </a:solidFill>
          </c:spPr>
          <c:invertIfNegative val="0"/>
          <c:xVal>
            <c:numRef>
              <c:f>Sheet1!$A$14:$A$14</c:f>
              <c:numCache>
                <c:formatCode>General</c:formatCode>
                <c:ptCount val="1"/>
                <c:pt idx="0">
                  <c:v>102.30823992720646</c:v>
                </c:pt>
              </c:numCache>
            </c:numRef>
          </c:xVal>
          <c:yVal>
            <c:numRef>
              <c:f>Sheet1!$B$14:$B$14</c:f>
              <c:numCache>
                <c:formatCode>General</c:formatCode>
                <c:ptCount val="1"/>
                <c:pt idx="0">
                  <c:v>88.9145020428052</c:v>
                </c:pt>
              </c:numCache>
            </c:numRef>
          </c:yVal>
          <c:bubbleSize>
            <c:numRef>
              <c:f>Sheet1!$C$14:$C$14</c:f>
              <c:numCache>
                <c:formatCode>General</c:formatCode>
                <c:ptCount val="1"/>
                <c:pt idx="0">
                  <c:v>1364.134</c:v>
                </c:pt>
              </c:numCache>
            </c:numRef>
          </c:bubbleSize>
          <c:bubble3D val="0"/>
        </c:ser>
        <c:ser>
          <c:idx val="5"/>
          <c:order val="5"/>
          <c:tx>
            <c:strRef>
              <c:f>Sheet1!$B$16</c:f>
              <c:strCache>
                <c:ptCount val="1"/>
                <c:pt idx="0">
                  <c:v>PVDC-Based</c:v>
                </c:pt>
              </c:strCache>
            </c:strRef>
          </c:tx>
          <c:spPr>
            <a:solidFill>
              <a:srgbClr val="808080"/>
            </a:solidFill>
          </c:spPr>
          <c:invertIfNegative val="0"/>
          <c:xVal>
            <c:numRef>
              <c:f>Sheet1!$A$17:$A$17</c:f>
              <c:numCache>
                <c:formatCode>General</c:formatCode>
                <c:ptCount val="1"/>
                <c:pt idx="0">
                  <c:v>91.07052920725415</c:v>
                </c:pt>
              </c:numCache>
            </c:numRef>
          </c:xVal>
          <c:yVal>
            <c:numRef>
              <c:f>Sheet1!$B$17:$B$17</c:f>
              <c:numCache>
                <c:formatCode>General</c:formatCode>
                <c:ptCount val="1"/>
                <c:pt idx="0">
                  <c:v>57.1739536810379</c:v>
                </c:pt>
              </c:numCache>
            </c:numRef>
          </c:yVal>
          <c:bubbleSize>
            <c:numRef>
              <c:f>Sheet1!$C$17:$C$17</c:f>
              <c:numCache>
                <c:formatCode>General</c:formatCode>
                <c:ptCount val="1"/>
                <c:pt idx="0">
                  <c:v>813.594</c:v>
                </c:pt>
              </c:numCache>
            </c:numRef>
          </c:bubbleSize>
          <c:bubble3D val="0"/>
        </c:ser>
        <c:ser>
          <c:idx val="6"/>
          <c:order val="6"/>
          <c:tx>
            <c:strRef>
              <c:f>Sheet1!$B$19</c:f>
              <c:strCache>
                <c:ptCount val="1"/>
                <c:pt idx="0">
                  <c:v>PVOH-Based</c:v>
                </c:pt>
              </c:strCache>
            </c:strRef>
          </c:tx>
          <c:spPr>
            <a:solidFill>
              <a:srgbClr val="0E72AE"/>
            </a:solidFill>
          </c:spPr>
          <c:invertIfNegative val="0"/>
          <c:xVal>
            <c:numRef>
              <c:f>Sheet1!$A$20:$A$20</c:f>
              <c:numCache>
                <c:formatCode>General</c:formatCode>
                <c:ptCount val="1"/>
                <c:pt idx="0">
                  <c:v>101.49806711955354</c:v>
                </c:pt>
              </c:numCache>
            </c:numRef>
          </c:xVal>
          <c:yVal>
            <c:numRef>
              <c:f>Sheet1!$B$20:$B$20</c:f>
              <c:numCache>
                <c:formatCode>General</c:formatCode>
                <c:ptCount val="1"/>
                <c:pt idx="0">
                  <c:v>22.48354366874551</c:v>
                </c:pt>
              </c:numCache>
            </c:numRef>
          </c:yVal>
          <c:bubbleSize>
            <c:numRef>
              <c:f>Sheet1!$C$20:$C$20</c:f>
              <c:numCache>
                <c:formatCode>General</c:formatCode>
                <c:ptCount val="1"/>
                <c:pt idx="0">
                  <c:v>343.085</c:v>
                </c:pt>
              </c:numCache>
            </c:numRef>
          </c:bubbleSize>
          <c:bubble3D val="0"/>
        </c:ser>
        <c:ser>
          <c:idx val="7"/>
          <c:order val="7"/>
          <c:tx>
            <c:strRef>
              <c:f>Sheet1!$B$22</c:f>
              <c:strCache>
                <c:ptCount val="1"/>
                <c:pt idx="0">
                  <c:v>Metallized Barrier</c:v>
                </c:pt>
              </c:strCache>
            </c:strRef>
          </c:tx>
          <c:spPr>
            <a:solidFill>
              <a:srgbClr val="A86F00"/>
            </a:solidFill>
          </c:spPr>
          <c:invertIfNegative val="0"/>
          <c:xVal>
            <c:numRef>
              <c:f>Sheet1!$A$23:$A$23</c:f>
              <c:numCache>
                <c:formatCode>General</c:formatCode>
                <c:ptCount val="1"/>
                <c:pt idx="0">
                  <c:v>99.46893410943474</c:v>
                </c:pt>
              </c:numCache>
            </c:numRef>
          </c:xVal>
          <c:yVal>
            <c:numRef>
              <c:f>Sheet1!$B$23:$B$23</c:f>
              <c:numCache>
                <c:formatCode>General</c:formatCode>
                <c:ptCount val="1"/>
                <c:pt idx="0">
                  <c:v>65.25825555680497</c:v>
                </c:pt>
              </c:numCache>
            </c:numRef>
          </c:yVal>
          <c:bubbleSize>
            <c:numRef>
              <c:f>Sheet1!$C$23:$C$23</c:f>
              <c:numCache>
                <c:formatCode>General</c:formatCode>
                <c:ptCount val="1"/>
                <c:pt idx="0">
                  <c:v>982.398</c:v>
                </c:pt>
              </c:numCache>
            </c:numRef>
          </c:bubbleSize>
          <c:bubble3D val="0"/>
        </c:ser>
        <c:ser>
          <c:idx val="8"/>
          <c:order val="8"/>
          <c:tx>
            <c:strRef>
              <c:f>Sheet1!$B$25</c:f>
              <c:strCache>
                <c:ptCount val="1"/>
                <c:pt idx="0">
                  <c:v>AlOx / SiOx-Coated</c:v>
                </c:pt>
              </c:strCache>
            </c:strRef>
          </c:tx>
          <c:spPr>
            <a:solidFill>
              <a:srgbClr val="0B2E4A"/>
            </a:solidFill>
          </c:spPr>
          <c:invertIfNegative val="0"/>
          <c:xVal>
            <c:numRef>
              <c:f>Sheet1!$A$26:$A$26</c:f>
              <c:numCache>
                <c:formatCode>General</c:formatCode>
                <c:ptCount val="1"/>
                <c:pt idx="0">
                  <c:v>104.02661106044211</c:v>
                </c:pt>
              </c:numCache>
            </c:numRef>
          </c:xVal>
          <c:yVal>
            <c:numRef>
              <c:f>Sheet1!$B$26:$B$26</c:f>
              <c:numCache>
                <c:formatCode>General</c:formatCode>
                <c:ptCount val="1"/>
                <c:pt idx="0">
                  <c:v>33.49986688848715</c:v>
                </c:pt>
              </c:numCache>
            </c:numRef>
          </c:yVal>
          <c:bubbleSize>
            <c:numRef>
              <c:f>Sheet1!$C$26:$C$26</c:f>
              <c:numCache>
                <c:formatCode>General</c:formatCode>
                <c:ptCount val="1"/>
                <c:pt idx="0">
                  <c:v>519.879</c:v>
                </c:pt>
              </c:numCache>
            </c:numRef>
          </c:bubbleSize>
          <c:bubble3D val="0"/>
        </c:ser>
        <c:ser>
          <c:idx val="9"/>
          <c:order val="9"/>
          <c:tx>
            <c:strRef>
              <c:f>Sheet1!$B$28</c:f>
              <c:strCache>
                <c:ptCount val="1"/>
                <c:pt idx="0">
                  <c:v>Aluminum Foil-Based</c:v>
                </c:pt>
              </c:strCache>
            </c:strRef>
          </c:tx>
          <c:spPr>
            <a:solidFill>
              <a:srgbClr val="6C7A89"/>
            </a:solidFill>
          </c:spPr>
          <c:invertIfNegative val="0"/>
          <c:xVal>
            <c:numRef>
              <c:f>Sheet1!$A$29:$A$29</c:f>
              <c:numCache>
                <c:formatCode>General</c:formatCode>
                <c:ptCount val="1"/>
                <c:pt idx="0">
                  <c:v>90.74064098399892</c:v>
                </c:pt>
              </c:numCache>
            </c:numRef>
          </c:xVal>
          <c:yVal>
            <c:numRef>
              <c:f>Sheet1!$B$29:$B$29</c:f>
              <c:numCache>
                <c:formatCode>General</c:formatCode>
                <c:ptCount val="1"/>
                <c:pt idx="0">
                  <c:v>34.97307975830409</c:v>
                </c:pt>
              </c:numCache>
            </c:numRef>
          </c:yVal>
          <c:bubbleSize>
            <c:numRef>
              <c:f>Sheet1!$C$29:$C$29</c:f>
              <c:numCache>
                <c:formatCode>General</c:formatCode>
                <c:ptCount val="1"/>
                <c:pt idx="0">
                  <c:v>496.57</c:v>
                </c:pt>
              </c:numCache>
            </c:numRef>
          </c:bubbleSize>
          <c:bubble3D val="0"/>
        </c:ser>
        <c:ser>
          <c:idx val="10"/>
          <c:order val="10"/>
          <c:tx>
            <c:strRef>
              <c:f>Sheet1!$B$31</c:f>
              <c:strCache>
                <c:ptCount val="1"/>
                <c:pt idx="0">
                  <c:v>Other Specialty Barrier Technologies</c:v>
                </c:pt>
              </c:strCache>
            </c:strRef>
          </c:tx>
          <c:spPr>
            <a:solidFill>
              <a:srgbClr val="B2B2B2"/>
            </a:solidFill>
          </c:spPr>
          <c:invertIfNegative val="0"/>
          <c:xVal>
            <c:numRef>
              <c:f>Sheet1!$A$32:$A$32</c:f>
              <c:numCache>
                <c:formatCode>General</c:formatCode>
                <c:ptCount val="1"/>
                <c:pt idx="0">
                  <c:v>108.78415333082381</c:v>
                </c:pt>
              </c:numCache>
            </c:numRef>
          </c:xVal>
          <c:yVal>
            <c:numRef>
              <c:f>Sheet1!$B$32:$B$32</c:f>
              <c:numCache>
                <c:formatCode>General</c:formatCode>
                <c:ptCount val="1"/>
                <c:pt idx="0">
                  <c:v>33.48387668780112</c:v>
                </c:pt>
              </c:numCache>
            </c:numRef>
          </c:yVal>
          <c:bubbleSize>
            <c:numRef>
              <c:f>Sheet1!$C$32:$C$32</c:f>
              <c:numCache>
                <c:formatCode>General</c:formatCode>
                <c:ptCount val="1"/>
                <c:pt idx="0">
                  <c:v>536.338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4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2538.706</c:v>
                </c:pt>
                <c:pt idx="2">
                  <c:v>2884.765</c:v>
                </c:pt>
                <c:pt idx="3">
                  <c:v>3311.114</c:v>
                </c:pt>
                <c:pt idx="4">
                  <c:v>3828.985</c:v>
                </c:pt>
                <c:pt idx="5">
                  <c:v>4434.505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2538.706</c:v>
                </c:pt>
                <c:pt idx="1">
                  <c:v>346.05899999999974</c:v>
                </c:pt>
                <c:pt idx="2">
                  <c:v>426.34900000000016</c:v>
                </c:pt>
                <c:pt idx="3">
                  <c:v>517.8710000000001</c:v>
                </c:pt>
                <c:pt idx="4">
                  <c:v>605.52</c:v>
                </c:pt>
                <c:pt idx="5">
                  <c:v>690.8819999999996</c:v>
                </c:pt>
                <c:pt idx="6">
                  <c:v>5125.387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1717.938</c:v>
                </c:pt>
                <c:pt idx="2">
                  <c:v>1924.331</c:v>
                </c:pt>
                <c:pt idx="3">
                  <c:v>2185.818</c:v>
                </c:pt>
                <c:pt idx="4">
                  <c:v>2517.503</c:v>
                </c:pt>
                <c:pt idx="5">
                  <c:v>2920.529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1717.938</c:v>
                </c:pt>
                <c:pt idx="1">
                  <c:v>206.3929999999998</c:v>
                </c:pt>
                <c:pt idx="2">
                  <c:v>261.4870000000003</c:v>
                </c:pt>
                <c:pt idx="3">
                  <c:v>331.68499999999995</c:v>
                </c:pt>
                <c:pt idx="4">
                  <c:v>403.02599999999984</c:v>
                </c:pt>
                <c:pt idx="5">
                  <c:v>461.6790000000001</c:v>
                </c:pt>
                <c:pt idx="6">
                  <c:v>3382.208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830.908</c:v>
                </c:pt>
                <c:pt idx="2">
                  <c:v>941.044</c:v>
                </c:pt>
                <c:pt idx="3">
                  <c:v>1080.57</c:v>
                </c:pt>
                <c:pt idx="4">
                  <c:v>1253.413</c:v>
                </c:pt>
                <c:pt idx="5">
                  <c:v>1456.104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830.908</c:v>
                </c:pt>
                <c:pt idx="1">
                  <c:v>110.13599999999997</c:v>
                </c:pt>
                <c:pt idx="2">
                  <c:v>139.52599999999995</c:v>
                </c:pt>
                <c:pt idx="3">
                  <c:v>172.84300000000007</c:v>
                </c:pt>
                <c:pt idx="4">
                  <c:v>202.69100000000003</c:v>
                </c:pt>
                <c:pt idx="5">
                  <c:v>231.82799999999997</c:v>
                </c:pt>
                <c:pt idx="6">
                  <c:v>1687.932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695.35</c:v>
                </c:pt>
                <c:pt idx="2">
                  <c:v>786.592</c:v>
                </c:pt>
                <c:pt idx="3">
                  <c:v>900.972</c:v>
                </c:pt>
                <c:pt idx="4">
                  <c:v>1033.911</c:v>
                </c:pt>
                <c:pt idx="5">
                  <c:v>1189.293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695.35</c:v>
                </c:pt>
                <c:pt idx="1">
                  <c:v>91.24199999999996</c:v>
                </c:pt>
                <c:pt idx="2">
                  <c:v>114.38</c:v>
                </c:pt>
                <c:pt idx="3">
                  <c:v>132.93900000000008</c:v>
                </c:pt>
                <c:pt idx="4">
                  <c:v>155.38199999999983</c:v>
                </c:pt>
                <c:pt idx="5">
                  <c:v>177.44700000000012</c:v>
                </c:pt>
                <c:pt idx="6">
                  <c:v>1366.74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672.828</c:v>
                </c:pt>
                <c:pt idx="2">
                  <c:v>761.918</c:v>
                </c:pt>
                <c:pt idx="3">
                  <c:v>872.789</c:v>
                </c:pt>
                <c:pt idx="4">
                  <c:v>1012.898</c:v>
                </c:pt>
                <c:pt idx="5">
                  <c:v>1177.686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672.828</c:v>
                </c:pt>
                <c:pt idx="1">
                  <c:v>89.09000000000003</c:v>
                </c:pt>
                <c:pt idx="2">
                  <c:v>110.87099999999998</c:v>
                </c:pt>
                <c:pt idx="3">
                  <c:v>140.10900000000004</c:v>
                </c:pt>
                <c:pt idx="4">
                  <c:v>164.7879999999999</c:v>
                </c:pt>
                <c:pt idx="5">
                  <c:v>186.4480000000001</c:v>
                </c:pt>
                <c:pt idx="6">
                  <c:v>1364.134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432.643</c:v>
                </c:pt>
                <c:pt idx="2">
                  <c:v>485.476</c:v>
                </c:pt>
                <c:pt idx="3">
                  <c:v>547.129</c:v>
                </c:pt>
                <c:pt idx="4">
                  <c:v>622.24</c:v>
                </c:pt>
                <c:pt idx="5">
                  <c:v>711.709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432.643</c:v>
                </c:pt>
                <c:pt idx="1">
                  <c:v>52.83300000000003</c:v>
                </c:pt>
                <c:pt idx="2">
                  <c:v>61.65300000000002</c:v>
                </c:pt>
                <c:pt idx="3">
                  <c:v>75.11099999999999</c:v>
                </c:pt>
                <c:pt idx="4">
                  <c:v>89.46899999999994</c:v>
                </c:pt>
                <c:pt idx="5">
                  <c:v>101.8850000000001</c:v>
                </c:pt>
                <c:pt idx="6">
                  <c:v>813.594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170.136</c:v>
                </c:pt>
                <c:pt idx="2">
                  <c:v>196.01</c:v>
                </c:pt>
                <c:pt idx="3">
                  <c:v>225.677</c:v>
                </c:pt>
                <c:pt idx="4">
                  <c:v>259.48</c:v>
                </c:pt>
                <c:pt idx="5">
                  <c:v>298.562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170.136</c:v>
                </c:pt>
                <c:pt idx="1">
                  <c:v>25.873999999999995</c:v>
                </c:pt>
                <c:pt idx="2">
                  <c:v>29.667</c:v>
                </c:pt>
                <c:pt idx="3">
                  <c:v>33.803000000000026</c:v>
                </c:pt>
                <c:pt idx="4">
                  <c:v>39.081999999999994</c:v>
                </c:pt>
                <c:pt idx="5">
                  <c:v>44.52299999999997</c:v>
                </c:pt>
                <c:pt idx="6">
                  <c:v>343.085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493.818</c:v>
                </c:pt>
                <c:pt idx="2">
                  <c:v>557.529</c:v>
                </c:pt>
                <c:pt idx="3">
                  <c:v>638.412</c:v>
                </c:pt>
                <c:pt idx="4">
                  <c:v>736.059</c:v>
                </c:pt>
                <c:pt idx="5">
                  <c:v>850.851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493.818</c:v>
                </c:pt>
                <c:pt idx="1">
                  <c:v>63.71100000000001</c:v>
                </c:pt>
                <c:pt idx="2">
                  <c:v>80.88300000000004</c:v>
                </c:pt>
                <c:pt idx="3">
                  <c:v>97.64699999999993</c:v>
                </c:pt>
                <c:pt idx="4">
                  <c:v>114.79200000000003</c:v>
                </c:pt>
                <c:pt idx="5">
                  <c:v>131.54700000000003</c:v>
                </c:pt>
                <c:pt idx="6">
                  <c:v>982.398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253.498</c:v>
                </c:pt>
                <c:pt idx="2">
                  <c:v>287.326</c:v>
                </c:pt>
                <c:pt idx="3">
                  <c:v>330.355</c:v>
                </c:pt>
                <c:pt idx="4">
                  <c:v>383.576</c:v>
                </c:pt>
                <c:pt idx="5">
                  <c:v>446.86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253.498</c:v>
                </c:pt>
                <c:pt idx="1">
                  <c:v>33.82800000000003</c:v>
                </c:pt>
                <c:pt idx="2">
                  <c:v>43.028999999999996</c:v>
                </c:pt>
                <c:pt idx="3">
                  <c:v>53.221000000000004</c:v>
                </c:pt>
                <c:pt idx="4">
                  <c:v>63.28399999999999</c:v>
                </c:pt>
                <c:pt idx="5">
                  <c:v>73.019</c:v>
                </c:pt>
                <c:pt idx="6">
                  <c:v>519.879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264.646</c:v>
                </c:pt>
                <c:pt idx="2">
                  <c:v>300.72</c:v>
                </c:pt>
                <c:pt idx="3">
                  <c:v>342.138</c:v>
                </c:pt>
                <c:pt idx="4">
                  <c:v>387.96</c:v>
                </c:pt>
                <c:pt idx="5">
                  <c:v>439.19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264.646</c:v>
                </c:pt>
                <c:pt idx="1">
                  <c:v>36.07400000000001</c:v>
                </c:pt>
                <c:pt idx="2">
                  <c:v>41.41799999999995</c:v>
                </c:pt>
                <c:pt idx="3">
                  <c:v>45.822</c:v>
                </c:pt>
                <c:pt idx="4">
                  <c:v>51.23000000000002</c:v>
                </c:pt>
                <c:pt idx="5">
                  <c:v>57.379999999999995</c:v>
                </c:pt>
                <c:pt idx="6">
                  <c:v>496.57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253.377</c:v>
                </c:pt>
                <c:pt idx="2">
                  <c:v>286.226</c:v>
                </c:pt>
                <c:pt idx="3">
                  <c:v>328.394</c:v>
                </c:pt>
                <c:pt idx="4">
                  <c:v>384.28</c:v>
                </c:pt>
                <c:pt idx="5">
                  <c:v>454.382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253.377</c:v>
                </c:pt>
                <c:pt idx="1">
                  <c:v>32.84899999999999</c:v>
                </c:pt>
                <c:pt idx="2">
                  <c:v>42.168000000000006</c:v>
                </c:pt>
                <c:pt idx="3">
                  <c:v>55.88599999999997</c:v>
                </c:pt>
                <c:pt idx="4">
                  <c:v>70.10200000000003</c:v>
                </c:pt>
                <c:pt idx="5">
                  <c:v>81.95599999999996</c:v>
                </c:pt>
                <c:pt idx="6">
                  <c:v>536.338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PE-Based</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30.099554066948375</c:v>
                </c:pt>
                <c:pt idx="1">
                  <c:v>30.499187395060556</c:v>
                </c:pt>
                <c:pt idx="2">
                  <c:v>30.84188993255313</c:v>
                </c:pt>
              </c:numCache>
            </c:numRef>
          </c:val>
        </c:ser>
        <c:ser>
          <c:idx val="1"/>
          <c:order val="1"/>
          <c:tx>
            <c:strRef>
              <c:f>Sheet1!$C$1</c:f>
              <c:strCache>
                <c:ptCount val="1"/>
                <c:pt idx="0">
                  <c:v>PP-Based</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21.564823866181136</c:v>
                </c:pt>
                <c:pt idx="1">
                  <c:v>20.638747848350906</c:v>
                </c:pt>
                <c:pt idx="2">
                  <c:v>20.35235326912888</c:v>
                </c:pt>
              </c:numCache>
            </c:numRef>
          </c:val>
        </c:ser>
        <c:ser>
          <c:idx val="2"/>
          <c:order val="2"/>
          <c:tx>
            <c:strRef>
              <c:f>Sheet1!$D$1</c:f>
              <c:strCache>
                <c:ptCount val="1"/>
                <c:pt idx="0">
                  <c:v>PET-Based</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9.963756742546687</c:v>
                </c:pt>
                <c:pt idx="1">
                  <c:v>9.98225820557992</c:v>
                </c:pt>
                <c:pt idx="2">
                  <c:v>10.157089202753717</c:v>
                </c:pt>
              </c:numCache>
            </c:numRef>
          </c:val>
        </c:ser>
        <c:ser>
          <c:idx val="3"/>
          <c:order val="3"/>
          <c:tx>
            <c:strRef>
              <c:f>Sheet1!$E$1</c:f>
              <c:strCache>
                <c:ptCount val="1"/>
                <c:pt idx="0">
                  <c:v>PA-Based</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8.378774365665103</c:v>
                </c:pt>
                <c:pt idx="1">
                  <c:v>8.353708525191715</c:v>
                </c:pt>
                <c:pt idx="2">
                  <c:v>8.22432426008371</c:v>
                </c:pt>
              </c:numCache>
            </c:numRef>
          </c:val>
        </c:ser>
        <c:ser>
          <c:idx val="4"/>
          <c:order val="4"/>
          <c:tx>
            <c:strRef>
              <c:f>Sheet1!$F$1</c:f>
              <c:strCache>
                <c:ptCount val="1"/>
                <c:pt idx="0">
                  <c:v>EVOH-Based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7.762304052343582</c:v>
                </c:pt>
                <c:pt idx="1">
                  <c:v>8.083136549345928</c:v>
                </c:pt>
                <c:pt idx="2">
                  <c:v>8.208642719321182</c:v>
                </c:pt>
              </c:numCache>
            </c:numRef>
          </c:val>
        </c:ser>
        <c:ser>
          <c:idx val="5"/>
          <c:order val="5"/>
          <c:tx>
            <c:strRef>
              <c:f>Sheet1!$G$1</c:f>
              <c:strCache>
                <c:ptCount val="1"/>
                <c:pt idx="0">
                  <c:v>Metallized Barrier</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6.051401086596694</c:v>
                </c:pt>
                <c:pt idx="1">
                  <c:v>5.93256868698227</c:v>
                </c:pt>
                <c:pt idx="2">
                  <c:v>5.911555749050819</c:v>
                </c:pt>
              </c:numCache>
            </c:numRef>
          </c:val>
        </c:ser>
        <c:ser>
          <c:idx val="6"/>
          <c:order val="6"/>
          <c:tx>
            <c:strRef>
              <c:f>Sheet1!$H$1</c:f>
              <c:strCache>
                <c:ptCount val="1"/>
                <c:pt idx="0">
                  <c:v>PVDC-Based</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5.091581796584426</c:v>
                </c:pt>
                <c:pt idx="1">
                  <c:v>5.197632152821628</c:v>
                </c:pt>
                <c:pt idx="2">
                  <c:v>4.895781840041665</c:v>
                </c:pt>
              </c:numCache>
            </c:numRef>
          </c:val>
        </c:ser>
        <c:ser>
          <c:idx val="7"/>
          <c:order val="7"/>
          <c:tx>
            <c:strRef>
              <c:f>Sheet1!$I$1</c:f>
              <c:strCache>
                <c:ptCount val="1"/>
                <c:pt idx="0">
                  <c:v>Other Specialty Barrier Technologies</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Sheet1!$I$2:$I$4</c:f>
              <c:numCache>
                <c:formatCode>General</c:formatCode>
                <c:ptCount val="3"/>
                <c:pt idx="0">
                  <c:v>3.0190096002180984</c:v>
                </c:pt>
                <c:pt idx="1">
                  <c:v>3.0439887898001023</c:v>
                </c:pt>
                <c:pt idx="2">
                  <c:v>3.22740069435648</c:v>
                </c:pt>
              </c:numCache>
            </c:numRef>
          </c:val>
        </c:ser>
        <c:ser>
          <c:idx val="8"/>
          <c:order val="8"/>
          <c:tx>
            <c:strRef>
              <c:f>Sheet1!$J$1</c:f>
              <c:strCache>
                <c:ptCount val="1"/>
                <c:pt idx="0">
                  <c:v>AlOx / SiOx-Coated</c:v>
                </c:pt>
              </c:strCache>
            </c:strRef>
          </c:tx>
          <c:spPr>
            <a:solidFill>
              <a:srgbClr val="0B2E4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Sheet1!$J$2:$J$4</c:f>
              <c:numCache>
                <c:formatCode>General</c:formatCode>
                <c:ptCount val="3"/>
                <c:pt idx="0">
                  <c:v>3.070418476038401</c:v>
                </c:pt>
                <c:pt idx="1">
                  <c:v>3.045442444407923</c:v>
                </c:pt>
                <c:pt idx="2">
                  <c:v>3.1283590675681245</c:v>
                </c:pt>
              </c:numCache>
            </c:numRef>
          </c:val>
        </c:ser>
        <c:ser>
          <c:idx val="9"/>
          <c:order val="9"/>
          <c:tx>
            <c:strRef>
              <c:f>Sheet1!$K$1</c:f>
              <c:strCache>
                <c:ptCount val="1"/>
                <c:pt idx="0">
                  <c:v>Aluminum Foil-Based</c:v>
                </c:pt>
              </c:strCache>
            </c:strRef>
          </c:tx>
          <c:spPr>
            <a:solidFill>
              <a:srgbClr val="6C7A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Sheet1!$K$2:$K$4</c:f>
              <c:numCache>
                <c:formatCode>General</c:formatCode>
                <c:ptCount val="3"/>
                <c:pt idx="0">
                  <c:v>3.0897045936946235</c:v>
                </c:pt>
                <c:pt idx="1">
                  <c:v>3.1793708871185538</c:v>
                </c:pt>
                <c:pt idx="2">
                  <c:v>2.9880977346311424</c:v>
                </c:pt>
              </c:numCache>
            </c:numRef>
          </c:val>
        </c:ser>
        <c:ser>
          <c:idx val="10"/>
          <c:order val="10"/>
          <c:tx>
            <c:strRef>
              <c:f>Sheet1!$L$1</c:f>
              <c:strCache>
                <c:ptCount val="1"/>
                <c:pt idx="0">
                  <c:v>PVOH-Based</c:v>
                </c:pt>
              </c:strCache>
            </c:strRef>
          </c:tx>
          <c:spPr>
            <a:solidFill>
              <a:srgbClr val="B2B2B2"/>
            </a:solidFill>
            <a:ln>
              <a:noFill/>
            </a:ln>
          </c:spPr>
          <c:dLbls>
            <c:numFmt formatCode="0&quot;%&quot;" sourceLinked="0"/>
            <c:txPr>
              <a:bodyPr rot="0" vert="horz"/>
              <a:lstStyle/>
              <a:p>
                <a:pPr>
                  <a:defRPr sz="1100">
                    <a:solidFill>
                      <a:srgbClr val="2E2E2E"/>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Sheet1!$L$2:$L$4</c:f>
              <c:numCache>
                <c:formatCode>General</c:formatCode>
                <c:ptCount val="3"/>
                <c:pt idx="0">
                  <c:v>1.9086713531828714</c:v>
                </c:pt>
                <c:pt idx="1">
                  <c:v>2.043958515340501</c:v>
                </c:pt>
                <c:pt idx="2">
                  <c:v>2.0645055305111573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Monolayer Films</c:v>
                </c:pt>
              </c:strCache>
            </c:strRef>
          </c:tx>
          <c:spPr>
            <a:solidFill>
              <a:srgbClr val="3D85C6"/>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Sheet1!$B$2:$B$5</c:f>
              <c:numCache>
                <c:formatCode>General</c:formatCode>
                <c:ptCount val="4"/>
                <c:pt idx="0">
                  <c:v>16.79904171381304</c:v>
                </c:pt>
                <c:pt idx="1">
                  <c:v>17.257164892050795</c:v>
                </c:pt>
                <c:pt idx="2">
                  <c:v>17.32801535964074</c:v>
                </c:pt>
                <c:pt idx="3">
                  <c:v>16.82992367048001</c:v>
                </c:pt>
              </c:numCache>
            </c:numRef>
          </c:val>
        </c:ser>
        <c:ser>
          <c:idx val="1"/>
          <c:order val="1"/>
          <c:tx>
            <c:strRef>
              <c:f>Sheet1!$C$1</c:f>
              <c:strCache>
                <c:ptCount val="1"/>
                <c:pt idx="0">
                  <c:v>Coextruded Multilayer Films</c:v>
                </c:pt>
              </c:strCache>
            </c:strRef>
          </c:tx>
          <c:spPr>
            <a:solidFill>
              <a:srgbClr val="9E7E0A"/>
            </a:solidFill>
            <a:ln>
              <a:noFill/>
            </a:ln>
          </c:spPr>
          <c:dLbls>
            <c:dLbl>
              <c:idx val="0"/>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Sheet1!$C$2:$C$5</c:f>
              <c:numCache>
                <c:formatCode>General</c:formatCode>
                <c:ptCount val="4"/>
                <c:pt idx="0">
                  <c:v>28.582967169081147</c:v>
                </c:pt>
                <c:pt idx="1">
                  <c:v>28.395931513875144</c:v>
                </c:pt>
                <c:pt idx="2">
                  <c:v>28.45428579048862</c:v>
                </c:pt>
                <c:pt idx="3">
                  <c:v>28.637859952391448</c:v>
                </c:pt>
              </c:numCache>
            </c:numRef>
          </c:val>
        </c:ser>
        <c:ser>
          <c:idx val="2"/>
          <c:order val="2"/>
          <c:tx>
            <c:strRef>
              <c:f>Sheet1!$D$1</c:f>
              <c:strCache>
                <c:ptCount val="1"/>
                <c:pt idx="0">
                  <c:v>Laminated Films</c:v>
                </c:pt>
              </c:strCache>
            </c:strRef>
          </c:tx>
          <c:spPr>
            <a:solidFill>
              <a:srgbClr val="008189"/>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Sheet1!$D$2:$D$5</c:f>
              <c:numCache>
                <c:formatCode>General</c:formatCode>
                <c:ptCount val="4"/>
                <c:pt idx="0">
                  <c:v>24.239819883099308</c:v>
                </c:pt>
                <c:pt idx="1">
                  <c:v>24.05728476927275</c:v>
                </c:pt>
                <c:pt idx="2">
                  <c:v>24.101164413562557</c:v>
                </c:pt>
                <c:pt idx="3">
                  <c:v>24.30766761059855</c:v>
                </c:pt>
              </c:numCache>
            </c:numRef>
          </c:val>
        </c:ser>
        <c:ser>
          <c:idx val="3"/>
          <c:order val="3"/>
          <c:tx>
            <c:strRef>
              <c:f>Sheet1!$E$1</c:f>
              <c:strCache>
                <c:ptCount val="1"/>
                <c:pt idx="0">
                  <c:v>Coated Films</c:v>
                </c:pt>
              </c:strCache>
            </c:strRef>
          </c:tx>
          <c:spPr>
            <a:solidFill>
              <a:srgbClr val="40315E"/>
            </a:solidFill>
            <a:ln>
              <a:noFill/>
            </a:ln>
          </c:spPr>
          <c:cat>
            <c:strRef>
              <c:f>Sheet1!$A$2:$A$5</c:f>
              <c:strCache>
                <c:ptCount val="4"/>
                <c:pt idx="0">
                  <c:v>Colombia  ·  1,643</c:v>
                </c:pt>
                <c:pt idx="1">
                  <c:v>Rest of Latin America  ·  3,434</c:v>
                </c:pt>
                <c:pt idx="2">
                  <c:v>Mexico  ·  5,587</c:v>
                </c:pt>
                <c:pt idx="3">
                  <c:v>Brazil  ·  5,955</c:v>
                </c:pt>
              </c:strCache>
            </c:strRef>
          </c:cat>
          <c:val>
            <c:numRef>
              <c:f>Sheet1!$E$2:$E$5</c:f>
              <c:numCache>
                <c:formatCode>General</c:formatCode>
                <c:ptCount val="4"/>
                <c:pt idx="0">
                  <c:v>6.630824263679649</c:v>
                </c:pt>
                <c:pt idx="1">
                  <c:v>6.159405833034562</c:v>
                </c:pt>
                <c:pt idx="2">
                  <c:v>6.472589982903701</c:v>
                </c:pt>
                <c:pt idx="3">
                  <c:v>6.621018291142983</c:v>
                </c:pt>
              </c:numCache>
            </c:numRef>
          </c:val>
        </c:ser>
        <c:ser>
          <c:idx val="4"/>
          <c:order val="4"/>
          <c:tx>
            <c:strRef>
              <c:f>Sheet1!$F$1</c:f>
              <c:strCache>
                <c:ptCount val="1"/>
                <c:pt idx="0">
                  <c:v>Metallized Films</c:v>
                </c:pt>
              </c:strCache>
            </c:strRef>
          </c:tx>
          <c:spPr>
            <a:solidFill>
              <a:srgbClr val="A35313"/>
            </a:solidFill>
            <a:ln>
              <a:noFill/>
            </a:ln>
          </c:spPr>
          <c:dLbls>
            <c:dLbl>
              <c:idx val="0"/>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Sheet1!$F$2:$F$5</c:f>
              <c:numCache>
                <c:formatCode>General</c:formatCode>
                <c:ptCount val="4"/>
                <c:pt idx="0">
                  <c:v>7.4626902010002825</c:v>
                </c:pt>
                <c:pt idx="1">
                  <c:v>6.8816398831167955</c:v>
                </c:pt>
                <c:pt idx="2">
                  <c:v>7.22111470881427</c:v>
                </c:pt>
                <c:pt idx="3">
                  <c:v>7.442699125743549</c:v>
                </c:pt>
              </c:numCache>
            </c:numRef>
          </c:val>
        </c:ser>
        <c:ser>
          <c:idx val="5"/>
          <c:order val="5"/>
          <c:tx>
            <c:strRef>
              <c:f>Sheet1!$G$1</c:f>
              <c:strCache>
                <c:ptCount val="1"/>
                <c:pt idx="0">
                  <c:v>Foil-Laminated Structures</c:v>
                </c:pt>
              </c:strCache>
            </c:strRef>
          </c:tx>
          <c:spPr>
            <a:solidFill>
              <a:srgbClr val="808080"/>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Sheet1!$G$2:$G$5</c:f>
              <c:numCache>
                <c:formatCode>General</c:formatCode>
                <c:ptCount val="4"/>
                <c:pt idx="0">
                  <c:v>7.7418251383349155</c:v>
                </c:pt>
                <c:pt idx="1">
                  <c:v>8.245578216829234</c:v>
                </c:pt>
                <c:pt idx="2">
                  <c:v>7.368968792943244</c:v>
                </c:pt>
                <c:pt idx="3">
                  <c:v>7.7300766787927</c:v>
                </c:pt>
              </c:numCache>
            </c:numRef>
          </c:val>
        </c:ser>
        <c:ser>
          <c:idx val="6"/>
          <c:order val="6"/>
          <c:tx>
            <c:strRef>
              <c:f>Sheet1!$H$1</c:f>
              <c:strCache>
                <c:ptCount val="1"/>
                <c:pt idx="0">
                  <c:v>Mono-Material Recyclable Structures</c:v>
                </c:pt>
              </c:strCache>
            </c:strRef>
          </c:tx>
          <c:spPr>
            <a:solidFill>
              <a:srgbClr val="0E72AE"/>
            </a:solidFill>
            <a:ln>
              <a:noFill/>
            </a:ln>
          </c:spPr>
          <c:dLbls>
            <c:dLbl>
              <c:idx val="0"/>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Sheet1!$H$2:$H$5</c:f>
              <c:numCache>
                <c:formatCode>General</c:formatCode>
                <c:ptCount val="4"/>
                <c:pt idx="0">
                  <c:v>8.542831630991648</c:v>
                </c:pt>
                <c:pt idx="1">
                  <c:v>9.002994891820707</c:v>
                </c:pt>
                <c:pt idx="2">
                  <c:v>9.053860951646882</c:v>
                </c:pt>
                <c:pt idx="3">
                  <c:v>8.430754670850776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Monolayer Films</c:v>
                </c:pt>
              </c:strCache>
            </c:strRef>
          </c:tx>
          <c:spPr>
            <a:solidFill>
              <a:srgbClr val="3D85C6"/>
            </a:solidFill>
          </c:spPr>
          <c:invertIfNegative val="0"/>
          <c:xVal>
            <c:numRef>
              <c:f>Sheet1!$A$2:$A$2</c:f>
              <c:numCache>
                <c:formatCode>General</c:formatCode>
                <c:ptCount val="1"/>
                <c:pt idx="0">
                  <c:v>103.44146291569587</c:v>
                </c:pt>
              </c:numCache>
            </c:numRef>
          </c:xVal>
          <c:yVal>
            <c:numRef>
              <c:f>Sheet1!$B$2:$B$2</c:f>
              <c:numCache>
                <c:formatCode>General</c:formatCode>
                <c:ptCount val="1"/>
                <c:pt idx="0">
                  <c:v>116.86350667059111</c:v>
                </c:pt>
              </c:numCache>
            </c:numRef>
          </c:yVal>
          <c:bubbleSize>
            <c:numRef>
              <c:f>Sheet1!$C$2:$C$2</c:f>
              <c:numCache>
                <c:formatCode>General</c:formatCode>
                <c:ptCount val="1"/>
                <c:pt idx="0">
                  <c:v>2838.83</c:v>
                </c:pt>
              </c:numCache>
            </c:numRef>
          </c:bubbleSize>
          <c:bubble3D val="0"/>
        </c:ser>
        <c:ser>
          <c:idx val="1"/>
          <c:order val="1"/>
          <c:tx>
            <c:strRef>
              <c:f>Sheet1!$B$4</c:f>
              <c:strCache>
                <c:ptCount val="1"/>
                <c:pt idx="0">
                  <c:v>Coextruded Multilayer Films</c:v>
                </c:pt>
              </c:strCache>
            </c:strRef>
          </c:tx>
          <c:spPr>
            <a:solidFill>
              <a:srgbClr val="9E7E0A"/>
            </a:solidFill>
          </c:spPr>
          <c:invertIfNegative val="0"/>
          <c:xVal>
            <c:numRef>
              <c:f>Sheet1!$A$5:$A$5</c:f>
              <c:numCache>
                <c:formatCode>General</c:formatCode>
                <c:ptCount val="1"/>
                <c:pt idx="0">
                  <c:v>97.7651796031627</c:v>
                </c:pt>
              </c:numCache>
            </c:numRef>
          </c:xVal>
          <c:yVal>
            <c:numRef>
              <c:f>Sheet1!$B$5:$B$5</c:f>
              <c:numCache>
                <c:formatCode>General</c:formatCode>
                <c:ptCount val="1"/>
                <c:pt idx="0">
                  <c:v>202.65028802777562</c:v>
                </c:pt>
              </c:numCache>
            </c:numRef>
          </c:yVal>
          <c:bubbleSize>
            <c:numRef>
              <c:f>Sheet1!$C$5:$C$5</c:f>
              <c:numCache>
                <c:formatCode>General</c:formatCode>
                <c:ptCount val="1"/>
                <c:pt idx="0">
                  <c:v>4739.652</c:v>
                </c:pt>
              </c:numCache>
            </c:numRef>
          </c:bubbleSize>
          <c:bubble3D val="0"/>
        </c:ser>
        <c:ser>
          <c:idx val="2"/>
          <c:order val="2"/>
          <c:tx>
            <c:strRef>
              <c:f>Sheet1!$B$7</c:f>
              <c:strCache>
                <c:ptCount val="1"/>
                <c:pt idx="0">
                  <c:v>Laminated Films</c:v>
                </c:pt>
              </c:strCache>
            </c:strRef>
          </c:tx>
          <c:spPr>
            <a:solidFill>
              <a:srgbClr val="008189"/>
            </a:solidFill>
          </c:spPr>
          <c:invertIfNegative val="0"/>
          <c:xVal>
            <c:numRef>
              <c:f>Sheet1!$A$8:$A$8</c:f>
              <c:numCache>
                <c:formatCode>General</c:formatCode>
                <c:ptCount val="1"/>
                <c:pt idx="0">
                  <c:v>98.68095856626438</c:v>
                </c:pt>
              </c:numCache>
            </c:numRef>
          </c:xVal>
          <c:yVal>
            <c:numRef>
              <c:f>Sheet1!$B$8:$B$8</c:f>
              <c:numCache>
                <c:formatCode>General</c:formatCode>
                <c:ptCount val="1"/>
                <c:pt idx="0">
                  <c:v>170.75724574565857</c:v>
                </c:pt>
              </c:numCache>
            </c:numRef>
          </c:yVal>
          <c:bubbleSize>
            <c:numRef>
              <c:f>Sheet1!$C$8:$C$8</c:f>
              <c:numCache>
                <c:formatCode>General</c:formatCode>
                <c:ptCount val="1"/>
                <c:pt idx="0">
                  <c:v>4018.263</c:v>
                </c:pt>
              </c:numCache>
            </c:numRef>
          </c:bubbleSize>
          <c:bubble3D val="0"/>
        </c:ser>
        <c:ser>
          <c:idx val="3"/>
          <c:order val="3"/>
          <c:tx>
            <c:strRef>
              <c:f>Sheet1!$B$10</c:f>
              <c:strCache>
                <c:ptCount val="1"/>
                <c:pt idx="0">
                  <c:v>Coated Films</c:v>
                </c:pt>
              </c:strCache>
            </c:strRef>
          </c:tx>
          <c:spPr>
            <a:solidFill>
              <a:srgbClr val="40315E"/>
            </a:solidFill>
          </c:spPr>
          <c:invertIfNegative val="0"/>
          <c:xVal>
            <c:numRef>
              <c:f>Sheet1!$A$11:$A$11</c:f>
              <c:numCache>
                <c:formatCode>General</c:formatCode>
                <c:ptCount val="1"/>
                <c:pt idx="0">
                  <c:v>99.48400377879878</c:v>
                </c:pt>
              </c:numCache>
            </c:numRef>
          </c:xVal>
          <c:yVal>
            <c:numRef>
              <c:f>Sheet1!$B$11:$B$11</c:f>
              <c:numCache>
                <c:formatCode>General</c:formatCode>
                <c:ptCount val="1"/>
                <c:pt idx="0">
                  <c:v>45.49358770280579</c:v>
                </c:pt>
              </c:numCache>
            </c:numRef>
          </c:yVal>
          <c:bubbleSize>
            <c:numRef>
              <c:f>Sheet1!$C$11:$C$11</c:f>
              <c:numCache>
                <c:formatCode>General</c:formatCode>
                <c:ptCount val="1"/>
                <c:pt idx="0">
                  <c:v>1076.318</c:v>
                </c:pt>
              </c:numCache>
            </c:numRef>
          </c:bubbleSize>
          <c:bubble3D val="0"/>
        </c:ser>
        <c:ser>
          <c:idx val="4"/>
          <c:order val="4"/>
          <c:tx>
            <c:strRef>
              <c:f>Sheet1!$B$13</c:f>
              <c:strCache>
                <c:ptCount val="1"/>
                <c:pt idx="0">
                  <c:v>Metallized Films</c:v>
                </c:pt>
              </c:strCache>
            </c:strRef>
          </c:tx>
          <c:spPr>
            <a:solidFill>
              <a:srgbClr val="A35313"/>
            </a:solidFill>
          </c:spPr>
          <c:invertIfNegative val="0"/>
          <c:xVal>
            <c:numRef>
              <c:f>Sheet1!$A$14:$A$14</c:f>
              <c:numCache>
                <c:formatCode>General</c:formatCode>
                <c:ptCount val="1"/>
                <c:pt idx="0">
                  <c:v>96.03327357229003</c:v>
                </c:pt>
              </c:numCache>
            </c:numRef>
          </c:xVal>
          <c:yVal>
            <c:numRef>
              <c:f>Sheet1!$B$14:$B$14</c:f>
              <c:numCache>
                <c:formatCode>General</c:formatCode>
                <c:ptCount val="1"/>
                <c:pt idx="0">
                  <c:v>52.14530535749683</c:v>
                </c:pt>
              </c:numCache>
            </c:numRef>
          </c:yVal>
          <c:bubbleSize>
            <c:numRef>
              <c:f>Sheet1!$C$14:$C$14</c:f>
              <c:numCache>
                <c:formatCode>General</c:formatCode>
                <c:ptCount val="1"/>
                <c:pt idx="0">
                  <c:v>1205.534</c:v>
                </c:pt>
              </c:numCache>
            </c:numRef>
          </c:bubbleSize>
          <c:bubble3D val="0"/>
        </c:ser>
        <c:ser>
          <c:idx val="5"/>
          <c:order val="5"/>
          <c:tx>
            <c:strRef>
              <c:f>Sheet1!$B$16</c:f>
              <c:strCache>
                <c:ptCount val="1"/>
                <c:pt idx="0">
                  <c:v>Foil-Laminated Structures</c:v>
                </c:pt>
              </c:strCache>
            </c:strRef>
          </c:tx>
          <c:spPr>
            <a:solidFill>
              <a:srgbClr val="808080"/>
            </a:solidFill>
          </c:spPr>
          <c:invertIfNegative val="0"/>
          <c:xVal>
            <c:numRef>
              <c:f>Sheet1!$A$17:$A$17</c:f>
              <c:numCache>
                <c:formatCode>General</c:formatCode>
                <c:ptCount val="1"/>
                <c:pt idx="0">
                  <c:v>98.85376535454682</c:v>
                </c:pt>
              </c:numCache>
            </c:numRef>
          </c:xVal>
          <c:yVal>
            <c:numRef>
              <c:f>Sheet1!$B$17:$B$17</c:f>
              <c:numCache>
                <c:formatCode>General</c:formatCode>
                <c:ptCount val="1"/>
                <c:pt idx="0">
                  <c:v>54.42976507265267</c:v>
                </c:pt>
              </c:numCache>
            </c:numRef>
          </c:yVal>
          <c:bubbleSize>
            <c:numRef>
              <c:f>Sheet1!$C$17:$C$17</c:f>
              <c:numCache>
                <c:formatCode>General</c:formatCode>
                <c:ptCount val="1"/>
                <c:pt idx="0">
                  <c:v>1282.323</c:v>
                </c:pt>
              </c:numCache>
            </c:numRef>
          </c:bubbleSize>
          <c:bubble3D val="0"/>
        </c:ser>
        <c:ser>
          <c:idx val="6"/>
          <c:order val="6"/>
          <c:tx>
            <c:strRef>
              <c:f>Sheet1!$B$19</c:f>
              <c:strCache>
                <c:ptCount val="1"/>
                <c:pt idx="0">
                  <c:v>Mono-Material Recyclable Structures</c:v>
                </c:pt>
              </c:strCache>
            </c:strRef>
          </c:tx>
          <c:spPr>
            <a:solidFill>
              <a:srgbClr val="0E72AE"/>
            </a:solidFill>
          </c:spPr>
          <c:invertIfNegative val="0"/>
          <c:xVal>
            <c:numRef>
              <c:f>Sheet1!$A$20:$A$20</c:f>
              <c:numCache>
                <c:formatCode>General</c:formatCode>
                <c:ptCount val="1"/>
                <c:pt idx="0">
                  <c:v>109.40429288699234</c:v>
                </c:pt>
              </c:numCache>
            </c:numRef>
          </c:xVal>
          <c:yVal>
            <c:numRef>
              <c:f>Sheet1!$B$20:$B$20</c:f>
              <c:numCache>
                <c:formatCode>General</c:formatCode>
                <c:ptCount val="1"/>
                <c:pt idx="0">
                  <c:v>57.6603014230194</c:v>
                </c:pt>
              </c:numCache>
            </c:numRef>
          </c:yVal>
          <c:bubbleSize>
            <c:numRef>
              <c:f>Sheet1!$C$20:$C$20</c:f>
              <c:numCache>
                <c:formatCode>General</c:formatCode>
                <c:ptCount val="1"/>
                <c:pt idx="0">
                  <c:v>1457.346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1389.649</c:v>
                </c:pt>
                <c:pt idx="2">
                  <c:v>1562.19</c:v>
                </c:pt>
                <c:pt idx="3">
                  <c:v>1786.501</c:v>
                </c:pt>
                <c:pt idx="4">
                  <c:v>2076.093</c:v>
                </c:pt>
                <c:pt idx="5">
                  <c:v>2430.375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1389.649</c:v>
                </c:pt>
                <c:pt idx="1">
                  <c:v>172.54100000000017</c:v>
                </c:pt>
                <c:pt idx="2">
                  <c:v>224.31099999999992</c:v>
                </c:pt>
                <c:pt idx="3">
                  <c:v>289.59199999999987</c:v>
                </c:pt>
                <c:pt idx="4">
                  <c:v>354.28200000000015</c:v>
                </c:pt>
                <c:pt idx="5">
                  <c:v>408.4549999999999</c:v>
                </c:pt>
                <c:pt idx="6">
                  <c:v>2838.83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2409.7580000000003</c:v>
                </c:pt>
                <c:pt idx="2">
                  <c:v>2721.9049999999997</c:v>
                </c:pt>
                <c:pt idx="3">
                  <c:v>3103.408</c:v>
                </c:pt>
                <c:pt idx="4">
                  <c:v>3566.8489999999997</c:v>
                </c:pt>
                <c:pt idx="5">
                  <c:v>4114.43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2409.7580000000003</c:v>
                </c:pt>
                <c:pt idx="1">
                  <c:v>312.1469999999995</c:v>
                </c:pt>
                <c:pt idx="2">
                  <c:v>381.50300000000016</c:v>
                </c:pt>
                <c:pt idx="3">
                  <c:v>463.4409999999998</c:v>
                </c:pt>
                <c:pt idx="4">
                  <c:v>547.5810000000006</c:v>
                </c:pt>
                <c:pt idx="5">
                  <c:v>625.2219999999998</c:v>
                </c:pt>
                <c:pt idx="6">
                  <c:v>4739.652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2030.511</c:v>
                </c:pt>
                <c:pt idx="2">
                  <c:v>2299.268</c:v>
                </c:pt>
                <c:pt idx="3">
                  <c:v>2629.626</c:v>
                </c:pt>
                <c:pt idx="4">
                  <c:v>3027.488</c:v>
                </c:pt>
                <c:pt idx="5">
                  <c:v>3491.049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2030.511</c:v>
                </c:pt>
                <c:pt idx="1">
                  <c:v>268.75700000000006</c:v>
                </c:pt>
                <c:pt idx="2">
                  <c:v>330.3580000000002</c:v>
                </c:pt>
                <c:pt idx="3">
                  <c:v>397.8619999999996</c:v>
                </c:pt>
                <c:pt idx="4">
                  <c:v>463.56100000000015</c:v>
                </c:pt>
                <c:pt idx="5">
                  <c:v>527.2139999999999</c:v>
                </c:pt>
                <c:pt idx="6">
                  <c:v>4018.263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540.974</c:v>
                </c:pt>
                <c:pt idx="2">
                  <c:v>608.842</c:v>
                </c:pt>
                <c:pt idx="3">
                  <c:v>694.538</c:v>
                </c:pt>
                <c:pt idx="4">
                  <c:v>803.642</c:v>
                </c:pt>
                <c:pt idx="5">
                  <c:v>931.742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540.974</c:v>
                </c:pt>
                <c:pt idx="1">
                  <c:v>67.86799999999994</c:v>
                </c:pt>
                <c:pt idx="2">
                  <c:v>85.69600000000003</c:v>
                </c:pt>
                <c:pt idx="3">
                  <c:v>109.10400000000004</c:v>
                </c:pt>
                <c:pt idx="4">
                  <c:v>128.0999999999999</c:v>
                </c:pt>
                <c:pt idx="5">
                  <c:v>144.57600000000002</c:v>
                </c:pt>
                <c:pt idx="6">
                  <c:v>1076.318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620.071</c:v>
                </c:pt>
                <c:pt idx="2">
                  <c:v>695.121</c:v>
                </c:pt>
                <c:pt idx="3">
                  <c:v>791.067</c:v>
                </c:pt>
                <c:pt idx="4">
                  <c:v>909.973</c:v>
                </c:pt>
                <c:pt idx="5">
                  <c:v>1048.342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620.071</c:v>
                </c:pt>
                <c:pt idx="1">
                  <c:v>75.04999999999995</c:v>
                </c:pt>
                <c:pt idx="2">
                  <c:v>95.94600000000003</c:v>
                </c:pt>
                <c:pt idx="3">
                  <c:v>118.90599999999995</c:v>
                </c:pt>
                <c:pt idx="4">
                  <c:v>138.36900000000014</c:v>
                </c:pt>
                <c:pt idx="5">
                  <c:v>157.192</c:v>
                </c:pt>
                <c:pt idx="6">
                  <c:v>1205.534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647.236</c:v>
                </c:pt>
                <c:pt idx="2">
                  <c:v>740.764</c:v>
                </c:pt>
                <c:pt idx="3">
                  <c:v>849.292</c:v>
                </c:pt>
                <c:pt idx="4">
                  <c:v>974.132</c:v>
                </c:pt>
                <c:pt idx="5">
                  <c:v>1118.391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647.236</c:v>
                </c:pt>
                <c:pt idx="1">
                  <c:v>93.52800000000002</c:v>
                </c:pt>
                <c:pt idx="2">
                  <c:v>108.52800000000002</c:v>
                </c:pt>
                <c:pt idx="3">
                  <c:v>124.83999999999992</c:v>
                </c:pt>
                <c:pt idx="4">
                  <c:v>144.25900000000013</c:v>
                </c:pt>
                <c:pt idx="5">
                  <c:v>163.93200000000002</c:v>
                </c:pt>
                <c:pt idx="6">
                  <c:v>1282.323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685.6510000000001</c:v>
                </c:pt>
                <c:pt idx="2">
                  <c:v>783.85</c:v>
                </c:pt>
                <c:pt idx="3">
                  <c:v>908.937</c:v>
                </c:pt>
                <c:pt idx="4">
                  <c:v>1062.126</c:v>
                </c:pt>
                <c:pt idx="5">
                  <c:v>1245.342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685.6510000000001</c:v>
                </c:pt>
                <c:pt idx="1">
                  <c:v>98.19899999999996</c:v>
                </c:pt>
                <c:pt idx="2">
                  <c:v>125.08699999999999</c:v>
                </c:pt>
                <c:pt idx="3">
                  <c:v>153.18899999999996</c:v>
                </c:pt>
                <c:pt idx="4">
                  <c:v>183.21600000000012</c:v>
                </c:pt>
                <c:pt idx="5">
                  <c:v>212.0039999999999</c:v>
                </c:pt>
                <c:pt idx="6">
                  <c:v>1457.346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Coextruded Multilayer Films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28.593685714583934</c:v>
                </c:pt>
                <c:pt idx="1">
                  <c:v>28.95004114682509</c:v>
                </c:pt>
                <c:pt idx="2">
                  <c:v>28.52073736212912</c:v>
                </c:pt>
              </c:numCache>
            </c:numRef>
          </c:val>
        </c:ser>
        <c:ser>
          <c:idx val="1"/>
          <c:order val="1"/>
          <c:tx>
            <c:strRef>
              <c:f>Sheet1!$C$1</c:f>
              <c:strCache>
                <c:ptCount val="1"/>
                <c:pt idx="0">
                  <c:v>Laminated Films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24.353342752059586</c:v>
                </c:pt>
                <c:pt idx="1">
                  <c:v>24.393892249379793</c:v>
                </c:pt>
                <c:pt idx="2">
                  <c:v>24.17979709796437</c:v>
                </c:pt>
              </c:numCache>
            </c:numRef>
          </c:val>
        </c:ser>
        <c:ser>
          <c:idx val="2"/>
          <c:order val="2"/>
          <c:tx>
            <c:strRef>
              <c:f>Sheet1!$D$1</c:f>
              <c:strCache>
                <c:ptCount val="1"/>
                <c:pt idx="0">
                  <c:v>Monolayer Films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17.500853309180517</c:v>
                </c:pt>
                <c:pt idx="1">
                  <c:v>16.6947866672273</c:v>
                </c:pt>
                <c:pt idx="2">
                  <c:v>17.082588520366684</c:v>
                </c:pt>
              </c:numCache>
            </c:numRef>
          </c:val>
        </c:ser>
        <c:ser>
          <c:idx val="3"/>
          <c:order val="3"/>
          <c:tx>
            <c:strRef>
              <c:f>Sheet1!$E$1</c:f>
              <c:strCache>
                <c:ptCount val="1"/>
                <c:pt idx="0">
                  <c:v>Mono-Material Recyclable Structures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8.047947953047197</c:v>
                </c:pt>
                <c:pt idx="1">
                  <c:v>8.2371859175742</c:v>
                </c:pt>
                <c:pt idx="2">
                  <c:v>8.76954310395561</c:v>
                </c:pt>
              </c:numCache>
            </c:numRef>
          </c:val>
        </c:ser>
        <c:ser>
          <c:idx val="4"/>
          <c:order val="4"/>
          <c:tx>
            <c:strRef>
              <c:f>Sheet1!$F$1</c:f>
              <c:strCache>
                <c:ptCount val="1"/>
                <c:pt idx="0">
                  <c:v>Foil-Laminated Structures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7.44023291640748</c:v>
                </c:pt>
                <c:pt idx="1">
                  <c:v>7.775680724664667</c:v>
                </c:pt>
                <c:pt idx="2">
                  <c:v>7.7163465791196275</c:v>
                </c:pt>
              </c:numCache>
            </c:numRef>
          </c:val>
        </c:ser>
        <c:ser>
          <c:idx val="5"/>
          <c:order val="5"/>
          <c:tx>
            <c:strRef>
              <c:f>Sheet1!$G$1</c:f>
              <c:strCache>
                <c:ptCount val="1"/>
                <c:pt idx="0">
                  <c:v>Metallized Films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7.667055037234814</c:v>
                </c:pt>
                <c:pt idx="1">
                  <c:v>7.4493293367852615</c:v>
                </c:pt>
                <c:pt idx="2">
                  <c:v>7.254270692261155</c:v>
                </c:pt>
              </c:numCache>
            </c:numRef>
          </c:val>
        </c:ser>
        <c:ser>
          <c:idx val="6"/>
          <c:order val="6"/>
          <c:tx>
            <c:strRef>
              <c:f>Sheet1!$H$1</c:f>
              <c:strCache>
                <c:ptCount val="1"/>
                <c:pt idx="0">
                  <c:v>Coated Films</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6.396882317486474</c:v>
                </c:pt>
                <c:pt idx="1">
                  <c:v>6.499083957543685</c:v>
                </c:pt>
                <c:pt idx="2">
                  <c:v>6.4767166442034325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Low-Barrier Films</c:v>
                </c:pt>
              </c:strCache>
            </c:strRef>
          </c:tx>
          <c:spPr>
            <a:solidFill>
              <a:srgbClr val="3D85C6"/>
            </a:solidFill>
            <a:ln>
              <a:noFill/>
            </a:ln>
          </c:spPr>
          <c:dLbls>
            <c:dLbl>
              <c:idx val="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Sheet1!$B$2:$B$5</c:f>
              <c:numCache>
                <c:formatCode>General</c:formatCode>
                <c:ptCount val="4"/>
                <c:pt idx="0">
                  <c:v>20.574266356895084</c:v>
                </c:pt>
                <c:pt idx="1">
                  <c:v>20.313783762451905</c:v>
                </c:pt>
                <c:pt idx="2">
                  <c:v>19.766601808974706</c:v>
                </c:pt>
                <c:pt idx="3">
                  <c:v>20.15358931440454</c:v>
                </c:pt>
              </c:numCache>
            </c:numRef>
          </c:val>
        </c:ser>
        <c:ser>
          <c:idx val="1"/>
          <c:order val="1"/>
          <c:tx>
            <c:strRef>
              <c:f>Sheet1!$C$1</c:f>
              <c:strCache>
                <c:ptCount val="1"/>
                <c:pt idx="0">
                  <c:v>Medium-Barrier Films</c:v>
                </c:pt>
              </c:strCache>
            </c:strRef>
          </c:tx>
          <c:spPr>
            <a:solidFill>
              <a:srgbClr val="9E7E0A"/>
            </a:solidFill>
            <a:ln>
              <a:noFill/>
            </a:ln>
          </c:spPr>
          <c:dLbls>
            <c:dLbl>
              <c:idx val="0"/>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Sheet1!$C$2:$C$5</c:f>
              <c:numCache>
                <c:formatCode>General</c:formatCode>
                <c:ptCount val="4"/>
                <c:pt idx="0">
                  <c:v>33.503354675272426</c:v>
                </c:pt>
                <c:pt idx="1">
                  <c:v>33.52973093722432</c:v>
                </c:pt>
                <c:pt idx="2">
                  <c:v>32.486758469835806</c:v>
                </c:pt>
                <c:pt idx="3">
                  <c:v>32.69147196952192</c:v>
                </c:pt>
              </c:numCache>
            </c:numRef>
          </c:val>
        </c:ser>
        <c:ser>
          <c:idx val="2"/>
          <c:order val="2"/>
          <c:tx>
            <c:strRef>
              <c:f>Sheet1!$D$1</c:f>
              <c:strCache>
                <c:ptCount val="1"/>
                <c:pt idx="0">
                  <c:v>High-Barrier Films</c:v>
                </c:pt>
              </c:strCache>
            </c:strRef>
          </c:tx>
          <c:spPr>
            <a:solidFill>
              <a:srgbClr val="008189"/>
            </a:solidFill>
            <a:ln>
              <a:noFill/>
            </a:ln>
          </c:spPr>
          <c:dLbls>
            <c:dLbl>
              <c:idx val="0"/>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Sheet1!$D$2:$D$5</c:f>
              <c:numCache>
                <c:formatCode>General</c:formatCode>
                <c:ptCount val="4"/>
                <c:pt idx="0">
                  <c:v>32.21303877034398</c:v>
                </c:pt>
                <c:pt idx="1">
                  <c:v>32.34633586436741</c:v>
                </c:pt>
                <c:pt idx="2">
                  <c:v>34.55156007510843</c:v>
                </c:pt>
                <c:pt idx="3">
                  <c:v>33.633332840769256</c:v>
                </c:pt>
              </c:numCache>
            </c:numRef>
          </c:val>
        </c:ser>
        <c:ser>
          <c:idx val="3"/>
          <c:order val="3"/>
          <c:tx>
            <c:strRef>
              <c:f>Sheet1!$E$1</c:f>
              <c:strCache>
                <c:ptCount val="1"/>
                <c:pt idx="0">
                  <c:v>Ultra-High-Barrier Films</c:v>
                </c:pt>
              </c:strCache>
            </c:strRef>
          </c:tx>
          <c:spPr>
            <a:solidFill>
              <a:srgbClr val="40315E"/>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Sheet1!$E$2:$E$5</c:f>
              <c:numCache>
                <c:formatCode>General</c:formatCode>
                <c:ptCount val="4"/>
                <c:pt idx="0">
                  <c:v>13.709340197488512</c:v>
                </c:pt>
                <c:pt idx="1">
                  <c:v>13.810149435956372</c:v>
                </c:pt>
                <c:pt idx="2">
                  <c:v>13.195079646081062</c:v>
                </c:pt>
                <c:pt idx="3">
                  <c:v>13.52160587530427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Low-Barrier Films</c:v>
                </c:pt>
              </c:strCache>
            </c:strRef>
          </c:tx>
          <c:spPr>
            <a:solidFill>
              <a:srgbClr val="3D85C6"/>
            </a:solidFill>
          </c:spPr>
          <c:invertIfNegative val="0"/>
          <c:xVal>
            <c:numRef>
              <c:f>Sheet1!$A$2:$A$2</c:f>
              <c:numCache>
                <c:formatCode>General</c:formatCode>
                <c:ptCount val="1"/>
                <c:pt idx="0">
                  <c:v>98.92463399962436</c:v>
                </c:pt>
              </c:numCache>
            </c:numRef>
          </c:xVal>
          <c:yVal>
            <c:numRef>
              <c:f>Sheet1!$B$2:$B$2</c:f>
              <c:numCache>
                <c:formatCode>General</c:formatCode>
                <c:ptCount val="1"/>
                <c:pt idx="0">
                  <c:v>80.97254046775716</c:v>
                </c:pt>
              </c:numCache>
            </c:numRef>
          </c:yVal>
          <c:bubbleSize>
            <c:numRef>
              <c:f>Sheet1!$C$2:$C$2</c:f>
              <c:numCache>
                <c:formatCode>General</c:formatCode>
                <c:ptCount val="1"/>
                <c:pt idx="0">
                  <c:v>3339.97</c:v>
                </c:pt>
              </c:numCache>
            </c:numRef>
          </c:bubbleSize>
          <c:bubble3D val="0"/>
        </c:ser>
        <c:ser>
          <c:idx val="1"/>
          <c:order val="1"/>
          <c:tx>
            <c:strRef>
              <c:f>Sheet1!$B$4</c:f>
              <c:strCache>
                <c:ptCount val="1"/>
                <c:pt idx="0">
                  <c:v>Medium-Barrier Films</c:v>
                </c:pt>
              </c:strCache>
            </c:strRef>
          </c:tx>
          <c:spPr>
            <a:solidFill>
              <a:srgbClr val="9E7E0A"/>
            </a:solidFill>
          </c:spPr>
          <c:invertIfNegative val="0"/>
          <c:xVal>
            <c:numRef>
              <c:f>Sheet1!$A$5:$A$5</c:f>
              <c:numCache>
                <c:formatCode>General</c:formatCode>
                <c:ptCount val="1"/>
                <c:pt idx="0">
                  <c:v>94.34400995586725</c:v>
                </c:pt>
              </c:numCache>
            </c:numRef>
          </c:xVal>
          <c:yVal>
            <c:numRef>
              <c:f>Sheet1!$B$5:$B$5</c:f>
              <c:numCache>
                <c:formatCode>General</c:formatCode>
                <c:ptCount val="1"/>
                <c:pt idx="0">
                  <c:v>136.57792206466024</c:v>
                </c:pt>
              </c:numCache>
            </c:numRef>
          </c:yVal>
          <c:bubbleSize>
            <c:numRef>
              <c:f>Sheet1!$C$5:$C$5</c:f>
              <c:numCache>
                <c:formatCode>General</c:formatCode>
                <c:ptCount val="1"/>
                <c:pt idx="0">
                  <c:v>5463.44</c:v>
                </c:pt>
              </c:numCache>
            </c:numRef>
          </c:bubbleSize>
          <c:bubble3D val="0"/>
        </c:ser>
        <c:ser>
          <c:idx val="2"/>
          <c:order val="2"/>
          <c:tx>
            <c:strRef>
              <c:f>Sheet1!$B$7</c:f>
              <c:strCache>
                <c:ptCount val="1"/>
                <c:pt idx="0">
                  <c:v>High-Barrier Films</c:v>
                </c:pt>
              </c:strCache>
            </c:strRef>
          </c:tx>
          <c:spPr>
            <a:solidFill>
              <a:srgbClr val="008189"/>
            </a:solidFill>
          </c:spPr>
          <c:invertIfNegative val="0"/>
          <c:xVal>
            <c:numRef>
              <c:f>Sheet1!$A$8:$A$8</c:f>
              <c:numCache>
                <c:formatCode>General</c:formatCode>
                <c:ptCount val="1"/>
                <c:pt idx="0">
                  <c:v>105.10338382441029</c:v>
                </c:pt>
              </c:numCache>
            </c:numRef>
          </c:xVal>
          <c:yVal>
            <c:numRef>
              <c:f>Sheet1!$B$8:$B$8</c:f>
              <c:numCache>
                <c:formatCode>General</c:formatCode>
                <c:ptCount val="1"/>
                <c:pt idx="0">
                  <c:v>129.65420204042624</c:v>
                </c:pt>
              </c:numCache>
            </c:numRef>
          </c:yVal>
          <c:bubbleSize>
            <c:numRef>
              <c:f>Sheet1!$C$8:$C$8</c:f>
              <c:numCache>
                <c:formatCode>General</c:formatCode>
                <c:ptCount val="1"/>
                <c:pt idx="0">
                  <c:v>5573.05</c:v>
                </c:pt>
              </c:numCache>
            </c:numRef>
          </c:bubbleSize>
          <c:bubble3D val="0"/>
        </c:ser>
        <c:ser>
          <c:idx val="3"/>
          <c:order val="3"/>
          <c:tx>
            <c:strRef>
              <c:f>Sheet1!$B$10</c:f>
              <c:strCache>
                <c:ptCount val="1"/>
                <c:pt idx="0">
                  <c:v>Ultra-High-Barrier Films</c:v>
                </c:pt>
              </c:strCache>
            </c:strRef>
          </c:tx>
          <c:spPr>
            <a:solidFill>
              <a:srgbClr val="40315E"/>
            </a:solidFill>
          </c:spPr>
          <c:invertIfNegative val="0"/>
          <c:xVal>
            <c:numRef>
              <c:f>Sheet1!$A$11:$A$11</c:f>
              <c:numCache>
                <c:formatCode>General</c:formatCode>
                <c:ptCount val="1"/>
                <c:pt idx="0">
                  <c:v>103.27015485264552</c:v>
                </c:pt>
              </c:numCache>
            </c:numRef>
          </c:xVal>
          <c:yVal>
            <c:numRef>
              <c:f>Sheet1!$B$11:$B$11</c:f>
              <c:numCache>
                <c:formatCode>General</c:formatCode>
                <c:ptCount val="1"/>
                <c:pt idx="0">
                  <c:v>52.79533542715635</c:v>
                </c:pt>
              </c:numCache>
            </c:numRef>
          </c:yVal>
          <c:bubbleSize>
            <c:numRef>
              <c:f>Sheet1!$C$11:$C$11</c:f>
              <c:numCache>
                <c:formatCode>General</c:formatCode>
                <c:ptCount val="1"/>
                <c:pt idx="0">
                  <c:v>2241.807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1685.008</c:v>
                </c:pt>
                <c:pt idx="2">
                  <c:v>1895.809</c:v>
                </c:pt>
                <c:pt idx="3">
                  <c:v>2169.28</c:v>
                </c:pt>
                <c:pt idx="4">
                  <c:v>2508.483</c:v>
                </c:pt>
                <c:pt idx="5">
                  <c:v>2898.195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1685.008</c:v>
                </c:pt>
                <c:pt idx="1">
                  <c:v>210.80099999999993</c:v>
                </c:pt>
                <c:pt idx="2">
                  <c:v>273.47100000000023</c:v>
                </c:pt>
                <c:pt idx="3">
                  <c:v>339.203</c:v>
                </c:pt>
                <c:pt idx="4">
                  <c:v>389.712</c:v>
                </c:pt>
                <c:pt idx="5">
                  <c:v>441.77499999999964</c:v>
                </c:pt>
                <c:pt idx="6">
                  <c:v>3339.97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2842.135</c:v>
                </c:pt>
                <c:pt idx="2">
                  <c:v>3187.922</c:v>
                </c:pt>
                <c:pt idx="3">
                  <c:v>3614.195</c:v>
                </c:pt>
                <c:pt idx="4">
                  <c:v>4129.142</c:v>
                </c:pt>
                <c:pt idx="5">
                  <c:v>4751.369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2842.135</c:v>
                </c:pt>
                <c:pt idx="1">
                  <c:v>345.7869999999998</c:v>
                </c:pt>
                <c:pt idx="2">
                  <c:v>426.27300000000014</c:v>
                </c:pt>
                <c:pt idx="3">
                  <c:v>514.9469999999997</c:v>
                </c:pt>
                <c:pt idx="4">
                  <c:v>622.2269999999999</c:v>
                </c:pt>
                <c:pt idx="5">
                  <c:v>712.0709999999999</c:v>
                </c:pt>
                <c:pt idx="6">
                  <c:v>5463.44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2698.055</c:v>
                </c:pt>
                <c:pt idx="2">
                  <c:v>3104.1</c:v>
                </c:pt>
                <c:pt idx="3">
                  <c:v>3589.984</c:v>
                </c:pt>
                <c:pt idx="4">
                  <c:v>4163.955</c:v>
                </c:pt>
                <c:pt idx="5">
                  <c:v>4823.493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2698.055</c:v>
                </c:pt>
                <c:pt idx="1">
                  <c:v>406.0450000000001</c:v>
                </c:pt>
                <c:pt idx="2">
                  <c:v>485.884</c:v>
                </c:pt>
                <c:pt idx="3">
                  <c:v>573.971</c:v>
                </c:pt>
                <c:pt idx="4">
                  <c:v>659.5380000000005</c:v>
                </c:pt>
                <c:pt idx="5">
                  <c:v>749.5569999999998</c:v>
                </c:pt>
                <c:pt idx="6">
                  <c:v>5573.05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1098.651</c:v>
                </c:pt>
                <c:pt idx="2">
                  <c:v>1224.107</c:v>
                </c:pt>
                <c:pt idx="3">
                  <c:v>1389.908</c:v>
                </c:pt>
                <c:pt idx="4">
                  <c:v>1618.724</c:v>
                </c:pt>
                <c:pt idx="5">
                  <c:v>1906.614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1098.651</c:v>
                </c:pt>
                <c:pt idx="1">
                  <c:v>125.4559999999999</c:v>
                </c:pt>
                <c:pt idx="2">
                  <c:v>165.80099999999993</c:v>
                </c:pt>
                <c:pt idx="3">
                  <c:v>228.81600000000003</c:v>
                </c:pt>
                <c:pt idx="4">
                  <c:v>287.8900000000001</c:v>
                </c:pt>
                <c:pt idx="5">
                  <c:v>335.19299999999976</c:v>
                </c:pt>
                <c:pt idx="6">
                  <c:v>2241.807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High-Barrier Films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31.048821911269542</c:v>
                </c:pt>
                <c:pt idx="1">
                  <c:v>32.41355051010656</c:v>
                </c:pt>
                <c:pt idx="2">
                  <c:v>33.535686964230386</c:v>
                </c:pt>
              </c:numCache>
            </c:numRef>
          </c:val>
        </c:ser>
        <c:ser>
          <c:idx val="1"/>
          <c:order val="1"/>
          <c:tx>
            <c:strRef>
              <c:f>Sheet1!$C$1</c:f>
              <c:strCache>
                <c:ptCount val="1"/>
                <c:pt idx="0">
                  <c:v>Medium-Barrier Films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34.22012591745355</c:v>
                </c:pt>
                <c:pt idx="1">
                  <c:v>34.14448051616506</c:v>
                </c:pt>
                <c:pt idx="2">
                  <c:v>32.876111570478436</c:v>
                </c:pt>
              </c:numCache>
            </c:numRef>
          </c:val>
        </c:ser>
        <c:ser>
          <c:idx val="2"/>
          <c:order val="2"/>
          <c:tx>
            <c:strRef>
              <c:f>Sheet1!$D$1</c:f>
              <c:strCache>
                <c:ptCount val="1"/>
                <c:pt idx="0">
                  <c:v>Low-Barrier Films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21.006971977181937</c:v>
                </c:pt>
                <c:pt idx="1">
                  <c:v>20.24313511693929</c:v>
                </c:pt>
                <c:pt idx="2">
                  <c:v>20.098184726482007</c:v>
                </c:pt>
              </c:numCache>
            </c:numRef>
          </c:val>
        </c:ser>
        <c:ser>
          <c:idx val="3"/>
          <c:order val="3"/>
          <c:tx>
            <c:strRef>
              <c:f>Sheet1!$E$1</c:f>
              <c:strCache>
                <c:ptCount val="1"/>
                <c:pt idx="0">
                  <c:v>Ultra-High-Barrier Films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13.72408019409496</c:v>
                </c:pt>
                <c:pt idx="1">
                  <c:v>13.198833856789088</c:v>
                </c:pt>
                <c:pt idx="2">
                  <c:v>13.490016738809166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Food Packaging</c:v>
                </c:pt>
              </c:strCache>
            </c:strRef>
          </c:tx>
          <c:spPr>
            <a:solidFill>
              <a:srgbClr val="3D85C6"/>
            </a:solidFill>
            <a:ln>
              <a:noFill/>
            </a:ln>
          </c:spPr>
          <c:dLbls>
            <c:dLbl>
              <c:idx val="0"/>
              <c:tx>
                <c:rich>
                  <a:bodyPr/>
                  <a:lstStyle/>
                  <a:p>
                    <a:r>
                      <a:rPr sz="1100">
                        <a:solidFill>
                          <a:srgbClr val="FFFFFF"/>
                        </a:solidFill>
                        <a:latin typeface="Calibri"/>
                      </a:rPr>
                      <a:t>85%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83%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Sheet1!$B$2:$B$5</c:f>
              <c:numCache>
                <c:formatCode>General</c:formatCode>
                <c:ptCount val="4"/>
                <c:pt idx="0">
                  <c:v>84.56129266693814</c:v>
                </c:pt>
                <c:pt idx="1">
                  <c:v>84.09015714503734</c:v>
                </c:pt>
                <c:pt idx="2">
                  <c:v>83.34817244443299</c:v>
                </c:pt>
                <c:pt idx="3">
                  <c:v>83.47864255811403</c:v>
                </c:pt>
              </c:numCache>
            </c:numRef>
          </c:val>
        </c:ser>
        <c:ser>
          <c:idx val="1"/>
          <c:order val="1"/>
          <c:tx>
            <c:strRef>
              <c:f>Sheet1!$C$1</c:f>
              <c:strCache>
                <c:ptCount val="1"/>
                <c:pt idx="0">
                  <c:v>Non-Food Packaging</c:v>
                </c:pt>
              </c:strCache>
            </c:strRef>
          </c:tx>
          <c:spPr>
            <a:solidFill>
              <a:srgbClr val="9E7E0A"/>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Sheet1!$C$2:$C$5</c:f>
              <c:numCache>
                <c:formatCode>General</c:formatCode>
                <c:ptCount val="4"/>
                <c:pt idx="0">
                  <c:v>15.438707333061869</c:v>
                </c:pt>
                <c:pt idx="1">
                  <c:v>15.909842854962672</c:v>
                </c:pt>
                <c:pt idx="2">
                  <c:v>16.65182755556701</c:v>
                </c:pt>
                <c:pt idx="3">
                  <c:v>16.521357441885968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Food Packaging</c:v>
                </c:pt>
              </c:strCache>
            </c:strRef>
          </c:tx>
          <c:spPr>
            <a:solidFill>
              <a:srgbClr val="3D85C6"/>
            </a:solidFill>
          </c:spPr>
          <c:invertIfNegative val="0"/>
          <c:xVal>
            <c:numRef>
              <c:f>Sheet1!$A$2:$A$2</c:f>
              <c:numCache>
                <c:formatCode>General</c:formatCode>
                <c:ptCount val="1"/>
                <c:pt idx="0">
                  <c:v>100.09345830906197</c:v>
                </c:pt>
              </c:numCache>
            </c:numRef>
          </c:xVal>
          <c:yVal>
            <c:numRef>
              <c:f>Sheet1!$B$2:$B$2</c:f>
              <c:numCache>
                <c:formatCode>General</c:formatCode>
                <c:ptCount val="1"/>
                <c:pt idx="0">
                  <c:v>167.23184190390768</c:v>
                </c:pt>
              </c:numCache>
            </c:numRef>
          </c:yVal>
          <c:bubbleSize>
            <c:numRef>
              <c:f>Sheet1!$C$2:$C$2</c:f>
              <c:numCache>
                <c:formatCode>General</c:formatCode>
                <c:ptCount val="1"/>
                <c:pt idx="0">
                  <c:v>13904.193</c:v>
                </c:pt>
              </c:numCache>
            </c:numRef>
          </c:bubbleSize>
          <c:bubble3D val="0"/>
        </c:ser>
        <c:ser>
          <c:idx val="1"/>
          <c:order val="1"/>
          <c:tx>
            <c:strRef>
              <c:f>Sheet1!$B$4</c:f>
              <c:strCache>
                <c:ptCount val="1"/>
                <c:pt idx="0">
                  <c:v>Non-Food Packaging</c:v>
                </c:pt>
              </c:strCache>
            </c:strRef>
          </c:tx>
          <c:spPr>
            <a:solidFill>
              <a:srgbClr val="9E7E0A"/>
            </a:solidFill>
          </c:spPr>
          <c:invertIfNegative val="0"/>
          <c:xVal>
            <c:numRef>
              <c:f>Sheet1!$A$5:$A$5</c:f>
              <c:numCache>
                <c:formatCode>General</c:formatCode>
                <c:ptCount val="1"/>
                <c:pt idx="0">
                  <c:v>99.5222171547866</c:v>
                </c:pt>
              </c:numCache>
            </c:numRef>
          </c:xVal>
          <c:yVal>
            <c:numRef>
              <c:f>Sheet1!$B$5:$B$5</c:f>
              <c:numCache>
                <c:formatCode>General</c:formatCode>
                <c:ptCount val="1"/>
                <c:pt idx="0">
                  <c:v>32.76815809609233</c:v>
                </c:pt>
              </c:numCache>
            </c:numRef>
          </c:yVal>
          <c:bubbleSize>
            <c:numRef>
              <c:f>Sheet1!$C$5:$C$5</c:f>
              <c:numCache>
                <c:formatCode>General</c:formatCode>
                <c:ptCount val="1"/>
                <c:pt idx="0">
                  <c:v>2714.072</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6960.063</c:v>
                </c:pt>
                <c:pt idx="2">
                  <c:v>7876.013</c:v>
                </c:pt>
                <c:pt idx="3">
                  <c:v>9010.483</c:v>
                </c:pt>
                <c:pt idx="4">
                  <c:v>10396.824</c:v>
                </c:pt>
                <c:pt idx="5">
                  <c:v>12034.182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6960.063</c:v>
                </c:pt>
                <c:pt idx="1">
                  <c:v>915.9499999999998</c:v>
                </c:pt>
                <c:pt idx="2">
                  <c:v>1134.4700000000003</c:v>
                </c:pt>
                <c:pt idx="3">
                  <c:v>1386.3410000000003</c:v>
                </c:pt>
                <c:pt idx="4">
                  <c:v>1637.3580000000002</c:v>
                </c:pt>
                <c:pt idx="5">
                  <c:v>1870.0109999999986</c:v>
                </c:pt>
                <c:pt idx="6">
                  <c:v>13904.193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1363.786</c:v>
                </c:pt>
                <c:pt idx="2">
                  <c:v>1535.925</c:v>
                </c:pt>
                <c:pt idx="3">
                  <c:v>1752.883</c:v>
                </c:pt>
                <c:pt idx="4">
                  <c:v>2023.479</c:v>
                </c:pt>
                <c:pt idx="5">
                  <c:v>2345.489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1363.786</c:v>
                </c:pt>
                <c:pt idx="1">
                  <c:v>172.1389999999999</c:v>
                </c:pt>
                <c:pt idx="2">
                  <c:v>216.95800000000008</c:v>
                </c:pt>
                <c:pt idx="3">
                  <c:v>270.596</c:v>
                </c:pt>
                <c:pt idx="4">
                  <c:v>322.01</c:v>
                </c:pt>
                <c:pt idx="5">
                  <c:v>368.5830000000001</c:v>
                </c:pt>
                <c:pt idx="6">
                  <c:v>2714.072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Food Packaging</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83.38329600997021</c:v>
                </c:pt>
                <c:pt idx="1">
                  <c:v>83.61592095195384</c:v>
                </c:pt>
                <c:pt idx="2">
                  <c:v>83.66813864142857</c:v>
                </c:pt>
              </c:numCache>
            </c:numRef>
          </c:val>
        </c:ser>
        <c:ser>
          <c:idx val="1"/>
          <c:order val="1"/>
          <c:tx>
            <c:strRef>
              <c:f>Sheet1!$C$1</c:f>
              <c:strCache>
                <c:ptCount val="1"/>
                <c:pt idx="0">
                  <c:v>Non-Food Packaging</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16.616703990029794</c:v>
                </c:pt>
                <c:pt idx="1">
                  <c:v>16.384079048046164</c:v>
                </c:pt>
                <c:pt idx="2">
                  <c:v>16.331861358571427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Low-Barrier Films</c:v>
                </c:pt>
              </c:strCache>
            </c:strRef>
          </c:tx>
          <c:spPr>
            <a:solidFill>
              <a:srgbClr val="3D85C6"/>
            </a:solidFill>
            <a:ln>
              <a:noFill/>
            </a:ln>
          </c:spPr>
          <c:dLbls>
            <c:dLbl>
              <c:idx val="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Sheet1!$B$2:$B$5</c:f>
              <c:numCache>
                <c:formatCode>General</c:formatCode>
                <c:ptCount val="4"/>
                <c:pt idx="0">
                  <c:v>20.574289654970922</c:v>
                </c:pt>
                <c:pt idx="1">
                  <c:v>20.313789678783518</c:v>
                </c:pt>
                <c:pt idx="2">
                  <c:v>19.766605347198443</c:v>
                </c:pt>
                <c:pt idx="3">
                  <c:v>20.15360949054705</c:v>
                </c:pt>
              </c:numCache>
            </c:numRef>
          </c:val>
        </c:ser>
        <c:ser>
          <c:idx val="1"/>
          <c:order val="1"/>
          <c:tx>
            <c:strRef>
              <c:f>Sheet1!$C$1</c:f>
              <c:strCache>
                <c:ptCount val="1"/>
                <c:pt idx="0">
                  <c:v>Medium-Barrier Films</c:v>
                </c:pt>
              </c:strCache>
            </c:strRef>
          </c:tx>
          <c:spPr>
            <a:solidFill>
              <a:srgbClr val="9E7E0A"/>
            </a:solidFill>
            <a:ln>
              <a:noFill/>
            </a:ln>
          </c:spPr>
          <c:dLbls>
            <c:dLbl>
              <c:idx val="0"/>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Sheet1!$C$2:$C$5</c:f>
              <c:numCache>
                <c:formatCode>General</c:formatCode>
                <c:ptCount val="4"/>
                <c:pt idx="0">
                  <c:v>33.50341523153091</c:v>
                </c:pt>
                <c:pt idx="1">
                  <c:v>33.52974070266288</c:v>
                </c:pt>
                <c:pt idx="2">
                  <c:v>32.48678218497906</c:v>
                </c:pt>
                <c:pt idx="3">
                  <c:v>32.69144387514103</c:v>
                </c:pt>
              </c:numCache>
            </c:numRef>
          </c:val>
        </c:ser>
        <c:ser>
          <c:idx val="2"/>
          <c:order val="2"/>
          <c:tx>
            <c:strRef>
              <c:f>Sheet1!$D$1</c:f>
              <c:strCache>
                <c:ptCount val="1"/>
                <c:pt idx="0">
                  <c:v>High-Barrier Films</c:v>
                </c:pt>
              </c:strCache>
            </c:strRef>
          </c:tx>
          <c:spPr>
            <a:solidFill>
              <a:srgbClr val="008189"/>
            </a:solidFill>
            <a:ln>
              <a:noFill/>
            </a:ln>
          </c:spPr>
          <c:dLbls>
            <c:dLbl>
              <c:idx val="0"/>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Sheet1!$D$2:$D$5</c:f>
              <c:numCache>
                <c:formatCode>General</c:formatCode>
                <c:ptCount val="4"/>
                <c:pt idx="0">
                  <c:v>32.212979949285845</c:v>
                </c:pt>
                <c:pt idx="1">
                  <c:v>32.346316160430575</c:v>
                </c:pt>
                <c:pt idx="2">
                  <c:v>34.55154835983102</c:v>
                </c:pt>
                <c:pt idx="3">
                  <c:v>33.633338488465014</c:v>
                </c:pt>
              </c:numCache>
            </c:numRef>
          </c:val>
        </c:ser>
        <c:ser>
          <c:idx val="3"/>
          <c:order val="3"/>
          <c:tx>
            <c:strRef>
              <c:f>Sheet1!$E$1</c:f>
              <c:strCache>
                <c:ptCount val="1"/>
                <c:pt idx="0">
                  <c:v>Ultra-High-Barrier Films</c:v>
                </c:pt>
              </c:strCache>
            </c:strRef>
          </c:tx>
          <c:spPr>
            <a:solidFill>
              <a:srgbClr val="40315E"/>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1,643</c:v>
                </c:pt>
                <c:pt idx="1">
                  <c:v>Rest of Latin America  ·  3,434</c:v>
                </c:pt>
                <c:pt idx="2">
                  <c:v>Mexico  ·  5,587</c:v>
                </c:pt>
                <c:pt idx="3">
                  <c:v>Brazil  ·  5,955</c:v>
                </c:pt>
              </c:strCache>
            </c:strRef>
          </c:cat>
          <c:val>
            <c:numRef>
              <c:f>Sheet1!$E$2:$E$5</c:f>
              <c:numCache>
                <c:formatCode>General</c:formatCode>
                <c:ptCount val="4"/>
                <c:pt idx="0">
                  <c:v>13.709315164212319</c:v>
                </c:pt>
                <c:pt idx="1">
                  <c:v>13.810153458123029</c:v>
                </c:pt>
                <c:pt idx="2">
                  <c:v>13.195064107991477</c:v>
                </c:pt>
                <c:pt idx="3">
                  <c:v>13.521608145846903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Low-Barrier Films</c:v>
                </c:pt>
              </c:strCache>
            </c:strRef>
          </c:tx>
          <c:spPr>
            <a:solidFill>
              <a:srgbClr val="3D85C6"/>
            </a:solidFill>
          </c:spPr>
          <c:invertIfNegative val="0"/>
          <c:xVal>
            <c:numRef>
              <c:f>Sheet1!$A$2:$A$2</c:f>
              <c:numCache>
                <c:formatCode>General</c:formatCode>
                <c:ptCount val="1"/>
                <c:pt idx="0">
                  <c:v>98.92461573701735</c:v>
                </c:pt>
              </c:numCache>
            </c:numRef>
          </c:xVal>
          <c:yVal>
            <c:numRef>
              <c:f>Sheet1!$B$2:$B$2</c:f>
              <c:numCache>
                <c:formatCode>General</c:formatCode>
                <c:ptCount val="1"/>
                <c:pt idx="0">
                  <c:v>80.97253132416571</c:v>
                </c:pt>
              </c:numCache>
            </c:numRef>
          </c:yVal>
          <c:bubbleSize>
            <c:numRef>
              <c:f>Sheet1!$C$2:$C$2</c:f>
              <c:numCache>
                <c:formatCode>General</c:formatCode>
                <c:ptCount val="1"/>
                <c:pt idx="0">
                  <c:v>3339.969</c:v>
                </c:pt>
              </c:numCache>
            </c:numRef>
          </c:bubbleSize>
          <c:bubble3D val="0"/>
        </c:ser>
        <c:ser>
          <c:idx val="1"/>
          <c:order val="1"/>
          <c:tx>
            <c:strRef>
              <c:f>Sheet1!$B$4</c:f>
              <c:strCache>
                <c:ptCount val="1"/>
                <c:pt idx="0">
                  <c:v>Medium-Barrier Films</c:v>
                </c:pt>
              </c:strCache>
            </c:strRef>
          </c:tx>
          <c:spPr>
            <a:solidFill>
              <a:srgbClr val="9E7E0A"/>
            </a:solidFill>
          </c:spPr>
          <c:invertIfNegative val="0"/>
          <c:xVal>
            <c:numRef>
              <c:f>Sheet1!$A$5:$A$5</c:f>
              <c:numCache>
                <c:formatCode>General</c:formatCode>
                <c:ptCount val="1"/>
                <c:pt idx="0">
                  <c:v>94.34400305827845</c:v>
                </c:pt>
              </c:numCache>
            </c:numRef>
          </c:xVal>
          <c:yVal>
            <c:numRef>
              <c:f>Sheet1!$B$5:$B$5</c:f>
              <c:numCache>
                <c:formatCode>General</c:formatCode>
                <c:ptCount val="1"/>
                <c:pt idx="0">
                  <c:v>136.57793964207647</c:v>
                </c:pt>
              </c:numCache>
            </c:numRef>
          </c:yVal>
          <c:bubbleSize>
            <c:numRef>
              <c:f>Sheet1!$C$5:$C$5</c:f>
              <c:numCache>
                <c:formatCode>General</c:formatCode>
                <c:ptCount val="1"/>
                <c:pt idx="0">
                  <c:v>5463.4400000000005</c:v>
                </c:pt>
              </c:numCache>
            </c:numRef>
          </c:bubbleSize>
          <c:bubble3D val="0"/>
        </c:ser>
        <c:ser>
          <c:idx val="2"/>
          <c:order val="2"/>
          <c:tx>
            <c:strRef>
              <c:f>Sheet1!$B$7</c:f>
              <c:strCache>
                <c:ptCount val="1"/>
                <c:pt idx="0">
                  <c:v>High-Barrier Films</c:v>
                </c:pt>
              </c:strCache>
            </c:strRef>
          </c:tx>
          <c:spPr>
            <a:solidFill>
              <a:srgbClr val="008189"/>
            </a:solidFill>
          </c:spPr>
          <c:invertIfNegative val="0"/>
          <c:xVal>
            <c:numRef>
              <c:f>Sheet1!$A$8:$A$8</c:f>
              <c:numCache>
                <c:formatCode>General</c:formatCode>
                <c:ptCount val="1"/>
                <c:pt idx="0">
                  <c:v>105.10337335697434</c:v>
                </c:pt>
              </c:numCache>
            </c:numRef>
          </c:xVal>
          <c:yVal>
            <c:numRef>
              <c:f>Sheet1!$B$8:$B$8</c:f>
              <c:numCache>
                <c:formatCode>General</c:formatCode>
                <c:ptCount val="1"/>
                <c:pt idx="0">
                  <c:v>129.6542162906686</c:v>
                </c:pt>
              </c:numCache>
            </c:numRef>
          </c:yVal>
          <c:bubbleSize>
            <c:numRef>
              <c:f>Sheet1!$C$8:$C$8</c:f>
              <c:numCache>
                <c:formatCode>General</c:formatCode>
                <c:ptCount val="1"/>
                <c:pt idx="0">
                  <c:v>5573.05</c:v>
                </c:pt>
              </c:numCache>
            </c:numRef>
          </c:bubbleSize>
          <c:bubble3D val="0"/>
        </c:ser>
        <c:ser>
          <c:idx val="3"/>
          <c:order val="3"/>
          <c:tx>
            <c:strRef>
              <c:f>Sheet1!$B$10</c:f>
              <c:strCache>
                <c:ptCount val="1"/>
                <c:pt idx="0">
                  <c:v>Ultra-High-Barrier Films</c:v>
                </c:pt>
              </c:strCache>
            </c:strRef>
          </c:tx>
          <c:spPr>
            <a:solidFill>
              <a:srgbClr val="40315E"/>
            </a:solidFill>
          </c:spPr>
          <c:invertIfNegative val="0"/>
          <c:xVal>
            <c:numRef>
              <c:f>Sheet1!$A$11:$A$11</c:f>
              <c:numCache>
                <c:formatCode>General</c:formatCode>
                <c:ptCount val="1"/>
                <c:pt idx="0">
                  <c:v>103.2702264189575</c:v>
                </c:pt>
              </c:numCache>
            </c:numRef>
          </c:xVal>
          <c:yVal>
            <c:numRef>
              <c:f>Sheet1!$B$11:$B$11</c:f>
              <c:numCache>
                <c:formatCode>General</c:formatCode>
                <c:ptCount val="1"/>
                <c:pt idx="0">
                  <c:v>52.7953127430893</c:v>
                </c:pt>
              </c:numCache>
            </c:numRef>
          </c:yVal>
          <c:bubbleSize>
            <c:numRef>
              <c:f>Sheet1!$C$11:$C$11</c:f>
              <c:numCache>
                <c:formatCode>General</c:formatCode>
                <c:ptCount val="1"/>
                <c:pt idx="0">
                  <c:v>2241.807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1685.007</c:v>
                </c:pt>
                <c:pt idx="2">
                  <c:v>1895.808</c:v>
                </c:pt>
                <c:pt idx="3">
                  <c:v>2169.278</c:v>
                </c:pt>
                <c:pt idx="4">
                  <c:v>2508.483</c:v>
                </c:pt>
                <c:pt idx="5">
                  <c:v>2898.195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1685.007</c:v>
                </c:pt>
                <c:pt idx="1">
                  <c:v>210.80099999999993</c:v>
                </c:pt>
                <c:pt idx="2">
                  <c:v>273.4699999999998</c:v>
                </c:pt>
                <c:pt idx="3">
                  <c:v>339.2050000000004</c:v>
                </c:pt>
                <c:pt idx="4">
                  <c:v>389.712</c:v>
                </c:pt>
                <c:pt idx="5">
                  <c:v>441.7739999999999</c:v>
                </c:pt>
                <c:pt idx="6">
                  <c:v>3339.969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2842.134</c:v>
                </c:pt>
                <c:pt idx="2">
                  <c:v>3187.923</c:v>
                </c:pt>
                <c:pt idx="3">
                  <c:v>3614.196</c:v>
                </c:pt>
                <c:pt idx="4">
                  <c:v>4129.143</c:v>
                </c:pt>
                <c:pt idx="5">
                  <c:v>4751.369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2842.134</c:v>
                </c:pt>
                <c:pt idx="1">
                  <c:v>345.78899999999976</c:v>
                </c:pt>
                <c:pt idx="2">
                  <c:v>426.27300000000014</c:v>
                </c:pt>
                <c:pt idx="3">
                  <c:v>514.9470000000001</c:v>
                </c:pt>
                <c:pt idx="4">
                  <c:v>622.2259999999997</c:v>
                </c:pt>
                <c:pt idx="5">
                  <c:v>712.0710000000008</c:v>
                </c:pt>
                <c:pt idx="6">
                  <c:v>5463.4400000000005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2698.054</c:v>
                </c:pt>
                <c:pt idx="2">
                  <c:v>3104.1</c:v>
                </c:pt>
                <c:pt idx="3">
                  <c:v>3589.983</c:v>
                </c:pt>
                <c:pt idx="4">
                  <c:v>4163.955</c:v>
                </c:pt>
                <c:pt idx="5">
                  <c:v>4823.4929999999995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2698.054</c:v>
                </c:pt>
                <c:pt idx="1">
                  <c:v>406.0459999999998</c:v>
                </c:pt>
                <c:pt idx="2">
                  <c:v>485.88300000000027</c:v>
                </c:pt>
                <c:pt idx="3">
                  <c:v>573.9719999999998</c:v>
                </c:pt>
                <c:pt idx="4">
                  <c:v>659.5379999999996</c:v>
                </c:pt>
                <c:pt idx="5">
                  <c:v>749.5570000000007</c:v>
                </c:pt>
                <c:pt idx="6">
                  <c:v>5573.05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1098.65</c:v>
                </c:pt>
                <c:pt idx="2">
                  <c:v>1224.106</c:v>
                </c:pt>
                <c:pt idx="3">
                  <c:v>1389.908</c:v>
                </c:pt>
                <c:pt idx="4">
                  <c:v>1618.726</c:v>
                </c:pt>
                <c:pt idx="5">
                  <c:v>1906.615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1098.65</c:v>
                </c:pt>
                <c:pt idx="1">
                  <c:v>125.4559999999999</c:v>
                </c:pt>
                <c:pt idx="2">
                  <c:v>165.8019999999999</c:v>
                </c:pt>
                <c:pt idx="3">
                  <c:v>228.8180000000002</c:v>
                </c:pt>
                <c:pt idx="4">
                  <c:v>287.8889999999999</c:v>
                </c:pt>
                <c:pt idx="5">
                  <c:v>335.1919999999998</c:v>
                </c:pt>
                <c:pt idx="6">
                  <c:v>2241.807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High-Barrier Films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31.04880149590435</c:v>
                </c:pt>
                <c:pt idx="1">
                  <c:v>32.41355407266713</c:v>
                </c:pt>
                <c:pt idx="2">
                  <c:v>33.53568898223197</c:v>
                </c:pt>
              </c:numCache>
            </c:numRef>
          </c:val>
        </c:ser>
        <c:ser>
          <c:idx val="1"/>
          <c:order val="1"/>
          <c:tx>
            <c:strRef>
              <c:f>Sheet1!$C$1</c:f>
              <c:strCache>
                <c:ptCount val="1"/>
                <c:pt idx="0">
                  <c:v>Medium-Barrier Films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34.220136164933336</c:v>
                </c:pt>
                <c:pt idx="1">
                  <c:v>34.14448491051911</c:v>
                </c:pt>
                <c:pt idx="2">
                  <c:v>32.87611354879023</c:v>
                </c:pt>
              </c:numCache>
            </c:numRef>
          </c:val>
        </c:ser>
        <c:ser>
          <c:idx val="2"/>
          <c:order val="2"/>
          <c:tx>
            <c:strRef>
              <c:f>Sheet1!$D$1</c:f>
              <c:strCache>
                <c:ptCount val="1"/>
                <c:pt idx="0">
                  <c:v>Low-Barrier Films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21.006984283065282</c:v>
                </c:pt>
                <c:pt idx="1">
                  <c:v>20.24313283104142</c:v>
                </c:pt>
                <c:pt idx="2">
                  <c:v>20.09817991841026</c:v>
                </c:pt>
              </c:numCache>
            </c:numRef>
          </c:val>
        </c:ser>
        <c:ser>
          <c:idx val="3"/>
          <c:order val="3"/>
          <c:tx>
            <c:strRef>
              <c:f>Sheet1!$E$1</c:f>
              <c:strCache>
                <c:ptCount val="1"/>
                <c:pt idx="0">
                  <c:v>Ultra-High-Barrier Films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13.724078056097039</c:v>
                </c:pt>
                <c:pt idx="1">
                  <c:v>13.198828185772319</c:v>
                </c:pt>
                <c:pt idx="2">
                  <c:v>13.490017550567549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864.1460000000001</c:v>
                </c:pt>
                <c:pt idx="1">
                  <c:v>899.5029999999999</c:v>
                </c:pt>
                <c:pt idx="2">
                  <c:v>936.797</c:v>
                </c:pt>
                <c:pt idx="3">
                  <c:v>976.4029999999999</c:v>
                </c:pt>
                <c:pt idx="4">
                  <c:v>1018.508</c:v>
                </c:pt>
                <c:pt idx="5">
                  <c:v>1063.821</c:v>
                </c:pt>
                <c:pt idx="6">
                  <c:v>1112.38</c:v>
                </c:pt>
                <c:pt idx="7">
                  <c:v>1164.539</c:v>
                </c:pt>
                <c:pt idx="8">
                  <c:v>1220.473</c:v>
                </c:pt>
                <c:pt idx="9">
                  <c:v>1280.4</c:v>
                </c:pt>
                <c:pt idx="10">
                  <c:v>1344.275</c:v>
                </c:pt>
                <c:pt idx="11">
                  <c:v>1411.8200000000002</c:v>
                </c:pt>
                <c:pt idx="12">
                  <c:v>1482.5</c:v>
                </c:pt>
                <c:pt idx="13">
                  <c:v>1555.6570000000002</c:v>
                </c:pt>
                <c:pt idx="14">
                  <c:v>1630.17</c:v>
                </c:pt>
                <c:pt idx="15">
                  <c:v>1705.766</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Latin America</c:v>
                </c:pt>
                <c:pt idx="1">
                  <c:v>Brazil</c:v>
                </c:pt>
              </c:strCache>
            </c:strRef>
          </c:cat>
          <c:val>
            <c:numRef>
              <c:f>Sheet1!$B$2:$B$3</c:f>
              <c:numCache>
                <c:formatCode>General</c:formatCode>
                <c:ptCount val="2"/>
                <c:pt idx="0">
                  <c:v>0.057484041121296015</c:v>
                </c:pt>
                <c:pt idx="1">
                  <c:v>0.04834707897938073</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760345551374963"/>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1063.821</c:v>
                </c:pt>
                <c:pt idx="2">
                  <c:v>1112.38</c:v>
                </c:pt>
                <c:pt idx="3">
                  <c:v>1164.539</c:v>
                </c:pt>
                <c:pt idx="4">
                  <c:v>1220.473</c:v>
                </c:pt>
                <c:pt idx="5">
                  <c:v>1280.4</c:v>
                </c:pt>
                <c:pt idx="6">
                  <c:v>1344.275</c:v>
                </c:pt>
                <c:pt idx="7">
                  <c:v>1411.8200000000002</c:v>
                </c:pt>
                <c:pt idx="8">
                  <c:v>1482.5</c:v>
                </c:pt>
                <c:pt idx="9">
                  <c:v>1555.6570000000002</c:v>
                </c:pt>
                <c:pt idx="10">
                  <c:v>1630.17</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1063.821</c:v>
                </c:pt>
                <c:pt idx="1">
                  <c:v>48.5590000000002</c:v>
                </c:pt>
                <c:pt idx="2">
                  <c:v>52.15899999999988</c:v>
                </c:pt>
                <c:pt idx="3">
                  <c:v>55.93399999999997</c:v>
                </c:pt>
                <c:pt idx="4">
                  <c:v>59.927000000000135</c:v>
                </c:pt>
                <c:pt idx="5">
                  <c:v>63.875</c:v>
                </c:pt>
                <c:pt idx="6">
                  <c:v>67.54500000000007</c:v>
                </c:pt>
                <c:pt idx="7">
                  <c:v>70.67999999999984</c:v>
                </c:pt>
                <c:pt idx="8">
                  <c:v>73.15700000000015</c:v>
                </c:pt>
                <c:pt idx="9">
                  <c:v>74.51299999999992</c:v>
                </c:pt>
                <c:pt idx="10">
                  <c:v>75.596</c:v>
                </c:pt>
                <c:pt idx="11">
                  <c:v>1705.766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Brazil</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Latin America</c:v>
                </c:pt>
              </c:strCache>
            </c:strRef>
          </c:cat>
          <c:val>
            <c:numRef>
              <c:f>Sheet1!$B$2:$B$2</c:f>
              <c:numCache>
                <c:formatCode>General</c:formatCode>
                <c:ptCount val="1"/>
                <c:pt idx="0">
                  <c:v>37.543421296418835</c:v>
                </c:pt>
              </c:numCache>
            </c:numRef>
          </c:val>
        </c:ser>
        <c:ser>
          <c:idx val="1"/>
          <c:order val="1"/>
          <c:tx>
            <c:strRef>
              <c:f>Sheet1!$C$1</c:f>
              <c:strCache>
                <c:ptCount val="1"/>
                <c:pt idx="0">
                  <c:v>Rest of Latin America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Latin America</c:v>
                </c:pt>
              </c:strCache>
            </c:strRef>
          </c:cat>
          <c:val>
            <c:numRef>
              <c:f>Sheet1!$C$2:$C$2</c:f>
              <c:numCache>
                <c:formatCode>General</c:formatCode>
                <c:ptCount val="1"/>
                <c:pt idx="0">
                  <c:v>62.456578703581165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2571.2909999999997</c:v>
                </c:pt>
                <c:pt idx="1">
                  <c:v>2685.6830000000004</c:v>
                </c:pt>
                <c:pt idx="2">
                  <c:v>2807.482</c:v>
                </c:pt>
                <c:pt idx="3">
                  <c:v>2939.3100000000004</c:v>
                </c:pt>
                <c:pt idx="4">
                  <c:v>3080.53</c:v>
                </c:pt>
                <c:pt idx="5">
                  <c:v>3245.228</c:v>
                </c:pt>
                <c:pt idx="6">
                  <c:v>3425.2799999999997</c:v>
                </c:pt>
                <c:pt idx="7">
                  <c:v>3622.7960000000003</c:v>
                </c:pt>
                <c:pt idx="8">
                  <c:v>3838.8729999999996</c:v>
                </c:pt>
                <c:pt idx="9">
                  <c:v>4075.9780000000005</c:v>
                </c:pt>
                <c:pt idx="10">
                  <c:v>4335.352</c:v>
                </c:pt>
                <c:pt idx="11">
                  <c:v>4617.308</c:v>
                </c:pt>
                <c:pt idx="12">
                  <c:v>4921.466</c:v>
                </c:pt>
                <c:pt idx="13">
                  <c:v>5246.437</c:v>
                </c:pt>
                <c:pt idx="14">
                  <c:v>5591.083</c:v>
                </c:pt>
                <c:pt idx="15">
                  <c:v>5955.232</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Latin America</c:v>
                </c:pt>
                <c:pt idx="1">
                  <c:v>Brazil</c:v>
                </c:pt>
              </c:strCache>
            </c:strRef>
          </c:cat>
          <c:val>
            <c:numRef>
              <c:f>Sheet1!$B$2:$B$3</c:f>
              <c:numCache>
                <c:formatCode>General</c:formatCode>
                <c:ptCount val="2"/>
                <c:pt idx="0">
                  <c:v>0.0715838035780032</c:v>
                </c:pt>
                <c:pt idx="1">
                  <c:v>0.06258907662698698</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663813483030433"/>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3245.228</c:v>
                </c:pt>
                <c:pt idx="2">
                  <c:v>3425.2799999999997</c:v>
                </c:pt>
                <c:pt idx="3">
                  <c:v>3622.7960000000003</c:v>
                </c:pt>
                <c:pt idx="4">
                  <c:v>3838.8729999999996</c:v>
                </c:pt>
                <c:pt idx="5">
                  <c:v>4075.9780000000005</c:v>
                </c:pt>
                <c:pt idx="6">
                  <c:v>4335.352</c:v>
                </c:pt>
                <c:pt idx="7">
                  <c:v>4617.308</c:v>
                </c:pt>
                <c:pt idx="8">
                  <c:v>4921.466</c:v>
                </c:pt>
                <c:pt idx="9">
                  <c:v>5246.437</c:v>
                </c:pt>
                <c:pt idx="10">
                  <c:v>5591.083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3245.228</c:v>
                </c:pt>
                <c:pt idx="1">
                  <c:v>180.05199999999968</c:v>
                </c:pt>
                <c:pt idx="2">
                  <c:v>197.51600000000053</c:v>
                </c:pt>
                <c:pt idx="3">
                  <c:v>216.07699999999932</c:v>
                </c:pt>
                <c:pt idx="4">
                  <c:v>237.10500000000093</c:v>
                </c:pt>
                <c:pt idx="5">
                  <c:v>259.37399999999934</c:v>
                </c:pt>
                <c:pt idx="6">
                  <c:v>281.95600000000013</c:v>
                </c:pt>
                <c:pt idx="7">
                  <c:v>304.15800000000036</c:v>
                </c:pt>
                <c:pt idx="8">
                  <c:v>324.97099999999955</c:v>
                </c:pt>
                <c:pt idx="9">
                  <c:v>344.64599999999973</c:v>
                </c:pt>
                <c:pt idx="10">
                  <c:v>364.14900000000034</c:v>
                </c:pt>
                <c:pt idx="11">
                  <c:v>5955.232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Brazil</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Latin America</c:v>
                </c:pt>
              </c:strCache>
            </c:strRef>
          </c:cat>
          <c:val>
            <c:numRef>
              <c:f>Sheet1!$B$2:$B$2</c:f>
              <c:numCache>
                <c:formatCode>General</c:formatCode>
                <c:ptCount val="1"/>
                <c:pt idx="0">
                  <c:v>38.98711269114957</c:v>
                </c:pt>
              </c:numCache>
            </c:numRef>
          </c:val>
        </c:ser>
        <c:ser>
          <c:idx val="1"/>
          <c:order val="1"/>
          <c:tx>
            <c:strRef>
              <c:f>Sheet1!$C$1</c:f>
              <c:strCache>
                <c:ptCount val="1"/>
                <c:pt idx="0">
                  <c:v>Rest of Latin America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Latin America</c:v>
                </c:pt>
              </c:strCache>
            </c:strRef>
          </c:cat>
          <c:val>
            <c:numRef>
              <c:f>Sheet1!$C$2:$C$2</c:f>
              <c:numCache>
                <c:formatCode>General</c:formatCode>
                <c:ptCount val="1"/>
                <c:pt idx="0">
                  <c:v>61.01288730885043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232.697</c:v>
                </c:pt>
                <c:pt idx="8">
                  <c:v>371.824</c:v>
                </c:pt>
                <c:pt idx="9">
                  <c:v>894.388</c:v>
                </c:pt>
                <c:pt idx="10">
                  <c:v>1746.319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340.06746"/>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AlOx / SiOx-Coated</c:v>
                </c:pt>
                <c:pt idx="2">
                  <c:v>Other Specialty Barri…</c:v>
                </c:pt>
                <c:pt idx="3">
                  <c:v>Aluminum Foil-Based</c:v>
                </c:pt>
                <c:pt idx="4">
                  <c:v>PVDC-Based</c:v>
                </c:pt>
                <c:pt idx="5">
                  <c:v>Metallized Barrier</c:v>
                </c:pt>
                <c:pt idx="6">
                  <c:v>EVOH-Based</c:v>
                </c:pt>
                <c:pt idx="7">
                  <c:v>PA-Based</c:v>
                </c:pt>
                <c:pt idx="8">
                  <c:v>PET-Based</c:v>
                </c:pt>
                <c:pt idx="9">
                  <c:v>PP-Based</c:v>
                </c:pt>
                <c:pt idx="10">
                  <c:v>PE-Based</c:v>
                </c:pt>
              </c:strCache>
            </c:strRef>
          </c:cat>
          <c:val>
            <c:numRef>
              <c:f>Sheet1!$B$2:$B$12</c:f>
              <c:numCache>
                <c:formatCode>General</c:formatCode>
                <c:ptCount val="11"/>
                <c:pt idx="0">
                  <c:v>66.462</c:v>
                </c:pt>
                <c:pt idx="1">
                  <c:v>96.589</c:v>
                </c:pt>
                <c:pt idx="2">
                  <c:v>102.013</c:v>
                </c:pt>
                <c:pt idx="3">
                  <c:v>105.216</c:v>
                </c:pt>
                <c:pt idx="4">
                  <c:v>159.174</c:v>
                </c:pt>
                <c:pt idx="5">
                  <c:v>189.124</c:v>
                </c:pt>
                <c:pt idx="6">
                  <c:v>252.307</c:v>
                </c:pt>
                <c:pt idx="7">
                  <c:v>286.293</c:v>
                </c:pt>
                <c:pt idx="8">
                  <c:v>315.758</c:v>
                </c:pt>
                <c:pt idx="9">
                  <c:v>706.252</c:v>
                </c:pt>
                <c:pt idx="10">
                  <c:v>966.039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294.4922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Metallized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215.877</c:v>
                </c:pt>
                <c:pt idx="5">
                  <c:v>248.393</c:v>
                </c:pt>
                <c:pt idx="6">
                  <c:v>253.726</c:v>
                </c:pt>
                <c:pt idx="7">
                  <c:v>258.863</c:v>
                </c:pt>
                <c:pt idx="8">
                  <c:v>529.204</c:v>
                </c:pt>
                <c:pt idx="9">
                  <c:v>793.4820000000001</c:v>
                </c:pt>
                <c:pt idx="10">
                  <c:v>945.682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267.2138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433.213</c:v>
                </c:pt>
                <c:pt idx="8">
                  <c:v>658.764</c:v>
                </c:pt>
                <c:pt idx="9">
                  <c:v>1050.538</c:v>
                </c:pt>
                <c:pt idx="10">
                  <c:v>1102.712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477.63408"/>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537.611</c:v>
                </c:pt>
                <c:pt idx="10">
                  <c:v>2707.615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628.2041"/>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433.212</c:v>
                </c:pt>
                <c:pt idx="8">
                  <c:v>658.763</c:v>
                </c:pt>
                <c:pt idx="9">
                  <c:v>1050.541</c:v>
                </c:pt>
                <c:pt idx="10">
                  <c:v>1102.712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477.63408"/>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3245.228</c:v>
                </c:pt>
                <c:pt idx="2">
                  <c:v>4695.361000000001</c:v>
                </c:pt>
                <c:pt idx="3">
                  <c:v>4985.361000000001</c:v>
                </c:pt>
                <c:pt idx="4">
                  <c:v>5778.342000000001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3245.228</c:v>
                </c:pt>
                <c:pt idx="1">
                  <c:v>1450.1330000000003</c:v>
                </c:pt>
                <c:pt idx="2">
                  <c:v>290.00000000000006</c:v>
                </c:pt>
                <c:pt idx="3">
                  <c:v>792.9809999999999</c:v>
                </c:pt>
                <c:pt idx="4">
                  <c:v>176.89</c:v>
                </c:pt>
                <c:pt idx="5">
                  <c:v>5955.232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1450.1330000000003</c:v>
                </c:pt>
                <c:pt idx="2">
                  <c:v>1740.1330000000003</c:v>
                </c:pt>
                <c:pt idx="3">
                  <c:v>2533.114</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1450.1330000000003</c:v>
                </c:pt>
                <c:pt idx="1">
                  <c:v>290.00000000000006</c:v>
                </c:pt>
                <c:pt idx="2">
                  <c:v>792.9809999999999</c:v>
                </c:pt>
                <c:pt idx="3">
                  <c:v>176.89</c:v>
                </c:pt>
                <c:pt idx="4">
                  <c:v>2710.004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3245.2269999999994</c:v>
                </c:pt>
                <c:pt idx="2">
                  <c:v>4075.8999999999996</c:v>
                </c:pt>
                <c:pt idx="3">
                  <c:v>4659.977999999999</c:v>
                </c:pt>
                <c:pt idx="4">
                  <c:v>4930.551999999999</c:v>
                </c:pt>
                <c:pt idx="5">
                  <c:v>5159.268999999998</c:v>
                </c:pt>
                <c:pt idx="6">
                  <c:v>5374.609999999999</c:v>
                </c:pt>
                <c:pt idx="7">
                  <c:v>5487.682999999999</c:v>
                </c:pt>
                <c:pt idx="8">
                  <c:v>5543.542999999999</c:v>
                </c:pt>
                <c:pt idx="9">
                  <c:v>5697.460999999998</c:v>
                </c:pt>
                <c:pt idx="10">
                  <c:v>5783.850999999999</c:v>
                </c:pt>
                <c:pt idx="11">
                  <c:v>5860.524999999999</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3245.2269999999994</c:v>
                </c:pt>
                <c:pt idx="1">
                  <c:v>830.673</c:v>
                </c:pt>
                <c:pt idx="2">
                  <c:v>584.078</c:v>
                </c:pt>
                <c:pt idx="3">
                  <c:v>270.574</c:v>
                </c:pt>
                <c:pt idx="4">
                  <c:v>228.71699999999998</c:v>
                </c:pt>
                <c:pt idx="5">
                  <c:v>215.34100000000004</c:v>
                </c:pt>
                <c:pt idx="6">
                  <c:v>113.07300000000001</c:v>
                </c:pt>
                <c:pt idx="7">
                  <c:v>55.86</c:v>
                </c:pt>
                <c:pt idx="8">
                  <c:v>153.91799999999998</c:v>
                </c:pt>
                <c:pt idx="9">
                  <c:v>86.39000000000001</c:v>
                </c:pt>
                <c:pt idx="10">
                  <c:v>76.67399999999999</c:v>
                </c:pt>
                <c:pt idx="11">
                  <c:v>94.708</c:v>
                </c:pt>
                <c:pt idx="12">
                  <c:v>5955.233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830.673</c:v>
                </c:pt>
                <c:pt idx="2">
                  <c:v>1414.751</c:v>
                </c:pt>
                <c:pt idx="3">
                  <c:v>1685.325</c:v>
                </c:pt>
                <c:pt idx="4">
                  <c:v>1914.042</c:v>
                </c:pt>
                <c:pt idx="5">
                  <c:v>2129.383</c:v>
                </c:pt>
                <c:pt idx="6">
                  <c:v>2242.4559999999997</c:v>
                </c:pt>
                <c:pt idx="7">
                  <c:v>2298.316</c:v>
                </c:pt>
                <c:pt idx="8">
                  <c:v>2452.234</c:v>
                </c:pt>
                <c:pt idx="9">
                  <c:v>2538.624</c:v>
                </c:pt>
                <c:pt idx="10">
                  <c:v>2615.298</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830.673</c:v>
                </c:pt>
                <c:pt idx="1">
                  <c:v>584.078</c:v>
                </c:pt>
                <c:pt idx="2">
                  <c:v>270.574</c:v>
                </c:pt>
                <c:pt idx="3">
                  <c:v>228.71699999999998</c:v>
                </c:pt>
                <c:pt idx="4">
                  <c:v>215.34100000000004</c:v>
                </c:pt>
                <c:pt idx="5">
                  <c:v>113.07300000000001</c:v>
                </c:pt>
                <c:pt idx="6">
                  <c:v>55.86</c:v>
                </c:pt>
                <c:pt idx="7">
                  <c:v>153.91799999999998</c:v>
                </c:pt>
                <c:pt idx="8">
                  <c:v>86.39000000000001</c:v>
                </c:pt>
                <c:pt idx="9">
                  <c:v>76.67399999999999</c:v>
                </c:pt>
                <c:pt idx="10">
                  <c:v>94.708</c:v>
                </c:pt>
                <c:pt idx="11">
                  <c:v>2710.006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3245.227</c:v>
                </c:pt>
                <c:pt idx="2">
                  <c:v>3718.2839999999997</c:v>
                </c:pt>
                <c:pt idx="3">
                  <c:v>4478.053</c:v>
                </c:pt>
                <c:pt idx="4">
                  <c:v>5132.148999999999</c:v>
                </c:pt>
                <c:pt idx="5">
                  <c:v>5310.5689999999995</c:v>
                </c:pt>
                <c:pt idx="6">
                  <c:v>5505.406</c:v>
                </c:pt>
                <c:pt idx="7">
                  <c:v>5712.024</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3245.227</c:v>
                </c:pt>
                <c:pt idx="1">
                  <c:v>473.057</c:v>
                </c:pt>
                <c:pt idx="2">
                  <c:v>759.769</c:v>
                </c:pt>
                <c:pt idx="3">
                  <c:v>654.0959999999999</c:v>
                </c:pt>
                <c:pt idx="4">
                  <c:v>178.42000000000002</c:v>
                </c:pt>
                <c:pt idx="5">
                  <c:v>194.83700000000002</c:v>
                </c:pt>
                <c:pt idx="6">
                  <c:v>206.618</c:v>
                </c:pt>
                <c:pt idx="7">
                  <c:v>243.20800000000003</c:v>
                </c:pt>
                <c:pt idx="8">
                  <c:v>5955.231999999999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473.057</c:v>
                </c:pt>
                <c:pt idx="2">
                  <c:v>1232.826</c:v>
                </c:pt>
                <c:pt idx="3">
                  <c:v>1886.922</c:v>
                </c:pt>
                <c:pt idx="4">
                  <c:v>2065.342</c:v>
                </c:pt>
                <c:pt idx="5">
                  <c:v>2260.179</c:v>
                </c:pt>
                <c:pt idx="6">
                  <c:v>2466.797</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473.057</c:v>
                </c:pt>
                <c:pt idx="1">
                  <c:v>759.769</c:v>
                </c:pt>
                <c:pt idx="2">
                  <c:v>654.0959999999999</c:v>
                </c:pt>
                <c:pt idx="3">
                  <c:v>178.42000000000002</c:v>
                </c:pt>
                <c:pt idx="4">
                  <c:v>194.83700000000002</c:v>
                </c:pt>
                <c:pt idx="5">
                  <c:v>206.618</c:v>
                </c:pt>
                <c:pt idx="6">
                  <c:v>243.20800000000003</c:v>
                </c:pt>
                <c:pt idx="7">
                  <c:v>2710.005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3245.2270000000003</c:v>
                </c:pt>
                <c:pt idx="2">
                  <c:v>3786.6560000000004</c:v>
                </c:pt>
                <c:pt idx="3">
                  <c:v>4630.7970000000005</c:v>
                </c:pt>
                <c:pt idx="4">
                  <c:v>5583.202</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3245.2270000000003</c:v>
                </c:pt>
                <c:pt idx="1">
                  <c:v>541.429</c:v>
                </c:pt>
                <c:pt idx="2">
                  <c:v>844.1410000000001</c:v>
                </c:pt>
                <c:pt idx="3">
                  <c:v>952.405</c:v>
                </c:pt>
                <c:pt idx="4">
                  <c:v>372.03000000000003</c:v>
                </c:pt>
                <c:pt idx="5">
                  <c:v>5955.232000000001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541.429</c:v>
                </c:pt>
                <c:pt idx="2">
                  <c:v>1385.5700000000002</c:v>
                </c:pt>
                <c:pt idx="3">
                  <c:v>2337.9750000000004</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541.429</c:v>
                </c:pt>
                <c:pt idx="1">
                  <c:v>844.1410000000001</c:v>
                </c:pt>
                <c:pt idx="2">
                  <c:v>952.405</c:v>
                </c:pt>
                <c:pt idx="3">
                  <c:v>372.03000000000003</c:v>
                </c:pt>
                <c:pt idx="4">
                  <c:v>2710.0050000000006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3245.2259999999997</c:v>
                </c:pt>
                <c:pt idx="2">
                  <c:v>5508.956999999999</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3245.2259999999997</c:v>
                </c:pt>
                <c:pt idx="1">
                  <c:v>2263.7309999999998</c:v>
                </c:pt>
                <c:pt idx="2">
                  <c:v>446.274</c:v>
                </c:pt>
                <c:pt idx="3">
                  <c:v>5955.231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2263.7309999999998</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2263.7309999999998</c:v>
                </c:pt>
                <c:pt idx="1">
                  <c:v>446.274</c:v>
                </c:pt>
                <c:pt idx="2">
                  <c:v>2710.0049999999997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3245.2279999999996</c:v>
                </c:pt>
                <c:pt idx="2">
                  <c:v>3786.6589999999997</c:v>
                </c:pt>
                <c:pt idx="3">
                  <c:v>4630.798</c:v>
                </c:pt>
                <c:pt idx="4">
                  <c:v>5583.2</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3245.2279999999996</c:v>
                </c:pt>
                <c:pt idx="1">
                  <c:v>541.4309999999999</c:v>
                </c:pt>
                <c:pt idx="2">
                  <c:v>844.1390000000001</c:v>
                </c:pt>
                <c:pt idx="3">
                  <c:v>952.402</c:v>
                </c:pt>
                <c:pt idx="4">
                  <c:v>372.03099999999995</c:v>
                </c:pt>
                <c:pt idx="5">
                  <c:v>5955.231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541.4309999999999</c:v>
                </c:pt>
                <c:pt idx="2">
                  <c:v>1385.5700000000002</c:v>
                </c:pt>
                <c:pt idx="3">
                  <c:v>2337.972</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541.4309999999999</c:v>
                </c:pt>
                <c:pt idx="1">
                  <c:v>844.1390000000001</c:v>
                </c:pt>
                <c:pt idx="2">
                  <c:v>952.402</c:v>
                </c:pt>
                <c:pt idx="3">
                  <c:v>372.03099999999995</c:v>
                </c:pt>
                <c:pt idx="4">
                  <c:v>2710.003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736.713</c:v>
                </c:pt>
                <c:pt idx="1">
                  <c:v>775.6510000000001</c:v>
                </c:pt>
                <c:pt idx="2">
                  <c:v>816.2189999999999</c:v>
                </c:pt>
                <c:pt idx="3">
                  <c:v>858.7189999999999</c:v>
                </c:pt>
                <c:pt idx="4">
                  <c:v>903.353</c:v>
                </c:pt>
                <c:pt idx="5">
                  <c:v>952.034</c:v>
                </c:pt>
                <c:pt idx="6">
                  <c:v>1005.208</c:v>
                </c:pt>
                <c:pt idx="7">
                  <c:v>1064.036</c:v>
                </c:pt>
                <c:pt idx="8">
                  <c:v>1129.242</c:v>
                </c:pt>
                <c:pt idx="9">
                  <c:v>1201.816</c:v>
                </c:pt>
                <c:pt idx="10">
                  <c:v>1281.578</c:v>
                </c:pt>
                <c:pt idx="11">
                  <c:v>1368.578</c:v>
                </c:pt>
                <c:pt idx="12">
                  <c:v>1461.609</c:v>
                </c:pt>
                <c:pt idx="13">
                  <c:v>1559.6970000000001</c:v>
                </c:pt>
                <c:pt idx="14">
                  <c:v>1661.5049999999999</c:v>
                </c:pt>
                <c:pt idx="15">
                  <c:v>1766.8029999999999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Latin America</c:v>
                </c:pt>
                <c:pt idx="1">
                  <c:v>Mexico</c:v>
                </c:pt>
              </c:strCache>
            </c:strRef>
          </c:cat>
          <c:val>
            <c:numRef>
              <c:f>Sheet1!$B$2:$B$3</c:f>
              <c:numCache>
                <c:formatCode>General</c:formatCode>
                <c:ptCount val="2"/>
                <c:pt idx="0">
                  <c:v>0.057484041121296015</c:v>
                </c:pt>
                <c:pt idx="1">
                  <c:v>0.06378427672730025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610877358185534"/>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952.034</c:v>
                </c:pt>
                <c:pt idx="2">
                  <c:v>1005.208</c:v>
                </c:pt>
                <c:pt idx="3">
                  <c:v>1064.036</c:v>
                </c:pt>
                <c:pt idx="4">
                  <c:v>1129.242</c:v>
                </c:pt>
                <c:pt idx="5">
                  <c:v>1201.816</c:v>
                </c:pt>
                <c:pt idx="6">
                  <c:v>1281.578</c:v>
                </c:pt>
                <c:pt idx="7">
                  <c:v>1368.578</c:v>
                </c:pt>
                <c:pt idx="8">
                  <c:v>1461.609</c:v>
                </c:pt>
                <c:pt idx="9">
                  <c:v>1559.6970000000001</c:v>
                </c:pt>
                <c:pt idx="10">
                  <c:v>1661.5049999999999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952.034</c:v>
                </c:pt>
                <c:pt idx="1">
                  <c:v>53.17399999999998</c:v>
                </c:pt>
                <c:pt idx="2">
                  <c:v>58.82800000000009</c:v>
                </c:pt>
                <c:pt idx="3">
                  <c:v>65.2059999999999</c:v>
                </c:pt>
                <c:pt idx="4">
                  <c:v>72.57400000000007</c:v>
                </c:pt>
                <c:pt idx="5">
                  <c:v>79.76199999999994</c:v>
                </c:pt>
                <c:pt idx="6">
                  <c:v>87.0</c:v>
                </c:pt>
                <c:pt idx="7">
                  <c:v>93.03099999999995</c:v>
                </c:pt>
                <c:pt idx="8">
                  <c:v>98.08800000000019</c:v>
                </c:pt>
                <c:pt idx="9">
                  <c:v>101.80799999999977</c:v>
                </c:pt>
                <c:pt idx="10">
                  <c:v>105.298</c:v>
                </c:pt>
                <c:pt idx="11">
                  <c:v>1766.8029999999999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Mexico</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Latin America</c:v>
                </c:pt>
              </c:strCache>
            </c:strRef>
          </c:cat>
          <c:val>
            <c:numRef>
              <c:f>Sheet1!$B$2:$B$2</c:f>
              <c:numCache>
                <c:formatCode>General</c:formatCode>
                <c:ptCount val="1"/>
                <c:pt idx="0">
                  <c:v>33.59833425972491</c:v>
                </c:pt>
              </c:numCache>
            </c:numRef>
          </c:val>
        </c:ser>
        <c:ser>
          <c:idx val="1"/>
          <c:order val="1"/>
          <c:tx>
            <c:strRef>
              <c:f>Sheet1!$C$1</c:f>
              <c:strCache>
                <c:ptCount val="1"/>
                <c:pt idx="0">
                  <c:v>Rest of Latin America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Latin America</c:v>
                </c:pt>
              </c:strCache>
            </c:strRef>
          </c:cat>
          <c:val>
            <c:numRef>
              <c:f>Sheet1!$C$2:$C$2</c:f>
              <c:numCache>
                <c:formatCode>General</c:formatCode>
                <c:ptCount val="1"/>
                <c:pt idx="0">
                  <c:v>66.40166574027509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1991.611</c:v>
                </c:pt>
                <c:pt idx="1">
                  <c:v>2102.2299999999996</c:v>
                </c:pt>
                <c:pt idx="2">
                  <c:v>2218.745</c:v>
                </c:pt>
                <c:pt idx="3">
                  <c:v>2343.196</c:v>
                </c:pt>
                <c:pt idx="4">
                  <c:v>2475.428</c:v>
                </c:pt>
                <c:pt idx="5">
                  <c:v>2630.6400000000003</c:v>
                </c:pt>
                <c:pt idx="6">
                  <c:v>2803.468</c:v>
                </c:pt>
                <c:pt idx="7">
                  <c:v>2998.183</c:v>
                </c:pt>
                <c:pt idx="8">
                  <c:v>3218.018</c:v>
                </c:pt>
                <c:pt idx="9">
                  <c:v>3467.286</c:v>
                </c:pt>
                <c:pt idx="10">
                  <c:v>3746.491</c:v>
                </c:pt>
                <c:pt idx="11">
                  <c:v>4057.41</c:v>
                </c:pt>
                <c:pt idx="12">
                  <c:v>4397.895</c:v>
                </c:pt>
                <c:pt idx="13">
                  <c:v>4766.848</c:v>
                </c:pt>
                <c:pt idx="14">
                  <c:v>5162.839</c:v>
                </c:pt>
                <c:pt idx="15">
                  <c:v>5586.59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Latin America</c:v>
                </c:pt>
                <c:pt idx="1">
                  <c:v>Mexico</c:v>
                </c:pt>
              </c:strCache>
            </c:strRef>
          </c:cat>
          <c:val>
            <c:numRef>
              <c:f>Sheet1!$B$2:$B$3</c:f>
              <c:numCache>
                <c:formatCode>General</c:formatCode>
                <c:ptCount val="2"/>
                <c:pt idx="0">
                  <c:v>0.0715838035780032</c:v>
                </c:pt>
                <c:pt idx="1">
                  <c:v>0.07822286672894707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56008700840785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2630.6400000000003</c:v>
                </c:pt>
                <c:pt idx="2">
                  <c:v>2803.468</c:v>
                </c:pt>
                <c:pt idx="3">
                  <c:v>2998.183</c:v>
                </c:pt>
                <c:pt idx="4">
                  <c:v>3218.018</c:v>
                </c:pt>
                <c:pt idx="5">
                  <c:v>3467.286</c:v>
                </c:pt>
                <c:pt idx="6">
                  <c:v>3746.491</c:v>
                </c:pt>
                <c:pt idx="7">
                  <c:v>4057.41</c:v>
                </c:pt>
                <c:pt idx="8">
                  <c:v>4397.895</c:v>
                </c:pt>
                <c:pt idx="9">
                  <c:v>4766.848</c:v>
                </c:pt>
                <c:pt idx="10">
                  <c:v>5162.839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2630.6400000000003</c:v>
                </c:pt>
                <c:pt idx="1">
                  <c:v>172.82799999999952</c:v>
                </c:pt>
                <c:pt idx="2">
                  <c:v>194.71500000000015</c:v>
                </c:pt>
                <c:pt idx="3">
                  <c:v>219.83500000000004</c:v>
                </c:pt>
                <c:pt idx="4">
                  <c:v>249.26800000000003</c:v>
                </c:pt>
                <c:pt idx="5">
                  <c:v>279.2049999999999</c:v>
                </c:pt>
                <c:pt idx="6">
                  <c:v>310.91899999999987</c:v>
                </c:pt>
                <c:pt idx="7">
                  <c:v>340.4850000000006</c:v>
                </c:pt>
                <c:pt idx="8">
                  <c:v>368.9529999999995</c:v>
                </c:pt>
                <c:pt idx="9">
                  <c:v>395.991</c:v>
                </c:pt>
                <c:pt idx="10">
                  <c:v>423.7510000000002</c:v>
                </c:pt>
                <c:pt idx="11">
                  <c:v>5586.59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Mexico</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Latin America</c:v>
                </c:pt>
              </c:strCache>
            </c:strRef>
          </c:cat>
          <c:val>
            <c:numRef>
              <c:f>Sheet1!$B$2:$B$2</c:f>
              <c:numCache>
                <c:formatCode>General</c:formatCode>
                <c:ptCount val="1"/>
                <c:pt idx="0">
                  <c:v>31.603652541468808</c:v>
                </c:pt>
              </c:numCache>
            </c:numRef>
          </c:val>
        </c:ser>
        <c:ser>
          <c:idx val="1"/>
          <c:order val="1"/>
          <c:tx>
            <c:strRef>
              <c:f>Sheet1!$C$1</c:f>
              <c:strCache>
                <c:ptCount val="1"/>
                <c:pt idx="0">
                  <c:v>Rest of Latin America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Latin America</c:v>
                </c:pt>
              </c:strCache>
            </c:strRef>
          </c:cat>
          <c:val>
            <c:numRef>
              <c:f>Sheet1!$C$2:$C$2</c:f>
              <c:numCache>
                <c:formatCode>General</c:formatCode>
                <c:ptCount val="1"/>
                <c:pt idx="0">
                  <c:v>68.3963474585312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192.70399999999998</c:v>
                </c:pt>
                <c:pt idx="8">
                  <c:v>287.115</c:v>
                </c:pt>
                <c:pt idx="9">
                  <c:v>728.46</c:v>
                </c:pt>
                <c:pt idx="10">
                  <c:v>1422.361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905.9637400000001"/>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Other Specialty Barri…</c:v>
                </c:pt>
                <c:pt idx="2">
                  <c:v>AlOx / SiOx-Coated</c:v>
                </c:pt>
                <c:pt idx="3">
                  <c:v>Aluminum Foil-Based</c:v>
                </c:pt>
                <c:pt idx="4">
                  <c:v>PVDC-Based</c:v>
                </c:pt>
                <c:pt idx="5">
                  <c:v>Metallized Barrier</c:v>
                </c:pt>
                <c:pt idx="6">
                  <c:v>PA-Based</c:v>
                </c:pt>
                <c:pt idx="7">
                  <c:v>EVOH-Based</c:v>
                </c:pt>
                <c:pt idx="8">
                  <c:v>PET-Based</c:v>
                </c:pt>
                <c:pt idx="9">
                  <c:v>PP-Based</c:v>
                </c:pt>
                <c:pt idx="10">
                  <c:v>PE-Based</c:v>
                </c:pt>
              </c:strCache>
            </c:strRef>
          </c:cat>
          <c:val>
            <c:numRef>
              <c:f>Sheet1!$B$2:$B$12</c:f>
              <c:numCache>
                <c:formatCode>General</c:formatCode>
                <c:ptCount val="11"/>
                <c:pt idx="0">
                  <c:v>52.196</c:v>
                </c:pt>
                <c:pt idx="1">
                  <c:v>75.053</c:v>
                </c:pt>
                <c:pt idx="2">
                  <c:v>79.281</c:v>
                </c:pt>
                <c:pt idx="3">
                  <c:v>84.202</c:v>
                </c:pt>
                <c:pt idx="4">
                  <c:v>148.816</c:v>
                </c:pt>
                <c:pt idx="5">
                  <c:v>154.243</c:v>
                </c:pt>
                <c:pt idx="6">
                  <c:v>206.735</c:v>
                </c:pt>
                <c:pt idx="7">
                  <c:v>215.155</c:v>
                </c:pt>
                <c:pt idx="8">
                  <c:v>262.192</c:v>
                </c:pt>
                <c:pt idx="9">
                  <c:v>512.246</c:v>
                </c:pt>
                <c:pt idx="10">
                  <c:v>840.517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126.29278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Foil-Laminated Struct…</c:v>
                </c:pt>
                <c:pt idx="6">
                  <c:v>Metallized Films</c:v>
                </c:pt>
                <c:pt idx="7">
                  <c:v>Mono-Material Recycla…</c:v>
                </c:pt>
                <c:pt idx="8">
                  <c:v>Monolayer Films</c:v>
                </c:pt>
                <c:pt idx="9">
                  <c:v>Laminated Films</c:v>
                </c:pt>
                <c:pt idx="10">
                  <c:v>Coextruded Multilayer…</c:v>
                </c:pt>
              </c:strCache>
            </c:strRef>
          </c:cat>
          <c:val>
            <c:numRef>
              <c:f>Sheet1!$B$2:$B$12</c:f>
              <c:numCache>
                <c:formatCode>General</c:formatCode>
                <c:ptCount val="11"/>
                <c:pt idx="4">
                  <c:v>171.182</c:v>
                </c:pt>
                <c:pt idx="5">
                  <c:v>194.304</c:v>
                </c:pt>
                <c:pt idx="6">
                  <c:v>194.923</c:v>
                </c:pt>
                <c:pt idx="7">
                  <c:v>222.005</c:v>
                </c:pt>
                <c:pt idx="8">
                  <c:v>446.665</c:v>
                </c:pt>
                <c:pt idx="9">
                  <c:v>643.267</c:v>
                </c:pt>
                <c:pt idx="10">
                  <c:v>758.293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016.11262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Medium-Barrier Films</c:v>
                </c:pt>
                <c:pt idx="10">
                  <c:v>High-Barrier Films</c:v>
                </c:pt>
              </c:strCache>
            </c:strRef>
          </c:cat>
          <c:val>
            <c:numRef>
              <c:f>Sheet1!$B$2:$B$12</c:f>
              <c:numCache>
                <c:formatCode>General</c:formatCode>
                <c:ptCount val="11"/>
                <c:pt idx="7">
                  <c:v>334.452</c:v>
                </c:pt>
                <c:pt idx="8">
                  <c:v>524.888</c:v>
                </c:pt>
                <c:pt idx="9">
                  <c:v>885.076</c:v>
                </c:pt>
                <c:pt idx="10">
                  <c:v>886.223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187.5388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438.599</c:v>
                </c:pt>
                <c:pt idx="10">
                  <c:v>2192.038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937.3309200000003"/>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Medium-Barrier Films</c:v>
                </c:pt>
                <c:pt idx="10">
                  <c:v>High-Barrier Films</c:v>
                </c:pt>
              </c:strCache>
            </c:strRef>
          </c:cat>
          <c:val>
            <c:numRef>
              <c:f>Sheet1!$B$2:$B$12</c:f>
              <c:numCache>
                <c:formatCode>General</c:formatCode>
                <c:ptCount val="11"/>
                <c:pt idx="7">
                  <c:v>334.45</c:v>
                </c:pt>
                <c:pt idx="8">
                  <c:v>524.887</c:v>
                </c:pt>
                <c:pt idx="9">
                  <c:v>885.076</c:v>
                </c:pt>
                <c:pt idx="10">
                  <c:v>886.22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187.5348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2630.6400000000003</c:v>
                </c:pt>
                <c:pt idx="2">
                  <c:v>4219.823</c:v>
                </c:pt>
                <c:pt idx="3">
                  <c:v>4572.057000000001</c:v>
                </c:pt>
                <c:pt idx="4">
                  <c:v>5371.156000000001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2630.6400000000003</c:v>
                </c:pt>
                <c:pt idx="1">
                  <c:v>1589.1829999999998</c:v>
                </c:pt>
                <c:pt idx="2">
                  <c:v>352.23400000000004</c:v>
                </c:pt>
                <c:pt idx="3">
                  <c:v>799.0989999999999</c:v>
                </c:pt>
                <c:pt idx="4">
                  <c:v>215.434</c:v>
                </c:pt>
                <c:pt idx="5">
                  <c:v>5586.59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1589.1829999999998</c:v>
                </c:pt>
                <c:pt idx="2">
                  <c:v>1941.417</c:v>
                </c:pt>
                <c:pt idx="3">
                  <c:v>2740.5159999999996</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1589.1829999999998</c:v>
                </c:pt>
                <c:pt idx="1">
                  <c:v>352.23400000000004</c:v>
                </c:pt>
                <c:pt idx="2">
                  <c:v>799.0989999999999</c:v>
                </c:pt>
                <c:pt idx="3">
                  <c:v>215.434</c:v>
                </c:pt>
                <c:pt idx="4">
                  <c:v>2955.95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2630.6359999999995</c:v>
                </c:pt>
                <c:pt idx="2">
                  <c:v>3577.0089999999996</c:v>
                </c:pt>
                <c:pt idx="3">
                  <c:v>4142.222</c:v>
                </c:pt>
                <c:pt idx="4">
                  <c:v>4447.1269999999995</c:v>
                </c:pt>
                <c:pt idx="5">
                  <c:v>4680.933999999999</c:v>
                </c:pt>
                <c:pt idx="6">
                  <c:v>4929.083999999999</c:v>
                </c:pt>
                <c:pt idx="7">
                  <c:v>5078.479999999999</c:v>
                </c:pt>
                <c:pt idx="8">
                  <c:v>5139.020999999999</c:v>
                </c:pt>
                <c:pt idx="9">
                  <c:v>5312.677999999999</c:v>
                </c:pt>
                <c:pt idx="10">
                  <c:v>5406.141999999999</c:v>
                </c:pt>
                <c:pt idx="11">
                  <c:v>5489.299999999999</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2630.6359999999995</c:v>
                </c:pt>
                <c:pt idx="1">
                  <c:v>946.373</c:v>
                </c:pt>
                <c:pt idx="2">
                  <c:v>565.2130000000001</c:v>
                </c:pt>
                <c:pt idx="3">
                  <c:v>304.905</c:v>
                </c:pt>
                <c:pt idx="4">
                  <c:v>233.80699999999996</c:v>
                </c:pt>
                <c:pt idx="5">
                  <c:v>248.15</c:v>
                </c:pt>
                <c:pt idx="6">
                  <c:v>149.396</c:v>
                </c:pt>
                <c:pt idx="7">
                  <c:v>60.541</c:v>
                </c:pt>
                <c:pt idx="8">
                  <c:v>173.65699999999998</c:v>
                </c:pt>
                <c:pt idx="9">
                  <c:v>93.464</c:v>
                </c:pt>
                <c:pt idx="10">
                  <c:v>83.15800000000002</c:v>
                </c:pt>
                <c:pt idx="11">
                  <c:v>97.287</c:v>
                </c:pt>
                <c:pt idx="12">
                  <c:v>5586.5869999999995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946.373</c:v>
                </c:pt>
                <c:pt idx="2">
                  <c:v>1511.5860000000002</c:v>
                </c:pt>
                <c:pt idx="3">
                  <c:v>1816.4910000000002</c:v>
                </c:pt>
                <c:pt idx="4">
                  <c:v>2050.2980000000002</c:v>
                </c:pt>
                <c:pt idx="5">
                  <c:v>2298.4480000000003</c:v>
                </c:pt>
                <c:pt idx="6">
                  <c:v>2447.8440000000005</c:v>
                </c:pt>
                <c:pt idx="7">
                  <c:v>2508.3850000000007</c:v>
                </c:pt>
                <c:pt idx="8">
                  <c:v>2682.042000000001</c:v>
                </c:pt>
                <c:pt idx="9">
                  <c:v>2775.5060000000008</c:v>
                </c:pt>
                <c:pt idx="10">
                  <c:v>2858.6640000000007</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946.373</c:v>
                </c:pt>
                <c:pt idx="1">
                  <c:v>565.2130000000001</c:v>
                </c:pt>
                <c:pt idx="2">
                  <c:v>304.905</c:v>
                </c:pt>
                <c:pt idx="3">
                  <c:v>233.80699999999996</c:v>
                </c:pt>
                <c:pt idx="4">
                  <c:v>248.15</c:v>
                </c:pt>
                <c:pt idx="5">
                  <c:v>149.396</c:v>
                </c:pt>
                <c:pt idx="6">
                  <c:v>60.541</c:v>
                </c:pt>
                <c:pt idx="7">
                  <c:v>173.65699999999998</c:v>
                </c:pt>
                <c:pt idx="8">
                  <c:v>93.464</c:v>
                </c:pt>
                <c:pt idx="9">
                  <c:v>83.15800000000002</c:v>
                </c:pt>
                <c:pt idx="10">
                  <c:v>97.287</c:v>
                </c:pt>
                <c:pt idx="11">
                  <c:v>2955.951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2630.639</c:v>
                </c:pt>
                <c:pt idx="2">
                  <c:v>3152.0190000000002</c:v>
                </c:pt>
                <c:pt idx="3">
                  <c:v>3983.3500000000004</c:v>
                </c:pt>
                <c:pt idx="4">
                  <c:v>4686.5160000000005</c:v>
                </c:pt>
                <c:pt idx="5">
                  <c:v>4876.9310000000005</c:v>
                </c:pt>
                <c:pt idx="6">
                  <c:v>5085.4220000000005</c:v>
                </c:pt>
                <c:pt idx="7">
                  <c:v>5302.792</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2630.639</c:v>
                </c:pt>
                <c:pt idx="1">
                  <c:v>521.3799999999999</c:v>
                </c:pt>
                <c:pt idx="2">
                  <c:v>831.331</c:v>
                </c:pt>
                <c:pt idx="3">
                  <c:v>703.1659999999999</c:v>
                </c:pt>
                <c:pt idx="4">
                  <c:v>190.415</c:v>
                </c:pt>
                <c:pt idx="5">
                  <c:v>208.49099999999999</c:v>
                </c:pt>
                <c:pt idx="6">
                  <c:v>217.36999999999998</c:v>
                </c:pt>
                <c:pt idx="7">
                  <c:v>283.79699999999997</c:v>
                </c:pt>
                <c:pt idx="8">
                  <c:v>5586.588999999999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521.3799999999999</c:v>
                </c:pt>
                <c:pt idx="2">
                  <c:v>1352.7109999999998</c:v>
                </c:pt>
                <c:pt idx="3">
                  <c:v>2055.8769999999995</c:v>
                </c:pt>
                <c:pt idx="4">
                  <c:v>2246.2919999999995</c:v>
                </c:pt>
                <c:pt idx="5">
                  <c:v>2454.7829999999994</c:v>
                </c:pt>
                <c:pt idx="6">
                  <c:v>2672.1529999999993</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521.3799999999999</c:v>
                </c:pt>
                <c:pt idx="1">
                  <c:v>831.331</c:v>
                </c:pt>
                <c:pt idx="2">
                  <c:v>703.1659999999999</c:v>
                </c:pt>
                <c:pt idx="3">
                  <c:v>190.415</c:v>
                </c:pt>
                <c:pt idx="4">
                  <c:v>208.49099999999999</c:v>
                </c:pt>
                <c:pt idx="5">
                  <c:v>217.36999999999998</c:v>
                </c:pt>
                <c:pt idx="6">
                  <c:v>283.79699999999997</c:v>
                </c:pt>
                <c:pt idx="7">
                  <c:v>2955.9499999999994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2630.639</c:v>
                </c:pt>
                <c:pt idx="2">
                  <c:v>3210.03</c:v>
                </c:pt>
                <c:pt idx="3">
                  <c:v>4139.856</c:v>
                </c:pt>
                <c:pt idx="4">
                  <c:v>5183.887</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2630.639</c:v>
                </c:pt>
                <c:pt idx="1">
                  <c:v>579.391</c:v>
                </c:pt>
                <c:pt idx="2">
                  <c:v>929.826</c:v>
                </c:pt>
                <c:pt idx="3">
                  <c:v>1044.031</c:v>
                </c:pt>
                <c:pt idx="4">
                  <c:v>402.703</c:v>
                </c:pt>
                <c:pt idx="5">
                  <c:v>5586.589999999999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579.391</c:v>
                </c:pt>
                <c:pt idx="2">
                  <c:v>1509.217</c:v>
                </c:pt>
                <c:pt idx="3">
                  <c:v>2553.248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579.391</c:v>
                </c:pt>
                <c:pt idx="1">
                  <c:v>929.826</c:v>
                </c:pt>
                <c:pt idx="2">
                  <c:v>1044.031</c:v>
                </c:pt>
                <c:pt idx="3">
                  <c:v>402.703</c:v>
                </c:pt>
                <c:pt idx="4">
                  <c:v>2955.951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2630.637</c:v>
                </c:pt>
                <c:pt idx="2">
                  <c:v>5094.918</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2630.637</c:v>
                </c:pt>
                <c:pt idx="1">
                  <c:v>2464.2809999999995</c:v>
                </c:pt>
                <c:pt idx="2">
                  <c:v>491.67</c:v>
                </c:pt>
                <c:pt idx="3">
                  <c:v>5586.588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2464.2809999999995</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2464.2809999999995</c:v>
                </c:pt>
                <c:pt idx="1">
                  <c:v>491.67</c:v>
                </c:pt>
                <c:pt idx="2">
                  <c:v>2955.9509999999996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2630.633</c:v>
                </c:pt>
                <c:pt idx="2">
                  <c:v>3210.0249999999996</c:v>
                </c:pt>
                <c:pt idx="3">
                  <c:v>4139.852</c:v>
                </c:pt>
                <c:pt idx="4">
                  <c:v>5183.885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2630.633</c:v>
                </c:pt>
                <c:pt idx="1">
                  <c:v>579.392</c:v>
                </c:pt>
                <c:pt idx="2">
                  <c:v>929.827</c:v>
                </c:pt>
                <c:pt idx="3">
                  <c:v>1044.033</c:v>
                </c:pt>
                <c:pt idx="4">
                  <c:v>402.704</c:v>
                </c:pt>
                <c:pt idx="5">
                  <c:v>5586.589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579.392</c:v>
                </c:pt>
                <c:pt idx="2">
                  <c:v>1509.219</c:v>
                </c:pt>
                <c:pt idx="3">
                  <c:v>2553.252</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579.392</c:v>
                </c:pt>
                <c:pt idx="1">
                  <c:v>929.827</c:v>
                </c:pt>
                <c:pt idx="2">
                  <c:v>1044.033</c:v>
                </c:pt>
                <c:pt idx="3">
                  <c:v>402.704</c:v>
                </c:pt>
                <c:pt idx="4">
                  <c:v>2955.956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183.01</c:v>
                </c:pt>
                <c:pt idx="1">
                  <c:v>193.81099999999998</c:v>
                </c:pt>
                <c:pt idx="2">
                  <c:v>205.454</c:v>
                </c:pt>
                <c:pt idx="3">
                  <c:v>218.025</c:v>
                </c:pt>
                <c:pt idx="4">
                  <c:v>231.59300000000002</c:v>
                </c:pt>
                <c:pt idx="5">
                  <c:v>246.415</c:v>
                </c:pt>
                <c:pt idx="6">
                  <c:v>262.567</c:v>
                </c:pt>
                <c:pt idx="7">
                  <c:v>280.354</c:v>
                </c:pt>
                <c:pt idx="8">
                  <c:v>299.995</c:v>
                </c:pt>
                <c:pt idx="9">
                  <c:v>321.581</c:v>
                </c:pt>
                <c:pt idx="10">
                  <c:v>344.973</c:v>
                </c:pt>
                <c:pt idx="11">
                  <c:v>369.95099999999996</c:v>
                </c:pt>
                <c:pt idx="12">
                  <c:v>396.31899999999996</c:v>
                </c:pt>
                <c:pt idx="13">
                  <c:v>423.98999999999995</c:v>
                </c:pt>
                <c:pt idx="14">
                  <c:v>452.68100000000004</c:v>
                </c:pt>
                <c:pt idx="15">
                  <c:v>482.277</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Latin America</c:v>
                </c:pt>
                <c:pt idx="1">
                  <c:v>Colombia</c:v>
                </c:pt>
              </c:strCache>
            </c:strRef>
          </c:cat>
          <c:val>
            <c:numRef>
              <c:f>Sheet1!$B$2:$B$3</c:f>
              <c:numCache>
                <c:formatCode>General</c:formatCode>
                <c:ptCount val="2"/>
                <c:pt idx="0">
                  <c:v>0.057484041121296015</c:v>
                </c:pt>
                <c:pt idx="1">
                  <c:v>0.06945604829732899</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376566520139414"/>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246.415</c:v>
                </c:pt>
                <c:pt idx="2">
                  <c:v>262.567</c:v>
                </c:pt>
                <c:pt idx="3">
                  <c:v>280.354</c:v>
                </c:pt>
                <c:pt idx="4">
                  <c:v>299.995</c:v>
                </c:pt>
                <c:pt idx="5">
                  <c:v>321.581</c:v>
                </c:pt>
                <c:pt idx="6">
                  <c:v>344.973</c:v>
                </c:pt>
                <c:pt idx="7">
                  <c:v>369.95099999999996</c:v>
                </c:pt>
                <c:pt idx="8">
                  <c:v>396.31899999999996</c:v>
                </c:pt>
                <c:pt idx="9">
                  <c:v>423.98999999999995</c:v>
                </c:pt>
                <c:pt idx="10">
                  <c:v>452.68100000000004</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246.415</c:v>
                </c:pt>
                <c:pt idx="1">
                  <c:v>16.152000000000015</c:v>
                </c:pt>
                <c:pt idx="2">
                  <c:v>17.786999999999978</c:v>
                </c:pt>
                <c:pt idx="3">
                  <c:v>19.64100000000002</c:v>
                </c:pt>
                <c:pt idx="4">
                  <c:v>21.586000000000013</c:v>
                </c:pt>
                <c:pt idx="5">
                  <c:v>23.391999999999996</c:v>
                </c:pt>
                <c:pt idx="6">
                  <c:v>24.977999999999952</c:v>
                </c:pt>
                <c:pt idx="7">
                  <c:v>26.367999999999995</c:v>
                </c:pt>
                <c:pt idx="8">
                  <c:v>27.670999999999992</c:v>
                </c:pt>
                <c:pt idx="9">
                  <c:v>28.691000000000088</c:v>
                </c:pt>
                <c:pt idx="10">
                  <c:v>29.595999999999947</c:v>
                </c:pt>
                <c:pt idx="11">
                  <c:v>482.277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Colombia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Latin America</c:v>
                </c:pt>
              </c:strCache>
            </c:strRef>
          </c:cat>
          <c:val>
            <c:numRef>
              <c:f>Sheet1!$B$2:$B$2</c:f>
              <c:numCache>
                <c:formatCode>General</c:formatCode>
                <c:ptCount val="1"/>
                <c:pt idx="0">
                  <c:v>8.696258260324855</c:v>
                </c:pt>
              </c:numCache>
            </c:numRef>
          </c:val>
        </c:ser>
        <c:ser>
          <c:idx val="1"/>
          <c:order val="1"/>
          <c:tx>
            <c:strRef>
              <c:f>Sheet1!$C$1</c:f>
              <c:strCache>
                <c:ptCount val="1"/>
                <c:pt idx="0">
                  <c:v>Rest of Latin America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Latin America</c:v>
                </c:pt>
              </c:strCache>
            </c:strRef>
          </c:cat>
          <c:val>
            <c:numRef>
              <c:f>Sheet1!$C$2:$C$2</c:f>
              <c:numCache>
                <c:formatCode>General</c:formatCode>
                <c:ptCount val="1"/>
                <c:pt idx="0">
                  <c:v>91.30374173967515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530.9839999999999</c:v>
                </c:pt>
                <c:pt idx="1">
                  <c:v>564.378</c:v>
                </c:pt>
                <c:pt idx="2">
                  <c:v>600.6540000000001</c:v>
                </c:pt>
                <c:pt idx="3">
                  <c:v>640.4119999999999</c:v>
                </c:pt>
                <c:pt idx="4">
                  <c:v>683.6920000000001</c:v>
                </c:pt>
                <c:pt idx="5">
                  <c:v>734.1469999999999</c:v>
                </c:pt>
                <c:pt idx="6">
                  <c:v>790.1469999999999</c:v>
                </c:pt>
                <c:pt idx="7">
                  <c:v>852.919</c:v>
                </c:pt>
                <c:pt idx="8">
                  <c:v>923.4390000000001</c:v>
                </c:pt>
                <c:pt idx="9">
                  <c:v>1002.288</c:v>
                </c:pt>
                <c:pt idx="10">
                  <c:v>1089.286</c:v>
                </c:pt>
                <c:pt idx="11">
                  <c:v>1184.2769999999998</c:v>
                </c:pt>
                <c:pt idx="12">
                  <c:v>1287.069</c:v>
                </c:pt>
                <c:pt idx="13">
                  <c:v>1397.916</c:v>
                </c:pt>
                <c:pt idx="14">
                  <c:v>1516.5500000000002</c:v>
                </c:pt>
                <c:pt idx="15">
                  <c:v>1642.934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Latin America</c:v>
                </c:pt>
                <c:pt idx="1">
                  <c:v>Colombia</c:v>
                </c:pt>
              </c:strCache>
            </c:strRef>
          </c:cat>
          <c:val>
            <c:numRef>
              <c:f>Sheet1!$B$2:$B$3</c:f>
              <c:numCache>
                <c:formatCode>General</c:formatCode>
                <c:ptCount val="2"/>
                <c:pt idx="0">
                  <c:v>0.0715838035780032</c:v>
                </c:pt>
                <c:pt idx="1">
                  <c:v>0.0838862548664643</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132464440697268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734.1469999999999</c:v>
                </c:pt>
                <c:pt idx="2">
                  <c:v>790.1469999999999</c:v>
                </c:pt>
                <c:pt idx="3">
                  <c:v>852.919</c:v>
                </c:pt>
                <c:pt idx="4">
                  <c:v>923.4390000000001</c:v>
                </c:pt>
                <c:pt idx="5">
                  <c:v>1002.288</c:v>
                </c:pt>
                <c:pt idx="6">
                  <c:v>1089.286</c:v>
                </c:pt>
                <c:pt idx="7">
                  <c:v>1184.2769999999998</c:v>
                </c:pt>
                <c:pt idx="8">
                  <c:v>1287.069</c:v>
                </c:pt>
                <c:pt idx="9">
                  <c:v>1397.916</c:v>
                </c:pt>
                <c:pt idx="10">
                  <c:v>1516.5500000000002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734.1469999999999</c:v>
                </c:pt>
                <c:pt idx="1">
                  <c:v>56.0</c:v>
                </c:pt>
                <c:pt idx="2">
                  <c:v>62.77200000000005</c:v>
                </c:pt>
                <c:pt idx="3">
                  <c:v>70.5200000000001</c:v>
                </c:pt>
                <c:pt idx="4">
                  <c:v>78.84899999999993</c:v>
                </c:pt>
                <c:pt idx="5">
                  <c:v>86.99800000000005</c:v>
                </c:pt>
                <c:pt idx="6">
                  <c:v>94.99099999999976</c:v>
                </c:pt>
                <c:pt idx="7">
                  <c:v>102.79200000000014</c:v>
                </c:pt>
                <c:pt idx="8">
                  <c:v>110.84699999999998</c:v>
                </c:pt>
                <c:pt idx="9">
                  <c:v>118.63400000000024</c:v>
                </c:pt>
                <c:pt idx="10">
                  <c:v>126.38399999999979</c:v>
                </c:pt>
                <c:pt idx="11">
                  <c:v>1642.934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Colombia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Latin America</c:v>
                </c:pt>
              </c:strCache>
            </c:strRef>
          </c:cat>
          <c:val>
            <c:numRef>
              <c:f>Sheet1!$B$2:$B$2</c:f>
              <c:numCache>
                <c:formatCode>General</c:formatCode>
                <c:ptCount val="1"/>
                <c:pt idx="0">
                  <c:v>8.819803052626622</c:v>
                </c:pt>
              </c:numCache>
            </c:numRef>
          </c:val>
        </c:ser>
        <c:ser>
          <c:idx val="1"/>
          <c:order val="1"/>
          <c:tx>
            <c:strRef>
              <c:f>Sheet1!$C$1</c:f>
              <c:strCache>
                <c:ptCount val="1"/>
                <c:pt idx="0">
                  <c:v>Rest of Latin America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Latin America</c:v>
                </c:pt>
              </c:strCache>
            </c:strRef>
          </c:cat>
          <c:val>
            <c:numRef>
              <c:f>Sheet1!$C$2:$C$2</c:f>
              <c:numCache>
                <c:formatCode>General</c:formatCode>
                <c:ptCount val="1"/>
                <c:pt idx="0">
                  <c:v>91.18019694737337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50.92</c:v>
                </c:pt>
                <c:pt idx="8">
                  <c:v>77.499</c:v>
                </c:pt>
                <c:pt idx="9">
                  <c:v>201.159</c:v>
                </c:pt>
                <c:pt idx="10">
                  <c:v>404.569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542.1224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Other Specialty Barri…</c:v>
                </c:pt>
                <c:pt idx="2">
                  <c:v>AlOx / SiOx-Coated</c:v>
                </c:pt>
                <c:pt idx="3">
                  <c:v>Aluminum Foil-Based</c:v>
                </c:pt>
                <c:pt idx="4">
                  <c:v>PVDC-Based</c:v>
                </c:pt>
                <c:pt idx="5">
                  <c:v>Metallized Barrier</c:v>
                </c:pt>
                <c:pt idx="6">
                  <c:v>PA-Based</c:v>
                </c:pt>
                <c:pt idx="7">
                  <c:v>EVOH-Based</c:v>
                </c:pt>
                <c:pt idx="8">
                  <c:v>PET-Based</c:v>
                </c:pt>
                <c:pt idx="9">
                  <c:v>PP-Based</c:v>
                </c:pt>
                <c:pt idx="10">
                  <c:v>PE-Based</c:v>
                </c:pt>
              </c:strCache>
            </c:strRef>
          </c:cat>
          <c:val>
            <c:numRef>
              <c:f>Sheet1!$B$2:$B$12</c:f>
              <c:numCache>
                <c:formatCode>General</c:formatCode>
                <c:ptCount val="11"/>
                <c:pt idx="0">
                  <c:v>15.737</c:v>
                </c:pt>
                <c:pt idx="1">
                  <c:v>23.09</c:v>
                </c:pt>
                <c:pt idx="2">
                  <c:v>23.423</c:v>
                </c:pt>
                <c:pt idx="3">
                  <c:v>23.897</c:v>
                </c:pt>
                <c:pt idx="4">
                  <c:v>38.37</c:v>
                </c:pt>
                <c:pt idx="5">
                  <c:v>45.849</c:v>
                </c:pt>
                <c:pt idx="6">
                  <c:v>58.925</c:v>
                </c:pt>
                <c:pt idx="7">
                  <c:v>59.324</c:v>
                </c:pt>
                <c:pt idx="8">
                  <c:v>77.778</c:v>
                </c:pt>
                <c:pt idx="9">
                  <c:v>147.487</c:v>
                </c:pt>
                <c:pt idx="10">
                  <c:v>220.266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95.15644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Foil-Laminated Struct…</c:v>
                </c:pt>
                <c:pt idx="6">
                  <c:v>Metallized Films</c:v>
                </c:pt>
                <c:pt idx="7">
                  <c:v>Mono-Material Recycla…</c:v>
                </c:pt>
                <c:pt idx="8">
                  <c:v>Monolayer Films</c:v>
                </c:pt>
                <c:pt idx="9">
                  <c:v>Laminated Films</c:v>
                </c:pt>
                <c:pt idx="10">
                  <c:v>Coextruded Multilayer…</c:v>
                </c:pt>
              </c:strCache>
            </c:strRef>
          </c:cat>
          <c:val>
            <c:numRef>
              <c:f>Sheet1!$B$2:$B$12</c:f>
              <c:numCache>
                <c:formatCode>General</c:formatCode>
                <c:ptCount val="11"/>
                <c:pt idx="4">
                  <c:v>47.654</c:v>
                </c:pt>
                <c:pt idx="5">
                  <c:v>56.443</c:v>
                </c:pt>
                <c:pt idx="6">
                  <c:v>57.381</c:v>
                </c:pt>
                <c:pt idx="7">
                  <c:v>59.494</c:v>
                </c:pt>
                <c:pt idx="8">
                  <c:v>121.371</c:v>
                </c:pt>
                <c:pt idx="9">
                  <c:v>178.096</c:v>
                </c:pt>
                <c:pt idx="10">
                  <c:v>213.70600000000002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86.36604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98.475</c:v>
                </c:pt>
                <c:pt idx="8">
                  <c:v>151.912</c:v>
                </c:pt>
                <c:pt idx="9">
                  <c:v>226.966</c:v>
                </c:pt>
                <c:pt idx="10">
                  <c:v>256.792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44.1012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113.699</c:v>
                </c:pt>
                <c:pt idx="10">
                  <c:v>620.447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831.3989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98.477</c:v>
                </c:pt>
                <c:pt idx="8">
                  <c:v>151.914</c:v>
                </c:pt>
                <c:pt idx="9">
                  <c:v>226.967</c:v>
                </c:pt>
                <c:pt idx="10">
                  <c:v>256.792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44.1012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734.1469999999999</c:v>
                </c:pt>
                <c:pt idx="2">
                  <c:v>1236.472</c:v>
                </c:pt>
                <c:pt idx="3">
                  <c:v>1332.388</c:v>
                </c:pt>
                <c:pt idx="4">
                  <c:v>1582.4099999999999</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734.1469999999999</c:v>
                </c:pt>
                <c:pt idx="1">
                  <c:v>502.325</c:v>
                </c:pt>
                <c:pt idx="2">
                  <c:v>95.916</c:v>
                </c:pt>
                <c:pt idx="3">
                  <c:v>250.022</c:v>
                </c:pt>
                <c:pt idx="4">
                  <c:v>60.52399999999999</c:v>
                </c:pt>
                <c:pt idx="5">
                  <c:v>1642.934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502.325</c:v>
                </c:pt>
                <c:pt idx="2">
                  <c:v>598.241</c:v>
                </c:pt>
                <c:pt idx="3">
                  <c:v>848.2629999999999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502.325</c:v>
                </c:pt>
                <c:pt idx="1">
                  <c:v>95.916</c:v>
                </c:pt>
                <c:pt idx="2">
                  <c:v>250.022</c:v>
                </c:pt>
                <c:pt idx="3">
                  <c:v>60.52399999999999</c:v>
                </c:pt>
                <c:pt idx="4">
                  <c:v>908.7869999999999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734.1460000000001</c:v>
                </c:pt>
                <c:pt idx="2">
                  <c:v>1018.4510000000001</c:v>
                </c:pt>
                <c:pt idx="3">
                  <c:v>1194.6540000000002</c:v>
                </c:pt>
                <c:pt idx="4">
                  <c:v>1289.2680000000003</c:v>
                </c:pt>
                <c:pt idx="5">
                  <c:v>1359.3110000000001</c:v>
                </c:pt>
                <c:pt idx="6">
                  <c:v>1437.5120000000002</c:v>
                </c:pt>
                <c:pt idx="7">
                  <c:v>1479.4260000000002</c:v>
                </c:pt>
                <c:pt idx="8">
                  <c:v>1499.632</c:v>
                </c:pt>
                <c:pt idx="9">
                  <c:v>1554.864</c:v>
                </c:pt>
                <c:pt idx="10">
                  <c:v>1585.218</c:v>
                </c:pt>
                <c:pt idx="11">
                  <c:v>1611.613</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734.1460000000001</c:v>
                </c:pt>
                <c:pt idx="1">
                  <c:v>284.30500000000006</c:v>
                </c:pt>
                <c:pt idx="2">
                  <c:v>176.203</c:v>
                </c:pt>
                <c:pt idx="3">
                  <c:v>94.61399999999999</c:v>
                </c:pt>
                <c:pt idx="4">
                  <c:v>70.04299999999999</c:v>
                </c:pt>
                <c:pt idx="5">
                  <c:v>78.20100000000001</c:v>
                </c:pt>
                <c:pt idx="6">
                  <c:v>41.91400000000001</c:v>
                </c:pt>
                <c:pt idx="7">
                  <c:v>20.205999999999996</c:v>
                </c:pt>
                <c:pt idx="8">
                  <c:v>55.232000000000006</c:v>
                </c:pt>
                <c:pt idx="9">
                  <c:v>30.354000000000003</c:v>
                </c:pt>
                <c:pt idx="10">
                  <c:v>26.395000000000003</c:v>
                </c:pt>
                <c:pt idx="11">
                  <c:v>31.319999999999997</c:v>
                </c:pt>
                <c:pt idx="12">
                  <c:v>1642.9330000000002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284.30500000000006</c:v>
                </c:pt>
                <c:pt idx="2">
                  <c:v>460.50800000000004</c:v>
                </c:pt>
                <c:pt idx="3">
                  <c:v>555.1220000000001</c:v>
                </c:pt>
                <c:pt idx="4">
                  <c:v>625.1650000000001</c:v>
                </c:pt>
                <c:pt idx="5">
                  <c:v>703.3660000000001</c:v>
                </c:pt>
                <c:pt idx="6">
                  <c:v>745.2800000000001</c:v>
                </c:pt>
                <c:pt idx="7">
                  <c:v>765.4860000000001</c:v>
                </c:pt>
                <c:pt idx="8">
                  <c:v>820.7180000000001</c:v>
                </c:pt>
                <c:pt idx="9">
                  <c:v>851.0720000000001</c:v>
                </c:pt>
                <c:pt idx="10">
                  <c:v>877.4670000000001</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284.30500000000006</c:v>
                </c:pt>
                <c:pt idx="1">
                  <c:v>176.203</c:v>
                </c:pt>
                <c:pt idx="2">
                  <c:v>94.61399999999999</c:v>
                </c:pt>
                <c:pt idx="3">
                  <c:v>70.04299999999999</c:v>
                </c:pt>
                <c:pt idx="4">
                  <c:v>78.20100000000001</c:v>
                </c:pt>
                <c:pt idx="5">
                  <c:v>41.91400000000001</c:v>
                </c:pt>
                <c:pt idx="6">
                  <c:v>20.205999999999996</c:v>
                </c:pt>
                <c:pt idx="7">
                  <c:v>55.232000000000006</c:v>
                </c:pt>
                <c:pt idx="8">
                  <c:v>30.354000000000003</c:v>
                </c:pt>
                <c:pt idx="9">
                  <c:v>26.395000000000003</c:v>
                </c:pt>
                <c:pt idx="10">
                  <c:v>31.319999999999997</c:v>
                </c:pt>
                <c:pt idx="11">
                  <c:v>908.787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734.145</c:v>
                </c:pt>
                <c:pt idx="2">
                  <c:v>888.771</c:v>
                </c:pt>
                <c:pt idx="3">
                  <c:v>1144.664</c:v>
                </c:pt>
                <c:pt idx="4">
                  <c:v>1364.812</c:v>
                </c:pt>
                <c:pt idx="5">
                  <c:v>1426.098</c:v>
                </c:pt>
                <c:pt idx="6">
                  <c:v>1491.324</c:v>
                </c:pt>
                <c:pt idx="7">
                  <c:v>1562.074</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734.145</c:v>
                </c:pt>
                <c:pt idx="1">
                  <c:v>154.62600000000003</c:v>
                </c:pt>
                <c:pt idx="2">
                  <c:v>255.89300000000003</c:v>
                </c:pt>
                <c:pt idx="3">
                  <c:v>220.14800000000002</c:v>
                </c:pt>
                <c:pt idx="4">
                  <c:v>61.285999999999994</c:v>
                </c:pt>
                <c:pt idx="5">
                  <c:v>65.226</c:v>
                </c:pt>
                <c:pt idx="6">
                  <c:v>70.75</c:v>
                </c:pt>
                <c:pt idx="7">
                  <c:v>80.85900000000001</c:v>
                </c:pt>
                <c:pt idx="8">
                  <c:v>1642.9330000000002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154.62600000000003</c:v>
                </c:pt>
                <c:pt idx="2">
                  <c:v>410.51900000000006</c:v>
                </c:pt>
                <c:pt idx="3">
                  <c:v>630.6670000000001</c:v>
                </c:pt>
                <c:pt idx="4">
                  <c:v>691.9530000000001</c:v>
                </c:pt>
                <c:pt idx="5">
                  <c:v>757.1790000000001</c:v>
                </c:pt>
                <c:pt idx="6">
                  <c:v>827.9290000000001</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154.62600000000003</c:v>
                </c:pt>
                <c:pt idx="1">
                  <c:v>255.89300000000003</c:v>
                </c:pt>
                <c:pt idx="2">
                  <c:v>220.14800000000002</c:v>
                </c:pt>
                <c:pt idx="3">
                  <c:v>61.285999999999994</c:v>
                </c:pt>
                <c:pt idx="4">
                  <c:v>65.226</c:v>
                </c:pt>
                <c:pt idx="5">
                  <c:v>70.75</c:v>
                </c:pt>
                <c:pt idx="6">
                  <c:v>80.85900000000001</c:v>
                </c:pt>
                <c:pt idx="7">
                  <c:v>908.7880000000001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734.145</c:v>
                </c:pt>
                <c:pt idx="2">
                  <c:v>920.254</c:v>
                </c:pt>
                <c:pt idx="3">
                  <c:v>1213.8990000000001</c:v>
                </c:pt>
                <c:pt idx="4">
                  <c:v>1516.1710000000003</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734.145</c:v>
                </c:pt>
                <c:pt idx="1">
                  <c:v>186.109</c:v>
                </c:pt>
                <c:pt idx="2">
                  <c:v>293.64500000000004</c:v>
                </c:pt>
                <c:pt idx="3">
                  <c:v>302.27200000000005</c:v>
                </c:pt>
                <c:pt idx="4">
                  <c:v>126.76000000000002</c:v>
                </c:pt>
                <c:pt idx="5">
                  <c:v>1642.931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186.109</c:v>
                </c:pt>
                <c:pt idx="2">
                  <c:v>479.754</c:v>
                </c:pt>
                <c:pt idx="3">
                  <c:v>782.0260000000001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186.109</c:v>
                </c:pt>
                <c:pt idx="1">
                  <c:v>293.64500000000004</c:v>
                </c:pt>
                <c:pt idx="2">
                  <c:v>302.27200000000005</c:v>
                </c:pt>
                <c:pt idx="3">
                  <c:v>126.76000000000002</c:v>
                </c:pt>
                <c:pt idx="4">
                  <c:v>908.7860000000001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734.146</c:v>
                </c:pt>
                <c:pt idx="2">
                  <c:v>1502.9809999999998</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734.146</c:v>
                </c:pt>
                <c:pt idx="1">
                  <c:v>768.8349999999999</c:v>
                </c:pt>
                <c:pt idx="2">
                  <c:v>139.94799999999998</c:v>
                </c:pt>
                <c:pt idx="3">
                  <c:v>1642.9289999999999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768.8349999999999</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768.8349999999999</c:v>
                </c:pt>
                <c:pt idx="1">
                  <c:v>139.94799999999998</c:v>
                </c:pt>
                <c:pt idx="2">
                  <c:v>908.7829999999999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734.15</c:v>
                </c:pt>
                <c:pt idx="2">
                  <c:v>920.258</c:v>
                </c:pt>
                <c:pt idx="3">
                  <c:v>1213.905</c:v>
                </c:pt>
                <c:pt idx="4">
                  <c:v>1516.176</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734.15</c:v>
                </c:pt>
                <c:pt idx="1">
                  <c:v>186.108</c:v>
                </c:pt>
                <c:pt idx="2">
                  <c:v>293.647</c:v>
                </c:pt>
                <c:pt idx="3">
                  <c:v>302.27099999999996</c:v>
                </c:pt>
                <c:pt idx="4">
                  <c:v>126.75799999999998</c:v>
                </c:pt>
                <c:pt idx="5">
                  <c:v>1642.934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186.108</c:v>
                </c:pt>
                <c:pt idx="2">
                  <c:v>479.755</c:v>
                </c:pt>
                <c:pt idx="3">
                  <c:v>782.026</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186.108</c:v>
                </c:pt>
                <c:pt idx="1">
                  <c:v>293.647</c:v>
                </c:pt>
                <c:pt idx="2">
                  <c:v>302.27099999999996</c:v>
                </c:pt>
                <c:pt idx="3">
                  <c:v>126.75799999999998</c:v>
                </c:pt>
                <c:pt idx="4">
                  <c:v>908.7839999999999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452.92900000000003</c:v>
                </c:pt>
                <c:pt idx="1">
                  <c:v>474.16700000000003</c:v>
                </c:pt>
                <c:pt idx="2">
                  <c:v>496.37899999999996</c:v>
                </c:pt>
                <c:pt idx="3">
                  <c:v>519.753</c:v>
                </c:pt>
                <c:pt idx="4">
                  <c:v>544.414</c:v>
                </c:pt>
                <c:pt idx="5">
                  <c:v>571.305</c:v>
                </c:pt>
                <c:pt idx="6">
                  <c:v>600.68</c:v>
                </c:pt>
                <c:pt idx="7">
                  <c:v>633.028</c:v>
                </c:pt>
                <c:pt idx="8">
                  <c:v>668.565</c:v>
                </c:pt>
                <c:pt idx="9">
                  <c:v>707.533</c:v>
                </c:pt>
                <c:pt idx="10">
                  <c:v>749.854</c:v>
                </c:pt>
                <c:pt idx="11">
                  <c:v>795.4639999999999</c:v>
                </c:pt>
                <c:pt idx="12">
                  <c:v>843.9169999999999</c:v>
                </c:pt>
                <c:pt idx="13">
                  <c:v>894.5980000000001</c:v>
                </c:pt>
                <c:pt idx="14">
                  <c:v>946.841</c:v>
                </c:pt>
                <c:pt idx="15">
                  <c:v>1000.488</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Latin America</c:v>
                </c:pt>
                <c:pt idx="1">
                  <c:v>Rest of Latin America</c:v>
                </c:pt>
              </c:strCache>
            </c:strRef>
          </c:cat>
          <c:val>
            <c:numRef>
              <c:f>Sheet1!$B$2:$B$3</c:f>
              <c:numCache>
                <c:formatCode>General</c:formatCode>
                <c:ptCount val="2"/>
                <c:pt idx="0">
                  <c:v>0.057484041121296015</c:v>
                </c:pt>
                <c:pt idx="1">
                  <c:v>0.057631521300135935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780255375518352"/>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571.305</c:v>
                </c:pt>
                <c:pt idx="2">
                  <c:v>600.68</c:v>
                </c:pt>
                <c:pt idx="3">
                  <c:v>633.028</c:v>
                </c:pt>
                <c:pt idx="4">
                  <c:v>668.565</c:v>
                </c:pt>
                <c:pt idx="5">
                  <c:v>707.533</c:v>
                </c:pt>
                <c:pt idx="6">
                  <c:v>749.854</c:v>
                </c:pt>
                <c:pt idx="7">
                  <c:v>795.4639999999999</c:v>
                </c:pt>
                <c:pt idx="8">
                  <c:v>843.9169999999999</c:v>
                </c:pt>
                <c:pt idx="9">
                  <c:v>894.5980000000001</c:v>
                </c:pt>
                <c:pt idx="10">
                  <c:v>946.841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571.305</c:v>
                </c:pt>
                <c:pt idx="1">
                  <c:v>29.375</c:v>
                </c:pt>
                <c:pt idx="2">
                  <c:v>32.34800000000007</c:v>
                </c:pt>
                <c:pt idx="3">
                  <c:v>35.537000000000035</c:v>
                </c:pt>
                <c:pt idx="4">
                  <c:v>38.96799999999996</c:v>
                </c:pt>
                <c:pt idx="5">
                  <c:v>42.321000000000026</c:v>
                </c:pt>
                <c:pt idx="6">
                  <c:v>45.6099999999999</c:v>
                </c:pt>
                <c:pt idx="7">
                  <c:v>48.452999999999975</c:v>
                </c:pt>
                <c:pt idx="8">
                  <c:v>50.681000000000154</c:v>
                </c:pt>
                <c:pt idx="9">
                  <c:v>52.24299999999994</c:v>
                </c:pt>
                <c:pt idx="10">
                  <c:v>53.64700000000005</c:v>
                </c:pt>
                <c:pt idx="11">
                  <c:v>1000.488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Latin America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Latin America</c:v>
                </c:pt>
              </c:strCache>
            </c:strRef>
          </c:cat>
          <c:val>
            <c:numRef>
              <c:f>Sheet1!$B$2:$B$2</c:f>
              <c:numCache>
                <c:formatCode>General</c:formatCode>
                <c:ptCount val="1"/>
                <c:pt idx="0">
                  <c:v>20.161986183531404</c:v>
                </c:pt>
              </c:numCache>
            </c:numRef>
          </c:val>
        </c:ser>
        <c:ser>
          <c:idx val="1"/>
          <c:order val="1"/>
          <c:tx>
            <c:strRef>
              <c:f>Sheet1!$C$1</c:f>
              <c:strCache>
                <c:ptCount val="1"/>
                <c:pt idx="0">
                  <c:v>Rest of Latin America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Latin America</c:v>
                </c:pt>
              </c:strCache>
            </c:strRef>
          </c:cat>
          <c:val>
            <c:numRef>
              <c:f>Sheet1!$C$2:$C$2</c:f>
              <c:numCache>
                <c:formatCode>General</c:formatCode>
                <c:ptCount val="1"/>
                <c:pt idx="0">
                  <c:v>79.83801381646859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1325.2320000000002</c:v>
                </c:pt>
                <c:pt idx="1">
                  <c:v>1391.94</c:v>
                </c:pt>
                <c:pt idx="2">
                  <c:v>1462.481</c:v>
                </c:pt>
                <c:pt idx="3">
                  <c:v>1538.188</c:v>
                </c:pt>
                <c:pt idx="4">
                  <c:v>1618.848</c:v>
                </c:pt>
                <c:pt idx="5">
                  <c:v>1713.8379999999997</c:v>
                </c:pt>
                <c:pt idx="6">
                  <c:v>1819.572</c:v>
                </c:pt>
                <c:pt idx="7">
                  <c:v>1938.0359999999998</c:v>
                </c:pt>
                <c:pt idx="8">
                  <c:v>2070.265</c:v>
                </c:pt>
                <c:pt idx="9">
                  <c:v>2217.807</c:v>
                </c:pt>
                <c:pt idx="10">
                  <c:v>2381.2520000000004</c:v>
                </c:pt>
                <c:pt idx="11">
                  <c:v>2561.307</c:v>
                </c:pt>
                <c:pt idx="12">
                  <c:v>2757.515</c:v>
                </c:pt>
                <c:pt idx="13">
                  <c:v>2968.468</c:v>
                </c:pt>
                <c:pt idx="14">
                  <c:v>3193.852</c:v>
                </c:pt>
                <c:pt idx="15">
                  <c:v>3433.51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Latin America</c:v>
                </c:pt>
                <c:pt idx="1">
                  <c:v>Rest of Latin America</c:v>
                </c:pt>
              </c:strCache>
            </c:strRef>
          </c:cat>
          <c:val>
            <c:numRef>
              <c:f>Sheet1!$B$2:$B$3</c:f>
              <c:numCache>
                <c:formatCode>General</c:formatCode>
                <c:ptCount val="2"/>
                <c:pt idx="0">
                  <c:v>0.0715838035780032</c:v>
                </c:pt>
                <c:pt idx="1">
                  <c:v>0.07195574179766262</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714025142684454"/>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1713.8379999999997</c:v>
                </c:pt>
                <c:pt idx="2">
                  <c:v>1819.572</c:v>
                </c:pt>
                <c:pt idx="3">
                  <c:v>1938.0359999999998</c:v>
                </c:pt>
                <c:pt idx="4">
                  <c:v>2070.265</c:v>
                </c:pt>
                <c:pt idx="5">
                  <c:v>2217.807</c:v>
                </c:pt>
                <c:pt idx="6">
                  <c:v>2381.2520000000004</c:v>
                </c:pt>
                <c:pt idx="7">
                  <c:v>2561.307</c:v>
                </c:pt>
                <c:pt idx="8">
                  <c:v>2757.515</c:v>
                </c:pt>
                <c:pt idx="9">
                  <c:v>2968.468</c:v>
                </c:pt>
                <c:pt idx="10">
                  <c:v>3193.852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1713.8379999999997</c:v>
                </c:pt>
                <c:pt idx="1">
                  <c:v>105.73400000000015</c:v>
                </c:pt>
                <c:pt idx="2">
                  <c:v>118.46399999999994</c:v>
                </c:pt>
                <c:pt idx="3">
                  <c:v>132.22900000000004</c:v>
                </c:pt>
                <c:pt idx="4">
                  <c:v>147.54199999999992</c:v>
                </c:pt>
                <c:pt idx="5">
                  <c:v>163.44500000000062</c:v>
                </c:pt>
                <c:pt idx="6">
                  <c:v>180.05499999999938</c:v>
                </c:pt>
                <c:pt idx="7">
                  <c:v>196.20800000000008</c:v>
                </c:pt>
                <c:pt idx="8">
                  <c:v>210.95299999999997</c:v>
                </c:pt>
                <c:pt idx="9">
                  <c:v>225.38400000000001</c:v>
                </c:pt>
                <c:pt idx="10">
                  <c:v>239.65800000000036</c:v>
                </c:pt>
                <c:pt idx="11">
                  <c:v>3433.51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Latin America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Latin America</c:v>
                </c:pt>
              </c:strCache>
            </c:strRef>
          </c:cat>
          <c:val>
            <c:numRef>
              <c:f>Sheet1!$B$2:$B$2</c:f>
              <c:numCache>
                <c:formatCode>General</c:formatCode>
                <c:ptCount val="1"/>
                <c:pt idx="0">
                  <c:v>20.589491783127222</c:v>
                </c:pt>
              </c:numCache>
            </c:numRef>
          </c:val>
        </c:ser>
        <c:ser>
          <c:idx val="1"/>
          <c:order val="1"/>
          <c:tx>
            <c:strRef>
              <c:f>Sheet1!$C$1</c:f>
              <c:strCache>
                <c:ptCount val="1"/>
                <c:pt idx="0">
                  <c:v>Rest of Latin America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Latin America</c:v>
                </c:pt>
              </c:strCache>
            </c:strRef>
          </c:cat>
          <c:val>
            <c:numRef>
              <c:f>Sheet1!$C$2:$C$2</c:f>
              <c:numCache>
                <c:formatCode>General</c:formatCode>
                <c:ptCount val="1"/>
                <c:pt idx="0">
                  <c:v>79.41050821687278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113.696</c:v>
                </c:pt>
                <c:pt idx="8">
                  <c:v>198.11</c:v>
                </c:pt>
                <c:pt idx="9">
                  <c:v>471.303</c:v>
                </c:pt>
                <c:pt idx="10">
                  <c:v>930.729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247.1768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Aluminum Foil-Based</c:v>
                </c:pt>
                <c:pt idx="2">
                  <c:v>Other Specialty Barri…</c:v>
                </c:pt>
                <c:pt idx="3">
                  <c:v>AlOx / SiOx-Coated</c:v>
                </c:pt>
                <c:pt idx="4">
                  <c:v>PVDC-Based</c:v>
                </c:pt>
                <c:pt idx="5">
                  <c:v>Metallized Barrier</c:v>
                </c:pt>
                <c:pt idx="6">
                  <c:v>PA-Based</c:v>
                </c:pt>
                <c:pt idx="7">
                  <c:v>EVOH-Based</c:v>
                </c:pt>
                <c:pt idx="8">
                  <c:v>PET-Based</c:v>
                </c:pt>
                <c:pt idx="9">
                  <c:v>PP-Based</c:v>
                </c:pt>
                <c:pt idx="10">
                  <c:v>PE-Based</c:v>
                </c:pt>
              </c:strCache>
            </c:strRef>
          </c:cat>
          <c:val>
            <c:numRef>
              <c:f>Sheet1!$B$2:$B$12</c:f>
              <c:numCache>
                <c:formatCode>General</c:formatCode>
                <c:ptCount val="11"/>
                <c:pt idx="0">
                  <c:v>35.74</c:v>
                </c:pt>
                <c:pt idx="1">
                  <c:v>51.331</c:v>
                </c:pt>
                <c:pt idx="2">
                  <c:v>53.221</c:v>
                </c:pt>
                <c:pt idx="3">
                  <c:v>54.205</c:v>
                </c:pt>
                <c:pt idx="4">
                  <c:v>86.282</c:v>
                </c:pt>
                <c:pt idx="5">
                  <c:v>104.602</c:v>
                </c:pt>
                <c:pt idx="6">
                  <c:v>143.397</c:v>
                </c:pt>
                <c:pt idx="7">
                  <c:v>146.042</c:v>
                </c:pt>
                <c:pt idx="8">
                  <c:v>175.18</c:v>
                </c:pt>
                <c:pt idx="9">
                  <c:v>351.953</c:v>
                </c:pt>
                <c:pt idx="10">
                  <c:v>511.885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685.9259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Metallized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106.261</c:v>
                </c:pt>
                <c:pt idx="5">
                  <c:v>119.374</c:v>
                </c:pt>
                <c:pt idx="6">
                  <c:v>142.764</c:v>
                </c:pt>
                <c:pt idx="7">
                  <c:v>145.28900000000002</c:v>
                </c:pt>
                <c:pt idx="8">
                  <c:v>292.409</c:v>
                </c:pt>
                <c:pt idx="9">
                  <c:v>415.664</c:v>
                </c:pt>
                <c:pt idx="10">
                  <c:v>492.077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659.3831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232.51</c:v>
                </c:pt>
                <c:pt idx="8">
                  <c:v>349.445</c:v>
                </c:pt>
                <c:pt idx="9">
                  <c:v>534.327</c:v>
                </c:pt>
                <c:pt idx="10">
                  <c:v>597.555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800.7237"/>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273.875</c:v>
                </c:pt>
                <c:pt idx="10">
                  <c:v>1439.961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929.547740000000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232.511</c:v>
                </c:pt>
                <c:pt idx="8">
                  <c:v>349.44599999999997</c:v>
                </c:pt>
                <c:pt idx="9">
                  <c:v>534.327</c:v>
                </c:pt>
                <c:pt idx="10">
                  <c:v>597.555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800.7237"/>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1713.8379999999997</c:v>
                </c:pt>
                <c:pt idx="2">
                  <c:v>2666.557</c:v>
                </c:pt>
                <c:pt idx="3">
                  <c:v>2843.303</c:v>
                </c:pt>
                <c:pt idx="4">
                  <c:v>3323.895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1713.8379999999997</c:v>
                </c:pt>
                <c:pt idx="1">
                  <c:v>952.7189999999998</c:v>
                </c:pt>
                <c:pt idx="2">
                  <c:v>176.74599999999998</c:v>
                </c:pt>
                <c:pt idx="3">
                  <c:v>480.592</c:v>
                </c:pt>
                <c:pt idx="4">
                  <c:v>109.61500000000001</c:v>
                </c:pt>
                <c:pt idx="5">
                  <c:v>3433.51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952.7189999999998</c:v>
                </c:pt>
                <c:pt idx="2">
                  <c:v>1129.4649999999997</c:v>
                </c:pt>
                <c:pt idx="3">
                  <c:v>1610.0569999999998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952.7189999999998</c:v>
                </c:pt>
                <c:pt idx="1">
                  <c:v>176.74599999999998</c:v>
                </c:pt>
                <c:pt idx="2">
                  <c:v>480.592</c:v>
                </c:pt>
                <c:pt idx="3">
                  <c:v>109.61500000000001</c:v>
                </c:pt>
                <c:pt idx="4">
                  <c:v>1719.6719999999998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1713.838</c:v>
                </c:pt>
                <c:pt idx="2">
                  <c:v>2239.167</c:v>
                </c:pt>
                <c:pt idx="3">
                  <c:v>2577.943</c:v>
                </c:pt>
                <c:pt idx="4">
                  <c:v>2764.873</c:v>
                </c:pt>
                <c:pt idx="5">
                  <c:v>2903.697</c:v>
                </c:pt>
                <c:pt idx="6">
                  <c:v>3053.311</c:v>
                </c:pt>
                <c:pt idx="7">
                  <c:v>3129.88</c:v>
                </c:pt>
                <c:pt idx="8">
                  <c:v>3166.222</c:v>
                </c:pt>
                <c:pt idx="9">
                  <c:v>3271.9950000000003</c:v>
                </c:pt>
                <c:pt idx="10">
                  <c:v>3328.1680000000006</c:v>
                </c:pt>
                <c:pt idx="11">
                  <c:v>3373.8650000000007</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1713.838</c:v>
                </c:pt>
                <c:pt idx="1">
                  <c:v>525.329</c:v>
                </c:pt>
                <c:pt idx="2">
                  <c:v>338.77600000000007</c:v>
                </c:pt>
                <c:pt idx="3">
                  <c:v>186.93</c:v>
                </c:pt>
                <c:pt idx="4">
                  <c:v>138.824</c:v>
                </c:pt>
                <c:pt idx="5">
                  <c:v>149.614</c:v>
                </c:pt>
                <c:pt idx="6">
                  <c:v>76.569</c:v>
                </c:pt>
                <c:pt idx="7">
                  <c:v>36.34199999999999</c:v>
                </c:pt>
                <c:pt idx="8">
                  <c:v>105.773</c:v>
                </c:pt>
                <c:pt idx="9">
                  <c:v>56.173</c:v>
                </c:pt>
                <c:pt idx="10">
                  <c:v>45.697</c:v>
                </c:pt>
                <c:pt idx="11">
                  <c:v>59.645</c:v>
                </c:pt>
                <c:pt idx="12">
                  <c:v>3433.5099999999998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525.329</c:v>
                </c:pt>
                <c:pt idx="2">
                  <c:v>864.105</c:v>
                </c:pt>
                <c:pt idx="3">
                  <c:v>1051.035</c:v>
                </c:pt>
                <c:pt idx="4">
                  <c:v>1189.8590000000002</c:v>
                </c:pt>
                <c:pt idx="5">
                  <c:v>1339.4730000000002</c:v>
                </c:pt>
                <c:pt idx="6">
                  <c:v>1416.0420000000001</c:v>
                </c:pt>
                <c:pt idx="7">
                  <c:v>1452.3840000000002</c:v>
                </c:pt>
                <c:pt idx="8">
                  <c:v>1558.1570000000002</c:v>
                </c:pt>
                <c:pt idx="9">
                  <c:v>1614.3300000000002</c:v>
                </c:pt>
                <c:pt idx="10">
                  <c:v>1660.027</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525.329</c:v>
                </c:pt>
                <c:pt idx="1">
                  <c:v>338.77600000000007</c:v>
                </c:pt>
                <c:pt idx="2">
                  <c:v>186.93</c:v>
                </c:pt>
                <c:pt idx="3">
                  <c:v>138.824</c:v>
                </c:pt>
                <c:pt idx="4">
                  <c:v>149.614</c:v>
                </c:pt>
                <c:pt idx="5">
                  <c:v>76.569</c:v>
                </c:pt>
                <c:pt idx="6">
                  <c:v>36.34199999999999</c:v>
                </c:pt>
                <c:pt idx="7">
                  <c:v>105.773</c:v>
                </c:pt>
                <c:pt idx="8">
                  <c:v>56.173</c:v>
                </c:pt>
                <c:pt idx="9">
                  <c:v>45.697</c:v>
                </c:pt>
                <c:pt idx="10">
                  <c:v>59.645</c:v>
                </c:pt>
                <c:pt idx="11">
                  <c:v>1719.672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1713.838</c:v>
                </c:pt>
                <c:pt idx="2">
                  <c:v>2013.9560000000001</c:v>
                </c:pt>
                <c:pt idx="3">
                  <c:v>2496.857</c:v>
                </c:pt>
                <c:pt idx="4">
                  <c:v>2907.203</c:v>
                </c:pt>
                <c:pt idx="5">
                  <c:v>3012.426</c:v>
                </c:pt>
                <c:pt idx="6">
                  <c:v>3129.334</c:v>
                </c:pt>
                <c:pt idx="7">
                  <c:v>3269.683</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1713.838</c:v>
                </c:pt>
                <c:pt idx="1">
                  <c:v>300.11800000000005</c:v>
                </c:pt>
                <c:pt idx="2">
                  <c:v>482.90100000000007</c:v>
                </c:pt>
                <c:pt idx="3">
                  <c:v>410.346</c:v>
                </c:pt>
                <c:pt idx="4">
                  <c:v>105.22300000000001</c:v>
                </c:pt>
                <c:pt idx="5">
                  <c:v>116.90800000000002</c:v>
                </c:pt>
                <c:pt idx="6">
                  <c:v>140.349</c:v>
                </c:pt>
                <c:pt idx="7">
                  <c:v>163.82999999999996</c:v>
                </c:pt>
                <c:pt idx="8">
                  <c:v>3433.5130000000004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300.11800000000005</c:v>
                </c:pt>
                <c:pt idx="2">
                  <c:v>783.0190000000001</c:v>
                </c:pt>
                <c:pt idx="3">
                  <c:v>1193.3650000000002</c:v>
                </c:pt>
                <c:pt idx="4">
                  <c:v>1298.5880000000002</c:v>
                </c:pt>
                <c:pt idx="5">
                  <c:v>1415.496</c:v>
                </c:pt>
                <c:pt idx="6">
                  <c:v>1555.845</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300.11800000000005</c:v>
                </c:pt>
                <c:pt idx="1">
                  <c:v>482.90100000000007</c:v>
                </c:pt>
                <c:pt idx="2">
                  <c:v>410.346</c:v>
                </c:pt>
                <c:pt idx="3">
                  <c:v>105.22300000000001</c:v>
                </c:pt>
                <c:pt idx="4">
                  <c:v>116.90800000000002</c:v>
                </c:pt>
                <c:pt idx="5">
                  <c:v>140.349</c:v>
                </c:pt>
                <c:pt idx="6">
                  <c:v>163.82999999999996</c:v>
                </c:pt>
                <c:pt idx="7">
                  <c:v>1719.675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1713.837</c:v>
                </c:pt>
                <c:pt idx="2">
                  <c:v>2061.868</c:v>
                </c:pt>
                <c:pt idx="3">
                  <c:v>2615.56</c:v>
                </c:pt>
                <c:pt idx="4">
                  <c:v>3191.848</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1713.837</c:v>
                </c:pt>
                <c:pt idx="1">
                  <c:v>348.031</c:v>
                </c:pt>
                <c:pt idx="2">
                  <c:v>553.6920000000001</c:v>
                </c:pt>
                <c:pt idx="3">
                  <c:v>576.288</c:v>
                </c:pt>
                <c:pt idx="4">
                  <c:v>241.663</c:v>
                </c:pt>
                <c:pt idx="5">
                  <c:v>3433.5109999999995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348.031</c:v>
                </c:pt>
                <c:pt idx="2">
                  <c:v>901.7230000000002</c:v>
                </c:pt>
                <c:pt idx="3">
                  <c:v>1478.0110000000002</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348.031</c:v>
                </c:pt>
                <c:pt idx="1">
                  <c:v>553.6920000000001</c:v>
                </c:pt>
                <c:pt idx="2">
                  <c:v>576.288</c:v>
                </c:pt>
                <c:pt idx="3">
                  <c:v>241.663</c:v>
                </c:pt>
                <c:pt idx="4">
                  <c:v>1719.6740000000002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1713.836</c:v>
                </c:pt>
                <c:pt idx="2">
                  <c:v>3161.124</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1713.836</c:v>
                </c:pt>
                <c:pt idx="1">
                  <c:v>1447.2879999999998</c:v>
                </c:pt>
                <c:pt idx="2">
                  <c:v>272.39200000000005</c:v>
                </c:pt>
                <c:pt idx="3">
                  <c:v>3433.5159999999996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1447.2879999999998</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1447.2879999999998</c:v>
                </c:pt>
                <c:pt idx="1">
                  <c:v>272.39200000000005</c:v>
                </c:pt>
                <c:pt idx="2">
                  <c:v>1719.6799999999998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1713.839</c:v>
                </c:pt>
                <c:pt idx="2">
                  <c:v>2061.869</c:v>
                </c:pt>
                <c:pt idx="3">
                  <c:v>2615.561</c:v>
                </c:pt>
                <c:pt idx="4">
                  <c:v>3191.848</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1713.839</c:v>
                </c:pt>
                <c:pt idx="1">
                  <c:v>348.03000000000003</c:v>
                </c:pt>
                <c:pt idx="2">
                  <c:v>553.6920000000001</c:v>
                </c:pt>
                <c:pt idx="3">
                  <c:v>576.287</c:v>
                </c:pt>
                <c:pt idx="4">
                  <c:v>241.662</c:v>
                </c:pt>
                <c:pt idx="5">
                  <c:v>3433.51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348.03000000000003</c:v>
                </c:pt>
                <c:pt idx="2">
                  <c:v>901.7220000000002</c:v>
                </c:pt>
                <c:pt idx="3">
                  <c:v>1478.0090000000002</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348.03000000000003</c:v>
                </c:pt>
                <c:pt idx="1">
                  <c:v>553.6920000000001</c:v>
                </c:pt>
                <c:pt idx="2">
                  <c:v>576.287</c:v>
                </c:pt>
                <c:pt idx="3">
                  <c:v>241.662</c:v>
                </c:pt>
                <c:pt idx="4">
                  <c:v>1719.6710000000003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9.xml><?xml version="1.0" encoding="utf-8"?>
<c:chartSpace xmlns:c="http://schemas.openxmlformats.org/drawingml/2006/chart" xmlns:a="http://schemas.openxmlformats.org/drawingml/2006/main" xmlns:r="http://schemas.openxmlformats.org/officeDocument/2006/relationships">
  <c:date1904 val="0"/>
  <c:chart>
    <c:autoTitleDeleted val="0"/>
    <c:plotArea>
      <c:lineChart>
        <c:grouping val="standard"/>
        <c:varyColors val="0"/>
        <c:ser>
          <c:idx val="0"/>
          <c:order val="0"/>
          <c:tx>
            <c:strRef>
              <c:f>Sheet1!$B$1</c:f>
              <c:strCache>
                <c:ptCount val="1"/>
                <c:pt idx="0">
                  <c:v>Barrier Casings</c:v>
                </c:pt>
              </c:strCache>
            </c:strRef>
          </c:tx>
          <c:spPr>
            <a:ln w="25400">
              <a:solidFill>
                <a:srgbClr val="C55A11"/>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4129.0</c:v>
                </c:pt>
                <c:pt idx="1">
                  <c:v>4149.0</c:v>
                </c:pt>
                <c:pt idx="2">
                  <c:v>4170.0</c:v>
                </c:pt>
                <c:pt idx="3">
                  <c:v>4193.0</c:v>
                </c:pt>
                <c:pt idx="4">
                  <c:v>4216.0</c:v>
                </c:pt>
                <c:pt idx="5">
                  <c:v>4237.0</c:v>
                </c:pt>
                <c:pt idx="6">
                  <c:v>4285.0</c:v>
                </c:pt>
                <c:pt idx="7">
                  <c:v>4336.0</c:v>
                </c:pt>
                <c:pt idx="8">
                  <c:v>4377.0</c:v>
                </c:pt>
                <c:pt idx="9">
                  <c:v>4433.0</c:v>
                </c:pt>
                <c:pt idx="10">
                  <c:v>4494.0</c:v>
                </c:pt>
                <c:pt idx="11">
                  <c:v>4556.0</c:v>
                </c:pt>
                <c:pt idx="12">
                  <c:v>4604.0</c:v>
                </c:pt>
                <c:pt idx="13">
                  <c:v>4655.0</c:v>
                </c:pt>
                <c:pt idx="14">
                  <c:v>4715.0</c:v>
                </c:pt>
                <c:pt idx="15">
                  <c:v>4791.0</c:v>
                </c:pt>
              </c:numCache>
            </c:numRef>
          </c:val>
          <c:smooth val="0"/>
        </c:ser>
        <c:ser>
          <c:idx val="1"/>
          <c:order val="1"/>
          <c:tx>
            <c:strRef>
              <c:f>Sheet1!$C$1</c:f>
              <c:strCache>
                <c:ptCount val="1"/>
                <c:pt idx="0">
                  <c:v>Rollstock Films</c:v>
                </c:pt>
              </c:strCache>
            </c:strRef>
          </c:tx>
          <c:spPr>
            <a:ln w="25400">
              <a:solidFill>
                <a:srgbClr val="0B2E4A"/>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2874.0</c:v>
                </c:pt>
                <c:pt idx="1">
                  <c:v>2879.0</c:v>
                </c:pt>
                <c:pt idx="2">
                  <c:v>2887.0</c:v>
                </c:pt>
                <c:pt idx="3">
                  <c:v>2901.0</c:v>
                </c:pt>
                <c:pt idx="4">
                  <c:v>2917.0</c:v>
                </c:pt>
                <c:pt idx="5">
                  <c:v>2943.0</c:v>
                </c:pt>
                <c:pt idx="6">
                  <c:v>2950.0</c:v>
                </c:pt>
                <c:pt idx="7">
                  <c:v>2965.0</c:v>
                </c:pt>
                <c:pt idx="8">
                  <c:v>2986.0</c:v>
                </c:pt>
                <c:pt idx="9">
                  <c:v>3016.0</c:v>
                </c:pt>
                <c:pt idx="10">
                  <c:v>3051.0</c:v>
                </c:pt>
                <c:pt idx="11">
                  <c:v>3092.0</c:v>
                </c:pt>
                <c:pt idx="12">
                  <c:v>3143.0</c:v>
                </c:pt>
                <c:pt idx="13">
                  <c:v>3204.0</c:v>
                </c:pt>
                <c:pt idx="14">
                  <c:v>3279.0</c:v>
                </c:pt>
                <c:pt idx="15">
                  <c:v>3367.0</c:v>
                </c:pt>
              </c:numCache>
            </c:numRef>
          </c:val>
          <c:smooth val="0"/>
        </c:ser>
        <c:ser>
          <c:idx val="2"/>
          <c:order val="2"/>
          <c:tx>
            <c:strRef>
              <c:f>Sheet1!$D$1</c:f>
              <c:strCache>
                <c:ptCount val="1"/>
                <c:pt idx="0">
                  <c:v>Premade Pouches &amp; Bags</c:v>
                </c:pt>
              </c:strCache>
            </c:strRef>
          </c:tx>
          <c:spPr>
            <a:ln w="25400">
              <a:solidFill>
                <a:srgbClr val="7030A0"/>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2635.0</c:v>
                </c:pt>
                <c:pt idx="1">
                  <c:v>2656.0</c:v>
                </c:pt>
                <c:pt idx="2">
                  <c:v>2673.0</c:v>
                </c:pt>
                <c:pt idx="3">
                  <c:v>2686.0</c:v>
                </c:pt>
                <c:pt idx="4">
                  <c:v>2696.0</c:v>
                </c:pt>
                <c:pt idx="5">
                  <c:v>2703.0</c:v>
                </c:pt>
                <c:pt idx="6">
                  <c:v>2746.0</c:v>
                </c:pt>
                <c:pt idx="7">
                  <c:v>2784.0</c:v>
                </c:pt>
                <c:pt idx="8">
                  <c:v>2818.0</c:v>
                </c:pt>
                <c:pt idx="9">
                  <c:v>2851.0</c:v>
                </c:pt>
                <c:pt idx="10">
                  <c:v>2887.0</c:v>
                </c:pt>
                <c:pt idx="11">
                  <c:v>2925.0</c:v>
                </c:pt>
                <c:pt idx="12">
                  <c:v>2967.0</c:v>
                </c:pt>
                <c:pt idx="13">
                  <c:v>3009.0</c:v>
                </c:pt>
                <c:pt idx="14">
                  <c:v>3049.0</c:v>
                </c:pt>
                <c:pt idx="15">
                  <c:v>3086.0</c:v>
                </c:pt>
              </c:numCache>
            </c:numRef>
          </c:val>
          <c:smooth val="0"/>
        </c:ser>
        <c:ser>
          <c:idx val="3"/>
          <c:order val="3"/>
          <c:tx>
            <c:strRef>
              <c:f>Sheet1!$E$1</c:f>
              <c:strCache>
                <c:ptCount val="1"/>
                <c:pt idx="0">
                  <c:v>Sachets &amp; Stick Packs</c:v>
                </c:pt>
              </c:strCache>
            </c:strRef>
          </c:tx>
          <c:spPr>
            <a:ln w="25400">
              <a:solidFill>
                <a:srgbClr val="008189"/>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2473.0</c:v>
                </c:pt>
                <c:pt idx="1">
                  <c:v>2478.0</c:v>
                </c:pt>
                <c:pt idx="2">
                  <c:v>2486.0</c:v>
                </c:pt>
                <c:pt idx="3">
                  <c:v>2499.0</c:v>
                </c:pt>
                <c:pt idx="4">
                  <c:v>2513.0</c:v>
                </c:pt>
                <c:pt idx="5">
                  <c:v>2531.0</c:v>
                </c:pt>
                <c:pt idx="6">
                  <c:v>2529.0</c:v>
                </c:pt>
                <c:pt idx="7">
                  <c:v>2535.0</c:v>
                </c:pt>
                <c:pt idx="8">
                  <c:v>2551.0</c:v>
                </c:pt>
                <c:pt idx="9">
                  <c:v>2574.0</c:v>
                </c:pt>
                <c:pt idx="10">
                  <c:v>2605.0</c:v>
                </c:pt>
                <c:pt idx="11">
                  <c:v>2643.0</c:v>
                </c:pt>
                <c:pt idx="12">
                  <c:v>2688.0</c:v>
                </c:pt>
                <c:pt idx="13">
                  <c:v>2742.0</c:v>
                </c:pt>
                <c:pt idx="14">
                  <c:v>2806.0</c:v>
                </c:pt>
                <c:pt idx="15">
                  <c:v>2879.0</c:v>
                </c:pt>
              </c:numCache>
            </c:numRef>
          </c:val>
          <c:smooth val="0"/>
        </c:ser>
        <c:marker val="1"/>
        <c:smooth val="0"/>
        <c:axId val="2118791784"/>
        <c:axId val="2140495176"/>
      </c:lineChart>
      <c:catAx>
        <c:axId val="2118791784"/>
        <c:scaling>
          <c:orientation val="minMax"/>
        </c:scaling>
        <c:delete val="0"/>
        <c:axPos val="b"/>
        <c:majorTickMark val="out"/>
        <c:minorTickMark val="none"/>
        <c:tickLblPos val="low"/>
        <c:spPr>
          <a:ln>
            <a:solidFill>
              <a:srgbClr val="D9DEE4"/>
            </a:solidFill>
          </a:ln>
        </c:spPr>
        <c:txPr>
          <a:bodyPr/>
          <a:lstStyle/>
          <a:p>
            <a:pPr>
              <a:defRPr sz="900">
                <a:solidFill>
                  <a:srgbClr val="59636E"/>
                </a:solidFill>
                <a:latin typeface="Calibri"/>
              </a:defRPr>
            </a:pPr>
          </a:p>
        </c:txPr>
        <c:crossAx val="2140495176"/>
        <c:crosses val="autoZero"/>
        <c:auto val="1"/>
        <c:lblAlgn val="ctr"/>
        <c:lblOffset val="100"/>
        <c:noMultiLvlLbl val="0"/>
      </c:catAx>
      <c:valAx>
        <c:axId val="2140495176"/>
        <c:scaling>
          <c:max val="5000.0"/>
          <c:min val="2000.0"/>
        </c:scaling>
        <c:delete val="0"/>
        <c:axPos val="l"/>
        <c:majorGridlines>
          <c:spPr>
            <a:ln>
              <a:solidFill>
                <a:srgbClr val="D9DEE4"/>
              </a:solidFill>
            </a:ln>
          </c:spPr>
        </c:majorGridlines>
        <c:numFmt formatCode="#,##0" sourceLinked="0"/>
        <c:majorTickMark val="out"/>
        <c:minorTickMark val="none"/>
        <c:tickLblPos val="nextTo"/>
        <c:spPr>
          <a:ln>
            <a:noFill/>
          </a:ln>
        </c:spPr>
        <c:txPr>
          <a:bodyPr/>
          <a:lstStyle/>
          <a:p>
            <a:pPr>
              <a:defRPr sz="900">
                <a:solidFill>
                  <a:srgbClr val="59636E"/>
                </a:solidFill>
                <a:latin typeface="Calibri"/>
              </a:defRPr>
            </a:pPr>
          </a:p>
        </c:txPr>
        <c:crossAx val="2118791784"/>
        <c:crosses val="autoZero"/>
        <c:majorUnit val="500.0"/>
      </c:valAx>
    </c:plotArea>
    <c:legend>
      <c:legendPos val="b"/>
      <c:layout/>
      <c:overlay val="0"/>
      <c:txPr>
        <a:bodyPr/>
        <a:lstStyle/>
        <a:p>
          <a:pPr>
            <a:defRPr sz="900">
              <a:latin typeface="Calibri"/>
            </a:defRPr>
          </a:pPr>
        </a:p>
      </c:txPr>
    </c:legend>
    <c:plotVisOnly val="1"/>
    <c:dispBlanksAs val="gap"/>
    <c:showDLblsOverMax val="0"/>
  </c:chart>
  <c:txPr>
    <a:bodyPr/>
    <a:lstStyle/>
    <a:p>
      <a:pPr>
        <a:defRPr sz="1800"/>
      </a:pPr>
      <a:endParaRPr lang="en-US"/>
    </a:p>
  </c:txPr>
  <c:externalData r:id="rId1">
    <c:autoUpdate val="0"/>
  </c:externalData>
</c:chartSpace>
</file>

<file path=ppt/charts/chart1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ser>
          <c:idx val="0"/>
          <c:order val="0"/>
          <c:tx>
            <c:strRef>
              <c:f>Sheet1!$B$1</c:f>
              <c:strCache>
                <c:ptCount val="1"/>
                <c:pt idx="0">
                  <c:v>Index</c:v>
                </c:pt>
              </c:strCache>
            </c:strRef>
          </c:tx>
          <c:dPt>
            <c:idx val="0"/>
            <c:spPr>
              <a:solidFill>
                <a:srgbClr val="5B7DB1"/>
              </a:solidFill>
            </c:spPr>
          </c:dPt>
          <c:dPt>
            <c:idx val="1"/>
            <c:spPr>
              <a:solidFill>
                <a:srgbClr val="5B7DB1"/>
              </a:solidFill>
            </c:spPr>
          </c:dPt>
          <c:dPt>
            <c:idx val="2"/>
            <c:spPr>
              <a:solidFill>
                <a:srgbClr val="C55A11"/>
              </a:solidFill>
            </c:spPr>
          </c:dPt>
          <c:dPt>
            <c:idx val="3"/>
            <c:spPr>
              <a:solidFill>
                <a:srgbClr val="C55A11"/>
              </a:solidFill>
            </c:spPr>
          </c:dPt>
          <c:cat>
            <c:strRef>
              <c:f>Sheet1!$A$2:$A$5</c:f>
              <c:strCache>
                <c:ptCount val="4"/>
                <c:pt idx="0">
                  <c:v>Sachets &amp; Stick Packs</c:v>
                </c:pt>
                <c:pt idx="1">
                  <c:v>Premade Pouches &amp; Bags</c:v>
                </c:pt>
                <c:pt idx="2">
                  <c:v>Rollstock Films</c:v>
                </c:pt>
                <c:pt idx="3">
                  <c:v>Barrier Casings</c:v>
                </c:pt>
              </c:strCache>
            </c:strRef>
          </c:cat>
          <c:val>
            <c:numRef>
              <c:f>Sheet1!$B$2:$B$5</c:f>
              <c:numCache>
                <c:formatCode>General</c:formatCode>
                <c:ptCount val="4"/>
                <c:pt idx="0">
                  <c:v>86.1</c:v>
                </c:pt>
                <c:pt idx="1">
                  <c:v>92.0</c:v>
                </c:pt>
                <c:pt idx="2">
                  <c:v>100.2</c:v>
                </c:pt>
                <c:pt idx="3">
                  <c:v>144.2</c:v>
                </c:pt>
              </c:numCache>
            </c:numRef>
          </c:val>
        </c:ser>
        <c:dLbls>
          <c:numFmt formatCode="0.0" sourceLinked="0"/>
          <c:txPr>
            <a:bodyPr/>
            <a:lstStyle/>
            <a:p>
              <a:pPr>
                <a:defRPr sz="900" b="1">
                  <a:solidFill>
                    <a:srgbClr val="1F1F1F"/>
                  </a:solidFill>
                </a:defRPr>
              </a:pPr>
            </a:p>
          </c:txPr>
          <c:dLblPos val="outEnd"/>
          <c:showLegendKey val="0"/>
          <c:showVal val="1"/>
          <c:showCatName val="0"/>
          <c:showSerName val="0"/>
          <c:showPercent val="0"/>
          <c:showBubbleSize val="0"/>
          <c:showLeaderLines val="1"/>
        </c:dLbls>
        <c:gapWidth val="45"/>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46.0"/>
          <c:min val="83.0"/>
        </c:scaling>
        <c:delete/>
        <c:axPos val="b"/>
        <c:majorTickMark val="out"/>
        <c:minorTickMark val="none"/>
        <c:tickLblPos val="nextTo"/>
        <c:crossAx val="-2068027336"/>
        <c:crosses val="autoZero"/>
      </c:valAx>
    </c:plotArea>
    <c:dispBlanksAs val="gap"/>
  </c:chart>
  <c:txPr>
    <a:bodyPr/>
    <a:lstStyle/>
    <a:p>
      <a:pPr>
        <a:defRPr sz="1800"/>
      </a:pPr>
      <a:endParaRPr lang="en-US"/>
    </a:p>
  </c:txPr>
  <c:externalData r:id="rId1">
    <c:autoUpdate val="0"/>
  </c:externalData>
</c:chartSpace>
</file>

<file path=ppt/charts/chart171.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col"/>
        <c:grouping val="stacked"/>
        <c:ser>
          <c:idx val="0"/>
          <c:order val="0"/>
          <c:tx>
            <c:strRef>
              <c:f>Sheet1!$B$1</c:f>
              <c:strCache>
                <c:ptCount val="1"/>
                <c:pt idx="0">
                  <c:v>Base</c:v>
                </c:pt>
              </c:strCache>
            </c:strRef>
          </c:tx>
          <c:spPr>
            <a:noFill/>
          </c:spPr>
          <c:cat>
            <c:strRef>
              <c:f>Sheet1!$A$2:$A$4</c:f>
              <c:strCache>
                <c:ptCount val="3"/>
                <c:pt idx="0">
                  <c:v>Brazil</c:v>
                </c:pt>
                <c:pt idx="1">
                  <c:v>Colombia</c:v>
                </c:pt>
                <c:pt idx="2">
                  <c:v>Mexico</c:v>
                </c:pt>
              </c:strCache>
            </c:strRef>
          </c:cat>
          <c:val>
            <c:numRef>
              <c:f>Sheet1!$B$2:$B$4</c:f>
              <c:numCache>
                <c:formatCode>General</c:formatCode>
                <c:ptCount val="3"/>
                <c:pt idx="0">
                  <c:v>89.3</c:v>
                </c:pt>
                <c:pt idx="1">
                  <c:v>87.4</c:v>
                </c:pt>
                <c:pt idx="2">
                  <c:v>81.6</c:v>
                </c:pt>
              </c:numCache>
            </c:numRef>
          </c:val>
        </c:ser>
        <c:ser>
          <c:idx val="1"/>
          <c:order val="1"/>
          <c:tx>
            <c:strRef>
              <c:f>Sheet1!$C$1</c:f>
              <c:strCache>
                <c:ptCount val="1"/>
                <c:pt idx="0">
                  <c:v>Range</c:v>
                </c:pt>
              </c:strCache>
            </c:strRef>
          </c:tx>
          <c:spPr>
            <a:solidFill>
              <a:srgbClr val="008189"/>
            </a:solidFill>
          </c:spPr>
          <c:dPt>
            <c:idx val="2"/>
            <c:spPr>
              <a:solidFill>
                <a:srgbClr val="5B7DB1"/>
              </a:solidFill>
            </c:spPr>
          </c:dPt>
          <c:cat>
            <c:strRef>
              <c:f>Sheet1!$A$2:$A$4</c:f>
              <c:strCache>
                <c:ptCount val="3"/>
                <c:pt idx="0">
                  <c:v>Brazil</c:v>
                </c:pt>
                <c:pt idx="1">
                  <c:v>Colombia</c:v>
                </c:pt>
                <c:pt idx="2">
                  <c:v>Mexico</c:v>
                </c:pt>
              </c:strCache>
            </c:strRef>
          </c:cat>
          <c:val>
            <c:numRef>
              <c:f>Sheet1!$C$2:$C$4</c:f>
              <c:numCache>
                <c:formatCode>General</c:formatCode>
                <c:ptCount val="3"/>
                <c:pt idx="0">
                  <c:v>60.6</c:v>
                </c:pt>
                <c:pt idx="1">
                  <c:v>58.5</c:v>
                </c:pt>
                <c:pt idx="2">
                  <c:v>54.5</c:v>
                </c:pt>
              </c:numCache>
            </c:numRef>
          </c:val>
        </c:ser>
        <c:gapWidth val="40"/>
        <c:overlap val="100"/>
        <c:axId val="-2068027336"/>
        <c:axId val="-2113994440"/>
      </c:barChart>
      <c:catAx>
        <c:axId val="-2068027336"/>
        <c:scaling>
          <c:orientation val="minMax"/>
        </c:scaling>
        <c:delete val="0"/>
        <c:axPos val="b"/>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50.0"/>
          <c:min val="80.0"/>
        </c:scaling>
        <c:delete val="0"/>
        <c:axPos val="l"/>
        <c:majorGridlines>
          <c:spPr>
            <a:ln>
              <a:solidFill>
                <a:srgbClr val="D9DEE4"/>
              </a:solidFill>
            </a:ln>
          </c:spPr>
        </c:majorGridlines>
        <c:numFmt formatCode="0" sourceLinked="0"/>
        <c:majorTickMark val="out"/>
        <c:minorTickMark val="none"/>
        <c:tickLblPos val="nextTo"/>
        <c:spPr>
          <a:ln>
            <a:noFill/>
          </a:ln>
        </c:spPr>
        <c:txPr>
          <a:bodyPr/>
          <a:lstStyle/>
          <a:p>
            <a:pPr>
              <a:defRPr sz="850">
                <a:solidFill>
                  <a:srgbClr val="59636E"/>
                </a:solidFill>
                <a:latin typeface="Calibri"/>
              </a:defRPr>
            </a:pPr>
          </a:p>
        </c:txPr>
        <c:crossAx val="-2068027336"/>
        <c:crosses val="autoZero"/>
        <c:majorUnit val="10.0"/>
      </c:valAx>
    </c:plotArea>
    <c:dispBlanksAs val="gap"/>
  </c:chart>
  <c:txPr>
    <a:bodyPr/>
    <a:lstStyle/>
    <a:p>
      <a:pPr>
        <a:defRPr sz="1800"/>
      </a:pPr>
      <a:endParaRPr lang="en-US"/>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p="http://schemas.openxmlformats.org/presentationml/2006/main" xmlns:r="http://schemas.openxmlformats.org/officeDocument/2006/relationships">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F89C1C7-3DCD-1040-A9CF-14679D8B5DDD}" type="datetimeFigureOut">
              <a:rPr lang="en-US" smtClean="0"/>
              <a:t>10/17/16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B5E49A5-4136-284D-997B-48E1D791AD67}" type="slidenum">
              <a:rPr lang="en-US" smtClean="0"/>
              <a:t>‹#›</a:t>
            </a:fld>
            <a:endParaRPr lang="en-US"/>
          </a:p>
        </p:txBody>
      </p:sp>
    </p:spTree>
    <p:extLst>
      <p:ext uri="{BB962C8B-B14F-4D97-AF65-F5344CB8AC3E}">
        <p14:creationId xmlns:p14="http://schemas.microsoft.com/office/powerpoint/2010/main" val="2623252185"/>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2.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6.xm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8.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0.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1.xm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2.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3.xm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7.xm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8.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9.xm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2.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4.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9.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s>
</file>

<file path=ppt/notesSlides/_rels/notesSlide2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5.xm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8.xm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9.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0.xm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2.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4.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5.xm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6.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7.xm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8.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9.xm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0.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3.xm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4.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6.xm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7.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8.xm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9.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0.xml"/></Relationships>
</file>

<file path=ppt/notesSlides/_rels/notesSlide2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1.xm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s>
</file>

<file path=ppt/notesSlides/_rels/notesSlide2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3.xml"/></Relationships>
</file>

<file path=ppt/notesSlides/_rels/notesSlide2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4.xml"/></Relationships>
</file>

<file path=ppt/notesSlides/notesSlide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Signals Market Signals</a:t>
            </a:r>
          </a:p>
        </p:txBody>
      </p:sp>
      <p:sp>
        <p:nvSpPr>
          <p:cNvPr id="4" name="Slide Number Placeholder 3"/>
          <p:cNvSpPr>
            <a:spLocks noGrp="1"/>
          </p:cNvSpPr>
          <p:nvPr>
            <p:ph type="sldNum" idx="5" sz="quarter"/>
          </p:nvPr>
        </p:nvSpPr>
        <p:spPr/>
      </p:sp>
    </p:spTree>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Overview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Taxonomy Geographic Coverage</a:t>
            </a:r>
          </a:p>
        </p:txBody>
      </p:sp>
      <p:sp>
        <p:nvSpPr>
          <p:cNvPr id="4" name="Slide Number Placeholder 3"/>
          <p:cNvSpPr>
            <a:spLocks noGrp="1"/>
          </p:cNvSpPr>
          <p:nvPr>
            <p:ph type="sldNum" idx="5" sz="quarter"/>
          </p:nvPr>
        </p:nvSpPr>
        <p:spPr/>
      </p:sp>
    </p:spTree>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Taxonomy Market Segments</a:t>
            </a:r>
          </a:p>
        </p:txBody>
      </p:sp>
      <p:sp>
        <p:nvSpPr>
          <p:cNvPr id="4" name="Slide Number Placeholder 3"/>
          <p:cNvSpPr>
            <a:spLocks noGrp="1"/>
          </p:cNvSpPr>
          <p:nvPr>
            <p:ph type="sldNum" idx="5" sz="quarter"/>
          </p:nvPr>
        </p:nvSpPr>
        <p:spPr/>
      </p:sp>
    </p:spTree>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Taxonomy Company Coverage</a:t>
            </a:r>
          </a:p>
        </p:txBody>
      </p:sp>
      <p:sp>
        <p:nvSpPr>
          <p:cNvPr id="4" name="Slide Number Placeholder 3"/>
          <p:cNvSpPr>
            <a:spLocks noGrp="1"/>
          </p:cNvSpPr>
          <p:nvPr>
            <p:ph type="sldNum" idx="5" sz="quarter"/>
          </p:nvPr>
        </p:nvSpPr>
        <p:spPr/>
      </p:sp>
    </p:spTree>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Latin America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Latin America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Latin America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Latin America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Latin America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Latin America Overview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Latin America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Latin America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Latin America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Latin America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Latin America Flexible Plastic Packaging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By Product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Value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Value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By Principal Material / Barrier Technology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By Principal Material / Barrier Technology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Absolute $ Analysis  (1/3)</a:t>
            </a:r>
          </a:p>
        </p:txBody>
      </p:sp>
      <p:sp>
        <p:nvSpPr>
          <p:cNvPr id="4" name="Slide Number Placeholder 3"/>
          <p:cNvSpPr>
            <a:spLocks noGrp="1"/>
          </p:cNvSpPr>
          <p:nvPr>
            <p:ph type="sldNum" idx="5" sz="quarter"/>
          </p:nvPr>
        </p:nvSpPr>
        <p:spPr/>
      </p:sp>
    </p:spTree>
  </p:cSld>
  <p:clrMapOvr>
    <a:masterClrMapping/>
  </p:clrMapOvr>
</p:notes>
</file>

<file path=ppt/notesSlides/notesSlide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Absolute $ Analysis  (2/3)</a:t>
            </a:r>
          </a:p>
        </p:txBody>
      </p:sp>
      <p:sp>
        <p:nvSpPr>
          <p:cNvPr id="4" name="Slide Number Placeholder 3"/>
          <p:cNvSpPr>
            <a:spLocks noGrp="1"/>
          </p:cNvSpPr>
          <p:nvPr>
            <p:ph type="sldNum" idx="5" sz="quarter"/>
          </p:nvPr>
        </p:nvSpPr>
        <p:spPr/>
      </p:sp>
    </p:spTree>
  </p:cSld>
  <p:clrMapOvr>
    <a:masterClrMapping/>
  </p:clrMapOvr>
</p:notes>
</file>

<file path=ppt/notesSlides/notesSlide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Absolute $ Analysis  (3/3)</a:t>
            </a:r>
          </a:p>
        </p:txBody>
      </p:sp>
      <p:sp>
        <p:nvSpPr>
          <p:cNvPr id="4" name="Slide Number Placeholder 3"/>
          <p:cNvSpPr>
            <a:spLocks noGrp="1"/>
          </p:cNvSpPr>
          <p:nvPr>
            <p:ph type="sldNum" idx="5" sz="quarter"/>
          </p:nvPr>
        </p:nvSpPr>
        <p:spPr/>
      </p:sp>
    </p:spTree>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By Material Structure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By Material Structure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Value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Value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By Barrier Level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By Application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Value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Value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By Barrier Level Vs Application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Country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1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1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1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1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1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1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1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1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1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1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1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1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1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1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1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1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1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1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1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1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1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1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1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1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1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1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1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1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2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2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2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2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2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2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2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2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2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2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2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2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2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Pricing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Product Pricing &amp; Regional Price Index Trends</a:t>
            </a:r>
          </a:p>
        </p:txBody>
      </p:sp>
      <p:sp>
        <p:nvSpPr>
          <p:cNvPr id="4" name="Slide Number Placeholder 3"/>
          <p:cNvSpPr>
            <a:spLocks noGrp="1"/>
          </p:cNvSpPr>
          <p:nvPr>
            <p:ph type="sldNum" idx="5" sz="quarter"/>
          </p:nvPr>
        </p:nvSpPr>
        <p:spPr/>
      </p:sp>
    </p:spTree>
  </p:cSld>
  <p:clrMapOvr>
    <a:masterClrMapping/>
  </p:clrMapOvr>
</p:notes>
</file>

<file path=ppt/notesSlides/notesSlide2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Latin America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2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Latin America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2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Price Positioning &amp; Key Findings</a:t>
            </a:r>
          </a:p>
        </p:txBody>
      </p:sp>
      <p:sp>
        <p:nvSpPr>
          <p:cNvPr id="4" name="Slide Number Placeholder 3"/>
          <p:cNvSpPr>
            <a:spLocks noGrp="1"/>
          </p:cNvSpPr>
          <p:nvPr>
            <p:ph type="sldNum" idx="5" sz="quarter"/>
          </p:nvPr>
        </p:nvSpPr>
        <p:spPr/>
      </p:sp>
    </p:spTree>
  </p:cSld>
  <p:clrMapOvr>
    <a:masterClrMapping/>
  </p:clrMapOvr>
</p:notes>
</file>

<file path=ppt/notesSlides/notesSlide2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Key Pricing Drivers</a:t>
            </a:r>
          </a:p>
        </p:txBody>
      </p:sp>
      <p:sp>
        <p:nvSpPr>
          <p:cNvPr id="4" name="Slide Number Placeholder 3"/>
          <p:cNvSpPr>
            <a:spLocks noGrp="1"/>
          </p:cNvSpPr>
          <p:nvPr>
            <p:ph type="sldNum" idx="5" sz="quarter"/>
          </p:nvPr>
        </p:nvSpPr>
        <p:spPr/>
      </p:sp>
    </p:spTree>
  </p:cSld>
  <p:clrMapOvr>
    <a:masterClrMapping/>
  </p:clrMapOvr>
</p:notes>
</file>

<file path=ppt/notesSlides/notesSlide2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Factors Impacting Pricing</a:t>
            </a:r>
          </a:p>
        </p:txBody>
      </p:sp>
      <p:sp>
        <p:nvSpPr>
          <p:cNvPr id="4" name="Slide Number Placeholder 3"/>
          <p:cNvSpPr>
            <a:spLocks noGrp="1"/>
          </p:cNvSpPr>
          <p:nvPr>
            <p:ph type="sldNum" idx="5" sz="quarter"/>
          </p:nvPr>
        </p:nvSpPr>
        <p:spPr/>
      </p:sp>
    </p:spTree>
  </p:cSld>
  <p:clrMapOvr>
    <a:masterClrMapping/>
  </p:clrMapOvr>
</p:notes>
</file>

<file path=ppt/notesSlides/notesSlide2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Regional Price Assessment</a:t>
            </a:r>
          </a:p>
        </p:txBody>
      </p:sp>
      <p:sp>
        <p:nvSpPr>
          <p:cNvPr id="4" name="Slide Number Placeholder 3"/>
          <p:cNvSpPr>
            <a:spLocks noGrp="1"/>
          </p:cNvSpPr>
          <p:nvPr>
            <p:ph type="sldNum" idx="5" sz="quarter"/>
          </p:nvPr>
        </p:nvSpPr>
        <p:spPr/>
      </p:sp>
    </p:spTree>
  </p:cSld>
  <p:clrMapOvr>
    <a:masterClrMapping/>
  </p:clrMapOvr>
</p:notes>
</file>

<file path=ppt/notesSlides/notesSlide2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Latin America Pricing Benchmarking</a:t>
            </a:r>
          </a:p>
        </p:txBody>
      </p:sp>
      <p:sp>
        <p:nvSpPr>
          <p:cNvPr id="4" name="Slide Number Placeholder 3"/>
          <p:cNvSpPr>
            <a:spLocks noGrp="1"/>
          </p:cNvSpPr>
          <p:nvPr>
            <p:ph type="sldNum" idx="5" sz="quarter"/>
          </p:nvPr>
        </p:nvSpPr>
        <p:spPr/>
      </p:sp>
    </p:spTree>
  </p:cSld>
  <p:clrMapOvr>
    <a:masterClrMapping/>
  </p:clrMapOvr>
</p:notes>
</file>

<file path=ppt/notesSlides/notesSlide2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Price Forecast &amp; Dynamics</a:t>
            </a:r>
          </a:p>
        </p:txBody>
      </p:sp>
      <p:sp>
        <p:nvSpPr>
          <p:cNvPr id="4" name="Slide Number Placeholder 3"/>
          <p:cNvSpPr>
            <a:spLocks noGrp="1"/>
          </p:cNvSpPr>
          <p:nvPr>
            <p:ph type="sldNum" idx="5" sz="quarter"/>
          </p:nvPr>
        </p:nvSpPr>
        <p:spPr/>
      </p:sp>
    </p:spTree>
  </p:cSld>
  <p:clrMapOvr>
    <a:masterClrMapping/>
  </p:clrMapOvr>
</p:notes>
</file>

<file path=ppt/notesSlides/notesSlide2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Supply Chain Analysis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Supply Chain Analysis Value Chain &amp; Stakeholder Mapping</a:t>
            </a:r>
          </a:p>
        </p:txBody>
      </p:sp>
      <p:sp>
        <p:nvSpPr>
          <p:cNvPr id="4" name="Slide Number Placeholder 3"/>
          <p:cNvSpPr>
            <a:spLocks noGrp="1"/>
          </p:cNvSpPr>
          <p:nvPr>
            <p:ph type="sldNum" idx="5" sz="quarter"/>
          </p:nvPr>
        </p:nvSpPr>
        <p:spPr/>
      </p:sp>
    </p:spTree>
  </p:cSld>
  <p:clrMapOvr>
    <a:masterClrMapping/>
  </p:clrMapOvr>
</p:notes>
</file>

<file path=ppt/notesSlides/notesSlide2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Supply Chain Analysis Operating Margin Analysis</a:t>
            </a:r>
          </a:p>
        </p:txBody>
      </p:sp>
      <p:sp>
        <p:nvSpPr>
          <p:cNvPr id="4" name="Slide Number Placeholder 3"/>
          <p:cNvSpPr>
            <a:spLocks noGrp="1"/>
          </p:cNvSpPr>
          <p:nvPr>
            <p:ph type="sldNum" idx="5" sz="quarter"/>
          </p:nvPr>
        </p:nvSpPr>
        <p:spPr/>
      </p:sp>
    </p:spTree>
  </p:cSld>
  <p:clrMapOvr>
    <a:masterClrMapping/>
  </p:clrMapOvr>
</p:notes>
</file>

<file path=ppt/notesSlides/notesSlide2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Supply Chain Analysis Buyers Assessment</a:t>
            </a:r>
          </a:p>
        </p:txBody>
      </p:sp>
      <p:sp>
        <p:nvSpPr>
          <p:cNvPr id="4" name="Slide Number Placeholder 3"/>
          <p:cNvSpPr>
            <a:spLocks noGrp="1"/>
          </p:cNvSpPr>
          <p:nvPr>
            <p:ph type="sldNum" idx="5" sz="quarter"/>
          </p:nvPr>
        </p:nvSpPr>
        <p:spPr/>
      </p:sp>
    </p:spTree>
  </p:cSld>
  <p:clrMapOvr>
    <a:masterClrMapping/>
  </p:clrMapOvr>
</p:notes>
</file>

<file path=ppt/notesSlides/notesSlide2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Dynamics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Market Dynamics by Geography</a:t>
            </a:r>
          </a:p>
        </p:txBody>
      </p:sp>
      <p:sp>
        <p:nvSpPr>
          <p:cNvPr id="4" name="Slide Number Placeholder 3"/>
          <p:cNvSpPr>
            <a:spLocks noGrp="1"/>
          </p:cNvSpPr>
          <p:nvPr>
            <p:ph type="sldNum" idx="5" sz="quarter"/>
          </p:nvPr>
        </p:nvSpPr>
        <p:spPr/>
      </p:sp>
    </p:spTree>
  </p:cSld>
  <p:clrMapOvr>
    <a:masterClrMapping/>
  </p:clrMapOvr>
</p:notes>
</file>

<file path=ppt/notesSlides/notesSlide2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Driving Factors Supply Side (1/2)</a:t>
            </a:r>
          </a:p>
        </p:txBody>
      </p:sp>
      <p:sp>
        <p:nvSpPr>
          <p:cNvPr id="4" name="Slide Number Placeholder 3"/>
          <p:cNvSpPr>
            <a:spLocks noGrp="1"/>
          </p:cNvSpPr>
          <p:nvPr>
            <p:ph type="sldNum" idx="5" sz="quarter"/>
          </p:nvPr>
        </p:nvSpPr>
        <p:spPr/>
      </p:sp>
    </p:spTree>
  </p:cSld>
  <p:clrMapOvr>
    <a:masterClrMapping/>
  </p:clrMapOvr>
</p:notes>
</file>

<file path=ppt/notesSlides/notesSlide2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Driving Factors Demand Side (2/2)</a:t>
            </a:r>
          </a:p>
        </p:txBody>
      </p:sp>
      <p:sp>
        <p:nvSpPr>
          <p:cNvPr id="4" name="Slide Number Placeholder 3"/>
          <p:cNvSpPr>
            <a:spLocks noGrp="1"/>
          </p:cNvSpPr>
          <p:nvPr>
            <p:ph type="sldNum" idx="5" sz="quarter"/>
          </p:nvPr>
        </p:nvSpPr>
        <p:spPr/>
      </p:sp>
    </p:spTree>
  </p:cSld>
  <p:clrMapOvr>
    <a:masterClrMapping/>
  </p:clrMapOvr>
</p:notes>
</file>

<file path=ppt/notesSlides/notesSlide2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Market Restraints</a:t>
            </a:r>
          </a:p>
        </p:txBody>
      </p:sp>
      <p:sp>
        <p:nvSpPr>
          <p:cNvPr id="4" name="Slide Number Placeholder 3"/>
          <p:cNvSpPr>
            <a:spLocks noGrp="1"/>
          </p:cNvSpPr>
          <p:nvPr>
            <p:ph type="sldNum" idx="5" sz="quarter"/>
          </p:nvPr>
        </p:nvSpPr>
        <p:spPr/>
      </p:sp>
    </p:spTree>
  </p:cSld>
  <p:clrMapOvr>
    <a:masterClrMapping/>
  </p:clrMapOvr>
</p:notes>
</file>

<file path=ppt/notesSlides/notesSlide2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Market Opportunities</a:t>
            </a:r>
          </a:p>
        </p:txBody>
      </p:sp>
      <p:sp>
        <p:nvSpPr>
          <p:cNvPr id="4" name="Slide Number Placeholder 3"/>
          <p:cNvSpPr>
            <a:spLocks noGrp="1"/>
          </p:cNvSpPr>
          <p:nvPr>
            <p:ph type="sldNum" idx="5" sz="quarter"/>
          </p:nvPr>
        </p:nvSpPr>
        <p:spPr/>
      </p:sp>
    </p:spTree>
  </p:cSld>
  <p:clrMapOvr>
    <a:masterClrMapping/>
  </p:clrMapOvr>
</p:notes>
</file>

<file path=ppt/notesSlides/notesSlide2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Recent Developments &amp; Milestones</a:t>
            </a:r>
          </a:p>
        </p:txBody>
      </p:sp>
      <p:sp>
        <p:nvSpPr>
          <p:cNvPr id="4" name="Slide Number Placeholder 3"/>
          <p:cNvSpPr>
            <a:spLocks noGrp="1"/>
          </p:cNvSpPr>
          <p:nvPr>
            <p:ph type="sldNum" idx="5" sz="quarter"/>
          </p:nvPr>
        </p:nvSpPr>
        <p:spPr/>
      </p:sp>
    </p:spTree>
  </p:cSld>
  <p:clrMapOvr>
    <a:masterClrMapping/>
  </p:clrMapOvr>
</p:notes>
</file>

<file path=ppt/notesSlides/notesSlide2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Five Forces Analysis</a:t>
            </a:r>
          </a:p>
        </p:txBody>
      </p:sp>
      <p:sp>
        <p:nvSpPr>
          <p:cNvPr id="4" name="Slide Number Placeholder 3"/>
          <p:cNvSpPr>
            <a:spLocks noGrp="1"/>
          </p:cNvSpPr>
          <p:nvPr>
            <p:ph type="sldNum" idx="5" sz="quarter"/>
          </p:nvPr>
        </p:nvSpPr>
        <p:spPr/>
      </p:sp>
    </p:spTree>
  </p:cSld>
  <p:clrMapOvr>
    <a:masterClrMapping/>
  </p:clrMapOvr>
</p:notes>
</file>

<file path=ppt/notesSlides/notesSlide2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(1/6)</a:t>
            </a:r>
          </a:p>
        </p:txBody>
      </p:sp>
      <p:sp>
        <p:nvSpPr>
          <p:cNvPr id="4" name="Slide Number Placeholder 3"/>
          <p:cNvSpPr>
            <a:spLocks noGrp="1"/>
          </p:cNvSpPr>
          <p:nvPr>
            <p:ph type="sldNum" idx="5" sz="quarter"/>
          </p:nvPr>
        </p:nvSpPr>
        <p:spPr/>
      </p:sp>
    </p:spTree>
  </p:cSld>
  <p:clrMapOvr>
    <a:masterClrMapping/>
  </p:clrMapOvr>
</p:notes>
</file>

<file path=ppt/notesSlides/notesSlide2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(2/6)</a:t>
            </a:r>
          </a:p>
        </p:txBody>
      </p:sp>
      <p:sp>
        <p:nvSpPr>
          <p:cNvPr id="4" name="Slide Number Placeholder 3"/>
          <p:cNvSpPr>
            <a:spLocks noGrp="1"/>
          </p:cNvSpPr>
          <p:nvPr>
            <p:ph type="sldNum" idx="5" sz="quarter"/>
          </p:nvPr>
        </p:nvSpPr>
        <p:spPr/>
      </p:sp>
    </p:spTree>
  </p:cSld>
  <p:clrMapOvr>
    <a:masterClrMapping/>
  </p:clrMapOvr>
</p:notes>
</file>

<file path=ppt/notesSlides/notesSlide2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(3/6)</a:t>
            </a:r>
          </a:p>
        </p:txBody>
      </p:sp>
      <p:sp>
        <p:nvSpPr>
          <p:cNvPr id="4" name="Slide Number Placeholder 3"/>
          <p:cNvSpPr>
            <a:spLocks noGrp="1"/>
          </p:cNvSpPr>
          <p:nvPr>
            <p:ph type="sldNum" idx="5" sz="quarter"/>
          </p:nvPr>
        </p:nvSpPr>
        <p:spPr/>
      </p:sp>
    </p:spTree>
  </p:cSld>
  <p:clrMapOvr>
    <a:masterClrMapping/>
  </p:clrMapOvr>
</p:notes>
</file>

<file path=ppt/notesSlides/notesSlide2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(4/6)</a:t>
            </a:r>
          </a:p>
        </p:txBody>
      </p:sp>
      <p:sp>
        <p:nvSpPr>
          <p:cNvPr id="4" name="Slide Number Placeholder 3"/>
          <p:cNvSpPr>
            <a:spLocks noGrp="1"/>
          </p:cNvSpPr>
          <p:nvPr>
            <p:ph type="sldNum" idx="5" sz="quarter"/>
          </p:nvPr>
        </p:nvSpPr>
        <p:spPr/>
      </p:sp>
    </p:spTree>
  </p:cSld>
  <p:clrMapOvr>
    <a:masterClrMapping/>
  </p:clrMapOvr>
</p:notes>
</file>

<file path=ppt/notesSlides/notesSlide2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(5/6)</a:t>
            </a:r>
          </a:p>
        </p:txBody>
      </p:sp>
      <p:sp>
        <p:nvSpPr>
          <p:cNvPr id="4" name="Slide Number Placeholder 3"/>
          <p:cNvSpPr>
            <a:spLocks noGrp="1"/>
          </p:cNvSpPr>
          <p:nvPr>
            <p:ph type="sldNum" idx="5" sz="quarter"/>
          </p:nvPr>
        </p:nvSpPr>
        <p:spPr/>
      </p:sp>
    </p:spTree>
  </p:cSld>
  <p:clrMapOvr>
    <a:masterClrMapping/>
  </p:clrMapOvr>
</p:notes>
</file>

<file path=ppt/notesSlides/notesSlide2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(6/6)</a:t>
            </a:r>
          </a:p>
        </p:txBody>
      </p:sp>
      <p:sp>
        <p:nvSpPr>
          <p:cNvPr id="4" name="Slide Number Placeholder 3"/>
          <p:cNvSpPr>
            <a:spLocks noGrp="1"/>
          </p:cNvSpPr>
          <p:nvPr>
            <p:ph type="sldNum" idx="5" sz="quarter"/>
          </p:nvPr>
        </p:nvSpPr>
        <p:spPr/>
      </p:sp>
    </p:spTree>
  </p:cSld>
  <p:clrMapOvr>
    <a:masterClrMapping/>
  </p:clrMapOvr>
</p:notes>
</file>

<file path=ppt/notesSlides/notesSlide2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Figures  (1/4)</a:t>
            </a:r>
          </a:p>
        </p:txBody>
      </p:sp>
      <p:sp>
        <p:nvSpPr>
          <p:cNvPr id="4" name="Slide Number Placeholder 3"/>
          <p:cNvSpPr>
            <a:spLocks noGrp="1"/>
          </p:cNvSpPr>
          <p:nvPr>
            <p:ph type="sldNum" idx="5" sz="quarter"/>
          </p:nvPr>
        </p:nvSpPr>
        <p:spPr/>
      </p:sp>
    </p:spTree>
  </p:cSld>
  <p:clrMapOvr>
    <a:masterClrMapping/>
  </p:clrMapOvr>
</p:notes>
</file>

<file path=ppt/notesSlides/notesSlide2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Figures  (2/4)</a:t>
            </a:r>
          </a:p>
        </p:txBody>
      </p:sp>
      <p:sp>
        <p:nvSpPr>
          <p:cNvPr id="4" name="Slide Number Placeholder 3"/>
          <p:cNvSpPr>
            <a:spLocks noGrp="1"/>
          </p:cNvSpPr>
          <p:nvPr>
            <p:ph type="sldNum" idx="5" sz="quarter"/>
          </p:nvPr>
        </p:nvSpPr>
        <p:spPr/>
      </p:sp>
    </p:spTree>
  </p:cSld>
  <p:clrMapOvr>
    <a:masterClrMapping/>
  </p:clrMapOvr>
</p:notes>
</file>

<file path=ppt/notesSlides/notesSlide2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Figures  (3/4)</a:t>
            </a:r>
          </a:p>
        </p:txBody>
      </p:sp>
      <p:sp>
        <p:nvSpPr>
          <p:cNvPr id="4" name="Slide Number Placeholder 3"/>
          <p:cNvSpPr>
            <a:spLocks noGrp="1"/>
          </p:cNvSpPr>
          <p:nvPr>
            <p:ph type="sldNum" idx="5" sz="quarter"/>
          </p:nvPr>
        </p:nvSpPr>
        <p:spPr/>
      </p:sp>
    </p:spTree>
  </p:cSld>
  <p:clrMapOvr>
    <a:masterClrMapping/>
  </p:clrMapOvr>
</p:notes>
</file>

<file path=ppt/notesSlides/notesSlide2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Figures  (4/4)</a:t>
            </a:r>
          </a:p>
        </p:txBody>
      </p:sp>
      <p:sp>
        <p:nvSpPr>
          <p:cNvPr id="4" name="Slide Number Placeholder 3"/>
          <p:cNvSpPr>
            <a:spLocks noGrp="1"/>
          </p:cNvSpPr>
          <p:nvPr>
            <p:ph type="sldNum" idx="5" sz="quarter"/>
          </p:nvPr>
        </p:nvSpPr>
        <p:spPr/>
      </p:sp>
    </p:spTree>
  </p:cSld>
  <p:clrMapOvr>
    <a:masterClrMapping/>
  </p:clrMapOvr>
</p:notes>
</file>

<file path=ppt/notesSlides/notesSlide2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(1/5)</a:t>
            </a:r>
          </a:p>
        </p:txBody>
      </p:sp>
      <p:sp>
        <p:nvSpPr>
          <p:cNvPr id="4" name="Slide Number Placeholder 3"/>
          <p:cNvSpPr>
            <a:spLocks noGrp="1"/>
          </p:cNvSpPr>
          <p:nvPr>
            <p:ph type="sldNum" idx="5" sz="quarter"/>
          </p:nvPr>
        </p:nvSpPr>
        <p:spPr/>
      </p:sp>
    </p:spTree>
  </p:cSld>
  <p:clrMapOvr>
    <a:masterClrMapping/>
  </p:clrMapOvr>
</p:notes>
</file>

<file path=ppt/notesSlides/notesSlide2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(2/5)</a:t>
            </a:r>
          </a:p>
        </p:txBody>
      </p:sp>
      <p:sp>
        <p:nvSpPr>
          <p:cNvPr id="4" name="Slide Number Placeholder 3"/>
          <p:cNvSpPr>
            <a:spLocks noGrp="1"/>
          </p:cNvSpPr>
          <p:nvPr>
            <p:ph type="sldNum" idx="5" sz="quarter"/>
          </p:nvPr>
        </p:nvSpPr>
        <p:spPr/>
      </p:sp>
    </p:spTree>
  </p:cSld>
  <p:clrMapOvr>
    <a:masterClrMapping/>
  </p:clrMapOvr>
</p:notes>
</file>

<file path=ppt/notesSlides/notesSlide2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(3/5)</a:t>
            </a:r>
          </a:p>
        </p:txBody>
      </p:sp>
      <p:sp>
        <p:nvSpPr>
          <p:cNvPr id="4" name="Slide Number Placeholder 3"/>
          <p:cNvSpPr>
            <a:spLocks noGrp="1"/>
          </p:cNvSpPr>
          <p:nvPr>
            <p:ph type="sldNum" idx="5" sz="quarter"/>
          </p:nvPr>
        </p:nvSpPr>
        <p:spPr/>
      </p:sp>
    </p:spTree>
  </p:cSld>
  <p:clrMapOvr>
    <a:masterClrMapping/>
  </p:clrMapOvr>
</p:notes>
</file>

<file path=ppt/notesSlides/notesSlide2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(4/5)</a:t>
            </a:r>
          </a:p>
        </p:txBody>
      </p:sp>
      <p:sp>
        <p:nvSpPr>
          <p:cNvPr id="4" name="Slide Number Placeholder 3"/>
          <p:cNvSpPr>
            <a:spLocks noGrp="1"/>
          </p:cNvSpPr>
          <p:nvPr>
            <p:ph type="sldNum" idx="5" sz="quarter"/>
          </p:nvPr>
        </p:nvSpPr>
        <p:spPr/>
      </p:sp>
    </p:spTree>
  </p:cSld>
  <p:clrMapOvr>
    <a:masterClrMapping/>
  </p:clrMapOvr>
</p:notes>
</file>

<file path=ppt/notesSlides/notesSlide2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(5/5)</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BCAD085-E8A6-8845-BD4E-CB4CCA059FC4}" type="datetimeFigureOut">
              <a:rPr lang="en-US" smtClean="0"/>
              <a:t>1/27/13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BCAD085-E8A6-8845-BD4E-CB4CCA059FC4}" type="datetimeFigureOut">
              <a:rPr lang="en-US" smtClean="0"/>
              <a:t>1/27/13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1/27/13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1/27/13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slide" Target="slide3.xml"/><Relationship Id="rId4" Type="http://schemas.openxmlformats.org/officeDocument/2006/relationships/slide" Target="slide5.xml"/><Relationship Id="rId5" Type="http://schemas.openxmlformats.org/officeDocument/2006/relationships/slide" Target="slide6.xml"/><Relationship Id="rId6" Type="http://schemas.openxmlformats.org/officeDocument/2006/relationships/slide" Target="slide275.xml"/><Relationship Id="rId7" Type="http://schemas.openxmlformats.org/officeDocument/2006/relationships/slide" Target="slide285.xml"/><Relationship Id="rId8" Type="http://schemas.openxmlformats.org/officeDocument/2006/relationships/slide" Target="slide10.xml"/><Relationship Id="rId9" Type="http://schemas.openxmlformats.org/officeDocument/2006/relationships/slide" Target="slide11.xml"/><Relationship Id="rId10" Type="http://schemas.openxmlformats.org/officeDocument/2006/relationships/slide" Target="slide21.xml"/><Relationship Id="rId11" Type="http://schemas.openxmlformats.org/officeDocument/2006/relationships/slide" Target="slide29.xml"/><Relationship Id="rId12" Type="http://schemas.openxmlformats.org/officeDocument/2006/relationships/slide" Target="slide103.xml"/><Relationship Id="rId13" Type="http://schemas.openxmlformats.org/officeDocument/2006/relationships/slide" Target="slide105.xml"/><Relationship Id="rId14" Type="http://schemas.openxmlformats.org/officeDocument/2006/relationships/slide" Target="slide109.xml"/><Relationship Id="rId15" Type="http://schemas.openxmlformats.org/officeDocument/2006/relationships/slide" Target="slide244.xml"/><Relationship Id="rId16" Type="http://schemas.openxmlformats.org/officeDocument/2006/relationships/slide" Target="slide245.xml"/><Relationship Id="rId17" Type="http://schemas.openxmlformats.org/officeDocument/2006/relationships/slide" Target="slide256.xml"/><Relationship Id="rId18" Type="http://schemas.openxmlformats.org/officeDocument/2006/relationships/slide" Target="slide260.xml"/><Relationship Id="rId19" Type="http://schemas.openxmlformats.org/officeDocument/2006/relationships/slide" Target="slide26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xml"/><Relationship Id="rId4" Type="http://schemas.openxmlformats.org/officeDocument/2006/relationships/chart" Target="../charts/chart2.xml"/><Relationship Id="rId5" Type="http://schemas.openxmlformats.org/officeDocument/2006/relationships/notesSlide" Target="../notesSlides/notesSlide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xml"/><Relationship Id="rId4" Type="http://schemas.openxmlformats.org/officeDocument/2006/relationships/chart" Target="../charts/chart4.xml"/><Relationship Id="rId5" Type="http://schemas.openxmlformats.org/officeDocument/2006/relationships/notesSlide" Target="../notesSlides/notesSlide9.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xml"/><Relationship Id="rId4" Type="http://schemas.openxmlformats.org/officeDocument/2006/relationships/chart" Target="../charts/chart6.xml"/><Relationship Id="rId5" Type="http://schemas.openxmlformats.org/officeDocument/2006/relationships/notesSlide" Target="../notesSlides/notesSlide10.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xml"/><Relationship Id="rId4" Type="http://schemas.openxmlformats.org/officeDocument/2006/relationships/chart" Target="../charts/chart8.xml"/><Relationship Id="rId5" Type="http://schemas.openxmlformats.org/officeDocument/2006/relationships/notesSlide" Target="../notesSlides/notesSlide1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xml"/><Relationship Id="rId4" Type="http://schemas.openxmlformats.org/officeDocument/2006/relationships/notesSlide" Target="../notesSlides/notesSlide1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xml"/><Relationship Id="rId4" Type="http://schemas.openxmlformats.org/officeDocument/2006/relationships/notesSlide" Target="../notesSlides/notesSlide15.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xml"/><Relationship Id="rId4" Type="http://schemas.openxmlformats.org/officeDocument/2006/relationships/notesSlide" Target="../notesSlides/notesSlide1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xml"/><Relationship Id="rId4" Type="http://schemas.openxmlformats.org/officeDocument/2006/relationships/notesSlide" Target="../notesSlides/notesSlide18.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xml"/><Relationship Id="rId4" Type="http://schemas.openxmlformats.org/officeDocument/2006/relationships/chart" Target="../charts/chart14.xml"/><Relationship Id="rId5" Type="http://schemas.openxmlformats.org/officeDocument/2006/relationships/notesSlide" Target="../notesSlides/notesSlide2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xml"/><Relationship Id="rId4" Type="http://schemas.openxmlformats.org/officeDocument/2006/relationships/chart" Target="../charts/chart16.xml"/><Relationship Id="rId5" Type="http://schemas.openxmlformats.org/officeDocument/2006/relationships/notesSlide" Target="../notesSlides/notesSlide2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xml"/><Relationship Id="rId4" Type="http://schemas.openxmlformats.org/officeDocument/2006/relationships/chart" Target="../charts/chart18.xml"/><Relationship Id="rId5" Type="http://schemas.openxmlformats.org/officeDocument/2006/relationships/chart" Target="../charts/chart19.xml"/><Relationship Id="rId6" Type="http://schemas.openxmlformats.org/officeDocument/2006/relationships/chart" Target="../charts/chart20.xml"/><Relationship Id="rId7" Type="http://schemas.openxmlformats.org/officeDocument/2006/relationships/notesSlide" Target="../notesSlides/notesSlide25.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xml"/><Relationship Id="rId4" Type="http://schemas.openxmlformats.org/officeDocument/2006/relationships/notesSlide" Target="../notesSlides/notesSlide30.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xml"/><Relationship Id="rId4" Type="http://schemas.openxmlformats.org/officeDocument/2006/relationships/chart" Target="../charts/chart23.xml"/><Relationship Id="rId5" Type="http://schemas.openxmlformats.org/officeDocument/2006/relationships/notesSlide" Target="../notesSlides/notesSlide3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xml"/><Relationship Id="rId4" Type="http://schemas.openxmlformats.org/officeDocument/2006/relationships/chart" Target="../charts/chart25.xml"/><Relationship Id="rId5" Type="http://schemas.openxmlformats.org/officeDocument/2006/relationships/chart" Target="../charts/chart26.xml"/><Relationship Id="rId6" Type="http://schemas.openxmlformats.org/officeDocument/2006/relationships/chart" Target="../charts/chart27.xml"/><Relationship Id="rId7" Type="http://schemas.openxmlformats.org/officeDocument/2006/relationships/notesSlide" Target="../notesSlides/notesSlide38.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xml"/><Relationship Id="rId4" Type="http://schemas.openxmlformats.org/officeDocument/2006/relationships/chart" Target="../charts/chart29.xml"/><Relationship Id="rId5" Type="http://schemas.openxmlformats.org/officeDocument/2006/relationships/chart" Target="../charts/chart30.xml"/><Relationship Id="rId6" Type="http://schemas.openxmlformats.org/officeDocument/2006/relationships/chart" Target="../charts/chart31.xml"/><Relationship Id="rId7" Type="http://schemas.openxmlformats.org/officeDocument/2006/relationships/notesSlide" Target="../notesSlides/notesSlide39.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xml"/><Relationship Id="rId4" Type="http://schemas.openxmlformats.org/officeDocument/2006/relationships/chart" Target="../charts/chart33.xml"/><Relationship Id="rId5" Type="http://schemas.openxmlformats.org/officeDocument/2006/relationships/chart" Target="../charts/chart34.xml"/><Relationship Id="rId6" Type="http://schemas.openxmlformats.org/officeDocument/2006/relationships/notesSlide" Target="../notesSlides/notesSlide4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xml"/><Relationship Id="rId4" Type="http://schemas.openxmlformats.org/officeDocument/2006/relationships/notesSlide" Target="../notesSlides/notesSlide43.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xml"/><Relationship Id="rId4" Type="http://schemas.openxmlformats.org/officeDocument/2006/relationships/chart" Target="../charts/chart37.xml"/><Relationship Id="rId5" Type="http://schemas.openxmlformats.org/officeDocument/2006/relationships/notesSlide" Target="../notesSlides/notesSlide4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8.xml"/><Relationship Id="rId4" Type="http://schemas.openxmlformats.org/officeDocument/2006/relationships/chart" Target="../charts/chart39.xml"/><Relationship Id="rId5" Type="http://schemas.openxmlformats.org/officeDocument/2006/relationships/chart" Target="../charts/chart40.xml"/><Relationship Id="rId6" Type="http://schemas.openxmlformats.org/officeDocument/2006/relationships/chart" Target="../charts/chart41.xml"/><Relationship Id="rId7" Type="http://schemas.openxmlformats.org/officeDocument/2006/relationships/notesSlide" Target="../notesSlides/notesSlide4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2.xml"/><Relationship Id="rId4" Type="http://schemas.openxmlformats.org/officeDocument/2006/relationships/chart" Target="../charts/chart43.xml"/><Relationship Id="rId5" Type="http://schemas.openxmlformats.org/officeDocument/2006/relationships/chart" Target="../charts/chart44.xml"/><Relationship Id="rId6" Type="http://schemas.openxmlformats.org/officeDocument/2006/relationships/notesSlide" Target="../notesSlides/notesSlide5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5.xml"/><Relationship Id="rId4" Type="http://schemas.openxmlformats.org/officeDocument/2006/relationships/notesSlide" Target="../notesSlides/notesSlide5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0.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6.xml"/><Relationship Id="rId4" Type="http://schemas.openxmlformats.org/officeDocument/2006/relationships/chart" Target="../charts/chart47.xml"/><Relationship Id="rId5" Type="http://schemas.openxmlformats.org/officeDocument/2006/relationships/notesSlide" Target="../notesSlides/notesSlide6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8.xml"/><Relationship Id="rId4" Type="http://schemas.openxmlformats.org/officeDocument/2006/relationships/chart" Target="../charts/chart49.xml"/><Relationship Id="rId5" Type="http://schemas.openxmlformats.org/officeDocument/2006/relationships/chart" Target="../charts/chart50.xml"/><Relationship Id="rId6" Type="http://schemas.openxmlformats.org/officeDocument/2006/relationships/chart" Target="../charts/chart51.xml"/><Relationship Id="rId7" Type="http://schemas.openxmlformats.org/officeDocument/2006/relationships/notesSlide" Target="../notesSlides/notesSlide6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3.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2.xml"/><Relationship Id="rId4" Type="http://schemas.openxmlformats.org/officeDocument/2006/relationships/notesSlide" Target="../notesSlides/notesSlide65.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6.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8.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xml"/><Relationship Id="rId4" Type="http://schemas.openxmlformats.org/officeDocument/2006/relationships/chart" Target="../charts/chart54.xml"/><Relationship Id="rId5" Type="http://schemas.openxmlformats.org/officeDocument/2006/relationships/notesSlide" Target="../notesSlides/notesSlide69.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5.xml"/><Relationship Id="rId4" Type="http://schemas.openxmlformats.org/officeDocument/2006/relationships/chart" Target="../charts/chart56.xml"/><Relationship Id="rId5" Type="http://schemas.openxmlformats.org/officeDocument/2006/relationships/notesSlide" Target="../notesSlides/notesSlide70.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1.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4.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7.xml"/><Relationship Id="rId4" Type="http://schemas.openxmlformats.org/officeDocument/2006/relationships/notesSlide" Target="../notesSlides/notesSlide75.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6.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7.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8.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9.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0.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8.xml"/><Relationship Id="rId4" Type="http://schemas.openxmlformats.org/officeDocument/2006/relationships/chart" Target="../charts/chart59.xml"/><Relationship Id="rId5" Type="http://schemas.openxmlformats.org/officeDocument/2006/relationships/notesSlide" Target="../notesSlides/notesSlide81.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0.xml"/><Relationship Id="rId4" Type="http://schemas.openxmlformats.org/officeDocument/2006/relationships/chart" Target="../charts/chart61.xml"/><Relationship Id="rId5" Type="http://schemas.openxmlformats.org/officeDocument/2006/relationships/chart" Target="../charts/chart62.xml"/><Relationship Id="rId6" Type="http://schemas.openxmlformats.org/officeDocument/2006/relationships/chart" Target="../charts/chart63.xml"/><Relationship Id="rId7" Type="http://schemas.openxmlformats.org/officeDocument/2006/relationships/notesSlide" Target="../notesSlides/notesSlide8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3.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4.xml"/><Relationship Id="rId4" Type="http://schemas.openxmlformats.org/officeDocument/2006/relationships/notesSlide" Target="../notesSlides/notesSlide85.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6.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8.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5.xml"/><Relationship Id="rId4" Type="http://schemas.openxmlformats.org/officeDocument/2006/relationships/chart" Target="../charts/chart66.xml"/><Relationship Id="rId5" Type="http://schemas.openxmlformats.org/officeDocument/2006/relationships/chart" Target="../charts/chart67.xml"/><Relationship Id="rId6" Type="http://schemas.openxmlformats.org/officeDocument/2006/relationships/chart" Target="../charts/chart68.xml"/><Relationship Id="rId7" Type="http://schemas.openxmlformats.org/officeDocument/2006/relationships/notesSlide" Target="../notesSlides/notesSlide91.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9.xml"/><Relationship Id="rId4" Type="http://schemas.openxmlformats.org/officeDocument/2006/relationships/chart" Target="../charts/chart70.xml"/><Relationship Id="rId5" Type="http://schemas.openxmlformats.org/officeDocument/2006/relationships/chart" Target="../charts/chart71.xml"/><Relationship Id="rId6" Type="http://schemas.openxmlformats.org/officeDocument/2006/relationships/chart" Target="../charts/chart72.xml"/><Relationship Id="rId7" Type="http://schemas.openxmlformats.org/officeDocument/2006/relationships/notesSlide" Target="../notesSlides/notesSlide9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3.xml"/><Relationship Id="rId4" Type="http://schemas.openxmlformats.org/officeDocument/2006/relationships/chart" Target="../charts/chart74.xml"/><Relationship Id="rId5" Type="http://schemas.openxmlformats.org/officeDocument/2006/relationships/chart" Target="../charts/chart75.xml"/><Relationship Id="rId6" Type="http://schemas.openxmlformats.org/officeDocument/2006/relationships/chart" Target="../charts/chart76.xml"/><Relationship Id="rId7" Type="http://schemas.openxmlformats.org/officeDocument/2006/relationships/chart" Target="../charts/chart77.xml"/><Relationship Id="rId8" Type="http://schemas.openxmlformats.org/officeDocument/2006/relationships/chart" Target="../charts/chart78.xml"/><Relationship Id="rId9" Type="http://schemas.openxmlformats.org/officeDocument/2006/relationships/notesSlide" Target="../notesSlides/notesSlide93.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9.xml"/><Relationship Id="rId4" Type="http://schemas.openxmlformats.org/officeDocument/2006/relationships/chart" Target="../charts/chart80.xml"/><Relationship Id="rId5" Type="http://schemas.openxmlformats.org/officeDocument/2006/relationships/notesSlide" Target="../notesSlides/notesSlide9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5.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6.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1.xml"/><Relationship Id="rId4" Type="http://schemas.openxmlformats.org/officeDocument/2006/relationships/notesSlide" Target="../notesSlides/notesSlide99.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xml"/><Relationship Id="rId4" Type="http://schemas.openxmlformats.org/officeDocument/2006/relationships/notesSlide" Target="../notesSlides/notesSlide10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3.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3.xml"/><Relationship Id="rId4" Type="http://schemas.openxmlformats.org/officeDocument/2006/relationships/chart" Target="../charts/chart84.xml"/><Relationship Id="rId5" Type="http://schemas.openxmlformats.org/officeDocument/2006/relationships/notesSlide" Target="../notesSlides/notesSlide105.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6.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9.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5.xml"/><Relationship Id="rId4" Type="http://schemas.openxmlformats.org/officeDocument/2006/relationships/chart" Target="../charts/chart86.xml"/><Relationship Id="rId5" Type="http://schemas.openxmlformats.org/officeDocument/2006/relationships/notesSlide" Target="../notesSlides/notesSlide11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7.xml"/><Relationship Id="rId4" Type="http://schemas.openxmlformats.org/officeDocument/2006/relationships/chart" Target="../charts/chart88.xml"/><Relationship Id="rId5" Type="http://schemas.openxmlformats.org/officeDocument/2006/relationships/notesSlide" Target="../notesSlides/notesSlide113.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4.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5.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9.xml"/><Relationship Id="rId4" Type="http://schemas.openxmlformats.org/officeDocument/2006/relationships/chart" Target="../charts/chart90.xml"/><Relationship Id="rId5" Type="http://schemas.openxmlformats.org/officeDocument/2006/relationships/notesSlide" Target="../notesSlides/notesSlide118.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9.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0.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1.xml"/><Relationship Id="rId4" Type="http://schemas.openxmlformats.org/officeDocument/2006/relationships/chart" Target="../charts/chart92.xml"/><Relationship Id="rId5" Type="http://schemas.openxmlformats.org/officeDocument/2006/relationships/chart" Target="../charts/chart93.xml"/><Relationship Id="rId6" Type="http://schemas.openxmlformats.org/officeDocument/2006/relationships/chart" Target="../charts/chart94.xml"/><Relationship Id="rId7" Type="http://schemas.openxmlformats.org/officeDocument/2006/relationships/notesSlide" Target="../notesSlides/notesSlide123.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5.xml"/><Relationship Id="rId4" Type="http://schemas.openxmlformats.org/officeDocument/2006/relationships/chart" Target="../charts/chart96.xml"/><Relationship Id="rId5" Type="http://schemas.openxmlformats.org/officeDocument/2006/relationships/chart" Target="../charts/chart97.xml"/><Relationship Id="rId6" Type="http://schemas.openxmlformats.org/officeDocument/2006/relationships/chart" Target="../charts/chart98.xml"/><Relationship Id="rId7" Type="http://schemas.openxmlformats.org/officeDocument/2006/relationships/notesSlide" Target="../notesSlides/notesSlide124.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xml"/><Relationship Id="rId4" Type="http://schemas.openxmlformats.org/officeDocument/2006/relationships/chart" Target="../charts/chart100.xml"/><Relationship Id="rId5" Type="http://schemas.openxmlformats.org/officeDocument/2006/relationships/chart" Target="../charts/chart101.xml"/><Relationship Id="rId6" Type="http://schemas.openxmlformats.org/officeDocument/2006/relationships/chart" Target="../charts/chart102.xml"/><Relationship Id="rId7" Type="http://schemas.openxmlformats.org/officeDocument/2006/relationships/chart" Target="../charts/chart103.xml"/><Relationship Id="rId8" Type="http://schemas.openxmlformats.org/officeDocument/2006/relationships/chart" Target="../charts/chart104.xml"/><Relationship Id="rId9" Type="http://schemas.openxmlformats.org/officeDocument/2006/relationships/notesSlide" Target="../notesSlides/notesSlide125.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xml"/><Relationship Id="rId4" Type="http://schemas.openxmlformats.org/officeDocument/2006/relationships/chart" Target="../charts/chart106.xml"/><Relationship Id="rId5" Type="http://schemas.openxmlformats.org/officeDocument/2006/relationships/notesSlide" Target="../notesSlides/notesSlide126.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7.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9.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0.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7.xml"/><Relationship Id="rId4" Type="http://schemas.openxmlformats.org/officeDocument/2006/relationships/notesSlide" Target="../notesSlides/notesSlide131.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8.xml"/><Relationship Id="rId4" Type="http://schemas.openxmlformats.org/officeDocument/2006/relationships/notesSlide" Target="../notesSlides/notesSlide13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4.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5.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9.xml"/><Relationship Id="rId4" Type="http://schemas.openxmlformats.org/officeDocument/2006/relationships/chart" Target="../charts/chart110.xml"/><Relationship Id="rId5" Type="http://schemas.openxmlformats.org/officeDocument/2006/relationships/notesSlide" Target="../notesSlides/notesSlide137.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8.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0.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1.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xml"/><Relationship Id="rId4" Type="http://schemas.openxmlformats.org/officeDocument/2006/relationships/chart" Target="../charts/chart112.xml"/><Relationship Id="rId5" Type="http://schemas.openxmlformats.org/officeDocument/2006/relationships/notesSlide" Target="../notesSlides/notesSlide14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4.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3.xml"/><Relationship Id="rId4" Type="http://schemas.openxmlformats.org/officeDocument/2006/relationships/chart" Target="../charts/chart114.xml"/><Relationship Id="rId5" Type="http://schemas.openxmlformats.org/officeDocument/2006/relationships/notesSlide" Target="../notesSlides/notesSlide145.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6.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9.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5.xml"/><Relationship Id="rId4" Type="http://schemas.openxmlformats.org/officeDocument/2006/relationships/chart" Target="../charts/chart116.xml"/><Relationship Id="rId5" Type="http://schemas.openxmlformats.org/officeDocument/2006/relationships/notesSlide" Target="../notesSlides/notesSlide150.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1.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7.xml"/><Relationship Id="rId4" Type="http://schemas.openxmlformats.org/officeDocument/2006/relationships/chart" Target="../charts/chart118.xml"/><Relationship Id="rId5" Type="http://schemas.openxmlformats.org/officeDocument/2006/relationships/chart" Target="../charts/chart119.xml"/><Relationship Id="rId6" Type="http://schemas.openxmlformats.org/officeDocument/2006/relationships/chart" Target="../charts/chart120.xml"/><Relationship Id="rId7" Type="http://schemas.openxmlformats.org/officeDocument/2006/relationships/notesSlide" Target="../notesSlides/notesSlide155.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1.xml"/><Relationship Id="rId4" Type="http://schemas.openxmlformats.org/officeDocument/2006/relationships/chart" Target="../charts/chart122.xml"/><Relationship Id="rId5" Type="http://schemas.openxmlformats.org/officeDocument/2006/relationships/chart" Target="../charts/chart123.xml"/><Relationship Id="rId6" Type="http://schemas.openxmlformats.org/officeDocument/2006/relationships/chart" Target="../charts/chart124.xml"/><Relationship Id="rId7" Type="http://schemas.openxmlformats.org/officeDocument/2006/relationships/notesSlide" Target="../notesSlides/notesSlide156.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5.xml"/><Relationship Id="rId4" Type="http://schemas.openxmlformats.org/officeDocument/2006/relationships/chart" Target="../charts/chart126.xml"/><Relationship Id="rId5" Type="http://schemas.openxmlformats.org/officeDocument/2006/relationships/chart" Target="../charts/chart127.xml"/><Relationship Id="rId6" Type="http://schemas.openxmlformats.org/officeDocument/2006/relationships/chart" Target="../charts/chart128.xml"/><Relationship Id="rId7" Type="http://schemas.openxmlformats.org/officeDocument/2006/relationships/chart" Target="../charts/chart129.xml"/><Relationship Id="rId8" Type="http://schemas.openxmlformats.org/officeDocument/2006/relationships/chart" Target="../charts/chart130.xml"/><Relationship Id="rId9" Type="http://schemas.openxmlformats.org/officeDocument/2006/relationships/notesSlide" Target="../notesSlides/notesSlide157.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xml"/><Relationship Id="rId4" Type="http://schemas.openxmlformats.org/officeDocument/2006/relationships/chart" Target="../charts/chart132.xml"/><Relationship Id="rId5" Type="http://schemas.openxmlformats.org/officeDocument/2006/relationships/notesSlide" Target="../notesSlides/notesSlide158.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9.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0.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1.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2.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3.xml"/><Relationship Id="rId4" Type="http://schemas.openxmlformats.org/officeDocument/2006/relationships/notesSlide" Target="../notesSlides/notesSlide16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4.xml"/><Relationship Id="rId4" Type="http://schemas.openxmlformats.org/officeDocument/2006/relationships/notesSlide" Target="../notesSlides/notesSlide164.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7.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5.xml"/><Relationship Id="rId4" Type="http://schemas.openxmlformats.org/officeDocument/2006/relationships/chart" Target="../charts/chart136.xml"/><Relationship Id="rId5" Type="http://schemas.openxmlformats.org/officeDocument/2006/relationships/notesSlide" Target="../notesSlides/notesSlide169.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1.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7.xml"/><Relationship Id="rId4" Type="http://schemas.openxmlformats.org/officeDocument/2006/relationships/chart" Target="../charts/chart138.xml"/><Relationship Id="rId5" Type="http://schemas.openxmlformats.org/officeDocument/2006/relationships/notesSlide" Target="../notesSlides/notesSlide174.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5.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6.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9.xml"/><Relationship Id="rId4" Type="http://schemas.openxmlformats.org/officeDocument/2006/relationships/chart" Target="../charts/chart140.xml"/><Relationship Id="rId5" Type="http://schemas.openxmlformats.org/officeDocument/2006/relationships/notesSlide" Target="../notesSlides/notesSlide177.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8.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9.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0.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1.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1.xml"/><Relationship Id="rId4" Type="http://schemas.openxmlformats.org/officeDocument/2006/relationships/chart" Target="../charts/chart142.xml"/><Relationship Id="rId5" Type="http://schemas.openxmlformats.org/officeDocument/2006/relationships/notesSlide" Target="../notesSlides/notesSlide182.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3.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4.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5.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6.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3.xml"/><Relationship Id="rId4" Type="http://schemas.openxmlformats.org/officeDocument/2006/relationships/chart" Target="../charts/chart144.xml"/><Relationship Id="rId5" Type="http://schemas.openxmlformats.org/officeDocument/2006/relationships/chart" Target="../charts/chart145.xml"/><Relationship Id="rId6" Type="http://schemas.openxmlformats.org/officeDocument/2006/relationships/chart" Target="../charts/chart146.xml"/><Relationship Id="rId7" Type="http://schemas.openxmlformats.org/officeDocument/2006/relationships/notesSlide" Target="../notesSlides/notesSlide187.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7.xml"/><Relationship Id="rId4" Type="http://schemas.openxmlformats.org/officeDocument/2006/relationships/chart" Target="../charts/chart148.xml"/><Relationship Id="rId5" Type="http://schemas.openxmlformats.org/officeDocument/2006/relationships/chart" Target="../charts/chart149.xml"/><Relationship Id="rId6" Type="http://schemas.openxmlformats.org/officeDocument/2006/relationships/chart" Target="../charts/chart150.xml"/><Relationship Id="rId7" Type="http://schemas.openxmlformats.org/officeDocument/2006/relationships/notesSlide" Target="../notesSlides/notes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1.xml"/><Relationship Id="rId4" Type="http://schemas.openxmlformats.org/officeDocument/2006/relationships/chart" Target="../charts/chart152.xml"/><Relationship Id="rId5" Type="http://schemas.openxmlformats.org/officeDocument/2006/relationships/chart" Target="../charts/chart153.xml"/><Relationship Id="rId6" Type="http://schemas.openxmlformats.org/officeDocument/2006/relationships/chart" Target="../charts/chart154.xml"/><Relationship Id="rId7" Type="http://schemas.openxmlformats.org/officeDocument/2006/relationships/chart" Target="../charts/chart155.xml"/><Relationship Id="rId8" Type="http://schemas.openxmlformats.org/officeDocument/2006/relationships/chart" Target="../charts/chart156.xml"/><Relationship Id="rId9" Type="http://schemas.openxmlformats.org/officeDocument/2006/relationships/notesSlide" Target="../notesSlides/notesSlide189.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7.xml"/><Relationship Id="rId4" Type="http://schemas.openxmlformats.org/officeDocument/2006/relationships/chart" Target="../charts/chart158.xml"/><Relationship Id="rId5" Type="http://schemas.openxmlformats.org/officeDocument/2006/relationships/notesSlide" Target="../notesSlides/notesSlide190.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1.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2.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3.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4.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9.xml"/><Relationship Id="rId4" Type="http://schemas.openxmlformats.org/officeDocument/2006/relationships/notesSlide" Target="../notesSlides/notesSlide195.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0.xml"/><Relationship Id="rId4" Type="http://schemas.openxmlformats.org/officeDocument/2006/relationships/notesSlide" Target="../notesSlides/notesSlide196.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7.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9.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0.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1.xml"/><Relationship Id="rId4" Type="http://schemas.openxmlformats.org/officeDocument/2006/relationships/chart" Target="../charts/chart162.xml"/><Relationship Id="rId5" Type="http://schemas.openxmlformats.org/officeDocument/2006/relationships/notesSlide" Target="../notesSlides/notesSlide201.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2.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3.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4.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3.xml"/><Relationship Id="rId4" Type="http://schemas.openxmlformats.org/officeDocument/2006/relationships/chart" Target="../charts/chart164.xml"/><Relationship Id="rId5" Type="http://schemas.openxmlformats.org/officeDocument/2006/relationships/notesSlide" Target="../notesSlides/notesSlide206.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7.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8.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5.xml"/><Relationship Id="rId4" Type="http://schemas.openxmlformats.org/officeDocument/2006/relationships/chart" Target="../charts/chart166.xml"/><Relationship Id="rId5" Type="http://schemas.openxmlformats.org/officeDocument/2006/relationships/notesSlide" Target="../notesSlides/notesSlide20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0.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1.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2.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3.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7.xml"/><Relationship Id="rId4" Type="http://schemas.openxmlformats.org/officeDocument/2006/relationships/chart" Target="../charts/chart168.xml"/><Relationship Id="rId5" Type="http://schemas.openxmlformats.org/officeDocument/2006/relationships/notesSlide" Target="../notesSlides/notesSlide214.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5.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6.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7.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8.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0.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9.xml"/><Relationship Id="rId4" Type="http://schemas.openxmlformats.org/officeDocument/2006/relationships/chart" Target="../charts/chart170.xml"/><Relationship Id="rId5" Type="http://schemas.openxmlformats.org/officeDocument/2006/relationships/notesSlide" Target="../notesSlides/notesSlide221.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1.xml"/><Relationship Id="rId4" Type="http://schemas.openxmlformats.org/officeDocument/2006/relationships/notesSlide" Target="../notesSlides/notesSlide222.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3.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4.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5.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6.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7.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8.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9.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0.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1.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2.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3.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4.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5.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6.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7.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8.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9.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0.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1.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2.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3.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4.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5.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6.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8.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9.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0.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1.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2.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3.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4.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5.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8F8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Oval 2"/>
          <p:cNvSpPr/>
          <p:nvPr/>
        </p:nvSpPr>
        <p:spPr>
          <a:xfrm>
            <a:off x="-1905000" y="4476750"/>
            <a:ext cx="5334000" cy="5334000"/>
          </a:xfrm>
          <a:prstGeom prst="ellipse">
            <a:avLst/>
          </a:prstGeom>
          <a:solidFill>
            <a:srgbClr val="EAF6FB">
              <a:alpha val="4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Oval 3"/>
          <p:cNvSpPr/>
          <p:nvPr/>
        </p:nvSpPr>
        <p:spPr>
          <a:xfrm>
            <a:off x="8001000" y="-2000250"/>
            <a:ext cx="5334000" cy="533400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Oval 4"/>
          <p:cNvSpPr/>
          <p:nvPr/>
        </p:nvSpPr>
        <p:spPr>
          <a:xfrm>
            <a:off x="8715375" y="-1285875"/>
            <a:ext cx="3905250" cy="39052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Oval 5"/>
          <p:cNvSpPr/>
          <p:nvPr/>
        </p:nvSpPr>
        <p:spPr>
          <a:xfrm>
            <a:off x="9382125" y="-619125"/>
            <a:ext cx="2571750" cy="25717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Oval 6"/>
          <p:cNvSpPr/>
          <p:nvPr/>
        </p:nvSpPr>
        <p:spPr>
          <a:xfrm>
            <a:off x="10096500" y="95250"/>
            <a:ext cx="1143000" cy="1143000"/>
          </a:xfrm>
          <a:prstGeom prst="ellipse">
            <a:avLst/>
          </a:prstGeom>
          <a:solidFill>
            <a:srgbClr val="EAF6FB">
              <a:alpha val="22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 name="Rounded Rectangle 7"/>
          <p:cNvSpPr/>
          <p:nvPr/>
        </p:nvSpPr>
        <p:spPr>
          <a:xfrm>
            <a:off x="9010650" y="5848350"/>
            <a:ext cx="228600" cy="2476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 name="Rounded Rectangle 8"/>
          <p:cNvSpPr/>
          <p:nvPr/>
        </p:nvSpPr>
        <p:spPr>
          <a:xfrm>
            <a:off x="9391650" y="5676900"/>
            <a:ext cx="228600" cy="4191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 name="Rounded Rectangle 9"/>
          <p:cNvSpPr/>
          <p:nvPr/>
        </p:nvSpPr>
        <p:spPr>
          <a:xfrm>
            <a:off x="9772650" y="5772150"/>
            <a:ext cx="228600" cy="3238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ounded Rectangle 10"/>
          <p:cNvSpPr/>
          <p:nvPr/>
        </p:nvSpPr>
        <p:spPr>
          <a:xfrm>
            <a:off x="10153650" y="5524500"/>
            <a:ext cx="228600" cy="5715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ounded Rectangle 11"/>
          <p:cNvSpPr/>
          <p:nvPr/>
        </p:nvSpPr>
        <p:spPr>
          <a:xfrm>
            <a:off x="10534650" y="5314950"/>
            <a:ext cx="228600" cy="7810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ounded Rectangle 12"/>
          <p:cNvSpPr/>
          <p:nvPr/>
        </p:nvSpPr>
        <p:spPr>
          <a:xfrm>
            <a:off x="10915650" y="5600700"/>
            <a:ext cx="228600" cy="4953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ounded Rectangle 13"/>
          <p:cNvSpPr/>
          <p:nvPr/>
        </p:nvSpPr>
        <p:spPr>
          <a:xfrm>
            <a:off x="11296650" y="5181600"/>
            <a:ext cx="228600" cy="9144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15" name="Picture 14" descr="fmi_logo_template.png"/>
          <p:cNvPicPr>
            <a:picLocks noChangeAspect="1"/>
          </p:cNvPicPr>
          <p:nvPr/>
        </p:nvPicPr>
        <p:blipFill>
          <a:blip r:embed="rId2"/>
          <a:stretch>
            <a:fillRect/>
          </a:stretch>
        </p:blipFill>
        <p:spPr>
          <a:xfrm>
            <a:off x="914400" y="381000"/>
            <a:ext cx="1307592" cy="1325880"/>
          </a:xfrm>
          <a:prstGeom prst="rect">
            <a:avLst/>
          </a:prstGeom>
        </p:spPr>
      </p:pic>
      <p:sp>
        <p:nvSpPr>
          <p:cNvPr id="16" name="TextBox 15"/>
          <p:cNvSpPr txBox="1"/>
          <p:nvPr/>
        </p:nvSpPr>
        <p:spPr>
          <a:xfrm>
            <a:off x="1143000" y="2667000"/>
            <a:ext cx="9334500" cy="1809750"/>
          </a:xfrm>
          <a:prstGeom prst="rect">
            <a:avLst/>
          </a:prstGeom>
          <a:noFill/>
        </p:spPr>
        <p:txBody>
          <a:bodyPr wrap="square" lIns="28575" rIns="28575" tIns="9525" bIns="9525" anchor="ctr">
            <a:spAutoFit/>
          </a:bodyPr>
          <a:lstStyle/>
          <a:p>
            <a:pPr algn="l"/>
            <a:r>
              <a:rPr sz="3400" b="1">
                <a:solidFill>
                  <a:srgbClr val="0B2E4A"/>
                </a:solidFill>
                <a:latin typeface="Calibri"/>
              </a:rPr>
              <a:t>Latin America Flexible Plastic Packaging Market</a:t>
            </a:r>
          </a:p>
        </p:txBody>
      </p:sp>
      <p:sp>
        <p:nvSpPr>
          <p:cNvPr id="17" name="TextBox 16"/>
          <p:cNvSpPr txBox="1"/>
          <p:nvPr/>
        </p:nvSpPr>
        <p:spPr>
          <a:xfrm>
            <a:off x="1162050" y="4686300"/>
            <a:ext cx="9334500" cy="857250"/>
          </a:xfrm>
          <a:prstGeom prst="rect">
            <a:avLst/>
          </a:prstGeom>
          <a:noFill/>
        </p:spPr>
        <p:txBody>
          <a:bodyPr wrap="square" lIns="28575" rIns="28575" tIns="9525" bIns="9525">
            <a:spAutoFit/>
          </a:bodyPr>
          <a:lstStyle/>
          <a:p>
            <a:pPr algn="l"/>
            <a:r>
              <a:rPr sz="1600" b="0">
                <a:solidFill>
                  <a:srgbClr val="6C7A89"/>
                </a:solidFill>
                <a:latin typeface="Calibri"/>
              </a:rPr>
              <a:t>Value (US$ Mn) and Volume (Thousand MT) Analysis and Forecast, 2021–2036</a:t>
            </a:r>
          </a:p>
          <a:p>
            <a:pPr algn="l"/>
            <a:r>
              <a:rPr sz="1100" b="0">
                <a:solidFill>
                  <a:srgbClr val="8FCBE6"/>
                </a:solidFill>
                <a:latin typeface="Calibri"/>
              </a:rPr>
              <a:t>Region focus: Latin America   ·   Country focus: Brazil   ·   Generated 08 Oct 2026   ·   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Agenda</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Storyline of the report by section · click a section card to jump to it</a:t>
            </a:r>
          </a:p>
        </p:txBody>
      </p:sp>
      <p:sp>
        <p:nvSpPr>
          <p:cNvPr id="10" name="Rounded Rectangle 9">
            <a:hlinkClick action="ppaction://hlinksldjump" r:id="rId3"/>
          </p:cNvPr>
          <p:cNvSpPr/>
          <p:nvPr/>
        </p:nvSpPr>
        <p:spPr>
          <a:xfrm>
            <a:off x="314325" y="1135037"/>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 Market Signals</a:t>
            </a:r>
          </a:p>
        </p:txBody>
      </p:sp>
      <p:sp>
        <p:nvSpPr>
          <p:cNvPr id="11" name="Rounded Rectangle 10">
            <a:hlinkClick action="ppaction://hlinksldjump" r:id="rId4"/>
          </p:cNvPr>
          <p:cNvSpPr/>
          <p:nvPr/>
        </p:nvSpPr>
        <p:spPr>
          <a:xfrm>
            <a:off x="142875" y="1719155"/>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Overview</a:t>
            </a:r>
          </a:p>
        </p:txBody>
      </p:sp>
      <p:sp>
        <p:nvSpPr>
          <p:cNvPr id="12" name="Rounded Rectangle 11">
            <a:hlinkClick action="ppaction://hlinksldjump" r:id="rId5"/>
          </p:cNvPr>
          <p:cNvSpPr/>
          <p:nvPr/>
        </p:nvSpPr>
        <p:spPr>
          <a:xfrm>
            <a:off x="314325" y="2285020"/>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 Market Taxonomy</a:t>
            </a:r>
          </a:p>
        </p:txBody>
      </p:sp>
      <p:sp>
        <p:nvSpPr>
          <p:cNvPr id="13" name="Rounded Rectangle 12">
            <a:hlinkClick action="ppaction://hlinksldjump" r:id="rId6"/>
          </p:cNvPr>
          <p:cNvSpPr/>
          <p:nvPr/>
        </p:nvSpPr>
        <p:spPr>
          <a:xfrm>
            <a:off x="314325" y="2869138"/>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 Table of Contents</a:t>
            </a:r>
          </a:p>
        </p:txBody>
      </p:sp>
      <p:sp>
        <p:nvSpPr>
          <p:cNvPr id="14" name="Rounded Rectangle 13">
            <a:hlinkClick action="ppaction://hlinksldjump" r:id="rId7"/>
          </p:cNvPr>
          <p:cNvSpPr/>
          <p:nvPr/>
        </p:nvSpPr>
        <p:spPr>
          <a:xfrm>
            <a:off x="314325" y="3453257"/>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4. List of Figures, List of Tables</a:t>
            </a:r>
          </a:p>
        </p:txBody>
      </p:sp>
      <p:sp>
        <p:nvSpPr>
          <p:cNvPr id="15" name="Rounded Rectangle 14">
            <a:hlinkClick action="ppaction://hlinksldjump" r:id="rId8"/>
          </p:cNvPr>
          <p:cNvSpPr/>
          <p:nvPr/>
        </p:nvSpPr>
        <p:spPr>
          <a:xfrm>
            <a:off x="142875" y="4037375"/>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Latin America Market Outlook</a:t>
            </a:r>
          </a:p>
        </p:txBody>
      </p:sp>
      <p:sp>
        <p:nvSpPr>
          <p:cNvPr id="16" name="Rounded Rectangle 15">
            <a:hlinkClick action="ppaction://hlinksldjump" r:id="rId9"/>
          </p:cNvPr>
          <p:cNvSpPr/>
          <p:nvPr/>
        </p:nvSpPr>
        <p:spPr>
          <a:xfrm>
            <a:off x="314325" y="4603240"/>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5. Latin America Overview</a:t>
            </a:r>
          </a:p>
        </p:txBody>
      </p:sp>
      <p:sp>
        <p:nvSpPr>
          <p:cNvPr id="17" name="Rounded Rectangle 16">
            <a:hlinkClick action="ppaction://hlinksldjump" r:id="rId10"/>
          </p:cNvPr>
          <p:cNvSpPr/>
          <p:nvPr/>
        </p:nvSpPr>
        <p:spPr>
          <a:xfrm>
            <a:off x="314325" y="5187358"/>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6. Latin America Market Analysis By Country</a:t>
            </a:r>
          </a:p>
        </p:txBody>
      </p:sp>
      <p:sp>
        <p:nvSpPr>
          <p:cNvPr id="18" name="Rounded Rectangle 17">
            <a:hlinkClick action="ppaction://hlinksldjump" r:id="rId11"/>
          </p:cNvPr>
          <p:cNvSpPr/>
          <p:nvPr/>
        </p:nvSpPr>
        <p:spPr>
          <a:xfrm>
            <a:off x="314325" y="5771476"/>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7. Latin America Market Analysis By Segments</a:t>
            </a:r>
          </a:p>
        </p:txBody>
      </p:sp>
      <p:sp>
        <p:nvSpPr>
          <p:cNvPr id="19" name="Rounded Rectangle 18">
            <a:hlinkClick action="ppaction://hlinksldjump" r:id="rId12"/>
          </p:cNvPr>
          <p:cNvSpPr/>
          <p:nvPr/>
        </p:nvSpPr>
        <p:spPr>
          <a:xfrm>
            <a:off x="6219825" y="1135037"/>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Country Market Outlook</a:t>
            </a:r>
          </a:p>
        </p:txBody>
      </p:sp>
      <p:sp>
        <p:nvSpPr>
          <p:cNvPr id="20" name="Rounded Rectangle 19">
            <a:hlinkClick action="ppaction://hlinksldjump" r:id="rId13"/>
          </p:cNvPr>
          <p:cNvSpPr/>
          <p:nvPr/>
        </p:nvSpPr>
        <p:spPr>
          <a:xfrm>
            <a:off x="6391275" y="1700902"/>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8. Flexible Plastic Packaging Market Overview (Volume &amp; Value)</a:t>
            </a:r>
          </a:p>
        </p:txBody>
      </p:sp>
      <p:sp>
        <p:nvSpPr>
          <p:cNvPr id="21" name="Rounded Rectangle 20">
            <a:hlinkClick action="ppaction://hlinksldjump" r:id="rId14"/>
          </p:cNvPr>
          <p:cNvSpPr/>
          <p:nvPr/>
        </p:nvSpPr>
        <p:spPr>
          <a:xfrm>
            <a:off x="6391275" y="2285020"/>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9. Segment Overview (Volume &amp; Value)</a:t>
            </a:r>
          </a:p>
        </p:txBody>
      </p:sp>
      <p:sp>
        <p:nvSpPr>
          <p:cNvPr id="22" name="Rounded Rectangle 21">
            <a:hlinkClick action="ppaction://hlinksldjump" r:id="rId15"/>
          </p:cNvPr>
          <p:cNvSpPr/>
          <p:nvPr/>
        </p:nvSpPr>
        <p:spPr>
          <a:xfrm>
            <a:off x="6219825" y="2869138"/>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Pricing Assessment</a:t>
            </a:r>
          </a:p>
        </p:txBody>
      </p:sp>
      <p:sp>
        <p:nvSpPr>
          <p:cNvPr id="23" name="Rounded Rectangle 22">
            <a:hlinkClick action="ppaction://hlinksldjump" r:id="rId16"/>
          </p:cNvPr>
          <p:cNvSpPr/>
          <p:nvPr/>
        </p:nvSpPr>
        <p:spPr>
          <a:xfrm>
            <a:off x="6391275" y="3435003"/>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10. Flexible Plastic Packaging Market Pricing Analysis</a:t>
            </a:r>
          </a:p>
        </p:txBody>
      </p:sp>
      <p:sp>
        <p:nvSpPr>
          <p:cNvPr id="24" name="Rounded Rectangle 23">
            <a:hlinkClick action="ppaction://hlinksldjump" r:id="rId17"/>
          </p:cNvPr>
          <p:cNvSpPr/>
          <p:nvPr/>
        </p:nvSpPr>
        <p:spPr>
          <a:xfrm>
            <a:off x="6391275" y="4019121"/>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11. Supply Chain Analysis</a:t>
            </a:r>
          </a:p>
        </p:txBody>
      </p:sp>
      <p:sp>
        <p:nvSpPr>
          <p:cNvPr id="25" name="Rounded Rectangle 24">
            <a:hlinkClick action="ppaction://hlinksldjump" r:id="rId18"/>
          </p:cNvPr>
          <p:cNvSpPr/>
          <p:nvPr/>
        </p:nvSpPr>
        <p:spPr>
          <a:xfrm>
            <a:off x="6219825" y="4603240"/>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Dynamics</a:t>
            </a:r>
          </a:p>
        </p:txBody>
      </p:sp>
      <p:sp>
        <p:nvSpPr>
          <p:cNvPr id="26" name="Rounded Rectangle 25">
            <a:hlinkClick action="ppaction://hlinksldjump" r:id="rId19"/>
          </p:cNvPr>
          <p:cNvSpPr/>
          <p:nvPr/>
        </p:nvSpPr>
        <p:spPr>
          <a:xfrm>
            <a:off x="6391275" y="5169104"/>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12. Market Dynamics &amp; Forces</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Market Signals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Signals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Signals Reshaping Flexible Plastic Packaging Demand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Signals reshaping Flexible Plastic Packaging demand, the evidence behind each and what it implies for the Latin America…</a:t>
            </a:r>
          </a:p>
        </p:txBody>
      </p:sp>
      <p:graphicFrame>
        <p:nvGraphicFramePr>
          <p:cNvPr id="10" name="Table 9"/>
          <p:cNvGraphicFramePr>
            <a:graphicFrameLocks noGrp="1"/>
          </p:cNvGraphicFramePr>
          <p:nvPr/>
        </p:nvGraphicFramePr>
        <p:xfrm>
          <a:off x="142875" y="1062022"/>
          <a:ext cx="11906250" cy="5549125"/>
        </p:xfrm>
        <a:graphic>
          <a:graphicData uri="http://schemas.openxmlformats.org/drawingml/2006/table">
            <a:tbl>
              <a:tblPr>
                <a:tableStyleId>{5C22544A-7EE6-4342-B048-85BDC9FD1C3A}</a:tableStyleId>
              </a:tblPr>
              <a:tblGrid>
                <a:gridCol w="3571875"/>
                <a:gridCol w="5000625"/>
                <a:gridCol w="3333750"/>
              </a:tblGrid>
              <a:tr h="346820">
                <a:tc>
                  <a:txBody>
                    <a:bodyPr wrap="square"/>
                    <a:lstStyle/>
                    <a:p>
                      <a:pPr algn="l"/>
                      <a:r>
                        <a:rPr sz="1100" b="1">
                          <a:solidFill>
                            <a:srgbClr val="0B2E4A"/>
                          </a:solidFill>
                          <a:latin typeface="Calibri"/>
                        </a:rPr>
                        <a:t>QUESTIONS WE'RE HEARING</a:t>
                      </a:r>
                    </a:p>
                  </a:txBody>
                  <a:tcPr marL="70000" marR="70000" marT="45000" marB="45000" anchor="ctr">
                    <a:solidFill>
                      <a:srgbClr val="EAF1F8"/>
                    </a:solidFill>
                  </a:tcPr>
                </a:tc>
                <a:tc>
                  <a:txBody>
                    <a:bodyPr wrap="square"/>
                    <a:lstStyle/>
                    <a:p>
                      <a:pPr algn="l"/>
                      <a:r>
                        <a:rPr sz="1100" b="1">
                          <a:solidFill>
                            <a:srgbClr val="0B2E4A"/>
                          </a:solidFill>
                          <a:latin typeface="Calibri"/>
                        </a:rPr>
                        <a:t>WHAT WE'RE OBSERVING</a:t>
                      </a:r>
                    </a:p>
                  </a:txBody>
                  <a:tcPr marL="70000" marR="70000" marT="45000" marB="45000" anchor="ctr">
                    <a:solidFill>
                      <a:srgbClr val="EAF1F8"/>
                    </a:solidFill>
                  </a:tcPr>
                </a:tc>
                <a:tc>
                  <a:txBody>
                    <a:bodyPr wrap="square"/>
                    <a:lstStyle/>
                    <a:p>
                      <a:pPr algn="l"/>
                      <a:r>
                        <a:rPr sz="1100" b="1">
                          <a:solidFill>
                            <a:srgbClr val="0B2E4A"/>
                          </a:solidFill>
                          <a:latin typeface="Calibri"/>
                        </a:rPr>
                        <a:t>SELECT DATA POINTS</a:t>
                      </a:r>
                    </a:p>
                  </a:txBody>
                  <a:tcPr marL="70000" marR="70000" marT="45000" marB="45000" anchor="ctr">
                    <a:solidFill>
                      <a:srgbClr val="EAF1F8"/>
                    </a:solidFill>
                  </a:tcPr>
                </a:tc>
              </a:tr>
              <a:tr h="1040461">
                <a:tc>
                  <a:txBody>
                    <a:bodyPr wrap="square"/>
                    <a:lstStyle/>
                    <a:p>
                      <a:pPr algn="l"/>
                      <a:r>
                        <a:rPr sz="1100" b="1">
                          <a:solidFill>
                            <a:srgbClr val="0B2E4A"/>
                          </a:solidFill>
                          <a:latin typeface="Calibri"/>
                        </a:rPr>
                        <a:t>How fast is Flexible Plastic Packaging demand set to grow through 2036?</a:t>
                      </a:r>
                    </a:p>
                  </a:txBody>
                  <a:tcPr marL="70000" marR="70000" marT="45000" marB="45000" anchor="ctr">
                    <a:solidFill>
                      <a:srgbClr val="FFFFFF"/>
                    </a:solidFill>
                  </a:tcPr>
                </a:tc>
                <a:tc>
                  <a:txBody>
                    <a:bodyPr wrap="square"/>
                    <a:lstStyle/>
                    <a:p>
                      <a:pPr algn="l"/>
                      <a:r>
                        <a:rPr sz="1100" b="0">
                          <a:solidFill>
                            <a:srgbClr val="2E2E2E"/>
                          </a:solidFill>
                          <a:latin typeface="Calibri"/>
                        </a:rPr>
                        <a:t>Latin America demand expands at a 6.6% forecast CAGR (2026–2036), accelerating from 4.5% across 2021–2025.</a:t>
                      </a:r>
                    </a:p>
                  </a:txBody>
                  <a:tcPr marL="70000" marR="70000" marT="45000" marB="45000" anchor="ctr">
                    <a:solidFill>
                      <a:srgbClr val="FFFFFF"/>
                    </a:solidFill>
                  </a:tcPr>
                </a:tc>
                <a:tc>
                  <a:txBody>
                    <a:bodyPr wrap="square"/>
                    <a:lstStyle/>
                    <a:p>
                      <a:pPr algn="l"/>
                      <a:r>
                        <a:rPr sz="1100" b="0">
                          <a:solidFill>
                            <a:srgbClr val="2E2E2E"/>
                          </a:solidFill>
                          <a:latin typeface="Calibri"/>
                        </a:rPr>
                        <a:t>127,346 → 240,208 US$ Mn  ·  CAGR 6.6%</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product type categories are buyers prioritising?</a:t>
                      </a:r>
                    </a:p>
                  </a:txBody>
                  <a:tcPr marL="70000" marR="70000" marT="45000" marB="45000" anchor="ctr">
                    <a:solidFill>
                      <a:srgbClr val="F6F9FC"/>
                    </a:solidFill>
                  </a:tcPr>
                </a:tc>
                <a:tc>
                  <a:txBody>
                    <a:bodyPr wrap="square"/>
                    <a:lstStyle/>
                    <a:p>
                      <a:pPr algn="l"/>
                      <a:r>
                        <a:rPr sz="1100" b="0">
                          <a:solidFill>
                            <a:srgbClr val="2E2E2E"/>
                          </a:solidFill>
                          <a:latin typeface="Calibri"/>
                        </a:rPr>
                        <a:t>Rollstock Films leads Product Type, at 53.6% of 2036 value, within a mix of 4 tracked categories.</a:t>
                      </a:r>
                    </a:p>
                  </a:txBody>
                  <a:tcPr marL="70000" marR="70000" marT="45000" marB="45000" anchor="ctr">
                    <a:solidFill>
                      <a:srgbClr val="F6F9FC"/>
                    </a:solidFill>
                  </a:tcPr>
                </a:tc>
                <a:tc>
                  <a:txBody>
                    <a:bodyPr wrap="square"/>
                    <a:lstStyle/>
                    <a:p>
                      <a:pPr algn="l"/>
                      <a:r>
                        <a:rPr sz="1100" b="0">
                          <a:solidFill>
                            <a:srgbClr val="2E2E2E"/>
                          </a:solidFill>
                          <a:latin typeface="Calibri"/>
                        </a:rPr>
                        <a:t>Lead: Rollstock Films  ·  53.6% share (2036)</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is incremental demand concentrating?</a:t>
                      </a:r>
                    </a:p>
                  </a:txBody>
                  <a:tcPr marL="70000" marR="70000" marT="45000" marB="45000" anchor="ctr">
                    <a:solidFill>
                      <a:srgbClr val="FFFFFF"/>
                    </a:solidFill>
                  </a:tcPr>
                </a:tc>
                <a:tc>
                  <a:txBody>
                    <a:bodyPr wrap="square"/>
                    <a:lstStyle/>
                    <a:p>
                      <a:pPr algn="l"/>
                      <a:r>
                        <a:rPr sz="1100" b="0">
                          <a:solidFill>
                            <a:srgbClr val="2E2E2E"/>
                          </a:solidFill>
                          <a:latin typeface="Calibri"/>
                        </a:rPr>
                        <a:t>Food Packaging is the fastest-growing part of Application, at a 6.6% forecast CAGR outpacing the wider market.</a:t>
                      </a:r>
                    </a:p>
                  </a:txBody>
                  <a:tcPr marL="70000" marR="70000" marT="45000" marB="45000" anchor="ctr">
                    <a:solidFill>
                      <a:srgbClr val="FFFFFF"/>
                    </a:solidFill>
                  </a:tcPr>
                </a:tc>
                <a:tc>
                  <a:txBody>
                    <a:bodyPr wrap="square"/>
                    <a:lstStyle/>
                    <a:p>
                      <a:pPr algn="l"/>
                      <a:r>
                        <a:rPr sz="1100" b="0">
                          <a:solidFill>
                            <a:srgbClr val="2E2E2E"/>
                          </a:solidFill>
                          <a:latin typeface="Calibri"/>
                        </a:rPr>
                        <a:t>Fastest: Food Packaging  ·  6.6% F-CAGR</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regions will drive the next wave of Flexible Plastic Packaging demand?</a:t>
                      </a:r>
                    </a:p>
                  </a:txBody>
                  <a:tcPr marL="70000" marR="70000" marT="45000" marB="45000" anchor="ctr">
                    <a:solidFill>
                      <a:srgbClr val="F6F9FC"/>
                    </a:solidFill>
                  </a:tcPr>
                </a:tc>
                <a:tc>
                  <a:txBody>
                    <a:bodyPr wrap="square"/>
                    <a:lstStyle/>
                    <a:p>
                      <a:pPr algn="l"/>
                      <a:r>
                        <a:rPr sz="1100" b="0">
                          <a:solidFill>
                            <a:srgbClr val="2E2E2E"/>
                          </a:solidFill>
                          <a:latin typeface="Calibri"/>
                        </a:rPr>
                        <a:t>East Asia is the largest regional market (26.5% of 2036 value), while Middle East &amp; Africa grows fastest at 8.3%.</a:t>
                      </a:r>
                    </a:p>
                  </a:txBody>
                  <a:tcPr marL="70000" marR="70000" marT="45000" marB="45000" anchor="ctr">
                    <a:solidFill>
                      <a:srgbClr val="F6F9FC"/>
                    </a:solidFill>
                  </a:tcPr>
                </a:tc>
                <a:tc>
                  <a:txBody>
                    <a:bodyPr wrap="square"/>
                    <a:lstStyle/>
                    <a:p>
                      <a:pPr algn="l"/>
                      <a:r>
                        <a:rPr sz="1100" b="0">
                          <a:solidFill>
                            <a:srgbClr val="2E2E2E"/>
                          </a:solidFill>
                          <a:latin typeface="Calibri"/>
                        </a:rPr>
                        <a:t>Largest: East Asia (26.5%)  ·  Fastest: Middle East &amp; Africa (8.3%)</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should suppliers focus investment?</a:t>
                      </a:r>
                    </a:p>
                  </a:txBody>
                  <a:tcPr marL="70000" marR="70000" marT="45000" marB="45000" anchor="ctr">
                    <a:solidFill>
                      <a:srgbClr val="FFFFFF"/>
                    </a:solidFill>
                  </a:tcPr>
                </a:tc>
                <a:tc>
                  <a:txBody>
                    <a:bodyPr wrap="square"/>
                    <a:lstStyle/>
                    <a:p>
                      <a:pPr algn="l"/>
                      <a:r>
                        <a:rPr sz="1100" b="0">
                          <a:solidFill>
                            <a:srgbClr val="2E2E2E"/>
                          </a:solidFill>
                          <a:latin typeface="Calibri"/>
                        </a:rPr>
                        <a:t>An incremental 112,862 US$ Mn of demand is added between 2026 and 2036, front-loaded in the leading categories and regions above.</a:t>
                      </a:r>
                    </a:p>
                  </a:txBody>
                  <a:tcPr marL="70000" marR="70000" marT="45000" marB="45000" anchor="ctr">
                    <a:solidFill>
                      <a:srgbClr val="FFFFFF"/>
                    </a:solidFill>
                  </a:tcPr>
                </a:tc>
                <a:tc>
                  <a:txBody>
                    <a:bodyPr wrap="square"/>
                    <a:lstStyle/>
                    <a:p>
                      <a:pPr algn="l"/>
                      <a:r>
                        <a:rPr sz="1100" b="0">
                          <a:solidFill>
                            <a:srgbClr val="2E2E2E"/>
                          </a:solidFill>
                          <a:latin typeface="Calibri"/>
                        </a:rPr>
                        <a:t>$ opportunity 112,862 US$ Mn (2026–2036)  ·  44,547 by 2031</a:t>
                      </a:r>
                    </a:p>
                  </a:txBody>
                  <a:tcPr marL="70000" marR="70000" marT="45000" marB="45000" anchor="ctr">
                    <a:solidFill>
                      <a:srgbClr val="FFFFFF"/>
                    </a:solidFill>
                  </a:tcP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Market Overview</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Taxonomy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Table of Contents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List of Figures, List of Tables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Market Taxonomy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Geographic Coverage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Segments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Coverage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Regions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Geographic scope of the study: the Latin America market broken into 4 countries and the countries assessed under each</a:t>
            </a:r>
          </a:p>
        </p:txBody>
      </p:sp>
      <p:cxnSp>
        <p:nvCxnSpPr>
          <p:cNvPr id="10" name="Connector 9"/>
          <p:cNvCxnSpPr/>
          <p:nvPr/>
        </p:nvCxnSpPr>
        <p:spPr>
          <a:xfrm>
            <a:off x="6096000" y="1682648"/>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1" name="Connector 10"/>
          <p:cNvCxnSpPr/>
          <p:nvPr/>
        </p:nvCxnSpPr>
        <p:spPr>
          <a:xfrm>
            <a:off x="1085850" y="1846931"/>
            <a:ext cx="10010775" cy="0"/>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108585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3" name="Connector 12"/>
          <p:cNvCxnSpPr/>
          <p:nvPr/>
        </p:nvCxnSpPr>
        <p:spPr>
          <a:xfrm>
            <a:off x="308610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508635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709612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909637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109662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15252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152525"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315277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3152775"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152775"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152775"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515302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5153025" y="2750489"/>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5153025" y="309730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153025" y="345325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5153025" y="380007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5153025" y="414689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5153025" y="4493717"/>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5153025" y="4849664"/>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5153025" y="519648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153025" y="554330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153025" y="58901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5153025" y="6246072"/>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716280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716280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716280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916305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916305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916305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9163050"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9163050" y="3818331"/>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9163050" y="417427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9163050" y="45302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9163050" y="488617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9163050" y="524211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116330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1116330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1116330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11163300"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11163300" y="3818331"/>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11163300" y="417427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11163300" y="45302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55" name="Rounded Rectangle 54"/>
          <p:cNvSpPr/>
          <p:nvPr/>
        </p:nvSpPr>
        <p:spPr>
          <a:xfrm>
            <a:off x="4667250" y="1080276"/>
            <a:ext cx="2857500" cy="602372"/>
          </a:xfrm>
          <a:prstGeom prst="roundRect">
            <a:avLst>
              <a:gd name="adj" fmla="val 10606"/>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500" b="1">
                <a:solidFill>
                  <a:srgbClr val="FFFFFF"/>
                </a:solidFill>
                <a:latin typeface="Calibri"/>
              </a:rPr>
              <a:t>Flexible Plastic Packaging Market</a:t>
            </a:r>
          </a:p>
        </p:txBody>
      </p:sp>
      <p:sp>
        <p:nvSpPr>
          <p:cNvPr id="56" name="Rounded Rectangle 55"/>
          <p:cNvSpPr/>
          <p:nvPr/>
        </p:nvSpPr>
        <p:spPr>
          <a:xfrm>
            <a:off x="14287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North America</a:t>
            </a:r>
          </a:p>
        </p:txBody>
      </p:sp>
      <p:sp>
        <p:nvSpPr>
          <p:cNvPr id="57" name="Rounded Rectangle 56"/>
          <p:cNvSpPr/>
          <p:nvPr/>
        </p:nvSpPr>
        <p:spPr>
          <a:xfrm>
            <a:off x="27622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U.S.</a:t>
            </a:r>
          </a:p>
        </p:txBody>
      </p:sp>
      <p:sp>
        <p:nvSpPr>
          <p:cNvPr id="58" name="Rounded Rectangle 57"/>
          <p:cNvSpPr/>
          <p:nvPr/>
        </p:nvSpPr>
        <p:spPr>
          <a:xfrm>
            <a:off x="276225"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Canada</a:t>
            </a:r>
          </a:p>
        </p:txBody>
      </p:sp>
      <p:sp>
        <p:nvSpPr>
          <p:cNvPr id="59" name="Rounded Rectangle 58"/>
          <p:cNvSpPr/>
          <p:nvPr/>
        </p:nvSpPr>
        <p:spPr>
          <a:xfrm>
            <a:off x="214312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Latin America</a:t>
            </a:r>
          </a:p>
        </p:txBody>
      </p:sp>
      <p:sp>
        <p:nvSpPr>
          <p:cNvPr id="60" name="Rounded Rectangle 59"/>
          <p:cNvSpPr/>
          <p:nvPr/>
        </p:nvSpPr>
        <p:spPr>
          <a:xfrm>
            <a:off x="227647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Brazil</a:t>
            </a:r>
          </a:p>
        </p:txBody>
      </p:sp>
      <p:sp>
        <p:nvSpPr>
          <p:cNvPr id="61" name="Rounded Rectangle 60"/>
          <p:cNvSpPr/>
          <p:nvPr/>
        </p:nvSpPr>
        <p:spPr>
          <a:xfrm>
            <a:off x="2276475"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Mexico</a:t>
            </a:r>
          </a:p>
        </p:txBody>
      </p:sp>
      <p:sp>
        <p:nvSpPr>
          <p:cNvPr id="62" name="Rounded Rectangle 61"/>
          <p:cNvSpPr/>
          <p:nvPr/>
        </p:nvSpPr>
        <p:spPr>
          <a:xfrm>
            <a:off x="2276475"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Colombia</a:t>
            </a:r>
          </a:p>
        </p:txBody>
      </p:sp>
      <p:sp>
        <p:nvSpPr>
          <p:cNvPr id="63" name="Rounded Rectangle 62"/>
          <p:cNvSpPr/>
          <p:nvPr/>
        </p:nvSpPr>
        <p:spPr>
          <a:xfrm>
            <a:off x="2276475"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Latin America</a:t>
            </a:r>
          </a:p>
        </p:txBody>
      </p:sp>
      <p:sp>
        <p:nvSpPr>
          <p:cNvPr id="64" name="Rounded Rectangle 63"/>
          <p:cNvSpPr/>
          <p:nvPr/>
        </p:nvSpPr>
        <p:spPr>
          <a:xfrm>
            <a:off x="414337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Europe</a:t>
            </a:r>
          </a:p>
        </p:txBody>
      </p:sp>
      <p:sp>
        <p:nvSpPr>
          <p:cNvPr id="65" name="Rounded Rectangle 64"/>
          <p:cNvSpPr/>
          <p:nvPr/>
        </p:nvSpPr>
        <p:spPr>
          <a:xfrm>
            <a:off x="427672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Germany</a:t>
            </a:r>
          </a:p>
        </p:txBody>
      </p:sp>
      <p:sp>
        <p:nvSpPr>
          <p:cNvPr id="66" name="Rounded Rectangle 65"/>
          <p:cNvSpPr/>
          <p:nvPr/>
        </p:nvSpPr>
        <p:spPr>
          <a:xfrm>
            <a:off x="4276725" y="281437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U.K.</a:t>
            </a:r>
          </a:p>
        </p:txBody>
      </p:sp>
      <p:sp>
        <p:nvSpPr>
          <p:cNvPr id="67" name="Rounded Rectangle 66"/>
          <p:cNvSpPr/>
          <p:nvPr/>
        </p:nvSpPr>
        <p:spPr>
          <a:xfrm>
            <a:off x="4276725" y="317032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France</a:t>
            </a:r>
          </a:p>
        </p:txBody>
      </p:sp>
      <p:sp>
        <p:nvSpPr>
          <p:cNvPr id="68" name="Rounded Rectangle 67"/>
          <p:cNvSpPr/>
          <p:nvPr/>
        </p:nvSpPr>
        <p:spPr>
          <a:xfrm>
            <a:off x="4276725" y="35171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Italy</a:t>
            </a:r>
          </a:p>
        </p:txBody>
      </p:sp>
      <p:sp>
        <p:nvSpPr>
          <p:cNvPr id="69" name="Rounded Rectangle 68"/>
          <p:cNvSpPr/>
          <p:nvPr/>
        </p:nvSpPr>
        <p:spPr>
          <a:xfrm>
            <a:off x="4276725" y="386396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Spain</a:t>
            </a:r>
          </a:p>
        </p:txBody>
      </p:sp>
      <p:sp>
        <p:nvSpPr>
          <p:cNvPr id="70" name="Rounded Rectangle 69"/>
          <p:cNvSpPr/>
          <p:nvPr/>
        </p:nvSpPr>
        <p:spPr>
          <a:xfrm>
            <a:off x="4276725" y="421078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Belgium</a:t>
            </a:r>
          </a:p>
        </p:txBody>
      </p:sp>
      <p:sp>
        <p:nvSpPr>
          <p:cNvPr id="71" name="Rounded Rectangle 70"/>
          <p:cNvSpPr/>
          <p:nvPr/>
        </p:nvSpPr>
        <p:spPr>
          <a:xfrm>
            <a:off x="4276725" y="456673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Netherlands</a:t>
            </a:r>
          </a:p>
        </p:txBody>
      </p:sp>
      <p:sp>
        <p:nvSpPr>
          <p:cNvPr id="72" name="Rounded Rectangle 71"/>
          <p:cNvSpPr/>
          <p:nvPr/>
        </p:nvSpPr>
        <p:spPr>
          <a:xfrm>
            <a:off x="4276725" y="491355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Nordic</a:t>
            </a:r>
          </a:p>
        </p:txBody>
      </p:sp>
      <p:sp>
        <p:nvSpPr>
          <p:cNvPr id="73" name="Rounded Rectangle 72"/>
          <p:cNvSpPr/>
          <p:nvPr/>
        </p:nvSpPr>
        <p:spPr>
          <a:xfrm>
            <a:off x="4276725" y="5260373"/>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Switzerland</a:t>
            </a:r>
          </a:p>
        </p:txBody>
      </p:sp>
      <p:sp>
        <p:nvSpPr>
          <p:cNvPr id="74" name="Rounded Rectangle 73"/>
          <p:cNvSpPr/>
          <p:nvPr/>
        </p:nvSpPr>
        <p:spPr>
          <a:xfrm>
            <a:off x="4276725" y="5607193"/>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Russia</a:t>
            </a:r>
          </a:p>
        </p:txBody>
      </p:sp>
      <p:sp>
        <p:nvSpPr>
          <p:cNvPr id="75" name="Rounded Rectangle 74"/>
          <p:cNvSpPr/>
          <p:nvPr/>
        </p:nvSpPr>
        <p:spPr>
          <a:xfrm>
            <a:off x="4276725" y="59631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Poland</a:t>
            </a:r>
          </a:p>
        </p:txBody>
      </p:sp>
      <p:sp>
        <p:nvSpPr>
          <p:cNvPr id="76" name="Rounded Rectangle 75"/>
          <p:cNvSpPr/>
          <p:nvPr/>
        </p:nvSpPr>
        <p:spPr>
          <a:xfrm>
            <a:off x="4276725" y="630996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Europe</a:t>
            </a:r>
          </a:p>
        </p:txBody>
      </p:sp>
      <p:sp>
        <p:nvSpPr>
          <p:cNvPr id="77" name="Rounded Rectangle 76"/>
          <p:cNvSpPr/>
          <p:nvPr/>
        </p:nvSpPr>
        <p:spPr>
          <a:xfrm>
            <a:off x="615315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East Asia</a:t>
            </a:r>
          </a:p>
        </p:txBody>
      </p:sp>
      <p:sp>
        <p:nvSpPr>
          <p:cNvPr id="78" name="Rounded Rectangle 77"/>
          <p:cNvSpPr/>
          <p:nvPr/>
        </p:nvSpPr>
        <p:spPr>
          <a:xfrm>
            <a:off x="628650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China</a:t>
            </a:r>
          </a:p>
        </p:txBody>
      </p:sp>
      <p:sp>
        <p:nvSpPr>
          <p:cNvPr id="79" name="Rounded Rectangle 78"/>
          <p:cNvSpPr/>
          <p:nvPr/>
        </p:nvSpPr>
        <p:spPr>
          <a:xfrm>
            <a:off x="628650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Japan</a:t>
            </a:r>
          </a:p>
        </p:txBody>
      </p:sp>
      <p:sp>
        <p:nvSpPr>
          <p:cNvPr id="80" name="Rounded Rectangle 79"/>
          <p:cNvSpPr/>
          <p:nvPr/>
        </p:nvSpPr>
        <p:spPr>
          <a:xfrm>
            <a:off x="628650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Korea</a:t>
            </a:r>
          </a:p>
        </p:txBody>
      </p:sp>
      <p:sp>
        <p:nvSpPr>
          <p:cNvPr id="81" name="Rounded Rectangle 80"/>
          <p:cNvSpPr/>
          <p:nvPr/>
        </p:nvSpPr>
        <p:spPr>
          <a:xfrm>
            <a:off x="815340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South Asia &amp; Pacific</a:t>
            </a:r>
          </a:p>
        </p:txBody>
      </p:sp>
      <p:sp>
        <p:nvSpPr>
          <p:cNvPr id="82" name="Rounded Rectangle 81"/>
          <p:cNvSpPr/>
          <p:nvPr/>
        </p:nvSpPr>
        <p:spPr>
          <a:xfrm>
            <a:off x="828675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India</a:t>
            </a:r>
          </a:p>
        </p:txBody>
      </p:sp>
      <p:sp>
        <p:nvSpPr>
          <p:cNvPr id="83" name="Rounded Rectangle 82"/>
          <p:cNvSpPr/>
          <p:nvPr/>
        </p:nvSpPr>
        <p:spPr>
          <a:xfrm>
            <a:off x="828675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Thailand</a:t>
            </a:r>
          </a:p>
        </p:txBody>
      </p:sp>
      <p:sp>
        <p:nvSpPr>
          <p:cNvPr id="84" name="Rounded Rectangle 83"/>
          <p:cNvSpPr/>
          <p:nvPr/>
        </p:nvSpPr>
        <p:spPr>
          <a:xfrm>
            <a:off x="828675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Malaysia</a:t>
            </a:r>
          </a:p>
        </p:txBody>
      </p:sp>
      <p:sp>
        <p:nvSpPr>
          <p:cNvPr id="85" name="Rounded Rectangle 84"/>
          <p:cNvSpPr/>
          <p:nvPr/>
        </p:nvSpPr>
        <p:spPr>
          <a:xfrm>
            <a:off x="8286750"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Indonesia</a:t>
            </a:r>
          </a:p>
        </p:txBody>
      </p:sp>
      <p:sp>
        <p:nvSpPr>
          <p:cNvPr id="86" name="Rounded Rectangle 85"/>
          <p:cNvSpPr/>
          <p:nvPr/>
        </p:nvSpPr>
        <p:spPr>
          <a:xfrm>
            <a:off x="8286750" y="38913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Singapore</a:t>
            </a:r>
          </a:p>
        </p:txBody>
      </p:sp>
      <p:sp>
        <p:nvSpPr>
          <p:cNvPr id="87" name="Rounded Rectangle 86"/>
          <p:cNvSpPr/>
          <p:nvPr/>
        </p:nvSpPr>
        <p:spPr>
          <a:xfrm>
            <a:off x="8286750" y="424729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Philippines</a:t>
            </a:r>
          </a:p>
        </p:txBody>
      </p:sp>
      <p:sp>
        <p:nvSpPr>
          <p:cNvPr id="88" name="Rounded Rectangle 87"/>
          <p:cNvSpPr/>
          <p:nvPr/>
        </p:nvSpPr>
        <p:spPr>
          <a:xfrm>
            <a:off x="8286750" y="46032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Australia</a:t>
            </a:r>
          </a:p>
        </p:txBody>
      </p:sp>
      <p:sp>
        <p:nvSpPr>
          <p:cNvPr id="89" name="Rounded Rectangle 88"/>
          <p:cNvSpPr/>
          <p:nvPr/>
        </p:nvSpPr>
        <p:spPr>
          <a:xfrm>
            <a:off x="8286750" y="495918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New Zealand</a:t>
            </a:r>
          </a:p>
        </p:txBody>
      </p:sp>
      <p:sp>
        <p:nvSpPr>
          <p:cNvPr id="90" name="Rounded Rectangle 89"/>
          <p:cNvSpPr/>
          <p:nvPr/>
        </p:nvSpPr>
        <p:spPr>
          <a:xfrm>
            <a:off x="8286750" y="531513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South Asia</a:t>
            </a:r>
          </a:p>
        </p:txBody>
      </p:sp>
      <p:sp>
        <p:nvSpPr>
          <p:cNvPr id="91" name="Rounded Rectangle 90"/>
          <p:cNvSpPr/>
          <p:nvPr/>
        </p:nvSpPr>
        <p:spPr>
          <a:xfrm>
            <a:off x="1015365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Middle East &amp; Africa</a:t>
            </a:r>
          </a:p>
        </p:txBody>
      </p:sp>
      <p:sp>
        <p:nvSpPr>
          <p:cNvPr id="92" name="Rounded Rectangle 91"/>
          <p:cNvSpPr/>
          <p:nvPr/>
        </p:nvSpPr>
        <p:spPr>
          <a:xfrm>
            <a:off x="1028700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UAE</a:t>
            </a:r>
          </a:p>
        </p:txBody>
      </p:sp>
      <p:sp>
        <p:nvSpPr>
          <p:cNvPr id="93" name="Rounded Rectangle 92"/>
          <p:cNvSpPr/>
          <p:nvPr/>
        </p:nvSpPr>
        <p:spPr>
          <a:xfrm>
            <a:off x="1028700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Saudi Arabia</a:t>
            </a:r>
          </a:p>
        </p:txBody>
      </p:sp>
      <p:sp>
        <p:nvSpPr>
          <p:cNvPr id="94" name="Rounded Rectangle 93"/>
          <p:cNvSpPr/>
          <p:nvPr/>
        </p:nvSpPr>
        <p:spPr>
          <a:xfrm>
            <a:off x="1028700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Turkey</a:t>
            </a:r>
          </a:p>
        </p:txBody>
      </p:sp>
      <p:sp>
        <p:nvSpPr>
          <p:cNvPr id="95" name="Rounded Rectangle 94"/>
          <p:cNvSpPr/>
          <p:nvPr/>
        </p:nvSpPr>
        <p:spPr>
          <a:xfrm>
            <a:off x="10287000"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Israel</a:t>
            </a:r>
          </a:p>
        </p:txBody>
      </p:sp>
      <p:sp>
        <p:nvSpPr>
          <p:cNvPr id="96" name="Rounded Rectangle 95"/>
          <p:cNvSpPr/>
          <p:nvPr/>
        </p:nvSpPr>
        <p:spPr>
          <a:xfrm>
            <a:off x="10287000" y="38913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GCC</a:t>
            </a:r>
          </a:p>
        </p:txBody>
      </p:sp>
      <p:sp>
        <p:nvSpPr>
          <p:cNvPr id="97" name="Rounded Rectangle 96"/>
          <p:cNvSpPr/>
          <p:nvPr/>
        </p:nvSpPr>
        <p:spPr>
          <a:xfrm>
            <a:off x="10287000" y="424729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Africa</a:t>
            </a:r>
          </a:p>
        </p:txBody>
      </p:sp>
      <p:sp>
        <p:nvSpPr>
          <p:cNvPr id="98" name="Rounded Rectangle 97"/>
          <p:cNvSpPr/>
          <p:nvPr/>
        </p:nvSpPr>
        <p:spPr>
          <a:xfrm>
            <a:off x="10287000" y="46032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MEA</a:t>
            </a:r>
          </a:p>
        </p:txBody>
      </p:sp>
      <p:sp>
        <p:nvSpPr>
          <p:cNvPr id="99" name="TextBox 9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6 axes and the sub-segments sized under each</a:t>
            </a:r>
          </a:p>
        </p:txBody>
      </p:sp>
      <p:sp>
        <p:nvSpPr>
          <p:cNvPr id="10" name="Rectangle 9"/>
          <p:cNvSpPr/>
          <p:nvPr/>
        </p:nvSpPr>
        <p:spPr>
          <a:xfrm>
            <a:off x="142875" y="1028700"/>
            <a:ext cx="2876550" cy="377190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Product Type</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Rollstock Films</a:t>
            </a:r>
          </a:p>
        </p:txBody>
      </p:sp>
      <p:cxnSp>
        <p:nvCxnSpPr>
          <p:cNvPr id="15" name="Connector 14"/>
          <p:cNvCxnSpPr/>
          <p:nvPr/>
        </p:nvCxnSpPr>
        <p:spPr>
          <a:xfrm>
            <a:off x="1524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3714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5619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Lidding &amp; Tray-Sealing Films</a:t>
            </a:r>
          </a:p>
        </p:txBody>
      </p:sp>
      <p:cxnSp>
        <p:nvCxnSpPr>
          <p:cNvPr id="18" name="Connector 17"/>
          <p:cNvCxnSpPr/>
          <p:nvPr/>
        </p:nvCxnSpPr>
        <p:spPr>
          <a:xfrm>
            <a:off x="1524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714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 name="TextBox 19"/>
          <p:cNvSpPr txBox="1"/>
          <p:nvPr/>
        </p:nvSpPr>
        <p:spPr>
          <a:xfrm>
            <a:off x="5619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Thermoforming Films</a:t>
            </a:r>
          </a:p>
        </p:txBody>
      </p:sp>
      <p:cxnSp>
        <p:nvCxnSpPr>
          <p:cNvPr id="21" name="Connector 20"/>
          <p:cNvCxnSpPr/>
          <p:nvPr/>
        </p:nvCxnSpPr>
        <p:spPr>
          <a:xfrm>
            <a:off x="1524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3714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 name="TextBox 22"/>
          <p:cNvSpPr txBox="1"/>
          <p:nvPr/>
        </p:nvSpPr>
        <p:spPr>
          <a:xfrm>
            <a:off x="5619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Vacuum Skin Packaging Films</a:t>
            </a:r>
          </a:p>
        </p:txBody>
      </p:sp>
      <p:cxnSp>
        <p:nvCxnSpPr>
          <p:cNvPr id="24" name="Connector 23"/>
          <p:cNvCxnSpPr/>
          <p:nvPr/>
        </p:nvCxnSpPr>
        <p:spPr>
          <a:xfrm>
            <a:off x="1524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714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5619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HFFS / Flow-Pack Films</a:t>
            </a:r>
          </a:p>
        </p:txBody>
      </p:sp>
      <p:cxnSp>
        <p:nvCxnSpPr>
          <p:cNvPr id="27" name="Connector 26"/>
          <p:cNvCxnSpPr/>
          <p:nvPr/>
        </p:nvCxnSpPr>
        <p:spPr>
          <a:xfrm>
            <a:off x="1524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714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5619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VFFS Rollstock Films</a:t>
            </a:r>
          </a:p>
        </p:txBody>
      </p:sp>
      <p:cxnSp>
        <p:nvCxnSpPr>
          <p:cNvPr id="30" name="Connector 29"/>
          <p:cNvCxnSpPr/>
          <p:nvPr/>
        </p:nvCxnSpPr>
        <p:spPr>
          <a:xfrm>
            <a:off x="1524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3714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2" name="TextBox 31"/>
          <p:cNvSpPr txBox="1"/>
          <p:nvPr/>
        </p:nvSpPr>
        <p:spPr>
          <a:xfrm>
            <a:off x="5619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Shrink &amp; Overwrap Films</a:t>
            </a:r>
          </a:p>
        </p:txBody>
      </p:sp>
      <p:cxnSp>
        <p:nvCxnSpPr>
          <p:cNvPr id="33" name="Connector 32"/>
          <p:cNvCxnSpPr/>
          <p:nvPr/>
        </p:nvCxnSpPr>
        <p:spPr>
          <a:xfrm>
            <a:off x="1524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20002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5" name="TextBox 34"/>
          <p:cNvSpPr txBox="1"/>
          <p:nvPr/>
        </p:nvSpPr>
        <p:spPr>
          <a:xfrm>
            <a:off x="390525" y="249745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Barrier Casings</a:t>
            </a:r>
          </a:p>
        </p:txBody>
      </p:sp>
      <p:cxnSp>
        <p:nvCxnSpPr>
          <p:cNvPr id="36" name="Connector 35"/>
          <p:cNvCxnSpPr/>
          <p:nvPr/>
        </p:nvCxnSpPr>
        <p:spPr>
          <a:xfrm>
            <a:off x="1524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3714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8" name="TextBox 37"/>
          <p:cNvSpPr txBox="1"/>
          <p:nvPr/>
        </p:nvSpPr>
        <p:spPr>
          <a:xfrm>
            <a:off x="5619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Non-Shrink Casings</a:t>
            </a:r>
          </a:p>
        </p:txBody>
      </p:sp>
      <p:cxnSp>
        <p:nvCxnSpPr>
          <p:cNvPr id="39" name="Connector 38"/>
          <p:cNvCxnSpPr/>
          <p:nvPr/>
        </p:nvCxnSpPr>
        <p:spPr>
          <a:xfrm>
            <a:off x="1524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0" name="TextBox 39"/>
          <p:cNvSpPr txBox="1"/>
          <p:nvPr/>
        </p:nvSpPr>
        <p:spPr>
          <a:xfrm>
            <a:off x="3714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1" name="TextBox 40"/>
          <p:cNvSpPr txBox="1"/>
          <p:nvPr/>
        </p:nvSpPr>
        <p:spPr>
          <a:xfrm>
            <a:off x="561975" y="28517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Shrink Casings</a:t>
            </a:r>
          </a:p>
        </p:txBody>
      </p:sp>
      <p:cxnSp>
        <p:nvCxnSpPr>
          <p:cNvPr id="42" name="Connector 41"/>
          <p:cNvCxnSpPr/>
          <p:nvPr/>
        </p:nvCxnSpPr>
        <p:spPr>
          <a:xfrm>
            <a:off x="1524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3" name="TextBox 42"/>
          <p:cNvSpPr txBox="1"/>
          <p:nvPr/>
        </p:nvSpPr>
        <p:spPr>
          <a:xfrm>
            <a:off x="3714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4" name="TextBox 43"/>
          <p:cNvSpPr txBox="1"/>
          <p:nvPr/>
        </p:nvSpPr>
        <p:spPr>
          <a:xfrm>
            <a:off x="561975" y="30289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Specialty Casings</a:t>
            </a:r>
          </a:p>
        </p:txBody>
      </p:sp>
      <p:cxnSp>
        <p:nvCxnSpPr>
          <p:cNvPr id="45" name="Connector 44"/>
          <p:cNvCxnSpPr/>
          <p:nvPr/>
        </p:nvCxnSpPr>
        <p:spPr>
          <a:xfrm>
            <a:off x="1524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20002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390525" y="320611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Premade Pouches &amp; Bags</a:t>
            </a:r>
          </a:p>
        </p:txBody>
      </p:sp>
      <p:cxnSp>
        <p:nvCxnSpPr>
          <p:cNvPr id="48" name="Connector 47"/>
          <p:cNvCxnSpPr/>
          <p:nvPr/>
        </p:nvCxnSpPr>
        <p:spPr>
          <a:xfrm>
            <a:off x="152400" y="33832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37147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561975" y="33832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Vacuum Pouches</a:t>
            </a:r>
          </a:p>
        </p:txBody>
      </p:sp>
      <p:cxnSp>
        <p:nvCxnSpPr>
          <p:cNvPr id="51" name="Connector 50"/>
          <p:cNvCxnSpPr/>
          <p:nvPr/>
        </p:nvCxnSpPr>
        <p:spPr>
          <a:xfrm>
            <a:off x="152400" y="35604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371475" y="35604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3" name="TextBox 52"/>
          <p:cNvSpPr txBox="1"/>
          <p:nvPr/>
        </p:nvSpPr>
        <p:spPr>
          <a:xfrm>
            <a:off x="561975" y="35604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Shrink Bags</a:t>
            </a:r>
          </a:p>
        </p:txBody>
      </p:sp>
      <p:cxnSp>
        <p:nvCxnSpPr>
          <p:cNvPr id="54" name="Connector 53"/>
          <p:cNvCxnSpPr/>
          <p:nvPr/>
        </p:nvCxnSpPr>
        <p:spPr>
          <a:xfrm>
            <a:off x="152400" y="37376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5" name="TextBox 54"/>
          <p:cNvSpPr txBox="1"/>
          <p:nvPr/>
        </p:nvSpPr>
        <p:spPr>
          <a:xfrm>
            <a:off x="371475" y="37376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6" name="TextBox 55"/>
          <p:cNvSpPr txBox="1"/>
          <p:nvPr/>
        </p:nvSpPr>
        <p:spPr>
          <a:xfrm>
            <a:off x="561975" y="37376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Stand-Up Pouches</a:t>
            </a:r>
          </a:p>
        </p:txBody>
      </p:sp>
      <p:cxnSp>
        <p:nvCxnSpPr>
          <p:cNvPr id="57" name="Connector 56"/>
          <p:cNvCxnSpPr/>
          <p:nvPr/>
        </p:nvCxnSpPr>
        <p:spPr>
          <a:xfrm>
            <a:off x="152400" y="39147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371475" y="39147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9" name="TextBox 58"/>
          <p:cNvSpPr txBox="1"/>
          <p:nvPr/>
        </p:nvSpPr>
        <p:spPr>
          <a:xfrm>
            <a:off x="561975" y="39147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Flat Pouches</a:t>
            </a:r>
          </a:p>
        </p:txBody>
      </p:sp>
      <p:cxnSp>
        <p:nvCxnSpPr>
          <p:cNvPr id="60" name="Connector 59"/>
          <p:cNvCxnSpPr/>
          <p:nvPr/>
        </p:nvCxnSpPr>
        <p:spPr>
          <a:xfrm>
            <a:off x="152400" y="40919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371475" y="40919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2" name="TextBox 61"/>
          <p:cNvSpPr txBox="1"/>
          <p:nvPr/>
        </p:nvSpPr>
        <p:spPr>
          <a:xfrm>
            <a:off x="561975" y="40919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Retort Pouches</a:t>
            </a:r>
          </a:p>
        </p:txBody>
      </p:sp>
      <p:cxnSp>
        <p:nvCxnSpPr>
          <p:cNvPr id="63" name="Connector 62"/>
          <p:cNvCxnSpPr/>
          <p:nvPr/>
        </p:nvCxnSpPr>
        <p:spPr>
          <a:xfrm>
            <a:off x="152400" y="42691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4" name="TextBox 63"/>
          <p:cNvSpPr txBox="1"/>
          <p:nvPr/>
        </p:nvSpPr>
        <p:spPr>
          <a:xfrm>
            <a:off x="200025" y="42691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5" name="TextBox 64"/>
          <p:cNvSpPr txBox="1"/>
          <p:nvPr/>
        </p:nvSpPr>
        <p:spPr>
          <a:xfrm>
            <a:off x="390525" y="426910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Sachets &amp; Stick Packs</a:t>
            </a:r>
          </a:p>
        </p:txBody>
      </p:sp>
      <p:cxnSp>
        <p:nvCxnSpPr>
          <p:cNvPr id="66" name="Connector 65"/>
          <p:cNvCxnSpPr/>
          <p:nvPr/>
        </p:nvCxnSpPr>
        <p:spPr>
          <a:xfrm>
            <a:off x="152400" y="44462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7" name="TextBox 66"/>
          <p:cNvSpPr txBox="1"/>
          <p:nvPr/>
        </p:nvSpPr>
        <p:spPr>
          <a:xfrm>
            <a:off x="371475" y="44462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8" name="TextBox 67"/>
          <p:cNvSpPr txBox="1"/>
          <p:nvPr/>
        </p:nvSpPr>
        <p:spPr>
          <a:xfrm>
            <a:off x="561975" y="44462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Sachets</a:t>
            </a:r>
          </a:p>
        </p:txBody>
      </p:sp>
      <p:cxnSp>
        <p:nvCxnSpPr>
          <p:cNvPr id="69" name="Connector 68"/>
          <p:cNvCxnSpPr/>
          <p:nvPr/>
        </p:nvCxnSpPr>
        <p:spPr>
          <a:xfrm>
            <a:off x="152400" y="46234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371475" y="46234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1" name="TextBox 70"/>
          <p:cNvSpPr txBox="1"/>
          <p:nvPr/>
        </p:nvSpPr>
        <p:spPr>
          <a:xfrm>
            <a:off x="561975" y="46234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Stick Packs</a:t>
            </a:r>
          </a:p>
        </p:txBody>
      </p:sp>
      <p:sp>
        <p:nvSpPr>
          <p:cNvPr id="72" name="Rectangle 71"/>
          <p:cNvSpPr/>
          <p:nvPr/>
        </p:nvSpPr>
        <p:spPr>
          <a:xfrm>
            <a:off x="3152775" y="1028700"/>
            <a:ext cx="2876550" cy="23602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3152775" y="1028700"/>
            <a:ext cx="2876550" cy="41148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3228975" y="1028700"/>
            <a:ext cx="2724150" cy="411480"/>
          </a:xfrm>
          <a:prstGeom prst="rect">
            <a:avLst/>
          </a:prstGeom>
          <a:noFill/>
        </p:spPr>
        <p:txBody>
          <a:bodyPr wrap="square" lIns="28575" rIns="28575" tIns="9525" bIns="9525" anchor="t">
            <a:spAutoFit/>
          </a:bodyPr>
          <a:lstStyle/>
          <a:p>
            <a:pPr algn="l">
              <a:lnSpc>
                <a:spcPct val="100000"/>
              </a:lnSpc>
            </a:pPr>
            <a:r>
              <a:rPr sz="1100" b="1">
                <a:solidFill>
                  <a:srgbClr val="FFFFFF"/>
                </a:solidFill>
                <a:latin typeface="Calibri"/>
              </a:rPr>
              <a:t>By Principal Material / Barrier Technology</a:t>
            </a:r>
          </a:p>
        </p:txBody>
      </p:sp>
      <p:sp>
        <p:nvSpPr>
          <p:cNvPr id="75" name="TextBox 74"/>
          <p:cNvSpPr txBox="1"/>
          <p:nvPr/>
        </p:nvSpPr>
        <p:spPr>
          <a:xfrm>
            <a:off x="3209925" y="14401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6" name="TextBox 75"/>
          <p:cNvSpPr txBox="1"/>
          <p:nvPr/>
        </p:nvSpPr>
        <p:spPr>
          <a:xfrm>
            <a:off x="3400425" y="144018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PE-Based</a:t>
            </a:r>
          </a:p>
        </p:txBody>
      </p:sp>
      <p:cxnSp>
        <p:nvCxnSpPr>
          <p:cNvPr id="77" name="Connector 76"/>
          <p:cNvCxnSpPr/>
          <p:nvPr/>
        </p:nvCxnSpPr>
        <p:spPr>
          <a:xfrm>
            <a:off x="3162300" y="1617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3209925" y="1617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9" name="TextBox 78"/>
          <p:cNvSpPr txBox="1"/>
          <p:nvPr/>
        </p:nvSpPr>
        <p:spPr>
          <a:xfrm>
            <a:off x="3400425" y="161734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PP-Based</a:t>
            </a:r>
          </a:p>
        </p:txBody>
      </p:sp>
      <p:cxnSp>
        <p:nvCxnSpPr>
          <p:cNvPr id="80" name="Connector 79"/>
          <p:cNvCxnSpPr/>
          <p:nvPr/>
        </p:nvCxnSpPr>
        <p:spPr>
          <a:xfrm>
            <a:off x="3162300" y="17945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1" name="TextBox 80"/>
          <p:cNvSpPr txBox="1"/>
          <p:nvPr/>
        </p:nvSpPr>
        <p:spPr>
          <a:xfrm>
            <a:off x="3209925" y="17945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2" name="TextBox 81"/>
          <p:cNvSpPr txBox="1"/>
          <p:nvPr/>
        </p:nvSpPr>
        <p:spPr>
          <a:xfrm>
            <a:off x="3400425" y="179451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PET-Based</a:t>
            </a:r>
          </a:p>
        </p:txBody>
      </p:sp>
      <p:cxnSp>
        <p:nvCxnSpPr>
          <p:cNvPr id="83" name="Connector 82"/>
          <p:cNvCxnSpPr/>
          <p:nvPr/>
        </p:nvCxnSpPr>
        <p:spPr>
          <a:xfrm>
            <a:off x="3162300" y="19716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4" name="TextBox 83"/>
          <p:cNvSpPr txBox="1"/>
          <p:nvPr/>
        </p:nvSpPr>
        <p:spPr>
          <a:xfrm>
            <a:off x="3209925" y="19716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5" name="TextBox 84"/>
          <p:cNvSpPr txBox="1"/>
          <p:nvPr/>
        </p:nvSpPr>
        <p:spPr>
          <a:xfrm>
            <a:off x="3400425" y="197167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PA-Based</a:t>
            </a:r>
          </a:p>
        </p:txBody>
      </p:sp>
      <p:cxnSp>
        <p:nvCxnSpPr>
          <p:cNvPr id="86" name="Connector 85"/>
          <p:cNvCxnSpPr/>
          <p:nvPr/>
        </p:nvCxnSpPr>
        <p:spPr>
          <a:xfrm>
            <a:off x="3162300" y="2148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7" name="TextBox 86"/>
          <p:cNvSpPr txBox="1"/>
          <p:nvPr/>
        </p:nvSpPr>
        <p:spPr>
          <a:xfrm>
            <a:off x="3209925" y="2148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8" name="TextBox 87"/>
          <p:cNvSpPr txBox="1"/>
          <p:nvPr/>
        </p:nvSpPr>
        <p:spPr>
          <a:xfrm>
            <a:off x="3400425" y="214884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EVOH-Based</a:t>
            </a:r>
          </a:p>
        </p:txBody>
      </p:sp>
      <p:cxnSp>
        <p:nvCxnSpPr>
          <p:cNvPr id="89" name="Connector 88"/>
          <p:cNvCxnSpPr/>
          <p:nvPr/>
        </p:nvCxnSpPr>
        <p:spPr>
          <a:xfrm>
            <a:off x="3162300" y="23260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0" name="TextBox 89"/>
          <p:cNvSpPr txBox="1"/>
          <p:nvPr/>
        </p:nvSpPr>
        <p:spPr>
          <a:xfrm>
            <a:off x="3209925" y="23260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1" name="TextBox 90"/>
          <p:cNvSpPr txBox="1"/>
          <p:nvPr/>
        </p:nvSpPr>
        <p:spPr>
          <a:xfrm>
            <a:off x="3400425" y="232600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PVDC-Based</a:t>
            </a:r>
          </a:p>
        </p:txBody>
      </p:sp>
      <p:cxnSp>
        <p:nvCxnSpPr>
          <p:cNvPr id="92" name="Connector 91"/>
          <p:cNvCxnSpPr/>
          <p:nvPr/>
        </p:nvCxnSpPr>
        <p:spPr>
          <a:xfrm>
            <a:off x="3162300" y="25031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3" name="TextBox 92"/>
          <p:cNvSpPr txBox="1"/>
          <p:nvPr/>
        </p:nvSpPr>
        <p:spPr>
          <a:xfrm>
            <a:off x="3209925" y="25031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4" name="TextBox 93"/>
          <p:cNvSpPr txBox="1"/>
          <p:nvPr/>
        </p:nvSpPr>
        <p:spPr>
          <a:xfrm>
            <a:off x="3400425" y="250317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PVOH-Based</a:t>
            </a:r>
          </a:p>
        </p:txBody>
      </p:sp>
      <p:cxnSp>
        <p:nvCxnSpPr>
          <p:cNvPr id="95" name="Connector 94"/>
          <p:cNvCxnSpPr/>
          <p:nvPr/>
        </p:nvCxnSpPr>
        <p:spPr>
          <a:xfrm>
            <a:off x="3162300" y="26803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6" name="TextBox 95"/>
          <p:cNvSpPr txBox="1"/>
          <p:nvPr/>
        </p:nvSpPr>
        <p:spPr>
          <a:xfrm>
            <a:off x="3209925" y="26803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7" name="TextBox 96"/>
          <p:cNvSpPr txBox="1"/>
          <p:nvPr/>
        </p:nvSpPr>
        <p:spPr>
          <a:xfrm>
            <a:off x="3400425" y="268033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Metallized Barrier</a:t>
            </a:r>
          </a:p>
        </p:txBody>
      </p:sp>
      <p:cxnSp>
        <p:nvCxnSpPr>
          <p:cNvPr id="98" name="Connector 97"/>
          <p:cNvCxnSpPr/>
          <p:nvPr/>
        </p:nvCxnSpPr>
        <p:spPr>
          <a:xfrm>
            <a:off x="3162300" y="28575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3209925" y="28575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0" name="TextBox 99"/>
          <p:cNvSpPr txBox="1"/>
          <p:nvPr/>
        </p:nvSpPr>
        <p:spPr>
          <a:xfrm>
            <a:off x="3400425" y="28575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AlOx / SiOx-Coated</a:t>
            </a:r>
          </a:p>
        </p:txBody>
      </p:sp>
      <p:cxnSp>
        <p:nvCxnSpPr>
          <p:cNvPr id="101" name="Connector 100"/>
          <p:cNvCxnSpPr/>
          <p:nvPr/>
        </p:nvCxnSpPr>
        <p:spPr>
          <a:xfrm>
            <a:off x="3162300" y="30346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3209925" y="30346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3" name="TextBox 102"/>
          <p:cNvSpPr txBox="1"/>
          <p:nvPr/>
        </p:nvSpPr>
        <p:spPr>
          <a:xfrm>
            <a:off x="3400425" y="30346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Aluminum Foil-Based</a:t>
            </a:r>
          </a:p>
        </p:txBody>
      </p:sp>
      <p:cxnSp>
        <p:nvCxnSpPr>
          <p:cNvPr id="104" name="Connector 103"/>
          <p:cNvCxnSpPr/>
          <p:nvPr/>
        </p:nvCxnSpPr>
        <p:spPr>
          <a:xfrm>
            <a:off x="3162300" y="32118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5" name="TextBox 104"/>
          <p:cNvSpPr txBox="1"/>
          <p:nvPr/>
        </p:nvSpPr>
        <p:spPr>
          <a:xfrm>
            <a:off x="3209925" y="32118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6" name="TextBox 105"/>
          <p:cNvSpPr txBox="1"/>
          <p:nvPr/>
        </p:nvSpPr>
        <p:spPr>
          <a:xfrm>
            <a:off x="3400425" y="32118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Specialty Barrier Technologies</a:t>
            </a:r>
          </a:p>
        </p:txBody>
      </p:sp>
      <p:sp>
        <p:nvSpPr>
          <p:cNvPr id="107" name="Rectangle 106"/>
          <p:cNvSpPr/>
          <p:nvPr/>
        </p:nvSpPr>
        <p:spPr>
          <a:xfrm>
            <a:off x="3152775" y="3503295"/>
            <a:ext cx="2876550" cy="235458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3152775" y="350329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3228975" y="350329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Barrier Level Vs Application</a:t>
            </a:r>
          </a:p>
        </p:txBody>
      </p:sp>
      <p:sp>
        <p:nvSpPr>
          <p:cNvPr id="110" name="TextBox 109"/>
          <p:cNvSpPr txBox="1"/>
          <p:nvPr/>
        </p:nvSpPr>
        <p:spPr>
          <a:xfrm>
            <a:off x="3209925" y="37318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1" name="TextBox 110"/>
          <p:cNvSpPr txBox="1"/>
          <p:nvPr/>
        </p:nvSpPr>
        <p:spPr>
          <a:xfrm>
            <a:off x="3400425" y="373189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Low-Barrier Films</a:t>
            </a:r>
          </a:p>
        </p:txBody>
      </p:sp>
      <p:cxnSp>
        <p:nvCxnSpPr>
          <p:cNvPr id="112" name="Connector 111"/>
          <p:cNvCxnSpPr/>
          <p:nvPr/>
        </p:nvCxnSpPr>
        <p:spPr>
          <a:xfrm>
            <a:off x="3162300" y="39090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3" name="TextBox 112"/>
          <p:cNvSpPr txBox="1"/>
          <p:nvPr/>
        </p:nvSpPr>
        <p:spPr>
          <a:xfrm>
            <a:off x="3381375" y="39090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4" name="TextBox 113"/>
          <p:cNvSpPr txBox="1"/>
          <p:nvPr/>
        </p:nvSpPr>
        <p:spPr>
          <a:xfrm>
            <a:off x="3571875" y="39090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cxnSp>
        <p:nvCxnSpPr>
          <p:cNvPr id="115" name="Connector 114"/>
          <p:cNvCxnSpPr/>
          <p:nvPr/>
        </p:nvCxnSpPr>
        <p:spPr>
          <a:xfrm>
            <a:off x="3162300" y="40862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6" name="TextBox 115"/>
          <p:cNvSpPr txBox="1"/>
          <p:nvPr/>
        </p:nvSpPr>
        <p:spPr>
          <a:xfrm>
            <a:off x="3381375" y="40862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7" name="TextBox 116"/>
          <p:cNvSpPr txBox="1"/>
          <p:nvPr/>
        </p:nvSpPr>
        <p:spPr>
          <a:xfrm>
            <a:off x="3571875" y="40862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cxnSp>
        <p:nvCxnSpPr>
          <p:cNvPr id="118" name="Connector 117"/>
          <p:cNvCxnSpPr/>
          <p:nvPr/>
        </p:nvCxnSpPr>
        <p:spPr>
          <a:xfrm>
            <a:off x="3162300" y="42633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9" name="TextBox 118"/>
          <p:cNvSpPr txBox="1"/>
          <p:nvPr/>
        </p:nvSpPr>
        <p:spPr>
          <a:xfrm>
            <a:off x="3209925" y="42633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0" name="TextBox 119"/>
          <p:cNvSpPr txBox="1"/>
          <p:nvPr/>
        </p:nvSpPr>
        <p:spPr>
          <a:xfrm>
            <a:off x="3400425" y="42633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Medium-Barrier Films</a:t>
            </a:r>
          </a:p>
        </p:txBody>
      </p:sp>
      <p:cxnSp>
        <p:nvCxnSpPr>
          <p:cNvPr id="121" name="Connector 120"/>
          <p:cNvCxnSpPr/>
          <p:nvPr/>
        </p:nvCxnSpPr>
        <p:spPr>
          <a:xfrm>
            <a:off x="3162300" y="44405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2" name="TextBox 121"/>
          <p:cNvSpPr txBox="1"/>
          <p:nvPr/>
        </p:nvSpPr>
        <p:spPr>
          <a:xfrm>
            <a:off x="3381375" y="44405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3" name="TextBox 122"/>
          <p:cNvSpPr txBox="1"/>
          <p:nvPr/>
        </p:nvSpPr>
        <p:spPr>
          <a:xfrm>
            <a:off x="3571875" y="44405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cxnSp>
        <p:nvCxnSpPr>
          <p:cNvPr id="124" name="Connector 123"/>
          <p:cNvCxnSpPr/>
          <p:nvPr/>
        </p:nvCxnSpPr>
        <p:spPr>
          <a:xfrm>
            <a:off x="3162300" y="46177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5" name="TextBox 124"/>
          <p:cNvSpPr txBox="1"/>
          <p:nvPr/>
        </p:nvSpPr>
        <p:spPr>
          <a:xfrm>
            <a:off x="3381375" y="46177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6" name="TextBox 125"/>
          <p:cNvSpPr txBox="1"/>
          <p:nvPr/>
        </p:nvSpPr>
        <p:spPr>
          <a:xfrm>
            <a:off x="3571875" y="46177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cxnSp>
        <p:nvCxnSpPr>
          <p:cNvPr id="127" name="Connector 126"/>
          <p:cNvCxnSpPr/>
          <p:nvPr/>
        </p:nvCxnSpPr>
        <p:spPr>
          <a:xfrm>
            <a:off x="3162300" y="47948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8" name="TextBox 127"/>
          <p:cNvSpPr txBox="1"/>
          <p:nvPr/>
        </p:nvSpPr>
        <p:spPr>
          <a:xfrm>
            <a:off x="3209925" y="47948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9" name="TextBox 128"/>
          <p:cNvSpPr txBox="1"/>
          <p:nvPr/>
        </p:nvSpPr>
        <p:spPr>
          <a:xfrm>
            <a:off x="3400425" y="479488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High-Barrier Films</a:t>
            </a:r>
          </a:p>
        </p:txBody>
      </p:sp>
      <p:cxnSp>
        <p:nvCxnSpPr>
          <p:cNvPr id="130" name="Connector 129"/>
          <p:cNvCxnSpPr/>
          <p:nvPr/>
        </p:nvCxnSpPr>
        <p:spPr>
          <a:xfrm>
            <a:off x="3162300" y="49720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1" name="TextBox 130"/>
          <p:cNvSpPr txBox="1"/>
          <p:nvPr/>
        </p:nvSpPr>
        <p:spPr>
          <a:xfrm>
            <a:off x="3381375" y="49720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2" name="TextBox 131"/>
          <p:cNvSpPr txBox="1"/>
          <p:nvPr/>
        </p:nvSpPr>
        <p:spPr>
          <a:xfrm>
            <a:off x="3571875" y="49720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cxnSp>
        <p:nvCxnSpPr>
          <p:cNvPr id="133" name="Connector 132"/>
          <p:cNvCxnSpPr/>
          <p:nvPr/>
        </p:nvCxnSpPr>
        <p:spPr>
          <a:xfrm>
            <a:off x="3162300" y="51492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4" name="TextBox 133"/>
          <p:cNvSpPr txBox="1"/>
          <p:nvPr/>
        </p:nvSpPr>
        <p:spPr>
          <a:xfrm>
            <a:off x="3381375" y="51492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5" name="TextBox 134"/>
          <p:cNvSpPr txBox="1"/>
          <p:nvPr/>
        </p:nvSpPr>
        <p:spPr>
          <a:xfrm>
            <a:off x="3571875" y="514921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cxnSp>
        <p:nvCxnSpPr>
          <p:cNvPr id="136" name="Connector 135"/>
          <p:cNvCxnSpPr/>
          <p:nvPr/>
        </p:nvCxnSpPr>
        <p:spPr>
          <a:xfrm>
            <a:off x="3162300" y="53263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7" name="TextBox 136"/>
          <p:cNvSpPr txBox="1"/>
          <p:nvPr/>
        </p:nvSpPr>
        <p:spPr>
          <a:xfrm>
            <a:off x="3209925" y="53263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8" name="TextBox 137"/>
          <p:cNvSpPr txBox="1"/>
          <p:nvPr/>
        </p:nvSpPr>
        <p:spPr>
          <a:xfrm>
            <a:off x="3400425" y="532638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Ultra-High-Barrier Films</a:t>
            </a:r>
          </a:p>
        </p:txBody>
      </p:sp>
      <p:cxnSp>
        <p:nvCxnSpPr>
          <p:cNvPr id="139" name="Connector 138"/>
          <p:cNvCxnSpPr/>
          <p:nvPr/>
        </p:nvCxnSpPr>
        <p:spPr>
          <a:xfrm>
            <a:off x="3162300" y="55035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0" name="TextBox 139"/>
          <p:cNvSpPr txBox="1"/>
          <p:nvPr/>
        </p:nvSpPr>
        <p:spPr>
          <a:xfrm>
            <a:off x="3381375" y="55035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1" name="TextBox 140"/>
          <p:cNvSpPr txBox="1"/>
          <p:nvPr/>
        </p:nvSpPr>
        <p:spPr>
          <a:xfrm>
            <a:off x="3571875" y="55035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cxnSp>
        <p:nvCxnSpPr>
          <p:cNvPr id="142" name="Connector 141"/>
          <p:cNvCxnSpPr/>
          <p:nvPr/>
        </p:nvCxnSpPr>
        <p:spPr>
          <a:xfrm>
            <a:off x="3162300" y="56807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3" name="TextBox 142"/>
          <p:cNvSpPr txBox="1"/>
          <p:nvPr/>
        </p:nvSpPr>
        <p:spPr>
          <a:xfrm>
            <a:off x="3381375" y="56807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4" name="TextBox 143"/>
          <p:cNvSpPr txBox="1"/>
          <p:nvPr/>
        </p:nvSpPr>
        <p:spPr>
          <a:xfrm>
            <a:off x="3571875" y="56807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sp>
        <p:nvSpPr>
          <p:cNvPr id="145" name="Rectangle 144"/>
          <p:cNvSpPr/>
          <p:nvPr/>
        </p:nvSpPr>
        <p:spPr>
          <a:xfrm>
            <a:off x="6162675" y="1028700"/>
            <a:ext cx="2876550" cy="306324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61626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62388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Material Structure</a:t>
            </a:r>
          </a:p>
        </p:txBody>
      </p:sp>
      <p:sp>
        <p:nvSpPr>
          <p:cNvPr id="148" name="TextBox 147"/>
          <p:cNvSpPr txBox="1"/>
          <p:nvPr/>
        </p:nvSpPr>
        <p:spPr>
          <a:xfrm>
            <a:off x="62198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9" name="TextBox 148"/>
          <p:cNvSpPr txBox="1"/>
          <p:nvPr/>
        </p:nvSpPr>
        <p:spPr>
          <a:xfrm>
            <a:off x="64103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Monolayer Films</a:t>
            </a:r>
          </a:p>
        </p:txBody>
      </p:sp>
      <p:cxnSp>
        <p:nvCxnSpPr>
          <p:cNvPr id="150" name="Connector 149"/>
          <p:cNvCxnSpPr/>
          <p:nvPr/>
        </p:nvCxnSpPr>
        <p:spPr>
          <a:xfrm>
            <a:off x="61722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1" name="TextBox 150"/>
          <p:cNvSpPr txBox="1"/>
          <p:nvPr/>
        </p:nvSpPr>
        <p:spPr>
          <a:xfrm>
            <a:off x="62198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2" name="TextBox 151"/>
          <p:cNvSpPr txBox="1"/>
          <p:nvPr/>
        </p:nvSpPr>
        <p:spPr>
          <a:xfrm>
            <a:off x="6410325" y="143446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Coextruded Multilayer Films</a:t>
            </a:r>
          </a:p>
        </p:txBody>
      </p:sp>
      <p:cxnSp>
        <p:nvCxnSpPr>
          <p:cNvPr id="153" name="Connector 152"/>
          <p:cNvCxnSpPr/>
          <p:nvPr/>
        </p:nvCxnSpPr>
        <p:spPr>
          <a:xfrm>
            <a:off x="61722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4" name="TextBox 153"/>
          <p:cNvSpPr txBox="1"/>
          <p:nvPr/>
        </p:nvSpPr>
        <p:spPr>
          <a:xfrm>
            <a:off x="63912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5" name="TextBox 154"/>
          <p:cNvSpPr txBox="1"/>
          <p:nvPr/>
        </p:nvSpPr>
        <p:spPr>
          <a:xfrm>
            <a:off x="65817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3–5 Layer</a:t>
            </a:r>
          </a:p>
        </p:txBody>
      </p:sp>
      <p:cxnSp>
        <p:nvCxnSpPr>
          <p:cNvPr id="156" name="Connector 155"/>
          <p:cNvCxnSpPr/>
          <p:nvPr/>
        </p:nvCxnSpPr>
        <p:spPr>
          <a:xfrm>
            <a:off x="61722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7" name="TextBox 156"/>
          <p:cNvSpPr txBox="1"/>
          <p:nvPr/>
        </p:nvSpPr>
        <p:spPr>
          <a:xfrm>
            <a:off x="63912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8" name="TextBox 157"/>
          <p:cNvSpPr txBox="1"/>
          <p:nvPr/>
        </p:nvSpPr>
        <p:spPr>
          <a:xfrm>
            <a:off x="65817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7 Layer</a:t>
            </a:r>
          </a:p>
        </p:txBody>
      </p:sp>
      <p:cxnSp>
        <p:nvCxnSpPr>
          <p:cNvPr id="159" name="Connector 158"/>
          <p:cNvCxnSpPr/>
          <p:nvPr/>
        </p:nvCxnSpPr>
        <p:spPr>
          <a:xfrm>
            <a:off x="61722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0" name="TextBox 159"/>
          <p:cNvSpPr txBox="1"/>
          <p:nvPr/>
        </p:nvSpPr>
        <p:spPr>
          <a:xfrm>
            <a:off x="63912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1" name="TextBox 160"/>
          <p:cNvSpPr txBox="1"/>
          <p:nvPr/>
        </p:nvSpPr>
        <p:spPr>
          <a:xfrm>
            <a:off x="65817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9 Layer and Above</a:t>
            </a:r>
          </a:p>
        </p:txBody>
      </p:sp>
      <p:cxnSp>
        <p:nvCxnSpPr>
          <p:cNvPr id="162" name="Connector 161"/>
          <p:cNvCxnSpPr/>
          <p:nvPr/>
        </p:nvCxnSpPr>
        <p:spPr>
          <a:xfrm>
            <a:off x="61722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3" name="TextBox 162"/>
          <p:cNvSpPr txBox="1"/>
          <p:nvPr/>
        </p:nvSpPr>
        <p:spPr>
          <a:xfrm>
            <a:off x="621982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4" name="TextBox 163"/>
          <p:cNvSpPr txBox="1"/>
          <p:nvPr/>
        </p:nvSpPr>
        <p:spPr>
          <a:xfrm>
            <a:off x="6410325" y="214312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Laminated Films</a:t>
            </a:r>
          </a:p>
        </p:txBody>
      </p:sp>
      <p:cxnSp>
        <p:nvCxnSpPr>
          <p:cNvPr id="165" name="Connector 164"/>
          <p:cNvCxnSpPr/>
          <p:nvPr/>
        </p:nvCxnSpPr>
        <p:spPr>
          <a:xfrm>
            <a:off x="61722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6" name="TextBox 165"/>
          <p:cNvSpPr txBox="1"/>
          <p:nvPr/>
        </p:nvSpPr>
        <p:spPr>
          <a:xfrm>
            <a:off x="63912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7" name="TextBox 166"/>
          <p:cNvSpPr txBox="1"/>
          <p:nvPr/>
        </p:nvSpPr>
        <p:spPr>
          <a:xfrm>
            <a:off x="65817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Duplex</a:t>
            </a:r>
          </a:p>
        </p:txBody>
      </p:sp>
      <p:cxnSp>
        <p:nvCxnSpPr>
          <p:cNvPr id="168" name="Connector 167"/>
          <p:cNvCxnSpPr/>
          <p:nvPr/>
        </p:nvCxnSpPr>
        <p:spPr>
          <a:xfrm>
            <a:off x="61722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9" name="TextBox 168"/>
          <p:cNvSpPr txBox="1"/>
          <p:nvPr/>
        </p:nvSpPr>
        <p:spPr>
          <a:xfrm>
            <a:off x="63912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0" name="TextBox 169"/>
          <p:cNvSpPr txBox="1"/>
          <p:nvPr/>
        </p:nvSpPr>
        <p:spPr>
          <a:xfrm>
            <a:off x="6581775" y="24974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Triplex</a:t>
            </a:r>
          </a:p>
        </p:txBody>
      </p:sp>
      <p:cxnSp>
        <p:nvCxnSpPr>
          <p:cNvPr id="171" name="Connector 170"/>
          <p:cNvCxnSpPr/>
          <p:nvPr/>
        </p:nvCxnSpPr>
        <p:spPr>
          <a:xfrm>
            <a:off x="61722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2" name="TextBox 171"/>
          <p:cNvSpPr txBox="1"/>
          <p:nvPr/>
        </p:nvSpPr>
        <p:spPr>
          <a:xfrm>
            <a:off x="63912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3" name="TextBox 172"/>
          <p:cNvSpPr txBox="1"/>
          <p:nvPr/>
        </p:nvSpPr>
        <p:spPr>
          <a:xfrm>
            <a:off x="65817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Multi-Ply</a:t>
            </a:r>
          </a:p>
        </p:txBody>
      </p:sp>
      <p:cxnSp>
        <p:nvCxnSpPr>
          <p:cNvPr id="174" name="Connector 173"/>
          <p:cNvCxnSpPr/>
          <p:nvPr/>
        </p:nvCxnSpPr>
        <p:spPr>
          <a:xfrm>
            <a:off x="61722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5" name="TextBox 174"/>
          <p:cNvSpPr txBox="1"/>
          <p:nvPr/>
        </p:nvSpPr>
        <p:spPr>
          <a:xfrm>
            <a:off x="621982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6" name="TextBox 175"/>
          <p:cNvSpPr txBox="1"/>
          <p:nvPr/>
        </p:nvSpPr>
        <p:spPr>
          <a:xfrm>
            <a:off x="6410325" y="285178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Coated Films</a:t>
            </a:r>
          </a:p>
        </p:txBody>
      </p:sp>
      <p:cxnSp>
        <p:nvCxnSpPr>
          <p:cNvPr id="177" name="Connector 176"/>
          <p:cNvCxnSpPr/>
          <p:nvPr/>
        </p:nvCxnSpPr>
        <p:spPr>
          <a:xfrm>
            <a:off x="61722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8" name="TextBox 177"/>
          <p:cNvSpPr txBox="1"/>
          <p:nvPr/>
        </p:nvSpPr>
        <p:spPr>
          <a:xfrm>
            <a:off x="621982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9" name="TextBox 178"/>
          <p:cNvSpPr txBox="1"/>
          <p:nvPr/>
        </p:nvSpPr>
        <p:spPr>
          <a:xfrm>
            <a:off x="6410325" y="302895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Metallized Films</a:t>
            </a:r>
          </a:p>
        </p:txBody>
      </p:sp>
      <p:cxnSp>
        <p:nvCxnSpPr>
          <p:cNvPr id="180" name="Connector 179"/>
          <p:cNvCxnSpPr/>
          <p:nvPr/>
        </p:nvCxnSpPr>
        <p:spPr>
          <a:xfrm>
            <a:off x="61722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1" name="TextBox 180"/>
          <p:cNvSpPr txBox="1"/>
          <p:nvPr/>
        </p:nvSpPr>
        <p:spPr>
          <a:xfrm>
            <a:off x="621982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2" name="TextBox 181"/>
          <p:cNvSpPr txBox="1"/>
          <p:nvPr/>
        </p:nvSpPr>
        <p:spPr>
          <a:xfrm>
            <a:off x="6410325" y="320611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Foil-Laminated Structures</a:t>
            </a:r>
          </a:p>
        </p:txBody>
      </p:sp>
      <p:cxnSp>
        <p:nvCxnSpPr>
          <p:cNvPr id="183" name="Connector 182"/>
          <p:cNvCxnSpPr/>
          <p:nvPr/>
        </p:nvCxnSpPr>
        <p:spPr>
          <a:xfrm>
            <a:off x="6172200" y="33832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4" name="TextBox 183"/>
          <p:cNvSpPr txBox="1"/>
          <p:nvPr/>
        </p:nvSpPr>
        <p:spPr>
          <a:xfrm>
            <a:off x="621982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5" name="TextBox 184"/>
          <p:cNvSpPr txBox="1"/>
          <p:nvPr/>
        </p:nvSpPr>
        <p:spPr>
          <a:xfrm>
            <a:off x="6410325" y="338328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Mono-Material Recyclable Structures</a:t>
            </a:r>
          </a:p>
        </p:txBody>
      </p:sp>
      <p:cxnSp>
        <p:nvCxnSpPr>
          <p:cNvPr id="186" name="Connector 185"/>
          <p:cNvCxnSpPr/>
          <p:nvPr/>
        </p:nvCxnSpPr>
        <p:spPr>
          <a:xfrm>
            <a:off x="6172200" y="35604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7" name="TextBox 186"/>
          <p:cNvSpPr txBox="1"/>
          <p:nvPr/>
        </p:nvSpPr>
        <p:spPr>
          <a:xfrm>
            <a:off x="6391275" y="35604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8" name="TextBox 187"/>
          <p:cNvSpPr txBox="1"/>
          <p:nvPr/>
        </p:nvSpPr>
        <p:spPr>
          <a:xfrm>
            <a:off x="6581775" y="35604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PE-Based</a:t>
            </a:r>
          </a:p>
        </p:txBody>
      </p:sp>
      <p:cxnSp>
        <p:nvCxnSpPr>
          <p:cNvPr id="189" name="Connector 188"/>
          <p:cNvCxnSpPr/>
          <p:nvPr/>
        </p:nvCxnSpPr>
        <p:spPr>
          <a:xfrm>
            <a:off x="6172200" y="37376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0" name="TextBox 189"/>
          <p:cNvSpPr txBox="1"/>
          <p:nvPr/>
        </p:nvSpPr>
        <p:spPr>
          <a:xfrm>
            <a:off x="6391275" y="37376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1" name="TextBox 190"/>
          <p:cNvSpPr txBox="1"/>
          <p:nvPr/>
        </p:nvSpPr>
        <p:spPr>
          <a:xfrm>
            <a:off x="6581775" y="37376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PP-Based</a:t>
            </a:r>
          </a:p>
        </p:txBody>
      </p:sp>
      <p:cxnSp>
        <p:nvCxnSpPr>
          <p:cNvPr id="192" name="Connector 191"/>
          <p:cNvCxnSpPr/>
          <p:nvPr/>
        </p:nvCxnSpPr>
        <p:spPr>
          <a:xfrm>
            <a:off x="6172200" y="39147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3" name="TextBox 192"/>
          <p:cNvSpPr txBox="1"/>
          <p:nvPr/>
        </p:nvSpPr>
        <p:spPr>
          <a:xfrm>
            <a:off x="6391275" y="39147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4" name="TextBox 193"/>
          <p:cNvSpPr txBox="1"/>
          <p:nvPr/>
        </p:nvSpPr>
        <p:spPr>
          <a:xfrm>
            <a:off x="6581775" y="39147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PET-Based</a:t>
            </a:r>
          </a:p>
        </p:txBody>
      </p:sp>
      <p:sp>
        <p:nvSpPr>
          <p:cNvPr id="195" name="Rectangle 194"/>
          <p:cNvSpPr/>
          <p:nvPr/>
        </p:nvSpPr>
        <p:spPr>
          <a:xfrm>
            <a:off x="91725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91725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TextBox 196"/>
          <p:cNvSpPr txBox="1"/>
          <p:nvPr/>
        </p:nvSpPr>
        <p:spPr>
          <a:xfrm>
            <a:off x="92487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Barrier Level</a:t>
            </a:r>
          </a:p>
        </p:txBody>
      </p:sp>
      <p:sp>
        <p:nvSpPr>
          <p:cNvPr id="198" name="TextBox 197"/>
          <p:cNvSpPr txBox="1"/>
          <p:nvPr/>
        </p:nvSpPr>
        <p:spPr>
          <a:xfrm>
            <a:off x="92297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9" name="TextBox 198"/>
          <p:cNvSpPr txBox="1"/>
          <p:nvPr/>
        </p:nvSpPr>
        <p:spPr>
          <a:xfrm>
            <a:off x="94202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cxnSp>
        <p:nvCxnSpPr>
          <p:cNvPr id="200" name="Connector 199"/>
          <p:cNvCxnSpPr/>
          <p:nvPr/>
        </p:nvCxnSpPr>
        <p:spPr>
          <a:xfrm>
            <a:off x="91821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1" name="TextBox 200"/>
          <p:cNvSpPr txBox="1"/>
          <p:nvPr/>
        </p:nvSpPr>
        <p:spPr>
          <a:xfrm>
            <a:off x="92297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2" name="TextBox 201"/>
          <p:cNvSpPr txBox="1"/>
          <p:nvPr/>
        </p:nvSpPr>
        <p:spPr>
          <a:xfrm>
            <a:off x="94202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cxnSp>
        <p:nvCxnSpPr>
          <p:cNvPr id="203" name="Connector 202"/>
          <p:cNvCxnSpPr/>
          <p:nvPr/>
        </p:nvCxnSpPr>
        <p:spPr>
          <a:xfrm>
            <a:off x="91821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4" name="TextBox 203"/>
          <p:cNvSpPr txBox="1"/>
          <p:nvPr/>
        </p:nvSpPr>
        <p:spPr>
          <a:xfrm>
            <a:off x="92297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5" name="TextBox 204"/>
          <p:cNvSpPr txBox="1"/>
          <p:nvPr/>
        </p:nvSpPr>
        <p:spPr>
          <a:xfrm>
            <a:off x="94202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cxnSp>
        <p:nvCxnSpPr>
          <p:cNvPr id="206" name="Connector 205"/>
          <p:cNvCxnSpPr/>
          <p:nvPr/>
        </p:nvCxnSpPr>
        <p:spPr>
          <a:xfrm>
            <a:off x="91821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7" name="TextBox 206"/>
          <p:cNvSpPr txBox="1"/>
          <p:nvPr/>
        </p:nvSpPr>
        <p:spPr>
          <a:xfrm>
            <a:off x="92297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8" name="TextBox 207"/>
          <p:cNvSpPr txBox="1"/>
          <p:nvPr/>
        </p:nvSpPr>
        <p:spPr>
          <a:xfrm>
            <a:off x="94202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209" name="Rectangle 208"/>
          <p:cNvSpPr/>
          <p:nvPr/>
        </p:nvSpPr>
        <p:spPr>
          <a:xfrm>
            <a:off x="9172575" y="2080260"/>
            <a:ext cx="2876550" cy="341757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9172575" y="208026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TextBox 210"/>
          <p:cNvSpPr txBox="1"/>
          <p:nvPr/>
        </p:nvSpPr>
        <p:spPr>
          <a:xfrm>
            <a:off x="9248775" y="208026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Application</a:t>
            </a:r>
          </a:p>
        </p:txBody>
      </p:sp>
      <p:sp>
        <p:nvSpPr>
          <p:cNvPr id="212" name="TextBox 211"/>
          <p:cNvSpPr txBox="1"/>
          <p:nvPr/>
        </p:nvSpPr>
        <p:spPr>
          <a:xfrm>
            <a:off x="92297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3" name="TextBox 212"/>
          <p:cNvSpPr txBox="1"/>
          <p:nvPr/>
        </p:nvSpPr>
        <p:spPr>
          <a:xfrm>
            <a:off x="9420225" y="230886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Food Packaging</a:t>
            </a:r>
          </a:p>
        </p:txBody>
      </p:sp>
      <p:cxnSp>
        <p:nvCxnSpPr>
          <p:cNvPr id="214" name="Connector 213"/>
          <p:cNvCxnSpPr/>
          <p:nvPr/>
        </p:nvCxnSpPr>
        <p:spPr>
          <a:xfrm>
            <a:off x="91821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5" name="TextBox 214"/>
          <p:cNvSpPr txBox="1"/>
          <p:nvPr/>
        </p:nvSpPr>
        <p:spPr>
          <a:xfrm>
            <a:off x="940117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6" name="TextBox 215"/>
          <p:cNvSpPr txBox="1"/>
          <p:nvPr/>
        </p:nvSpPr>
        <p:spPr>
          <a:xfrm>
            <a:off x="9591675" y="24860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Meat and Processed Meat</a:t>
            </a:r>
          </a:p>
        </p:txBody>
      </p:sp>
      <p:cxnSp>
        <p:nvCxnSpPr>
          <p:cNvPr id="217" name="Connector 216"/>
          <p:cNvCxnSpPr/>
          <p:nvPr/>
        </p:nvCxnSpPr>
        <p:spPr>
          <a:xfrm>
            <a:off x="91821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8" name="TextBox 217"/>
          <p:cNvSpPr txBox="1"/>
          <p:nvPr/>
        </p:nvSpPr>
        <p:spPr>
          <a:xfrm>
            <a:off x="940117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9" name="TextBox 218"/>
          <p:cNvSpPr txBox="1"/>
          <p:nvPr/>
        </p:nvSpPr>
        <p:spPr>
          <a:xfrm>
            <a:off x="9591675" y="26631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Poultry</a:t>
            </a:r>
          </a:p>
        </p:txBody>
      </p:sp>
      <p:cxnSp>
        <p:nvCxnSpPr>
          <p:cNvPr id="220" name="Connector 219"/>
          <p:cNvCxnSpPr/>
          <p:nvPr/>
        </p:nvCxnSpPr>
        <p:spPr>
          <a:xfrm>
            <a:off x="91821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1" name="TextBox 220"/>
          <p:cNvSpPr txBox="1"/>
          <p:nvPr/>
        </p:nvSpPr>
        <p:spPr>
          <a:xfrm>
            <a:off x="940117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2" name="TextBox 221"/>
          <p:cNvSpPr txBox="1"/>
          <p:nvPr/>
        </p:nvSpPr>
        <p:spPr>
          <a:xfrm>
            <a:off x="9591675" y="28403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Fish and Seafood</a:t>
            </a:r>
          </a:p>
        </p:txBody>
      </p:sp>
      <p:cxnSp>
        <p:nvCxnSpPr>
          <p:cNvPr id="223" name="Connector 222"/>
          <p:cNvCxnSpPr/>
          <p:nvPr/>
        </p:nvCxnSpPr>
        <p:spPr>
          <a:xfrm>
            <a:off x="91821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4" name="TextBox 223"/>
          <p:cNvSpPr txBox="1"/>
          <p:nvPr/>
        </p:nvSpPr>
        <p:spPr>
          <a:xfrm>
            <a:off x="940117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5" name="TextBox 224"/>
          <p:cNvSpPr txBox="1"/>
          <p:nvPr/>
        </p:nvSpPr>
        <p:spPr>
          <a:xfrm>
            <a:off x="9591675" y="30175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Dairy and Cheese</a:t>
            </a:r>
          </a:p>
        </p:txBody>
      </p:sp>
      <p:cxnSp>
        <p:nvCxnSpPr>
          <p:cNvPr id="226" name="Connector 225"/>
          <p:cNvCxnSpPr/>
          <p:nvPr/>
        </p:nvCxnSpPr>
        <p:spPr>
          <a:xfrm>
            <a:off x="91821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7" name="TextBox 226"/>
          <p:cNvSpPr txBox="1"/>
          <p:nvPr/>
        </p:nvSpPr>
        <p:spPr>
          <a:xfrm>
            <a:off x="940117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8" name="TextBox 227"/>
          <p:cNvSpPr txBox="1"/>
          <p:nvPr/>
        </p:nvSpPr>
        <p:spPr>
          <a:xfrm>
            <a:off x="9591675" y="31946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Ready Meals and Prepared Foods</a:t>
            </a:r>
          </a:p>
        </p:txBody>
      </p:sp>
      <p:cxnSp>
        <p:nvCxnSpPr>
          <p:cNvPr id="229" name="Connector 228"/>
          <p:cNvCxnSpPr/>
          <p:nvPr/>
        </p:nvCxnSpPr>
        <p:spPr>
          <a:xfrm>
            <a:off x="9182100" y="33718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0" name="TextBox 229"/>
          <p:cNvSpPr txBox="1"/>
          <p:nvPr/>
        </p:nvSpPr>
        <p:spPr>
          <a:xfrm>
            <a:off x="9401175" y="33718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1" name="TextBox 230"/>
          <p:cNvSpPr txBox="1"/>
          <p:nvPr/>
        </p:nvSpPr>
        <p:spPr>
          <a:xfrm>
            <a:off x="9591675" y="33718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Bakery, Confectionery and Snacks</a:t>
            </a:r>
          </a:p>
        </p:txBody>
      </p:sp>
      <p:cxnSp>
        <p:nvCxnSpPr>
          <p:cNvPr id="232" name="Connector 231"/>
          <p:cNvCxnSpPr/>
          <p:nvPr/>
        </p:nvCxnSpPr>
        <p:spPr>
          <a:xfrm>
            <a:off x="9182100" y="35490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3" name="TextBox 232"/>
          <p:cNvSpPr txBox="1"/>
          <p:nvPr/>
        </p:nvSpPr>
        <p:spPr>
          <a:xfrm>
            <a:off x="9401175" y="35490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4" name="TextBox 233"/>
          <p:cNvSpPr txBox="1"/>
          <p:nvPr/>
        </p:nvSpPr>
        <p:spPr>
          <a:xfrm>
            <a:off x="9591675" y="354901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Dry Foods and Powders</a:t>
            </a:r>
          </a:p>
        </p:txBody>
      </p:sp>
      <p:cxnSp>
        <p:nvCxnSpPr>
          <p:cNvPr id="235" name="Connector 234"/>
          <p:cNvCxnSpPr/>
          <p:nvPr/>
        </p:nvCxnSpPr>
        <p:spPr>
          <a:xfrm>
            <a:off x="9182100" y="37261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6" name="TextBox 235"/>
          <p:cNvSpPr txBox="1"/>
          <p:nvPr/>
        </p:nvSpPr>
        <p:spPr>
          <a:xfrm>
            <a:off x="9401175" y="37261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7" name="TextBox 236"/>
          <p:cNvSpPr txBox="1"/>
          <p:nvPr/>
        </p:nvSpPr>
        <p:spPr>
          <a:xfrm>
            <a:off x="9591675" y="37261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Pet Food</a:t>
            </a:r>
          </a:p>
        </p:txBody>
      </p:sp>
      <p:cxnSp>
        <p:nvCxnSpPr>
          <p:cNvPr id="238" name="Connector 237"/>
          <p:cNvCxnSpPr/>
          <p:nvPr/>
        </p:nvCxnSpPr>
        <p:spPr>
          <a:xfrm>
            <a:off x="9182100" y="3903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9" name="TextBox 238"/>
          <p:cNvSpPr txBox="1"/>
          <p:nvPr/>
        </p:nvSpPr>
        <p:spPr>
          <a:xfrm>
            <a:off x="9401175" y="3903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0" name="TextBox 239"/>
          <p:cNvSpPr txBox="1"/>
          <p:nvPr/>
        </p:nvSpPr>
        <p:spPr>
          <a:xfrm>
            <a:off x="9591675" y="3903345"/>
            <a:ext cx="2419350" cy="531495"/>
          </a:xfrm>
          <a:prstGeom prst="rect">
            <a:avLst/>
          </a:prstGeom>
          <a:noFill/>
        </p:spPr>
        <p:txBody>
          <a:bodyPr wrap="square" lIns="28575" rIns="28575" tIns="9525" bIns="9525" anchor="t">
            <a:spAutoFit/>
          </a:bodyPr>
          <a:lstStyle/>
          <a:p>
            <a:pPr algn="l">
              <a:lnSpc>
                <a:spcPct val="100000"/>
              </a:lnSpc>
            </a:pPr>
            <a:r>
              <a:rPr sz="1100" b="0">
                <a:solidFill>
                  <a:srgbClr val="2E2E2E"/>
                </a:solidFill>
                <a:latin typeface="Calibri"/>
              </a:rPr>
              <a:t>Other Food Products (Fresh Produce, Plant-Based Foods, Condiments and Dressings, Foodservice Products)</a:t>
            </a:r>
          </a:p>
        </p:txBody>
      </p:sp>
      <p:cxnSp>
        <p:nvCxnSpPr>
          <p:cNvPr id="241" name="Connector 240"/>
          <p:cNvCxnSpPr/>
          <p:nvPr/>
        </p:nvCxnSpPr>
        <p:spPr>
          <a:xfrm>
            <a:off x="9182100" y="4434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2" name="TextBox 241"/>
          <p:cNvSpPr txBox="1"/>
          <p:nvPr/>
        </p:nvSpPr>
        <p:spPr>
          <a:xfrm>
            <a:off x="9229725" y="4434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3" name="TextBox 242"/>
          <p:cNvSpPr txBox="1"/>
          <p:nvPr/>
        </p:nvSpPr>
        <p:spPr>
          <a:xfrm>
            <a:off x="9420225" y="443484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Non-Food Packaging</a:t>
            </a:r>
          </a:p>
        </p:txBody>
      </p:sp>
      <p:cxnSp>
        <p:nvCxnSpPr>
          <p:cNvPr id="244" name="Connector 243"/>
          <p:cNvCxnSpPr/>
          <p:nvPr/>
        </p:nvCxnSpPr>
        <p:spPr>
          <a:xfrm>
            <a:off x="9182100" y="46120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5" name="TextBox 244"/>
          <p:cNvSpPr txBox="1"/>
          <p:nvPr/>
        </p:nvSpPr>
        <p:spPr>
          <a:xfrm>
            <a:off x="9401175" y="46120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6" name="TextBox 245"/>
          <p:cNvSpPr txBox="1"/>
          <p:nvPr/>
        </p:nvSpPr>
        <p:spPr>
          <a:xfrm>
            <a:off x="9591675" y="46120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Pharmaceutical and Healthcare</a:t>
            </a:r>
          </a:p>
        </p:txBody>
      </p:sp>
      <p:cxnSp>
        <p:nvCxnSpPr>
          <p:cNvPr id="247" name="Connector 246"/>
          <p:cNvCxnSpPr/>
          <p:nvPr/>
        </p:nvCxnSpPr>
        <p:spPr>
          <a:xfrm>
            <a:off x="9182100" y="47891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8" name="TextBox 247"/>
          <p:cNvSpPr txBox="1"/>
          <p:nvPr/>
        </p:nvSpPr>
        <p:spPr>
          <a:xfrm>
            <a:off x="9401175" y="47891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9" name="TextBox 248"/>
          <p:cNvSpPr txBox="1"/>
          <p:nvPr/>
        </p:nvSpPr>
        <p:spPr>
          <a:xfrm>
            <a:off x="9591675" y="47891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Personal Care and Cosmetics</a:t>
            </a:r>
          </a:p>
        </p:txBody>
      </p:sp>
      <p:cxnSp>
        <p:nvCxnSpPr>
          <p:cNvPr id="250" name="Connector 249"/>
          <p:cNvCxnSpPr/>
          <p:nvPr/>
        </p:nvCxnSpPr>
        <p:spPr>
          <a:xfrm>
            <a:off x="9182100" y="49663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1" name="TextBox 250"/>
          <p:cNvSpPr txBox="1"/>
          <p:nvPr/>
        </p:nvSpPr>
        <p:spPr>
          <a:xfrm>
            <a:off x="9401175" y="49663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2" name="TextBox 251"/>
          <p:cNvSpPr txBox="1"/>
          <p:nvPr/>
        </p:nvSpPr>
        <p:spPr>
          <a:xfrm>
            <a:off x="9591675" y="49663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Household Care</a:t>
            </a:r>
          </a:p>
        </p:txBody>
      </p:sp>
      <p:cxnSp>
        <p:nvCxnSpPr>
          <p:cNvPr id="253" name="Connector 252"/>
          <p:cNvCxnSpPr/>
          <p:nvPr/>
        </p:nvCxnSpPr>
        <p:spPr>
          <a:xfrm>
            <a:off x="9182100" y="51435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4" name="TextBox 253"/>
          <p:cNvSpPr txBox="1"/>
          <p:nvPr/>
        </p:nvSpPr>
        <p:spPr>
          <a:xfrm>
            <a:off x="9401175" y="51435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5" name="TextBox 254"/>
          <p:cNvSpPr txBox="1"/>
          <p:nvPr/>
        </p:nvSpPr>
        <p:spPr>
          <a:xfrm>
            <a:off x="9591675" y="514350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Chemicals and Agrochemicals</a:t>
            </a:r>
          </a:p>
        </p:txBody>
      </p:sp>
      <p:cxnSp>
        <p:nvCxnSpPr>
          <p:cNvPr id="256" name="Connector 255"/>
          <p:cNvCxnSpPr/>
          <p:nvPr/>
        </p:nvCxnSpPr>
        <p:spPr>
          <a:xfrm>
            <a:off x="9182100" y="53206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7" name="TextBox 256"/>
          <p:cNvSpPr txBox="1"/>
          <p:nvPr/>
        </p:nvSpPr>
        <p:spPr>
          <a:xfrm>
            <a:off x="9401175" y="53206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8" name="TextBox 257"/>
          <p:cNvSpPr txBox="1"/>
          <p:nvPr/>
        </p:nvSpPr>
        <p:spPr>
          <a:xfrm>
            <a:off x="9591675" y="53206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Electronics and Technical Products</a:t>
            </a:r>
          </a:p>
        </p:txBody>
      </p:sp>
      <p:sp>
        <p:nvSpPr>
          <p:cNvPr id="259" name="TextBox 25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Company Coverage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Companies profiled and benchmarked across the competition assessment</a:t>
            </a:r>
          </a:p>
        </p:txBody>
      </p:sp>
      <p:sp>
        <p:nvSpPr>
          <p:cNvPr id="10" name="TextBox 9"/>
          <p:cNvSpPr txBox="1"/>
          <p:nvPr/>
        </p:nvSpPr>
        <p:spPr>
          <a:xfrm>
            <a:off x="142875" y="1007261"/>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Companies covered in this study of the Flexible Plastic Packaging Market profiled and benchmarked in the Competition Assessment section.</a:t>
            </a:r>
          </a:p>
        </p:txBody>
      </p:sp>
      <p:sp>
        <p:nvSpPr>
          <p:cNvPr id="11" name="Rectangle 10"/>
          <p:cNvSpPr/>
          <p:nvPr/>
        </p:nvSpPr>
        <p:spPr>
          <a:xfrm>
            <a:off x="142875" y="2796123"/>
            <a:ext cx="5857875" cy="21721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42875" y="2796123"/>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42875" y="2860011"/>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14" name="TextBox 13"/>
          <p:cNvSpPr txBox="1"/>
          <p:nvPr/>
        </p:nvSpPr>
        <p:spPr>
          <a:xfrm>
            <a:off x="333375" y="3069929"/>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5" name="TextBox 14"/>
          <p:cNvSpPr txBox="1"/>
          <p:nvPr/>
        </p:nvSpPr>
        <p:spPr>
          <a:xfrm>
            <a:off x="581025" y="3069929"/>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A</a:t>
            </a:r>
          </a:p>
        </p:txBody>
      </p:sp>
      <p:sp>
        <p:nvSpPr>
          <p:cNvPr id="16" name="Rectangle 15"/>
          <p:cNvSpPr/>
          <p:nvPr/>
        </p:nvSpPr>
        <p:spPr>
          <a:xfrm>
            <a:off x="152400" y="3544525"/>
            <a:ext cx="5838825" cy="474596"/>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7" name="Connector 16"/>
          <p:cNvCxnSpPr/>
          <p:nvPr/>
        </p:nvCxnSpPr>
        <p:spPr>
          <a:xfrm>
            <a:off x="152400" y="354452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33375" y="3544525"/>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9" name="TextBox 18"/>
          <p:cNvSpPr txBox="1"/>
          <p:nvPr/>
        </p:nvSpPr>
        <p:spPr>
          <a:xfrm>
            <a:off x="581025" y="3544525"/>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B</a:t>
            </a:r>
          </a:p>
        </p:txBody>
      </p:sp>
      <p:cxnSp>
        <p:nvCxnSpPr>
          <p:cNvPr id="20" name="Connector 19"/>
          <p:cNvCxnSpPr/>
          <p:nvPr/>
        </p:nvCxnSpPr>
        <p:spPr>
          <a:xfrm>
            <a:off x="152400"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333375" y="4019121"/>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2" name="TextBox 21"/>
          <p:cNvSpPr txBox="1"/>
          <p:nvPr/>
        </p:nvSpPr>
        <p:spPr>
          <a:xfrm>
            <a:off x="581025" y="4019121"/>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C</a:t>
            </a:r>
          </a:p>
        </p:txBody>
      </p:sp>
      <p:sp>
        <p:nvSpPr>
          <p:cNvPr id="23" name="Rectangle 22"/>
          <p:cNvSpPr/>
          <p:nvPr/>
        </p:nvSpPr>
        <p:spPr>
          <a:xfrm>
            <a:off x="152400" y="4493717"/>
            <a:ext cx="5838825" cy="46546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4" name="Connector 23"/>
          <p:cNvCxnSpPr/>
          <p:nvPr/>
        </p:nvCxnSpPr>
        <p:spPr>
          <a:xfrm>
            <a:off x="152400" y="449371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33375" y="4493717"/>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6" name="TextBox 25"/>
          <p:cNvSpPr txBox="1"/>
          <p:nvPr/>
        </p:nvSpPr>
        <p:spPr>
          <a:xfrm>
            <a:off x="581025" y="4493717"/>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D</a:t>
            </a:r>
          </a:p>
        </p:txBody>
      </p:sp>
      <p:sp>
        <p:nvSpPr>
          <p:cNvPr id="27" name="Rectangle 26"/>
          <p:cNvSpPr/>
          <p:nvPr/>
        </p:nvSpPr>
        <p:spPr>
          <a:xfrm>
            <a:off x="6191250" y="2796123"/>
            <a:ext cx="5857875" cy="21721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191250" y="2796123"/>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191250" y="2860011"/>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30" name="TextBox 29"/>
          <p:cNvSpPr txBox="1"/>
          <p:nvPr/>
        </p:nvSpPr>
        <p:spPr>
          <a:xfrm>
            <a:off x="6381750" y="3069929"/>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1" name="TextBox 30"/>
          <p:cNvSpPr txBox="1"/>
          <p:nvPr/>
        </p:nvSpPr>
        <p:spPr>
          <a:xfrm>
            <a:off x="6629400" y="3069929"/>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E</a:t>
            </a:r>
          </a:p>
        </p:txBody>
      </p:sp>
      <p:sp>
        <p:nvSpPr>
          <p:cNvPr id="32" name="Rectangle 31"/>
          <p:cNvSpPr/>
          <p:nvPr/>
        </p:nvSpPr>
        <p:spPr>
          <a:xfrm>
            <a:off x="6200775" y="3544525"/>
            <a:ext cx="5838825" cy="474596"/>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3" name="Connector 32"/>
          <p:cNvCxnSpPr/>
          <p:nvPr/>
        </p:nvCxnSpPr>
        <p:spPr>
          <a:xfrm>
            <a:off x="6200775" y="354452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6381750" y="3544525"/>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5" name="TextBox 34"/>
          <p:cNvSpPr txBox="1"/>
          <p:nvPr/>
        </p:nvSpPr>
        <p:spPr>
          <a:xfrm>
            <a:off x="6629400" y="3544525"/>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F</a:t>
            </a:r>
          </a:p>
        </p:txBody>
      </p:sp>
      <p:cxnSp>
        <p:nvCxnSpPr>
          <p:cNvPr id="36" name="Connector 35"/>
          <p:cNvCxnSpPr/>
          <p:nvPr/>
        </p:nvCxnSpPr>
        <p:spPr>
          <a:xfrm>
            <a:off x="6200775"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6381750" y="4019121"/>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8" name="TextBox 37"/>
          <p:cNvSpPr txBox="1"/>
          <p:nvPr/>
        </p:nvSpPr>
        <p:spPr>
          <a:xfrm>
            <a:off x="6629400" y="4019121"/>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G</a:t>
            </a:r>
          </a:p>
        </p:txBody>
      </p:sp>
      <p:sp>
        <p:nvSpPr>
          <p:cNvPr id="39" name="Rectangle 38"/>
          <p:cNvSpPr/>
          <p:nvPr/>
        </p:nvSpPr>
        <p:spPr>
          <a:xfrm>
            <a:off x="6200775" y="4493717"/>
            <a:ext cx="5838825" cy="46546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0" name="Connector 39"/>
          <p:cNvCxnSpPr/>
          <p:nvPr/>
        </p:nvCxnSpPr>
        <p:spPr>
          <a:xfrm>
            <a:off x="6200775" y="449371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1" name="TextBox 40"/>
          <p:cNvSpPr txBox="1"/>
          <p:nvPr/>
        </p:nvSpPr>
        <p:spPr>
          <a:xfrm>
            <a:off x="6381750" y="4493717"/>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2" name="TextBox 41"/>
          <p:cNvSpPr txBox="1"/>
          <p:nvPr/>
        </p:nvSpPr>
        <p:spPr>
          <a:xfrm>
            <a:off x="6629400" y="4493717"/>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H</a:t>
            </a:r>
          </a:p>
        </p:txBody>
      </p:sp>
      <p:sp>
        <p:nvSpPr>
          <p:cNvPr id="43" name="TextBox 42"/>
          <p:cNvSpPr txBox="1"/>
          <p:nvPr/>
        </p:nvSpPr>
        <p:spPr>
          <a:xfrm>
            <a:off x="142875" y="6337341"/>
            <a:ext cx="11906250" cy="182537"/>
          </a:xfrm>
          <a:prstGeom prst="rect">
            <a:avLst/>
          </a:prstGeom>
          <a:noFill/>
        </p:spPr>
        <p:txBody>
          <a:bodyPr wrap="square" lIns="28575" rIns="28575" tIns="9525" bIns="9525" anchor="ctr">
            <a:spAutoFit/>
          </a:bodyPr>
          <a:lstStyle/>
          <a:p>
            <a:pPr algn="l"/>
            <a:r>
              <a:rPr sz="1100" b="1">
                <a:solidFill>
                  <a:srgbClr val="B06A2C"/>
                </a:solidFill>
                <a:latin typeface="Calibri"/>
              </a:rPr>
              <a:t>Note: the list of companies is indicative and can be customised on request.</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194500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2249805"/>
            <a:ext cx="7239000" cy="971550"/>
          </a:xfrm>
          <a:prstGeom prst="rect">
            <a:avLst/>
          </a:prstGeom>
          <a:noFill/>
        </p:spPr>
        <p:txBody>
          <a:bodyPr wrap="square" lIns="0" rIns="0" tIns="0">
            <a:spAutoFit/>
          </a:bodyPr>
          <a:lstStyle/>
          <a:p>
            <a:r>
              <a:rPr sz="3000" b="1" cap="all" spc="400">
                <a:solidFill>
                  <a:srgbClr val="FFFFFF"/>
                </a:solidFill>
                <a:latin typeface="Calibri"/>
              </a:rPr>
              <a:t>Latin America Market Outlook</a:t>
            </a:r>
          </a:p>
        </p:txBody>
      </p:sp>
      <p:sp>
        <p:nvSpPr>
          <p:cNvPr id="7" name="TextBox 6"/>
          <p:cNvSpPr txBox="1"/>
          <p:nvPr/>
        </p:nvSpPr>
        <p:spPr>
          <a:xfrm>
            <a:off x="914400" y="3411855"/>
            <a:ext cx="7124700" cy="292989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Latin America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Latin America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Latin America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Principal Material / Barrier Technology</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Material Structure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Barrier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Application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Barrier Level Vs Application</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Latin America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Flexible Plastic Packaging Market Summary, By Volume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Latin America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(THOUSAND MT)</a:t>
            </a:r>
          </a:p>
          <a:p>
            <a:pPr algn="ctr">
              <a:lnSpc>
                <a:spcPct val="95000"/>
              </a:lnSpc>
            </a:pPr>
            <a:r>
              <a:rPr sz="1500" b="1">
                <a:solidFill>
                  <a:srgbClr val="0E72AE"/>
                </a:solidFill>
                <a:latin typeface="Calibri"/>
              </a:rPr>
              <a:t>2,834</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4,955</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4.8%</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5.7%</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(Thousand MT)</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Latin America flexible plastic packaging market is projected to register 1.8X increase in volume by the end of forecast period, 2036. Latin America flexible plastic packaging market volume stood at 2,698 Thousand MT in 2025 and is expected to reach 4,955 Thousand MT by 2036 end, at a CAGR of 5.7%.</a:t>
            </a:r>
          </a:p>
          <a:p>
            <a:pPr algn="l">
              <a:lnSpc>
                <a:spcPct val="110000"/>
              </a:lnSpc>
              <a:spcBef>
                <a:spcPts val="0"/>
              </a:spcBef>
              <a:spcAft>
                <a:spcPts val="500"/>
              </a:spcAft>
            </a:pPr>
            <a:r>
              <a:rPr sz="1100" b="0">
                <a:solidFill>
                  <a:srgbClr val="2E2E2E"/>
                </a:solidFill>
                <a:latin typeface="Calibri"/>
              </a:rPr>
              <a:t>Value is projected to grow faster than volume over the forecast period, owing to an increase in average selling price.</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'Colombia' leads regional growth at 6.9%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'Rollstock Films' within Product Type.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Flexible Plastic Packaging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Type  ·  range across 2021–2036 (US$/MT)</a:t>
            </a:r>
          </a:p>
        </p:txBody>
      </p:sp>
      <p:cxnSp>
        <p:nvCxnSpPr>
          <p:cNvPr id="13" name="Connector 12"/>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27026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2,125</a:t>
            </a:r>
          </a:p>
        </p:txBody>
      </p:sp>
      <p:sp>
        <p:nvSpPr>
          <p:cNvPr id="25" name="FMI Scale tick"/>
          <p:cNvSpPr txBox="1"/>
          <p:nvPr/>
        </p:nvSpPr>
        <p:spPr>
          <a:xfrm>
            <a:off x="219075" y="2328265"/>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3,632</a:t>
            </a:r>
          </a:p>
        </p:txBody>
      </p:sp>
      <p:sp>
        <p:nvSpPr>
          <p:cNvPr id="26" name="FMI Scale tick"/>
          <p:cNvSpPr txBox="1"/>
          <p:nvPr/>
        </p:nvSpPr>
        <p:spPr>
          <a:xfrm>
            <a:off x="219075" y="138627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5,138</a:t>
            </a:r>
          </a:p>
        </p:txBody>
      </p:sp>
      <p:cxnSp>
        <p:nvCxnSpPr>
          <p:cNvPr id="27" name="Connector 26"/>
          <p:cNvCxnSpPr/>
          <p:nvPr/>
        </p:nvCxnSpPr>
        <p:spPr>
          <a:xfrm flipV="1">
            <a:off x="1533525" y="2560459"/>
            <a:ext cx="0" cy="308085"/>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1402080" y="286854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1402080" y="256045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314450" y="2684317"/>
            <a:ext cx="438150" cy="159079"/>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314450" y="277810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40805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3,019</a:t>
            </a:r>
          </a:p>
        </p:txBody>
      </p:sp>
      <p:cxnSp>
        <p:nvCxnSpPr>
          <p:cNvPr id="33" name="Connector 32"/>
          <p:cNvCxnSpPr/>
          <p:nvPr/>
        </p:nvCxnSpPr>
        <p:spPr>
          <a:xfrm flipV="1">
            <a:off x="3286125" y="1670329"/>
            <a:ext cx="0" cy="413871"/>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3154680" y="2084200"/>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31546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3067050" y="1833071"/>
            <a:ext cx="438150" cy="208789"/>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3067050" y="1953701"/>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409825" y="151792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4,337</a:t>
            </a:r>
          </a:p>
        </p:txBody>
      </p:sp>
      <p:cxnSp>
        <p:nvCxnSpPr>
          <p:cNvPr id="39" name="Connector 38"/>
          <p:cNvCxnSpPr/>
          <p:nvPr/>
        </p:nvCxnSpPr>
        <p:spPr>
          <a:xfrm flipV="1">
            <a:off x="5038725" y="2736040"/>
            <a:ext cx="0" cy="281815"/>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4907280" y="301785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4907280" y="2736040"/>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4819650" y="2846521"/>
            <a:ext cx="438150" cy="146186"/>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4819650" y="2931430"/>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4162425" y="2583640"/>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2,774</a:t>
            </a:r>
          </a:p>
        </p:txBody>
      </p:sp>
      <p:cxnSp>
        <p:nvCxnSpPr>
          <p:cNvPr id="45" name="Connector 44"/>
          <p:cNvCxnSpPr/>
          <p:nvPr/>
        </p:nvCxnSpPr>
        <p:spPr>
          <a:xfrm flipV="1">
            <a:off x="6791325" y="2865549"/>
            <a:ext cx="0" cy="254003"/>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66598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6659880" y="286554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6572250" y="2967795"/>
            <a:ext cx="438150" cy="13052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6572250" y="304452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5915025" y="271314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2,593</a:t>
            </a:r>
          </a:p>
        </p:txBody>
      </p:sp>
      <p:sp>
        <p:nvSpPr>
          <p:cNvPr id="51" name="TextBox 50"/>
          <p:cNvSpPr txBox="1"/>
          <p:nvPr/>
        </p:nvSpPr>
        <p:spPr>
          <a:xfrm>
            <a:off x="6572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Rollstock Films</a:t>
            </a:r>
          </a:p>
        </p:txBody>
      </p:sp>
      <p:sp>
        <p:nvSpPr>
          <p:cNvPr id="52" name="TextBox 51"/>
          <p:cNvSpPr txBox="1"/>
          <p:nvPr/>
        </p:nvSpPr>
        <p:spPr>
          <a:xfrm>
            <a:off x="24098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Barrier Casings</a:t>
            </a:r>
          </a:p>
        </p:txBody>
      </p:sp>
      <p:sp>
        <p:nvSpPr>
          <p:cNvPr id="53" name="TextBox 52"/>
          <p:cNvSpPr txBox="1"/>
          <p:nvPr/>
        </p:nvSpPr>
        <p:spPr>
          <a:xfrm>
            <a:off x="41624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Premade Pouches &amp; Bags</a:t>
            </a:r>
          </a:p>
        </p:txBody>
      </p:sp>
      <p:sp>
        <p:nvSpPr>
          <p:cNvPr id="54" name="TextBox 53"/>
          <p:cNvSpPr txBox="1"/>
          <p:nvPr/>
        </p:nvSpPr>
        <p:spPr>
          <a:xfrm>
            <a:off x="59150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Sachets &amp; Stick Packs</a:t>
            </a:r>
          </a:p>
        </p:txBody>
      </p:sp>
      <p:sp>
        <p:nvSpPr>
          <p:cNvPr id="55" name="Rounded Rectangle 54"/>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Latin America  ·  2026–2036</a:t>
            </a:r>
          </a:p>
        </p:txBody>
      </p:sp>
      <p:cxnSp>
        <p:nvCxnSpPr>
          <p:cNvPr id="57" name="Connector 56"/>
          <p:cNvCxnSpPr/>
          <p:nvPr/>
        </p:nvCxnSpPr>
        <p:spPr>
          <a:xfrm>
            <a:off x="619125" y="4324970"/>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619125" y="475904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619125" y="519311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a:off x="619125" y="5627189"/>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1" name="Connector 60"/>
          <p:cNvCxnSpPr/>
          <p:nvPr/>
        </p:nvCxnSpPr>
        <p:spPr>
          <a:xfrm>
            <a:off x="619125" y="6061262"/>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2" name="Connector 61"/>
          <p:cNvCxnSpPr/>
          <p:nvPr/>
        </p:nvCxnSpPr>
        <p:spPr>
          <a:xfrm>
            <a:off x="619125" y="4324970"/>
            <a:ext cx="0" cy="1736292"/>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3" name="Connector 62"/>
          <p:cNvCxnSpPr/>
          <p:nvPr/>
        </p:nvCxnSpPr>
        <p:spPr>
          <a:xfrm>
            <a:off x="590550" y="432497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590550" y="47590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590550" y="519311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6" name="Connector 65"/>
          <p:cNvCxnSpPr/>
          <p:nvPr/>
        </p:nvCxnSpPr>
        <p:spPr>
          <a:xfrm>
            <a:off x="590550" y="5627189"/>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7" name="Connector 66"/>
          <p:cNvCxnSpPr/>
          <p:nvPr/>
        </p:nvCxnSpPr>
        <p:spPr>
          <a:xfrm>
            <a:off x="590550" y="6061262"/>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68" name="FMI Scale tick"/>
          <p:cNvSpPr txBox="1"/>
          <p:nvPr/>
        </p:nvSpPr>
        <p:spPr>
          <a:xfrm>
            <a:off x="138112" y="4258295"/>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+6.6%</a:t>
            </a:r>
          </a:p>
        </p:txBody>
      </p:sp>
      <p:sp>
        <p:nvSpPr>
          <p:cNvPr id="69" name="FMI Scale tick"/>
          <p:cNvSpPr txBox="1"/>
          <p:nvPr/>
        </p:nvSpPr>
        <p:spPr>
          <a:xfrm>
            <a:off x="138112" y="4692368"/>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+3.3%</a:t>
            </a:r>
          </a:p>
        </p:txBody>
      </p:sp>
      <p:sp>
        <p:nvSpPr>
          <p:cNvPr id="70" name="FMI Scale tick"/>
          <p:cNvSpPr txBox="1"/>
          <p:nvPr/>
        </p:nvSpPr>
        <p:spPr>
          <a:xfrm>
            <a:off x="219075" y="5126441"/>
            <a:ext cx="361950" cy="133350"/>
          </a:xfrm>
          <a:prstGeom prst="rect">
            <a:avLst/>
          </a:prstGeom>
          <a:noFill/>
        </p:spPr>
        <p:txBody>
          <a:bodyPr wrap="square" lIns="28575" rIns="28575" tIns="9525" bIns="9525" anchor="ctr">
            <a:spAutoFit/>
          </a:bodyPr>
          <a:lstStyle/>
          <a:p>
            <a:pPr algn="r"/>
            <a:r>
              <a:rPr sz="1100" b="1">
                <a:solidFill>
                  <a:srgbClr val="6C7A89"/>
                </a:solidFill>
                <a:latin typeface="Calibri"/>
              </a:rPr>
              <a:t>Latin America</a:t>
            </a:r>
          </a:p>
        </p:txBody>
      </p:sp>
      <p:sp>
        <p:nvSpPr>
          <p:cNvPr id="71" name="FMI Scale tick"/>
          <p:cNvSpPr txBox="1"/>
          <p:nvPr/>
        </p:nvSpPr>
        <p:spPr>
          <a:xfrm>
            <a:off x="164306" y="5560514"/>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-3.3%</a:t>
            </a:r>
          </a:p>
        </p:txBody>
      </p:sp>
      <p:sp>
        <p:nvSpPr>
          <p:cNvPr id="72" name="FMI Scale tick"/>
          <p:cNvSpPr txBox="1"/>
          <p:nvPr/>
        </p:nvSpPr>
        <p:spPr>
          <a:xfrm>
            <a:off x="164306" y="5994587"/>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-6.6%</a:t>
            </a:r>
          </a:p>
        </p:txBody>
      </p:sp>
      <p:cxnSp>
        <p:nvCxnSpPr>
          <p:cNvPr id="73" name="Connector 72"/>
          <p:cNvCxnSpPr/>
          <p:nvPr/>
        </p:nvCxnSpPr>
        <p:spPr>
          <a:xfrm>
            <a:off x="619125" y="519311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1271588" y="4691999"/>
            <a:ext cx="457200" cy="501116"/>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MI Data Label"/>
          <p:cNvSpPr txBox="1"/>
          <p:nvPr/>
        </p:nvSpPr>
        <p:spPr>
          <a:xfrm>
            <a:off x="619125" y="4549124"/>
            <a:ext cx="1762125" cy="133350"/>
          </a:xfrm>
          <a:prstGeom prst="rect">
            <a:avLst/>
          </a:prstGeom>
          <a:noFill/>
        </p:spPr>
        <p:txBody>
          <a:bodyPr wrap="square" lIns="28575" rIns="28575" tIns="9525" bIns="9525">
            <a:spAutoFit/>
          </a:bodyPr>
          <a:lstStyle/>
          <a:p>
            <a:pPr algn="ctr"/>
            <a:r>
              <a:rPr sz="1100" b="1">
                <a:solidFill>
                  <a:srgbClr val="2E2E2E"/>
                </a:solidFill>
                <a:latin typeface="Calibri"/>
              </a:rPr>
              <a:t>+3.8%</a:t>
            </a:r>
          </a:p>
        </p:txBody>
      </p:sp>
      <p:sp>
        <p:nvSpPr>
          <p:cNvPr id="76" name="Rectangle 75"/>
          <p:cNvSpPr/>
          <p:nvPr/>
        </p:nvSpPr>
        <p:spPr>
          <a:xfrm>
            <a:off x="3033712" y="5193116"/>
            <a:ext cx="457200" cy="755829"/>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MI Data Label"/>
          <p:cNvSpPr txBox="1"/>
          <p:nvPr/>
        </p:nvSpPr>
        <p:spPr>
          <a:xfrm>
            <a:off x="2381250" y="5958470"/>
            <a:ext cx="1762125" cy="133350"/>
          </a:xfrm>
          <a:prstGeom prst="rect">
            <a:avLst/>
          </a:prstGeom>
          <a:noFill/>
        </p:spPr>
        <p:txBody>
          <a:bodyPr wrap="square" lIns="28575" rIns="28575" tIns="9525" bIns="9525">
            <a:spAutoFit/>
          </a:bodyPr>
          <a:lstStyle/>
          <a:p>
            <a:pPr algn="ctr"/>
            <a:r>
              <a:rPr sz="1100" b="1">
                <a:solidFill>
                  <a:srgbClr val="2E2E2E"/>
                </a:solidFill>
                <a:latin typeface="Calibri"/>
              </a:rPr>
              <a:t>-5.7%</a:t>
            </a:r>
          </a:p>
        </p:txBody>
      </p:sp>
      <p:sp>
        <p:nvSpPr>
          <p:cNvPr id="78" name="Rectangle 77"/>
          <p:cNvSpPr/>
          <p:nvPr/>
        </p:nvSpPr>
        <p:spPr>
          <a:xfrm>
            <a:off x="4795838" y="4960127"/>
            <a:ext cx="457200" cy="23298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FMI Data Label"/>
          <p:cNvSpPr txBox="1"/>
          <p:nvPr/>
        </p:nvSpPr>
        <p:spPr>
          <a:xfrm>
            <a:off x="4143375" y="4817252"/>
            <a:ext cx="1762125" cy="133350"/>
          </a:xfrm>
          <a:prstGeom prst="rect">
            <a:avLst/>
          </a:prstGeom>
          <a:noFill/>
        </p:spPr>
        <p:txBody>
          <a:bodyPr wrap="square" lIns="28575" rIns="28575" tIns="9525" bIns="9525">
            <a:spAutoFit/>
          </a:bodyPr>
          <a:lstStyle/>
          <a:p>
            <a:pPr algn="ctr"/>
            <a:r>
              <a:rPr sz="1100" b="1">
                <a:solidFill>
                  <a:srgbClr val="2E2E2E"/>
                </a:solidFill>
                <a:latin typeface="Calibri"/>
              </a:rPr>
              <a:t>+1.8%</a:t>
            </a:r>
          </a:p>
        </p:txBody>
      </p:sp>
      <p:sp>
        <p:nvSpPr>
          <p:cNvPr id="80" name="Rectangle 79"/>
          <p:cNvSpPr/>
          <p:nvPr/>
        </p:nvSpPr>
        <p:spPr>
          <a:xfrm>
            <a:off x="6557962" y="4893977"/>
            <a:ext cx="457200" cy="29913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FMI Data Label"/>
          <p:cNvSpPr txBox="1"/>
          <p:nvPr/>
        </p:nvSpPr>
        <p:spPr>
          <a:xfrm>
            <a:off x="5905500" y="4751102"/>
            <a:ext cx="1762125" cy="133350"/>
          </a:xfrm>
          <a:prstGeom prst="rect">
            <a:avLst/>
          </a:prstGeom>
          <a:noFill/>
        </p:spPr>
        <p:txBody>
          <a:bodyPr wrap="square" lIns="28575" rIns="28575" tIns="9525" bIns="9525">
            <a:spAutoFit/>
          </a:bodyPr>
          <a:lstStyle/>
          <a:p>
            <a:pPr algn="ctr"/>
            <a:r>
              <a:rPr sz="1100" b="1">
                <a:solidFill>
                  <a:srgbClr val="2E2E2E"/>
                </a:solidFill>
                <a:latin typeface="Calibri"/>
              </a:rPr>
              <a:t>+2.3%</a:t>
            </a:r>
          </a:p>
        </p:txBody>
      </p:sp>
      <p:sp>
        <p:nvSpPr>
          <p:cNvPr id="82" name="TextBox 81"/>
          <p:cNvSpPr txBox="1"/>
          <p:nvPr/>
        </p:nvSpPr>
        <p:spPr>
          <a:xfrm>
            <a:off x="619125" y="6242060"/>
            <a:ext cx="1762125" cy="247650"/>
          </a:xfrm>
          <a:prstGeom prst="rect">
            <a:avLst/>
          </a:prstGeom>
          <a:noFill/>
        </p:spPr>
        <p:txBody>
          <a:bodyPr wrap="square" lIns="28575" rIns="28575" tIns="9525" bIns="9525">
            <a:spAutoFit/>
          </a:bodyPr>
          <a:lstStyle/>
          <a:p>
            <a:pPr algn="ctr"/>
            <a:r>
              <a:rPr sz="1100" b="0">
                <a:solidFill>
                  <a:srgbClr val="2E2E2E"/>
                </a:solidFill>
                <a:latin typeface="Calibri"/>
              </a:rPr>
              <a:t>Brazil</a:t>
            </a:r>
          </a:p>
        </p:txBody>
      </p:sp>
      <p:sp>
        <p:nvSpPr>
          <p:cNvPr id="83" name="TextBox 82"/>
          <p:cNvSpPr txBox="1"/>
          <p:nvPr/>
        </p:nvSpPr>
        <p:spPr>
          <a:xfrm>
            <a:off x="2381250" y="6242060"/>
            <a:ext cx="1762125" cy="247650"/>
          </a:xfrm>
          <a:prstGeom prst="rect">
            <a:avLst/>
          </a:prstGeom>
          <a:noFill/>
        </p:spPr>
        <p:txBody>
          <a:bodyPr wrap="square" lIns="28575" rIns="28575" tIns="9525" bIns="9525">
            <a:spAutoFit/>
          </a:bodyPr>
          <a:lstStyle/>
          <a:p>
            <a:pPr algn="ctr"/>
            <a:r>
              <a:rPr sz="1100" b="0">
                <a:solidFill>
                  <a:srgbClr val="2E2E2E"/>
                </a:solidFill>
                <a:latin typeface="Calibri"/>
              </a:rPr>
              <a:t>Mexico</a:t>
            </a:r>
          </a:p>
        </p:txBody>
      </p:sp>
      <p:sp>
        <p:nvSpPr>
          <p:cNvPr id="84" name="TextBox 83"/>
          <p:cNvSpPr txBox="1"/>
          <p:nvPr/>
        </p:nvSpPr>
        <p:spPr>
          <a:xfrm>
            <a:off x="4143375" y="6242060"/>
            <a:ext cx="1762125" cy="247650"/>
          </a:xfrm>
          <a:prstGeom prst="rect">
            <a:avLst/>
          </a:prstGeom>
          <a:noFill/>
        </p:spPr>
        <p:txBody>
          <a:bodyPr wrap="square" lIns="28575" rIns="28575" tIns="9525" bIns="9525">
            <a:spAutoFit/>
          </a:bodyPr>
          <a:lstStyle/>
          <a:p>
            <a:pPr algn="ctr"/>
            <a:r>
              <a:rPr sz="1100" b="0">
                <a:solidFill>
                  <a:srgbClr val="2E2E2E"/>
                </a:solidFill>
                <a:latin typeface="Calibri"/>
              </a:rPr>
              <a:t>Colombia</a:t>
            </a:r>
          </a:p>
        </p:txBody>
      </p:sp>
      <p:sp>
        <p:nvSpPr>
          <p:cNvPr id="85" name="TextBox 84"/>
          <p:cNvSpPr txBox="1"/>
          <p:nvPr/>
        </p:nvSpPr>
        <p:spPr>
          <a:xfrm>
            <a:off x="5905500" y="6242060"/>
            <a:ext cx="1762125" cy="247650"/>
          </a:xfrm>
          <a:prstGeom prst="rect">
            <a:avLst/>
          </a:prstGeom>
          <a:noFill/>
        </p:spPr>
        <p:txBody>
          <a:bodyPr wrap="square" lIns="28575" rIns="28575" tIns="9525" bIns="9525">
            <a:spAutoFit/>
          </a:bodyPr>
          <a:lstStyle/>
          <a:p>
            <a:pPr algn="ctr"/>
            <a:r>
              <a:rPr sz="1100" b="0">
                <a:solidFill>
                  <a:srgbClr val="2E2E2E"/>
                </a:solidFill>
                <a:latin typeface="Calibri"/>
              </a:rPr>
              <a:t>Rest of Latin America</a:t>
            </a:r>
          </a:p>
        </p:txBody>
      </p:sp>
      <p:sp>
        <p:nvSpPr>
          <p:cNvPr id="86" name="Rounded Rectangle 85"/>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88" name="Rectangle 87"/>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Barrier casings segment is expected to command the highest average price of US$ 4,791 per MT in 2036. Average selling price of flexible plastic packaging is estimated at US$ 2,913 per MT in 2025 and is projected to increase to US$ 3,354 per MT by 2036. Brazil is the highest-priced country, while Mexico is the most price-competitive market.</a:t>
            </a:r>
          </a:p>
          <a:p>
            <a:pPr algn="l">
              <a:lnSpc>
                <a:spcPct val="110000"/>
              </a:lnSpc>
              <a:spcBef>
                <a:spcPts val="0"/>
              </a:spcBef>
              <a:spcAft>
                <a:spcPts val="500"/>
              </a:spcAft>
            </a:pPr>
            <a:r>
              <a:rPr sz="1150" b="0">
                <a:solidFill>
                  <a:srgbClr val="2E2E2E"/>
                </a:solidFill>
                <a:latin typeface="Calibri"/>
              </a:rPr>
              <a:t>Against the Latin America price of 3,145 US$/MT, 3 of 4 countries price above and 1 below. 'Brazil' is the dearest at +3.8% versus Latin America, 'Mexico' the cheapest at -5.7% pointing to premiumisation headroom in the lower-priced countries.</a:t>
            </a:r>
          </a:p>
          <a:p>
            <a:pPr algn="l">
              <a:lnSpc>
                <a:spcPct val="110000"/>
              </a:lnSpc>
              <a:spcBef>
                <a:spcPts val="0"/>
              </a:spcBef>
              <a:spcAft>
                <a:spcPts val="500"/>
              </a:spcAft>
            </a:pPr>
            <a:r>
              <a:rPr sz="1150" b="0">
                <a:solidFill>
                  <a:srgbClr val="2E2E2E"/>
                </a:solidFill>
                <a:latin typeface="Calibri"/>
              </a:rPr>
              <a:t>Value grows at 7.2% against 5.7% for volume, so average price rises from US$ 2,938 per MT in 2026 to US$ 3,354 per MT in 2036. The gap comes from a shift toward premium pouches, barrier films and mono-material structures as packaged food and e-commerce expand, along with currency-linked resin and import costs. Colombia and Mexico, at 8.4% and 7.8% value growth, pull the mix toward higher-value formats.</a:t>
            </a:r>
          </a:p>
        </p:txBody>
      </p:sp>
      <p:sp>
        <p:nvSpPr>
          <p:cNvPr id="90" name="TextBox 8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Flexible Plastic Packaging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Latin America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8,324</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16,618</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5.2%</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7.2%</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3141719"/>
          </a:xfrm>
          <a:prstGeom prst="roundRect">
            <a:avLst>
              <a:gd name="adj" fmla="val 24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265594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Flexible plastic packaging market value in Latin America is expected to increase 2.1X between 2025 and 2036. In 2025, the flexible plastic packaging market in Latin America was valued at US$ 7,859 Mn and is estimated to account for US$ 8,324 Mn by the end of 2026, reflecting a Y-o-Y growth rate of 5.9%.</a:t>
            </a:r>
          </a:p>
          <a:p>
            <a:pPr algn="l">
              <a:lnSpc>
                <a:spcPct val="110000"/>
              </a:lnSpc>
              <a:spcBef>
                <a:spcPts val="0"/>
              </a:spcBef>
              <a:spcAft>
                <a:spcPts val="500"/>
              </a:spcAft>
            </a:pPr>
            <a:r>
              <a:rPr sz="1100" b="0">
                <a:solidFill>
                  <a:srgbClr val="2E2E2E"/>
                </a:solidFill>
                <a:latin typeface="Calibri"/>
              </a:rPr>
              <a:t>The market in Latin America is expected to account for US$ 16,618 Mn by 2036 at a CAGR of 7.2% over the forecast period. Latin America is expected to create an incremental opportunity of US$ 8,760 Mn for the overall flexible plastic packaging market from 2025 to 2036.</a:t>
            </a:r>
          </a:p>
          <a:p>
            <a:pPr algn="l">
              <a:lnSpc>
                <a:spcPct val="110000"/>
              </a:lnSpc>
              <a:spcBef>
                <a:spcPts val="0"/>
              </a:spcBef>
              <a:spcAft>
                <a:spcPts val="500"/>
              </a:spcAft>
            </a:pPr>
            <a:r>
              <a:rPr sz="1100" b="0">
                <a:solidFill>
                  <a:srgbClr val="2E2E2E"/>
                </a:solidFill>
                <a:latin typeface="Calibri"/>
              </a:rPr>
              <a:t>Absolute $ value for 2026 is estimated to be US$ 465.3 Mn.</a:t>
            </a:r>
          </a:p>
        </p:txBody>
      </p:sp>
      <p:sp>
        <p:nvSpPr>
          <p:cNvPr id="25" name="Rounded Rectangle 24"/>
          <p:cNvSpPr/>
          <p:nvPr/>
        </p:nvSpPr>
        <p:spPr>
          <a:xfrm>
            <a:off x="7915275" y="4824367"/>
            <a:ext cx="4133850" cy="1732019"/>
          </a:xfrm>
          <a:prstGeom prst="roundRect">
            <a:avLst>
              <a:gd name="adj" fmla="val 43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910092"/>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514821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5233942"/>
            <a:ext cx="3867150" cy="124624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'Colombia' leads regional growth at 8.4%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'Rollstock Films' within Product Type.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Flexible Plastic Packaging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Latin America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4695825" cy="2400300"/>
          </a:xfrm>
          <a:prstGeom prst="roundRect">
            <a:avLst>
              <a:gd name="adj" fmla="val 317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Market, 2021–2025 (Historical)</a:t>
            </a:r>
          </a:p>
        </p:txBody>
      </p:sp>
      <p:graphicFrame>
        <p:nvGraphicFramePr>
          <p:cNvPr id="13" name="Chart 12"/>
          <p:cNvGraphicFramePr>
            <a:graphicFrameLocks noGrp="1"/>
          </p:cNvGraphicFramePr>
          <p:nvPr/>
        </p:nvGraphicFramePr>
        <p:xfrm>
          <a:off x="238125" y="1266825"/>
          <a:ext cx="4505325" cy="2057400"/>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400300"/>
          </a:xfrm>
          <a:prstGeom prst="roundRect">
            <a:avLst>
              <a:gd name="adj" fmla="val 317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Market, 2026–2036 (Forecast)</a:t>
            </a:r>
          </a:p>
        </p:txBody>
      </p:sp>
      <p:graphicFrame>
        <p:nvGraphicFramePr>
          <p:cNvPr id="16" name="Chart 15"/>
          <p:cNvGraphicFramePr>
            <a:graphicFrameLocks noGrp="1"/>
          </p:cNvGraphicFramePr>
          <p:nvPr/>
        </p:nvGraphicFramePr>
        <p:xfrm>
          <a:off x="5086350" y="1266825"/>
          <a:ext cx="6858000" cy="20574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514725"/>
            <a:ext cx="2514600" cy="5619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5.2%</a:t>
            </a:r>
          </a:p>
        </p:txBody>
      </p:sp>
      <p:sp>
        <p:nvSpPr>
          <p:cNvPr id="18" name="Rounded Rectangle 17"/>
          <p:cNvSpPr/>
          <p:nvPr/>
        </p:nvSpPr>
        <p:spPr>
          <a:xfrm>
            <a:off x="2809875" y="3514725"/>
            <a:ext cx="2514600" cy="5619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7.2%</a:t>
            </a:r>
          </a:p>
        </p:txBody>
      </p:sp>
      <p:sp>
        <p:nvSpPr>
          <p:cNvPr id="19" name="Rounded Rectangle 18"/>
          <p:cNvSpPr/>
          <p:nvPr/>
        </p:nvSpPr>
        <p:spPr>
          <a:xfrm>
            <a:off x="5476875" y="3514725"/>
            <a:ext cx="3200400" cy="5619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3,229 US$ Mn</a:t>
            </a:r>
          </a:p>
        </p:txBody>
      </p:sp>
      <p:sp>
        <p:nvSpPr>
          <p:cNvPr id="20" name="Rounded Rectangle 19"/>
          <p:cNvSpPr/>
          <p:nvPr/>
        </p:nvSpPr>
        <p:spPr>
          <a:xfrm>
            <a:off x="8829675" y="3514725"/>
            <a:ext cx="3200400" cy="5619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8,294 US$ Mn</a:t>
            </a:r>
          </a:p>
        </p:txBody>
      </p:sp>
      <p:sp>
        <p:nvSpPr>
          <p:cNvPr id="21" name="Rounded Rectangle 20"/>
          <p:cNvSpPr/>
          <p:nvPr/>
        </p:nvSpPr>
        <p:spPr>
          <a:xfrm>
            <a:off x="142875" y="4210050"/>
            <a:ext cx="11906250" cy="2400300"/>
          </a:xfrm>
          <a:prstGeom prst="roundRect">
            <a:avLst>
              <a:gd name="adj" fmla="val 317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295775"/>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Volume &amp; Value Analysis</a:t>
            </a:r>
          </a:p>
        </p:txBody>
      </p:sp>
      <p:sp>
        <p:nvSpPr>
          <p:cNvPr id="23" name="Rectangle 22"/>
          <p:cNvSpPr/>
          <p:nvPr/>
        </p:nvSpPr>
        <p:spPr>
          <a:xfrm>
            <a:off x="276225" y="4533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619625"/>
            <a:ext cx="11639550" cy="19145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Flexible plastic packaging market value in Latin America is expected to increase 2.1X between 2025 and 2036. In 2025, the flexible plastic packaging market in Latin America was valued at US$ 7,859 Mn and is estimated to account for US$ 8,324 Mn by the end of 2026, reflecting a Y-o-Y growth rate of 5.9%. The market in Latin America is expected to account for US$ 16,618 Mn by 2036 at a CAGR of 7.2% over the forecast period. Latin America is expected to create an incremental opportunity of US$ 8,760 Mn for the overall flexible plastic packaging market from 2025 to 2036.</a:t>
            </a:r>
          </a:p>
          <a:p>
            <a:pPr algn="l">
              <a:lnSpc>
                <a:spcPct val="100000"/>
              </a:lnSpc>
              <a:spcBef>
                <a:spcPts val="0"/>
              </a:spcBef>
              <a:spcAft>
                <a:spcPts val="300"/>
              </a:spcAft>
            </a:pPr>
            <a:r>
              <a:rPr sz="1100" b="0">
                <a:solidFill>
                  <a:srgbClr val="2E2E2E"/>
                </a:solidFill>
                <a:latin typeface="Calibri"/>
              </a:rPr>
              <a:t>Absolute $ value for 2026 is estimated to be US$ 465.3 Mn. Latin America flexible plastic packaging market is projected to register 1.8X increase in volume by the end of forecast period, 2036. Latin America flexible plastic packaging market volume stood at 2,698 Thousand MT in 2025 and is expected to reach 4,955 Thousand MT by 2036 end, at a CAGR of 5.7%. Value is projected to grow faster than volume over the forecast period, owing to an increase in average selling price.</a:t>
            </a:r>
          </a:p>
          <a:p>
            <a:pPr algn="l">
              <a:lnSpc>
                <a:spcPct val="100000"/>
              </a:lnSpc>
              <a:spcBef>
                <a:spcPts val="0"/>
              </a:spcBef>
              <a:spcAft>
                <a:spcPts val="300"/>
              </a:spcAft>
            </a:pPr>
            <a:r>
              <a:rPr sz="1100" b="0">
                <a:solidFill>
                  <a:srgbClr val="2E2E2E"/>
                </a:solidFill>
                <a:latin typeface="Calibri"/>
              </a:rPr>
              <a:t>Latin America grows at 7.2% in value and 5.7% in volume, faster than the 5.2% value pace of 2021-25, as urbanisation, retail modernisation and rising packaged-food and protein consumption widen demand, led by Colombia at 8.4% and Mexico at 7.8%. The price lift from US$2,938 to US$3,354 per MT, behind the value-volume gap, reflects the shift to high-barrier and mono-material films and resin cost pass-through.</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Flexible Plastic Packaging Market Summary Country Indices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6" cy="2132070"/>
        </p:xfrm>
        <a:graphic>
          <a:graphicData uri="http://schemas.openxmlformats.org/drawingml/2006/table">
            <a:tbl>
              <a:tblPr>
                <a:tableStyleId>{5C22544A-7EE6-4342-B048-85BDC9FD1C3A}</a:tableStyleId>
              </a:tblPr>
              <a:tblGrid>
                <a:gridCol w="683755"/>
                <a:gridCol w="1077007"/>
                <a:gridCol w="1077007"/>
                <a:gridCol w="1077007"/>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638935">
                <a:tc>
                  <a:txBody>
                    <a:bodyPr wrap="none"/>
                    <a:lstStyle/>
                    <a:p>
                      <a:pPr algn="l"/>
                      <a:r>
                        <a:rPr sz="1100" b="1">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908.8</a:t>
                      </a:r>
                      <a:endParaRPr sz="1100"/>
                    </a:p>
                  </a:txBody>
                  <a:tcPr marL="47625" marR="38100" marT="19050" marB="19050" anchor="ctr">
                    <a:solidFill>
                      <a:srgbClr val="FFFFFF"/>
                    </a:solidFill>
                  </a:tcPr>
                </a:tc>
              </a:tr>
              <a:tr h="638935">
                <a:tc>
                  <a:txBody>
                    <a:bodyPr wrap="none"/>
                    <a:lstStyle/>
                    <a:p>
                      <a:pPr algn="l"/>
                      <a:r>
                        <a:rPr sz="1100" b="1">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2,956</a:t>
                      </a:r>
                      <a:endParaRPr sz="1100"/>
                    </a:p>
                  </a:txBody>
                  <a:tcPr marL="47625" marR="38100" marT="19050" marB="19050" anchor="ctr">
                    <a:solidFill>
                      <a:srgbClr val="F5F8FA"/>
                    </a:solidFill>
                  </a:tcPr>
                </a:tc>
              </a:tr>
              <a:tr h="638935">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2,710</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3743325" cy="2071203"/>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5,955</a:t>
            </a:r>
          </a:p>
        </p:txBody>
      </p:sp>
      <p:sp>
        <p:nvSpPr>
          <p:cNvPr id="19" name="Rectangle 18"/>
          <p:cNvSpPr/>
          <p:nvPr/>
        </p:nvSpPr>
        <p:spPr>
          <a:xfrm>
            <a:off x="4210050" y="3364214"/>
            <a:ext cx="2892642" cy="2514396"/>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Mexico</a:t>
            </a:r>
          </a:p>
          <a:p>
            <a:pPr algn="ctr"/>
            <a:r>
              <a:rPr sz="1100" b="0">
                <a:solidFill>
                  <a:srgbClr val="FFFFFF"/>
                </a:solidFill>
                <a:latin typeface="Calibri"/>
              </a:rPr>
              <a:t>5,587</a:t>
            </a:r>
          </a:p>
        </p:txBody>
      </p:sp>
      <p:sp>
        <p:nvSpPr>
          <p:cNvPr id="20" name="Rectangle 19"/>
          <p:cNvSpPr/>
          <p:nvPr/>
        </p:nvSpPr>
        <p:spPr>
          <a:xfrm>
            <a:off x="7102692" y="3364214"/>
            <a:ext cx="850683" cy="2514396"/>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Colombia</a:t>
            </a:r>
          </a:p>
          <a:p>
            <a:pPr algn="ctr"/>
            <a:r>
              <a:rPr sz="1100" b="0">
                <a:solidFill>
                  <a:srgbClr val="FFFFFF"/>
                </a:solidFill>
                <a:latin typeface="Calibri"/>
              </a:rPr>
              <a:t>1,643</a:t>
            </a:r>
          </a:p>
        </p:txBody>
      </p:sp>
      <p:sp>
        <p:nvSpPr>
          <p:cNvPr id="21" name="Rounded Rectangle 20"/>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23" name="Chart 22"/>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24" name="Rounded Rectangle 23"/>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25" name="Table 24"/>
          <p:cNvGraphicFramePr>
            <a:graphicFrameLocks noGrp="1"/>
          </p:cNvGraphicFramePr>
          <p:nvPr/>
        </p:nvGraphicFramePr>
        <p:xfrm>
          <a:off x="8096250" y="3547710"/>
          <a:ext cx="3914776" cy="2159448"/>
        </p:xfrm>
        <a:graphic>
          <a:graphicData uri="http://schemas.openxmlformats.org/drawingml/2006/table">
            <a:tbl>
              <a:tblPr>
                <a:tableStyleId>{5C22544A-7EE6-4342-B048-85BDC9FD1C3A}</a:tableStyleId>
              </a:tblPr>
              <a:tblGrid>
                <a:gridCol w="683755"/>
                <a:gridCol w="1077007"/>
                <a:gridCol w="1077007"/>
                <a:gridCol w="1077007"/>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648061">
                <a:tc>
                  <a:txBody>
                    <a:bodyPr wrap="none"/>
                    <a:lstStyle/>
                    <a:p>
                      <a:pPr algn="l"/>
                      <a:r>
                        <a:rPr sz="1100" b="1">
                          <a:solidFill>
                            <a:srgbClr val="2E2E2E"/>
                          </a:solidFill>
                          <a:latin typeface="Calibri"/>
                        </a:rPr>
                        <a:t>Mexico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2,956</a:t>
                      </a:r>
                      <a:endParaRPr sz="1100"/>
                    </a:p>
                  </a:txBody>
                  <a:tcPr marL="47625" marR="38100" marT="19050" marB="19050" anchor="ctr">
                    <a:solidFill>
                      <a:srgbClr val="FFFFFF"/>
                    </a:solidFill>
                  </a:tcPr>
                </a:tc>
              </a:tr>
              <a:tr h="648061">
                <a:tc>
                  <a:txBody>
                    <a:bodyPr wrap="none"/>
                    <a:lstStyle/>
                    <a:p>
                      <a:pPr algn="l"/>
                      <a:r>
                        <a:rPr sz="1100" b="1">
                          <a:solidFill>
                            <a:srgbClr val="2E2E2E"/>
                          </a:solidFill>
                          <a:latin typeface="Calibri"/>
                        </a:rPr>
                        <a:t>Brazil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2,710</a:t>
                      </a:r>
                      <a:endParaRPr sz="1100"/>
                    </a:p>
                  </a:txBody>
                  <a:tcPr marL="47625" marR="38100" marT="19050" marB="19050" anchor="ctr">
                    <a:solidFill>
                      <a:srgbClr val="F5F8FA"/>
                    </a:solidFill>
                  </a:tcPr>
                </a:tc>
              </a:tr>
              <a:tr h="648061">
                <a:tc>
                  <a:txBody>
                    <a:bodyPr wrap="none"/>
                    <a:lstStyle/>
                    <a:p>
                      <a:pPr algn="l"/>
                      <a:r>
                        <a:rPr sz="1100" b="1">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908.8</a:t>
                      </a:r>
                      <a:endParaRPr sz="1100"/>
                    </a:p>
                  </a:txBody>
                  <a:tcPr marL="47625" marR="38100" marT="19050" marB="19050" anchor="ctr">
                    <a:solidFill>
                      <a:srgbClr val="FFFFFF"/>
                    </a:solidFill>
                  </a:tcPr>
                </a:tc>
              </a:tr>
            </a:tbl>
          </a:graphicData>
        </a:graphic>
      </p:graphicFrame>
      <p:sp>
        <p:nvSpPr>
          <p:cNvPr id="26" name="TextBox 25"/>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7" name="Rounded Rectangle 26"/>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Brazil flexible plastic packaging market is projected to register 1.1X higher value than Mexico in 2036. Colombia posts the highest CAGR Index (117), growing at 8.4% against the Latin America benchmark, while Mexico offers the largest absolute opportunity 2,956 US$ Mn of incremental market between 2026 and 2036 (36% of the Latin America increment).</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Global flexible plastic packaging market is expected to witness 2.1X increase in revenue by 2036 end. Global flexible plastic packaging market accounted for US$ 7,859 Mn in 2025, which is expected to increase to US$ 16,618 Mn in 2036 at a CAGR of 7.2%.</a:t>
            </a:r>
          </a:p>
          <a:p>
            <a:pPr algn="l">
              <a:lnSpc>
                <a:spcPct val="110000"/>
              </a:lnSpc>
              <a:spcBef>
                <a:spcPts val="0"/>
              </a:spcBef>
              <a:spcAft>
                <a:spcPts val="500"/>
              </a:spcAft>
            </a:pPr>
            <a:r>
              <a:rPr sz="1150" b="0">
                <a:solidFill>
                  <a:srgbClr val="2E2E2E"/>
                </a:solidFill>
                <a:latin typeface="Calibri"/>
              </a:rPr>
              <a:t>The global flexible plastic packaging market has been analysed on the basis of product type, principal material / barrier technology, material structure and barrier level across the globe. Brazil is expected to remain the largest market for flexible plastic packaging, while demand in Colombia is projected to increase at the highest CAGR of 8.4% throughout the forecast period.</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is consolidated: the leading product type category 'Rollstock Films' holds 54.1% of 2036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spans 4 countries and 6 segmentation lenses (4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Brazil is the largest country market at 35.8% of 2036 value.</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Accelerating uptake of 'Premade Pouches &amp; Bags' (7.2%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Fast-growing demand in Colombia (8.4%).</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Momentum in Food Packaging within application (7.2%).</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Slower momentum in 'Sachets &amp; Stick Packs' (6.9%).</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Maturing demand in established categories caps the blended 7.2%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 concentration in 'Rollstock Films' raises barriers for new entrants.</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'Premade Pouches &amp; Bags'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Colombia outpacing the Latin America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4 product type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Capacity and product development are concentrating in 'Premade Pouches &amp; Bags' and Colombia.</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Portfolio expansion tracks the shift toward higher-growth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Commercial focus is intensifying across Brazil and Colombia.</a:t>
            </a:r>
          </a:p>
        </p:txBody>
      </p:sp>
      <p:sp>
        <p:nvSpPr>
          <p:cNvPr id="14" name="Rounded Rectangle 13"/>
          <p:cNvSpPr/>
          <p:nvPr/>
        </p:nvSpPr>
        <p:spPr>
          <a:xfrm>
            <a:off x="6172200"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2026 size 8,324 US$ Mn; 2036 16,618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Forecast CAGR 7.2% (2026–2036).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Lead category 'Rollstock Films' 54.1% of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Lead country Brazil 35.8%.</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Incremental opportunity 8,294 US$ Mn.</a:t>
            </a:r>
          </a:p>
        </p:txBody>
      </p:sp>
      <p:sp>
        <p:nvSpPr>
          <p:cNvPr id="18" name="Rounded Rectangle 17"/>
          <p:cNvSpPr/>
          <p:nvPr/>
        </p:nvSpPr>
        <p:spPr>
          <a:xfrm>
            <a:off x="142875"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05175"/>
            <a:ext cx="5610225"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Investment is flowing toward the fastest-growing tier 'Premade Pouches &amp; Bags' (7.2%).</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Colombia (8.4%) is a priority country for new capacity.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Scale players anchor around 'Rollstock Films' (54.1% share).</a:t>
            </a:r>
          </a:p>
        </p:txBody>
      </p:sp>
      <p:sp>
        <p:nvSpPr>
          <p:cNvPr id="22" name="Rounded Rectangle 21"/>
          <p:cNvSpPr/>
          <p:nvPr/>
        </p:nvSpPr>
        <p:spPr>
          <a:xfrm>
            <a:off x="6172200"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05175"/>
            <a:ext cx="5610225"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R&amp;D aligns with the migration to 'Premade Pouches &amp; Bags' and adjacent premium tiers.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Development spend targets product type categories gaining share to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Innovation underpins the 7.2% forecast CAGR.</a:t>
            </a:r>
          </a:p>
        </p:txBody>
      </p:sp>
      <p:sp>
        <p:nvSpPr>
          <p:cNvPr id="26" name="Rounded Rectangle 25"/>
          <p:cNvSpPr/>
          <p:nvPr/>
        </p:nvSpPr>
        <p:spPr>
          <a:xfrm>
            <a:off x="142875" y="4314825"/>
            <a:ext cx="11906250" cy="2295525"/>
          </a:xfrm>
          <a:prstGeom prst="roundRect">
            <a:avLst>
              <a:gd name="adj" fmla="val 33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371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type share (2036)</a:t>
            </a:r>
          </a:p>
        </p:txBody>
      </p:sp>
      <p:graphicFrame>
        <p:nvGraphicFramePr>
          <p:cNvPr id="28" name="Chart 27"/>
          <p:cNvGraphicFramePr>
            <a:graphicFrameLocks noGrp="1"/>
          </p:cNvGraphicFramePr>
          <p:nvPr/>
        </p:nvGraphicFramePr>
        <p:xfrm>
          <a:off x="238125" y="4600575"/>
          <a:ext cx="11715750" cy="1952625"/>
        </p:xfrm>
        <a:graphic>
          <a:graphicData uri="http://schemas.openxmlformats.org/drawingml/2006/chart">
            <c:chart xmlns:c="http://schemas.openxmlformats.org/drawingml/2006/chart" r:id="rId3"/>
          </a:graphicData>
        </a:graphic>
      </p:graphicFrame>
      <p:sp>
        <p:nvSpPr>
          <p:cNvPr id="29" name="TextBox 28"/>
          <p:cNvSpPr txBox="1"/>
          <p:nvPr/>
        </p:nvSpPr>
        <p:spPr>
          <a:xfrm>
            <a:off x="3871570" y="5462588"/>
            <a:ext cx="934136" cy="228600"/>
          </a:xfrm>
          <a:prstGeom prst="rect">
            <a:avLst/>
          </a:prstGeom>
          <a:noFill/>
        </p:spPr>
        <p:txBody>
          <a:bodyPr wrap="square" lIns="28575" rIns="28575" tIns="9525" bIns="9525" anchor="ctr">
            <a:spAutoFit/>
          </a:bodyPr>
          <a:lstStyle/>
          <a:p>
            <a:pPr algn="ctr"/>
            <a:r>
              <a:rPr sz="1300" b="1">
                <a:solidFill>
                  <a:srgbClr val="2E2E2E"/>
                </a:solidFill>
                <a:latin typeface="Calibri"/>
              </a:rPr>
              <a:t>2036</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scale in 'Rollstock Films' with targeted growth in 'Premade Pouches &amp; Bags', pursuing the 7.2% CAGR trajectory to 2036.</a:t>
            </a:r>
          </a:p>
        </p:txBody>
      </p:sp>
      <p:sp>
        <p:nvSpPr>
          <p:cNvPr id="14" name="Rounded Rectangle 13"/>
          <p:cNvSpPr/>
          <p:nvPr/>
        </p:nvSpPr>
        <p:spPr>
          <a:xfrm>
            <a:off x="6172200" y="981075"/>
            <a:ext cx="5876925"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'Premade Pouches &amp; Bags' tier and Food Packaging within application.</a:t>
            </a:r>
          </a:p>
        </p:txBody>
      </p:sp>
      <p:sp>
        <p:nvSpPr>
          <p:cNvPr id="18" name="Rounded Rectangle 17"/>
          <p:cNvSpPr/>
          <p:nvPr/>
        </p:nvSpPr>
        <p:spPr>
          <a:xfrm>
            <a:off x="142875" y="2857500"/>
            <a:ext cx="5876925" cy="1562100"/>
          </a:xfrm>
          <a:prstGeom prst="roundRect">
            <a:avLst>
              <a:gd name="adj" fmla="val 48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4322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1813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67075"/>
            <a:ext cx="5610225" cy="10763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'Premade Pouches &amp; Bags' (7.2%); 'Rollstock Films' anchors 54.1% of value.</a:t>
            </a:r>
          </a:p>
        </p:txBody>
      </p:sp>
      <p:sp>
        <p:nvSpPr>
          <p:cNvPr id="22" name="Rounded Rectangle 21"/>
          <p:cNvSpPr/>
          <p:nvPr/>
        </p:nvSpPr>
        <p:spPr>
          <a:xfrm>
            <a:off x="6172200" y="2857500"/>
            <a:ext cx="5876925" cy="1562100"/>
          </a:xfrm>
          <a:prstGeom prst="roundRect">
            <a:avLst>
              <a:gd name="adj" fmla="val 48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4322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1813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67075"/>
            <a:ext cx="5610225" cy="10763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 with Brazil (35.8%); capture upside in Colombia (8.4%).</a:t>
            </a:r>
          </a:p>
        </p:txBody>
      </p:sp>
      <p:sp>
        <p:nvSpPr>
          <p:cNvPr id="26" name="Rounded Rectangle 25"/>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Fact.MR Analysis &amp; Recommendation</a:t>
            </a:r>
          </a:p>
        </p:txBody>
      </p:sp>
      <p:sp>
        <p:nvSpPr>
          <p:cNvPr id="28" name="Rectangle 27"/>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Flexible Plastic Packaging adds 8,294 US$ Mn of demand to 2036 a 2.0× expansion.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segment/country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'Rollstock Films' as the value anchor of the portfolio.</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19,885 US$ Mn</a:t>
            </a:r>
          </a:p>
          <a:p>
            <a:pPr algn="ctr">
              <a:lnSpc>
                <a:spcPct val="95000"/>
              </a:lnSpc>
            </a:pPr>
            <a:r>
              <a:rPr sz="1100" b="0">
                <a:solidFill>
                  <a:srgbClr val="6C7A89"/>
                </a:solidFill>
                <a:latin typeface="Calibri"/>
              </a:rPr>
              <a:t>CAGR 8.7%</a:t>
            </a:r>
          </a:p>
        </p:txBody>
      </p:sp>
      <p:sp>
        <p:nvSpPr>
          <p:cNvPr id="11" name="Rounded Rectangle 10"/>
          <p:cNvSpPr/>
          <p:nvPr/>
        </p:nvSpPr>
        <p:spPr>
          <a:xfrm>
            <a:off x="4238625"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16,618 US$ Mn</a:t>
            </a:r>
          </a:p>
          <a:p>
            <a:pPr algn="ctr">
              <a:lnSpc>
                <a:spcPct val="95000"/>
              </a:lnSpc>
            </a:pPr>
            <a:r>
              <a:rPr sz="1100" b="0">
                <a:solidFill>
                  <a:srgbClr val="6C7A89"/>
                </a:solidFill>
                <a:latin typeface="Calibri"/>
              </a:rPr>
              <a:t>CAGR 7.2%</a:t>
            </a:r>
          </a:p>
        </p:txBody>
      </p:sp>
      <p:sp>
        <p:nvSpPr>
          <p:cNvPr id="12" name="Rounded Rectangle 11"/>
          <p:cNvSpPr/>
          <p:nvPr/>
        </p:nvSpPr>
        <p:spPr>
          <a:xfrm>
            <a:off x="8210550"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13,846 US$ Mn</a:t>
            </a:r>
          </a:p>
          <a:p>
            <a:pPr algn="ctr">
              <a:lnSpc>
                <a:spcPct val="95000"/>
              </a:lnSpc>
            </a:pPr>
            <a:r>
              <a:rPr sz="1100" b="0">
                <a:solidFill>
                  <a:srgbClr val="6C7A89"/>
                </a:solidFill>
                <a:latin typeface="Calibri"/>
              </a:rPr>
              <a:t>CAGR 5.2%</a:t>
            </a:r>
          </a:p>
        </p:txBody>
      </p:sp>
      <p:sp>
        <p:nvSpPr>
          <p:cNvPr id="13" name="Rounded Rectangle 12"/>
          <p:cNvSpPr/>
          <p:nvPr/>
        </p:nvSpPr>
        <p:spPr>
          <a:xfrm>
            <a:off x="142875"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Flexible Plastic Packaging Market Value (US$ Mn) Scenario Forecast, 2025 &amp; 2036</a:t>
            </a:r>
          </a:p>
        </p:txBody>
      </p:sp>
      <p:cxnSp>
        <p:nvCxnSpPr>
          <p:cNvPr id="15" name="Connector 14"/>
          <p:cNvCxnSpPr/>
          <p:nvPr/>
        </p:nvCxnSpPr>
        <p:spPr>
          <a:xfrm>
            <a:off x="238125" y="430530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633389"/>
            <a:ext cx="635826" cy="671911"/>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121410"/>
            <a:ext cx="635826" cy="1183890"/>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884419"/>
            <a:ext cx="635826" cy="1420881"/>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605088"/>
            <a:ext cx="635826" cy="1700212"/>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988060"/>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883285"/>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5.2%</a:t>
            </a:r>
          </a:p>
        </p:txBody>
      </p:sp>
      <p:cxnSp>
        <p:nvCxnSpPr>
          <p:cNvPr id="22" name="Connector 21"/>
          <p:cNvCxnSpPr/>
          <p:nvPr/>
        </p:nvCxnSpPr>
        <p:spPr>
          <a:xfrm>
            <a:off x="1456468" y="2730885"/>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626110"/>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7.2%</a:t>
            </a:r>
          </a:p>
        </p:txBody>
      </p:sp>
      <p:cxnSp>
        <p:nvCxnSpPr>
          <p:cNvPr id="24" name="Connector 23"/>
          <p:cNvCxnSpPr/>
          <p:nvPr/>
        </p:nvCxnSpPr>
        <p:spPr>
          <a:xfrm>
            <a:off x="1456468" y="2471738"/>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366962"/>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8.7%</a:t>
            </a:r>
          </a:p>
        </p:txBody>
      </p:sp>
      <p:sp>
        <p:nvSpPr>
          <p:cNvPr id="26" name="TextBox 25"/>
          <p:cNvSpPr txBox="1"/>
          <p:nvPr/>
        </p:nvSpPr>
        <p:spPr>
          <a:xfrm>
            <a:off x="643255"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57200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57200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57200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Flexible Plastic Packaging Market Attractiveness Analysis By Region, 2026–2036</a:t>
            </a:r>
          </a:p>
        </p:txBody>
      </p:sp>
      <p:graphicFrame>
        <p:nvGraphicFramePr>
          <p:cNvPr id="36" name="Chart 35"/>
          <p:cNvGraphicFramePr>
            <a:graphicFrameLocks noGrp="1"/>
          </p:cNvGraphicFramePr>
          <p:nvPr/>
        </p:nvGraphicFramePr>
        <p:xfrm>
          <a:off x="6267450" y="2266950"/>
          <a:ext cx="5686425" cy="2495550"/>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953000"/>
            <a:ext cx="11906250"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503872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276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362575"/>
            <a:ext cx="11639550" cy="1190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Optimistic: 19,885 US$ Mn by 2036 at 8.7%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Likely (base forecast): 16,618 US$ Mn at 7.2%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Conservative: 13,846 US$ Mn at 5.2%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Scenarios flex the base forecast's year-on-year growth by ±25% across the 2026–2036 horizon.</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Latin America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Latin America Flexible Plastic Packaging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Flexible Plastic Packaging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4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Latin America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Brazil</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3,245</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5,955</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6.3%</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Mexico</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2,631</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5,587</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7.8%</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Rest of Latin America</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1,714</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3,434</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7.2%</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Colombia</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734.1</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1,643</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8.4%</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Brazil flexible plastic packaging market is projected to register 1.1X higher value than Mexico in 2036. Among flexible plastic packaging by country, Colombia is expected to witness the highest CAGR of 8.4% over the forecast period.</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In terms of value share by country, Brazil is expected to dominate the market, losing 393 BPS and accounting for 45.2% share by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Brazil: </a:t>
            </a:r>
            <a:r>
              <a:rPr sz="1100" b="0">
                <a:solidFill>
                  <a:srgbClr val="2E2E2E"/>
                </a:solidFill>
                <a:latin typeface="Calibri"/>
              </a:rPr>
              <a:t>39% of 2026 value · 6.3% CAGR leads the market.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Mexico: </a:t>
            </a:r>
            <a:r>
              <a:rPr sz="1100" b="0">
                <a:solidFill>
                  <a:srgbClr val="2E2E2E"/>
                </a:solidFill>
                <a:latin typeface="Calibri"/>
              </a:rPr>
              <a:t>32% of 2026 value · 7.8% CAGR a smaller market.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Rest of Latin America: </a:t>
            </a:r>
            <a:r>
              <a:rPr sz="1100" b="0">
                <a:solidFill>
                  <a:srgbClr val="2E2E2E"/>
                </a:solidFill>
                <a:latin typeface="Calibri"/>
              </a:rPr>
              <a:t>21% of 2026 value · 7.2% CAGR a smaller market.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Colombia: </a:t>
            </a:r>
            <a:r>
              <a:rPr sz="1100" b="0">
                <a:solidFill>
                  <a:srgbClr val="2E2E2E"/>
                </a:solidFill>
                <a:latin typeface="Calibri"/>
              </a:rPr>
              <a:t>9% of 2026 value · 8.4%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Latin America market is projected to grow at a CAGR of 7.2%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Flexible Plastic Packaging Market Analysis, By Country Volume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640539"/>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63577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5957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Colombia</a:t>
            </a:r>
          </a:p>
        </p:txBody>
      </p:sp>
      <p:sp>
        <p:nvSpPr>
          <p:cNvPr id="19" name="BPS Value 1"/>
          <p:cNvSpPr txBox="1"/>
          <p:nvPr/>
        </p:nvSpPr>
        <p:spPr>
          <a:xfrm>
            <a:off x="6305550" y="1621489"/>
            <a:ext cx="514350" cy="123825"/>
          </a:xfrm>
          <a:prstGeom prst="rect">
            <a:avLst/>
          </a:prstGeom>
          <a:noFill/>
        </p:spPr>
        <p:txBody>
          <a:bodyPr wrap="none" lIns="0" rIns="0" tIns="0" bIns="0" anchor="ctr">
            <a:spAutoFit/>
          </a:bodyPr>
          <a:lstStyle/>
          <a:p>
            <a:pPr algn="r"/>
            <a:r>
              <a:rPr sz="900" b="1">
                <a:solidFill>
                  <a:srgbClr val="2E7D32"/>
                </a:solidFill>
                <a:latin typeface="Calibri"/>
              </a:rPr>
              <a:t>+104</a:t>
            </a:r>
          </a:p>
        </p:txBody>
      </p:sp>
      <p:sp>
        <p:nvSpPr>
          <p:cNvPr id="20" name="FMI Legend Chip"/>
          <p:cNvSpPr/>
          <p:nvPr/>
        </p:nvSpPr>
        <p:spPr>
          <a:xfrm>
            <a:off x="4551045" y="2189188"/>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218442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210822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Rest of Latin America</a:t>
            </a:r>
          </a:p>
        </p:txBody>
      </p:sp>
      <p:sp>
        <p:nvSpPr>
          <p:cNvPr id="23" name="BPS Value 2"/>
          <p:cNvSpPr txBox="1"/>
          <p:nvPr/>
        </p:nvSpPr>
        <p:spPr>
          <a:xfrm>
            <a:off x="6305550" y="2170138"/>
            <a:ext cx="514350" cy="123825"/>
          </a:xfrm>
          <a:prstGeom prst="rect">
            <a:avLst/>
          </a:prstGeom>
          <a:noFill/>
        </p:spPr>
        <p:txBody>
          <a:bodyPr wrap="none" lIns="0" rIns="0" tIns="0" bIns="0" anchor="ctr">
            <a:spAutoFit/>
          </a:bodyPr>
          <a:lstStyle/>
          <a:p>
            <a:pPr algn="r"/>
            <a:r>
              <a:rPr sz="900" b="1">
                <a:solidFill>
                  <a:srgbClr val="2E7D32"/>
                </a:solidFill>
                <a:latin typeface="Calibri"/>
              </a:rPr>
              <a:t>+3</a:t>
            </a:r>
          </a:p>
        </p:txBody>
      </p:sp>
      <p:sp>
        <p:nvSpPr>
          <p:cNvPr id="24" name="FMI Legend Chip"/>
          <p:cNvSpPr/>
          <p:nvPr/>
        </p:nvSpPr>
        <p:spPr>
          <a:xfrm>
            <a:off x="4551045" y="319055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318578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3109588"/>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Brazil</a:t>
            </a:r>
          </a:p>
        </p:txBody>
      </p:sp>
      <p:sp>
        <p:nvSpPr>
          <p:cNvPr id="27" name="BPS Value 3"/>
          <p:cNvSpPr txBox="1"/>
          <p:nvPr/>
        </p:nvSpPr>
        <p:spPr>
          <a:xfrm>
            <a:off x="6305550" y="3171501"/>
            <a:ext cx="514350" cy="123825"/>
          </a:xfrm>
          <a:prstGeom prst="rect">
            <a:avLst/>
          </a:prstGeom>
          <a:noFill/>
        </p:spPr>
        <p:txBody>
          <a:bodyPr wrap="none" lIns="0" rIns="0" tIns="0" bIns="0" anchor="ctr">
            <a:spAutoFit/>
          </a:bodyPr>
          <a:lstStyle/>
          <a:p>
            <a:pPr algn="r"/>
            <a:r>
              <a:rPr sz="900" b="1">
                <a:solidFill>
                  <a:srgbClr val="E44D3A"/>
                </a:solidFill>
                <a:latin typeface="Calibri"/>
              </a:rPr>
              <a:t>-312</a:t>
            </a:r>
          </a:p>
        </p:txBody>
      </p:sp>
      <p:sp>
        <p:nvSpPr>
          <p:cNvPr id="28" name="FMI Legend Chip"/>
          <p:cNvSpPr/>
          <p:nvPr/>
        </p:nvSpPr>
        <p:spPr>
          <a:xfrm>
            <a:off x="4551045" y="447546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2970" y="447070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439450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Mexico</a:t>
            </a:r>
          </a:p>
        </p:txBody>
      </p:sp>
      <p:sp>
        <p:nvSpPr>
          <p:cNvPr id="31" name="BPS Value 4"/>
          <p:cNvSpPr txBox="1"/>
          <p:nvPr/>
        </p:nvSpPr>
        <p:spPr>
          <a:xfrm>
            <a:off x="6305550" y="4456414"/>
            <a:ext cx="514350" cy="123825"/>
          </a:xfrm>
          <a:prstGeom prst="rect">
            <a:avLst/>
          </a:prstGeom>
          <a:noFill/>
        </p:spPr>
        <p:txBody>
          <a:bodyPr wrap="none" lIns="0" rIns="0" tIns="0" bIns="0" anchor="ctr">
            <a:spAutoFit/>
          </a:bodyPr>
          <a:lstStyle/>
          <a:p>
            <a:pPr algn="r"/>
            <a:r>
              <a:rPr sz="900" b="1">
                <a:solidFill>
                  <a:srgbClr val="2E7D32"/>
                </a:solidFill>
                <a:latin typeface="Calibri"/>
              </a:rPr>
              <a:t>+206</a:t>
            </a:r>
          </a:p>
        </p:txBody>
      </p:sp>
      <p:sp>
        <p:nvSpPr>
          <p:cNvPr id="32" name="Rounded Rectangle 31"/>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34" name="Rectangle 33"/>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Mexico flexible plastic packaging market is projected to register 1.0X higher volume than Brazil in 2036. Among flexible plastic packaging by country, Colombia is expected to witness the highest CAGR of 6.9% over the forecast period.</a:t>
            </a:r>
          </a:p>
          <a:p>
            <a:pPr algn="l">
              <a:lnSpc>
                <a:spcPct val="110000"/>
              </a:lnSpc>
              <a:spcBef>
                <a:spcPts val="0"/>
              </a:spcBef>
              <a:spcAft>
                <a:spcPts val="500"/>
              </a:spcAft>
            </a:pPr>
            <a:r>
              <a:rPr sz="1150" b="0">
                <a:solidFill>
                  <a:srgbClr val="2E2E2E"/>
                </a:solidFill>
                <a:latin typeface="Calibri"/>
              </a:rPr>
              <a:t>In terms of volume share by country, Mexico is expected to dominate the market, gaining 259 BPS and accounting for 44.7% share by 2036. Brazil is expected to lose 389 BPS over the forecast period to account for 43.1% share by 2036.</a:t>
            </a:r>
          </a:p>
          <a:p>
            <a:pPr algn="l">
              <a:lnSpc>
                <a:spcPct val="110000"/>
              </a:lnSpc>
              <a:spcBef>
                <a:spcPts val="0"/>
              </a:spcBef>
              <a:spcAft>
                <a:spcPts val="500"/>
              </a:spcAft>
            </a:pPr>
            <a:r>
              <a:rPr sz="1150" b="0">
                <a:solidFill>
                  <a:srgbClr val="2E2E2E"/>
                </a:solidFill>
                <a:latin typeface="Calibri"/>
              </a:rPr>
              <a:t>Colombia grows fastest at 6.9% because rising incomes, an expanding middle class, growing modern retail and food processing investment are lifting packaged food and beverage consumption from a smaller base. Mexico, at 6.4%, gains 206 BPS on nearshoring and strong export-linked food manufacturing. Brazil, at 4.8%, is the largest but most mature and slower-growing market, so it loses 312 BPS.</a:t>
            </a:r>
          </a:p>
        </p:txBody>
      </p:sp>
      <p:sp>
        <p:nvSpPr>
          <p:cNvPr id="36" name="Rounded Rectangle 35"/>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(THOUSAND MT)</a:t>
            </a:r>
          </a:p>
          <a:p>
            <a:pPr algn="ctr">
              <a:lnSpc>
                <a:spcPct val="95000"/>
              </a:lnSpc>
            </a:pPr>
            <a:r>
              <a:rPr sz="2000" b="1">
                <a:solidFill>
                  <a:srgbClr val="0E72AE"/>
                </a:solidFill>
                <a:latin typeface="Calibri"/>
              </a:rPr>
              <a:t>2,834</a:t>
            </a:r>
          </a:p>
        </p:txBody>
      </p:sp>
      <p:sp>
        <p:nvSpPr>
          <p:cNvPr id="37" name="Rounded Rectangle 36"/>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(THOUSAND MT)</a:t>
            </a:r>
          </a:p>
          <a:p>
            <a:pPr algn="ctr">
              <a:lnSpc>
                <a:spcPct val="95000"/>
              </a:lnSpc>
            </a:pPr>
            <a:r>
              <a:rPr sz="2000" b="1">
                <a:solidFill>
                  <a:srgbClr val="0E72AE"/>
                </a:solidFill>
                <a:latin typeface="Calibri"/>
              </a:rPr>
              <a:t>4,955</a:t>
            </a:r>
          </a:p>
        </p:txBody>
      </p:sp>
      <p:sp>
        <p:nvSpPr>
          <p:cNvPr id="38" name="Rounded Rectangle 37"/>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5.7%</a:t>
            </a:r>
          </a:p>
        </p:txBody>
      </p:sp>
      <p:sp>
        <p:nvSpPr>
          <p:cNvPr id="39" name="TextBox 3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Flexible Plastic Packaging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643359"/>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63859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6239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Colombia</a:t>
            </a:r>
          </a:p>
        </p:txBody>
      </p:sp>
      <p:sp>
        <p:nvSpPr>
          <p:cNvPr id="19" name="BPS Value 1"/>
          <p:cNvSpPr txBox="1"/>
          <p:nvPr/>
        </p:nvSpPr>
        <p:spPr>
          <a:xfrm>
            <a:off x="6305550" y="1624309"/>
            <a:ext cx="514350" cy="123825"/>
          </a:xfrm>
          <a:prstGeom prst="rect">
            <a:avLst/>
          </a:prstGeom>
          <a:noFill/>
        </p:spPr>
        <p:txBody>
          <a:bodyPr wrap="none" lIns="0" rIns="0" tIns="0" bIns="0" anchor="ctr">
            <a:spAutoFit/>
          </a:bodyPr>
          <a:lstStyle/>
          <a:p>
            <a:pPr algn="r"/>
            <a:r>
              <a:rPr sz="900" b="1">
                <a:solidFill>
                  <a:srgbClr val="2E7D32"/>
                </a:solidFill>
                <a:latin typeface="Calibri"/>
              </a:rPr>
              <a:t>+107</a:t>
            </a:r>
          </a:p>
        </p:txBody>
      </p:sp>
      <p:sp>
        <p:nvSpPr>
          <p:cNvPr id="20" name="FMI Legend Chip"/>
          <p:cNvSpPr/>
          <p:nvPr/>
        </p:nvSpPr>
        <p:spPr>
          <a:xfrm>
            <a:off x="4551045" y="220346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219870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212250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Rest of Latin America</a:t>
            </a:r>
          </a:p>
        </p:txBody>
      </p:sp>
      <p:sp>
        <p:nvSpPr>
          <p:cNvPr id="23" name="BPS Value 2"/>
          <p:cNvSpPr txBox="1"/>
          <p:nvPr/>
        </p:nvSpPr>
        <p:spPr>
          <a:xfrm>
            <a:off x="6305550" y="2184414"/>
            <a:ext cx="514350" cy="123825"/>
          </a:xfrm>
          <a:prstGeom prst="rect">
            <a:avLst/>
          </a:prstGeom>
          <a:noFill/>
        </p:spPr>
        <p:txBody>
          <a:bodyPr wrap="none" lIns="0" rIns="0" tIns="0" bIns="0" anchor="ctr">
            <a:spAutoFit/>
          </a:bodyPr>
          <a:lstStyle/>
          <a:p>
            <a:pPr algn="r"/>
            <a:r>
              <a:rPr sz="900" b="1">
                <a:solidFill>
                  <a:srgbClr val="2E7D32"/>
                </a:solidFill>
                <a:latin typeface="Calibri"/>
              </a:rPr>
              <a:t>+7</a:t>
            </a:r>
          </a:p>
        </p:txBody>
      </p:sp>
      <p:sp>
        <p:nvSpPr>
          <p:cNvPr id="24" name="FMI Legend Chip"/>
          <p:cNvSpPr/>
          <p:nvPr/>
        </p:nvSpPr>
        <p:spPr>
          <a:xfrm>
            <a:off x="4551045" y="319869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2970" y="319392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311772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Mexico</a:t>
            </a:r>
          </a:p>
        </p:txBody>
      </p:sp>
      <p:sp>
        <p:nvSpPr>
          <p:cNvPr id="27" name="BPS Value 3"/>
          <p:cNvSpPr txBox="1"/>
          <p:nvPr/>
        </p:nvSpPr>
        <p:spPr>
          <a:xfrm>
            <a:off x="6305550" y="3179640"/>
            <a:ext cx="514350" cy="123825"/>
          </a:xfrm>
          <a:prstGeom prst="rect">
            <a:avLst/>
          </a:prstGeom>
          <a:noFill/>
        </p:spPr>
        <p:txBody>
          <a:bodyPr wrap="none" lIns="0" rIns="0" tIns="0" bIns="0" anchor="ctr">
            <a:spAutoFit/>
          </a:bodyPr>
          <a:lstStyle/>
          <a:p>
            <a:pPr algn="r"/>
            <a:r>
              <a:rPr sz="900" b="1">
                <a:solidFill>
                  <a:srgbClr val="2E7D32"/>
                </a:solidFill>
                <a:latin typeface="Calibri"/>
              </a:rPr>
              <a:t>+201</a:t>
            </a:r>
          </a:p>
        </p:txBody>
      </p:sp>
      <p:sp>
        <p:nvSpPr>
          <p:cNvPr id="28" name="FMI Legend Chip"/>
          <p:cNvSpPr/>
          <p:nvPr/>
        </p:nvSpPr>
        <p:spPr>
          <a:xfrm>
            <a:off x="4551045" y="447214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4712970" y="446738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4391184"/>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Brazil</a:t>
            </a:r>
          </a:p>
        </p:txBody>
      </p:sp>
      <p:sp>
        <p:nvSpPr>
          <p:cNvPr id="31" name="BPS Value 4"/>
          <p:cNvSpPr txBox="1"/>
          <p:nvPr/>
        </p:nvSpPr>
        <p:spPr>
          <a:xfrm>
            <a:off x="6305550" y="4453097"/>
            <a:ext cx="514350" cy="123825"/>
          </a:xfrm>
          <a:prstGeom prst="rect">
            <a:avLst/>
          </a:prstGeom>
          <a:noFill/>
        </p:spPr>
        <p:txBody>
          <a:bodyPr wrap="none" lIns="0" rIns="0" tIns="0" bIns="0" anchor="ctr">
            <a:spAutoFit/>
          </a:bodyPr>
          <a:lstStyle/>
          <a:p>
            <a:pPr algn="r"/>
            <a:r>
              <a:rPr sz="900" b="1">
                <a:solidFill>
                  <a:srgbClr val="E44D3A"/>
                </a:solidFill>
                <a:latin typeface="Calibri"/>
              </a:rPr>
              <a:t>-315</a:t>
            </a:r>
          </a:p>
        </p:txBody>
      </p:sp>
      <p:sp>
        <p:nvSpPr>
          <p:cNvPr id="32" name="Rounded Rectangle 31"/>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34" name="Rectangle 33"/>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Brazil flexible plastic packaging market is projected to register 1.1X higher value than Mexico in 2036. Among flexible plastic packaging by country, Colombia is expected to witness the highest CAGR of 8.4% over the forecast period.</a:t>
            </a:r>
          </a:p>
          <a:p>
            <a:pPr algn="l">
              <a:lnSpc>
                <a:spcPct val="110000"/>
              </a:lnSpc>
              <a:spcBef>
                <a:spcPts val="0"/>
              </a:spcBef>
              <a:spcAft>
                <a:spcPts val="500"/>
              </a:spcAft>
            </a:pPr>
            <a:r>
              <a:rPr sz="1150" b="0">
                <a:solidFill>
                  <a:srgbClr val="2E2E2E"/>
                </a:solidFill>
                <a:latin typeface="Calibri"/>
              </a:rPr>
              <a:t>In terms of value share by country, Brazil is expected to dominate the market, losing 393 BPS and accounting for 45.2% share by 2036.</a:t>
            </a:r>
          </a:p>
          <a:p>
            <a:pPr algn="l">
              <a:lnSpc>
                <a:spcPct val="110000"/>
              </a:lnSpc>
              <a:spcBef>
                <a:spcPts val="0"/>
              </a:spcBef>
              <a:spcAft>
                <a:spcPts val="500"/>
              </a:spcAft>
            </a:pPr>
            <a:r>
              <a:rPr sz="1150" b="0">
                <a:solidFill>
                  <a:srgbClr val="2E2E2E"/>
                </a:solidFill>
                <a:latin typeface="Calibri"/>
              </a:rPr>
              <a:t>Colombia grows fastest at 8.4%, ahead of 7.2% for the region, as rising incomes, an expanding middle class, modern retail formats and growing food processing and export lift demand for flexible packs from a smaller base. Mexico, at 7.8%, gains 201 BPS through nearshored manufacturing and a large packaged-food sector, while Brazil, at 6.3%, loses 315 BPS as a more mature market.</a:t>
            </a:r>
          </a:p>
        </p:txBody>
      </p:sp>
      <p:sp>
        <p:nvSpPr>
          <p:cNvPr id="36" name="Rounded Rectangle 35"/>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8,324</a:t>
            </a:r>
          </a:p>
        </p:txBody>
      </p:sp>
      <p:sp>
        <p:nvSpPr>
          <p:cNvPr id="37" name="Rounded Rectangle 36"/>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16,618</a:t>
            </a:r>
          </a:p>
        </p:txBody>
      </p:sp>
      <p:sp>
        <p:nvSpPr>
          <p:cNvPr id="38" name="Rounded Rectangle 37"/>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7.2%</a:t>
            </a:r>
          </a:p>
        </p:txBody>
      </p:sp>
      <p:sp>
        <p:nvSpPr>
          <p:cNvPr id="39" name="TextBox 3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Flexible Plastic Packaging Market Share Analysis, By Country Volume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Market Size, By Country (Thousand MT)</a:t>
            </a:r>
          </a:p>
        </p:txBody>
      </p:sp>
      <p:graphicFrame>
        <p:nvGraphicFramePr>
          <p:cNvPr id="13" name="Table 12"/>
          <p:cNvGraphicFramePr>
            <a:graphicFrameLocks noGrp="1"/>
          </p:cNvGraphicFramePr>
          <p:nvPr/>
        </p:nvGraphicFramePr>
        <p:xfrm>
          <a:off x="152400" y="1238250"/>
          <a:ext cx="11887197" cy="1295400"/>
        </p:xfrm>
        <a:graphic>
          <a:graphicData uri="http://schemas.openxmlformats.org/drawingml/2006/table">
            <a:tbl>
              <a:tblPr>
                <a:tableStyleId>{5C22544A-7EE6-4342-B048-85BDC9FD1C3A}</a:tableStyleId>
              </a:tblPr>
              <a:tblGrid>
                <a:gridCol w="1520376"/>
                <a:gridCol w="609813"/>
                <a:gridCol w="609813"/>
                <a:gridCol w="609813"/>
                <a:gridCol w="609813"/>
                <a:gridCol w="609813"/>
                <a:gridCol w="609813"/>
                <a:gridCol w="609813"/>
                <a:gridCol w="609813"/>
                <a:gridCol w="609813"/>
                <a:gridCol w="609813"/>
                <a:gridCol w="609813"/>
                <a:gridCol w="609813"/>
                <a:gridCol w="609813"/>
                <a:gridCol w="609813"/>
                <a:gridCol w="609813"/>
                <a:gridCol w="609813"/>
                <a:gridCol w="609813"/>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Rest of 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62275"/>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Volume Share Read-out, By Country</a:t>
            </a:r>
          </a:p>
        </p:txBody>
      </p:sp>
      <p:sp>
        <p:nvSpPr>
          <p:cNvPr id="17" name="Rectangle 16"/>
          <p:cNvSpPr/>
          <p:nvPr/>
        </p:nvSpPr>
        <p:spPr>
          <a:xfrm>
            <a:off x="276225" y="3200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86125"/>
            <a:ext cx="11639550" cy="3267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Mexico flexible plastic packaging market is projected to register 1.0X higher volume than Brazil in 2036. Among flexible plastic packaging by country, Colombia is expected to witness the highest CAGR of 6.9% over the forecast period.</a:t>
            </a:r>
          </a:p>
          <a:p>
            <a:pPr algn="l">
              <a:lnSpc>
                <a:spcPct val="110000"/>
              </a:lnSpc>
              <a:spcBef>
                <a:spcPts val="0"/>
              </a:spcBef>
              <a:spcAft>
                <a:spcPts val="500"/>
              </a:spcAft>
            </a:pPr>
            <a:r>
              <a:rPr sz="1150" b="0">
                <a:solidFill>
                  <a:srgbClr val="2E2E2E"/>
                </a:solidFill>
                <a:latin typeface="Calibri"/>
              </a:rPr>
              <a:t>In terms of volume share by country, Mexico is expected to dominate the market, gaining 259 BPS and accounting for 44.7% share by 2036. Brazil is expected to lose 389 BPS over the forecast period to account for 43.1% share by 2036.</a:t>
            </a:r>
          </a:p>
          <a:p>
            <a:pPr algn="l">
              <a:lnSpc>
                <a:spcPct val="110000"/>
              </a:lnSpc>
              <a:spcBef>
                <a:spcPts val="0"/>
              </a:spcBef>
              <a:spcAft>
                <a:spcPts val="500"/>
              </a:spcAft>
            </a:pPr>
            <a:r>
              <a:rPr sz="1150" b="0">
                <a:solidFill>
                  <a:srgbClr val="2E2E2E"/>
                </a:solidFill>
                <a:latin typeface="Calibri"/>
              </a:rPr>
              <a:t>Mexico gains 206 BPS and grows at 6.4% because nearshoring investment, a large food and beverage industry, proximity to U.S. supply chains and a strong converting base drive packaging demand. Colombia also gains, at 6.9%, on growing modern retail. Brazil loses 312 BPS as its volume grows at only 4.8%, held back by macroeconomic volatility and a more mature, already large packaging base.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Flexible Plastic Packaging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Market Size, By Country (US$ Mn)</a:t>
            </a:r>
          </a:p>
        </p:txBody>
      </p:sp>
      <p:graphicFrame>
        <p:nvGraphicFramePr>
          <p:cNvPr id="13" name="Table 12"/>
          <p:cNvGraphicFramePr>
            <a:graphicFrameLocks noGrp="1"/>
          </p:cNvGraphicFramePr>
          <p:nvPr/>
        </p:nvGraphicFramePr>
        <p:xfrm>
          <a:off x="152400" y="1238250"/>
          <a:ext cx="11887197" cy="1295400"/>
        </p:xfrm>
        <a:graphic>
          <a:graphicData uri="http://schemas.openxmlformats.org/drawingml/2006/table">
            <a:tbl>
              <a:tblPr>
                <a:tableStyleId>{5C22544A-7EE6-4342-B048-85BDC9FD1C3A}</a:tableStyleId>
              </a:tblPr>
              <a:tblGrid>
                <a:gridCol w="1520376"/>
                <a:gridCol w="609813"/>
                <a:gridCol w="609813"/>
                <a:gridCol w="609813"/>
                <a:gridCol w="609813"/>
                <a:gridCol w="609813"/>
                <a:gridCol w="609813"/>
                <a:gridCol w="609813"/>
                <a:gridCol w="609813"/>
                <a:gridCol w="609813"/>
                <a:gridCol w="609813"/>
                <a:gridCol w="609813"/>
                <a:gridCol w="609813"/>
                <a:gridCol w="609813"/>
                <a:gridCol w="609813"/>
                <a:gridCol w="609813"/>
                <a:gridCol w="609813"/>
                <a:gridCol w="609813"/>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Rest of 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62275"/>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Value Share Read-out, By Country</a:t>
            </a:r>
          </a:p>
        </p:txBody>
      </p:sp>
      <p:sp>
        <p:nvSpPr>
          <p:cNvPr id="17" name="Rectangle 16"/>
          <p:cNvSpPr/>
          <p:nvPr/>
        </p:nvSpPr>
        <p:spPr>
          <a:xfrm>
            <a:off x="276225" y="3200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86125"/>
            <a:ext cx="11639550" cy="3267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Brazil flexible plastic packaging market is projected to register 1.1X higher value than Mexico in 2036. Among flexible plastic packaging by country, Colombia is expected to witness the highest CAGR of 8.4% over the forecast period.</a:t>
            </a:r>
          </a:p>
          <a:p>
            <a:pPr algn="l">
              <a:lnSpc>
                <a:spcPct val="110000"/>
              </a:lnSpc>
              <a:spcBef>
                <a:spcPts val="0"/>
              </a:spcBef>
              <a:spcAft>
                <a:spcPts val="500"/>
              </a:spcAft>
            </a:pPr>
            <a:r>
              <a:rPr sz="1150" b="0">
                <a:solidFill>
                  <a:srgbClr val="2E2E2E"/>
                </a:solidFill>
                <a:latin typeface="Calibri"/>
              </a:rPr>
              <a:t>In terms of value share by country, Brazil is expected to dominate the market, losing 393 BPS and accounting for 45.2% share by 2036.</a:t>
            </a:r>
          </a:p>
          <a:p>
            <a:pPr algn="l">
              <a:lnSpc>
                <a:spcPct val="110000"/>
              </a:lnSpc>
              <a:spcBef>
                <a:spcPts val="0"/>
              </a:spcBef>
              <a:spcAft>
                <a:spcPts val="500"/>
              </a:spcAft>
            </a:pPr>
            <a:r>
              <a:rPr sz="1150" b="0">
                <a:solidFill>
                  <a:srgbClr val="2E2E2E"/>
                </a:solidFill>
                <a:latin typeface="Calibri"/>
              </a:rPr>
              <a:t>Mexico gains 201 BPS of value share at 7.8% growth as nearshoring, export food processing, retail modernisation and a growing middle class pull in flexible packaging, while Colombia is fastest at 8.4% from a smaller base. Brazil, the largest market, loses 315 BPS at 6.3% because its mature scale slows growth against the 7.2% regional rate.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Flexible Plastic Packaging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Volume By Country (Thousand MT)</a:t>
            </a:r>
          </a:p>
        </p:txBody>
      </p:sp>
      <p:graphicFrame>
        <p:nvGraphicFramePr>
          <p:cNvPr id="13" name="Chart 12"/>
          <p:cNvGraphicFramePr>
            <a:graphicFrameLocks noGrp="1"/>
          </p:cNvGraphicFramePr>
          <p:nvPr/>
        </p:nvGraphicFramePr>
        <p:xfrm>
          <a:off x="238125" y="1266825"/>
          <a:ext cx="944880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9763125" y="1304925"/>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MI Dense Legend"/>
          <p:cNvSpPr txBox="1"/>
          <p:nvPr/>
        </p:nvSpPr>
        <p:spPr>
          <a:xfrm>
            <a:off x="9839325" y="1362075"/>
            <a:ext cx="2057400" cy="171450"/>
          </a:xfrm>
          <a:prstGeom prst="rect">
            <a:avLst/>
          </a:prstGeom>
          <a:noFill/>
        </p:spPr>
        <p:txBody>
          <a:bodyPr wrap="none">
            <a:spAutoFit/>
          </a:bodyPr>
          <a:lstStyle/>
          <a:p>
            <a:r>
              <a:rPr sz="850" b="1">
                <a:solidFill>
                  <a:srgbClr val="6C7A89"/>
                </a:solidFill>
                <a:latin typeface="Calibri"/>
              </a:rPr>
              <a:t>By segment</a:t>
            </a:r>
          </a:p>
        </p:txBody>
      </p:sp>
      <p:sp>
        <p:nvSpPr>
          <p:cNvPr id="16" name="FMI Dense Legend"/>
          <p:cNvSpPr txBox="1"/>
          <p:nvPr/>
        </p:nvSpPr>
        <p:spPr>
          <a:xfrm>
            <a:off x="9839325" y="1533525"/>
            <a:ext cx="2057400" cy="2047875"/>
          </a:xfrm>
          <a:prstGeom prst="rect">
            <a:avLst/>
          </a:prstGeom>
          <a:noFill/>
        </p:spPr>
        <p:txBody>
          <a:bodyPr wrap="square">
            <a:spAutoFit/>
          </a:bodyPr>
          <a:lstStyle/>
          <a:p>
            <a:pPr>
              <a:spcBef>
                <a:spcPts val="500"/>
              </a:spcBef>
            </a:pPr>
            <a:r>
              <a:rPr sz="900">
                <a:solidFill>
                  <a:srgbClr val="9E7E0A"/>
                </a:solidFill>
                <a:latin typeface="Calibri"/>
              </a:rPr>
              <a:t>■  </a:t>
            </a:r>
            <a:r>
              <a:rPr sz="750">
                <a:solidFill>
                  <a:srgbClr val="2E2E2E"/>
                </a:solidFill>
                <a:latin typeface="Calibri"/>
              </a:rPr>
              <a:t>   Mexico</a:t>
            </a:r>
          </a:p>
          <a:p>
            <a:pPr>
              <a:spcBef>
                <a:spcPts val="500"/>
              </a:spcBef>
            </a:pPr>
            <a:r>
              <a:rPr sz="900">
                <a:solidFill>
                  <a:srgbClr val="3D85C6"/>
                </a:solidFill>
                <a:latin typeface="Calibri"/>
              </a:rPr>
              <a:t>■  </a:t>
            </a:r>
            <a:r>
              <a:rPr sz="750">
                <a:solidFill>
                  <a:srgbClr val="2E2E2E"/>
                </a:solidFill>
                <a:latin typeface="Calibri"/>
              </a:rPr>
              <a:t>   Brazil</a:t>
            </a:r>
          </a:p>
          <a:p>
            <a:pPr>
              <a:spcBef>
                <a:spcPts val="500"/>
              </a:spcBef>
            </a:pPr>
            <a:r>
              <a:rPr sz="900">
                <a:solidFill>
                  <a:srgbClr val="008189"/>
                </a:solidFill>
                <a:latin typeface="Calibri"/>
              </a:rPr>
              <a:t>■  </a:t>
            </a:r>
            <a:r>
              <a:rPr sz="750">
                <a:solidFill>
                  <a:srgbClr val="2E2E2E"/>
                </a:solidFill>
                <a:latin typeface="Calibri"/>
              </a:rPr>
              <a:t>   Rest of Latin America</a:t>
            </a:r>
          </a:p>
          <a:p>
            <a:pPr>
              <a:spcBef>
                <a:spcPts val="500"/>
              </a:spcBef>
            </a:pPr>
            <a:r>
              <a:rPr sz="900">
                <a:solidFill>
                  <a:srgbClr val="40315E"/>
                </a:solidFill>
                <a:latin typeface="Calibri"/>
              </a:rPr>
              <a:t>■  </a:t>
            </a:r>
            <a:r>
              <a:rPr sz="750">
                <a:solidFill>
                  <a:srgbClr val="2E2E2E"/>
                </a:solidFill>
                <a:latin typeface="Calibri"/>
              </a:rPr>
              <a:t>   Colombia</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Country (US$ Mn)</a:t>
            </a:r>
          </a:p>
        </p:txBody>
      </p:sp>
      <p:graphicFrame>
        <p:nvGraphicFramePr>
          <p:cNvPr id="19" name="Chart 18"/>
          <p:cNvGraphicFramePr>
            <a:graphicFrameLocks noGrp="1"/>
          </p:cNvGraphicFramePr>
          <p:nvPr/>
        </p:nvGraphicFramePr>
        <p:xfrm>
          <a:off x="238125" y="4152900"/>
          <a:ext cx="9448800" cy="2409825"/>
        </p:xfrm>
        <a:graphic>
          <a:graphicData uri="http://schemas.openxmlformats.org/drawingml/2006/chart">
            <c:chart xmlns:c="http://schemas.openxmlformats.org/drawingml/2006/chart" r:id="rId4"/>
          </a:graphicData>
        </a:graphic>
      </p:graphicFrame>
      <p:sp>
        <p:nvSpPr>
          <p:cNvPr id="20" name="Rounded Rectangle 19"/>
          <p:cNvSpPr/>
          <p:nvPr/>
        </p:nvSpPr>
        <p:spPr>
          <a:xfrm>
            <a:off x="9763125" y="4191000"/>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MI Dense Legend"/>
          <p:cNvSpPr txBox="1"/>
          <p:nvPr/>
        </p:nvSpPr>
        <p:spPr>
          <a:xfrm>
            <a:off x="9839325" y="4248150"/>
            <a:ext cx="2057400" cy="171450"/>
          </a:xfrm>
          <a:prstGeom prst="rect">
            <a:avLst/>
          </a:prstGeom>
          <a:noFill/>
        </p:spPr>
        <p:txBody>
          <a:bodyPr wrap="none">
            <a:spAutoFit/>
          </a:bodyPr>
          <a:lstStyle/>
          <a:p>
            <a:r>
              <a:rPr sz="850" b="1">
                <a:solidFill>
                  <a:srgbClr val="6C7A89"/>
                </a:solidFill>
                <a:latin typeface="Calibri"/>
              </a:rPr>
              <a:t>By segment</a:t>
            </a:r>
          </a:p>
        </p:txBody>
      </p:sp>
      <p:sp>
        <p:nvSpPr>
          <p:cNvPr id="22" name="FMI Dense Legend"/>
          <p:cNvSpPr txBox="1"/>
          <p:nvPr/>
        </p:nvSpPr>
        <p:spPr>
          <a:xfrm>
            <a:off x="9839325" y="4419600"/>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Brazil</a:t>
            </a:r>
          </a:p>
          <a:p>
            <a:pPr>
              <a:spcBef>
                <a:spcPts val="500"/>
              </a:spcBef>
            </a:pPr>
            <a:r>
              <a:rPr sz="900">
                <a:solidFill>
                  <a:srgbClr val="9E7E0A"/>
                </a:solidFill>
                <a:latin typeface="Calibri"/>
              </a:rPr>
              <a:t>■  </a:t>
            </a:r>
            <a:r>
              <a:rPr sz="750">
                <a:solidFill>
                  <a:srgbClr val="2E2E2E"/>
                </a:solidFill>
                <a:latin typeface="Calibri"/>
              </a:rPr>
              <a:t>   Mexico</a:t>
            </a:r>
          </a:p>
          <a:p>
            <a:pPr>
              <a:spcBef>
                <a:spcPts val="500"/>
              </a:spcBef>
            </a:pPr>
            <a:r>
              <a:rPr sz="900">
                <a:solidFill>
                  <a:srgbClr val="008189"/>
                </a:solidFill>
                <a:latin typeface="Calibri"/>
              </a:rPr>
              <a:t>■  </a:t>
            </a:r>
            <a:r>
              <a:rPr sz="750">
                <a:solidFill>
                  <a:srgbClr val="2E2E2E"/>
                </a:solidFill>
                <a:latin typeface="Calibri"/>
              </a:rPr>
              <a:t>   Rest of Latin America</a:t>
            </a:r>
          </a:p>
          <a:p>
            <a:pPr>
              <a:spcBef>
                <a:spcPts val="500"/>
              </a:spcBef>
            </a:pPr>
            <a:r>
              <a:rPr sz="900">
                <a:solidFill>
                  <a:srgbClr val="40315E"/>
                </a:solidFill>
                <a:latin typeface="Calibri"/>
              </a:rPr>
              <a:t>■  </a:t>
            </a:r>
            <a:r>
              <a:rPr sz="750">
                <a:solidFill>
                  <a:srgbClr val="2E2E2E"/>
                </a:solidFill>
                <a:latin typeface="Calibri"/>
              </a:rPr>
              <a:t>   Colombia</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Flexible Plastic Packaging Market Top 3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Latin America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market by country  ·  2036 (US$ Mn)  ·  tile size = market value</a:t>
            </a:r>
          </a:p>
        </p:txBody>
      </p:sp>
      <p:sp>
        <p:nvSpPr>
          <p:cNvPr id="13" name="Rectangle 12"/>
          <p:cNvSpPr/>
          <p:nvPr/>
        </p:nvSpPr>
        <p:spPr>
          <a:xfrm>
            <a:off x="238125" y="1266825"/>
            <a:ext cx="5291719"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5,955</a:t>
            </a:r>
          </a:p>
        </p:txBody>
      </p:sp>
      <p:sp>
        <p:nvSpPr>
          <p:cNvPr id="14" name="Rectangle 13"/>
          <p:cNvSpPr/>
          <p:nvPr/>
        </p:nvSpPr>
        <p:spPr>
          <a:xfrm>
            <a:off x="5529844" y="1266825"/>
            <a:ext cx="4964150" cy="5305425"/>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Mexico</a:t>
            </a:r>
          </a:p>
          <a:p>
            <a:pPr algn="ctr"/>
            <a:r>
              <a:rPr sz="1100" b="0">
                <a:solidFill>
                  <a:srgbClr val="FFFFFF"/>
                </a:solidFill>
                <a:latin typeface="Calibri"/>
              </a:rPr>
              <a:t>5,587</a:t>
            </a:r>
          </a:p>
        </p:txBody>
      </p:sp>
      <p:sp>
        <p:nvSpPr>
          <p:cNvPr id="15" name="Rectangle 14"/>
          <p:cNvSpPr/>
          <p:nvPr/>
        </p:nvSpPr>
        <p:spPr>
          <a:xfrm>
            <a:off x="10493993" y="1266825"/>
            <a:ext cx="1459882" cy="5305425"/>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Colombia</a:t>
            </a:r>
          </a:p>
          <a:p>
            <a:pPr algn="ctr"/>
            <a:r>
              <a:rPr sz="1100" b="0">
                <a:solidFill>
                  <a:srgbClr val="FFFFFF"/>
                </a:solidFill>
                <a:latin typeface="Calibri"/>
              </a:rPr>
              <a:t>1,643</a:t>
            </a:r>
          </a:p>
        </p:txBody>
      </p:sp>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Latin America Market Analysis By Segments</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Principal Material / Barrier 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Structure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Barrier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Application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Barrier Level Vs Application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Product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Type segment categorizes the market by product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Rollstock Films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4,504</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8,998</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7.2%</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Premade Pouches &amp; Bags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2,295</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4,618</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7.2%</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Barrier Casings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934.5</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1,849</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7.1%</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Sachets &amp; Stick Packs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590.0</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1,152</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6.9%</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product type, premade pouches &amp; bags segment is expected to witness the highest CAGR of 7.2% over the forecast period. In terms of value share by product type, the rollstock films segment is expected to dominate the market, maintaining its share and accounting for 54.1%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Rollstock films segment is projected to register 1.9X higher value than premade pouches &amp; bags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Rollstock Films: </a:t>
            </a:r>
            <a:r>
              <a:rPr sz="1100" b="0">
                <a:solidFill>
                  <a:srgbClr val="2E2E2E"/>
                </a:solidFill>
                <a:latin typeface="Calibri"/>
              </a:rPr>
              <a:t>54% of 2026 value · 7.2%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Premade Pouches &amp; Bags: </a:t>
            </a:r>
            <a:r>
              <a:rPr sz="1100" b="0">
                <a:solidFill>
                  <a:srgbClr val="2E2E2E"/>
                </a:solidFill>
                <a:latin typeface="Calibri"/>
              </a:rPr>
              <a:t>28% of 2026 value · 7.2%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Barrier Casings: </a:t>
            </a:r>
            <a:r>
              <a:rPr sz="1100" b="0">
                <a:solidFill>
                  <a:srgbClr val="2E2E2E"/>
                </a:solidFill>
                <a:latin typeface="Calibri"/>
              </a:rPr>
              <a:t>11% of 2026 value · 7.1%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Sachets &amp; Stick Packs: </a:t>
            </a:r>
            <a:r>
              <a:rPr sz="1100" b="0">
                <a:solidFill>
                  <a:srgbClr val="2E2E2E"/>
                </a:solidFill>
                <a:latin typeface="Calibri"/>
              </a:rPr>
              <a:t>7% of 2026 value · 6.9% CAGR serves a niche.</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Type split shows how demand is distributed across product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Type segment is projected to grow at a CAGR of 7.2%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Structure &amp; Attractiveness, By Product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Type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Type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Rollstock films followed by premade pouches &amp; bags are expected to be the two most attractive product type segments in the Latin America flexible plastic packaging market in terms of value over the forecast period. Rollstock films and premade pouches &amp; bags exhibit a CAGR index of 100 and 101 and a market share index of 216 and 110 respectively, against the segment average of 100. The sachets &amp; stick packs segment is expected to be less attractive as compared to other segments over the forecast period, owing to its lower CAGR and incremental opportunity. Premade Pouches &amp; Bags and Rollstock Films tie for the fastest growth at 7.2%, but pouches rank higher on momentum with a 21 BPS gain while Rollstock Films hold the largest base at 54.1%. Pouches benefit from modern retail, e-commerce and convenient packaged food, while rollstock serves large food processors. Sachets &amp; Stick Packs, at 6.9%, lose 15 BPS.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Rollstock Films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Barrier Casings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Premade Pouches &amp; Bags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Sachets &amp; Stick Packs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Volume Analysis, By Product Type (Thousand MT)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Volume, By Product Type (Thousand MT)</a:t>
            </a:r>
          </a:p>
        </p:txBody>
      </p:sp>
      <p:graphicFrame>
        <p:nvGraphicFramePr>
          <p:cNvPr id="13" name="Table 12"/>
          <p:cNvGraphicFramePr>
            <a:graphicFrameLocks noGrp="1"/>
          </p:cNvGraphicFramePr>
          <p:nvPr/>
        </p:nvGraphicFramePr>
        <p:xfrm>
          <a:off x="152400" y="1238250"/>
          <a:ext cx="11887205" cy="3448050"/>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Volume Analysis, By Product Type (Thousand MT)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Type,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Volume, By Product Type (Thousand MT)</a:t>
            </a:r>
          </a:p>
        </p:txBody>
      </p:sp>
      <p:graphicFrame>
        <p:nvGraphicFramePr>
          <p:cNvPr id="12" name="Table 11"/>
          <p:cNvGraphicFramePr>
            <a:graphicFrameLocks noGrp="1"/>
          </p:cNvGraphicFramePr>
          <p:nvPr/>
        </p:nvGraphicFramePr>
        <p:xfrm>
          <a:off x="152400" y="1238250"/>
          <a:ext cx="11887207" cy="1514475"/>
        </p:xfrm>
        <a:graphic>
          <a:graphicData uri="http://schemas.openxmlformats.org/drawingml/2006/table">
            <a:tbl>
              <a:tblPr>
                <a:tableStyleId>{5C22544A-7EE6-4342-B048-85BDC9FD1C3A}</a:tableStyleId>
              </a:tblPr>
              <a:tblGrid>
                <a:gridCol w="1522732"/>
                <a:gridCol w="609675"/>
                <a:gridCol w="609675"/>
                <a:gridCol w="609675"/>
                <a:gridCol w="609675"/>
                <a:gridCol w="609675"/>
                <a:gridCol w="609675"/>
                <a:gridCol w="609675"/>
                <a:gridCol w="609675"/>
                <a:gridCol w="609675"/>
                <a:gridCol w="609675"/>
                <a:gridCol w="609675"/>
                <a:gridCol w="609675"/>
                <a:gridCol w="609675"/>
                <a:gridCol w="609675"/>
                <a:gridCol w="609675"/>
                <a:gridCol w="609675"/>
                <a:gridCol w="609675"/>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 Flat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Retort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Sachets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Stick Packs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Volume Analysis, By Product Type</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Rollstock films segment is projected to register 1.8X higher volume than premade pouches &amp; bags segment in 2036. Among flexible plastic packaging by product type, premade pouches &amp; bags segment is expected to witness the highest CAGR of 5.8% over the forecast period.</a:t>
            </a:r>
          </a:p>
          <a:p>
            <a:pPr algn="l">
              <a:lnSpc>
                <a:spcPct val="110000"/>
              </a:lnSpc>
              <a:spcBef>
                <a:spcPts val="0"/>
              </a:spcBef>
              <a:spcAft>
                <a:spcPts val="500"/>
              </a:spcAft>
            </a:pPr>
            <a:r>
              <a:rPr sz="1150" b="0">
                <a:solidFill>
                  <a:srgbClr val="2E2E2E"/>
                </a:solidFill>
                <a:latin typeface="Calibri"/>
              </a:rPr>
              <a:t>In terms of volume share by product type, the rollstock films segment is expected to dominate the market, maintaining its share and accounting for 53.9% share by 2036. The sachets &amp; stick packs segment is expected to lose 15 BPS over the forecast period to account for 8.1% share by 2036.</a:t>
            </a:r>
          </a:p>
          <a:p>
            <a:pPr algn="l">
              <a:lnSpc>
                <a:spcPct val="110000"/>
              </a:lnSpc>
              <a:spcBef>
                <a:spcPts val="0"/>
              </a:spcBef>
              <a:spcAft>
                <a:spcPts val="500"/>
              </a:spcAft>
            </a:pPr>
            <a:r>
              <a:rPr sz="1150" b="0">
                <a:solidFill>
                  <a:srgbClr val="2E2E2E"/>
                </a:solidFill>
                <a:latin typeface="Calibri"/>
              </a:rPr>
              <a:t>Premade Pouches &amp; Bags gain 22 BPS and grow at 5.8% because modern retail, e-commerce and branded food, pet food and home-care products favour stand-up and zipper formats. Sachets &amp; Stick Packs lose 15 BPS at 5.6%, as the single-serve formats serving low-income consumers are being overtaken by larger pouches as incomes rise. Rollstock Films and Barrier Casings keep steady shares tied to food-processing lines.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Analysis, By Product Type (US$ Mn)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Product Type (US$ Mn)</a:t>
            </a:r>
          </a:p>
        </p:txBody>
      </p:sp>
      <p:graphicFrame>
        <p:nvGraphicFramePr>
          <p:cNvPr id="13" name="Table 12"/>
          <p:cNvGraphicFramePr>
            <a:graphicFrameLocks noGrp="1"/>
          </p:cNvGraphicFramePr>
          <p:nvPr/>
        </p:nvGraphicFramePr>
        <p:xfrm>
          <a:off x="152400" y="1238250"/>
          <a:ext cx="11887205" cy="3448050"/>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Analysis, By Product Type (US$ Mn)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Product Type (US$ Mn)</a:t>
            </a:r>
          </a:p>
        </p:txBody>
      </p:sp>
      <p:graphicFrame>
        <p:nvGraphicFramePr>
          <p:cNvPr id="12" name="Table 11"/>
          <p:cNvGraphicFramePr>
            <a:graphicFrameLocks noGrp="1"/>
          </p:cNvGraphicFramePr>
          <p:nvPr/>
        </p:nvGraphicFramePr>
        <p:xfrm>
          <a:off x="152400" y="1238250"/>
          <a:ext cx="11887207" cy="1514475"/>
        </p:xfrm>
        <a:graphic>
          <a:graphicData uri="http://schemas.openxmlformats.org/drawingml/2006/table">
            <a:tbl>
              <a:tblPr>
                <a:tableStyleId>{5C22544A-7EE6-4342-B048-85BDC9FD1C3A}</a:tableStyleId>
              </a:tblPr>
              <a:tblGrid>
                <a:gridCol w="1522732"/>
                <a:gridCol w="609675"/>
                <a:gridCol w="609675"/>
                <a:gridCol w="609675"/>
                <a:gridCol w="609675"/>
                <a:gridCol w="609675"/>
                <a:gridCol w="609675"/>
                <a:gridCol w="609675"/>
                <a:gridCol w="609675"/>
                <a:gridCol w="609675"/>
                <a:gridCol w="609675"/>
                <a:gridCol w="609675"/>
                <a:gridCol w="609675"/>
                <a:gridCol w="609675"/>
                <a:gridCol w="609675"/>
                <a:gridCol w="609675"/>
                <a:gridCol w="609675"/>
                <a:gridCol w="609675"/>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 Flat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Retort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Sachets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Stick Packs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Value Analysis, By Product Type</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Rollstock films segment is projected to register 1.9X higher value than premade pouches &amp; bags segment in 2036. Among flexible plastic packaging by product type, premade pouches &amp; bags segment is expected to witness the highest CAGR of 7.2% over the forecast period.</a:t>
            </a:r>
          </a:p>
          <a:p>
            <a:pPr algn="l">
              <a:lnSpc>
                <a:spcPct val="110000"/>
              </a:lnSpc>
              <a:spcBef>
                <a:spcPts val="0"/>
              </a:spcBef>
              <a:spcAft>
                <a:spcPts val="500"/>
              </a:spcAft>
            </a:pPr>
            <a:r>
              <a:rPr sz="1150" b="0">
                <a:solidFill>
                  <a:srgbClr val="2E2E2E"/>
                </a:solidFill>
                <a:latin typeface="Calibri"/>
              </a:rPr>
              <a:t>In terms of value share by product type, the rollstock films segment is expected to dominate the market, maintaining its share and accounting for 54.1% share by 2036. The sachets &amp; stick packs segment is expected to lose 15 BPS over the forecast period to account for 6.9% share by 2036.</a:t>
            </a:r>
          </a:p>
          <a:p>
            <a:pPr algn="l">
              <a:lnSpc>
                <a:spcPct val="110000"/>
              </a:lnSpc>
              <a:spcBef>
                <a:spcPts val="0"/>
              </a:spcBef>
              <a:spcAft>
                <a:spcPts val="500"/>
              </a:spcAft>
            </a:pPr>
            <a:r>
              <a:rPr sz="1150" b="0">
                <a:solidFill>
                  <a:srgbClr val="2E2E2E"/>
                </a:solidFill>
                <a:latin typeface="Calibri"/>
              </a:rPr>
              <a:t>Premade Pouches &amp; Bags gain 21 BPS of value share because stand-up and resealable formats suit e-commerce, convenience retail and portion-controlled food, backed by urbanisation, retail modernisation and rising packaged-food consumption. Sachets &amp; Stick Packs lose 15 BPS at 6.9% growth as single-serve formats are niche and largely mature, so the 7.2% market rate runs ahead of them.</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&amp; Share Shift,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Composition, By Product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29804"/>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2504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4884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Sachets &amp; Stick Packs</a:t>
            </a:r>
          </a:p>
        </p:txBody>
      </p:sp>
      <p:sp>
        <p:nvSpPr>
          <p:cNvPr id="19" name="BPS Value 1"/>
          <p:cNvSpPr txBox="1"/>
          <p:nvPr/>
        </p:nvSpPr>
        <p:spPr>
          <a:xfrm>
            <a:off x="6896100" y="1810754"/>
            <a:ext cx="514350" cy="123825"/>
          </a:xfrm>
          <a:prstGeom prst="rect">
            <a:avLst/>
          </a:prstGeom>
          <a:noFill/>
        </p:spPr>
        <p:txBody>
          <a:bodyPr wrap="none" lIns="0" rIns="0" tIns="0" bIns="0" anchor="ctr">
            <a:spAutoFit/>
          </a:bodyPr>
          <a:lstStyle/>
          <a:p>
            <a:pPr algn="r"/>
            <a:r>
              <a:rPr sz="900" b="1">
                <a:solidFill>
                  <a:srgbClr val="E44D3A"/>
                </a:solidFill>
                <a:latin typeface="Calibri"/>
              </a:rPr>
              <a:t>-15</a:t>
            </a:r>
          </a:p>
        </p:txBody>
      </p:sp>
      <p:sp>
        <p:nvSpPr>
          <p:cNvPr id="20" name="FMI Legend Chip"/>
          <p:cNvSpPr/>
          <p:nvPr/>
        </p:nvSpPr>
        <p:spPr>
          <a:xfrm>
            <a:off x="4928997" y="224278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23801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16181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Barrier Casings</a:t>
            </a:r>
          </a:p>
        </p:txBody>
      </p:sp>
      <p:sp>
        <p:nvSpPr>
          <p:cNvPr id="23" name="BPS Value 2"/>
          <p:cNvSpPr txBox="1"/>
          <p:nvPr/>
        </p:nvSpPr>
        <p:spPr>
          <a:xfrm>
            <a:off x="6896100" y="2223732"/>
            <a:ext cx="514350" cy="123825"/>
          </a:xfrm>
          <a:prstGeom prst="rect">
            <a:avLst/>
          </a:prstGeom>
          <a:noFill/>
        </p:spPr>
        <p:txBody>
          <a:bodyPr wrap="none" lIns="0" rIns="0" tIns="0" bIns="0" anchor="ctr">
            <a:spAutoFit/>
          </a:bodyPr>
          <a:lstStyle/>
          <a:p>
            <a:pPr algn="r"/>
            <a:r>
              <a:rPr sz="900" b="1">
                <a:solidFill>
                  <a:srgbClr val="E44D3A"/>
                </a:solidFill>
                <a:latin typeface="Calibri"/>
              </a:rPr>
              <a:t>-10</a:t>
            </a:r>
          </a:p>
        </p:txBody>
      </p:sp>
      <p:sp>
        <p:nvSpPr>
          <p:cNvPr id="24" name="FMI Legend Chip"/>
          <p:cNvSpPr/>
          <p:nvPr/>
        </p:nvSpPr>
        <p:spPr>
          <a:xfrm>
            <a:off x="4928997" y="313251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12775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05155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Premade Pouches &amp; Bags</a:t>
            </a:r>
          </a:p>
        </p:txBody>
      </p:sp>
      <p:sp>
        <p:nvSpPr>
          <p:cNvPr id="27" name="BPS Value 3"/>
          <p:cNvSpPr txBox="1"/>
          <p:nvPr/>
        </p:nvSpPr>
        <p:spPr>
          <a:xfrm>
            <a:off x="6896100" y="3113465"/>
            <a:ext cx="514350" cy="123825"/>
          </a:xfrm>
          <a:prstGeom prst="rect">
            <a:avLst/>
          </a:prstGeom>
          <a:noFill/>
        </p:spPr>
        <p:txBody>
          <a:bodyPr wrap="none" lIns="0" rIns="0" tIns="0" bIns="0" anchor="ctr">
            <a:spAutoFit/>
          </a:bodyPr>
          <a:lstStyle/>
          <a:p>
            <a:pPr algn="r"/>
            <a:r>
              <a:rPr sz="900" b="1">
                <a:solidFill>
                  <a:srgbClr val="2E7D32"/>
                </a:solidFill>
                <a:latin typeface="Calibri"/>
              </a:rPr>
              <a:t>+21</a:t>
            </a:r>
          </a:p>
        </p:txBody>
      </p:sp>
      <p:sp>
        <p:nvSpPr>
          <p:cNvPr id="28" name="FMI Legend Chip"/>
          <p:cNvSpPr/>
          <p:nvPr/>
        </p:nvSpPr>
        <p:spPr>
          <a:xfrm>
            <a:off x="4928997" y="500572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00096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92476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Rollstock Films</a:t>
            </a:r>
          </a:p>
        </p:txBody>
      </p:sp>
      <p:sp>
        <p:nvSpPr>
          <p:cNvPr id="31" name="BPS Value 4"/>
          <p:cNvSpPr txBox="1"/>
          <p:nvPr/>
        </p:nvSpPr>
        <p:spPr>
          <a:xfrm>
            <a:off x="6896100" y="4986678"/>
            <a:ext cx="514350" cy="123825"/>
          </a:xfrm>
          <a:prstGeom prst="rect">
            <a:avLst/>
          </a:prstGeom>
          <a:noFill/>
        </p:spPr>
        <p:txBody>
          <a:bodyPr wrap="none" lIns="0" rIns="0" tIns="0" bIns="0" anchor="ctr">
            <a:spAutoFit/>
          </a:bodyPr>
          <a:lstStyle/>
          <a:p>
            <a:pPr algn="r"/>
            <a:r>
              <a:rPr sz="900" b="1">
                <a:solidFill>
                  <a:srgbClr val="2E7D32"/>
                </a:solidFill>
                <a:latin typeface="Calibri"/>
              </a:rPr>
              <a:t>+4</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Latin America Read-out, By Product Type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product type, premade pouches &amp; bags segment is expected to witness the highest CAGR of 7.2% over the forecast period. In terms of value share by product type, the rollstock films segment is expected to dominate the market, maintaining its share and accounting for 54.1% share by 2036.</a:t>
            </a:r>
          </a:p>
          <a:p>
            <a:pPr algn="l">
              <a:lnSpc>
                <a:spcPct val="110000"/>
              </a:lnSpc>
              <a:spcBef>
                <a:spcPts val="0"/>
              </a:spcBef>
              <a:spcAft>
                <a:spcPts val="500"/>
              </a:spcAft>
            </a:pPr>
            <a:r>
              <a:rPr sz="1150" b="0">
                <a:solidFill>
                  <a:srgbClr val="2E2E2E"/>
                </a:solidFill>
                <a:latin typeface="Calibri"/>
              </a:rPr>
              <a:t>The sachets &amp; stick packs segment is expected to lose 15 BPS over the forecast period to account for 6.9% share by 2036.</a:t>
            </a:r>
          </a:p>
          <a:p>
            <a:pPr algn="l">
              <a:lnSpc>
                <a:spcPct val="110000"/>
              </a:lnSpc>
              <a:spcBef>
                <a:spcPts val="0"/>
              </a:spcBef>
              <a:spcAft>
                <a:spcPts val="500"/>
              </a:spcAft>
            </a:pPr>
            <a:r>
              <a:rPr sz="1150" b="0">
                <a:solidFill>
                  <a:srgbClr val="2E2E2E"/>
                </a:solidFill>
                <a:latin typeface="Calibri"/>
              </a:rPr>
              <a:t>Premade Pouches &amp; Bags grow fastest at 7.2%, level with Rollstock Films, because rising modern retail, e-commerce and convenience eating favour stand-up and resealable formats for snacks, pet food, sauces and beverages. Pouches take 21 BPS of share as brand owners seek better shelf impact, while Sachets &amp; Stick Packs, at 6.9%, lag as single-serve formats mature in many categories.</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Volume, By Product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Volume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Volume, By Product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Volume YoY Heatmap, By Product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Rollstock Films</a:t>
            </a:r>
          </a:p>
        </p:txBody>
      </p:sp>
      <p:sp>
        <p:nvSpPr>
          <p:cNvPr id="28" name="Rectangle 27"/>
          <p:cNvSpPr/>
          <p:nvPr/>
        </p:nvSpPr>
        <p:spPr>
          <a:xfrm>
            <a:off x="1857375" y="1409700"/>
            <a:ext cx="643890" cy="258128"/>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258128"/>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258128"/>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258128"/>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258128"/>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258128"/>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258128"/>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258128"/>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258128"/>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258128"/>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25812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258128"/>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258128"/>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258128"/>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258128"/>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66782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Lidding &amp; Tray-Sealing Films</a:t>
            </a:r>
          </a:p>
        </p:txBody>
      </p:sp>
      <p:sp>
        <p:nvSpPr>
          <p:cNvPr id="44" name="Rectangle 43"/>
          <p:cNvSpPr/>
          <p:nvPr/>
        </p:nvSpPr>
        <p:spPr>
          <a:xfrm>
            <a:off x="1857375" y="1667828"/>
            <a:ext cx="643890" cy="258128"/>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667828"/>
            <a:ext cx="643890" cy="258128"/>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667828"/>
            <a:ext cx="643890" cy="258128"/>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667828"/>
            <a:ext cx="643890" cy="258128"/>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667828"/>
            <a:ext cx="643890" cy="258128"/>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667828"/>
            <a:ext cx="643890" cy="258128"/>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667828"/>
            <a:ext cx="643890" cy="258128"/>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667828"/>
            <a:ext cx="643890" cy="258128"/>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667828"/>
            <a:ext cx="643890" cy="258128"/>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667828"/>
            <a:ext cx="643890" cy="258128"/>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667828"/>
            <a:ext cx="643890" cy="258128"/>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667828"/>
            <a:ext cx="643890" cy="258128"/>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667828"/>
            <a:ext cx="643890" cy="25812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667828"/>
            <a:ext cx="643890" cy="258128"/>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667828"/>
            <a:ext cx="643890" cy="258128"/>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192595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Thermoforming Films</a:t>
            </a:r>
          </a:p>
        </p:txBody>
      </p:sp>
      <p:sp>
        <p:nvSpPr>
          <p:cNvPr id="60" name="Rectangle 59"/>
          <p:cNvSpPr/>
          <p:nvPr/>
        </p:nvSpPr>
        <p:spPr>
          <a:xfrm>
            <a:off x="1857375" y="1925955"/>
            <a:ext cx="643890" cy="258128"/>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1925955"/>
            <a:ext cx="643890" cy="258128"/>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1925955"/>
            <a:ext cx="643890" cy="258128"/>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1925955"/>
            <a:ext cx="643890" cy="258128"/>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1925955"/>
            <a:ext cx="643890" cy="258128"/>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1925955"/>
            <a:ext cx="643890" cy="258128"/>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1925955"/>
            <a:ext cx="643890" cy="258128"/>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1925955"/>
            <a:ext cx="643890" cy="258128"/>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1925955"/>
            <a:ext cx="643890" cy="258128"/>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1925955"/>
            <a:ext cx="643890" cy="258128"/>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1925955"/>
            <a:ext cx="643890" cy="258128"/>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1925955"/>
            <a:ext cx="643890" cy="258128"/>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1925955"/>
            <a:ext cx="643890" cy="258128"/>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1925955"/>
            <a:ext cx="643890" cy="258128"/>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1925955"/>
            <a:ext cx="643890" cy="258128"/>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18408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Vacuum Skin Packaging Films</a:t>
            </a:r>
          </a:p>
        </p:txBody>
      </p:sp>
      <p:sp>
        <p:nvSpPr>
          <p:cNvPr id="76" name="Rectangle 75"/>
          <p:cNvSpPr/>
          <p:nvPr/>
        </p:nvSpPr>
        <p:spPr>
          <a:xfrm>
            <a:off x="1857375" y="2184082"/>
            <a:ext cx="643890" cy="25812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184082"/>
            <a:ext cx="643890" cy="258128"/>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184082"/>
            <a:ext cx="643890" cy="258128"/>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184082"/>
            <a:ext cx="643890" cy="258128"/>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184082"/>
            <a:ext cx="643890" cy="258128"/>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184082"/>
            <a:ext cx="643890" cy="258128"/>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184082"/>
            <a:ext cx="643890" cy="258128"/>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184082"/>
            <a:ext cx="643890" cy="258128"/>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184082"/>
            <a:ext cx="643890" cy="258128"/>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184082"/>
            <a:ext cx="643890" cy="258128"/>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184082"/>
            <a:ext cx="643890" cy="258128"/>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184082"/>
            <a:ext cx="643890" cy="258128"/>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184082"/>
            <a:ext cx="643890" cy="258128"/>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184082"/>
            <a:ext cx="643890" cy="258128"/>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184082"/>
            <a:ext cx="643890" cy="258128"/>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44221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HFFS / Flow-Pack Films</a:t>
            </a:r>
          </a:p>
        </p:txBody>
      </p:sp>
      <p:sp>
        <p:nvSpPr>
          <p:cNvPr id="92" name="Rectangle 91"/>
          <p:cNvSpPr/>
          <p:nvPr/>
        </p:nvSpPr>
        <p:spPr>
          <a:xfrm>
            <a:off x="1857375" y="2442210"/>
            <a:ext cx="643890" cy="258128"/>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442210"/>
            <a:ext cx="643890" cy="258128"/>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442210"/>
            <a:ext cx="643890" cy="258128"/>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442210"/>
            <a:ext cx="643890" cy="258128"/>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442210"/>
            <a:ext cx="643890" cy="258128"/>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442210"/>
            <a:ext cx="643890" cy="258128"/>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442210"/>
            <a:ext cx="643890" cy="258128"/>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442210"/>
            <a:ext cx="643890" cy="258128"/>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442210"/>
            <a:ext cx="643890" cy="258128"/>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442210"/>
            <a:ext cx="643890" cy="258128"/>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442210"/>
            <a:ext cx="643890" cy="258128"/>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442210"/>
            <a:ext cx="643890" cy="258128"/>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442210"/>
            <a:ext cx="643890" cy="258128"/>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442210"/>
            <a:ext cx="643890" cy="258128"/>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442210"/>
            <a:ext cx="643890" cy="258128"/>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270033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VFFS Rollstock Films</a:t>
            </a:r>
          </a:p>
        </p:txBody>
      </p:sp>
      <p:sp>
        <p:nvSpPr>
          <p:cNvPr id="108" name="Rectangle 107"/>
          <p:cNvSpPr/>
          <p:nvPr/>
        </p:nvSpPr>
        <p:spPr>
          <a:xfrm>
            <a:off x="1857375" y="2700338"/>
            <a:ext cx="643890" cy="258128"/>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2700338"/>
            <a:ext cx="643890" cy="258128"/>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2700338"/>
            <a:ext cx="643890" cy="258128"/>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2700338"/>
            <a:ext cx="643890" cy="258128"/>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2700338"/>
            <a:ext cx="643890" cy="258128"/>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2700338"/>
            <a:ext cx="643890" cy="258128"/>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2700338"/>
            <a:ext cx="643890" cy="258128"/>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2700338"/>
            <a:ext cx="643890" cy="258128"/>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2700338"/>
            <a:ext cx="643890" cy="258128"/>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2700338"/>
            <a:ext cx="643890" cy="258128"/>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2700338"/>
            <a:ext cx="643890" cy="258128"/>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2700338"/>
            <a:ext cx="643890" cy="258128"/>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2700338"/>
            <a:ext cx="643890" cy="258128"/>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2700338"/>
            <a:ext cx="643890" cy="258128"/>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2700338"/>
            <a:ext cx="643890" cy="258128"/>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295846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&amp; Overwrap Films</a:t>
            </a:r>
          </a:p>
        </p:txBody>
      </p:sp>
      <p:sp>
        <p:nvSpPr>
          <p:cNvPr id="124" name="Rectangle 123"/>
          <p:cNvSpPr/>
          <p:nvPr/>
        </p:nvSpPr>
        <p:spPr>
          <a:xfrm>
            <a:off x="1857375" y="2958465"/>
            <a:ext cx="643890" cy="258128"/>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2958465"/>
            <a:ext cx="643890" cy="258128"/>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2958465"/>
            <a:ext cx="643890" cy="258128"/>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2958465"/>
            <a:ext cx="643890" cy="258128"/>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2958465"/>
            <a:ext cx="643890" cy="258128"/>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2958465"/>
            <a:ext cx="643890" cy="258128"/>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2958465"/>
            <a:ext cx="643890" cy="258128"/>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2958465"/>
            <a:ext cx="643890" cy="258128"/>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2958465"/>
            <a:ext cx="643890" cy="258128"/>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2958465"/>
            <a:ext cx="643890" cy="25812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2958465"/>
            <a:ext cx="643890" cy="258128"/>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2958465"/>
            <a:ext cx="643890" cy="258128"/>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2958465"/>
            <a:ext cx="643890" cy="258128"/>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2958465"/>
            <a:ext cx="643890" cy="258128"/>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2958465"/>
            <a:ext cx="643890" cy="258128"/>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216593"/>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Barrier Casings</a:t>
            </a:r>
          </a:p>
        </p:txBody>
      </p:sp>
      <p:sp>
        <p:nvSpPr>
          <p:cNvPr id="140" name="Rectangle 139"/>
          <p:cNvSpPr/>
          <p:nvPr/>
        </p:nvSpPr>
        <p:spPr>
          <a:xfrm>
            <a:off x="1857375" y="3216593"/>
            <a:ext cx="643890" cy="258128"/>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216593"/>
            <a:ext cx="643890" cy="258128"/>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216593"/>
            <a:ext cx="643890" cy="258128"/>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216593"/>
            <a:ext cx="643890" cy="258128"/>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216593"/>
            <a:ext cx="643890" cy="258128"/>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216593"/>
            <a:ext cx="643890" cy="258128"/>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216593"/>
            <a:ext cx="643890" cy="258128"/>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216593"/>
            <a:ext cx="643890" cy="258128"/>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216593"/>
            <a:ext cx="643890" cy="258128"/>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216593"/>
            <a:ext cx="643890" cy="258128"/>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216593"/>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216593"/>
            <a:ext cx="643890" cy="258128"/>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216593"/>
            <a:ext cx="643890" cy="25812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216593"/>
            <a:ext cx="643890" cy="258128"/>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216593"/>
            <a:ext cx="643890" cy="258128"/>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47472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Non-Shrink Casings</a:t>
            </a:r>
          </a:p>
        </p:txBody>
      </p:sp>
      <p:sp>
        <p:nvSpPr>
          <p:cNvPr id="156" name="Rectangle 155"/>
          <p:cNvSpPr/>
          <p:nvPr/>
        </p:nvSpPr>
        <p:spPr>
          <a:xfrm>
            <a:off x="1857375" y="3474720"/>
            <a:ext cx="643890" cy="25812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474720"/>
            <a:ext cx="643890" cy="258128"/>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474720"/>
            <a:ext cx="643890" cy="258128"/>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474720"/>
            <a:ext cx="643890" cy="258128"/>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474720"/>
            <a:ext cx="643890" cy="258128"/>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474720"/>
            <a:ext cx="643890" cy="258128"/>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474720"/>
            <a:ext cx="643890" cy="25812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474720"/>
            <a:ext cx="643890" cy="258128"/>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474720"/>
            <a:ext cx="643890" cy="258128"/>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474720"/>
            <a:ext cx="643890" cy="258128"/>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474720"/>
            <a:ext cx="643890" cy="258128"/>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474720"/>
            <a:ext cx="643890" cy="258128"/>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474720"/>
            <a:ext cx="643890" cy="258128"/>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474720"/>
            <a:ext cx="643890" cy="258128"/>
          </a:xfrm>
          <a:prstGeom prst="rect">
            <a:avLst/>
          </a:prstGeom>
          <a:solidFill>
            <a:srgbClr val="87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474720"/>
            <a:ext cx="643890" cy="258128"/>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373284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Casings</a:t>
            </a:r>
          </a:p>
        </p:txBody>
      </p:sp>
      <p:sp>
        <p:nvSpPr>
          <p:cNvPr id="172" name="Rectangle 171"/>
          <p:cNvSpPr/>
          <p:nvPr/>
        </p:nvSpPr>
        <p:spPr>
          <a:xfrm>
            <a:off x="1857375" y="3732848"/>
            <a:ext cx="643890" cy="258128"/>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3732848"/>
            <a:ext cx="643890" cy="258128"/>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3732848"/>
            <a:ext cx="643890" cy="258128"/>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3732848"/>
            <a:ext cx="643890" cy="258128"/>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3732848"/>
            <a:ext cx="643890" cy="258128"/>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3732848"/>
            <a:ext cx="643890" cy="258128"/>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3732848"/>
            <a:ext cx="643890" cy="258128"/>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3732848"/>
            <a:ext cx="643890" cy="258128"/>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3732848"/>
            <a:ext cx="643890" cy="258128"/>
          </a:xfrm>
          <a:prstGeom prst="rect">
            <a:avLst/>
          </a:prstGeom>
          <a:solidFill>
            <a:srgbClr val="1F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3732848"/>
            <a:ext cx="643890" cy="25812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3732848"/>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3732848"/>
            <a:ext cx="643890" cy="258128"/>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3732848"/>
            <a:ext cx="643890" cy="25812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3732848"/>
            <a:ext cx="643890" cy="258128"/>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3732848"/>
            <a:ext cx="643890" cy="258128"/>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399097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Other Specialty Casings</a:t>
            </a:r>
          </a:p>
        </p:txBody>
      </p:sp>
      <p:sp>
        <p:nvSpPr>
          <p:cNvPr id="188" name="Rectangle 187"/>
          <p:cNvSpPr/>
          <p:nvPr/>
        </p:nvSpPr>
        <p:spPr>
          <a:xfrm>
            <a:off x="1857375" y="3990975"/>
            <a:ext cx="643890" cy="258128"/>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3990975"/>
            <a:ext cx="643890" cy="258128"/>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3990975"/>
            <a:ext cx="643890" cy="258128"/>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3990975"/>
            <a:ext cx="643890" cy="258128"/>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3990975"/>
            <a:ext cx="643890" cy="258128"/>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3990975"/>
            <a:ext cx="643890" cy="258128"/>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3990975"/>
            <a:ext cx="643890" cy="258128"/>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3990975"/>
            <a:ext cx="643890" cy="258128"/>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3990975"/>
            <a:ext cx="643890" cy="258128"/>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3990975"/>
            <a:ext cx="643890" cy="258128"/>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3990975"/>
            <a:ext cx="643890" cy="258128"/>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3990975"/>
            <a:ext cx="643890" cy="25812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3990975"/>
            <a:ext cx="643890" cy="258128"/>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3990975"/>
            <a:ext cx="643890" cy="258128"/>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3990975"/>
            <a:ext cx="643890" cy="258128"/>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24910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Premade Pouches &amp; Bags</a:t>
            </a:r>
          </a:p>
        </p:txBody>
      </p:sp>
      <p:sp>
        <p:nvSpPr>
          <p:cNvPr id="204" name="Rectangle 203"/>
          <p:cNvSpPr/>
          <p:nvPr/>
        </p:nvSpPr>
        <p:spPr>
          <a:xfrm>
            <a:off x="1857375" y="4249102"/>
            <a:ext cx="643890" cy="258128"/>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249102"/>
            <a:ext cx="643890" cy="258128"/>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249102"/>
            <a:ext cx="643890" cy="258128"/>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249102"/>
            <a:ext cx="643890" cy="258128"/>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249102"/>
            <a:ext cx="643890" cy="258128"/>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249102"/>
            <a:ext cx="643890" cy="258128"/>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249102"/>
            <a:ext cx="643890" cy="258128"/>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249102"/>
            <a:ext cx="643890" cy="258128"/>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249102"/>
            <a:ext cx="643890" cy="258128"/>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249102"/>
            <a:ext cx="643890" cy="258128"/>
          </a:xfrm>
          <a:prstGeom prst="rect">
            <a:avLst/>
          </a:prstGeom>
          <a:solidFill>
            <a:srgbClr val="36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249102"/>
            <a:ext cx="643890" cy="25812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249102"/>
            <a:ext cx="643890" cy="258128"/>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249102"/>
            <a:ext cx="643890" cy="258128"/>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249102"/>
            <a:ext cx="643890" cy="258128"/>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249102"/>
            <a:ext cx="643890" cy="258128"/>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450723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Vacuum Pouches</a:t>
            </a:r>
          </a:p>
        </p:txBody>
      </p:sp>
      <p:sp>
        <p:nvSpPr>
          <p:cNvPr id="220" name="Rectangle 219"/>
          <p:cNvSpPr/>
          <p:nvPr/>
        </p:nvSpPr>
        <p:spPr>
          <a:xfrm>
            <a:off x="1857375" y="4507230"/>
            <a:ext cx="643890" cy="258128"/>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4507230"/>
            <a:ext cx="643890" cy="258128"/>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4507230"/>
            <a:ext cx="643890" cy="258128"/>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4507230"/>
            <a:ext cx="643890" cy="258128"/>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4507230"/>
            <a:ext cx="643890" cy="258128"/>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4507230"/>
            <a:ext cx="643890" cy="258128"/>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4507230"/>
            <a:ext cx="643890" cy="258128"/>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4507230"/>
            <a:ext cx="643890" cy="258128"/>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4507230"/>
            <a:ext cx="643890" cy="258128"/>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4507230"/>
            <a:ext cx="643890" cy="258128"/>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4507230"/>
            <a:ext cx="643890" cy="258128"/>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4507230"/>
            <a:ext cx="643890" cy="258128"/>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4507230"/>
            <a:ext cx="643890" cy="258128"/>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4507230"/>
            <a:ext cx="643890" cy="258128"/>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4507230"/>
            <a:ext cx="643890" cy="258128"/>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476535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Bags</a:t>
            </a:r>
          </a:p>
        </p:txBody>
      </p:sp>
      <p:sp>
        <p:nvSpPr>
          <p:cNvPr id="236" name="Rectangle 235"/>
          <p:cNvSpPr/>
          <p:nvPr/>
        </p:nvSpPr>
        <p:spPr>
          <a:xfrm>
            <a:off x="1857375" y="4765358"/>
            <a:ext cx="643890" cy="258128"/>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4765358"/>
            <a:ext cx="643890" cy="258128"/>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4765358"/>
            <a:ext cx="643890" cy="258128"/>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4765358"/>
            <a:ext cx="643890" cy="258128"/>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4765358"/>
            <a:ext cx="643890" cy="258128"/>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4765358"/>
            <a:ext cx="643890" cy="258128"/>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4765358"/>
            <a:ext cx="643890" cy="258128"/>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4765358"/>
            <a:ext cx="643890" cy="258128"/>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4765358"/>
            <a:ext cx="643890" cy="25812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4765358"/>
            <a:ext cx="643890" cy="258128"/>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4765358"/>
            <a:ext cx="643890" cy="258128"/>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4765358"/>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4765358"/>
            <a:ext cx="643890" cy="258128"/>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4765358"/>
            <a:ext cx="643890" cy="258128"/>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4765358"/>
            <a:ext cx="643890" cy="258128"/>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02348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Stand-Up Pouches</a:t>
            </a:r>
          </a:p>
        </p:txBody>
      </p:sp>
      <p:sp>
        <p:nvSpPr>
          <p:cNvPr id="252" name="Rectangle 251"/>
          <p:cNvSpPr/>
          <p:nvPr/>
        </p:nvSpPr>
        <p:spPr>
          <a:xfrm>
            <a:off x="1857375" y="5023485"/>
            <a:ext cx="643890" cy="258128"/>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023485"/>
            <a:ext cx="643890" cy="258128"/>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023485"/>
            <a:ext cx="643890" cy="258128"/>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023485"/>
            <a:ext cx="643890" cy="258128"/>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023485"/>
            <a:ext cx="643890" cy="258128"/>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023485"/>
            <a:ext cx="643890" cy="258128"/>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023485"/>
            <a:ext cx="643890" cy="258128"/>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023485"/>
            <a:ext cx="643890" cy="258128"/>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023485"/>
            <a:ext cx="643890" cy="258128"/>
          </a:xfrm>
          <a:prstGeom prst="rect">
            <a:avLst/>
          </a:prstGeom>
          <a:solidFill>
            <a:srgbClr val="5A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023485"/>
            <a:ext cx="643890" cy="25812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023485"/>
            <a:ext cx="643890" cy="258128"/>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023485"/>
            <a:ext cx="643890" cy="258128"/>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023485"/>
            <a:ext cx="643890" cy="258128"/>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023485"/>
            <a:ext cx="643890" cy="258128"/>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023485"/>
            <a:ext cx="643890" cy="258128"/>
          </a:xfrm>
          <a:prstGeom prst="rect">
            <a:avLst/>
          </a:prstGeom>
          <a:solidFill>
            <a:srgbClr val="7C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528161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Flat Pouches</a:t>
            </a:r>
          </a:p>
        </p:txBody>
      </p:sp>
      <p:sp>
        <p:nvSpPr>
          <p:cNvPr id="268" name="Rectangle 267"/>
          <p:cNvSpPr/>
          <p:nvPr/>
        </p:nvSpPr>
        <p:spPr>
          <a:xfrm>
            <a:off x="1857375" y="5281612"/>
            <a:ext cx="643890" cy="258128"/>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5281612"/>
            <a:ext cx="643890" cy="258128"/>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5281612"/>
            <a:ext cx="643890" cy="258128"/>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5281612"/>
            <a:ext cx="643890" cy="258128"/>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5281612"/>
            <a:ext cx="643890" cy="258128"/>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5281612"/>
            <a:ext cx="643890" cy="258128"/>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5281612"/>
            <a:ext cx="643890" cy="258128"/>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5281612"/>
            <a:ext cx="643890" cy="258128"/>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5281612"/>
            <a:ext cx="643890" cy="258128"/>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5281612"/>
            <a:ext cx="643890" cy="258128"/>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5281612"/>
            <a:ext cx="643890" cy="25812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5281612"/>
            <a:ext cx="643890" cy="258128"/>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5281612"/>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5281612"/>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5281612"/>
            <a:ext cx="643890" cy="25812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TextBox 282"/>
          <p:cNvSpPr txBox="1"/>
          <p:nvPr/>
        </p:nvSpPr>
        <p:spPr>
          <a:xfrm>
            <a:off x="238125" y="553974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Retort Pouches</a:t>
            </a:r>
          </a:p>
        </p:txBody>
      </p:sp>
      <p:sp>
        <p:nvSpPr>
          <p:cNvPr id="284" name="Rectangle 283"/>
          <p:cNvSpPr/>
          <p:nvPr/>
        </p:nvSpPr>
        <p:spPr>
          <a:xfrm>
            <a:off x="1857375" y="5539740"/>
            <a:ext cx="643890" cy="258128"/>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2501265" y="5539740"/>
            <a:ext cx="643890" cy="258128"/>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3145155" y="5539740"/>
            <a:ext cx="643890" cy="258128"/>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3789045" y="5539740"/>
            <a:ext cx="643890" cy="258128"/>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4432935" y="5539740"/>
            <a:ext cx="643890" cy="258128"/>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5076825" y="5539740"/>
            <a:ext cx="643890" cy="258128"/>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5720715" y="5539740"/>
            <a:ext cx="643890" cy="258128"/>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6364605" y="5539740"/>
            <a:ext cx="643890" cy="258128"/>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7008495" y="5539740"/>
            <a:ext cx="643890" cy="25812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7652385" y="5539740"/>
            <a:ext cx="643890" cy="258128"/>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8296275" y="5539740"/>
            <a:ext cx="643890" cy="25812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8940165" y="5539740"/>
            <a:ext cx="643890" cy="258128"/>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9584055" y="5539740"/>
            <a:ext cx="643890" cy="258128"/>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0227945" y="5539740"/>
            <a:ext cx="643890" cy="258128"/>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0871835" y="5539740"/>
            <a:ext cx="643890" cy="258128"/>
          </a:xfrm>
          <a:prstGeom prst="rect">
            <a:avLst/>
          </a:prstGeom>
          <a:solidFill>
            <a:srgbClr val="72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TextBox 298"/>
          <p:cNvSpPr txBox="1"/>
          <p:nvPr/>
        </p:nvSpPr>
        <p:spPr>
          <a:xfrm>
            <a:off x="238125" y="579786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Sachets &amp; Stick Packs</a:t>
            </a:r>
          </a:p>
        </p:txBody>
      </p:sp>
      <p:sp>
        <p:nvSpPr>
          <p:cNvPr id="300" name="Rectangle 299"/>
          <p:cNvSpPr/>
          <p:nvPr/>
        </p:nvSpPr>
        <p:spPr>
          <a:xfrm>
            <a:off x="1857375" y="5797868"/>
            <a:ext cx="643890" cy="258128"/>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2501265" y="5797868"/>
            <a:ext cx="643890" cy="258128"/>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3145155" y="5797868"/>
            <a:ext cx="643890" cy="258128"/>
          </a:xfrm>
          <a:prstGeom prst="rect">
            <a:avLst/>
          </a:prstGeom>
          <a:solidFill>
            <a:srgbClr val="C0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3789045" y="5797868"/>
            <a:ext cx="643890" cy="258128"/>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4432935" y="5797868"/>
            <a:ext cx="643890" cy="258128"/>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5076825" y="5797868"/>
            <a:ext cx="643890" cy="258128"/>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5720715" y="5797868"/>
            <a:ext cx="643890" cy="258128"/>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6364605" y="5797868"/>
            <a:ext cx="643890" cy="258128"/>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7008495" y="5797868"/>
            <a:ext cx="643890" cy="258128"/>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7652385" y="5797868"/>
            <a:ext cx="643890" cy="258128"/>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8296275" y="5797868"/>
            <a:ext cx="643890" cy="258128"/>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8940165" y="5797868"/>
            <a:ext cx="643890" cy="258128"/>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9584055" y="5797868"/>
            <a:ext cx="643890" cy="258128"/>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0227945" y="5797868"/>
            <a:ext cx="643890" cy="258128"/>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0871835" y="5797868"/>
            <a:ext cx="643890" cy="258128"/>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TextBox 314"/>
          <p:cNvSpPr txBox="1"/>
          <p:nvPr/>
        </p:nvSpPr>
        <p:spPr>
          <a:xfrm>
            <a:off x="238125" y="605599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Sachets</a:t>
            </a:r>
          </a:p>
        </p:txBody>
      </p:sp>
      <p:sp>
        <p:nvSpPr>
          <p:cNvPr id="316" name="Rectangle 315"/>
          <p:cNvSpPr/>
          <p:nvPr/>
        </p:nvSpPr>
        <p:spPr>
          <a:xfrm>
            <a:off x="1857375" y="6055995"/>
            <a:ext cx="643890" cy="258128"/>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2501265" y="6055995"/>
            <a:ext cx="643890" cy="258128"/>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3145155" y="6055995"/>
            <a:ext cx="643890" cy="258128"/>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3789045" y="6055995"/>
            <a:ext cx="643890" cy="25812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4432935" y="6055995"/>
            <a:ext cx="643890" cy="258128"/>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5076825" y="6055995"/>
            <a:ext cx="643890" cy="258128"/>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5720715" y="6055995"/>
            <a:ext cx="643890" cy="258128"/>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6364605" y="6055995"/>
            <a:ext cx="643890" cy="258128"/>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Rectangle 323"/>
          <p:cNvSpPr/>
          <p:nvPr/>
        </p:nvSpPr>
        <p:spPr>
          <a:xfrm>
            <a:off x="7008495" y="6055995"/>
            <a:ext cx="643890" cy="258128"/>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5" name="Rectangle 324"/>
          <p:cNvSpPr/>
          <p:nvPr/>
        </p:nvSpPr>
        <p:spPr>
          <a:xfrm>
            <a:off x="7652385" y="6055995"/>
            <a:ext cx="643890" cy="258128"/>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6" name="Rectangle 325"/>
          <p:cNvSpPr/>
          <p:nvPr/>
        </p:nvSpPr>
        <p:spPr>
          <a:xfrm>
            <a:off x="8296275" y="6055995"/>
            <a:ext cx="643890" cy="258128"/>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Rectangle 326"/>
          <p:cNvSpPr/>
          <p:nvPr/>
        </p:nvSpPr>
        <p:spPr>
          <a:xfrm>
            <a:off x="8940165" y="6055995"/>
            <a:ext cx="643890" cy="258128"/>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8" name="Rectangle 327"/>
          <p:cNvSpPr/>
          <p:nvPr/>
        </p:nvSpPr>
        <p:spPr>
          <a:xfrm>
            <a:off x="9584055" y="6055995"/>
            <a:ext cx="643890" cy="258128"/>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9" name="Rectangle 328"/>
          <p:cNvSpPr/>
          <p:nvPr/>
        </p:nvSpPr>
        <p:spPr>
          <a:xfrm>
            <a:off x="10227945" y="6055995"/>
            <a:ext cx="643890" cy="258128"/>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0" name="Rectangle 329"/>
          <p:cNvSpPr/>
          <p:nvPr/>
        </p:nvSpPr>
        <p:spPr>
          <a:xfrm>
            <a:off x="10871835" y="6055995"/>
            <a:ext cx="643890" cy="258128"/>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1" name="TextBox 330"/>
          <p:cNvSpPr txBox="1"/>
          <p:nvPr/>
        </p:nvSpPr>
        <p:spPr>
          <a:xfrm>
            <a:off x="238125" y="631412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Stick Packs</a:t>
            </a:r>
          </a:p>
        </p:txBody>
      </p:sp>
      <p:sp>
        <p:nvSpPr>
          <p:cNvPr id="332" name="Rectangle 331"/>
          <p:cNvSpPr/>
          <p:nvPr/>
        </p:nvSpPr>
        <p:spPr>
          <a:xfrm>
            <a:off x="1857375" y="6314122"/>
            <a:ext cx="643890" cy="258128"/>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3" name="Rectangle 332"/>
          <p:cNvSpPr/>
          <p:nvPr/>
        </p:nvSpPr>
        <p:spPr>
          <a:xfrm>
            <a:off x="2501265" y="6314122"/>
            <a:ext cx="643890" cy="258128"/>
          </a:xfrm>
          <a:prstGeom prst="rect">
            <a:avLst/>
          </a:prstGeom>
          <a:solidFill>
            <a:srgbClr val="D1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4" name="Rectangle 333"/>
          <p:cNvSpPr/>
          <p:nvPr/>
        </p:nvSpPr>
        <p:spPr>
          <a:xfrm>
            <a:off x="3145155" y="6314122"/>
            <a:ext cx="643890" cy="258128"/>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5" name="Rectangle 334"/>
          <p:cNvSpPr/>
          <p:nvPr/>
        </p:nvSpPr>
        <p:spPr>
          <a:xfrm>
            <a:off x="3789045" y="6314122"/>
            <a:ext cx="643890" cy="258128"/>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Rectangle 335"/>
          <p:cNvSpPr/>
          <p:nvPr/>
        </p:nvSpPr>
        <p:spPr>
          <a:xfrm>
            <a:off x="4432935" y="6314122"/>
            <a:ext cx="643890" cy="258128"/>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7" name="Rectangle 336"/>
          <p:cNvSpPr/>
          <p:nvPr/>
        </p:nvSpPr>
        <p:spPr>
          <a:xfrm>
            <a:off x="5076825" y="6314122"/>
            <a:ext cx="643890" cy="258128"/>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8" name="Rectangle 337"/>
          <p:cNvSpPr/>
          <p:nvPr/>
        </p:nvSpPr>
        <p:spPr>
          <a:xfrm>
            <a:off x="5720715" y="6314122"/>
            <a:ext cx="643890" cy="258128"/>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9" name="Rectangle 338"/>
          <p:cNvSpPr/>
          <p:nvPr/>
        </p:nvSpPr>
        <p:spPr>
          <a:xfrm>
            <a:off x="6364605" y="6314122"/>
            <a:ext cx="643890" cy="258128"/>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0" name="Rectangle 339"/>
          <p:cNvSpPr/>
          <p:nvPr/>
        </p:nvSpPr>
        <p:spPr>
          <a:xfrm>
            <a:off x="7008495" y="6314122"/>
            <a:ext cx="643890" cy="258128"/>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1" name="Rectangle 340"/>
          <p:cNvSpPr/>
          <p:nvPr/>
        </p:nvSpPr>
        <p:spPr>
          <a:xfrm>
            <a:off x="7652385" y="6314122"/>
            <a:ext cx="643890" cy="258128"/>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2" name="Rectangle 341"/>
          <p:cNvSpPr/>
          <p:nvPr/>
        </p:nvSpPr>
        <p:spPr>
          <a:xfrm>
            <a:off x="8296275" y="6314122"/>
            <a:ext cx="643890" cy="258128"/>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3" name="Rectangle 342"/>
          <p:cNvSpPr/>
          <p:nvPr/>
        </p:nvSpPr>
        <p:spPr>
          <a:xfrm>
            <a:off x="8940165" y="6314122"/>
            <a:ext cx="643890" cy="258128"/>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4" name="Rectangle 343"/>
          <p:cNvSpPr/>
          <p:nvPr/>
        </p:nvSpPr>
        <p:spPr>
          <a:xfrm>
            <a:off x="9584055" y="6314122"/>
            <a:ext cx="643890" cy="258128"/>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5" name="Rectangle 344"/>
          <p:cNvSpPr/>
          <p:nvPr/>
        </p:nvSpPr>
        <p:spPr>
          <a:xfrm>
            <a:off x="10227945" y="6314122"/>
            <a:ext cx="643890" cy="258128"/>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6" name="Rectangle 345"/>
          <p:cNvSpPr/>
          <p:nvPr/>
        </p:nvSpPr>
        <p:spPr>
          <a:xfrm>
            <a:off x="10871835" y="6314122"/>
            <a:ext cx="643890" cy="258128"/>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7" name="Rectangle 34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8" name="Rectangle 34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9" name="Rectangle 34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0" name="Rectangle 34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1" name="Rectangle 35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2" name="Rectangle 35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3" name="Rectangle 35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4" name="Rectangle 35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5" name="Rectangle 35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6" name="Rectangle 35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7" name="Rectangle 35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8" name="Rectangle 35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9" name="Rectangle 35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0" name="Rectangle 35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1" name="Rectangle 36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2" name="Rectangle 36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3" name="Rectangle 36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4" name="Rectangle 36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5" name="Rectangle 36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6" name="Rectangle 36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7" name="Rectangle 36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8" name="Rectangle 36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9" name="Rectangle 36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0" name="Rectangle 36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1" name="Rectangle 37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2" name="Rectangle 37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3" name="Rectangle 37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4" name="Rectangle 37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5" name="Rectangle 37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6" name="Rectangle 37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7" name="Rectangle 37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8" name="Rectangle 37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9" name="Rectangle 37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0" name="Rectangle 37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1" name="Rectangle 38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2" name="Rectangle 38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3" name="Rectangle 38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4" name="Rectangle 38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5" name="Rectangle 38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6" name="Rectangle 38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7" name="Rectangle 38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8" name="TextBox 38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389" name="TextBox 38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90" name="TextBox 38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391" name="TextBox 39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Product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Product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Heatmap, By Product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Rollstock Films</a:t>
            </a:r>
          </a:p>
        </p:txBody>
      </p:sp>
      <p:sp>
        <p:nvSpPr>
          <p:cNvPr id="28" name="Rectangle 27"/>
          <p:cNvSpPr/>
          <p:nvPr/>
        </p:nvSpPr>
        <p:spPr>
          <a:xfrm>
            <a:off x="1857375" y="1409700"/>
            <a:ext cx="643890" cy="258128"/>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25812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258128"/>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258128"/>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258128"/>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258128"/>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258128"/>
          </a:xfrm>
          <a:prstGeom prst="rect">
            <a:avLst/>
          </a:prstGeom>
          <a:solidFill>
            <a:srgbClr val="73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258128"/>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258128"/>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25812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258128"/>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258128"/>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258128"/>
          </a:xfrm>
          <a:prstGeom prst="rect">
            <a:avLst/>
          </a:prstGeom>
          <a:solidFill>
            <a:srgbClr val="0E70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258128"/>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258128"/>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66782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Lidding &amp; Tray-Sealing Films</a:t>
            </a:r>
          </a:p>
        </p:txBody>
      </p:sp>
      <p:sp>
        <p:nvSpPr>
          <p:cNvPr id="44" name="Rectangle 43"/>
          <p:cNvSpPr/>
          <p:nvPr/>
        </p:nvSpPr>
        <p:spPr>
          <a:xfrm>
            <a:off x="1857375" y="1667828"/>
            <a:ext cx="643890" cy="258128"/>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667828"/>
            <a:ext cx="643890" cy="258128"/>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667828"/>
            <a:ext cx="643890" cy="258128"/>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667828"/>
            <a:ext cx="643890" cy="258128"/>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667828"/>
            <a:ext cx="643890" cy="258128"/>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667828"/>
            <a:ext cx="643890" cy="258128"/>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667828"/>
            <a:ext cx="643890" cy="258128"/>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667828"/>
            <a:ext cx="643890" cy="258128"/>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667828"/>
            <a:ext cx="643890" cy="258128"/>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667828"/>
            <a:ext cx="643890" cy="25812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667828"/>
            <a:ext cx="643890" cy="258128"/>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667828"/>
            <a:ext cx="643890" cy="25812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667828"/>
            <a:ext cx="643890" cy="258128"/>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667828"/>
            <a:ext cx="643890" cy="258128"/>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667828"/>
            <a:ext cx="643890" cy="258128"/>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192595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Thermoforming Films</a:t>
            </a:r>
          </a:p>
        </p:txBody>
      </p:sp>
      <p:sp>
        <p:nvSpPr>
          <p:cNvPr id="60" name="Rectangle 59"/>
          <p:cNvSpPr/>
          <p:nvPr/>
        </p:nvSpPr>
        <p:spPr>
          <a:xfrm>
            <a:off x="1857375" y="1925955"/>
            <a:ext cx="643890" cy="258128"/>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1925955"/>
            <a:ext cx="643890" cy="258128"/>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1925955"/>
            <a:ext cx="643890" cy="258128"/>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1925955"/>
            <a:ext cx="643890" cy="258128"/>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1925955"/>
            <a:ext cx="643890" cy="258128"/>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1925955"/>
            <a:ext cx="643890" cy="258128"/>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1925955"/>
            <a:ext cx="643890" cy="258128"/>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1925955"/>
            <a:ext cx="643890" cy="25812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1925955"/>
            <a:ext cx="643890" cy="258128"/>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1925955"/>
            <a:ext cx="643890" cy="258128"/>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1925955"/>
            <a:ext cx="643890" cy="258128"/>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1925955"/>
            <a:ext cx="643890" cy="258128"/>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1925955"/>
            <a:ext cx="643890" cy="258128"/>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1925955"/>
            <a:ext cx="643890" cy="258128"/>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1925955"/>
            <a:ext cx="643890" cy="258128"/>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18408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Vacuum Skin Packaging Films</a:t>
            </a:r>
          </a:p>
        </p:txBody>
      </p:sp>
      <p:sp>
        <p:nvSpPr>
          <p:cNvPr id="76" name="Rectangle 75"/>
          <p:cNvSpPr/>
          <p:nvPr/>
        </p:nvSpPr>
        <p:spPr>
          <a:xfrm>
            <a:off x="1857375" y="2184082"/>
            <a:ext cx="643890" cy="258128"/>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184082"/>
            <a:ext cx="643890" cy="258128"/>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184082"/>
            <a:ext cx="643890" cy="258128"/>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184082"/>
            <a:ext cx="643890" cy="258128"/>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184082"/>
            <a:ext cx="643890" cy="258128"/>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184082"/>
            <a:ext cx="643890" cy="258128"/>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184082"/>
            <a:ext cx="643890" cy="258128"/>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184082"/>
            <a:ext cx="643890" cy="258128"/>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184082"/>
            <a:ext cx="643890" cy="258128"/>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184082"/>
            <a:ext cx="643890" cy="258128"/>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184082"/>
            <a:ext cx="643890" cy="25812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184082"/>
            <a:ext cx="643890" cy="258128"/>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184082"/>
            <a:ext cx="643890" cy="25812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184082"/>
            <a:ext cx="643890" cy="25812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184082"/>
            <a:ext cx="643890" cy="25812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44221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HFFS / Flow-Pack Films</a:t>
            </a:r>
          </a:p>
        </p:txBody>
      </p:sp>
      <p:sp>
        <p:nvSpPr>
          <p:cNvPr id="92" name="Rectangle 91"/>
          <p:cNvSpPr/>
          <p:nvPr/>
        </p:nvSpPr>
        <p:spPr>
          <a:xfrm>
            <a:off x="1857375" y="2442210"/>
            <a:ext cx="643890" cy="25812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442210"/>
            <a:ext cx="643890" cy="258128"/>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442210"/>
            <a:ext cx="643890" cy="258128"/>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442210"/>
            <a:ext cx="643890" cy="258128"/>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442210"/>
            <a:ext cx="643890" cy="258128"/>
          </a:xfrm>
          <a:prstGeom prst="rect">
            <a:avLst/>
          </a:prstGeom>
          <a:solidFill>
            <a:srgbClr val="73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442210"/>
            <a:ext cx="643890" cy="258128"/>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442210"/>
            <a:ext cx="643890" cy="258128"/>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442210"/>
            <a:ext cx="643890" cy="258128"/>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442210"/>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442210"/>
            <a:ext cx="643890" cy="258128"/>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442210"/>
            <a:ext cx="643890" cy="258128"/>
          </a:xfrm>
          <a:prstGeom prst="rect">
            <a:avLst/>
          </a:prstGeom>
          <a:solidFill>
            <a:srgbClr val="0C3F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442210"/>
            <a:ext cx="643890" cy="258128"/>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442210"/>
            <a:ext cx="643890" cy="258128"/>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442210"/>
            <a:ext cx="643890" cy="258128"/>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442210"/>
            <a:ext cx="643890" cy="258128"/>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270033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VFFS Rollstock Films</a:t>
            </a:r>
          </a:p>
        </p:txBody>
      </p:sp>
      <p:sp>
        <p:nvSpPr>
          <p:cNvPr id="108" name="Rectangle 107"/>
          <p:cNvSpPr/>
          <p:nvPr/>
        </p:nvSpPr>
        <p:spPr>
          <a:xfrm>
            <a:off x="1857375" y="2700338"/>
            <a:ext cx="643890" cy="258128"/>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2700338"/>
            <a:ext cx="643890" cy="258128"/>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2700338"/>
            <a:ext cx="643890" cy="258128"/>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2700338"/>
            <a:ext cx="643890" cy="258128"/>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2700338"/>
            <a:ext cx="643890" cy="258128"/>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2700338"/>
            <a:ext cx="643890" cy="258128"/>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2700338"/>
            <a:ext cx="643890" cy="258128"/>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2700338"/>
            <a:ext cx="643890" cy="258128"/>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2700338"/>
            <a:ext cx="643890" cy="258128"/>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2700338"/>
            <a:ext cx="643890" cy="258128"/>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2700338"/>
            <a:ext cx="643890" cy="258128"/>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2700338"/>
            <a:ext cx="643890" cy="258128"/>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2700338"/>
            <a:ext cx="643890" cy="258128"/>
          </a:xfrm>
          <a:prstGeom prst="rect">
            <a:avLst/>
          </a:prstGeom>
          <a:solidFill>
            <a:srgbClr val="0E72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2700338"/>
            <a:ext cx="643890" cy="258128"/>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2700338"/>
            <a:ext cx="643890" cy="258128"/>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295846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&amp; Overwrap Films</a:t>
            </a:r>
          </a:p>
        </p:txBody>
      </p:sp>
      <p:sp>
        <p:nvSpPr>
          <p:cNvPr id="124" name="Rectangle 123"/>
          <p:cNvSpPr/>
          <p:nvPr/>
        </p:nvSpPr>
        <p:spPr>
          <a:xfrm>
            <a:off x="1857375" y="2958465"/>
            <a:ext cx="643890" cy="258128"/>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2958465"/>
            <a:ext cx="643890" cy="258128"/>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2958465"/>
            <a:ext cx="643890" cy="258128"/>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2958465"/>
            <a:ext cx="643890" cy="258128"/>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2958465"/>
            <a:ext cx="643890" cy="258128"/>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2958465"/>
            <a:ext cx="643890" cy="258128"/>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2958465"/>
            <a:ext cx="643890" cy="258128"/>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2958465"/>
            <a:ext cx="643890" cy="258128"/>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2958465"/>
            <a:ext cx="643890" cy="258128"/>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2958465"/>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2958465"/>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2958465"/>
            <a:ext cx="643890" cy="258128"/>
          </a:xfrm>
          <a:prstGeom prst="rect">
            <a:avLst/>
          </a:prstGeom>
          <a:solidFill>
            <a:srgbClr val="1E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2958465"/>
            <a:ext cx="643890" cy="258128"/>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2958465"/>
            <a:ext cx="643890" cy="258128"/>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2958465"/>
            <a:ext cx="643890" cy="258128"/>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216593"/>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Barrier Casings</a:t>
            </a:r>
          </a:p>
        </p:txBody>
      </p:sp>
      <p:sp>
        <p:nvSpPr>
          <p:cNvPr id="140" name="Rectangle 139"/>
          <p:cNvSpPr/>
          <p:nvPr/>
        </p:nvSpPr>
        <p:spPr>
          <a:xfrm>
            <a:off x="1857375" y="3216593"/>
            <a:ext cx="643890" cy="25812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216593"/>
            <a:ext cx="643890" cy="25812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216593"/>
            <a:ext cx="643890" cy="258128"/>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216593"/>
            <a:ext cx="643890" cy="258128"/>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216593"/>
            <a:ext cx="643890" cy="258128"/>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216593"/>
            <a:ext cx="643890" cy="258128"/>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216593"/>
            <a:ext cx="643890" cy="258128"/>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216593"/>
            <a:ext cx="643890" cy="258128"/>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216593"/>
            <a:ext cx="643890" cy="25812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216593"/>
            <a:ext cx="643890" cy="258128"/>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216593"/>
            <a:ext cx="643890" cy="258128"/>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216593"/>
            <a:ext cx="643890" cy="258128"/>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216593"/>
            <a:ext cx="643890" cy="258128"/>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216593"/>
            <a:ext cx="643890" cy="258128"/>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216593"/>
            <a:ext cx="643890" cy="25812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47472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Non-Shrink Casings</a:t>
            </a:r>
          </a:p>
        </p:txBody>
      </p:sp>
      <p:sp>
        <p:nvSpPr>
          <p:cNvPr id="156" name="Rectangle 155"/>
          <p:cNvSpPr/>
          <p:nvPr/>
        </p:nvSpPr>
        <p:spPr>
          <a:xfrm>
            <a:off x="1857375" y="3474720"/>
            <a:ext cx="643890" cy="25812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474720"/>
            <a:ext cx="643890" cy="258128"/>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474720"/>
            <a:ext cx="643890" cy="258128"/>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474720"/>
            <a:ext cx="643890" cy="258128"/>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474720"/>
            <a:ext cx="643890" cy="258128"/>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474720"/>
            <a:ext cx="643890" cy="258128"/>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474720"/>
            <a:ext cx="643890" cy="258128"/>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474720"/>
            <a:ext cx="643890" cy="258128"/>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474720"/>
            <a:ext cx="643890" cy="258128"/>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474720"/>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474720"/>
            <a:ext cx="643890" cy="25812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474720"/>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474720"/>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474720"/>
            <a:ext cx="643890" cy="258128"/>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474720"/>
            <a:ext cx="643890" cy="258128"/>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373284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Casings</a:t>
            </a:r>
          </a:p>
        </p:txBody>
      </p:sp>
      <p:sp>
        <p:nvSpPr>
          <p:cNvPr id="172" name="Rectangle 171"/>
          <p:cNvSpPr/>
          <p:nvPr/>
        </p:nvSpPr>
        <p:spPr>
          <a:xfrm>
            <a:off x="1857375" y="3732848"/>
            <a:ext cx="643890" cy="258128"/>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3732848"/>
            <a:ext cx="643890" cy="258128"/>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3732848"/>
            <a:ext cx="643890" cy="258128"/>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3732848"/>
            <a:ext cx="643890" cy="258128"/>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3732848"/>
            <a:ext cx="643890" cy="258128"/>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3732848"/>
            <a:ext cx="643890" cy="258128"/>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3732848"/>
            <a:ext cx="643890" cy="258128"/>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3732848"/>
            <a:ext cx="643890" cy="258128"/>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3732848"/>
            <a:ext cx="643890" cy="258128"/>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3732848"/>
            <a:ext cx="643890" cy="258128"/>
          </a:xfrm>
          <a:prstGeom prst="rect">
            <a:avLst/>
          </a:prstGeom>
          <a:solidFill>
            <a:srgbClr val="1E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3732848"/>
            <a:ext cx="643890" cy="258128"/>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3732848"/>
            <a:ext cx="643890" cy="258128"/>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3732848"/>
            <a:ext cx="643890" cy="258128"/>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3732848"/>
            <a:ext cx="643890" cy="258128"/>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3732848"/>
            <a:ext cx="643890" cy="258128"/>
          </a:xfrm>
          <a:prstGeom prst="rect">
            <a:avLst/>
          </a:prstGeom>
          <a:solidFill>
            <a:srgbClr val="23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399097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Other Specialty Casings</a:t>
            </a:r>
          </a:p>
        </p:txBody>
      </p:sp>
      <p:sp>
        <p:nvSpPr>
          <p:cNvPr id="188" name="Rectangle 187"/>
          <p:cNvSpPr/>
          <p:nvPr/>
        </p:nvSpPr>
        <p:spPr>
          <a:xfrm>
            <a:off x="1857375" y="3990975"/>
            <a:ext cx="643890" cy="258128"/>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3990975"/>
            <a:ext cx="643890" cy="258128"/>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3990975"/>
            <a:ext cx="643890" cy="258128"/>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3990975"/>
            <a:ext cx="643890" cy="258128"/>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3990975"/>
            <a:ext cx="643890" cy="258128"/>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3990975"/>
            <a:ext cx="643890" cy="258128"/>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3990975"/>
            <a:ext cx="643890" cy="258128"/>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3990975"/>
            <a:ext cx="643890" cy="258128"/>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3990975"/>
            <a:ext cx="643890" cy="258128"/>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3990975"/>
            <a:ext cx="643890" cy="258128"/>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3990975"/>
            <a:ext cx="643890" cy="258128"/>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3990975"/>
            <a:ext cx="643890" cy="258128"/>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3990975"/>
            <a:ext cx="643890" cy="25812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3990975"/>
            <a:ext cx="643890" cy="258128"/>
          </a:xfrm>
          <a:prstGeom prst="rect">
            <a:avLst/>
          </a:prstGeom>
          <a:solidFill>
            <a:srgbClr val="0C3B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3990975"/>
            <a:ext cx="643890" cy="258128"/>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24910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Premade Pouches &amp; Bags</a:t>
            </a:r>
          </a:p>
        </p:txBody>
      </p:sp>
      <p:sp>
        <p:nvSpPr>
          <p:cNvPr id="204" name="Rectangle 203"/>
          <p:cNvSpPr/>
          <p:nvPr/>
        </p:nvSpPr>
        <p:spPr>
          <a:xfrm>
            <a:off x="1857375" y="4249102"/>
            <a:ext cx="643890" cy="258128"/>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249102"/>
            <a:ext cx="643890" cy="258128"/>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249102"/>
            <a:ext cx="643890" cy="258128"/>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249102"/>
            <a:ext cx="643890" cy="258128"/>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249102"/>
            <a:ext cx="643890" cy="258128"/>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249102"/>
            <a:ext cx="643890" cy="258128"/>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249102"/>
            <a:ext cx="643890" cy="258128"/>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249102"/>
            <a:ext cx="643890" cy="258128"/>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249102"/>
            <a:ext cx="643890" cy="25812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249102"/>
            <a:ext cx="643890" cy="25812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249102"/>
            <a:ext cx="643890" cy="258128"/>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249102"/>
            <a:ext cx="643890" cy="258128"/>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249102"/>
            <a:ext cx="643890" cy="258128"/>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249102"/>
            <a:ext cx="643890" cy="258128"/>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249102"/>
            <a:ext cx="643890" cy="258128"/>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450723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Vacuum Pouches</a:t>
            </a:r>
          </a:p>
        </p:txBody>
      </p:sp>
      <p:sp>
        <p:nvSpPr>
          <p:cNvPr id="220" name="Rectangle 219"/>
          <p:cNvSpPr/>
          <p:nvPr/>
        </p:nvSpPr>
        <p:spPr>
          <a:xfrm>
            <a:off x="1857375" y="4507230"/>
            <a:ext cx="643890" cy="258128"/>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4507230"/>
            <a:ext cx="643890" cy="258128"/>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4507230"/>
            <a:ext cx="643890" cy="258128"/>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4507230"/>
            <a:ext cx="643890" cy="258128"/>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4507230"/>
            <a:ext cx="643890" cy="258128"/>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4507230"/>
            <a:ext cx="643890" cy="258128"/>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4507230"/>
            <a:ext cx="643890" cy="258128"/>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4507230"/>
            <a:ext cx="643890" cy="258128"/>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4507230"/>
            <a:ext cx="643890" cy="258128"/>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4507230"/>
            <a:ext cx="643890" cy="25812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4507230"/>
            <a:ext cx="643890" cy="258128"/>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4507230"/>
            <a:ext cx="643890" cy="258128"/>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4507230"/>
            <a:ext cx="643890" cy="258128"/>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4507230"/>
            <a:ext cx="643890" cy="258128"/>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4507230"/>
            <a:ext cx="643890" cy="258128"/>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476535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Bags</a:t>
            </a:r>
          </a:p>
        </p:txBody>
      </p:sp>
      <p:sp>
        <p:nvSpPr>
          <p:cNvPr id="236" name="Rectangle 235"/>
          <p:cNvSpPr/>
          <p:nvPr/>
        </p:nvSpPr>
        <p:spPr>
          <a:xfrm>
            <a:off x="1857375" y="4765358"/>
            <a:ext cx="643890" cy="258128"/>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4765358"/>
            <a:ext cx="643890" cy="258128"/>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4765358"/>
            <a:ext cx="643890" cy="258128"/>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4765358"/>
            <a:ext cx="643890" cy="258128"/>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4765358"/>
            <a:ext cx="643890" cy="258128"/>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4765358"/>
            <a:ext cx="643890" cy="258128"/>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4765358"/>
            <a:ext cx="643890" cy="25812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4765358"/>
            <a:ext cx="643890" cy="25812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4765358"/>
            <a:ext cx="643890" cy="258128"/>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4765358"/>
            <a:ext cx="643890" cy="258128"/>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4765358"/>
            <a:ext cx="643890" cy="258128"/>
          </a:xfrm>
          <a:prstGeom prst="rect">
            <a:avLst/>
          </a:prstGeom>
          <a:solidFill>
            <a:srgbClr val="0D63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4765358"/>
            <a:ext cx="643890" cy="258128"/>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4765358"/>
            <a:ext cx="643890" cy="258128"/>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4765358"/>
            <a:ext cx="643890" cy="258128"/>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4765358"/>
            <a:ext cx="643890" cy="258128"/>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02348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Stand-Up Pouches</a:t>
            </a:r>
          </a:p>
        </p:txBody>
      </p:sp>
      <p:sp>
        <p:nvSpPr>
          <p:cNvPr id="252" name="Rectangle 251"/>
          <p:cNvSpPr/>
          <p:nvPr/>
        </p:nvSpPr>
        <p:spPr>
          <a:xfrm>
            <a:off x="1857375" y="5023485"/>
            <a:ext cx="643890" cy="258128"/>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023485"/>
            <a:ext cx="643890" cy="25812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023485"/>
            <a:ext cx="643890" cy="258128"/>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023485"/>
            <a:ext cx="643890" cy="258128"/>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023485"/>
            <a:ext cx="643890" cy="258128"/>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023485"/>
            <a:ext cx="643890" cy="258128"/>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023485"/>
            <a:ext cx="643890" cy="258128"/>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023485"/>
            <a:ext cx="643890" cy="258128"/>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023485"/>
            <a:ext cx="643890" cy="258128"/>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023485"/>
            <a:ext cx="643890" cy="258128"/>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023485"/>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023485"/>
            <a:ext cx="643890" cy="258128"/>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023485"/>
            <a:ext cx="643890" cy="258128"/>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023485"/>
            <a:ext cx="643890" cy="25812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023485"/>
            <a:ext cx="643890" cy="258128"/>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528161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Flat Pouches</a:t>
            </a:r>
          </a:p>
        </p:txBody>
      </p:sp>
      <p:sp>
        <p:nvSpPr>
          <p:cNvPr id="268" name="Rectangle 267"/>
          <p:cNvSpPr/>
          <p:nvPr/>
        </p:nvSpPr>
        <p:spPr>
          <a:xfrm>
            <a:off x="1857375" y="5281612"/>
            <a:ext cx="643890" cy="258128"/>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5281612"/>
            <a:ext cx="643890" cy="25812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5281612"/>
            <a:ext cx="643890" cy="258128"/>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5281612"/>
            <a:ext cx="643890" cy="258128"/>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5281612"/>
            <a:ext cx="643890" cy="258128"/>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5281612"/>
            <a:ext cx="643890" cy="258128"/>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5281612"/>
            <a:ext cx="643890" cy="258128"/>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5281612"/>
            <a:ext cx="643890" cy="25812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5281612"/>
            <a:ext cx="643890" cy="258128"/>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5281612"/>
            <a:ext cx="643890" cy="258128"/>
          </a:xfrm>
          <a:prstGeom prst="rect">
            <a:avLst/>
          </a:prstGeom>
          <a:solidFill>
            <a:srgbClr val="0E6A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5281612"/>
            <a:ext cx="643890" cy="258128"/>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5281612"/>
            <a:ext cx="643890" cy="258128"/>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5281612"/>
            <a:ext cx="643890" cy="258128"/>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5281612"/>
            <a:ext cx="643890" cy="258128"/>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5281612"/>
            <a:ext cx="643890" cy="258128"/>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TextBox 282"/>
          <p:cNvSpPr txBox="1"/>
          <p:nvPr/>
        </p:nvSpPr>
        <p:spPr>
          <a:xfrm>
            <a:off x="238125" y="553974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Retort Pouches</a:t>
            </a:r>
          </a:p>
        </p:txBody>
      </p:sp>
      <p:sp>
        <p:nvSpPr>
          <p:cNvPr id="284" name="Rectangle 283"/>
          <p:cNvSpPr/>
          <p:nvPr/>
        </p:nvSpPr>
        <p:spPr>
          <a:xfrm>
            <a:off x="1857375" y="5539740"/>
            <a:ext cx="643890" cy="258128"/>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2501265" y="5539740"/>
            <a:ext cx="643890" cy="258128"/>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3145155" y="5539740"/>
            <a:ext cx="643890" cy="258128"/>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3789045" y="5539740"/>
            <a:ext cx="643890" cy="258128"/>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4432935" y="5539740"/>
            <a:ext cx="643890" cy="258128"/>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5076825" y="5539740"/>
            <a:ext cx="643890" cy="258128"/>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5720715" y="5539740"/>
            <a:ext cx="643890" cy="258128"/>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6364605" y="5539740"/>
            <a:ext cx="643890" cy="258128"/>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7008495" y="5539740"/>
            <a:ext cx="643890" cy="258128"/>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7652385" y="5539740"/>
            <a:ext cx="643890" cy="258128"/>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8296275" y="5539740"/>
            <a:ext cx="643890" cy="258128"/>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8940165" y="5539740"/>
            <a:ext cx="643890" cy="258128"/>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9584055" y="5539740"/>
            <a:ext cx="643890" cy="258128"/>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0227945" y="5539740"/>
            <a:ext cx="643890" cy="258128"/>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0871835" y="5539740"/>
            <a:ext cx="643890" cy="25812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TextBox 298"/>
          <p:cNvSpPr txBox="1"/>
          <p:nvPr/>
        </p:nvSpPr>
        <p:spPr>
          <a:xfrm>
            <a:off x="238125" y="579786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Sachets &amp; Stick Packs</a:t>
            </a:r>
          </a:p>
        </p:txBody>
      </p:sp>
      <p:sp>
        <p:nvSpPr>
          <p:cNvPr id="300" name="Rectangle 299"/>
          <p:cNvSpPr/>
          <p:nvPr/>
        </p:nvSpPr>
        <p:spPr>
          <a:xfrm>
            <a:off x="1857375" y="5797868"/>
            <a:ext cx="643890" cy="258128"/>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2501265" y="5797868"/>
            <a:ext cx="643890" cy="258128"/>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3145155" y="5797868"/>
            <a:ext cx="643890" cy="258128"/>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3789045" y="5797868"/>
            <a:ext cx="643890" cy="258128"/>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4432935" y="5797868"/>
            <a:ext cx="643890" cy="258128"/>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5076825" y="5797868"/>
            <a:ext cx="643890" cy="258128"/>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5720715" y="5797868"/>
            <a:ext cx="643890" cy="258128"/>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6364605" y="5797868"/>
            <a:ext cx="643890" cy="258128"/>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7008495" y="5797868"/>
            <a:ext cx="643890" cy="258128"/>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7652385" y="5797868"/>
            <a:ext cx="643890" cy="258128"/>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8296275" y="5797868"/>
            <a:ext cx="643890" cy="258128"/>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8940165" y="5797868"/>
            <a:ext cx="643890" cy="25812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9584055" y="5797868"/>
            <a:ext cx="643890" cy="258128"/>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0227945" y="5797868"/>
            <a:ext cx="643890" cy="258128"/>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0871835" y="5797868"/>
            <a:ext cx="643890" cy="258128"/>
          </a:xfrm>
          <a:prstGeom prst="rect">
            <a:avLst/>
          </a:prstGeom>
          <a:solidFill>
            <a:srgbClr val="37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TextBox 314"/>
          <p:cNvSpPr txBox="1"/>
          <p:nvPr/>
        </p:nvSpPr>
        <p:spPr>
          <a:xfrm>
            <a:off x="238125" y="605599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Sachets</a:t>
            </a:r>
          </a:p>
        </p:txBody>
      </p:sp>
      <p:sp>
        <p:nvSpPr>
          <p:cNvPr id="316" name="Rectangle 315"/>
          <p:cNvSpPr/>
          <p:nvPr/>
        </p:nvSpPr>
        <p:spPr>
          <a:xfrm>
            <a:off x="1857375" y="6055995"/>
            <a:ext cx="643890" cy="258128"/>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2501265" y="6055995"/>
            <a:ext cx="643890" cy="258128"/>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3145155" y="6055995"/>
            <a:ext cx="643890" cy="258128"/>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3789045" y="6055995"/>
            <a:ext cx="643890" cy="258128"/>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4432935" y="6055995"/>
            <a:ext cx="643890" cy="258128"/>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5076825" y="6055995"/>
            <a:ext cx="643890" cy="258128"/>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5720715" y="6055995"/>
            <a:ext cx="643890" cy="258128"/>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6364605" y="6055995"/>
            <a:ext cx="643890" cy="258128"/>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Rectangle 323"/>
          <p:cNvSpPr/>
          <p:nvPr/>
        </p:nvSpPr>
        <p:spPr>
          <a:xfrm>
            <a:off x="7008495" y="6055995"/>
            <a:ext cx="643890" cy="258128"/>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5" name="Rectangle 324"/>
          <p:cNvSpPr/>
          <p:nvPr/>
        </p:nvSpPr>
        <p:spPr>
          <a:xfrm>
            <a:off x="7652385" y="6055995"/>
            <a:ext cx="643890" cy="258128"/>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6" name="Rectangle 325"/>
          <p:cNvSpPr/>
          <p:nvPr/>
        </p:nvSpPr>
        <p:spPr>
          <a:xfrm>
            <a:off x="8296275" y="6055995"/>
            <a:ext cx="643890" cy="258128"/>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Rectangle 326"/>
          <p:cNvSpPr/>
          <p:nvPr/>
        </p:nvSpPr>
        <p:spPr>
          <a:xfrm>
            <a:off x="8940165" y="6055995"/>
            <a:ext cx="643890" cy="258128"/>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8" name="Rectangle 327"/>
          <p:cNvSpPr/>
          <p:nvPr/>
        </p:nvSpPr>
        <p:spPr>
          <a:xfrm>
            <a:off x="9584055" y="6055995"/>
            <a:ext cx="643890" cy="258128"/>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9" name="Rectangle 328"/>
          <p:cNvSpPr/>
          <p:nvPr/>
        </p:nvSpPr>
        <p:spPr>
          <a:xfrm>
            <a:off x="10227945" y="6055995"/>
            <a:ext cx="643890" cy="258128"/>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0" name="Rectangle 329"/>
          <p:cNvSpPr/>
          <p:nvPr/>
        </p:nvSpPr>
        <p:spPr>
          <a:xfrm>
            <a:off x="10871835" y="6055995"/>
            <a:ext cx="643890" cy="258128"/>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1" name="TextBox 330"/>
          <p:cNvSpPr txBox="1"/>
          <p:nvPr/>
        </p:nvSpPr>
        <p:spPr>
          <a:xfrm>
            <a:off x="238125" y="631412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Stick Packs</a:t>
            </a:r>
          </a:p>
        </p:txBody>
      </p:sp>
      <p:sp>
        <p:nvSpPr>
          <p:cNvPr id="332" name="Rectangle 331"/>
          <p:cNvSpPr/>
          <p:nvPr/>
        </p:nvSpPr>
        <p:spPr>
          <a:xfrm>
            <a:off x="1857375" y="6314122"/>
            <a:ext cx="643890" cy="258128"/>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3" name="Rectangle 332"/>
          <p:cNvSpPr/>
          <p:nvPr/>
        </p:nvSpPr>
        <p:spPr>
          <a:xfrm>
            <a:off x="2501265" y="6314122"/>
            <a:ext cx="643890" cy="258128"/>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4" name="Rectangle 333"/>
          <p:cNvSpPr/>
          <p:nvPr/>
        </p:nvSpPr>
        <p:spPr>
          <a:xfrm>
            <a:off x="3145155" y="6314122"/>
            <a:ext cx="643890" cy="258128"/>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5" name="Rectangle 334"/>
          <p:cNvSpPr/>
          <p:nvPr/>
        </p:nvSpPr>
        <p:spPr>
          <a:xfrm>
            <a:off x="3789045" y="6314122"/>
            <a:ext cx="643890" cy="258128"/>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Rectangle 335"/>
          <p:cNvSpPr/>
          <p:nvPr/>
        </p:nvSpPr>
        <p:spPr>
          <a:xfrm>
            <a:off x="4432935" y="6314122"/>
            <a:ext cx="643890" cy="25812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7" name="Rectangle 336"/>
          <p:cNvSpPr/>
          <p:nvPr/>
        </p:nvSpPr>
        <p:spPr>
          <a:xfrm>
            <a:off x="5076825" y="6314122"/>
            <a:ext cx="643890" cy="258128"/>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8" name="Rectangle 337"/>
          <p:cNvSpPr/>
          <p:nvPr/>
        </p:nvSpPr>
        <p:spPr>
          <a:xfrm>
            <a:off x="5720715" y="6314122"/>
            <a:ext cx="643890" cy="258128"/>
          </a:xfrm>
          <a:prstGeom prst="rect">
            <a:avLst/>
          </a:prstGeom>
          <a:solidFill>
            <a:srgbClr val="7F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9" name="Rectangle 338"/>
          <p:cNvSpPr/>
          <p:nvPr/>
        </p:nvSpPr>
        <p:spPr>
          <a:xfrm>
            <a:off x="6364605" y="6314122"/>
            <a:ext cx="643890" cy="258128"/>
          </a:xfrm>
          <a:prstGeom prst="rect">
            <a:avLst/>
          </a:prstGeom>
          <a:solidFill>
            <a:srgbClr val="5E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0" name="Rectangle 339"/>
          <p:cNvSpPr/>
          <p:nvPr/>
        </p:nvSpPr>
        <p:spPr>
          <a:xfrm>
            <a:off x="7008495" y="6314122"/>
            <a:ext cx="643890" cy="258128"/>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1" name="Rectangle 340"/>
          <p:cNvSpPr/>
          <p:nvPr/>
        </p:nvSpPr>
        <p:spPr>
          <a:xfrm>
            <a:off x="7652385" y="6314122"/>
            <a:ext cx="643890" cy="258128"/>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2" name="Rectangle 341"/>
          <p:cNvSpPr/>
          <p:nvPr/>
        </p:nvSpPr>
        <p:spPr>
          <a:xfrm>
            <a:off x="8296275" y="6314122"/>
            <a:ext cx="643890" cy="258128"/>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3" name="Rectangle 342"/>
          <p:cNvSpPr/>
          <p:nvPr/>
        </p:nvSpPr>
        <p:spPr>
          <a:xfrm>
            <a:off x="8940165" y="6314122"/>
            <a:ext cx="643890" cy="258128"/>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4" name="Rectangle 343"/>
          <p:cNvSpPr/>
          <p:nvPr/>
        </p:nvSpPr>
        <p:spPr>
          <a:xfrm>
            <a:off x="9584055" y="6314122"/>
            <a:ext cx="643890" cy="258128"/>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5" name="Rectangle 344"/>
          <p:cNvSpPr/>
          <p:nvPr/>
        </p:nvSpPr>
        <p:spPr>
          <a:xfrm>
            <a:off x="10227945" y="6314122"/>
            <a:ext cx="643890" cy="258128"/>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6" name="Rectangle 345"/>
          <p:cNvSpPr/>
          <p:nvPr/>
        </p:nvSpPr>
        <p:spPr>
          <a:xfrm>
            <a:off x="10871835" y="6314122"/>
            <a:ext cx="643890" cy="258128"/>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7" name="Rectangle 34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8" name="Rectangle 34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9" name="Rectangle 34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0" name="Rectangle 34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1" name="Rectangle 35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2" name="Rectangle 35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3" name="Rectangle 35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4" name="Rectangle 35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5" name="Rectangle 35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6" name="Rectangle 35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7" name="Rectangle 35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8" name="Rectangle 35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9" name="Rectangle 35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0" name="Rectangle 35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1" name="Rectangle 36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2" name="Rectangle 36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3" name="Rectangle 36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4" name="Rectangle 36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5" name="Rectangle 36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6" name="Rectangle 36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7" name="Rectangle 36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8" name="Rectangle 36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9" name="Rectangle 36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0" name="Rectangle 36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1" name="Rectangle 37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2" name="Rectangle 37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3" name="Rectangle 37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4" name="Rectangle 37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5" name="Rectangle 37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6" name="Rectangle 37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7" name="Rectangle 37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8" name="Rectangle 37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9" name="Rectangle 37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0" name="Rectangle 37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1" name="Rectangle 38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2" name="Rectangle 38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3" name="Rectangle 38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4" name="Rectangle 38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5" name="Rectangle 38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6" name="Rectangle 38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7" name="Rectangle 38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8" name="TextBox 38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389" name="TextBox 38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390" name="TextBox 38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391" name="TextBox 39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Principal Material / Barrier 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Principal Material / Barrier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Principal Material / Barrier Technology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11 sub-segments of Principal Material / Barrier Technology…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Principal Material / Barrier Technology segment categorizes the market by principal material / barrier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PE-Based</a:t>
            </a:r>
          </a:p>
        </p:txBody>
      </p:sp>
      <p:sp>
        <p:nvSpPr>
          <p:cNvPr id="23" name="Rectangle 22"/>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2,539</a:t>
            </a:r>
          </a:p>
        </p:txBody>
      </p:sp>
      <p:sp>
        <p:nvSpPr>
          <p:cNvPr id="24" name="Rectangle 23"/>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5,125</a:t>
            </a:r>
          </a:p>
        </p:txBody>
      </p:sp>
      <p:sp>
        <p:nvSpPr>
          <p:cNvPr id="25" name="Rectangle 24"/>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7.3%</a:t>
            </a:r>
          </a:p>
        </p:txBody>
      </p:sp>
      <p:sp>
        <p:nvSpPr>
          <p:cNvPr id="26" name="Oval 25"/>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PP-Based</a:t>
            </a:r>
          </a:p>
        </p:txBody>
      </p:sp>
      <p:sp>
        <p:nvSpPr>
          <p:cNvPr id="30" name="Rectangle 29"/>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1,718</a:t>
            </a:r>
          </a:p>
        </p:txBody>
      </p:sp>
      <p:sp>
        <p:nvSpPr>
          <p:cNvPr id="31" name="Rectangle 30"/>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3,382</a:t>
            </a:r>
          </a:p>
        </p:txBody>
      </p:sp>
      <p:sp>
        <p:nvSpPr>
          <p:cNvPr id="32" name="Rectangle 31"/>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7.0%</a:t>
            </a:r>
          </a:p>
        </p:txBody>
      </p:sp>
      <p:sp>
        <p:nvSpPr>
          <p:cNvPr id="33" name="Oval 32"/>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PET-Based</a:t>
            </a:r>
          </a:p>
        </p:txBody>
      </p:sp>
      <p:sp>
        <p:nvSpPr>
          <p:cNvPr id="37" name="Rectangle 36"/>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830.9</a:t>
            </a:r>
          </a:p>
        </p:txBody>
      </p:sp>
      <p:sp>
        <p:nvSpPr>
          <p:cNvPr id="38" name="Rectangle 37"/>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1,688</a:t>
            </a:r>
          </a:p>
        </p:txBody>
      </p:sp>
      <p:sp>
        <p:nvSpPr>
          <p:cNvPr id="39" name="Rectangle 38"/>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7.3%</a:t>
            </a:r>
          </a:p>
        </p:txBody>
      </p:sp>
      <p:sp>
        <p:nvSpPr>
          <p:cNvPr id="40" name="Oval 39"/>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PA-Based</a:t>
            </a:r>
          </a:p>
        </p:txBody>
      </p:sp>
      <p:sp>
        <p:nvSpPr>
          <p:cNvPr id="44" name="Rectangle 43"/>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695.4</a:t>
            </a:r>
          </a:p>
        </p:txBody>
      </p:sp>
      <p:sp>
        <p:nvSpPr>
          <p:cNvPr id="45" name="Rectangle 44"/>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1,367</a:t>
            </a:r>
          </a:p>
        </p:txBody>
      </p:sp>
      <p:sp>
        <p:nvSpPr>
          <p:cNvPr id="46" name="Rectangle 45"/>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7.0%</a:t>
            </a:r>
          </a:p>
        </p:txBody>
      </p:sp>
      <p:sp>
        <p:nvSpPr>
          <p:cNvPr id="47" name="Oval 46"/>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EVOH-Based</a:t>
            </a:r>
          </a:p>
        </p:txBody>
      </p:sp>
      <p:sp>
        <p:nvSpPr>
          <p:cNvPr id="51" name="Rectangle 50"/>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672.8</a:t>
            </a:r>
          </a:p>
        </p:txBody>
      </p:sp>
      <p:sp>
        <p:nvSpPr>
          <p:cNvPr id="52" name="Rectangle 51"/>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1,364</a:t>
            </a:r>
          </a:p>
        </p:txBody>
      </p:sp>
      <p:sp>
        <p:nvSpPr>
          <p:cNvPr id="53" name="Rectangle 52"/>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7.3%</a:t>
            </a:r>
          </a:p>
        </p:txBody>
      </p:sp>
      <p:sp>
        <p:nvSpPr>
          <p:cNvPr id="54" name="Oval 53"/>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Metallized Barrier</a:t>
            </a:r>
          </a:p>
        </p:txBody>
      </p:sp>
      <p:sp>
        <p:nvSpPr>
          <p:cNvPr id="58" name="Rectangle 57"/>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493.8</a:t>
            </a:r>
          </a:p>
        </p:txBody>
      </p:sp>
      <p:sp>
        <p:nvSpPr>
          <p:cNvPr id="59" name="Rectangle 58"/>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982.4</a:t>
            </a:r>
          </a:p>
        </p:txBody>
      </p:sp>
      <p:sp>
        <p:nvSpPr>
          <p:cNvPr id="60" name="Rectangle 59"/>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7.1%</a:t>
            </a:r>
          </a:p>
        </p:txBody>
      </p:sp>
      <p:sp>
        <p:nvSpPr>
          <p:cNvPr id="61" name="Oval 60"/>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4" name="Rectangle 63"/>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Among flexible plastic packaging by principal material / barrier technology, other specialty barrier technologies segment is expected to witness the highest CAGR of 7.8% over the forecast period. In terms of value share by principal material / barrier technology, the pe-based segment is expected to dominate the market, gaining 34 BPS and accounting for 30.8% share by 2036.</a:t>
            </a:r>
          </a:p>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Pe-based segment is projected to register 1.5X higher value than pp-based segment in 2036.</a:t>
            </a:r>
          </a:p>
        </p:txBody>
      </p:sp>
      <p:sp>
        <p:nvSpPr>
          <p:cNvPr id="66" name="Rounded Rectangle 65"/>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8" name="Rectangle 67"/>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PE-Based: </a:t>
            </a:r>
            <a:r>
              <a:rPr sz="1100" b="0">
                <a:solidFill>
                  <a:srgbClr val="2E2E2E"/>
                </a:solidFill>
                <a:latin typeface="Calibri"/>
              </a:rPr>
              <a:t>30% of 2026 value · 7.3%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PP-Based: </a:t>
            </a:r>
            <a:r>
              <a:rPr sz="1100" b="0">
                <a:solidFill>
                  <a:srgbClr val="2E2E2E"/>
                </a:solidFill>
                <a:latin typeface="Calibri"/>
              </a:rPr>
              <a:t>21% of 2026 value · 7.0%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PET-Based: </a:t>
            </a:r>
            <a:r>
              <a:rPr sz="1100" b="0">
                <a:solidFill>
                  <a:srgbClr val="2E2E2E"/>
                </a:solidFill>
                <a:latin typeface="Calibri"/>
              </a:rPr>
              <a:t>10% of 2026 value · 7.3%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PA-Based: </a:t>
            </a:r>
            <a:r>
              <a:rPr sz="1100" b="0">
                <a:solidFill>
                  <a:srgbClr val="2E2E2E"/>
                </a:solidFill>
                <a:latin typeface="Calibri"/>
              </a:rPr>
              <a:t>8% of 2026 value · 7.0%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EVOH-Based: </a:t>
            </a:r>
            <a:r>
              <a:rPr sz="1100" b="0">
                <a:solidFill>
                  <a:srgbClr val="2E2E2E"/>
                </a:solidFill>
                <a:latin typeface="Calibri"/>
              </a:rPr>
              <a:t>8% of 2026 value · 7.3%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Metallized Barrier: </a:t>
            </a:r>
            <a:r>
              <a:rPr sz="1100" b="0">
                <a:solidFill>
                  <a:srgbClr val="2E2E2E"/>
                </a:solidFill>
                <a:latin typeface="Calibri"/>
              </a:rPr>
              <a:t>6% of 2026 value · 7.1% CAGR serves a niche.</a:t>
            </a:r>
          </a:p>
        </p:txBody>
      </p:sp>
      <p:sp>
        <p:nvSpPr>
          <p:cNvPr id="70" name="Rounded Rectangle 69"/>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2" name="Rectangle 71"/>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Principal Material / Barrier Technology split shows how demand is distributed across principal material / barrier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74" name="Rectangle 73"/>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Principal Material / Barrier Technology segment is projected to grow at a CAGR of 7.2% from 2026 to 2036.</a:t>
            </a:r>
          </a:p>
        </p:txBody>
      </p:sp>
      <p:sp>
        <p:nvSpPr>
          <p:cNvPr id="76" name="TextBox 75"/>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7" name="TextBox 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Principal Material / Barrier Technology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11 sub-segments of Principal Material / Barrier Technology…</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Principal Material / Barrier Technology segment categorizes the market by principal material / barrier technology.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1908810"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1908810"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PVDC-Based</a:t>
            </a:r>
          </a:p>
        </p:txBody>
      </p:sp>
      <p:sp>
        <p:nvSpPr>
          <p:cNvPr id="22" name="Rectangle 21"/>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432.6</a:t>
            </a:r>
          </a:p>
        </p:txBody>
      </p:sp>
      <p:sp>
        <p:nvSpPr>
          <p:cNvPr id="23" name="Rectangle 22"/>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813.6</a:t>
            </a:r>
          </a:p>
        </p:txBody>
      </p:sp>
      <p:sp>
        <p:nvSpPr>
          <p:cNvPr id="24" name="Rectangle 23"/>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6.5%</a:t>
            </a:r>
          </a:p>
        </p:txBody>
      </p:sp>
      <p:sp>
        <p:nvSpPr>
          <p:cNvPr id="25" name="Oval 24"/>
          <p:cNvSpPr/>
          <p:nvPr/>
        </p:nvSpPr>
        <p:spPr>
          <a:xfrm>
            <a:off x="2659380"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26" name="Rounded Rectangle 25"/>
          <p:cNvSpPr/>
          <p:nvPr/>
        </p:nvSpPr>
        <p:spPr>
          <a:xfrm>
            <a:off x="389001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389001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Aluminum Foil-Based</a:t>
            </a:r>
          </a:p>
        </p:txBody>
      </p:sp>
      <p:sp>
        <p:nvSpPr>
          <p:cNvPr id="29" name="Rectangle 28"/>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264.6</a:t>
            </a:r>
          </a:p>
        </p:txBody>
      </p:sp>
      <p:sp>
        <p:nvSpPr>
          <p:cNvPr id="30" name="Rectangle 29"/>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496.6</a:t>
            </a:r>
          </a:p>
        </p:txBody>
      </p:sp>
      <p:sp>
        <p:nvSpPr>
          <p:cNvPr id="31" name="Rectangle 30"/>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6.5%</a:t>
            </a:r>
          </a:p>
        </p:txBody>
      </p:sp>
      <p:sp>
        <p:nvSpPr>
          <p:cNvPr id="32" name="Oval 31"/>
          <p:cNvSpPr/>
          <p:nvPr/>
        </p:nvSpPr>
        <p:spPr>
          <a:xfrm>
            <a:off x="468249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33" name="Rounded Rectangle 32"/>
          <p:cNvSpPr/>
          <p:nvPr/>
        </p:nvSpPr>
        <p:spPr>
          <a:xfrm>
            <a:off x="591312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91312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AlOx / SiOx-Coated</a:t>
            </a:r>
          </a:p>
        </p:txBody>
      </p:sp>
      <p:sp>
        <p:nvSpPr>
          <p:cNvPr id="36" name="Rectangle 35"/>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253.5</a:t>
            </a:r>
          </a:p>
        </p:txBody>
      </p:sp>
      <p:sp>
        <p:nvSpPr>
          <p:cNvPr id="37" name="Rectangle 36"/>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519.9</a:t>
            </a:r>
          </a:p>
        </p:txBody>
      </p:sp>
      <p:sp>
        <p:nvSpPr>
          <p:cNvPr id="38" name="Rectangle 37"/>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7.4%</a:t>
            </a:r>
          </a:p>
        </p:txBody>
      </p:sp>
      <p:sp>
        <p:nvSpPr>
          <p:cNvPr id="39" name="Oval 38"/>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9</a:t>
            </a:r>
          </a:p>
        </p:txBody>
      </p:sp>
      <p:sp>
        <p:nvSpPr>
          <p:cNvPr id="40" name="Rounded Rectangle 39"/>
          <p:cNvSpPr/>
          <p:nvPr/>
        </p:nvSpPr>
        <p:spPr>
          <a:xfrm>
            <a:off x="793623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93623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Specialty Barrier Technolog…</a:t>
            </a:r>
          </a:p>
        </p:txBody>
      </p:sp>
      <p:sp>
        <p:nvSpPr>
          <p:cNvPr id="43" name="Rectangle 42"/>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253.4</a:t>
            </a:r>
          </a:p>
        </p:txBody>
      </p:sp>
      <p:sp>
        <p:nvSpPr>
          <p:cNvPr id="44" name="Rectangle 43"/>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536.3</a:t>
            </a:r>
          </a:p>
        </p:txBody>
      </p:sp>
      <p:sp>
        <p:nvSpPr>
          <p:cNvPr id="45" name="Rectangle 44"/>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7.8%</a:t>
            </a:r>
          </a:p>
        </p:txBody>
      </p:sp>
      <p:sp>
        <p:nvSpPr>
          <p:cNvPr id="46" name="Oval 45"/>
          <p:cNvSpPr/>
          <p:nvPr/>
        </p:nvSpPr>
        <p:spPr>
          <a:xfrm>
            <a:off x="872871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10</a:t>
            </a:r>
          </a:p>
        </p:txBody>
      </p:sp>
      <p:sp>
        <p:nvSpPr>
          <p:cNvPr id="47" name="Rounded Rectangle 46"/>
          <p:cNvSpPr/>
          <p:nvPr/>
        </p:nvSpPr>
        <p:spPr>
          <a:xfrm>
            <a:off x="995934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995934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PVOH-Based</a:t>
            </a:r>
          </a:p>
        </p:txBody>
      </p:sp>
      <p:sp>
        <p:nvSpPr>
          <p:cNvPr id="50" name="Rectangle 49"/>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170.1</a:t>
            </a:r>
          </a:p>
        </p:txBody>
      </p:sp>
      <p:sp>
        <p:nvSpPr>
          <p:cNvPr id="51" name="Rectangle 50"/>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343.1</a:t>
            </a:r>
          </a:p>
        </p:txBody>
      </p:sp>
      <p:sp>
        <p:nvSpPr>
          <p:cNvPr id="52" name="Rectangle 51"/>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7.3%</a:t>
            </a:r>
          </a:p>
        </p:txBody>
      </p:sp>
      <p:sp>
        <p:nvSpPr>
          <p:cNvPr id="53" name="Oval 52"/>
          <p:cNvSpPr/>
          <p:nvPr/>
        </p:nvSpPr>
        <p:spPr>
          <a:xfrm>
            <a:off x="1075182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11</a:t>
            </a:r>
          </a:p>
        </p:txBody>
      </p:sp>
      <p:sp>
        <p:nvSpPr>
          <p:cNvPr id="54" name="Rounded Rectangle 53"/>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6" name="Rectangle 55"/>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PVDC-Based: </a:t>
            </a:r>
            <a:r>
              <a:rPr sz="1100" b="0">
                <a:solidFill>
                  <a:srgbClr val="2E2E2E"/>
                </a:solidFill>
                <a:latin typeface="Calibri"/>
              </a:rPr>
              <a:t>5% of 2026 value · 6.5% CAGR serves a niche.</a:t>
            </a:r>
          </a:p>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Aluminum Foil-Based: </a:t>
            </a:r>
            <a:r>
              <a:rPr sz="1100" b="0">
                <a:solidFill>
                  <a:srgbClr val="2E2E2E"/>
                </a:solidFill>
                <a:latin typeface="Calibri"/>
              </a:rPr>
              <a:t>3% of 2026 value · 6.5% CAGR serves a niche.</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AlOx / SiOx-Coated: </a:t>
            </a:r>
            <a:r>
              <a:rPr sz="1100" b="0">
                <a:solidFill>
                  <a:srgbClr val="2E2E2E"/>
                </a:solidFill>
                <a:latin typeface="Calibri"/>
              </a:rPr>
              <a:t>3% of 2026 value · 7.4%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Other Specialty Barrier Technologies: </a:t>
            </a:r>
            <a:r>
              <a:rPr sz="1100" b="0">
                <a:solidFill>
                  <a:srgbClr val="2E2E2E"/>
                </a:solidFill>
                <a:latin typeface="Calibri"/>
              </a:rPr>
              <a:t>3% of 2026 value · 7.8%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PVOH-Based: </a:t>
            </a:r>
            <a:r>
              <a:rPr sz="1100" b="0">
                <a:solidFill>
                  <a:srgbClr val="2E2E2E"/>
                </a:solidFill>
                <a:latin typeface="Calibri"/>
              </a:rPr>
              <a:t>2% of 2026 value · 7.3% CAGR serves a niche.</a:t>
            </a:r>
          </a:p>
        </p:txBody>
      </p:sp>
      <p:sp>
        <p:nvSpPr>
          <p:cNvPr id="58" name="TextBox 5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9" name="TextBox 5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Structure &amp; Attractiveness, By Principal Material / Barrier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Principal Material / Barrier Technology mix within each country and the attractiveness of each sub-segment on growth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Principal Material / Barrier Technology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Pe-based followed by pp-based are expected to be the two most attractive principal material / barrier technology segments in the Latin America flexible plastic packaging market in terms of value over the forecast period. PE-Based and PP-Based exhibit a CAGR index of 102 and 98 and a market share index of 335 and 227 respectively, against the segment average of 100. The pvoh-based segment is expected to be less attractive as compared to other segments over the forecast period, owing to its lower CAGR and incremental opportunity. PE-Based and PP-Based rank as the most attractive because they pair scale with growth. PE is the workhorse resin for pouches, liners and lidding, with the broadest use across food and the recycling-friendliest profile, with 30.5% of 2026 value growing at 7.3%. For PP-Based, PP offers heat resistance and clarity for snack, bakery and retort-style packs, at 20.6% share and 7.0% CAGR.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Principal Material / Barrier Technology (1/3)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Principal Material / Barrier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PE-Based</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PP-Based</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PET-Based</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PA-Based</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Principal Material / Barrier Technology (2/3)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Principal Material / Barrier Technology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EVOH-Based</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PVDC-Based</a:t>
            </a:r>
          </a:p>
        </p:txBody>
      </p:sp>
      <p:graphicFrame>
        <p:nvGraphicFramePr>
          <p:cNvPr id="15" name="Chart 14"/>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PVOH-Based</a:t>
            </a:r>
          </a:p>
        </p:txBody>
      </p:sp>
      <p:graphicFrame>
        <p:nvGraphicFramePr>
          <p:cNvPr id="18" name="Chart 17"/>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Metallized Barrier</a:t>
            </a:r>
          </a:p>
        </p:txBody>
      </p:sp>
      <p:graphicFrame>
        <p:nvGraphicFramePr>
          <p:cNvPr id="21" name="Chart 20"/>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Principal Material / Barrier Technology (3/3)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Principal Material / Barrier Technology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AlOx / SiOx-Coated</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Aluminum Foil-Based</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Other Specialty Barrier Technologies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Latin America Absolute $ Opportunity Analysis, By Principal Material / Barrier Technology</a:t>
            </a:r>
          </a:p>
        </p:txBody>
      </p:sp>
      <p:sp>
        <p:nvSpPr>
          <p:cNvPr id="21" name="Rectangle 20"/>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276725"/>
            <a:ext cx="5610225" cy="226695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By 2036, pe-based segment is anticipated to witness an increase of 2.0X in terms of value as compared to 2026. The PE-Based segment is expected to create an incremental opportunity of US$ 2,587 Mn for the overall flexible plastic packaging market from 2026 to 2036.</a:t>
            </a:r>
          </a:p>
          <a:p>
            <a:pPr algn="l">
              <a:lnSpc>
                <a:spcPct val="100000"/>
              </a:lnSpc>
              <a:spcBef>
                <a:spcPts val="0"/>
              </a:spcBef>
              <a:spcAft>
                <a:spcPts val="300"/>
              </a:spcAft>
            </a:pPr>
            <a:r>
              <a:rPr sz="1100" b="0">
                <a:solidFill>
                  <a:srgbClr val="2E2E2E"/>
                </a:solidFill>
                <a:latin typeface="Calibri"/>
              </a:rPr>
              <a:t>The PP-Based segment is expected to create an incremental opportunity of US$ 1,664 Mn for the overall flexible plastic packaging market from 2026 to 2036. The PET-Based segment is expected to create an incremental opportunity of US$ 857.0 Mn for the overall flexible plastic packaging market from 2026 to 2036.</a:t>
            </a:r>
          </a:p>
          <a:p>
            <a:pPr algn="l">
              <a:lnSpc>
                <a:spcPct val="100000"/>
              </a:lnSpc>
              <a:spcBef>
                <a:spcPts val="0"/>
              </a:spcBef>
              <a:spcAft>
                <a:spcPts val="300"/>
              </a:spcAft>
            </a:pPr>
            <a:r>
              <a:rPr sz="1100" b="0">
                <a:solidFill>
                  <a:srgbClr val="2E2E2E"/>
                </a:solidFill>
                <a:latin typeface="Calibri"/>
              </a:rPr>
              <a:t>PE-Based structures add the most absolute value, holding a 30.5% share and growing at 7.3%, above the 7.2% regional rate. Polyethylene is the workhorse for the region's large fresh produce, meat, dairy and staple food packaging, and benefits from local resin availability. PP-Based is the second-largest pool at 20.6%, while PET-Based and EVOH-Based also grow at 7.3% as protein exports and processed foods expand.</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Volume Analysis, By Principal Material / Barrier Technology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Principal Material / Barrier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247900"/>
          </a:xfrm>
          <a:prstGeom prst="roundRect">
            <a:avLst>
              <a:gd name="adj" fmla="val 338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467225"/>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Volume Analysis, By Principal Material / Barrier Technology</a:t>
            </a:r>
          </a:p>
        </p:txBody>
      </p:sp>
      <p:sp>
        <p:nvSpPr>
          <p:cNvPr id="17" name="Rectangle 16"/>
          <p:cNvSpPr/>
          <p:nvPr/>
        </p:nvSpPr>
        <p:spPr>
          <a:xfrm>
            <a:off x="276225" y="4705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791075"/>
            <a:ext cx="11639550" cy="1762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Pe-based segment is projected to register 1.5X higher volume than pp-based segment in 2036. Among flexible plastic packaging by principal material / barrier technology, other specialty barrier technologies segment is expected to witness the highest CAGR of 6.4% over the forecast period.</a:t>
            </a:r>
          </a:p>
          <a:p>
            <a:pPr algn="l">
              <a:lnSpc>
                <a:spcPct val="110000"/>
              </a:lnSpc>
              <a:spcBef>
                <a:spcPts val="0"/>
              </a:spcBef>
              <a:spcAft>
                <a:spcPts val="500"/>
              </a:spcAft>
            </a:pPr>
            <a:r>
              <a:rPr sz="1150" b="0">
                <a:solidFill>
                  <a:srgbClr val="2E2E2E"/>
                </a:solidFill>
                <a:latin typeface="Calibri"/>
              </a:rPr>
              <a:t>In terms of volume share by principal material / barrier technology, the pe-based segment is expected to dominate the market, gaining 34 BPS and accounting for 30.9% share by 2036. The pvdc-based segment is expected to lose 30 BPS over the forecast period to account for 4.9% share by 2036.</a:t>
            </a:r>
          </a:p>
          <a:p>
            <a:pPr algn="l">
              <a:lnSpc>
                <a:spcPct val="110000"/>
              </a:lnSpc>
              <a:spcBef>
                <a:spcPts val="0"/>
              </a:spcBef>
              <a:spcAft>
                <a:spcPts val="500"/>
              </a:spcAft>
            </a:pPr>
            <a:r>
              <a:rPr sz="1150" b="0">
                <a:solidFill>
                  <a:srgbClr val="2E2E2E"/>
                </a:solidFill>
                <a:latin typeface="Calibri"/>
              </a:rPr>
              <a:t>PE-Based structures add 34 BPS of volume share at 5.9% growth because mono-PE laminates meet recyclability targets, seal reliably and carry a cost edge in food, protein and e-commerce packs, supported by urbanisation, retail modernisation and rising packaged-food consumption. PVDC-Based loses 30 BPS at 5.1% as chlorine concerns and poor recyclability push converters towards EVOH and PE alternatives.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Analysis, By Principal Material / Barrier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Principal Material / Barrier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Principal Material / Barrier Technology (US$ Mn)</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247900"/>
          </a:xfrm>
          <a:prstGeom prst="roundRect">
            <a:avLst>
              <a:gd name="adj" fmla="val 338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467225"/>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Value Analysis, By Principal Material / Barrier Technology</a:t>
            </a:r>
          </a:p>
        </p:txBody>
      </p:sp>
      <p:sp>
        <p:nvSpPr>
          <p:cNvPr id="17" name="Rectangle 16"/>
          <p:cNvSpPr/>
          <p:nvPr/>
        </p:nvSpPr>
        <p:spPr>
          <a:xfrm>
            <a:off x="276225" y="4705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791075"/>
            <a:ext cx="11639550" cy="1762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Pe-based segment is projected to register 1.5X higher value than pp-based segment in 2036. Among flexible plastic packaging by principal material / barrier technology, other specialty barrier technologies segment is expected to witness the highest CAGR of 7.8% over the forecast period.</a:t>
            </a:r>
          </a:p>
          <a:p>
            <a:pPr algn="l">
              <a:lnSpc>
                <a:spcPct val="110000"/>
              </a:lnSpc>
              <a:spcBef>
                <a:spcPts val="0"/>
              </a:spcBef>
              <a:spcAft>
                <a:spcPts val="500"/>
              </a:spcAft>
            </a:pPr>
            <a:r>
              <a:rPr sz="1150" b="0">
                <a:solidFill>
                  <a:srgbClr val="2E2E2E"/>
                </a:solidFill>
                <a:latin typeface="Calibri"/>
              </a:rPr>
              <a:t>In terms of value share by principal material / barrier technology, the pe-based segment is expected to dominate the market, gaining 34 BPS and accounting for 30.8% share by 2036. The pvdc-based segment is expected to lose 30 BPS over the forecast period to account for 4.9% share by 2036.</a:t>
            </a:r>
          </a:p>
          <a:p>
            <a:pPr algn="l">
              <a:lnSpc>
                <a:spcPct val="110000"/>
              </a:lnSpc>
              <a:spcBef>
                <a:spcPts val="0"/>
              </a:spcBef>
              <a:spcAft>
                <a:spcPts val="500"/>
              </a:spcAft>
            </a:pPr>
            <a:r>
              <a:rPr sz="1150" b="0">
                <a:solidFill>
                  <a:srgbClr val="2E2E2E"/>
                </a:solidFill>
                <a:latin typeface="Calibri"/>
              </a:rPr>
              <a:t>PE-Based gains 34 BPS because polyethylene is the cost-effective workhorse for pouches and films in Latin America, and growing interest in recyclable mono-material structures favours it. PVDC-Based loses 30 BPS and Aluminum Foil-Based loses 19 BPS as converters shift away from chlorinated and hard-to-recycle builds. Other Specialty Barrier Technologies grow fastest at 7.8% on demand for lighter, recyclable barrier alternatives.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&amp; Share Shift, By Principal Material / Barrier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Principal Material / Barrier Technology in 2021, 2026 and 2036, highlighting share shifts in basis…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Composition, By Principal Material / Barrier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3318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5684" y="183318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903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PE-Based</a:t>
            </a:r>
          </a:p>
        </p:txBody>
      </p:sp>
      <p:sp>
        <p:nvSpPr>
          <p:cNvPr id="19" name="BPS Value 1"/>
          <p:cNvSpPr txBox="1"/>
          <p:nvPr/>
        </p:nvSpPr>
        <p:spPr>
          <a:xfrm>
            <a:off x="6896100" y="1790319"/>
            <a:ext cx="514350" cy="171450"/>
          </a:xfrm>
          <a:prstGeom prst="rect">
            <a:avLst/>
          </a:prstGeom>
          <a:noFill/>
        </p:spPr>
        <p:txBody>
          <a:bodyPr wrap="none" lIns="0" rIns="0" tIns="0" bIns="0" anchor="ctr">
            <a:spAutoFit/>
          </a:bodyPr>
          <a:lstStyle/>
          <a:p>
            <a:pPr algn="r"/>
            <a:r>
              <a:rPr sz="900" b="1">
                <a:solidFill>
                  <a:srgbClr val="2E7D32"/>
                </a:solidFill>
                <a:latin typeface="Calibri"/>
              </a:rPr>
              <a:t>+34</a:t>
            </a:r>
          </a:p>
        </p:txBody>
      </p:sp>
      <p:sp>
        <p:nvSpPr>
          <p:cNvPr id="20" name="FMI Legend Chip"/>
          <p:cNvSpPr/>
          <p:nvPr/>
        </p:nvSpPr>
        <p:spPr>
          <a:xfrm>
            <a:off x="4928997" y="2004632"/>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5684" y="200463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1961769"/>
            <a:ext cx="2178844" cy="171450"/>
          </a:xfrm>
          <a:prstGeom prst="rect">
            <a:avLst/>
          </a:prstGeom>
          <a:noFill/>
        </p:spPr>
        <p:txBody>
          <a:bodyPr wrap="none" lIns="19050" rIns="19050" tIns="0" bIns="0" anchor="ctr">
            <a:spAutoFit/>
          </a:bodyPr>
          <a:lstStyle/>
          <a:p>
            <a:pPr algn="l"/>
            <a:r>
              <a:rPr sz="900" b="0">
                <a:solidFill>
                  <a:srgbClr val="2E2E2E"/>
                </a:solidFill>
                <a:latin typeface="Calibri"/>
              </a:rPr>
              <a:t>Other Specialty Barrier Technologies</a:t>
            </a:r>
          </a:p>
        </p:txBody>
      </p:sp>
      <p:sp>
        <p:nvSpPr>
          <p:cNvPr id="23" name="BPS Value 2"/>
          <p:cNvSpPr txBox="1"/>
          <p:nvPr/>
        </p:nvSpPr>
        <p:spPr>
          <a:xfrm>
            <a:off x="6896100" y="1961769"/>
            <a:ext cx="514350" cy="171450"/>
          </a:xfrm>
          <a:prstGeom prst="rect">
            <a:avLst/>
          </a:prstGeom>
          <a:noFill/>
        </p:spPr>
        <p:txBody>
          <a:bodyPr wrap="none" lIns="0" rIns="0" tIns="0" bIns="0" anchor="ctr">
            <a:spAutoFit/>
          </a:bodyPr>
          <a:lstStyle/>
          <a:p>
            <a:pPr algn="r"/>
            <a:r>
              <a:rPr sz="900" b="1">
                <a:solidFill>
                  <a:srgbClr val="2E7D32"/>
                </a:solidFill>
                <a:latin typeface="Calibri"/>
              </a:rPr>
              <a:t>+18</a:t>
            </a:r>
          </a:p>
        </p:txBody>
      </p:sp>
      <p:sp>
        <p:nvSpPr>
          <p:cNvPr id="24" name="FMI Legend Chip"/>
          <p:cNvSpPr/>
          <p:nvPr/>
        </p:nvSpPr>
        <p:spPr>
          <a:xfrm>
            <a:off x="4928997" y="217608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5684" y="217608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1332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PET-Based</a:t>
            </a:r>
          </a:p>
        </p:txBody>
      </p:sp>
      <p:sp>
        <p:nvSpPr>
          <p:cNvPr id="27" name="BPS Value 3"/>
          <p:cNvSpPr txBox="1"/>
          <p:nvPr/>
        </p:nvSpPr>
        <p:spPr>
          <a:xfrm>
            <a:off x="6896100" y="2133219"/>
            <a:ext cx="514350" cy="171450"/>
          </a:xfrm>
          <a:prstGeom prst="rect">
            <a:avLst/>
          </a:prstGeom>
          <a:noFill/>
        </p:spPr>
        <p:txBody>
          <a:bodyPr wrap="none" lIns="0" rIns="0" tIns="0" bIns="0" anchor="ctr">
            <a:spAutoFit/>
          </a:bodyPr>
          <a:lstStyle/>
          <a:p>
            <a:pPr algn="r"/>
            <a:r>
              <a:rPr sz="900" b="1">
                <a:solidFill>
                  <a:srgbClr val="2E7D32"/>
                </a:solidFill>
                <a:latin typeface="Calibri"/>
              </a:rPr>
              <a:t>+17</a:t>
            </a:r>
          </a:p>
        </p:txBody>
      </p:sp>
      <p:sp>
        <p:nvSpPr>
          <p:cNvPr id="28" name="FMI Legend Chip"/>
          <p:cNvSpPr/>
          <p:nvPr/>
        </p:nvSpPr>
        <p:spPr>
          <a:xfrm>
            <a:off x="4928997" y="234753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5684" y="234753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3046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EVOH-Based</a:t>
            </a:r>
          </a:p>
        </p:txBody>
      </p:sp>
      <p:sp>
        <p:nvSpPr>
          <p:cNvPr id="31" name="BPS Value 4"/>
          <p:cNvSpPr txBox="1"/>
          <p:nvPr/>
        </p:nvSpPr>
        <p:spPr>
          <a:xfrm>
            <a:off x="6896100" y="2304669"/>
            <a:ext cx="514350" cy="171450"/>
          </a:xfrm>
          <a:prstGeom prst="rect">
            <a:avLst/>
          </a:prstGeom>
          <a:noFill/>
        </p:spPr>
        <p:txBody>
          <a:bodyPr wrap="none" lIns="0" rIns="0" tIns="0" bIns="0" anchor="ctr">
            <a:spAutoFit/>
          </a:bodyPr>
          <a:lstStyle/>
          <a:p>
            <a:pPr algn="r"/>
            <a:r>
              <a:rPr sz="900" b="1">
                <a:solidFill>
                  <a:srgbClr val="2E7D32"/>
                </a:solidFill>
                <a:latin typeface="Calibri"/>
              </a:rPr>
              <a:t>+13</a:t>
            </a:r>
          </a:p>
        </p:txBody>
      </p:sp>
      <p:sp>
        <p:nvSpPr>
          <p:cNvPr id="32" name="FMI Legend Chip"/>
          <p:cNvSpPr/>
          <p:nvPr/>
        </p:nvSpPr>
        <p:spPr>
          <a:xfrm>
            <a:off x="4928997" y="2518982"/>
            <a:ext cx="85725" cy="8572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5684" y="251898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24761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AlOx / SiOx-Coated</a:t>
            </a:r>
          </a:p>
        </p:txBody>
      </p:sp>
      <p:sp>
        <p:nvSpPr>
          <p:cNvPr id="35" name="BPS Value 5"/>
          <p:cNvSpPr txBox="1"/>
          <p:nvPr/>
        </p:nvSpPr>
        <p:spPr>
          <a:xfrm>
            <a:off x="6896100" y="2476119"/>
            <a:ext cx="514350" cy="171450"/>
          </a:xfrm>
          <a:prstGeom prst="rect">
            <a:avLst/>
          </a:prstGeom>
          <a:noFill/>
        </p:spPr>
        <p:txBody>
          <a:bodyPr wrap="none" lIns="0" rIns="0" tIns="0" bIns="0" anchor="ctr">
            <a:spAutoFit/>
          </a:bodyPr>
          <a:lstStyle/>
          <a:p>
            <a:pPr algn="r"/>
            <a:r>
              <a:rPr sz="900" b="1">
                <a:solidFill>
                  <a:srgbClr val="2E7D32"/>
                </a:solidFill>
                <a:latin typeface="Calibri"/>
              </a:rPr>
              <a:t>+8</a:t>
            </a:r>
          </a:p>
        </p:txBody>
      </p:sp>
      <p:sp>
        <p:nvSpPr>
          <p:cNvPr id="36" name="FMI Legend Chip"/>
          <p:cNvSpPr/>
          <p:nvPr/>
        </p:nvSpPr>
        <p:spPr>
          <a:xfrm>
            <a:off x="4928997" y="2690432"/>
            <a:ext cx="85725" cy="85725"/>
          </a:xfrm>
          <a:prstGeom prst="rect">
            <a:avLst/>
          </a:prstGeom>
          <a:solidFill>
            <a:srgbClr val="B2B2B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5684" y="269043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26475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PVOH-Based</a:t>
            </a:r>
          </a:p>
        </p:txBody>
      </p:sp>
      <p:sp>
        <p:nvSpPr>
          <p:cNvPr id="39" name="BPS Value 6"/>
          <p:cNvSpPr txBox="1"/>
          <p:nvPr/>
        </p:nvSpPr>
        <p:spPr>
          <a:xfrm>
            <a:off x="6896100" y="2647569"/>
            <a:ext cx="514350" cy="171450"/>
          </a:xfrm>
          <a:prstGeom prst="rect">
            <a:avLst/>
          </a:prstGeom>
          <a:noFill/>
        </p:spPr>
        <p:txBody>
          <a:bodyPr wrap="none" lIns="0" rIns="0" tIns="0" bIns="0" anchor="ctr">
            <a:spAutoFit/>
          </a:bodyPr>
          <a:lstStyle/>
          <a:p>
            <a:pPr algn="r"/>
            <a:r>
              <a:rPr sz="900" b="1">
                <a:solidFill>
                  <a:srgbClr val="2E7D32"/>
                </a:solidFill>
                <a:latin typeface="Calibri"/>
              </a:rPr>
              <a:t>+2</a:t>
            </a:r>
          </a:p>
        </p:txBody>
      </p:sp>
      <p:sp>
        <p:nvSpPr>
          <p:cNvPr id="40" name="FMI Legend Chip"/>
          <p:cNvSpPr/>
          <p:nvPr/>
        </p:nvSpPr>
        <p:spPr>
          <a:xfrm>
            <a:off x="4928997" y="2861882"/>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5684" y="286188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28190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Metallized Barrier</a:t>
            </a:r>
          </a:p>
        </p:txBody>
      </p:sp>
      <p:sp>
        <p:nvSpPr>
          <p:cNvPr id="43" name="BPS Value 7"/>
          <p:cNvSpPr txBox="1"/>
          <p:nvPr/>
        </p:nvSpPr>
        <p:spPr>
          <a:xfrm>
            <a:off x="6896100" y="2819019"/>
            <a:ext cx="514350" cy="171450"/>
          </a:xfrm>
          <a:prstGeom prst="rect">
            <a:avLst/>
          </a:prstGeom>
          <a:noFill/>
        </p:spPr>
        <p:txBody>
          <a:bodyPr wrap="none" lIns="0" rIns="0" tIns="0" bIns="0" anchor="ctr">
            <a:spAutoFit/>
          </a:bodyPr>
          <a:lstStyle/>
          <a:p>
            <a:pPr algn="r"/>
            <a:r>
              <a:rPr sz="900" b="1">
                <a:solidFill>
                  <a:srgbClr val="E44D3A"/>
                </a:solidFill>
                <a:latin typeface="Calibri"/>
              </a:rPr>
              <a:t>-2</a:t>
            </a:r>
          </a:p>
        </p:txBody>
      </p:sp>
      <p:sp>
        <p:nvSpPr>
          <p:cNvPr id="44" name="FMI Legend Chip"/>
          <p:cNvSpPr/>
          <p:nvPr/>
        </p:nvSpPr>
        <p:spPr>
          <a:xfrm>
            <a:off x="4928997" y="303333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rot="10800000">
            <a:off x="5095684" y="303333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5233797" y="29904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PA-Based</a:t>
            </a:r>
          </a:p>
        </p:txBody>
      </p:sp>
      <p:sp>
        <p:nvSpPr>
          <p:cNvPr id="47" name="BPS Value 8"/>
          <p:cNvSpPr txBox="1"/>
          <p:nvPr/>
        </p:nvSpPr>
        <p:spPr>
          <a:xfrm>
            <a:off x="6896100" y="2990469"/>
            <a:ext cx="514350" cy="171450"/>
          </a:xfrm>
          <a:prstGeom prst="rect">
            <a:avLst/>
          </a:prstGeom>
          <a:noFill/>
        </p:spPr>
        <p:txBody>
          <a:bodyPr wrap="none" lIns="0" rIns="0" tIns="0" bIns="0" anchor="ctr">
            <a:spAutoFit/>
          </a:bodyPr>
          <a:lstStyle/>
          <a:p>
            <a:pPr algn="r"/>
            <a:r>
              <a:rPr sz="900" b="1">
                <a:solidFill>
                  <a:srgbClr val="E44D3A"/>
                </a:solidFill>
                <a:latin typeface="Calibri"/>
              </a:rPr>
              <a:t>-13</a:t>
            </a:r>
          </a:p>
        </p:txBody>
      </p:sp>
      <p:sp>
        <p:nvSpPr>
          <p:cNvPr id="48" name="FMI Legend Chip"/>
          <p:cNvSpPr/>
          <p:nvPr/>
        </p:nvSpPr>
        <p:spPr>
          <a:xfrm>
            <a:off x="4928997" y="3204782"/>
            <a:ext cx="85725" cy="85725"/>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Isosceles Triangle 48"/>
          <p:cNvSpPr/>
          <p:nvPr/>
        </p:nvSpPr>
        <p:spPr>
          <a:xfrm rot="10800000">
            <a:off x="5095684" y="320478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BPS Name 9"/>
          <p:cNvSpPr txBox="1"/>
          <p:nvPr/>
        </p:nvSpPr>
        <p:spPr>
          <a:xfrm>
            <a:off x="5233797" y="31619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Aluminum Foil-Based</a:t>
            </a:r>
          </a:p>
        </p:txBody>
      </p:sp>
      <p:sp>
        <p:nvSpPr>
          <p:cNvPr id="51" name="BPS Value 9"/>
          <p:cNvSpPr txBox="1"/>
          <p:nvPr/>
        </p:nvSpPr>
        <p:spPr>
          <a:xfrm>
            <a:off x="6896100" y="3161919"/>
            <a:ext cx="514350" cy="171450"/>
          </a:xfrm>
          <a:prstGeom prst="rect">
            <a:avLst/>
          </a:prstGeom>
          <a:noFill/>
        </p:spPr>
        <p:txBody>
          <a:bodyPr wrap="none" lIns="0" rIns="0" tIns="0" bIns="0" anchor="ctr">
            <a:spAutoFit/>
          </a:bodyPr>
          <a:lstStyle/>
          <a:p>
            <a:pPr algn="r"/>
            <a:r>
              <a:rPr sz="900" b="1">
                <a:solidFill>
                  <a:srgbClr val="E44D3A"/>
                </a:solidFill>
                <a:latin typeface="Calibri"/>
              </a:rPr>
              <a:t>-19</a:t>
            </a:r>
          </a:p>
        </p:txBody>
      </p:sp>
      <p:sp>
        <p:nvSpPr>
          <p:cNvPr id="52" name="FMI Legend Chip"/>
          <p:cNvSpPr/>
          <p:nvPr/>
        </p:nvSpPr>
        <p:spPr>
          <a:xfrm>
            <a:off x="4928997" y="337623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Isosceles Triangle 52"/>
          <p:cNvSpPr/>
          <p:nvPr/>
        </p:nvSpPr>
        <p:spPr>
          <a:xfrm rot="10800000">
            <a:off x="5095684" y="337623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BPS Name 10"/>
          <p:cNvSpPr txBox="1"/>
          <p:nvPr/>
        </p:nvSpPr>
        <p:spPr>
          <a:xfrm>
            <a:off x="5233797" y="33333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PP-Based</a:t>
            </a:r>
          </a:p>
        </p:txBody>
      </p:sp>
      <p:sp>
        <p:nvSpPr>
          <p:cNvPr id="55" name="BPS Value 10"/>
          <p:cNvSpPr txBox="1"/>
          <p:nvPr/>
        </p:nvSpPr>
        <p:spPr>
          <a:xfrm>
            <a:off x="6896100" y="3333369"/>
            <a:ext cx="514350" cy="171450"/>
          </a:xfrm>
          <a:prstGeom prst="rect">
            <a:avLst/>
          </a:prstGeom>
          <a:noFill/>
        </p:spPr>
        <p:txBody>
          <a:bodyPr wrap="none" lIns="0" rIns="0" tIns="0" bIns="0" anchor="ctr">
            <a:spAutoFit/>
          </a:bodyPr>
          <a:lstStyle/>
          <a:p>
            <a:pPr algn="r"/>
            <a:r>
              <a:rPr sz="900" b="1">
                <a:solidFill>
                  <a:srgbClr val="E44D3A"/>
                </a:solidFill>
                <a:latin typeface="Calibri"/>
              </a:rPr>
              <a:t>-29</a:t>
            </a:r>
          </a:p>
        </p:txBody>
      </p:sp>
      <p:sp>
        <p:nvSpPr>
          <p:cNvPr id="56" name="FMI Legend Chip"/>
          <p:cNvSpPr/>
          <p:nvPr/>
        </p:nvSpPr>
        <p:spPr>
          <a:xfrm>
            <a:off x="4928997" y="3547682"/>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Isosceles Triangle 56"/>
          <p:cNvSpPr/>
          <p:nvPr/>
        </p:nvSpPr>
        <p:spPr>
          <a:xfrm rot="10800000">
            <a:off x="5095684" y="354768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BPS Name 11"/>
          <p:cNvSpPr txBox="1"/>
          <p:nvPr/>
        </p:nvSpPr>
        <p:spPr>
          <a:xfrm>
            <a:off x="5233797" y="35048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PVDC-Based</a:t>
            </a:r>
          </a:p>
        </p:txBody>
      </p:sp>
      <p:sp>
        <p:nvSpPr>
          <p:cNvPr id="59" name="BPS Value 11"/>
          <p:cNvSpPr txBox="1"/>
          <p:nvPr/>
        </p:nvSpPr>
        <p:spPr>
          <a:xfrm>
            <a:off x="6896100" y="3504819"/>
            <a:ext cx="514350" cy="171450"/>
          </a:xfrm>
          <a:prstGeom prst="rect">
            <a:avLst/>
          </a:prstGeom>
          <a:noFill/>
        </p:spPr>
        <p:txBody>
          <a:bodyPr wrap="none" lIns="0" rIns="0" tIns="0" bIns="0" anchor="ctr">
            <a:spAutoFit/>
          </a:bodyPr>
          <a:lstStyle/>
          <a:p>
            <a:pPr algn="r"/>
            <a:r>
              <a:rPr sz="900" b="1">
                <a:solidFill>
                  <a:srgbClr val="E44D3A"/>
                </a:solidFill>
                <a:latin typeface="Calibri"/>
              </a:rPr>
              <a:t>-30</a:t>
            </a:r>
          </a:p>
        </p:txBody>
      </p:sp>
      <p:sp>
        <p:nvSpPr>
          <p:cNvPr id="60" name="Rounded Rectangle 59"/>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Latin America Read-out, By Principal Material / Barrier Technology</a:t>
            </a:r>
          </a:p>
        </p:txBody>
      </p:sp>
      <p:sp>
        <p:nvSpPr>
          <p:cNvPr id="62" name="Rectangle 61"/>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principal material / barrier technology, other specialty barrier technologies segment is expected to witness the highest CAGR of 7.8% over the forecast period. In terms of value share by principal material / barrier technology, the pe-based segment is expected to dominate the market, gaining 34 BPS and accounting for 30.8% share by 2036.</a:t>
            </a:r>
          </a:p>
          <a:p>
            <a:pPr algn="l">
              <a:lnSpc>
                <a:spcPct val="110000"/>
              </a:lnSpc>
              <a:spcBef>
                <a:spcPts val="0"/>
              </a:spcBef>
              <a:spcAft>
                <a:spcPts val="500"/>
              </a:spcAft>
            </a:pPr>
            <a:r>
              <a:rPr sz="1150" b="0">
                <a:solidFill>
                  <a:srgbClr val="2E2E2E"/>
                </a:solidFill>
                <a:latin typeface="Calibri"/>
              </a:rPr>
              <a:t>The pvdc-based segment is expected to lose 30 BPS over the forecast period to account for 4.9% share by 2036.</a:t>
            </a:r>
          </a:p>
          <a:p>
            <a:pPr algn="l">
              <a:lnSpc>
                <a:spcPct val="110000"/>
              </a:lnSpc>
              <a:spcBef>
                <a:spcPts val="0"/>
              </a:spcBef>
              <a:spcAft>
                <a:spcPts val="500"/>
              </a:spcAft>
            </a:pPr>
            <a:r>
              <a:rPr sz="1150" b="0">
                <a:solidFill>
                  <a:srgbClr val="2E2E2E"/>
                </a:solidFill>
                <a:latin typeface="Calibri"/>
              </a:rPr>
              <a:t>Other Specialty Barrier Technologies grows fastest at a 7.8% CAGR against 7.2% for the market because emerging recycle-compatible barrier coatings and niche high-performance solutions are scaling from a small base. The slowest part, PVDC-Based, grows at 6.5% as chlorinated barrier coatings are being phased out under recyclability pressure in favour of EVOH and coated alternatives. In Latin America, urbanisation, modern retail expansion and local converting capacity support the shift.</a:t>
            </a:r>
          </a:p>
        </p:txBody>
      </p:sp>
      <p:sp>
        <p:nvSpPr>
          <p:cNvPr id="64" name="TextBox 6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Volume, By Principal Material / Barrier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Principal Material / Barrier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Volume YoY Growth,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2457450"/>
          </a:xfrm>
          <a:prstGeom prst="roundRect">
            <a:avLst>
              <a:gd name="adj" fmla="val 31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Volume YoY Heatmap, By Principal Material / Barrier Technology (%)  ·  light = lower, dark = higher growth</a:t>
            </a:r>
          </a:p>
        </p:txBody>
      </p:sp>
      <p:sp>
        <p:nvSpPr>
          <p:cNvPr id="17" name="TextBox 16"/>
          <p:cNvSpPr txBox="1"/>
          <p:nvPr/>
        </p:nvSpPr>
        <p:spPr>
          <a:xfrm>
            <a:off x="185737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600575"/>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PE-Based</a:t>
            </a:r>
          </a:p>
        </p:txBody>
      </p:sp>
      <p:sp>
        <p:nvSpPr>
          <p:cNvPr id="33" name="Rectangle 32"/>
          <p:cNvSpPr/>
          <p:nvPr/>
        </p:nvSpPr>
        <p:spPr>
          <a:xfrm>
            <a:off x="1857375" y="4600575"/>
            <a:ext cx="643890" cy="179243"/>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600575"/>
            <a:ext cx="643890" cy="179243"/>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600575"/>
            <a:ext cx="643890" cy="179243"/>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600575"/>
            <a:ext cx="643890" cy="179243"/>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600575"/>
            <a:ext cx="643890" cy="179243"/>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600575"/>
            <a:ext cx="643890" cy="179243"/>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600575"/>
            <a:ext cx="643890" cy="179243"/>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600575"/>
            <a:ext cx="643890" cy="179243"/>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600575"/>
            <a:ext cx="643890" cy="179243"/>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600575"/>
            <a:ext cx="643890" cy="179243"/>
          </a:xfrm>
          <a:prstGeom prst="rect">
            <a:avLst/>
          </a:prstGeom>
          <a:solidFill>
            <a:srgbClr val="44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600575"/>
            <a:ext cx="643890" cy="179243"/>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600575"/>
            <a:ext cx="643890" cy="179243"/>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600575"/>
            <a:ext cx="643890" cy="179243"/>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600575"/>
            <a:ext cx="643890" cy="179243"/>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600575"/>
            <a:ext cx="643890" cy="179243"/>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779818"/>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PP-Based</a:t>
            </a:r>
          </a:p>
        </p:txBody>
      </p:sp>
      <p:sp>
        <p:nvSpPr>
          <p:cNvPr id="49" name="Rectangle 48"/>
          <p:cNvSpPr/>
          <p:nvPr/>
        </p:nvSpPr>
        <p:spPr>
          <a:xfrm>
            <a:off x="1857375" y="4779818"/>
            <a:ext cx="643890" cy="17924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779818"/>
            <a:ext cx="643890" cy="179243"/>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779818"/>
            <a:ext cx="643890" cy="179243"/>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779818"/>
            <a:ext cx="643890" cy="179243"/>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779818"/>
            <a:ext cx="643890" cy="179243"/>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779818"/>
            <a:ext cx="643890" cy="179243"/>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779818"/>
            <a:ext cx="643890" cy="179243"/>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779818"/>
            <a:ext cx="643890" cy="179243"/>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779818"/>
            <a:ext cx="643890" cy="179243"/>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779818"/>
            <a:ext cx="643890" cy="179243"/>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779818"/>
            <a:ext cx="643890" cy="179243"/>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779818"/>
            <a:ext cx="643890" cy="179243"/>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779818"/>
            <a:ext cx="643890" cy="179243"/>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779818"/>
            <a:ext cx="643890" cy="179243"/>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779818"/>
            <a:ext cx="643890" cy="179243"/>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59061"/>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PET-Based</a:t>
            </a:r>
          </a:p>
        </p:txBody>
      </p:sp>
      <p:sp>
        <p:nvSpPr>
          <p:cNvPr id="65" name="Rectangle 64"/>
          <p:cNvSpPr/>
          <p:nvPr/>
        </p:nvSpPr>
        <p:spPr>
          <a:xfrm>
            <a:off x="1857375" y="4959061"/>
            <a:ext cx="643890" cy="179243"/>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59061"/>
            <a:ext cx="643890" cy="179243"/>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59061"/>
            <a:ext cx="643890" cy="179243"/>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59061"/>
            <a:ext cx="643890" cy="179243"/>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59061"/>
            <a:ext cx="643890" cy="179243"/>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59061"/>
            <a:ext cx="643890" cy="179243"/>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59061"/>
            <a:ext cx="643890" cy="179243"/>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59061"/>
            <a:ext cx="643890" cy="179243"/>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59061"/>
            <a:ext cx="643890" cy="179243"/>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59061"/>
            <a:ext cx="643890" cy="179243"/>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59061"/>
            <a:ext cx="643890" cy="179243"/>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59061"/>
            <a:ext cx="643890" cy="179243"/>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59061"/>
            <a:ext cx="643890" cy="179243"/>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59061"/>
            <a:ext cx="643890" cy="179243"/>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59061"/>
            <a:ext cx="643890" cy="179243"/>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38305"/>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PA-Based</a:t>
            </a:r>
          </a:p>
        </p:txBody>
      </p:sp>
      <p:sp>
        <p:nvSpPr>
          <p:cNvPr id="81" name="Rectangle 80"/>
          <p:cNvSpPr/>
          <p:nvPr/>
        </p:nvSpPr>
        <p:spPr>
          <a:xfrm>
            <a:off x="1857375" y="5138305"/>
            <a:ext cx="643890" cy="179243"/>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38305"/>
            <a:ext cx="643890" cy="179243"/>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38305"/>
            <a:ext cx="643890" cy="179243"/>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38305"/>
            <a:ext cx="643890" cy="179243"/>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38305"/>
            <a:ext cx="643890" cy="179243"/>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38305"/>
            <a:ext cx="643890" cy="179243"/>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38305"/>
            <a:ext cx="643890" cy="179243"/>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38305"/>
            <a:ext cx="643890" cy="179243"/>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38305"/>
            <a:ext cx="643890" cy="179243"/>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38305"/>
            <a:ext cx="643890" cy="179243"/>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38305"/>
            <a:ext cx="643890" cy="179243"/>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38305"/>
            <a:ext cx="643890" cy="179243"/>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38305"/>
            <a:ext cx="643890" cy="179243"/>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38305"/>
            <a:ext cx="643890" cy="179243"/>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38305"/>
            <a:ext cx="643890" cy="179243"/>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17548"/>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EVOH-Based</a:t>
            </a:r>
          </a:p>
        </p:txBody>
      </p:sp>
      <p:sp>
        <p:nvSpPr>
          <p:cNvPr id="97" name="Rectangle 96"/>
          <p:cNvSpPr/>
          <p:nvPr/>
        </p:nvSpPr>
        <p:spPr>
          <a:xfrm>
            <a:off x="1857375" y="5317548"/>
            <a:ext cx="643890" cy="179243"/>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317548"/>
            <a:ext cx="643890" cy="179243"/>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317548"/>
            <a:ext cx="643890" cy="179243"/>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317548"/>
            <a:ext cx="643890" cy="179243"/>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317548"/>
            <a:ext cx="643890" cy="179243"/>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317548"/>
            <a:ext cx="643890" cy="17924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317548"/>
            <a:ext cx="643890" cy="179243"/>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317548"/>
            <a:ext cx="643890" cy="179243"/>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317548"/>
            <a:ext cx="643890" cy="179243"/>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317548"/>
            <a:ext cx="643890" cy="179243"/>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317548"/>
            <a:ext cx="643890" cy="179243"/>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317548"/>
            <a:ext cx="643890" cy="179243"/>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317548"/>
            <a:ext cx="643890" cy="179243"/>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317548"/>
            <a:ext cx="643890" cy="179243"/>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317548"/>
            <a:ext cx="643890" cy="179243"/>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496791"/>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PVDC-Based</a:t>
            </a:r>
          </a:p>
        </p:txBody>
      </p:sp>
      <p:sp>
        <p:nvSpPr>
          <p:cNvPr id="113" name="Rectangle 112"/>
          <p:cNvSpPr/>
          <p:nvPr/>
        </p:nvSpPr>
        <p:spPr>
          <a:xfrm>
            <a:off x="1857375" y="5496791"/>
            <a:ext cx="643890" cy="179243"/>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496791"/>
            <a:ext cx="643890" cy="179243"/>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496791"/>
            <a:ext cx="643890" cy="179243"/>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496791"/>
            <a:ext cx="643890" cy="179243"/>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496791"/>
            <a:ext cx="643890" cy="179243"/>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496791"/>
            <a:ext cx="643890" cy="179243"/>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496791"/>
            <a:ext cx="643890" cy="179243"/>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496791"/>
            <a:ext cx="643890" cy="179243"/>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496791"/>
            <a:ext cx="643890" cy="179243"/>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496791"/>
            <a:ext cx="643890" cy="179243"/>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496791"/>
            <a:ext cx="643890" cy="179243"/>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496791"/>
            <a:ext cx="643890" cy="179243"/>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496791"/>
            <a:ext cx="643890" cy="179243"/>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496791"/>
            <a:ext cx="643890" cy="179243"/>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496791"/>
            <a:ext cx="643890" cy="179243"/>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676034"/>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PVOH-Based</a:t>
            </a:r>
          </a:p>
        </p:txBody>
      </p:sp>
      <p:sp>
        <p:nvSpPr>
          <p:cNvPr id="129" name="Rectangle 128"/>
          <p:cNvSpPr/>
          <p:nvPr/>
        </p:nvSpPr>
        <p:spPr>
          <a:xfrm>
            <a:off x="1857375" y="5676034"/>
            <a:ext cx="643890" cy="17924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676034"/>
            <a:ext cx="643890" cy="179243"/>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676034"/>
            <a:ext cx="643890" cy="179243"/>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676034"/>
            <a:ext cx="643890" cy="179243"/>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676034"/>
            <a:ext cx="643890" cy="179243"/>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676034"/>
            <a:ext cx="643890" cy="179243"/>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676034"/>
            <a:ext cx="643890" cy="179243"/>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676034"/>
            <a:ext cx="643890" cy="179243"/>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676034"/>
            <a:ext cx="643890" cy="179243"/>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676034"/>
            <a:ext cx="643890" cy="179243"/>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676034"/>
            <a:ext cx="643890" cy="179243"/>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676034"/>
            <a:ext cx="643890" cy="179243"/>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676034"/>
            <a:ext cx="643890" cy="179243"/>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676034"/>
            <a:ext cx="643890" cy="179243"/>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676034"/>
            <a:ext cx="643890" cy="179243"/>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5855277"/>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Metallized Barrier</a:t>
            </a:r>
          </a:p>
        </p:txBody>
      </p:sp>
      <p:sp>
        <p:nvSpPr>
          <p:cNvPr id="145" name="Rectangle 144"/>
          <p:cNvSpPr/>
          <p:nvPr/>
        </p:nvSpPr>
        <p:spPr>
          <a:xfrm>
            <a:off x="1857375" y="5855277"/>
            <a:ext cx="643890" cy="179243"/>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5855277"/>
            <a:ext cx="643890" cy="179243"/>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5855277"/>
            <a:ext cx="643890" cy="179243"/>
          </a:xfrm>
          <a:prstGeom prst="rect">
            <a:avLst/>
          </a:prstGeom>
          <a:solidFill>
            <a:srgbClr val="E6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5855277"/>
            <a:ext cx="643890" cy="179243"/>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5855277"/>
            <a:ext cx="643890" cy="179243"/>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5855277"/>
            <a:ext cx="643890" cy="179243"/>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5855277"/>
            <a:ext cx="643890" cy="179243"/>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5855277"/>
            <a:ext cx="643890" cy="179243"/>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5855277"/>
            <a:ext cx="643890" cy="179243"/>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5855277"/>
            <a:ext cx="643890" cy="179243"/>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5855277"/>
            <a:ext cx="643890" cy="179243"/>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5855277"/>
            <a:ext cx="643890" cy="179243"/>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5855277"/>
            <a:ext cx="643890" cy="179243"/>
          </a:xfrm>
          <a:prstGeom prst="rect">
            <a:avLst/>
          </a:prstGeom>
          <a:solidFill>
            <a:srgbClr val="5D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5855277"/>
            <a:ext cx="643890" cy="179243"/>
          </a:xfrm>
          <a:prstGeom prst="rect">
            <a:avLst/>
          </a:prstGeom>
          <a:solidFill>
            <a:srgbClr val="71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5855277"/>
            <a:ext cx="643890" cy="179243"/>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238125" y="6034520"/>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AlOx / SiOx-Coated</a:t>
            </a:r>
          </a:p>
        </p:txBody>
      </p:sp>
      <p:sp>
        <p:nvSpPr>
          <p:cNvPr id="161" name="Rectangle 160"/>
          <p:cNvSpPr/>
          <p:nvPr/>
        </p:nvSpPr>
        <p:spPr>
          <a:xfrm>
            <a:off x="1857375" y="6034520"/>
            <a:ext cx="643890" cy="179243"/>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2501265" y="6034520"/>
            <a:ext cx="643890" cy="179243"/>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3145155" y="6034520"/>
            <a:ext cx="643890" cy="179243"/>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3789045" y="6034520"/>
            <a:ext cx="643890" cy="179243"/>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4432935" y="6034520"/>
            <a:ext cx="643890" cy="179243"/>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5076825" y="6034520"/>
            <a:ext cx="643890" cy="179243"/>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5720715" y="6034520"/>
            <a:ext cx="643890" cy="179243"/>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6364605" y="6034520"/>
            <a:ext cx="643890" cy="179243"/>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7008495" y="6034520"/>
            <a:ext cx="643890" cy="179243"/>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7652385" y="6034520"/>
            <a:ext cx="643890" cy="179243"/>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8296275" y="6034520"/>
            <a:ext cx="643890" cy="179243"/>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8940165" y="6034520"/>
            <a:ext cx="643890" cy="179243"/>
          </a:xfrm>
          <a:prstGeom prst="rect">
            <a:avLst/>
          </a:prstGeom>
          <a:solidFill>
            <a:srgbClr val="2982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9584055" y="6034520"/>
            <a:ext cx="643890" cy="179243"/>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0227945" y="6034520"/>
            <a:ext cx="643890" cy="179243"/>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0871835" y="6034520"/>
            <a:ext cx="643890" cy="179243"/>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238125" y="6213764"/>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Aluminum Foil-Based</a:t>
            </a:r>
          </a:p>
        </p:txBody>
      </p:sp>
      <p:sp>
        <p:nvSpPr>
          <p:cNvPr id="177" name="Rectangle 176"/>
          <p:cNvSpPr/>
          <p:nvPr/>
        </p:nvSpPr>
        <p:spPr>
          <a:xfrm>
            <a:off x="1857375" y="6213764"/>
            <a:ext cx="643890" cy="179243"/>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2501265" y="6213764"/>
            <a:ext cx="643890" cy="179243"/>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3145155" y="6213764"/>
            <a:ext cx="643890" cy="179243"/>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3789045" y="6213764"/>
            <a:ext cx="643890" cy="179243"/>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4432935" y="6213764"/>
            <a:ext cx="643890" cy="179243"/>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5076825" y="6213764"/>
            <a:ext cx="643890" cy="179243"/>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5720715" y="6213764"/>
            <a:ext cx="643890" cy="179243"/>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6364605" y="6213764"/>
            <a:ext cx="643890" cy="179243"/>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7008495" y="6213764"/>
            <a:ext cx="643890" cy="179243"/>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7652385" y="6213764"/>
            <a:ext cx="643890" cy="179243"/>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8296275" y="6213764"/>
            <a:ext cx="643890" cy="179243"/>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8940165" y="6213764"/>
            <a:ext cx="643890" cy="179243"/>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9584055" y="6213764"/>
            <a:ext cx="643890" cy="179243"/>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0227945" y="6213764"/>
            <a:ext cx="643890" cy="179243"/>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0871835" y="6213764"/>
            <a:ext cx="643890" cy="179243"/>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238125" y="6393007"/>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Other Specialty Barrier Technologies</a:t>
            </a:r>
          </a:p>
        </p:txBody>
      </p:sp>
      <p:sp>
        <p:nvSpPr>
          <p:cNvPr id="193" name="Rectangle 192"/>
          <p:cNvSpPr/>
          <p:nvPr/>
        </p:nvSpPr>
        <p:spPr>
          <a:xfrm>
            <a:off x="1857375" y="6393007"/>
            <a:ext cx="643890" cy="179243"/>
          </a:xfrm>
          <a:prstGeom prst="rect">
            <a:avLst/>
          </a:prstGeom>
          <a:solidFill>
            <a:srgbClr val="B0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2501265" y="6393007"/>
            <a:ext cx="643890" cy="179243"/>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3145155" y="6393007"/>
            <a:ext cx="643890" cy="179243"/>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3789045" y="6393007"/>
            <a:ext cx="643890" cy="17924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4432935" y="6393007"/>
            <a:ext cx="643890" cy="179243"/>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5076825" y="6393007"/>
            <a:ext cx="643890" cy="179243"/>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5720715" y="6393007"/>
            <a:ext cx="643890" cy="179243"/>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6364605" y="6393007"/>
            <a:ext cx="643890" cy="179243"/>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7008495" y="6393007"/>
            <a:ext cx="643890" cy="179243"/>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7652385" y="6393007"/>
            <a:ext cx="643890" cy="179243"/>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8296275" y="6393007"/>
            <a:ext cx="643890" cy="179243"/>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Rectangle 203"/>
          <p:cNvSpPr/>
          <p:nvPr/>
        </p:nvSpPr>
        <p:spPr>
          <a:xfrm>
            <a:off x="8940165" y="6393007"/>
            <a:ext cx="643890" cy="17924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9584055" y="6393007"/>
            <a:ext cx="643890" cy="179243"/>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10227945" y="6393007"/>
            <a:ext cx="643890" cy="179243"/>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10871835" y="6393007"/>
            <a:ext cx="643890" cy="179243"/>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11572875" y="4638675"/>
            <a:ext cx="104775" cy="55007"/>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11572875" y="4686062"/>
            <a:ext cx="104775" cy="55007"/>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11572875" y="4733449"/>
            <a:ext cx="104775" cy="55007"/>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11572875" y="4780836"/>
            <a:ext cx="104775" cy="55007"/>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11572875" y="4828222"/>
            <a:ext cx="104775" cy="55007"/>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11572875" y="4875609"/>
            <a:ext cx="104775" cy="55007"/>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11572875" y="4922996"/>
            <a:ext cx="104775" cy="55007"/>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11572875" y="4970383"/>
            <a:ext cx="104775" cy="55007"/>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11572875" y="5017770"/>
            <a:ext cx="104775" cy="55007"/>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1572875" y="5065157"/>
            <a:ext cx="104775" cy="55007"/>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1572875" y="5112544"/>
            <a:ext cx="104775" cy="55007"/>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5159931"/>
            <a:ext cx="104775" cy="55007"/>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5207318"/>
            <a:ext cx="104775" cy="55007"/>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5254704"/>
            <a:ext cx="104775" cy="55007"/>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5302091"/>
            <a:ext cx="104775" cy="55007"/>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5349478"/>
            <a:ext cx="104775" cy="55007"/>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5396865"/>
            <a:ext cx="104775" cy="55007"/>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5444252"/>
            <a:ext cx="104775" cy="55007"/>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5491639"/>
            <a:ext cx="104775" cy="55007"/>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5539026"/>
            <a:ext cx="104775" cy="55007"/>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5586412"/>
            <a:ext cx="104775" cy="55007"/>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5633799"/>
            <a:ext cx="104775" cy="55007"/>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5681186"/>
            <a:ext cx="104775" cy="55007"/>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5728573"/>
            <a:ext cx="104775" cy="55007"/>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5775960"/>
            <a:ext cx="104775" cy="55007"/>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5823347"/>
            <a:ext cx="104775" cy="55007"/>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5870734"/>
            <a:ext cx="104775" cy="55007"/>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5918121"/>
            <a:ext cx="104775" cy="55007"/>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5965508"/>
            <a:ext cx="104775" cy="55007"/>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6012894"/>
            <a:ext cx="104775" cy="55007"/>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6060281"/>
            <a:ext cx="104775" cy="55007"/>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6107668"/>
            <a:ext cx="104775" cy="55007"/>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6155055"/>
            <a:ext cx="104775" cy="55007"/>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6202442"/>
            <a:ext cx="104775" cy="55007"/>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6249829"/>
            <a:ext cx="104775" cy="55007"/>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6297216"/>
            <a:ext cx="104775" cy="55007"/>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6344602"/>
            <a:ext cx="104775" cy="55007"/>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6391989"/>
            <a:ext cx="104775" cy="55007"/>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6439376"/>
            <a:ext cx="104775" cy="55007"/>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6486763"/>
            <a:ext cx="104775" cy="55007"/>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4638675"/>
            <a:ext cx="104775" cy="18954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TextBox 248"/>
          <p:cNvSpPr txBox="1"/>
          <p:nvPr/>
        </p:nvSpPr>
        <p:spPr>
          <a:xfrm>
            <a:off x="11687175" y="45720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50" name="TextBox 249"/>
          <p:cNvSpPr txBox="1"/>
          <p:nvPr/>
        </p:nvSpPr>
        <p:spPr>
          <a:xfrm>
            <a:off x="11687175" y="5519738"/>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251" name="TextBox 25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52" name="TextBox 2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Principal Material / Barrier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Principal Material / Barrier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Growth,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2457450"/>
          </a:xfrm>
          <a:prstGeom prst="roundRect">
            <a:avLst>
              <a:gd name="adj" fmla="val 31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Heatmap, By Principal Material / Barrier Technology (%)  ·  light = lower, dark = higher growth</a:t>
            </a:r>
          </a:p>
        </p:txBody>
      </p:sp>
      <p:sp>
        <p:nvSpPr>
          <p:cNvPr id="17" name="TextBox 16"/>
          <p:cNvSpPr txBox="1"/>
          <p:nvPr/>
        </p:nvSpPr>
        <p:spPr>
          <a:xfrm>
            <a:off x="185737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600575"/>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PE-Based</a:t>
            </a:r>
          </a:p>
        </p:txBody>
      </p:sp>
      <p:sp>
        <p:nvSpPr>
          <p:cNvPr id="33" name="Rectangle 32"/>
          <p:cNvSpPr/>
          <p:nvPr/>
        </p:nvSpPr>
        <p:spPr>
          <a:xfrm>
            <a:off x="1857375" y="4600575"/>
            <a:ext cx="643890" cy="179243"/>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600575"/>
            <a:ext cx="643890" cy="179243"/>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600575"/>
            <a:ext cx="643890" cy="179243"/>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600575"/>
            <a:ext cx="643890" cy="179243"/>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600575"/>
            <a:ext cx="643890" cy="179243"/>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600575"/>
            <a:ext cx="643890" cy="179243"/>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600575"/>
            <a:ext cx="643890" cy="179243"/>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600575"/>
            <a:ext cx="643890" cy="179243"/>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600575"/>
            <a:ext cx="643890" cy="179243"/>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600575"/>
            <a:ext cx="643890" cy="179243"/>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600575"/>
            <a:ext cx="643890" cy="179243"/>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600575"/>
            <a:ext cx="643890" cy="179243"/>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600575"/>
            <a:ext cx="643890" cy="179243"/>
          </a:xfrm>
          <a:prstGeom prst="rect">
            <a:avLst/>
          </a:prstGeom>
          <a:solidFill>
            <a:srgbClr val="2E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600575"/>
            <a:ext cx="643890" cy="179243"/>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600575"/>
            <a:ext cx="643890" cy="179243"/>
          </a:xfrm>
          <a:prstGeom prst="rect">
            <a:avLst/>
          </a:prstGeom>
          <a:solidFill>
            <a:srgbClr val="36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779818"/>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PP-Based</a:t>
            </a:r>
          </a:p>
        </p:txBody>
      </p:sp>
      <p:sp>
        <p:nvSpPr>
          <p:cNvPr id="49" name="Rectangle 48"/>
          <p:cNvSpPr/>
          <p:nvPr/>
        </p:nvSpPr>
        <p:spPr>
          <a:xfrm>
            <a:off x="1857375" y="4779818"/>
            <a:ext cx="643890" cy="17924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779818"/>
            <a:ext cx="643890" cy="17924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779818"/>
            <a:ext cx="643890" cy="179243"/>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779818"/>
            <a:ext cx="643890" cy="179243"/>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779818"/>
            <a:ext cx="643890" cy="179243"/>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779818"/>
            <a:ext cx="643890" cy="179243"/>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779818"/>
            <a:ext cx="643890" cy="179243"/>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779818"/>
            <a:ext cx="643890" cy="179243"/>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779818"/>
            <a:ext cx="643890" cy="179243"/>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779818"/>
            <a:ext cx="643890" cy="179243"/>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779818"/>
            <a:ext cx="643890" cy="179243"/>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779818"/>
            <a:ext cx="643890" cy="179243"/>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779818"/>
            <a:ext cx="643890" cy="179243"/>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779818"/>
            <a:ext cx="643890" cy="179243"/>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779818"/>
            <a:ext cx="643890" cy="179243"/>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59061"/>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PET-Based</a:t>
            </a:r>
          </a:p>
        </p:txBody>
      </p:sp>
      <p:sp>
        <p:nvSpPr>
          <p:cNvPr id="65" name="Rectangle 64"/>
          <p:cNvSpPr/>
          <p:nvPr/>
        </p:nvSpPr>
        <p:spPr>
          <a:xfrm>
            <a:off x="1857375" y="4959061"/>
            <a:ext cx="643890" cy="179243"/>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59061"/>
            <a:ext cx="643890" cy="179243"/>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59061"/>
            <a:ext cx="643890" cy="179243"/>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59061"/>
            <a:ext cx="643890" cy="179243"/>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59061"/>
            <a:ext cx="643890" cy="179243"/>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59061"/>
            <a:ext cx="643890" cy="179243"/>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59061"/>
            <a:ext cx="643890" cy="179243"/>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59061"/>
            <a:ext cx="643890" cy="179243"/>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59061"/>
            <a:ext cx="643890" cy="179243"/>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59061"/>
            <a:ext cx="643890" cy="179243"/>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59061"/>
            <a:ext cx="643890" cy="179243"/>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59061"/>
            <a:ext cx="643890" cy="179243"/>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59061"/>
            <a:ext cx="643890" cy="179243"/>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59061"/>
            <a:ext cx="643890" cy="179243"/>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59061"/>
            <a:ext cx="643890" cy="179243"/>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38305"/>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PA-Based</a:t>
            </a:r>
          </a:p>
        </p:txBody>
      </p:sp>
      <p:sp>
        <p:nvSpPr>
          <p:cNvPr id="81" name="Rectangle 80"/>
          <p:cNvSpPr/>
          <p:nvPr/>
        </p:nvSpPr>
        <p:spPr>
          <a:xfrm>
            <a:off x="1857375" y="5138305"/>
            <a:ext cx="643890" cy="179243"/>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38305"/>
            <a:ext cx="643890" cy="17924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38305"/>
            <a:ext cx="643890" cy="179243"/>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38305"/>
            <a:ext cx="643890" cy="179243"/>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38305"/>
            <a:ext cx="643890" cy="179243"/>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38305"/>
            <a:ext cx="643890" cy="179243"/>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38305"/>
            <a:ext cx="643890" cy="179243"/>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38305"/>
            <a:ext cx="643890" cy="179243"/>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38305"/>
            <a:ext cx="643890" cy="179243"/>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38305"/>
            <a:ext cx="643890" cy="179243"/>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38305"/>
            <a:ext cx="643890" cy="179243"/>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38305"/>
            <a:ext cx="643890" cy="179243"/>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38305"/>
            <a:ext cx="643890" cy="179243"/>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38305"/>
            <a:ext cx="643890" cy="179243"/>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38305"/>
            <a:ext cx="643890" cy="179243"/>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17548"/>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EVOH-Based</a:t>
            </a:r>
          </a:p>
        </p:txBody>
      </p:sp>
      <p:sp>
        <p:nvSpPr>
          <p:cNvPr id="97" name="Rectangle 96"/>
          <p:cNvSpPr/>
          <p:nvPr/>
        </p:nvSpPr>
        <p:spPr>
          <a:xfrm>
            <a:off x="1857375" y="5317548"/>
            <a:ext cx="643890" cy="179243"/>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317548"/>
            <a:ext cx="643890" cy="179243"/>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317548"/>
            <a:ext cx="643890" cy="179243"/>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317548"/>
            <a:ext cx="643890" cy="179243"/>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317548"/>
            <a:ext cx="643890" cy="179243"/>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317548"/>
            <a:ext cx="643890" cy="179243"/>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317548"/>
            <a:ext cx="643890" cy="179243"/>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317548"/>
            <a:ext cx="643890" cy="179243"/>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317548"/>
            <a:ext cx="643890" cy="179243"/>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317548"/>
            <a:ext cx="643890" cy="179243"/>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317548"/>
            <a:ext cx="643890" cy="179243"/>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317548"/>
            <a:ext cx="643890" cy="179243"/>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317548"/>
            <a:ext cx="643890" cy="179243"/>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317548"/>
            <a:ext cx="643890" cy="179243"/>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317548"/>
            <a:ext cx="643890" cy="179243"/>
          </a:xfrm>
          <a:prstGeom prst="rect">
            <a:avLst/>
          </a:prstGeom>
          <a:solidFill>
            <a:srgbClr val="32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496791"/>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PVDC-Based</a:t>
            </a:r>
          </a:p>
        </p:txBody>
      </p:sp>
      <p:sp>
        <p:nvSpPr>
          <p:cNvPr id="113" name="Rectangle 112"/>
          <p:cNvSpPr/>
          <p:nvPr/>
        </p:nvSpPr>
        <p:spPr>
          <a:xfrm>
            <a:off x="1857375" y="5496791"/>
            <a:ext cx="643890" cy="179243"/>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496791"/>
            <a:ext cx="643890" cy="179243"/>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496791"/>
            <a:ext cx="643890" cy="179243"/>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496791"/>
            <a:ext cx="643890" cy="179243"/>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496791"/>
            <a:ext cx="643890" cy="179243"/>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496791"/>
            <a:ext cx="643890" cy="179243"/>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496791"/>
            <a:ext cx="643890" cy="179243"/>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496791"/>
            <a:ext cx="643890" cy="179243"/>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496791"/>
            <a:ext cx="643890" cy="179243"/>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496791"/>
            <a:ext cx="643890" cy="179243"/>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496791"/>
            <a:ext cx="643890" cy="179243"/>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496791"/>
            <a:ext cx="643890" cy="179243"/>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496791"/>
            <a:ext cx="643890" cy="179243"/>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496791"/>
            <a:ext cx="643890" cy="179243"/>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496791"/>
            <a:ext cx="643890" cy="179243"/>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676034"/>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PVOH-Based</a:t>
            </a:r>
          </a:p>
        </p:txBody>
      </p:sp>
      <p:sp>
        <p:nvSpPr>
          <p:cNvPr id="129" name="Rectangle 128"/>
          <p:cNvSpPr/>
          <p:nvPr/>
        </p:nvSpPr>
        <p:spPr>
          <a:xfrm>
            <a:off x="1857375" y="5676034"/>
            <a:ext cx="643890" cy="179243"/>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676034"/>
            <a:ext cx="643890" cy="179243"/>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676034"/>
            <a:ext cx="643890" cy="179243"/>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676034"/>
            <a:ext cx="643890" cy="179243"/>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676034"/>
            <a:ext cx="643890" cy="179243"/>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676034"/>
            <a:ext cx="643890" cy="179243"/>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676034"/>
            <a:ext cx="643890" cy="179243"/>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676034"/>
            <a:ext cx="643890" cy="179243"/>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676034"/>
            <a:ext cx="643890" cy="179243"/>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676034"/>
            <a:ext cx="643890" cy="179243"/>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676034"/>
            <a:ext cx="643890" cy="179243"/>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676034"/>
            <a:ext cx="643890" cy="179243"/>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676034"/>
            <a:ext cx="643890" cy="179243"/>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676034"/>
            <a:ext cx="643890" cy="179243"/>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676034"/>
            <a:ext cx="643890" cy="179243"/>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5855277"/>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Metallized Barrier</a:t>
            </a:r>
          </a:p>
        </p:txBody>
      </p:sp>
      <p:sp>
        <p:nvSpPr>
          <p:cNvPr id="145" name="Rectangle 144"/>
          <p:cNvSpPr/>
          <p:nvPr/>
        </p:nvSpPr>
        <p:spPr>
          <a:xfrm>
            <a:off x="1857375" y="5855277"/>
            <a:ext cx="643890" cy="179243"/>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5855277"/>
            <a:ext cx="643890" cy="179243"/>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5855277"/>
            <a:ext cx="643890" cy="179243"/>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5855277"/>
            <a:ext cx="643890" cy="179243"/>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5855277"/>
            <a:ext cx="643890" cy="179243"/>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5855277"/>
            <a:ext cx="643890" cy="179243"/>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5855277"/>
            <a:ext cx="643890" cy="179243"/>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5855277"/>
            <a:ext cx="643890" cy="179243"/>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5855277"/>
            <a:ext cx="643890" cy="179243"/>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5855277"/>
            <a:ext cx="643890" cy="179243"/>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5855277"/>
            <a:ext cx="643890" cy="179243"/>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5855277"/>
            <a:ext cx="643890" cy="179243"/>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5855277"/>
            <a:ext cx="643890" cy="179243"/>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5855277"/>
            <a:ext cx="643890" cy="179243"/>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5855277"/>
            <a:ext cx="643890" cy="179243"/>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238125" y="6034520"/>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AlOx / SiOx-Coated</a:t>
            </a:r>
          </a:p>
        </p:txBody>
      </p:sp>
      <p:sp>
        <p:nvSpPr>
          <p:cNvPr id="161" name="Rectangle 160"/>
          <p:cNvSpPr/>
          <p:nvPr/>
        </p:nvSpPr>
        <p:spPr>
          <a:xfrm>
            <a:off x="1857375" y="6034520"/>
            <a:ext cx="643890" cy="179243"/>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2501265" y="6034520"/>
            <a:ext cx="643890" cy="179243"/>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3145155" y="6034520"/>
            <a:ext cx="643890" cy="179243"/>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3789045" y="6034520"/>
            <a:ext cx="643890" cy="17924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4432935" y="6034520"/>
            <a:ext cx="643890" cy="179243"/>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5076825" y="6034520"/>
            <a:ext cx="643890" cy="179243"/>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5720715" y="6034520"/>
            <a:ext cx="643890" cy="179243"/>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6364605" y="6034520"/>
            <a:ext cx="643890" cy="179243"/>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7008495" y="6034520"/>
            <a:ext cx="643890" cy="179243"/>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7652385" y="6034520"/>
            <a:ext cx="643890" cy="179243"/>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8296275" y="6034520"/>
            <a:ext cx="643890" cy="179243"/>
          </a:xfrm>
          <a:prstGeom prst="rect">
            <a:avLst/>
          </a:prstGeom>
          <a:solidFill>
            <a:srgbClr val="1E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8940165" y="6034520"/>
            <a:ext cx="643890" cy="179243"/>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9584055" y="6034520"/>
            <a:ext cx="643890" cy="179243"/>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0227945" y="6034520"/>
            <a:ext cx="643890" cy="179243"/>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0871835" y="6034520"/>
            <a:ext cx="643890" cy="179243"/>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238125" y="6213764"/>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Aluminum Foil-Based</a:t>
            </a:r>
          </a:p>
        </p:txBody>
      </p:sp>
      <p:sp>
        <p:nvSpPr>
          <p:cNvPr id="177" name="Rectangle 176"/>
          <p:cNvSpPr/>
          <p:nvPr/>
        </p:nvSpPr>
        <p:spPr>
          <a:xfrm>
            <a:off x="1857375" y="6213764"/>
            <a:ext cx="643890" cy="179243"/>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2501265" y="6213764"/>
            <a:ext cx="643890" cy="179243"/>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3145155" y="6213764"/>
            <a:ext cx="643890" cy="179243"/>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3789045" y="6213764"/>
            <a:ext cx="643890" cy="179243"/>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4432935" y="6213764"/>
            <a:ext cx="643890" cy="179243"/>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5076825" y="6213764"/>
            <a:ext cx="643890" cy="179243"/>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5720715" y="6213764"/>
            <a:ext cx="643890" cy="179243"/>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6364605" y="6213764"/>
            <a:ext cx="643890" cy="179243"/>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7008495" y="6213764"/>
            <a:ext cx="643890" cy="179243"/>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7652385" y="6213764"/>
            <a:ext cx="643890" cy="179243"/>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8296275" y="6213764"/>
            <a:ext cx="643890" cy="179243"/>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8940165" y="6213764"/>
            <a:ext cx="643890" cy="179243"/>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9584055" y="6213764"/>
            <a:ext cx="643890" cy="179243"/>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0227945" y="6213764"/>
            <a:ext cx="643890" cy="179243"/>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0871835" y="6213764"/>
            <a:ext cx="643890" cy="179243"/>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238125" y="6393007"/>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Other Specialty Barrier Technologies</a:t>
            </a:r>
          </a:p>
        </p:txBody>
      </p:sp>
      <p:sp>
        <p:nvSpPr>
          <p:cNvPr id="193" name="Rectangle 192"/>
          <p:cNvSpPr/>
          <p:nvPr/>
        </p:nvSpPr>
        <p:spPr>
          <a:xfrm>
            <a:off x="1857375" y="6393007"/>
            <a:ext cx="643890" cy="179243"/>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2501265" y="6393007"/>
            <a:ext cx="643890" cy="179243"/>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3145155" y="6393007"/>
            <a:ext cx="643890" cy="179243"/>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3789045" y="6393007"/>
            <a:ext cx="643890" cy="179243"/>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4432935" y="6393007"/>
            <a:ext cx="643890" cy="179243"/>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5076825" y="6393007"/>
            <a:ext cx="643890" cy="179243"/>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5720715" y="6393007"/>
            <a:ext cx="643890" cy="179243"/>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6364605" y="6393007"/>
            <a:ext cx="643890" cy="179243"/>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7008495" y="6393007"/>
            <a:ext cx="643890" cy="17924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7652385" y="6393007"/>
            <a:ext cx="643890" cy="179243"/>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8296275" y="6393007"/>
            <a:ext cx="643890" cy="179243"/>
          </a:xfrm>
          <a:prstGeom prst="rect">
            <a:avLst/>
          </a:prstGeom>
          <a:solidFill>
            <a:srgbClr val="0D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Rectangle 203"/>
          <p:cNvSpPr/>
          <p:nvPr/>
        </p:nvSpPr>
        <p:spPr>
          <a:xfrm>
            <a:off x="8940165" y="6393007"/>
            <a:ext cx="643890" cy="179243"/>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9584055" y="6393007"/>
            <a:ext cx="643890" cy="17924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10227945" y="6393007"/>
            <a:ext cx="643890" cy="179243"/>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10871835" y="6393007"/>
            <a:ext cx="643890" cy="179243"/>
          </a:xfrm>
          <a:prstGeom prst="rect">
            <a:avLst/>
          </a:prstGeom>
          <a:solidFill>
            <a:srgbClr val="0C3F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11572875" y="4638675"/>
            <a:ext cx="104775" cy="55007"/>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11572875" y="4686062"/>
            <a:ext cx="104775" cy="55007"/>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11572875" y="4733449"/>
            <a:ext cx="104775" cy="55007"/>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11572875" y="4780836"/>
            <a:ext cx="104775" cy="55007"/>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11572875" y="4828222"/>
            <a:ext cx="104775" cy="55007"/>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11572875" y="4875609"/>
            <a:ext cx="104775" cy="55007"/>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11572875" y="4922996"/>
            <a:ext cx="104775" cy="55007"/>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11572875" y="4970383"/>
            <a:ext cx="104775" cy="55007"/>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11572875" y="5017770"/>
            <a:ext cx="104775" cy="55007"/>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1572875" y="5065157"/>
            <a:ext cx="104775" cy="55007"/>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1572875" y="5112544"/>
            <a:ext cx="104775" cy="55007"/>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5159931"/>
            <a:ext cx="104775" cy="55007"/>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5207318"/>
            <a:ext cx="104775" cy="55007"/>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5254704"/>
            <a:ext cx="104775" cy="55007"/>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5302091"/>
            <a:ext cx="104775" cy="55007"/>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5349478"/>
            <a:ext cx="104775" cy="55007"/>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5396865"/>
            <a:ext cx="104775" cy="55007"/>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5444252"/>
            <a:ext cx="104775" cy="55007"/>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5491639"/>
            <a:ext cx="104775" cy="55007"/>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5539026"/>
            <a:ext cx="104775" cy="55007"/>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5586412"/>
            <a:ext cx="104775" cy="55007"/>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5633799"/>
            <a:ext cx="104775" cy="55007"/>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5681186"/>
            <a:ext cx="104775" cy="55007"/>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5728573"/>
            <a:ext cx="104775" cy="55007"/>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5775960"/>
            <a:ext cx="104775" cy="55007"/>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5823347"/>
            <a:ext cx="104775" cy="55007"/>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5870734"/>
            <a:ext cx="104775" cy="55007"/>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5918121"/>
            <a:ext cx="104775" cy="55007"/>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5965508"/>
            <a:ext cx="104775" cy="55007"/>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6012894"/>
            <a:ext cx="104775" cy="55007"/>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6060281"/>
            <a:ext cx="104775" cy="55007"/>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6107668"/>
            <a:ext cx="104775" cy="55007"/>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6155055"/>
            <a:ext cx="104775" cy="55007"/>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6202442"/>
            <a:ext cx="104775" cy="55007"/>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6249829"/>
            <a:ext cx="104775" cy="55007"/>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6297216"/>
            <a:ext cx="104775" cy="55007"/>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6344602"/>
            <a:ext cx="104775" cy="55007"/>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6391989"/>
            <a:ext cx="104775" cy="55007"/>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6439376"/>
            <a:ext cx="104775" cy="55007"/>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6486763"/>
            <a:ext cx="104775" cy="55007"/>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4638675"/>
            <a:ext cx="104775" cy="18954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TextBox 248"/>
          <p:cNvSpPr txBox="1"/>
          <p:nvPr/>
        </p:nvSpPr>
        <p:spPr>
          <a:xfrm>
            <a:off x="11687175" y="4572000"/>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250" name="TextBox 249"/>
          <p:cNvSpPr txBox="1"/>
          <p:nvPr/>
        </p:nvSpPr>
        <p:spPr>
          <a:xfrm>
            <a:off x="11687175" y="5519738"/>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51" name="TextBox 25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52" name="TextBox 2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Material Structure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Structure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Material Structure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Material Structure,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Material Structure segment categorizes the market by material structure.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Coextruded Multilayer Films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2,410</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4,740</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7.0%</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Laminated Films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2,031</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4,018</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7.1%</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Monolayer Films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1,390</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2,839</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7.4%</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Mono-Material Recyclable Structur…</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685.7</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1,457</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7.8%</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material structure, mono-material recyclable structures segment is expected to witness the highest CAGR of 7.8% over the forecast period. In terms of value share by material structure, the coextruded multilayer films segment is expected to dominate the market, losing 43 BPS and accounting for 28.5%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Coextruded multilayer films segment is projected to register 1.2X higher value than laminated films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Coextruded Multilayer Films: </a:t>
            </a:r>
            <a:r>
              <a:rPr sz="1100" b="0">
                <a:solidFill>
                  <a:srgbClr val="2E2E2E"/>
                </a:solidFill>
                <a:latin typeface="Calibri"/>
              </a:rPr>
              <a:t>29% of 2026 value · 7.0%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Laminated Films: </a:t>
            </a:r>
            <a:r>
              <a:rPr sz="1100" b="0">
                <a:solidFill>
                  <a:srgbClr val="2E2E2E"/>
                </a:solidFill>
                <a:latin typeface="Calibri"/>
              </a:rPr>
              <a:t>24% of 2026 value · 7.1%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Monolayer Films: </a:t>
            </a:r>
            <a:r>
              <a:rPr sz="1100" b="0">
                <a:solidFill>
                  <a:srgbClr val="2E2E2E"/>
                </a:solidFill>
                <a:latin typeface="Calibri"/>
              </a:rPr>
              <a:t>17% of 2026 value · 7.4%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Mono-Material Recyclable Structures: </a:t>
            </a:r>
            <a:r>
              <a:rPr sz="1100" b="0">
                <a:solidFill>
                  <a:srgbClr val="2E2E2E"/>
                </a:solidFill>
                <a:latin typeface="Calibri"/>
              </a:rPr>
              <a:t>8% of 2026 value · 7.8%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Material Structure split shows how demand is distributed across material structure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Material Structure segment is projected to grow at a CAGR of 7.2%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Material Structure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Material Structure,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Material Structure segment categorizes the market by material structure.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Foil-Laminated Structures</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647.2</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1,282</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7.1%</a:t>
            </a:r>
          </a:p>
        </p:txBody>
      </p:sp>
      <p:sp>
        <p:nvSpPr>
          <p:cNvPr id="25" name="Oval 24"/>
          <p:cNvSpPr/>
          <p:nvPr/>
        </p:nvSpPr>
        <p:spPr>
          <a:xfrm>
            <a:off x="333375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523875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Metallized Films</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620.1</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1,206</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6.9%</a:t>
            </a:r>
          </a:p>
        </p:txBody>
      </p:sp>
      <p:sp>
        <p:nvSpPr>
          <p:cNvPr id="32" name="Oval 31"/>
          <p:cNvSpPr/>
          <p:nvPr/>
        </p:nvSpPr>
        <p:spPr>
          <a:xfrm>
            <a:off x="670560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8610600" y="1773916"/>
            <a:ext cx="3257550"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Coated Films</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541.0</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1,076</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7.1%</a:t>
            </a:r>
          </a:p>
        </p:txBody>
      </p:sp>
      <p:sp>
        <p:nvSpPr>
          <p:cNvPr id="39" name="Oval 38"/>
          <p:cNvSpPr/>
          <p:nvPr/>
        </p:nvSpPr>
        <p:spPr>
          <a:xfrm>
            <a:off x="10077450"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Foil-Laminated Structures: </a:t>
            </a:r>
            <a:r>
              <a:rPr sz="1100" b="0">
                <a:solidFill>
                  <a:srgbClr val="2E2E2E"/>
                </a:solidFill>
                <a:latin typeface="Calibri"/>
              </a:rPr>
              <a:t>8% of 2026 value · 7.1%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Metallized Films: </a:t>
            </a:r>
            <a:r>
              <a:rPr sz="1100" b="0">
                <a:solidFill>
                  <a:srgbClr val="2E2E2E"/>
                </a:solidFill>
                <a:latin typeface="Calibri"/>
              </a:rPr>
              <a:t>7% of 2026 value · 6.9%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Coated Films: </a:t>
            </a:r>
            <a:r>
              <a:rPr sz="1100" b="0">
                <a:solidFill>
                  <a:srgbClr val="2E2E2E"/>
                </a:solidFill>
                <a:latin typeface="Calibri"/>
              </a:rPr>
              <a:t>6% of 2026 value · 7.1% CAGR serves a niche.</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Structure &amp; Attractiveness, By Material Structure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Material Structure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Material Structure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Coextruded multilayer films followed by laminated films are expected to be the two most attractive material structure segments in the Latin America flexible plastic packaging market in terms of value over the forecast period. Coextruded multilayer films and laminated films exhibit a CAGR index of 98 and 99 and a market share index of 203 and 171 respectively, against the segment average of 100. The coated films segment is expected to be less attractive as compared to other segments over the forecast period, owing to its lower CAGR and incremental opportunity. Mono-Material Recyclable Structures rank most attractive with the fastest growth at 7.8% and a share rising 53 BPS to 8.8%. Multinational food and beverage brands operating in the region are rolling out recyclable packaging targets, and emerging regulation is following. Coextruded Multilayer Films remain the largest pool at 29.0%, but they lose 43 BPS as 7.0% growth trails the market.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Material Structure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Monolayer Films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Coextruded Multilayer Films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Laminated Films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Coated Films</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Material Structure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Metallized Films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Foil-Laminated Structures</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Mono-Material Recyclable Structures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Latin America Absolute $ Opportunity Analysis, By Material Structure</a:t>
            </a:r>
          </a:p>
        </p:txBody>
      </p:sp>
      <p:sp>
        <p:nvSpPr>
          <p:cNvPr id="21" name="Rectangle 20"/>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276725"/>
            <a:ext cx="5610225" cy="226695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By 2036, coextruded multilayer films segment is anticipated to witness an increase of 2.0X in terms of value as compared to 2026. The coextruded multilayer films segment is expected to create an incremental opportunity of US$ 2,330 Mn for the overall flexible plastic packaging market from 2026 to 2036.</a:t>
            </a:r>
          </a:p>
          <a:p>
            <a:pPr algn="l">
              <a:lnSpc>
                <a:spcPct val="100000"/>
              </a:lnSpc>
              <a:spcBef>
                <a:spcPts val="0"/>
              </a:spcBef>
              <a:spcAft>
                <a:spcPts val="300"/>
              </a:spcAft>
            </a:pPr>
            <a:r>
              <a:rPr sz="1100" b="0">
                <a:solidFill>
                  <a:srgbClr val="2E2E2E"/>
                </a:solidFill>
                <a:latin typeface="Calibri"/>
              </a:rPr>
              <a:t>The laminated films segment is expected to create an incremental opportunity of US$ 1,988 Mn for the overall flexible plastic packaging market from 2026 to 2036. The monolayer films segment is expected to create an incremental opportunity of US$ 1,449 Mn for the overall flexible plastic packaging market from 2026 to 2036.</a:t>
            </a:r>
          </a:p>
          <a:p>
            <a:pPr algn="l">
              <a:lnSpc>
                <a:spcPct val="100000"/>
              </a:lnSpc>
              <a:spcBef>
                <a:spcPts val="0"/>
              </a:spcBef>
              <a:spcAft>
                <a:spcPts val="300"/>
              </a:spcAft>
            </a:pPr>
            <a:r>
              <a:rPr sz="1100" b="0">
                <a:solidFill>
                  <a:srgbClr val="2E2E2E"/>
                </a:solidFill>
                <a:latin typeface="Calibri"/>
              </a:rPr>
              <a:t>Coextruded Multilayer Films and Laminated Films add the most value because they carry the largest bases, 29.0% and 24.4%, and grow at 7.0% and 7.1%. Multi-layer barrier structures remain the workhorse for protein, snack and dairy packs, while urbanisation, retail modernisation and rising packaged-food consumption lift Mono-Material Recyclable Structures at the fastest rate from a smaller base.</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Volume Analysis, By Material Structure (Thousand MT)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Structure,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Volume, By Material Structure (Thousand MT)</a:t>
            </a:r>
          </a:p>
        </p:txBody>
      </p:sp>
      <p:graphicFrame>
        <p:nvGraphicFramePr>
          <p:cNvPr id="13" name="Table 12"/>
          <p:cNvGraphicFramePr>
            <a:graphicFrameLocks noGrp="1"/>
          </p:cNvGraphicFramePr>
          <p:nvPr/>
        </p:nvGraphicFramePr>
        <p:xfrm>
          <a:off x="152400" y="1238250"/>
          <a:ext cx="11887208" cy="2590803"/>
        </p:xfrm>
        <a:graphic>
          <a:graphicData uri="http://schemas.openxmlformats.org/drawingml/2006/table">
            <a:tbl>
              <a:tblPr>
                <a:tableStyleId>{5C22544A-7EE6-4342-B048-85BDC9FD1C3A}</a:tableStyleId>
              </a:tblPr>
              <a:tblGrid>
                <a:gridCol w="1914770"/>
                <a:gridCol w="586614"/>
                <a:gridCol w="586614"/>
                <a:gridCol w="586614"/>
                <a:gridCol w="586614"/>
                <a:gridCol w="586614"/>
                <a:gridCol w="586614"/>
                <a:gridCol w="586614"/>
                <a:gridCol w="586614"/>
                <a:gridCol w="586614"/>
                <a:gridCol w="586614"/>
                <a:gridCol w="586614"/>
                <a:gridCol w="586614"/>
                <a:gridCol w="586614"/>
                <a:gridCol w="586614"/>
                <a:gridCol w="586614"/>
                <a:gridCol w="586614"/>
                <a:gridCol w="586614"/>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Volume Analysis, By Material Structure (Thousand MT)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Structure,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Volume, By Material Structure (Thousand MT)</a:t>
            </a:r>
          </a:p>
        </p:txBody>
      </p:sp>
      <p:graphicFrame>
        <p:nvGraphicFramePr>
          <p:cNvPr id="12" name="Table 11"/>
          <p:cNvGraphicFramePr>
            <a:graphicFrameLocks noGrp="1"/>
          </p:cNvGraphicFramePr>
          <p:nvPr/>
        </p:nvGraphicFramePr>
        <p:xfrm>
          <a:off x="152400" y="1238250"/>
          <a:ext cx="11887208" cy="1514475"/>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Volume Analysis, By Material Structure</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Coextruded multilayer films segment is projected to register 1.2X higher volume than laminated films segment in 2036. Among flexible plastic packaging by material structure, mono-material recyclable structures segment is expected to witness the highest CAGR of 6.4% over the forecast period.</a:t>
            </a:r>
          </a:p>
          <a:p>
            <a:pPr algn="l">
              <a:lnSpc>
                <a:spcPct val="110000"/>
              </a:lnSpc>
              <a:spcBef>
                <a:spcPts val="0"/>
              </a:spcBef>
              <a:spcAft>
                <a:spcPts val="500"/>
              </a:spcAft>
            </a:pPr>
            <a:r>
              <a:rPr sz="1150" b="0">
                <a:solidFill>
                  <a:srgbClr val="2E2E2E"/>
                </a:solidFill>
                <a:latin typeface="Calibri"/>
              </a:rPr>
              <a:t>In terms of volume share by material structure, the coextruded multilayer films segment is expected to dominate the market, losing 43 BPS and accounting for 28.5% share by 2036.</a:t>
            </a:r>
          </a:p>
          <a:p>
            <a:pPr algn="l">
              <a:lnSpc>
                <a:spcPct val="110000"/>
              </a:lnSpc>
              <a:spcBef>
                <a:spcPts val="0"/>
              </a:spcBef>
              <a:spcAft>
                <a:spcPts val="500"/>
              </a:spcAft>
            </a:pPr>
            <a:r>
              <a:rPr sz="1150" b="0">
                <a:solidFill>
                  <a:srgbClr val="2E2E2E"/>
                </a:solidFill>
                <a:latin typeface="Calibri"/>
              </a:rPr>
              <a:t>Mono-Material Recyclable Structures gain 54 BPS and grow fastest at 6.4% as multinational brand owners and retailers extend recyclability commitments across the region and packaging regulation tightens. Monolayer Films also gain 39 BPS on cost-sensitive applications. Coextruded Multilayer Films lose 43 BPS as conventional multi-polymer builds face substitution by simpler, recyclable designs.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Analysis, By Material Structure (US$ Mn)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Material Structure,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Material Structure (US$ Mn)</a:t>
            </a:r>
          </a:p>
        </p:txBody>
      </p:sp>
      <p:graphicFrame>
        <p:nvGraphicFramePr>
          <p:cNvPr id="13" name="Table 12"/>
          <p:cNvGraphicFramePr>
            <a:graphicFrameLocks noGrp="1"/>
          </p:cNvGraphicFramePr>
          <p:nvPr/>
        </p:nvGraphicFramePr>
        <p:xfrm>
          <a:off x="152400" y="1238250"/>
          <a:ext cx="11887208" cy="2590803"/>
        </p:xfrm>
        <a:graphic>
          <a:graphicData uri="http://schemas.openxmlformats.org/drawingml/2006/table">
            <a:tbl>
              <a:tblPr>
                <a:tableStyleId>{5C22544A-7EE6-4342-B048-85BDC9FD1C3A}</a:tableStyleId>
              </a:tblPr>
              <a:tblGrid>
                <a:gridCol w="1914770"/>
                <a:gridCol w="586614"/>
                <a:gridCol w="586614"/>
                <a:gridCol w="586614"/>
                <a:gridCol w="586614"/>
                <a:gridCol w="586614"/>
                <a:gridCol w="586614"/>
                <a:gridCol w="586614"/>
                <a:gridCol w="586614"/>
                <a:gridCol w="586614"/>
                <a:gridCol w="586614"/>
                <a:gridCol w="586614"/>
                <a:gridCol w="586614"/>
                <a:gridCol w="586614"/>
                <a:gridCol w="586614"/>
                <a:gridCol w="586614"/>
                <a:gridCol w="586614"/>
                <a:gridCol w="586614"/>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Analysis, By Material Structure (US$ Mn)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Material Structure,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Material Structure (US$ Mn)</a:t>
            </a:r>
          </a:p>
        </p:txBody>
      </p:sp>
      <p:graphicFrame>
        <p:nvGraphicFramePr>
          <p:cNvPr id="12" name="Table 11"/>
          <p:cNvGraphicFramePr>
            <a:graphicFrameLocks noGrp="1"/>
          </p:cNvGraphicFramePr>
          <p:nvPr/>
        </p:nvGraphicFramePr>
        <p:xfrm>
          <a:off x="152400" y="1238250"/>
          <a:ext cx="11887208" cy="1514475"/>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Value Analysis, By Material Structure</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Coextruded multilayer films segment is projected to register 1.2X higher value than laminated films segment in 2036. Among flexible plastic packaging by material structure, mono-material recyclable structures segment is expected to witness the highest CAGR of 7.8% over the forecast period.</a:t>
            </a:r>
          </a:p>
          <a:p>
            <a:pPr algn="l">
              <a:lnSpc>
                <a:spcPct val="110000"/>
              </a:lnSpc>
              <a:spcBef>
                <a:spcPts val="0"/>
              </a:spcBef>
              <a:spcAft>
                <a:spcPts val="500"/>
              </a:spcAft>
            </a:pPr>
            <a:r>
              <a:rPr sz="1150" b="0">
                <a:solidFill>
                  <a:srgbClr val="2E2E2E"/>
                </a:solidFill>
                <a:latin typeface="Calibri"/>
              </a:rPr>
              <a:t>In terms of value share by material structure, the coextruded multilayer films segment is expected to dominate the market, losing 43 BPS and accounting for 28.5% share by 2036.</a:t>
            </a:r>
          </a:p>
          <a:p>
            <a:pPr algn="l">
              <a:lnSpc>
                <a:spcPct val="110000"/>
              </a:lnSpc>
              <a:spcBef>
                <a:spcPts val="0"/>
              </a:spcBef>
              <a:spcAft>
                <a:spcPts val="500"/>
              </a:spcAft>
            </a:pPr>
            <a:r>
              <a:rPr sz="1150" b="0">
                <a:solidFill>
                  <a:srgbClr val="2E2E2E"/>
                </a:solidFill>
                <a:latin typeface="Calibri"/>
              </a:rPr>
              <a:t>Mono-Material Recyclable Structures gains 53 BPS of value share because brand owners are redesigning multilayer laminates into recyclable mono-PE and mono-PP formats to meet EPR and recycled-content requirements. Its 7.8% CAGR compares with a 7.2% market rate, while Coextruded Multilayer Films loses 43 BPS at 7.0% as complex multilayer constructions are hard to recycle and are being redesigned toward simpler structures. In Latin America, urbanisation, modern retail expansion and local converting capacity support the shift.</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&amp; Share Shift, By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Material Structure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Composition, By Material Structure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19327"/>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1456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3836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Coated Films</a:t>
            </a:r>
          </a:p>
        </p:txBody>
      </p:sp>
      <p:sp>
        <p:nvSpPr>
          <p:cNvPr id="19" name="BPS Value 1"/>
          <p:cNvSpPr txBox="1"/>
          <p:nvPr/>
        </p:nvSpPr>
        <p:spPr>
          <a:xfrm>
            <a:off x="6896100" y="1800277"/>
            <a:ext cx="514350" cy="123825"/>
          </a:xfrm>
          <a:prstGeom prst="rect">
            <a:avLst/>
          </a:prstGeom>
          <a:noFill/>
        </p:spPr>
        <p:txBody>
          <a:bodyPr wrap="none" lIns="0" rIns="0" tIns="0" bIns="0" anchor="ctr">
            <a:spAutoFit/>
          </a:bodyPr>
          <a:lstStyle/>
          <a:p>
            <a:pPr algn="r"/>
            <a:r>
              <a:rPr sz="900" b="1">
                <a:solidFill>
                  <a:srgbClr val="E44D3A"/>
                </a:solidFill>
                <a:latin typeface="Calibri"/>
              </a:rPr>
              <a:t>-2</a:t>
            </a:r>
          </a:p>
        </p:txBody>
      </p:sp>
      <p:sp>
        <p:nvSpPr>
          <p:cNvPr id="20" name="FMI Legend Chip"/>
          <p:cNvSpPr/>
          <p:nvPr/>
        </p:nvSpPr>
        <p:spPr>
          <a:xfrm>
            <a:off x="4928997" y="2133243"/>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12848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5228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Metallized Films</a:t>
            </a:r>
          </a:p>
        </p:txBody>
      </p:sp>
      <p:sp>
        <p:nvSpPr>
          <p:cNvPr id="23" name="BPS Value 2"/>
          <p:cNvSpPr txBox="1"/>
          <p:nvPr/>
        </p:nvSpPr>
        <p:spPr>
          <a:xfrm>
            <a:off x="6896100" y="2114193"/>
            <a:ext cx="514350" cy="123825"/>
          </a:xfrm>
          <a:prstGeom prst="rect">
            <a:avLst/>
          </a:prstGeom>
          <a:noFill/>
        </p:spPr>
        <p:txBody>
          <a:bodyPr wrap="none" lIns="0" rIns="0" tIns="0" bIns="0" anchor="ctr">
            <a:spAutoFit/>
          </a:bodyPr>
          <a:lstStyle/>
          <a:p>
            <a:pPr algn="r"/>
            <a:r>
              <a:rPr sz="900" b="1">
                <a:solidFill>
                  <a:srgbClr val="E44D3A"/>
                </a:solidFill>
                <a:latin typeface="Calibri"/>
              </a:rPr>
              <a:t>-20</a:t>
            </a:r>
          </a:p>
        </p:txBody>
      </p:sp>
      <p:sp>
        <p:nvSpPr>
          <p:cNvPr id="24" name="FMI Legend Chip"/>
          <p:cNvSpPr/>
          <p:nvPr/>
        </p:nvSpPr>
        <p:spPr>
          <a:xfrm>
            <a:off x="4928997" y="2475500"/>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247073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39453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Foil-Laminated Structures</a:t>
            </a:r>
          </a:p>
        </p:txBody>
      </p:sp>
      <p:sp>
        <p:nvSpPr>
          <p:cNvPr id="27" name="BPS Value 3"/>
          <p:cNvSpPr txBox="1"/>
          <p:nvPr/>
        </p:nvSpPr>
        <p:spPr>
          <a:xfrm>
            <a:off x="6896100" y="2456450"/>
            <a:ext cx="514350" cy="123825"/>
          </a:xfrm>
          <a:prstGeom prst="rect">
            <a:avLst/>
          </a:prstGeom>
          <a:noFill/>
        </p:spPr>
        <p:txBody>
          <a:bodyPr wrap="none" lIns="0" rIns="0" tIns="0" bIns="0" anchor="ctr">
            <a:spAutoFit/>
          </a:bodyPr>
          <a:lstStyle/>
          <a:p>
            <a:pPr algn="r"/>
            <a:r>
              <a:rPr sz="900" b="1">
                <a:solidFill>
                  <a:srgbClr val="E44D3A"/>
                </a:solidFill>
                <a:latin typeface="Calibri"/>
              </a:rPr>
              <a:t>-6</a:t>
            </a:r>
          </a:p>
        </p:txBody>
      </p:sp>
      <p:sp>
        <p:nvSpPr>
          <p:cNvPr id="28" name="FMI Legend Chip"/>
          <p:cNvSpPr/>
          <p:nvPr/>
        </p:nvSpPr>
        <p:spPr>
          <a:xfrm>
            <a:off x="4928997" y="2852399"/>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284763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77143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Mono-Material Recyclable Structures</a:t>
            </a:r>
          </a:p>
        </p:txBody>
      </p:sp>
      <p:sp>
        <p:nvSpPr>
          <p:cNvPr id="31" name="BPS Value 4"/>
          <p:cNvSpPr txBox="1"/>
          <p:nvPr/>
        </p:nvSpPr>
        <p:spPr>
          <a:xfrm>
            <a:off x="6896100" y="2833349"/>
            <a:ext cx="514350" cy="123825"/>
          </a:xfrm>
          <a:prstGeom prst="rect">
            <a:avLst/>
          </a:prstGeom>
          <a:noFill/>
        </p:spPr>
        <p:txBody>
          <a:bodyPr wrap="none" lIns="0" rIns="0" tIns="0" bIns="0" anchor="ctr">
            <a:spAutoFit/>
          </a:bodyPr>
          <a:lstStyle/>
          <a:p>
            <a:pPr algn="r"/>
            <a:r>
              <a:rPr sz="900" b="1">
                <a:solidFill>
                  <a:srgbClr val="2E7D32"/>
                </a:solidFill>
                <a:latin typeface="Calibri"/>
              </a:rPr>
              <a:t>+53</a:t>
            </a:r>
          </a:p>
        </p:txBody>
      </p:sp>
      <p:sp>
        <p:nvSpPr>
          <p:cNvPr id="32" name="FMI Legend Chip"/>
          <p:cNvSpPr/>
          <p:nvPr/>
        </p:nvSpPr>
        <p:spPr>
          <a:xfrm>
            <a:off x="4928997" y="3443428"/>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343866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36246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Monolayer Films</a:t>
            </a:r>
          </a:p>
        </p:txBody>
      </p:sp>
      <p:sp>
        <p:nvSpPr>
          <p:cNvPr id="35" name="BPS Value 5"/>
          <p:cNvSpPr txBox="1"/>
          <p:nvPr/>
        </p:nvSpPr>
        <p:spPr>
          <a:xfrm>
            <a:off x="6896100" y="3424378"/>
            <a:ext cx="514350" cy="123825"/>
          </a:xfrm>
          <a:prstGeom prst="rect">
            <a:avLst/>
          </a:prstGeom>
          <a:noFill/>
        </p:spPr>
        <p:txBody>
          <a:bodyPr wrap="none" lIns="0" rIns="0" tIns="0" bIns="0" anchor="ctr">
            <a:spAutoFit/>
          </a:bodyPr>
          <a:lstStyle/>
          <a:p>
            <a:pPr algn="r"/>
            <a:r>
              <a:rPr sz="900" b="1">
                <a:solidFill>
                  <a:srgbClr val="2E7D32"/>
                </a:solidFill>
                <a:latin typeface="Calibri"/>
              </a:rPr>
              <a:t>+39</a:t>
            </a:r>
          </a:p>
        </p:txBody>
      </p:sp>
      <p:sp>
        <p:nvSpPr>
          <p:cNvPr id="36" name="FMI Legend Chip"/>
          <p:cNvSpPr/>
          <p:nvPr/>
        </p:nvSpPr>
        <p:spPr>
          <a:xfrm>
            <a:off x="4928997" y="4386764"/>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5090922" y="438200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30580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Laminated Films</a:t>
            </a:r>
          </a:p>
        </p:txBody>
      </p:sp>
      <p:sp>
        <p:nvSpPr>
          <p:cNvPr id="39" name="BPS Value 6"/>
          <p:cNvSpPr txBox="1"/>
          <p:nvPr/>
        </p:nvSpPr>
        <p:spPr>
          <a:xfrm>
            <a:off x="6896100" y="4367714"/>
            <a:ext cx="514350" cy="123825"/>
          </a:xfrm>
          <a:prstGeom prst="rect">
            <a:avLst/>
          </a:prstGeom>
          <a:noFill/>
        </p:spPr>
        <p:txBody>
          <a:bodyPr wrap="none" lIns="0" rIns="0" tIns="0" bIns="0" anchor="ctr">
            <a:spAutoFit/>
          </a:bodyPr>
          <a:lstStyle/>
          <a:p>
            <a:pPr algn="r"/>
            <a:r>
              <a:rPr sz="900" b="1">
                <a:solidFill>
                  <a:srgbClr val="E44D3A"/>
                </a:solidFill>
                <a:latin typeface="Calibri"/>
              </a:rPr>
              <a:t>-21</a:t>
            </a:r>
          </a:p>
        </p:txBody>
      </p:sp>
      <p:sp>
        <p:nvSpPr>
          <p:cNvPr id="40" name="FMI Legend Chip"/>
          <p:cNvSpPr/>
          <p:nvPr/>
        </p:nvSpPr>
        <p:spPr>
          <a:xfrm>
            <a:off x="4928997" y="559159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0922" y="558683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51063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Coextruded Multilayer Films</a:t>
            </a:r>
          </a:p>
        </p:txBody>
      </p:sp>
      <p:sp>
        <p:nvSpPr>
          <p:cNvPr id="43" name="BPS Value 7"/>
          <p:cNvSpPr txBox="1"/>
          <p:nvPr/>
        </p:nvSpPr>
        <p:spPr>
          <a:xfrm>
            <a:off x="6896100" y="5572549"/>
            <a:ext cx="514350" cy="123825"/>
          </a:xfrm>
          <a:prstGeom prst="rect">
            <a:avLst/>
          </a:prstGeom>
          <a:noFill/>
        </p:spPr>
        <p:txBody>
          <a:bodyPr wrap="none" lIns="0" rIns="0" tIns="0" bIns="0" anchor="ctr">
            <a:spAutoFit/>
          </a:bodyPr>
          <a:lstStyle/>
          <a:p>
            <a:pPr algn="r"/>
            <a:r>
              <a:rPr sz="900" b="1">
                <a:solidFill>
                  <a:srgbClr val="E44D3A"/>
                </a:solidFill>
                <a:latin typeface="Calibri"/>
              </a:rPr>
              <a:t>-43</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Latin America Read-out, By Material Structure</a:t>
            </a:r>
          </a:p>
        </p:txBody>
      </p:sp>
      <p:sp>
        <p:nvSpPr>
          <p:cNvPr id="46" name="Rectangle 4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material structure, mono-material recyclable structures segment is expected to witness the highest CAGR of 7.8% over the forecast period.</a:t>
            </a:r>
          </a:p>
          <a:p>
            <a:pPr algn="l">
              <a:lnSpc>
                <a:spcPct val="110000"/>
              </a:lnSpc>
              <a:spcBef>
                <a:spcPts val="0"/>
              </a:spcBef>
              <a:spcAft>
                <a:spcPts val="500"/>
              </a:spcAft>
            </a:pPr>
            <a:r>
              <a:rPr sz="1150" b="0">
                <a:solidFill>
                  <a:srgbClr val="2E2E2E"/>
                </a:solidFill>
                <a:latin typeface="Calibri"/>
              </a:rPr>
              <a:t>In terms of value share by material structure, the coextruded multilayer films segment is expected to dominate the market, losing 43 BPS and accounting for 28.5% share by 2036.</a:t>
            </a:r>
          </a:p>
          <a:p>
            <a:pPr algn="l">
              <a:lnSpc>
                <a:spcPct val="110000"/>
              </a:lnSpc>
              <a:spcBef>
                <a:spcPts val="0"/>
              </a:spcBef>
              <a:spcAft>
                <a:spcPts val="500"/>
              </a:spcAft>
            </a:pPr>
            <a:r>
              <a:rPr sz="1150" b="0">
                <a:solidFill>
                  <a:srgbClr val="2E2E2E"/>
                </a:solidFill>
                <a:latin typeface="Calibri"/>
              </a:rPr>
              <a:t>Mono-Material Recyclable Structures grow fastest at 7.8% against 7.2% for the region because global brands are applying recyclable-packaging commitments across their Latin American operations, and emerging EPR schemes are encouraging single-polymer designs. Better PE and PP barrier technology now preserves shelf life without foil or PVDC layers. Metallized Films grow slowest at 6.9% as these structures are among the first to be replaced.</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Volume, By Material Structure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Structure,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Volume YoY Growth,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Volume, By Material Structure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Structure,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Volume YoY Heatmap, By Material Structure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Monolayer Films</a:t>
            </a:r>
          </a:p>
        </p:txBody>
      </p:sp>
      <p:sp>
        <p:nvSpPr>
          <p:cNvPr id="28" name="Rectangle 27"/>
          <p:cNvSpPr/>
          <p:nvPr/>
        </p:nvSpPr>
        <p:spPr>
          <a:xfrm>
            <a:off x="1857375" y="1409700"/>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322659"/>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322659"/>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322659"/>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322659"/>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322659"/>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322659"/>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322659"/>
          </a:xfrm>
          <a:prstGeom prst="rect">
            <a:avLst/>
          </a:prstGeom>
          <a:solidFill>
            <a:srgbClr val="7F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322659"/>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322659"/>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322659"/>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322659"/>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322659"/>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3235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Coextruded Multilayer Films</a:t>
            </a:r>
          </a:p>
        </p:txBody>
      </p:sp>
      <p:sp>
        <p:nvSpPr>
          <p:cNvPr id="44" name="Rectangle 43"/>
          <p:cNvSpPr/>
          <p:nvPr/>
        </p:nvSpPr>
        <p:spPr>
          <a:xfrm>
            <a:off x="1857375" y="1732359"/>
            <a:ext cx="643890" cy="322659"/>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732359"/>
            <a:ext cx="643890" cy="322659"/>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732359"/>
            <a:ext cx="643890" cy="322659"/>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732359"/>
            <a:ext cx="643890" cy="322659"/>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732359"/>
            <a:ext cx="643890" cy="322659"/>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732359"/>
            <a:ext cx="643890" cy="322659"/>
          </a:xfrm>
          <a:prstGeom prst="rect">
            <a:avLst/>
          </a:prstGeom>
          <a:solidFill>
            <a:srgbClr val="A3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732359"/>
            <a:ext cx="643890" cy="322659"/>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732359"/>
            <a:ext cx="643890" cy="322659"/>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732359"/>
            <a:ext cx="643890" cy="322659"/>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732359"/>
            <a:ext cx="643890" cy="322659"/>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732359"/>
            <a:ext cx="643890" cy="322659"/>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732359"/>
            <a:ext cx="643890" cy="322659"/>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732359"/>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732359"/>
            <a:ext cx="643890" cy="322659"/>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732359"/>
            <a:ext cx="643890" cy="322659"/>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5501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3–5 Layer</a:t>
            </a:r>
          </a:p>
        </p:txBody>
      </p:sp>
      <p:sp>
        <p:nvSpPr>
          <p:cNvPr id="60" name="Rectangle 59"/>
          <p:cNvSpPr/>
          <p:nvPr/>
        </p:nvSpPr>
        <p:spPr>
          <a:xfrm>
            <a:off x="1857375" y="2055019"/>
            <a:ext cx="643890" cy="322659"/>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055019"/>
            <a:ext cx="643890" cy="322659"/>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055019"/>
            <a:ext cx="643890" cy="322659"/>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055019"/>
            <a:ext cx="643890" cy="322659"/>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055019"/>
            <a:ext cx="643890" cy="322659"/>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055019"/>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055019"/>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055019"/>
            <a:ext cx="643890" cy="322659"/>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055019"/>
            <a:ext cx="643890" cy="322659"/>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055019"/>
            <a:ext cx="643890" cy="322659"/>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055019"/>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055019"/>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055019"/>
            <a:ext cx="643890" cy="322659"/>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055019"/>
            <a:ext cx="643890" cy="322659"/>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055019"/>
            <a:ext cx="643890" cy="322659"/>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37767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7 Layer</a:t>
            </a:r>
          </a:p>
        </p:txBody>
      </p:sp>
      <p:sp>
        <p:nvSpPr>
          <p:cNvPr id="76" name="Rectangle 75"/>
          <p:cNvSpPr/>
          <p:nvPr/>
        </p:nvSpPr>
        <p:spPr>
          <a:xfrm>
            <a:off x="1857375" y="2377678"/>
            <a:ext cx="643890" cy="322659"/>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377678"/>
            <a:ext cx="643890" cy="322659"/>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377678"/>
            <a:ext cx="643890" cy="322659"/>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377678"/>
            <a:ext cx="643890" cy="322659"/>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377678"/>
            <a:ext cx="643890" cy="322659"/>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377678"/>
            <a:ext cx="643890" cy="322659"/>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377678"/>
            <a:ext cx="643890" cy="322659"/>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377678"/>
            <a:ext cx="643890" cy="322659"/>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377678"/>
            <a:ext cx="643890" cy="322659"/>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377678"/>
            <a:ext cx="643890" cy="322659"/>
          </a:xfrm>
          <a:prstGeom prst="rect">
            <a:avLst/>
          </a:prstGeom>
          <a:solidFill>
            <a:srgbClr val="4F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377678"/>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377678"/>
            <a:ext cx="643890" cy="322659"/>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377678"/>
            <a:ext cx="643890" cy="322659"/>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377678"/>
            <a:ext cx="643890" cy="322659"/>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377678"/>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0033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9 Layer and Above</a:t>
            </a:r>
          </a:p>
        </p:txBody>
      </p:sp>
      <p:sp>
        <p:nvSpPr>
          <p:cNvPr id="92" name="Rectangle 91"/>
          <p:cNvSpPr/>
          <p:nvPr/>
        </p:nvSpPr>
        <p:spPr>
          <a:xfrm>
            <a:off x="1857375" y="2700338"/>
            <a:ext cx="643890" cy="322659"/>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700338"/>
            <a:ext cx="643890" cy="322659"/>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700338"/>
            <a:ext cx="643890" cy="322659"/>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700338"/>
            <a:ext cx="643890" cy="322659"/>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700338"/>
            <a:ext cx="643890" cy="322659"/>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700338"/>
            <a:ext cx="643890" cy="322659"/>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700338"/>
            <a:ext cx="643890" cy="322659"/>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700338"/>
            <a:ext cx="643890" cy="322659"/>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700338"/>
            <a:ext cx="643890" cy="322659"/>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700338"/>
            <a:ext cx="643890" cy="322659"/>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700338"/>
            <a:ext cx="643890" cy="322659"/>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700338"/>
            <a:ext cx="643890" cy="322659"/>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700338"/>
            <a:ext cx="643890" cy="322659"/>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700338"/>
            <a:ext cx="643890" cy="322659"/>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700338"/>
            <a:ext cx="643890" cy="322659"/>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022997"/>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Laminated Films</a:t>
            </a:r>
          </a:p>
        </p:txBody>
      </p:sp>
      <p:sp>
        <p:nvSpPr>
          <p:cNvPr id="108" name="Rectangle 107"/>
          <p:cNvSpPr/>
          <p:nvPr/>
        </p:nvSpPr>
        <p:spPr>
          <a:xfrm>
            <a:off x="1857375" y="3022997"/>
            <a:ext cx="643890" cy="322659"/>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022997"/>
            <a:ext cx="643890" cy="322659"/>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022997"/>
            <a:ext cx="643890" cy="322659"/>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022997"/>
            <a:ext cx="643890" cy="322659"/>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022997"/>
            <a:ext cx="643890" cy="322659"/>
          </a:xfrm>
          <a:prstGeom prst="rect">
            <a:avLst/>
          </a:prstGeom>
          <a:solidFill>
            <a:srgbClr val="A9C9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022997"/>
            <a:ext cx="643890" cy="322659"/>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022997"/>
            <a:ext cx="643890" cy="322659"/>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022997"/>
            <a:ext cx="643890" cy="322659"/>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022997"/>
            <a:ext cx="643890" cy="322659"/>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022997"/>
            <a:ext cx="643890" cy="322659"/>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022997"/>
            <a:ext cx="643890" cy="322659"/>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022997"/>
            <a:ext cx="643890" cy="322659"/>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022997"/>
            <a:ext cx="643890" cy="322659"/>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022997"/>
            <a:ext cx="643890" cy="322659"/>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022997"/>
            <a:ext cx="643890" cy="322659"/>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34565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Duplex</a:t>
            </a:r>
          </a:p>
        </p:txBody>
      </p:sp>
      <p:sp>
        <p:nvSpPr>
          <p:cNvPr id="124" name="Rectangle 123"/>
          <p:cNvSpPr/>
          <p:nvPr/>
        </p:nvSpPr>
        <p:spPr>
          <a:xfrm>
            <a:off x="1857375" y="3345656"/>
            <a:ext cx="643890" cy="322659"/>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345656"/>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345656"/>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345656"/>
            <a:ext cx="643890" cy="322659"/>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345656"/>
            <a:ext cx="643890" cy="322659"/>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345656"/>
            <a:ext cx="643890" cy="322659"/>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345656"/>
            <a:ext cx="643890" cy="322659"/>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345656"/>
            <a:ext cx="643890" cy="322659"/>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345656"/>
            <a:ext cx="643890" cy="322659"/>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345656"/>
            <a:ext cx="643890" cy="322659"/>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345656"/>
            <a:ext cx="643890" cy="322659"/>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345656"/>
            <a:ext cx="643890" cy="322659"/>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345656"/>
            <a:ext cx="643890" cy="322659"/>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345656"/>
            <a:ext cx="643890" cy="322659"/>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345656"/>
            <a:ext cx="643890" cy="322659"/>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66831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Triplex</a:t>
            </a:r>
          </a:p>
        </p:txBody>
      </p:sp>
      <p:sp>
        <p:nvSpPr>
          <p:cNvPr id="140" name="Rectangle 139"/>
          <p:cNvSpPr/>
          <p:nvPr/>
        </p:nvSpPr>
        <p:spPr>
          <a:xfrm>
            <a:off x="1857375" y="3668316"/>
            <a:ext cx="643890" cy="322659"/>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668316"/>
            <a:ext cx="643890" cy="322659"/>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668316"/>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668316"/>
            <a:ext cx="643890" cy="322659"/>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668316"/>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668316"/>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668316"/>
            <a:ext cx="643890" cy="322659"/>
          </a:xfrm>
          <a:prstGeom prst="rect">
            <a:avLst/>
          </a:prstGeom>
          <a:solidFill>
            <a:srgbClr val="32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668316"/>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668316"/>
            <a:ext cx="643890" cy="322659"/>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668316"/>
            <a:ext cx="643890" cy="322659"/>
          </a:xfrm>
          <a:prstGeom prst="rect">
            <a:avLst/>
          </a:prstGeom>
          <a:solidFill>
            <a:srgbClr val="4E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668316"/>
            <a:ext cx="643890" cy="322659"/>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668316"/>
            <a:ext cx="643890" cy="322659"/>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668316"/>
            <a:ext cx="643890" cy="322659"/>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668316"/>
            <a:ext cx="643890" cy="322659"/>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668316"/>
            <a:ext cx="643890" cy="322659"/>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990975"/>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Multi-Ply</a:t>
            </a:r>
          </a:p>
        </p:txBody>
      </p:sp>
      <p:sp>
        <p:nvSpPr>
          <p:cNvPr id="156" name="Rectangle 155"/>
          <p:cNvSpPr/>
          <p:nvPr/>
        </p:nvSpPr>
        <p:spPr>
          <a:xfrm>
            <a:off x="1857375" y="3990975"/>
            <a:ext cx="643890" cy="322659"/>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990975"/>
            <a:ext cx="643890" cy="322659"/>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990975"/>
            <a:ext cx="643890" cy="322659"/>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990975"/>
            <a:ext cx="643890" cy="322659"/>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990975"/>
            <a:ext cx="643890" cy="322659"/>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990975"/>
            <a:ext cx="643890" cy="322659"/>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990975"/>
            <a:ext cx="643890" cy="322659"/>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990975"/>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990975"/>
            <a:ext cx="643890" cy="322659"/>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990975"/>
            <a:ext cx="643890" cy="322659"/>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990975"/>
            <a:ext cx="643890" cy="322659"/>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990975"/>
            <a:ext cx="643890" cy="322659"/>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990975"/>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990975"/>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990975"/>
            <a:ext cx="643890" cy="322659"/>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31363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Coated Films</a:t>
            </a:r>
          </a:p>
        </p:txBody>
      </p:sp>
      <p:sp>
        <p:nvSpPr>
          <p:cNvPr id="172" name="Rectangle 171"/>
          <p:cNvSpPr/>
          <p:nvPr/>
        </p:nvSpPr>
        <p:spPr>
          <a:xfrm>
            <a:off x="1857375" y="4313634"/>
            <a:ext cx="643890" cy="322659"/>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4313634"/>
            <a:ext cx="643890" cy="322659"/>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4313634"/>
            <a:ext cx="643890" cy="322659"/>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4313634"/>
            <a:ext cx="643890" cy="322659"/>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4313634"/>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4313634"/>
            <a:ext cx="643890" cy="322659"/>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4313634"/>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4313634"/>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4313634"/>
            <a:ext cx="643890" cy="322659"/>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4313634"/>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4313634"/>
            <a:ext cx="643890" cy="322659"/>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4313634"/>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4313634"/>
            <a:ext cx="643890" cy="322659"/>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4313634"/>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4313634"/>
            <a:ext cx="643890" cy="322659"/>
          </a:xfrm>
          <a:prstGeom prst="rect">
            <a:avLst/>
          </a:prstGeom>
          <a:solidFill>
            <a:srgbClr val="7B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63629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Metallized Films</a:t>
            </a:r>
          </a:p>
        </p:txBody>
      </p:sp>
      <p:sp>
        <p:nvSpPr>
          <p:cNvPr id="188" name="Rectangle 187"/>
          <p:cNvSpPr/>
          <p:nvPr/>
        </p:nvSpPr>
        <p:spPr>
          <a:xfrm>
            <a:off x="1857375" y="4636294"/>
            <a:ext cx="643890" cy="322659"/>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4636294"/>
            <a:ext cx="643890" cy="322659"/>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4636294"/>
            <a:ext cx="643890" cy="322659"/>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4636294"/>
            <a:ext cx="643890" cy="322659"/>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4636294"/>
            <a:ext cx="643890" cy="322659"/>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4636294"/>
            <a:ext cx="643890" cy="322659"/>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4636294"/>
            <a:ext cx="643890" cy="322659"/>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4636294"/>
            <a:ext cx="643890" cy="322659"/>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4636294"/>
            <a:ext cx="643890" cy="322659"/>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4636294"/>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4636294"/>
            <a:ext cx="643890" cy="322659"/>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4636294"/>
            <a:ext cx="643890" cy="322659"/>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4636294"/>
            <a:ext cx="643890" cy="322659"/>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4636294"/>
            <a:ext cx="643890" cy="322659"/>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4636294"/>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958953"/>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Foil-Laminated Structures</a:t>
            </a:r>
          </a:p>
        </p:txBody>
      </p:sp>
      <p:sp>
        <p:nvSpPr>
          <p:cNvPr id="204" name="Rectangle 203"/>
          <p:cNvSpPr/>
          <p:nvPr/>
        </p:nvSpPr>
        <p:spPr>
          <a:xfrm>
            <a:off x="1857375" y="4958953"/>
            <a:ext cx="643890" cy="322659"/>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958953"/>
            <a:ext cx="643890" cy="322659"/>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958953"/>
            <a:ext cx="643890" cy="322659"/>
          </a:xfrm>
          <a:prstGeom prst="rect">
            <a:avLst/>
          </a:prstGeom>
          <a:solidFill>
            <a:srgbClr val="65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958953"/>
            <a:ext cx="643890" cy="322659"/>
          </a:xfrm>
          <a:prstGeom prst="rect">
            <a:avLst/>
          </a:prstGeom>
          <a:solidFill>
            <a:srgbClr val="59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958953"/>
            <a:ext cx="643890" cy="322659"/>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958953"/>
            <a:ext cx="643890" cy="322659"/>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958953"/>
            <a:ext cx="643890" cy="322659"/>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958953"/>
            <a:ext cx="643890" cy="322659"/>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958953"/>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958953"/>
            <a:ext cx="643890" cy="322659"/>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958953"/>
            <a:ext cx="643890" cy="322659"/>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958953"/>
            <a:ext cx="643890" cy="322659"/>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958953"/>
            <a:ext cx="643890" cy="322659"/>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958953"/>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958953"/>
            <a:ext cx="643890" cy="322659"/>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28161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Mono-Material Recyclable Structures</a:t>
            </a:r>
          </a:p>
        </p:txBody>
      </p:sp>
      <p:sp>
        <p:nvSpPr>
          <p:cNvPr id="220" name="Rectangle 219"/>
          <p:cNvSpPr/>
          <p:nvPr/>
        </p:nvSpPr>
        <p:spPr>
          <a:xfrm>
            <a:off x="1857375" y="5281612"/>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5281612"/>
            <a:ext cx="643890" cy="322659"/>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5281612"/>
            <a:ext cx="643890" cy="322659"/>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5281612"/>
            <a:ext cx="643890" cy="322659"/>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5281612"/>
            <a:ext cx="643890" cy="322659"/>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5281612"/>
            <a:ext cx="643890" cy="322659"/>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5281612"/>
            <a:ext cx="643890" cy="322659"/>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5281612"/>
            <a:ext cx="643890" cy="322659"/>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5281612"/>
            <a:ext cx="643890" cy="322659"/>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5281612"/>
            <a:ext cx="643890" cy="322659"/>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5281612"/>
            <a:ext cx="643890" cy="322659"/>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5281612"/>
            <a:ext cx="643890" cy="322659"/>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5281612"/>
            <a:ext cx="643890" cy="322659"/>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5281612"/>
            <a:ext cx="643890" cy="322659"/>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5281612"/>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60427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PE-Based</a:t>
            </a:r>
          </a:p>
        </p:txBody>
      </p:sp>
      <p:sp>
        <p:nvSpPr>
          <p:cNvPr id="236" name="Rectangle 235"/>
          <p:cNvSpPr/>
          <p:nvPr/>
        </p:nvSpPr>
        <p:spPr>
          <a:xfrm>
            <a:off x="1857375" y="5604272"/>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5604272"/>
            <a:ext cx="643890" cy="322659"/>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5604272"/>
            <a:ext cx="643890" cy="322659"/>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5604272"/>
            <a:ext cx="643890" cy="322659"/>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5604272"/>
            <a:ext cx="643890" cy="322659"/>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5604272"/>
            <a:ext cx="643890" cy="322659"/>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5604272"/>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5604272"/>
            <a:ext cx="643890" cy="322659"/>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5604272"/>
            <a:ext cx="643890" cy="322659"/>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5604272"/>
            <a:ext cx="643890" cy="322659"/>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5604272"/>
            <a:ext cx="643890" cy="322659"/>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5604272"/>
            <a:ext cx="643890" cy="322659"/>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5604272"/>
            <a:ext cx="643890" cy="322659"/>
          </a:xfrm>
          <a:prstGeom prst="rect">
            <a:avLst/>
          </a:prstGeom>
          <a:solidFill>
            <a:srgbClr val="0D5F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5604272"/>
            <a:ext cx="643890" cy="322659"/>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5604272"/>
            <a:ext cx="643890" cy="322659"/>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92693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PP-Based</a:t>
            </a:r>
          </a:p>
        </p:txBody>
      </p:sp>
      <p:sp>
        <p:nvSpPr>
          <p:cNvPr id="252" name="Rectangle 251"/>
          <p:cNvSpPr/>
          <p:nvPr/>
        </p:nvSpPr>
        <p:spPr>
          <a:xfrm>
            <a:off x="1857375" y="5926931"/>
            <a:ext cx="643890" cy="322659"/>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926931"/>
            <a:ext cx="643890" cy="322659"/>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926931"/>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926931"/>
            <a:ext cx="643890" cy="322659"/>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926931"/>
            <a:ext cx="643890" cy="322659"/>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926931"/>
            <a:ext cx="643890" cy="322659"/>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926931"/>
            <a:ext cx="643890" cy="322659"/>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926931"/>
            <a:ext cx="643890" cy="322659"/>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926931"/>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926931"/>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926931"/>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926931"/>
            <a:ext cx="643890" cy="322659"/>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926931"/>
            <a:ext cx="643890" cy="322659"/>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926931"/>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926931"/>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624959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PET-Based</a:t>
            </a:r>
          </a:p>
        </p:txBody>
      </p:sp>
      <p:sp>
        <p:nvSpPr>
          <p:cNvPr id="268" name="Rectangle 267"/>
          <p:cNvSpPr/>
          <p:nvPr/>
        </p:nvSpPr>
        <p:spPr>
          <a:xfrm>
            <a:off x="1857375" y="6249591"/>
            <a:ext cx="643890" cy="322659"/>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6249591"/>
            <a:ext cx="643890" cy="322659"/>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6249591"/>
            <a:ext cx="643890" cy="322659"/>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6249591"/>
            <a:ext cx="643890" cy="322659"/>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6249591"/>
            <a:ext cx="643890" cy="322659"/>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6249591"/>
            <a:ext cx="643890" cy="322659"/>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6249591"/>
            <a:ext cx="643890" cy="322659"/>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6249591"/>
            <a:ext cx="643890" cy="322659"/>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6249591"/>
            <a:ext cx="643890" cy="322659"/>
          </a:xfrm>
          <a:prstGeom prst="rect">
            <a:avLst/>
          </a:prstGeom>
          <a:solidFill>
            <a:srgbClr val="0D5D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6249591"/>
            <a:ext cx="643890" cy="322659"/>
          </a:xfrm>
          <a:prstGeom prst="rect">
            <a:avLst/>
          </a:prstGeom>
          <a:solidFill>
            <a:srgbClr val="0C3D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6249591"/>
            <a:ext cx="643890" cy="322659"/>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6249591"/>
            <a:ext cx="643890" cy="322659"/>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6249591"/>
            <a:ext cx="643890" cy="322659"/>
          </a:xfrm>
          <a:prstGeom prst="rect">
            <a:avLst/>
          </a:prstGeom>
          <a:solidFill>
            <a:srgbClr val="0D52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6249591"/>
            <a:ext cx="643890" cy="322659"/>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6249591"/>
            <a:ext cx="643890" cy="322659"/>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Rectangle 314"/>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Rectangle 315"/>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325" name="TextBox 324"/>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26" name="TextBox 325"/>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327" name="TextBox 3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Material Structure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Structure,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Growth,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Material Structure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Structure,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Heatmap, By Material Structure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Monolayer Films</a:t>
            </a:r>
          </a:p>
        </p:txBody>
      </p:sp>
      <p:sp>
        <p:nvSpPr>
          <p:cNvPr id="28" name="Rectangle 27"/>
          <p:cNvSpPr/>
          <p:nvPr/>
        </p:nvSpPr>
        <p:spPr>
          <a:xfrm>
            <a:off x="1857375" y="1409700"/>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322659"/>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322659"/>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322659"/>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322659"/>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322659"/>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322659"/>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322659"/>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322659"/>
          </a:xfrm>
          <a:prstGeom prst="rect">
            <a:avLst/>
          </a:prstGeom>
          <a:solidFill>
            <a:srgbClr val="0E6B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322659"/>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322659"/>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322659"/>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322659"/>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3235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Coextruded Multilayer Films</a:t>
            </a:r>
          </a:p>
        </p:txBody>
      </p:sp>
      <p:sp>
        <p:nvSpPr>
          <p:cNvPr id="44" name="Rectangle 43"/>
          <p:cNvSpPr/>
          <p:nvPr/>
        </p:nvSpPr>
        <p:spPr>
          <a:xfrm>
            <a:off x="1857375" y="1732359"/>
            <a:ext cx="643890" cy="322659"/>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732359"/>
            <a:ext cx="643890" cy="322659"/>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732359"/>
            <a:ext cx="643890" cy="322659"/>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732359"/>
            <a:ext cx="643890" cy="322659"/>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732359"/>
            <a:ext cx="643890" cy="322659"/>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732359"/>
            <a:ext cx="643890" cy="322659"/>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732359"/>
            <a:ext cx="643890" cy="322659"/>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732359"/>
            <a:ext cx="643890" cy="322659"/>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732359"/>
            <a:ext cx="643890" cy="322659"/>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732359"/>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732359"/>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732359"/>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732359"/>
            <a:ext cx="643890" cy="322659"/>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732359"/>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732359"/>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5501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3–5 Layer</a:t>
            </a:r>
          </a:p>
        </p:txBody>
      </p:sp>
      <p:sp>
        <p:nvSpPr>
          <p:cNvPr id="60" name="Rectangle 59"/>
          <p:cNvSpPr/>
          <p:nvPr/>
        </p:nvSpPr>
        <p:spPr>
          <a:xfrm>
            <a:off x="1857375" y="2055019"/>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055019"/>
            <a:ext cx="643890" cy="322659"/>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055019"/>
            <a:ext cx="643890" cy="322659"/>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055019"/>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055019"/>
            <a:ext cx="643890" cy="322659"/>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055019"/>
            <a:ext cx="643890" cy="322659"/>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055019"/>
            <a:ext cx="643890" cy="322659"/>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055019"/>
            <a:ext cx="643890" cy="322659"/>
          </a:xfrm>
          <a:prstGeom prst="rect">
            <a:avLst/>
          </a:prstGeom>
          <a:solidFill>
            <a:srgbClr val="72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055019"/>
            <a:ext cx="643890" cy="322659"/>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055019"/>
            <a:ext cx="643890" cy="322659"/>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055019"/>
            <a:ext cx="643890" cy="322659"/>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055019"/>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055019"/>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055019"/>
            <a:ext cx="643890" cy="322659"/>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055019"/>
            <a:ext cx="643890" cy="322659"/>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37767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7 Layer</a:t>
            </a:r>
          </a:p>
        </p:txBody>
      </p:sp>
      <p:sp>
        <p:nvSpPr>
          <p:cNvPr id="76" name="Rectangle 75"/>
          <p:cNvSpPr/>
          <p:nvPr/>
        </p:nvSpPr>
        <p:spPr>
          <a:xfrm>
            <a:off x="1857375" y="2377678"/>
            <a:ext cx="643890" cy="322659"/>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377678"/>
            <a:ext cx="643890" cy="322659"/>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377678"/>
            <a:ext cx="643890" cy="322659"/>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377678"/>
            <a:ext cx="643890" cy="322659"/>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377678"/>
            <a:ext cx="643890" cy="322659"/>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377678"/>
            <a:ext cx="643890" cy="322659"/>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377678"/>
            <a:ext cx="643890" cy="322659"/>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377678"/>
            <a:ext cx="643890" cy="322659"/>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377678"/>
            <a:ext cx="643890" cy="322659"/>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377678"/>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377678"/>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377678"/>
            <a:ext cx="643890" cy="322659"/>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377678"/>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377678"/>
            <a:ext cx="643890" cy="322659"/>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377678"/>
            <a:ext cx="643890" cy="322659"/>
          </a:xfrm>
          <a:prstGeom prst="rect">
            <a:avLst/>
          </a:prstGeom>
          <a:solidFill>
            <a:srgbClr val="4E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0033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9 Layer and Above</a:t>
            </a:r>
          </a:p>
        </p:txBody>
      </p:sp>
      <p:sp>
        <p:nvSpPr>
          <p:cNvPr id="92" name="Rectangle 91"/>
          <p:cNvSpPr/>
          <p:nvPr/>
        </p:nvSpPr>
        <p:spPr>
          <a:xfrm>
            <a:off x="1857375" y="2700338"/>
            <a:ext cx="643890" cy="322659"/>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700338"/>
            <a:ext cx="643890" cy="322659"/>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700338"/>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700338"/>
            <a:ext cx="643890" cy="322659"/>
          </a:xfrm>
          <a:prstGeom prst="rect">
            <a:avLst/>
          </a:prstGeom>
          <a:solidFill>
            <a:srgbClr val="D1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700338"/>
            <a:ext cx="643890" cy="322659"/>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700338"/>
            <a:ext cx="643890" cy="322659"/>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700338"/>
            <a:ext cx="643890" cy="322659"/>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700338"/>
            <a:ext cx="643890" cy="322659"/>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700338"/>
            <a:ext cx="643890" cy="322659"/>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700338"/>
            <a:ext cx="643890" cy="322659"/>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700338"/>
            <a:ext cx="643890" cy="322659"/>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700338"/>
            <a:ext cx="643890" cy="322659"/>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700338"/>
            <a:ext cx="643890" cy="322659"/>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700338"/>
            <a:ext cx="643890" cy="322659"/>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700338"/>
            <a:ext cx="643890" cy="322659"/>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022997"/>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Laminated Films</a:t>
            </a:r>
          </a:p>
        </p:txBody>
      </p:sp>
      <p:sp>
        <p:nvSpPr>
          <p:cNvPr id="108" name="Rectangle 107"/>
          <p:cNvSpPr/>
          <p:nvPr/>
        </p:nvSpPr>
        <p:spPr>
          <a:xfrm>
            <a:off x="1857375" y="3022997"/>
            <a:ext cx="643890" cy="322659"/>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022997"/>
            <a:ext cx="643890" cy="322659"/>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022997"/>
            <a:ext cx="643890" cy="322659"/>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022997"/>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022997"/>
            <a:ext cx="643890" cy="322659"/>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022997"/>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022997"/>
            <a:ext cx="643890" cy="322659"/>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022997"/>
            <a:ext cx="643890" cy="322659"/>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022997"/>
            <a:ext cx="643890" cy="322659"/>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022997"/>
            <a:ext cx="643890" cy="322659"/>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022997"/>
            <a:ext cx="643890" cy="322659"/>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022997"/>
            <a:ext cx="643890" cy="322659"/>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022997"/>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022997"/>
            <a:ext cx="643890" cy="322659"/>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022997"/>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34565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Duplex</a:t>
            </a:r>
          </a:p>
        </p:txBody>
      </p:sp>
      <p:sp>
        <p:nvSpPr>
          <p:cNvPr id="124" name="Rectangle 123"/>
          <p:cNvSpPr/>
          <p:nvPr/>
        </p:nvSpPr>
        <p:spPr>
          <a:xfrm>
            <a:off x="1857375" y="3345656"/>
            <a:ext cx="643890" cy="322659"/>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345656"/>
            <a:ext cx="643890" cy="322659"/>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345656"/>
            <a:ext cx="643890" cy="322659"/>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345656"/>
            <a:ext cx="643890" cy="322659"/>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345656"/>
            <a:ext cx="643890" cy="322659"/>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345656"/>
            <a:ext cx="643890" cy="322659"/>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345656"/>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345656"/>
            <a:ext cx="643890" cy="322659"/>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345656"/>
            <a:ext cx="643890" cy="322659"/>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345656"/>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345656"/>
            <a:ext cx="643890" cy="322659"/>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345656"/>
            <a:ext cx="643890" cy="322659"/>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345656"/>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345656"/>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345656"/>
            <a:ext cx="643890" cy="322659"/>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66831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Triplex</a:t>
            </a:r>
          </a:p>
        </p:txBody>
      </p:sp>
      <p:sp>
        <p:nvSpPr>
          <p:cNvPr id="140" name="Rectangle 139"/>
          <p:cNvSpPr/>
          <p:nvPr/>
        </p:nvSpPr>
        <p:spPr>
          <a:xfrm>
            <a:off x="1857375" y="3668316"/>
            <a:ext cx="643890" cy="322659"/>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668316"/>
            <a:ext cx="643890" cy="322659"/>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668316"/>
            <a:ext cx="643890" cy="322659"/>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668316"/>
            <a:ext cx="643890" cy="322659"/>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668316"/>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668316"/>
            <a:ext cx="643890" cy="322659"/>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668316"/>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668316"/>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668316"/>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668316"/>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668316"/>
            <a:ext cx="643890" cy="322659"/>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668316"/>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668316"/>
            <a:ext cx="643890" cy="322659"/>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668316"/>
            <a:ext cx="643890" cy="322659"/>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668316"/>
            <a:ext cx="643890" cy="322659"/>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990975"/>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Multi-Ply</a:t>
            </a:r>
          </a:p>
        </p:txBody>
      </p:sp>
      <p:sp>
        <p:nvSpPr>
          <p:cNvPr id="156" name="Rectangle 155"/>
          <p:cNvSpPr/>
          <p:nvPr/>
        </p:nvSpPr>
        <p:spPr>
          <a:xfrm>
            <a:off x="1857375" y="3990975"/>
            <a:ext cx="643890" cy="322659"/>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990975"/>
            <a:ext cx="643890" cy="322659"/>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990975"/>
            <a:ext cx="643890" cy="322659"/>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990975"/>
            <a:ext cx="643890" cy="322659"/>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990975"/>
            <a:ext cx="643890" cy="322659"/>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990975"/>
            <a:ext cx="643890" cy="322659"/>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990975"/>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990975"/>
            <a:ext cx="643890" cy="322659"/>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990975"/>
            <a:ext cx="643890" cy="322659"/>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990975"/>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990975"/>
            <a:ext cx="643890" cy="322659"/>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990975"/>
            <a:ext cx="643890" cy="322659"/>
          </a:xfrm>
          <a:prstGeom prst="rect">
            <a:avLst/>
          </a:prstGeom>
          <a:solidFill>
            <a:srgbClr val="0E68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990975"/>
            <a:ext cx="643890" cy="322659"/>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990975"/>
            <a:ext cx="643890" cy="322659"/>
          </a:xfrm>
          <a:prstGeom prst="rect">
            <a:avLst/>
          </a:prstGeom>
          <a:solidFill>
            <a:srgbClr val="0E69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990975"/>
            <a:ext cx="643890" cy="322659"/>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31363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Coated Films</a:t>
            </a:r>
          </a:p>
        </p:txBody>
      </p:sp>
      <p:sp>
        <p:nvSpPr>
          <p:cNvPr id="172" name="Rectangle 171"/>
          <p:cNvSpPr/>
          <p:nvPr/>
        </p:nvSpPr>
        <p:spPr>
          <a:xfrm>
            <a:off x="1857375" y="4313634"/>
            <a:ext cx="643890" cy="322659"/>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4313634"/>
            <a:ext cx="643890" cy="322659"/>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4313634"/>
            <a:ext cx="643890" cy="322659"/>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4313634"/>
            <a:ext cx="643890" cy="322659"/>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4313634"/>
            <a:ext cx="643890" cy="322659"/>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4313634"/>
            <a:ext cx="643890" cy="322659"/>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4313634"/>
            <a:ext cx="643890" cy="322659"/>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4313634"/>
            <a:ext cx="643890" cy="322659"/>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4313634"/>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4313634"/>
            <a:ext cx="643890" cy="322659"/>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4313634"/>
            <a:ext cx="643890" cy="322659"/>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4313634"/>
            <a:ext cx="643890" cy="322659"/>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4313634"/>
            <a:ext cx="643890" cy="322659"/>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4313634"/>
            <a:ext cx="643890" cy="322659"/>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4313634"/>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63629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Metallized Films</a:t>
            </a:r>
          </a:p>
        </p:txBody>
      </p:sp>
      <p:sp>
        <p:nvSpPr>
          <p:cNvPr id="188" name="Rectangle 187"/>
          <p:cNvSpPr/>
          <p:nvPr/>
        </p:nvSpPr>
        <p:spPr>
          <a:xfrm>
            <a:off x="1857375" y="4636294"/>
            <a:ext cx="643890" cy="322659"/>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4636294"/>
            <a:ext cx="643890" cy="322659"/>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4636294"/>
            <a:ext cx="643890" cy="322659"/>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4636294"/>
            <a:ext cx="643890" cy="322659"/>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4636294"/>
            <a:ext cx="643890" cy="322659"/>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4636294"/>
            <a:ext cx="643890" cy="322659"/>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4636294"/>
            <a:ext cx="643890" cy="322659"/>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4636294"/>
            <a:ext cx="643890" cy="322659"/>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4636294"/>
            <a:ext cx="643890" cy="322659"/>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4636294"/>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4636294"/>
            <a:ext cx="643890" cy="322659"/>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4636294"/>
            <a:ext cx="643890" cy="322659"/>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4636294"/>
            <a:ext cx="643890" cy="322659"/>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4636294"/>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4636294"/>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958953"/>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Foil-Laminated Structures</a:t>
            </a:r>
          </a:p>
        </p:txBody>
      </p:sp>
      <p:sp>
        <p:nvSpPr>
          <p:cNvPr id="204" name="Rectangle 203"/>
          <p:cNvSpPr/>
          <p:nvPr/>
        </p:nvSpPr>
        <p:spPr>
          <a:xfrm>
            <a:off x="1857375" y="4958953"/>
            <a:ext cx="643890" cy="322659"/>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958953"/>
            <a:ext cx="643890" cy="322659"/>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958953"/>
            <a:ext cx="643890" cy="322659"/>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958953"/>
            <a:ext cx="643890" cy="322659"/>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958953"/>
            <a:ext cx="643890" cy="322659"/>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958953"/>
            <a:ext cx="643890" cy="322659"/>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958953"/>
            <a:ext cx="643890" cy="322659"/>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958953"/>
            <a:ext cx="643890" cy="322659"/>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958953"/>
            <a:ext cx="643890" cy="322659"/>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958953"/>
            <a:ext cx="643890" cy="322659"/>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958953"/>
            <a:ext cx="643890" cy="322659"/>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958953"/>
            <a:ext cx="643890" cy="322659"/>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958953"/>
            <a:ext cx="643890" cy="322659"/>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958953"/>
            <a:ext cx="643890" cy="322659"/>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958953"/>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28161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Mono-Material Recyclable Structures</a:t>
            </a:r>
          </a:p>
        </p:txBody>
      </p:sp>
      <p:sp>
        <p:nvSpPr>
          <p:cNvPr id="220" name="Rectangle 219"/>
          <p:cNvSpPr/>
          <p:nvPr/>
        </p:nvSpPr>
        <p:spPr>
          <a:xfrm>
            <a:off x="1857375" y="5281612"/>
            <a:ext cx="643890" cy="322659"/>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5281612"/>
            <a:ext cx="643890" cy="322659"/>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5281612"/>
            <a:ext cx="643890" cy="322659"/>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5281612"/>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5281612"/>
            <a:ext cx="643890" cy="322659"/>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5281612"/>
            <a:ext cx="643890" cy="322659"/>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5281612"/>
            <a:ext cx="643890" cy="322659"/>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5281612"/>
            <a:ext cx="643890" cy="322659"/>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5281612"/>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5281612"/>
            <a:ext cx="643890" cy="322659"/>
          </a:xfrm>
          <a:prstGeom prst="rect">
            <a:avLst/>
          </a:prstGeom>
          <a:solidFill>
            <a:srgbClr val="0D67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5281612"/>
            <a:ext cx="643890" cy="322659"/>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5281612"/>
            <a:ext cx="643890" cy="322659"/>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5281612"/>
            <a:ext cx="643890" cy="322659"/>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5281612"/>
            <a:ext cx="643890" cy="322659"/>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5281612"/>
            <a:ext cx="643890" cy="322659"/>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60427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PE-Based</a:t>
            </a:r>
          </a:p>
        </p:txBody>
      </p:sp>
      <p:sp>
        <p:nvSpPr>
          <p:cNvPr id="236" name="Rectangle 235"/>
          <p:cNvSpPr/>
          <p:nvPr/>
        </p:nvSpPr>
        <p:spPr>
          <a:xfrm>
            <a:off x="1857375" y="5604272"/>
            <a:ext cx="643890" cy="322659"/>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5604272"/>
            <a:ext cx="643890" cy="322659"/>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5604272"/>
            <a:ext cx="643890" cy="322659"/>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5604272"/>
            <a:ext cx="643890" cy="322659"/>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5604272"/>
            <a:ext cx="643890" cy="322659"/>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5604272"/>
            <a:ext cx="643890" cy="322659"/>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5604272"/>
            <a:ext cx="643890" cy="322659"/>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5604272"/>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5604272"/>
            <a:ext cx="643890" cy="322659"/>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5604272"/>
            <a:ext cx="643890" cy="322659"/>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5604272"/>
            <a:ext cx="643890" cy="322659"/>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5604272"/>
            <a:ext cx="643890" cy="322659"/>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5604272"/>
            <a:ext cx="643890" cy="322659"/>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5604272"/>
            <a:ext cx="643890" cy="322659"/>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5604272"/>
            <a:ext cx="643890" cy="322659"/>
          </a:xfrm>
          <a:prstGeom prst="rect">
            <a:avLst/>
          </a:prstGeom>
          <a:solidFill>
            <a:srgbClr val="0D57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92693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PP-Based</a:t>
            </a:r>
          </a:p>
        </p:txBody>
      </p:sp>
      <p:sp>
        <p:nvSpPr>
          <p:cNvPr id="252" name="Rectangle 251"/>
          <p:cNvSpPr/>
          <p:nvPr/>
        </p:nvSpPr>
        <p:spPr>
          <a:xfrm>
            <a:off x="1857375" y="5926931"/>
            <a:ext cx="643890" cy="322659"/>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926931"/>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926931"/>
            <a:ext cx="643890" cy="322659"/>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926931"/>
            <a:ext cx="643890" cy="322659"/>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926931"/>
            <a:ext cx="643890" cy="322659"/>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926931"/>
            <a:ext cx="643890" cy="322659"/>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926931"/>
            <a:ext cx="643890" cy="322659"/>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926931"/>
            <a:ext cx="643890" cy="322659"/>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926931"/>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926931"/>
            <a:ext cx="643890" cy="322659"/>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926931"/>
            <a:ext cx="643890" cy="322659"/>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926931"/>
            <a:ext cx="643890" cy="322659"/>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926931"/>
            <a:ext cx="643890" cy="322659"/>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926931"/>
            <a:ext cx="643890" cy="322659"/>
          </a:xfrm>
          <a:prstGeom prst="rect">
            <a:avLst/>
          </a:prstGeom>
          <a:solidFill>
            <a:srgbClr val="0E68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926931"/>
            <a:ext cx="643890" cy="322659"/>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624959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PET-Based</a:t>
            </a:r>
          </a:p>
        </p:txBody>
      </p:sp>
      <p:sp>
        <p:nvSpPr>
          <p:cNvPr id="268" name="Rectangle 267"/>
          <p:cNvSpPr/>
          <p:nvPr/>
        </p:nvSpPr>
        <p:spPr>
          <a:xfrm>
            <a:off x="1857375" y="6249591"/>
            <a:ext cx="643890" cy="322659"/>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6249591"/>
            <a:ext cx="643890" cy="322659"/>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6249591"/>
            <a:ext cx="643890" cy="322659"/>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6249591"/>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6249591"/>
            <a:ext cx="643890" cy="322659"/>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6249591"/>
            <a:ext cx="643890" cy="322659"/>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6249591"/>
            <a:ext cx="643890" cy="322659"/>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6249591"/>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6249591"/>
            <a:ext cx="643890" cy="322659"/>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6249591"/>
            <a:ext cx="643890" cy="322659"/>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6249591"/>
            <a:ext cx="643890" cy="322659"/>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6249591"/>
            <a:ext cx="643890" cy="322659"/>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6249591"/>
            <a:ext cx="643890" cy="322659"/>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6249591"/>
            <a:ext cx="643890" cy="322659"/>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6249591"/>
            <a:ext cx="643890" cy="322659"/>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Rectangle 314"/>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Rectangle 315"/>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325" name="TextBox 324"/>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326" name="TextBox 325"/>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327" name="TextBox 3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Barrier Level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Barrier Level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Barrier Level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Barrier Level,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Barrier Level segment categorizes the market by barrier level.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Medium-Barrier Films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2,842</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5,463</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6.8%</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High-Barrier Films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2,698</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5,573</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7.5%</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Low-Barrier Films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1,685</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3,340</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7.1%</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Ultra-High-Barrier Films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1,099</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2,242</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7.4%</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barrier level, high-barrier films segment is expected to witness the highest CAGR of 7.5% over the forecast period. In terms of value share by barrier level, the high-barrier films segment is expected to dominate the market, gaining 112 BPS and accounting for 33.5%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High-barrier films segment is projected to register 1.0X higher value than medium-barrier films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Medium-Barrier Films: </a:t>
            </a:r>
            <a:r>
              <a:rPr sz="1100" b="0">
                <a:solidFill>
                  <a:srgbClr val="2E2E2E"/>
                </a:solidFill>
                <a:latin typeface="Calibri"/>
              </a:rPr>
              <a:t>34% of 2026 value · 6.8%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High-Barrier Films: </a:t>
            </a:r>
            <a:r>
              <a:rPr sz="1100" b="0">
                <a:solidFill>
                  <a:srgbClr val="2E2E2E"/>
                </a:solidFill>
                <a:latin typeface="Calibri"/>
              </a:rPr>
              <a:t>32% of 2026 value · 7.5%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Low-Barrier Films: </a:t>
            </a:r>
            <a:r>
              <a:rPr sz="1100" b="0">
                <a:solidFill>
                  <a:srgbClr val="2E2E2E"/>
                </a:solidFill>
                <a:latin typeface="Calibri"/>
              </a:rPr>
              <a:t>20% of 2026 value · 7.1%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Ultra-High-Barrier Films: </a:t>
            </a:r>
            <a:r>
              <a:rPr sz="1100" b="0">
                <a:solidFill>
                  <a:srgbClr val="2E2E2E"/>
                </a:solidFill>
                <a:latin typeface="Calibri"/>
              </a:rPr>
              <a:t>13% of 2026 value · 7.4% CAGR serves a niche.</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Barrier Level split shows how demand is distributed across barrier level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Barrier Level segment is projected to grow at a CAGR of 7.2%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Structure &amp; Attractiveness, By Barrier Level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Barrier Level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Barrier Level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High-barrier films followed by medium-barrier films are expected to be the two most attractive barrier level segments in the Latin America flexible plastic packaging market in terms of value over the forecast period. High-Barrier films and Medium-Barrier films exhibit a CAGR index of 105 and 94 and a market share index of 130 and 137 respectively, against the segment average of 100. The ultra-high-barrier films segment is expected to be less attractive as compared to other segments over the forecast period, owing to its lower CAGR and incremental opportunity. High-Barrier Films rank most attractive because they combine a 32.4% share with the fastest growth at 7.5%, ahead of the 7.2% market. Longer shelf life for protein, cheese, snacks and ready meals drives upgrades, helped by urbanisation, retail modernisation and rising packaged-food consumption, while Medium-Barrier Films at 6.8% grow slowest despite their size.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Barrier Level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Low-Barrier Films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Medium-Barrier Films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High-Barrier Films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Ultra-High-Barrier Films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Volume Analysis, By Barrier Level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Barrier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62275"/>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Volume Analysis, By Barrier Level</a:t>
            </a:r>
          </a:p>
        </p:txBody>
      </p:sp>
      <p:sp>
        <p:nvSpPr>
          <p:cNvPr id="17" name="Rectangle 16"/>
          <p:cNvSpPr/>
          <p:nvPr/>
        </p:nvSpPr>
        <p:spPr>
          <a:xfrm>
            <a:off x="276225" y="3200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86125"/>
            <a:ext cx="11639550" cy="3267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High-barrier films segment is projected to register 1.0X higher volume than medium-barrier films segment in 2036. Among flexible plastic packaging by barrier level, high-barrier films segment is expected to witness the highest CAGR of 6.1% over the forecast period.</a:t>
            </a:r>
          </a:p>
          <a:p>
            <a:pPr algn="l">
              <a:lnSpc>
                <a:spcPct val="110000"/>
              </a:lnSpc>
              <a:spcBef>
                <a:spcPts val="0"/>
              </a:spcBef>
              <a:spcAft>
                <a:spcPts val="500"/>
              </a:spcAft>
            </a:pPr>
            <a:r>
              <a:rPr sz="1150" b="0">
                <a:solidFill>
                  <a:srgbClr val="2E2E2E"/>
                </a:solidFill>
                <a:latin typeface="Calibri"/>
              </a:rPr>
              <a:t>In terms of volume share by barrier level, the high-barrier films segment is expected to dominate the market, gaining 112 BPS and accounting for 33.6% share by 2036. The medium-barrier films segment is expected to lose 127 BPS over the forecast period to account for 32.9% share by 2036.</a:t>
            </a:r>
          </a:p>
          <a:p>
            <a:pPr algn="l">
              <a:lnSpc>
                <a:spcPct val="110000"/>
              </a:lnSpc>
              <a:spcBef>
                <a:spcPts val="0"/>
              </a:spcBef>
              <a:spcAft>
                <a:spcPts val="500"/>
              </a:spcAft>
            </a:pPr>
            <a:r>
              <a:rPr sz="1150" b="0">
                <a:solidFill>
                  <a:srgbClr val="2E2E2E"/>
                </a:solidFill>
                <a:latin typeface="Calibri"/>
              </a:rPr>
              <a:t>High-Barrier Films gains 112 BPS of volume share because protein, ready meals and e-commerce-delivered food need longer shelf life and lower spoilage, which pulls demand up from medium-barrier grades. Its 6.1% CAGR compares with a 5.7% market rate, while Medium-Barrier Films loses 127 BPS at 5.3% as demand polarises between cost-led low-barrier grades and performance-led high-barrier grades. In Latin America, urbanisation, modern retail expansion and local converting capacity support the shift.</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Analysis, By Barrier Level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Barrier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Barrier Level (US$ Mn)</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62275"/>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Value Analysis, By Barrier Level</a:t>
            </a:r>
          </a:p>
        </p:txBody>
      </p:sp>
      <p:sp>
        <p:nvSpPr>
          <p:cNvPr id="17" name="Rectangle 16"/>
          <p:cNvSpPr/>
          <p:nvPr/>
        </p:nvSpPr>
        <p:spPr>
          <a:xfrm>
            <a:off x="276225" y="3200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86125"/>
            <a:ext cx="11639550" cy="3267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High-barrier films segment is projected to register 1.0X higher value than medium-barrier films segment in 2036. Among flexible plastic packaging by barrier level, high-barrier films segment is expected to witness the highest CAGR of 7.5% over the forecast period.</a:t>
            </a:r>
          </a:p>
          <a:p>
            <a:pPr algn="l">
              <a:lnSpc>
                <a:spcPct val="110000"/>
              </a:lnSpc>
              <a:spcBef>
                <a:spcPts val="0"/>
              </a:spcBef>
              <a:spcAft>
                <a:spcPts val="500"/>
              </a:spcAft>
            </a:pPr>
            <a:r>
              <a:rPr sz="1150" b="0">
                <a:solidFill>
                  <a:srgbClr val="2E2E2E"/>
                </a:solidFill>
                <a:latin typeface="Calibri"/>
              </a:rPr>
              <a:t>In terms of value share by barrier level, the high-barrier films segment is expected to dominate the market, gaining 112 BPS and accounting for 33.5% share by 2036. The medium-barrier films segment is expected to lose 127 BPS over the forecast period to account for 32.9% share by 2036.</a:t>
            </a:r>
          </a:p>
          <a:p>
            <a:pPr algn="l">
              <a:lnSpc>
                <a:spcPct val="110000"/>
              </a:lnSpc>
              <a:spcBef>
                <a:spcPts val="0"/>
              </a:spcBef>
              <a:spcAft>
                <a:spcPts val="500"/>
              </a:spcAft>
            </a:pPr>
            <a:r>
              <a:rPr sz="1150" b="0">
                <a:solidFill>
                  <a:srgbClr val="2E2E2E"/>
                </a:solidFill>
                <a:latin typeface="Calibri"/>
              </a:rPr>
              <a:t>High-Barrier Films gain 112 BPS and grow at 7.5% because growing exports of meat, dairy and processed foods, plus longer distribution routes, call for stronger oxygen and moisture protection. Medium-Barrier Films lose 127 BPS, growing at 6.8%, as customers upgrade to higher-barrier or recyclable films. Ultra-High-Barrier Films also gain, up 29 BPS, on pharmaceutical and premium food packaging.</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&amp; Share Shift, By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Barrier Level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Composition, By Barrier Level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79664"/>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7490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9870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Ultra-High-Barrier Films</a:t>
            </a:r>
          </a:p>
        </p:txBody>
      </p:sp>
      <p:sp>
        <p:nvSpPr>
          <p:cNvPr id="19" name="BPS Value 1"/>
          <p:cNvSpPr txBox="1"/>
          <p:nvPr/>
        </p:nvSpPr>
        <p:spPr>
          <a:xfrm>
            <a:off x="6896100" y="1960614"/>
            <a:ext cx="514350" cy="123825"/>
          </a:xfrm>
          <a:prstGeom prst="rect">
            <a:avLst/>
          </a:prstGeom>
          <a:noFill/>
        </p:spPr>
        <p:txBody>
          <a:bodyPr wrap="none" lIns="0" rIns="0" tIns="0" bIns="0" anchor="ctr">
            <a:spAutoFit/>
          </a:bodyPr>
          <a:lstStyle/>
          <a:p>
            <a:pPr algn="r"/>
            <a:r>
              <a:rPr sz="900" b="1">
                <a:solidFill>
                  <a:srgbClr val="2E7D32"/>
                </a:solidFill>
                <a:latin typeface="Calibri"/>
              </a:rPr>
              <a:t>+29</a:t>
            </a:r>
          </a:p>
        </p:txBody>
      </p:sp>
      <p:sp>
        <p:nvSpPr>
          <p:cNvPr id="20" name="FMI Legend Chip"/>
          <p:cNvSpPr/>
          <p:nvPr/>
        </p:nvSpPr>
        <p:spPr>
          <a:xfrm>
            <a:off x="4928997" y="274755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74279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66659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Low-Barrier Films</a:t>
            </a:r>
          </a:p>
        </p:txBody>
      </p:sp>
      <p:sp>
        <p:nvSpPr>
          <p:cNvPr id="23" name="BPS Value 2"/>
          <p:cNvSpPr txBox="1"/>
          <p:nvPr/>
        </p:nvSpPr>
        <p:spPr>
          <a:xfrm>
            <a:off x="6896100" y="2728504"/>
            <a:ext cx="514350" cy="123825"/>
          </a:xfrm>
          <a:prstGeom prst="rect">
            <a:avLst/>
          </a:prstGeom>
          <a:noFill/>
        </p:spPr>
        <p:txBody>
          <a:bodyPr wrap="none" lIns="0" rIns="0" tIns="0" bIns="0" anchor="ctr">
            <a:spAutoFit/>
          </a:bodyPr>
          <a:lstStyle/>
          <a:p>
            <a:pPr algn="r"/>
            <a:r>
              <a:rPr sz="900" b="1">
                <a:solidFill>
                  <a:srgbClr val="E44D3A"/>
                </a:solidFill>
                <a:latin typeface="Calibri"/>
              </a:rPr>
              <a:t>-14</a:t>
            </a:r>
          </a:p>
        </p:txBody>
      </p:sp>
      <p:sp>
        <p:nvSpPr>
          <p:cNvPr id="24" name="FMI Legend Chip"/>
          <p:cNvSpPr/>
          <p:nvPr/>
        </p:nvSpPr>
        <p:spPr>
          <a:xfrm>
            <a:off x="4928997" y="395864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95388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87768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Medium-Barrier Films</a:t>
            </a:r>
          </a:p>
        </p:txBody>
      </p:sp>
      <p:sp>
        <p:nvSpPr>
          <p:cNvPr id="27" name="BPS Value 3"/>
          <p:cNvSpPr txBox="1"/>
          <p:nvPr/>
        </p:nvSpPr>
        <p:spPr>
          <a:xfrm>
            <a:off x="6896100" y="3939598"/>
            <a:ext cx="514350" cy="123825"/>
          </a:xfrm>
          <a:prstGeom prst="rect">
            <a:avLst/>
          </a:prstGeom>
          <a:noFill/>
        </p:spPr>
        <p:txBody>
          <a:bodyPr wrap="none" lIns="0" rIns="0" tIns="0" bIns="0" anchor="ctr">
            <a:spAutoFit/>
          </a:bodyPr>
          <a:lstStyle/>
          <a:p>
            <a:pPr algn="r"/>
            <a:r>
              <a:rPr sz="900" b="1">
                <a:solidFill>
                  <a:srgbClr val="E44D3A"/>
                </a:solidFill>
                <a:latin typeface="Calibri"/>
              </a:rPr>
              <a:t>-127</a:t>
            </a:r>
          </a:p>
        </p:txBody>
      </p:sp>
      <p:sp>
        <p:nvSpPr>
          <p:cNvPr id="28" name="FMI Legend Chip"/>
          <p:cNvSpPr/>
          <p:nvPr/>
        </p:nvSpPr>
        <p:spPr>
          <a:xfrm>
            <a:off x="4928997" y="547694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47218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39598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High-Barrier Films</a:t>
            </a:r>
          </a:p>
        </p:txBody>
      </p:sp>
      <p:sp>
        <p:nvSpPr>
          <p:cNvPr id="31" name="BPS Value 4"/>
          <p:cNvSpPr txBox="1"/>
          <p:nvPr/>
        </p:nvSpPr>
        <p:spPr>
          <a:xfrm>
            <a:off x="6896100" y="5457898"/>
            <a:ext cx="514350" cy="123825"/>
          </a:xfrm>
          <a:prstGeom prst="rect">
            <a:avLst/>
          </a:prstGeom>
          <a:noFill/>
        </p:spPr>
        <p:txBody>
          <a:bodyPr wrap="none" lIns="0" rIns="0" tIns="0" bIns="0" anchor="ctr">
            <a:spAutoFit/>
          </a:bodyPr>
          <a:lstStyle/>
          <a:p>
            <a:pPr algn="r"/>
            <a:r>
              <a:rPr sz="900" b="1">
                <a:solidFill>
                  <a:srgbClr val="2E7D32"/>
                </a:solidFill>
                <a:latin typeface="Calibri"/>
              </a:rPr>
              <a:t>+112</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Latin America Read-out, By Barrier Level</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barrier level, high-barrier films segment is expected to witness the highest CAGR of 7.5% over the forecast period. In terms of value share by barrier level, the high-barrier films segment is expected to dominate the market, gaining 112 BPS and accounting for 33.5% share by 2036.</a:t>
            </a:r>
          </a:p>
          <a:p>
            <a:pPr algn="l">
              <a:lnSpc>
                <a:spcPct val="110000"/>
              </a:lnSpc>
              <a:spcBef>
                <a:spcPts val="0"/>
              </a:spcBef>
              <a:spcAft>
                <a:spcPts val="500"/>
              </a:spcAft>
            </a:pPr>
            <a:r>
              <a:rPr sz="1150" b="0">
                <a:solidFill>
                  <a:srgbClr val="2E2E2E"/>
                </a:solidFill>
                <a:latin typeface="Calibri"/>
              </a:rPr>
              <a:t>The medium-barrier films segment is expected to lose 127 BPS over the forecast period to account for 32.9% share by 2036.</a:t>
            </a:r>
          </a:p>
          <a:p>
            <a:pPr algn="l">
              <a:lnSpc>
                <a:spcPct val="110000"/>
              </a:lnSpc>
              <a:spcBef>
                <a:spcPts val="0"/>
              </a:spcBef>
              <a:spcAft>
                <a:spcPts val="500"/>
              </a:spcAft>
            </a:pPr>
            <a:r>
              <a:rPr sz="1150" b="0">
                <a:solidFill>
                  <a:srgbClr val="2E2E2E"/>
                </a:solidFill>
                <a:latin typeface="Calibri"/>
              </a:rPr>
              <a:t>High-Barrier Films grow fastest at 7.5% against the 7.2% market because fresh protein, cheese, snacks and ready meals need longer shelf life and less food waste, and brand owners keep upgrading packs. Demand is reinforced by urbanisation, retail modernisation and rising packaged-food consumption, while Medium-Barrier Films at 6.8% lose share to the trade-up.</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Volume, By Barrier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Barrier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Volume YoY Growth,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Volume YoY Heatmap, By Barrier Level (%)  ·  light = lower, dark = higher growth</a:t>
            </a:r>
          </a:p>
        </p:txBody>
      </p:sp>
      <p:sp>
        <p:nvSpPr>
          <p:cNvPr id="17" name="TextBox 16"/>
          <p:cNvSpPr txBox="1"/>
          <p:nvPr/>
        </p:nvSpPr>
        <p:spPr>
          <a:xfrm>
            <a:off x="18573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86100"/>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sp>
        <p:nvSpPr>
          <p:cNvPr id="33" name="Rectangle 32"/>
          <p:cNvSpPr/>
          <p:nvPr/>
        </p:nvSpPr>
        <p:spPr>
          <a:xfrm>
            <a:off x="1857375" y="3086100"/>
            <a:ext cx="643890" cy="87153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86100"/>
            <a:ext cx="643890" cy="871538"/>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86100"/>
            <a:ext cx="643890" cy="871538"/>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86100"/>
            <a:ext cx="643890" cy="871538"/>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86100"/>
            <a:ext cx="643890" cy="871538"/>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86100"/>
            <a:ext cx="643890" cy="871538"/>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86100"/>
            <a:ext cx="643890" cy="871538"/>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86100"/>
            <a:ext cx="643890" cy="871538"/>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86100"/>
            <a:ext cx="643890" cy="871538"/>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86100"/>
            <a:ext cx="643890" cy="87153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86100"/>
            <a:ext cx="643890" cy="87153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86100"/>
            <a:ext cx="643890" cy="87153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86100"/>
            <a:ext cx="643890" cy="871538"/>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86100"/>
            <a:ext cx="643890" cy="871538"/>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86100"/>
            <a:ext cx="643890" cy="871538"/>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7638"/>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sp>
        <p:nvSpPr>
          <p:cNvPr id="49" name="Rectangle 48"/>
          <p:cNvSpPr/>
          <p:nvPr/>
        </p:nvSpPr>
        <p:spPr>
          <a:xfrm>
            <a:off x="1857375" y="3957638"/>
            <a:ext cx="643890" cy="871538"/>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3957638"/>
            <a:ext cx="643890" cy="871538"/>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3957638"/>
            <a:ext cx="643890" cy="871538"/>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3957638"/>
            <a:ext cx="643890" cy="871538"/>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3957638"/>
            <a:ext cx="643890" cy="871538"/>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3957638"/>
            <a:ext cx="643890" cy="871538"/>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3957638"/>
            <a:ext cx="643890" cy="871538"/>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3957638"/>
            <a:ext cx="643890" cy="871538"/>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3957638"/>
            <a:ext cx="643890" cy="871538"/>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3957638"/>
            <a:ext cx="643890" cy="871538"/>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3957638"/>
            <a:ext cx="643890" cy="871538"/>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3957638"/>
            <a:ext cx="643890" cy="871538"/>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3957638"/>
            <a:ext cx="643890" cy="871538"/>
          </a:xfrm>
          <a:prstGeom prst="rect">
            <a:avLst/>
          </a:prstGeom>
          <a:solidFill>
            <a:srgbClr val="68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3957638"/>
            <a:ext cx="643890" cy="871538"/>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3957638"/>
            <a:ext cx="643890" cy="871538"/>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29175"/>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sp>
        <p:nvSpPr>
          <p:cNvPr id="65" name="Rectangle 64"/>
          <p:cNvSpPr/>
          <p:nvPr/>
        </p:nvSpPr>
        <p:spPr>
          <a:xfrm>
            <a:off x="1857375" y="4829175"/>
            <a:ext cx="643890" cy="871538"/>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29175"/>
            <a:ext cx="643890" cy="871538"/>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29175"/>
            <a:ext cx="643890" cy="871538"/>
          </a:xfrm>
          <a:prstGeom prst="rect">
            <a:avLst/>
          </a:prstGeom>
          <a:solidFill>
            <a:srgbClr val="5A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29175"/>
            <a:ext cx="643890" cy="87153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29175"/>
            <a:ext cx="643890" cy="871538"/>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29175"/>
            <a:ext cx="643890" cy="87153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29175"/>
            <a:ext cx="643890" cy="87153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29175"/>
            <a:ext cx="643890" cy="871538"/>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29175"/>
            <a:ext cx="643890" cy="871538"/>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29175"/>
            <a:ext cx="643890" cy="87153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29175"/>
            <a:ext cx="643890" cy="871538"/>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29175"/>
            <a:ext cx="643890" cy="871538"/>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29175"/>
            <a:ext cx="643890" cy="87153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29175"/>
            <a:ext cx="643890" cy="871538"/>
          </a:xfrm>
          <a:prstGeom prst="rect">
            <a:avLst/>
          </a:prstGeom>
          <a:solidFill>
            <a:srgbClr val="5A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29175"/>
            <a:ext cx="643890" cy="871538"/>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00712"/>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81" name="Rectangle 80"/>
          <p:cNvSpPr/>
          <p:nvPr/>
        </p:nvSpPr>
        <p:spPr>
          <a:xfrm>
            <a:off x="1857375" y="5700712"/>
            <a:ext cx="643890" cy="871538"/>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00712"/>
            <a:ext cx="643890" cy="871538"/>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00712"/>
            <a:ext cx="643890" cy="871538"/>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00712"/>
            <a:ext cx="643890" cy="871538"/>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00712"/>
            <a:ext cx="643890" cy="871538"/>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00712"/>
            <a:ext cx="643890" cy="871538"/>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00712"/>
            <a:ext cx="643890" cy="871538"/>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00712"/>
            <a:ext cx="643890" cy="871538"/>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00712"/>
            <a:ext cx="643890" cy="871538"/>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00712"/>
            <a:ext cx="643890" cy="871538"/>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00712"/>
            <a:ext cx="643890" cy="871538"/>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00712"/>
            <a:ext cx="643890" cy="87153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00712"/>
            <a:ext cx="643890" cy="871538"/>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00712"/>
            <a:ext cx="643890" cy="871538"/>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00712"/>
            <a:ext cx="643890" cy="871538"/>
          </a:xfrm>
          <a:prstGeom prst="rect">
            <a:avLst/>
          </a:prstGeom>
          <a:solidFill>
            <a:srgbClr val="0E69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124200"/>
            <a:ext cx="104775" cy="9286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209449"/>
            <a:ext cx="104775" cy="9286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294698"/>
            <a:ext cx="104775" cy="9286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379946"/>
            <a:ext cx="104775" cy="9286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465195"/>
            <a:ext cx="104775" cy="9286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550444"/>
            <a:ext cx="104775" cy="9286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635692"/>
            <a:ext cx="104775" cy="9286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720941"/>
            <a:ext cx="104775" cy="9286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806190"/>
            <a:ext cx="104775" cy="9286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3891439"/>
            <a:ext cx="104775" cy="9286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3976688"/>
            <a:ext cx="104775" cy="9286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061936"/>
            <a:ext cx="104775" cy="9286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147185"/>
            <a:ext cx="104775" cy="9286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232434"/>
            <a:ext cx="104775" cy="9286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317682"/>
            <a:ext cx="104775" cy="9286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402931"/>
            <a:ext cx="104775" cy="9286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488180"/>
            <a:ext cx="104775" cy="9286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573429"/>
            <a:ext cx="104775" cy="9286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658678"/>
            <a:ext cx="104775" cy="9286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743926"/>
            <a:ext cx="104775" cy="9286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829175"/>
            <a:ext cx="104775" cy="9286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14424"/>
            <a:ext cx="104775" cy="9286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4999672"/>
            <a:ext cx="104775" cy="9286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084921"/>
            <a:ext cx="104775" cy="9286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170170"/>
            <a:ext cx="104775" cy="9286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255419"/>
            <a:ext cx="104775" cy="9286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40668"/>
            <a:ext cx="104775" cy="9286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25916"/>
            <a:ext cx="104775" cy="9286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11165"/>
            <a:ext cx="104775" cy="9286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596414"/>
            <a:ext cx="104775" cy="9286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681662"/>
            <a:ext cx="104775" cy="9286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766911"/>
            <a:ext cx="104775" cy="9286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52160"/>
            <a:ext cx="104775" cy="9286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37409"/>
            <a:ext cx="104775" cy="9286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22658"/>
            <a:ext cx="104775" cy="9286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07906"/>
            <a:ext cx="104775" cy="9286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193155"/>
            <a:ext cx="104775" cy="9286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78404"/>
            <a:ext cx="104775" cy="9286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63652"/>
            <a:ext cx="104775" cy="9286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48901"/>
            <a:ext cx="104775" cy="9286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124200"/>
            <a:ext cx="104775" cy="3409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0575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38" name="TextBox 137"/>
          <p:cNvSpPr txBox="1"/>
          <p:nvPr/>
        </p:nvSpPr>
        <p:spPr>
          <a:xfrm>
            <a:off x="11687175" y="47625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Barrier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Barrier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Growth,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Heatmap, By Barrier Level (%)  ·  light = lower, dark = higher growth</a:t>
            </a:r>
          </a:p>
        </p:txBody>
      </p:sp>
      <p:sp>
        <p:nvSpPr>
          <p:cNvPr id="17" name="TextBox 16"/>
          <p:cNvSpPr txBox="1"/>
          <p:nvPr/>
        </p:nvSpPr>
        <p:spPr>
          <a:xfrm>
            <a:off x="18573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86100"/>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sp>
        <p:nvSpPr>
          <p:cNvPr id="33" name="Rectangle 32"/>
          <p:cNvSpPr/>
          <p:nvPr/>
        </p:nvSpPr>
        <p:spPr>
          <a:xfrm>
            <a:off x="1857375" y="3086100"/>
            <a:ext cx="643890" cy="87153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86100"/>
            <a:ext cx="643890" cy="871538"/>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86100"/>
            <a:ext cx="643890" cy="871538"/>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86100"/>
            <a:ext cx="643890" cy="871538"/>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86100"/>
            <a:ext cx="643890" cy="871538"/>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86100"/>
            <a:ext cx="643890" cy="871538"/>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86100"/>
            <a:ext cx="643890" cy="871538"/>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86100"/>
            <a:ext cx="643890" cy="871538"/>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86100"/>
            <a:ext cx="643890" cy="871538"/>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86100"/>
            <a:ext cx="643890" cy="871538"/>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86100"/>
            <a:ext cx="643890" cy="871538"/>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86100"/>
            <a:ext cx="643890" cy="87153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86100"/>
            <a:ext cx="643890" cy="871538"/>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86100"/>
            <a:ext cx="643890" cy="871538"/>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86100"/>
            <a:ext cx="643890" cy="871538"/>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7638"/>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sp>
        <p:nvSpPr>
          <p:cNvPr id="49" name="Rectangle 48"/>
          <p:cNvSpPr/>
          <p:nvPr/>
        </p:nvSpPr>
        <p:spPr>
          <a:xfrm>
            <a:off x="1857375" y="3957638"/>
            <a:ext cx="643890" cy="871538"/>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3957638"/>
            <a:ext cx="643890" cy="871538"/>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3957638"/>
            <a:ext cx="643890" cy="871538"/>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3957638"/>
            <a:ext cx="643890" cy="871538"/>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3957638"/>
            <a:ext cx="643890" cy="871538"/>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3957638"/>
            <a:ext cx="643890" cy="871538"/>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3957638"/>
            <a:ext cx="643890" cy="871538"/>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3957638"/>
            <a:ext cx="643890" cy="871538"/>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3957638"/>
            <a:ext cx="643890" cy="871538"/>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3957638"/>
            <a:ext cx="643890" cy="871538"/>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3957638"/>
            <a:ext cx="643890" cy="871538"/>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3957638"/>
            <a:ext cx="643890" cy="87153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3957638"/>
            <a:ext cx="643890" cy="871538"/>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3957638"/>
            <a:ext cx="643890" cy="871538"/>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3957638"/>
            <a:ext cx="643890" cy="871538"/>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29175"/>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sp>
        <p:nvSpPr>
          <p:cNvPr id="65" name="Rectangle 64"/>
          <p:cNvSpPr/>
          <p:nvPr/>
        </p:nvSpPr>
        <p:spPr>
          <a:xfrm>
            <a:off x="1857375" y="4829175"/>
            <a:ext cx="643890" cy="871538"/>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29175"/>
            <a:ext cx="643890" cy="871538"/>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29175"/>
            <a:ext cx="643890" cy="871538"/>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29175"/>
            <a:ext cx="643890" cy="871538"/>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29175"/>
            <a:ext cx="643890" cy="871538"/>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29175"/>
            <a:ext cx="643890" cy="87153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29175"/>
            <a:ext cx="643890" cy="871538"/>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29175"/>
            <a:ext cx="643890" cy="871538"/>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29175"/>
            <a:ext cx="643890" cy="87153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29175"/>
            <a:ext cx="643890" cy="871538"/>
          </a:xfrm>
          <a:prstGeom prst="rect">
            <a:avLst/>
          </a:prstGeom>
          <a:solidFill>
            <a:srgbClr val="1E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29175"/>
            <a:ext cx="643890" cy="87153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29175"/>
            <a:ext cx="643890" cy="87153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29175"/>
            <a:ext cx="643890" cy="87153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29175"/>
            <a:ext cx="643890" cy="87153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29175"/>
            <a:ext cx="643890" cy="871538"/>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00712"/>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81" name="Rectangle 80"/>
          <p:cNvSpPr/>
          <p:nvPr/>
        </p:nvSpPr>
        <p:spPr>
          <a:xfrm>
            <a:off x="1857375" y="5700712"/>
            <a:ext cx="643890" cy="871538"/>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00712"/>
            <a:ext cx="643890" cy="871538"/>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00712"/>
            <a:ext cx="643890" cy="871538"/>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00712"/>
            <a:ext cx="643890" cy="871538"/>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00712"/>
            <a:ext cx="643890" cy="871538"/>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00712"/>
            <a:ext cx="643890" cy="871538"/>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00712"/>
            <a:ext cx="643890" cy="871538"/>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00712"/>
            <a:ext cx="643890" cy="871538"/>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00712"/>
            <a:ext cx="643890" cy="871538"/>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00712"/>
            <a:ext cx="643890" cy="87153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00712"/>
            <a:ext cx="643890" cy="871538"/>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00712"/>
            <a:ext cx="643890" cy="871538"/>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00712"/>
            <a:ext cx="643890" cy="87153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00712"/>
            <a:ext cx="643890" cy="871538"/>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00712"/>
            <a:ext cx="643890" cy="871538"/>
          </a:xfrm>
          <a:prstGeom prst="rect">
            <a:avLst/>
          </a:prstGeom>
          <a:solidFill>
            <a:srgbClr val="0C41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124200"/>
            <a:ext cx="104775" cy="9286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209449"/>
            <a:ext cx="104775" cy="9286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294698"/>
            <a:ext cx="104775" cy="9286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379946"/>
            <a:ext cx="104775" cy="9286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465195"/>
            <a:ext cx="104775" cy="9286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550444"/>
            <a:ext cx="104775" cy="9286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635692"/>
            <a:ext cx="104775" cy="9286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720941"/>
            <a:ext cx="104775" cy="9286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806190"/>
            <a:ext cx="104775" cy="9286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3891439"/>
            <a:ext cx="104775" cy="9286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3976688"/>
            <a:ext cx="104775" cy="9286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061936"/>
            <a:ext cx="104775" cy="9286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147185"/>
            <a:ext cx="104775" cy="9286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232434"/>
            <a:ext cx="104775" cy="9286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317682"/>
            <a:ext cx="104775" cy="9286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402931"/>
            <a:ext cx="104775" cy="9286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488180"/>
            <a:ext cx="104775" cy="9286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573429"/>
            <a:ext cx="104775" cy="9286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658678"/>
            <a:ext cx="104775" cy="9286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743926"/>
            <a:ext cx="104775" cy="9286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829175"/>
            <a:ext cx="104775" cy="9286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14424"/>
            <a:ext cx="104775" cy="9286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4999672"/>
            <a:ext cx="104775" cy="9286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084921"/>
            <a:ext cx="104775" cy="9286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170170"/>
            <a:ext cx="104775" cy="9286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255419"/>
            <a:ext cx="104775" cy="9286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40668"/>
            <a:ext cx="104775" cy="9286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25916"/>
            <a:ext cx="104775" cy="9286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11165"/>
            <a:ext cx="104775" cy="9286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596414"/>
            <a:ext cx="104775" cy="9286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681662"/>
            <a:ext cx="104775" cy="9286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766911"/>
            <a:ext cx="104775" cy="9286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52160"/>
            <a:ext cx="104775" cy="9286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37409"/>
            <a:ext cx="104775" cy="9286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22658"/>
            <a:ext cx="104775" cy="9286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07906"/>
            <a:ext cx="104775" cy="9286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193155"/>
            <a:ext cx="104775" cy="9286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78404"/>
            <a:ext cx="104775" cy="9286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63652"/>
            <a:ext cx="104775" cy="9286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48901"/>
            <a:ext cx="104775" cy="9286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124200"/>
            <a:ext cx="104775" cy="3409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0575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38" name="TextBox 137"/>
          <p:cNvSpPr txBox="1"/>
          <p:nvPr/>
        </p:nvSpPr>
        <p:spPr>
          <a:xfrm>
            <a:off x="11687175" y="47625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Application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Application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Application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Application,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Application segment categorizes the market by application.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Food Packaging</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6,960</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13,904</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7.2%</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Non-Food Packaging</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1,364</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2,714</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7.1%</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application, food packaging segment is expected to witness the highest CAGR of 7.2% over the forecast period. In terms of value share by application, the food packaging segment is expected to dominate the market, maintaining its share and accounting for 83.7%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Food packaging segment is projected to register 5.1X higher value than non-food packaging segment in 2036.</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Food Packaging: </a:t>
            </a:r>
            <a:r>
              <a:rPr sz="1100" b="0">
                <a:solidFill>
                  <a:srgbClr val="2E2E2E"/>
                </a:solidFill>
                <a:latin typeface="Calibri"/>
              </a:rPr>
              <a:t>84% of 2026 value · 7.2%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Non-Food Packaging: </a:t>
            </a:r>
            <a:r>
              <a:rPr sz="1100" b="0">
                <a:solidFill>
                  <a:srgbClr val="2E2E2E"/>
                </a:solidFill>
                <a:latin typeface="Calibri"/>
              </a:rPr>
              <a:t>16% of 2026 value · 7.1% CAGR serves a niche.</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Application split shows how demand is distributed across application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Application segment is projected to grow at a CAGR of 7.2% from 2026 to 2036.</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Structure &amp; Attractiveness, By Application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Application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343650" cy="4276725"/>
          </a:xfrm>
          <a:prstGeom prst="roundRect">
            <a:avLst>
              <a:gd name="adj" fmla="val 178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762375"/>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276725"/>
          </a:xfrm>
          <a:prstGeom prst="roundRect">
            <a:avLst>
              <a:gd name="adj" fmla="val 178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Application · Bubble size represents 2036 value</a:t>
            </a:r>
          </a:p>
        </p:txBody>
      </p:sp>
      <p:graphicFrame>
        <p:nvGraphicFramePr>
          <p:cNvPr id="16" name="Chart 15"/>
          <p:cNvGraphicFramePr>
            <a:graphicFrameLocks noGrp="1"/>
          </p:cNvGraphicFramePr>
          <p:nvPr/>
        </p:nvGraphicFramePr>
        <p:xfrm>
          <a:off x="6734175" y="1266825"/>
          <a:ext cx="5210175" cy="3933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91150"/>
            <a:ext cx="11906250" cy="1228725"/>
          </a:xfrm>
          <a:prstGeom prst="roundRect">
            <a:avLst>
              <a:gd name="adj" fmla="val 62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Food packaging followed by non-food packaging are expected to be the two most attractive application segments in the Latin America flexible plastic packaging market in terms of value over the forecast period. Food packaging and Non-Food packaging exhibit a CAGR index of 100 and 100 and a market share index of 167 and 33 respectively, against the segment average of 100. Food Packaging is more attractive because it holds 83.6% of value and grows at 7.2%, slightly ahead of Non-Food Packaging at 7.1%. Rising incomes, expanding modern retail and food processing for domestic and export markets, covering protein, dairy, snacks and ready meals, all depend on flexible barrier film. The non-food segment follows the same economic trend but at a marginally slower pace.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Application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Food Packaging</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Non-Food Packaging</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Volume Analysis, By Application (Thousand MT)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Application,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Volume, By Application (Thousand MT)</a:t>
            </a:r>
          </a:p>
        </p:txBody>
      </p:sp>
      <p:graphicFrame>
        <p:nvGraphicFramePr>
          <p:cNvPr id="13" name="Table 12"/>
          <p:cNvGraphicFramePr>
            <a:graphicFrameLocks noGrp="1"/>
          </p:cNvGraphicFramePr>
          <p:nvPr/>
        </p:nvGraphicFramePr>
        <p:xfrm>
          <a:off x="152400" y="1238250"/>
          <a:ext cx="11887193" cy="2857498"/>
        </p:xfrm>
        <a:graphic>
          <a:graphicData uri="http://schemas.openxmlformats.org/drawingml/2006/table">
            <a:tbl>
              <a:tblPr>
                <a:tableStyleId>{5C22544A-7EE6-4342-B048-85BDC9FD1C3A}</a:tableStyleId>
              </a:tblPr>
              <a:tblGrid>
                <a:gridCol w="2284301"/>
                <a:gridCol w="564876"/>
                <a:gridCol w="564876"/>
                <a:gridCol w="564876"/>
                <a:gridCol w="564876"/>
                <a:gridCol w="564876"/>
                <a:gridCol w="564876"/>
                <a:gridCol w="564876"/>
                <a:gridCol w="564876"/>
                <a:gridCol w="564876"/>
                <a:gridCol w="564876"/>
                <a:gridCol w="564876"/>
                <a:gridCol w="564876"/>
                <a:gridCol w="564876"/>
                <a:gridCol w="564876"/>
                <a:gridCol w="564876"/>
                <a:gridCol w="564876"/>
                <a:gridCol w="564876"/>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40203">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1052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Volume Analysis, By Application (Thousand MT)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Application,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Volume, By Application (Thousand MT)</a:t>
            </a:r>
          </a:p>
        </p:txBody>
      </p:sp>
      <p:graphicFrame>
        <p:nvGraphicFramePr>
          <p:cNvPr id="12" name="Table 11"/>
          <p:cNvGraphicFramePr>
            <a:graphicFrameLocks noGrp="1"/>
          </p:cNvGraphicFramePr>
          <p:nvPr/>
        </p:nvGraphicFramePr>
        <p:xfrm>
          <a:off x="152400" y="1238250"/>
          <a:ext cx="11887203" cy="1514475"/>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Household Care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Volume Analysis, By Application</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Food packaging segment is projected to register 5.1X higher volume than non-food packaging segment in 2036. Among flexible plastic packaging by application, food packaging segment is expected to witness the highest CAGR of 5.8% over the forecast period.</a:t>
            </a:r>
          </a:p>
          <a:p>
            <a:pPr algn="l">
              <a:lnSpc>
                <a:spcPct val="110000"/>
              </a:lnSpc>
              <a:spcBef>
                <a:spcPts val="0"/>
              </a:spcBef>
              <a:spcAft>
                <a:spcPts val="500"/>
              </a:spcAft>
            </a:pPr>
            <a:r>
              <a:rPr sz="1150" b="0">
                <a:solidFill>
                  <a:srgbClr val="2E2E2E"/>
                </a:solidFill>
                <a:latin typeface="Calibri"/>
              </a:rPr>
              <a:t>In terms of volume share by application, the food packaging segment is expected to dominate the market, maintaining its share and accounting for 83.7% share by 2036.</a:t>
            </a:r>
          </a:p>
          <a:p>
            <a:pPr algn="l">
              <a:lnSpc>
                <a:spcPct val="110000"/>
              </a:lnSpc>
              <a:spcBef>
                <a:spcPts val="0"/>
              </a:spcBef>
              <a:spcAft>
                <a:spcPts val="500"/>
              </a:spcAft>
            </a:pPr>
            <a:r>
              <a:rPr sz="1150" b="0">
                <a:solidFill>
                  <a:srgbClr val="2E2E2E"/>
                </a:solidFill>
                <a:latin typeface="Calibri"/>
              </a:rPr>
              <a:t>Food Packaging gains a slight 5 BPS and grows at 5.8% because rising urban incomes, expanding supermarket chains, convenience stores and food delivery bring more packaged and processed food. Non-Food Packaging, covering personal care, household and agricultural uses, grows at 5.7%, only slightly slower. The mix therefore stays almost unchanged, with food retaining its dominant 83.6% share.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Analysis, By Application (US$ Mn)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Application,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Application (US$ Mn)</a:t>
            </a:r>
          </a:p>
        </p:txBody>
      </p:sp>
      <p:graphicFrame>
        <p:nvGraphicFramePr>
          <p:cNvPr id="13" name="Table 12"/>
          <p:cNvGraphicFramePr>
            <a:graphicFrameLocks noGrp="1"/>
          </p:cNvGraphicFramePr>
          <p:nvPr/>
        </p:nvGraphicFramePr>
        <p:xfrm>
          <a:off x="152400" y="1238250"/>
          <a:ext cx="11887193" cy="2857498"/>
        </p:xfrm>
        <a:graphic>
          <a:graphicData uri="http://schemas.openxmlformats.org/drawingml/2006/table">
            <a:tbl>
              <a:tblPr>
                <a:tableStyleId>{5C22544A-7EE6-4342-B048-85BDC9FD1C3A}</a:tableStyleId>
              </a:tblPr>
              <a:tblGrid>
                <a:gridCol w="2284301"/>
                <a:gridCol w="564876"/>
                <a:gridCol w="564876"/>
                <a:gridCol w="564876"/>
                <a:gridCol w="564876"/>
                <a:gridCol w="564876"/>
                <a:gridCol w="564876"/>
                <a:gridCol w="564876"/>
                <a:gridCol w="564876"/>
                <a:gridCol w="564876"/>
                <a:gridCol w="564876"/>
                <a:gridCol w="564876"/>
                <a:gridCol w="564876"/>
                <a:gridCol w="564876"/>
                <a:gridCol w="564876"/>
                <a:gridCol w="564876"/>
                <a:gridCol w="564876"/>
                <a:gridCol w="564876"/>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40203">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1052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Analysis, By Application (US$ Mn)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Application,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Application (US$ Mn)</a:t>
            </a:r>
          </a:p>
        </p:txBody>
      </p:sp>
      <p:graphicFrame>
        <p:nvGraphicFramePr>
          <p:cNvPr id="12" name="Table 11"/>
          <p:cNvGraphicFramePr>
            <a:graphicFrameLocks noGrp="1"/>
          </p:cNvGraphicFramePr>
          <p:nvPr/>
        </p:nvGraphicFramePr>
        <p:xfrm>
          <a:off x="152400" y="1238250"/>
          <a:ext cx="11887203" cy="1514475"/>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Household Care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Value Analysis, By Application</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Food packaging segment is projected to register 5.1X higher value than non-food packaging segment in 2036. Among flexible plastic packaging by application, food packaging segment is expected to witness the highest CAGR of 7.2% over the forecast period.</a:t>
            </a:r>
          </a:p>
          <a:p>
            <a:pPr algn="l">
              <a:lnSpc>
                <a:spcPct val="110000"/>
              </a:lnSpc>
              <a:spcBef>
                <a:spcPts val="0"/>
              </a:spcBef>
              <a:spcAft>
                <a:spcPts val="500"/>
              </a:spcAft>
            </a:pPr>
            <a:r>
              <a:rPr sz="1150" b="0">
                <a:solidFill>
                  <a:srgbClr val="2E2E2E"/>
                </a:solidFill>
                <a:latin typeface="Calibri"/>
              </a:rPr>
              <a:t>In terms of value share by application, the food packaging segment is expected to dominate the market, maintaining its share and accounting for 83.7% share by 2036.</a:t>
            </a:r>
          </a:p>
          <a:p>
            <a:pPr algn="l">
              <a:lnSpc>
                <a:spcPct val="110000"/>
              </a:lnSpc>
              <a:spcBef>
                <a:spcPts val="0"/>
              </a:spcBef>
              <a:spcAft>
                <a:spcPts val="500"/>
              </a:spcAft>
            </a:pPr>
            <a:r>
              <a:rPr sz="1150" b="0">
                <a:solidFill>
                  <a:srgbClr val="2E2E2E"/>
                </a:solidFill>
                <a:latin typeface="Calibri"/>
              </a:rPr>
              <a:t>Food Packaging gains 5 BPS of value share because shelf-life extension, protein and ready-meal growth and food delivery all depend on flexible barrier formats, reinforced by urbanisation, retail modernisation and rising packaged-food consumption. Non-Food Packaging, covering personal care, household and healthcare, still grows at 7.1% but trails the 7.2% of food, so it concedes 5 BPS in a narrow shift.</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&amp; Share Shift, By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Application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Composition, By Application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44634"/>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3987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6367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Non-Food Packaging</a:t>
            </a:r>
          </a:p>
        </p:txBody>
      </p:sp>
      <p:sp>
        <p:nvSpPr>
          <p:cNvPr id="19" name="BPS Value 1"/>
          <p:cNvSpPr txBox="1"/>
          <p:nvPr/>
        </p:nvSpPr>
        <p:spPr>
          <a:xfrm>
            <a:off x="6896100" y="2025584"/>
            <a:ext cx="514350" cy="123825"/>
          </a:xfrm>
          <a:prstGeom prst="rect">
            <a:avLst/>
          </a:prstGeom>
          <a:noFill/>
        </p:spPr>
        <p:txBody>
          <a:bodyPr wrap="none" lIns="0" rIns="0" tIns="0" bIns="0" anchor="ctr">
            <a:spAutoFit/>
          </a:bodyPr>
          <a:lstStyle/>
          <a:p>
            <a:pPr algn="r"/>
            <a:r>
              <a:rPr sz="900" b="1">
                <a:solidFill>
                  <a:srgbClr val="E44D3A"/>
                </a:solidFill>
                <a:latin typeface="Calibri"/>
              </a:rPr>
              <a:t>-5</a:t>
            </a:r>
          </a:p>
        </p:txBody>
      </p:sp>
      <p:sp>
        <p:nvSpPr>
          <p:cNvPr id="20" name="FMI Legend Chip"/>
          <p:cNvSpPr/>
          <p:nvPr/>
        </p:nvSpPr>
        <p:spPr>
          <a:xfrm>
            <a:off x="4928997" y="433082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432606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24986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Food Packaging</a:t>
            </a:r>
          </a:p>
        </p:txBody>
      </p:sp>
      <p:sp>
        <p:nvSpPr>
          <p:cNvPr id="23" name="BPS Value 2"/>
          <p:cNvSpPr txBox="1"/>
          <p:nvPr/>
        </p:nvSpPr>
        <p:spPr>
          <a:xfrm>
            <a:off x="6896100" y="4311774"/>
            <a:ext cx="514350" cy="123825"/>
          </a:xfrm>
          <a:prstGeom prst="rect">
            <a:avLst/>
          </a:prstGeom>
          <a:noFill/>
        </p:spPr>
        <p:txBody>
          <a:bodyPr wrap="none" lIns="0" rIns="0" tIns="0" bIns="0" anchor="ctr">
            <a:spAutoFit/>
          </a:bodyPr>
          <a:lstStyle/>
          <a:p>
            <a:pPr algn="r"/>
            <a:r>
              <a:rPr sz="900" b="1">
                <a:solidFill>
                  <a:srgbClr val="2E7D32"/>
                </a:solidFill>
                <a:latin typeface="Calibri"/>
              </a:rPr>
              <a:t>+5</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Latin America Read-out, By Application</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application, food packaging segment is expected to witness the highest CAGR of 7.2% over the forecast period.</a:t>
            </a:r>
          </a:p>
          <a:p>
            <a:pPr algn="l">
              <a:lnSpc>
                <a:spcPct val="110000"/>
              </a:lnSpc>
              <a:spcBef>
                <a:spcPts val="0"/>
              </a:spcBef>
              <a:spcAft>
                <a:spcPts val="500"/>
              </a:spcAft>
            </a:pPr>
            <a:r>
              <a:rPr sz="1150" b="0">
                <a:solidFill>
                  <a:srgbClr val="2E2E2E"/>
                </a:solidFill>
                <a:latin typeface="Calibri"/>
              </a:rPr>
              <a:t>In terms of value share by application, the food packaging segment is expected to dominate the market, maintaining its share and accounting for 83.7% share by 2036.</a:t>
            </a:r>
          </a:p>
          <a:p>
            <a:pPr algn="l">
              <a:lnSpc>
                <a:spcPct val="110000"/>
              </a:lnSpc>
              <a:spcBef>
                <a:spcPts val="0"/>
              </a:spcBef>
              <a:spcAft>
                <a:spcPts val="500"/>
              </a:spcAft>
            </a:pPr>
            <a:r>
              <a:rPr sz="1150" b="0">
                <a:solidFill>
                  <a:srgbClr val="2E2E2E"/>
                </a:solidFill>
                <a:latin typeface="Calibri"/>
              </a:rPr>
              <a:t>Food Packaging grows fastest at 7.2% because urbanisation, rising middle-class incomes, supermarket expansion and food delivery are increasing packaged food consumption across Latin America, and flexible barrier films protect protein, dairy and snacks through long supply chains. Non-Food Packaging, at 7.1%, benefits from personal care and household demand but lacks the same structural shift toward packaged products.</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Volume, By Application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Application,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Volume YoY Growth,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Volume, By Application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Application,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Volume YoY Heatmap, By Application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sp>
        <p:nvSpPr>
          <p:cNvPr id="28" name="Rectangle 27"/>
          <p:cNvSpPr/>
          <p:nvPr/>
        </p:nvSpPr>
        <p:spPr>
          <a:xfrm>
            <a:off x="1857375" y="1409700"/>
            <a:ext cx="643890" cy="322659"/>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322659"/>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322659"/>
          </a:xfrm>
          <a:prstGeom prst="rect">
            <a:avLst/>
          </a:prstGeom>
          <a:solidFill>
            <a:srgbClr val="BAD4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322659"/>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322659"/>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322659"/>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322659"/>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322659"/>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322659"/>
          </a:xfrm>
          <a:prstGeom prst="rect">
            <a:avLst/>
          </a:prstGeom>
          <a:solidFill>
            <a:srgbClr val="3086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322659"/>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322659"/>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322659"/>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3235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Meat and Processed Meat</a:t>
            </a:r>
          </a:p>
        </p:txBody>
      </p:sp>
      <p:sp>
        <p:nvSpPr>
          <p:cNvPr id="44" name="Rectangle 43"/>
          <p:cNvSpPr/>
          <p:nvPr/>
        </p:nvSpPr>
        <p:spPr>
          <a:xfrm>
            <a:off x="1857375" y="1732359"/>
            <a:ext cx="643890" cy="322659"/>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732359"/>
            <a:ext cx="643890" cy="322659"/>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732359"/>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732359"/>
            <a:ext cx="643890" cy="322659"/>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732359"/>
            <a:ext cx="643890" cy="322659"/>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732359"/>
            <a:ext cx="643890" cy="322659"/>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732359"/>
            <a:ext cx="643890" cy="322659"/>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732359"/>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732359"/>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732359"/>
            <a:ext cx="643890" cy="322659"/>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732359"/>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732359"/>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732359"/>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732359"/>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732359"/>
            <a:ext cx="643890" cy="322659"/>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5501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Poultry</a:t>
            </a:r>
          </a:p>
        </p:txBody>
      </p:sp>
      <p:sp>
        <p:nvSpPr>
          <p:cNvPr id="60" name="Rectangle 59"/>
          <p:cNvSpPr/>
          <p:nvPr/>
        </p:nvSpPr>
        <p:spPr>
          <a:xfrm>
            <a:off x="1857375" y="2055019"/>
            <a:ext cx="643890" cy="322659"/>
          </a:xfrm>
          <a:prstGeom prst="rect">
            <a:avLst/>
          </a:prstGeom>
          <a:solidFill>
            <a:srgbClr val="D1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055019"/>
            <a:ext cx="643890" cy="322659"/>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055019"/>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055019"/>
            <a:ext cx="643890" cy="322659"/>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055019"/>
            <a:ext cx="643890" cy="322659"/>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055019"/>
            <a:ext cx="643890" cy="322659"/>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055019"/>
            <a:ext cx="643890" cy="322659"/>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055019"/>
            <a:ext cx="643890" cy="322659"/>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055019"/>
            <a:ext cx="643890" cy="322659"/>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055019"/>
            <a:ext cx="643890" cy="322659"/>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055019"/>
            <a:ext cx="643890" cy="322659"/>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055019"/>
            <a:ext cx="643890" cy="322659"/>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055019"/>
            <a:ext cx="643890" cy="322659"/>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055019"/>
            <a:ext cx="643890" cy="322659"/>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055019"/>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37767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Fish and Seafood</a:t>
            </a:r>
          </a:p>
        </p:txBody>
      </p:sp>
      <p:sp>
        <p:nvSpPr>
          <p:cNvPr id="76" name="Rectangle 75"/>
          <p:cNvSpPr/>
          <p:nvPr/>
        </p:nvSpPr>
        <p:spPr>
          <a:xfrm>
            <a:off x="1857375" y="2377678"/>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377678"/>
            <a:ext cx="643890" cy="322659"/>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377678"/>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377678"/>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377678"/>
            <a:ext cx="643890" cy="322659"/>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377678"/>
            <a:ext cx="643890" cy="322659"/>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377678"/>
            <a:ext cx="643890" cy="322659"/>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377678"/>
            <a:ext cx="643890" cy="322659"/>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377678"/>
            <a:ext cx="643890" cy="322659"/>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377678"/>
            <a:ext cx="643890" cy="322659"/>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377678"/>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377678"/>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377678"/>
            <a:ext cx="643890" cy="322659"/>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377678"/>
            <a:ext cx="643890" cy="322659"/>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377678"/>
            <a:ext cx="643890" cy="322659"/>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0033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Dairy and Cheese</a:t>
            </a:r>
          </a:p>
        </p:txBody>
      </p:sp>
      <p:sp>
        <p:nvSpPr>
          <p:cNvPr id="92" name="Rectangle 91"/>
          <p:cNvSpPr/>
          <p:nvPr/>
        </p:nvSpPr>
        <p:spPr>
          <a:xfrm>
            <a:off x="1857375" y="2700338"/>
            <a:ext cx="643890" cy="322659"/>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700338"/>
            <a:ext cx="643890" cy="322659"/>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700338"/>
            <a:ext cx="643890" cy="322659"/>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700338"/>
            <a:ext cx="643890" cy="322659"/>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700338"/>
            <a:ext cx="643890" cy="322659"/>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700338"/>
            <a:ext cx="643890" cy="322659"/>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700338"/>
            <a:ext cx="643890" cy="322659"/>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700338"/>
            <a:ext cx="643890" cy="322659"/>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700338"/>
            <a:ext cx="643890" cy="322659"/>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700338"/>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700338"/>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700338"/>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700338"/>
            <a:ext cx="643890" cy="322659"/>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700338"/>
            <a:ext cx="643890" cy="322659"/>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700338"/>
            <a:ext cx="643890" cy="322659"/>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022997"/>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Ready Meals and Prepared Foods</a:t>
            </a:r>
          </a:p>
        </p:txBody>
      </p:sp>
      <p:sp>
        <p:nvSpPr>
          <p:cNvPr id="108" name="Rectangle 107"/>
          <p:cNvSpPr/>
          <p:nvPr/>
        </p:nvSpPr>
        <p:spPr>
          <a:xfrm>
            <a:off x="1857375" y="3022997"/>
            <a:ext cx="643890" cy="322659"/>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022997"/>
            <a:ext cx="643890" cy="322659"/>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022997"/>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022997"/>
            <a:ext cx="643890" cy="322659"/>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022997"/>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022997"/>
            <a:ext cx="643890" cy="322659"/>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022997"/>
            <a:ext cx="643890" cy="322659"/>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022997"/>
            <a:ext cx="643890" cy="322659"/>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022997"/>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022997"/>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022997"/>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022997"/>
            <a:ext cx="643890" cy="322659"/>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022997"/>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022997"/>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022997"/>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34565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Bakery, Confectionery and Snacks</a:t>
            </a:r>
          </a:p>
        </p:txBody>
      </p:sp>
      <p:sp>
        <p:nvSpPr>
          <p:cNvPr id="124" name="Rectangle 123"/>
          <p:cNvSpPr/>
          <p:nvPr/>
        </p:nvSpPr>
        <p:spPr>
          <a:xfrm>
            <a:off x="1857375" y="3345656"/>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345656"/>
            <a:ext cx="643890" cy="322659"/>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345656"/>
            <a:ext cx="643890" cy="322659"/>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345656"/>
            <a:ext cx="643890" cy="322659"/>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345656"/>
            <a:ext cx="643890" cy="322659"/>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345656"/>
            <a:ext cx="643890" cy="322659"/>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345656"/>
            <a:ext cx="643890" cy="322659"/>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345656"/>
            <a:ext cx="643890" cy="322659"/>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345656"/>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345656"/>
            <a:ext cx="643890" cy="322659"/>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345656"/>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345656"/>
            <a:ext cx="643890" cy="322659"/>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345656"/>
            <a:ext cx="643890" cy="322659"/>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345656"/>
            <a:ext cx="643890" cy="322659"/>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345656"/>
            <a:ext cx="643890" cy="322659"/>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66831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Dry Foods and Powders</a:t>
            </a:r>
          </a:p>
        </p:txBody>
      </p:sp>
      <p:sp>
        <p:nvSpPr>
          <p:cNvPr id="140" name="Rectangle 139"/>
          <p:cNvSpPr/>
          <p:nvPr/>
        </p:nvSpPr>
        <p:spPr>
          <a:xfrm>
            <a:off x="1857375" y="3668316"/>
            <a:ext cx="643890" cy="322659"/>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668316"/>
            <a:ext cx="643890" cy="322659"/>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668316"/>
            <a:ext cx="643890" cy="322659"/>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668316"/>
            <a:ext cx="643890" cy="322659"/>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668316"/>
            <a:ext cx="643890" cy="322659"/>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668316"/>
            <a:ext cx="643890" cy="322659"/>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668316"/>
            <a:ext cx="643890" cy="322659"/>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668316"/>
            <a:ext cx="643890" cy="322659"/>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668316"/>
            <a:ext cx="643890" cy="322659"/>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668316"/>
            <a:ext cx="643890" cy="322659"/>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668316"/>
            <a:ext cx="643890" cy="322659"/>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668316"/>
            <a:ext cx="643890" cy="322659"/>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668316"/>
            <a:ext cx="643890" cy="322659"/>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668316"/>
            <a:ext cx="643890" cy="322659"/>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668316"/>
            <a:ext cx="643890" cy="322659"/>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990975"/>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Pet Food</a:t>
            </a:r>
          </a:p>
        </p:txBody>
      </p:sp>
      <p:sp>
        <p:nvSpPr>
          <p:cNvPr id="156" name="Rectangle 155"/>
          <p:cNvSpPr/>
          <p:nvPr/>
        </p:nvSpPr>
        <p:spPr>
          <a:xfrm>
            <a:off x="1857375" y="3990975"/>
            <a:ext cx="643890" cy="322659"/>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990975"/>
            <a:ext cx="643890" cy="322659"/>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990975"/>
            <a:ext cx="643890" cy="322659"/>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990975"/>
            <a:ext cx="643890" cy="322659"/>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990975"/>
            <a:ext cx="643890" cy="322659"/>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990975"/>
            <a:ext cx="643890" cy="322659"/>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990975"/>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990975"/>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990975"/>
            <a:ext cx="643890" cy="322659"/>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990975"/>
            <a:ext cx="643890" cy="322659"/>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990975"/>
            <a:ext cx="643890" cy="322659"/>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990975"/>
            <a:ext cx="643890" cy="322659"/>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990975"/>
            <a:ext cx="643890" cy="322659"/>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990975"/>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990975"/>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31363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Other Food Products (Fresh Produce, Plant-Based Foods, Condiments and Dressings, Foodservice Products)</a:t>
            </a:r>
          </a:p>
        </p:txBody>
      </p:sp>
      <p:sp>
        <p:nvSpPr>
          <p:cNvPr id="172" name="Rectangle 171"/>
          <p:cNvSpPr/>
          <p:nvPr/>
        </p:nvSpPr>
        <p:spPr>
          <a:xfrm>
            <a:off x="1857375" y="4313634"/>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4313634"/>
            <a:ext cx="643890" cy="322659"/>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4313634"/>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4313634"/>
            <a:ext cx="643890" cy="322659"/>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4313634"/>
            <a:ext cx="643890" cy="322659"/>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4313634"/>
            <a:ext cx="643890" cy="322659"/>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4313634"/>
            <a:ext cx="643890" cy="322659"/>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4313634"/>
            <a:ext cx="643890" cy="322659"/>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4313634"/>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4313634"/>
            <a:ext cx="643890" cy="322659"/>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4313634"/>
            <a:ext cx="643890" cy="322659"/>
          </a:xfrm>
          <a:prstGeom prst="rect">
            <a:avLst/>
          </a:prstGeom>
          <a:solidFill>
            <a:srgbClr val="68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4313634"/>
            <a:ext cx="643890" cy="322659"/>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4313634"/>
            <a:ext cx="643890" cy="322659"/>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4313634"/>
            <a:ext cx="643890" cy="322659"/>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4313634"/>
            <a:ext cx="643890" cy="322659"/>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63629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sp>
        <p:nvSpPr>
          <p:cNvPr id="188" name="Rectangle 187"/>
          <p:cNvSpPr/>
          <p:nvPr/>
        </p:nvSpPr>
        <p:spPr>
          <a:xfrm>
            <a:off x="1857375" y="4636294"/>
            <a:ext cx="643890" cy="322659"/>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4636294"/>
            <a:ext cx="643890" cy="322659"/>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4636294"/>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4636294"/>
            <a:ext cx="643890" cy="322659"/>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4636294"/>
            <a:ext cx="643890" cy="322659"/>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4636294"/>
            <a:ext cx="643890" cy="322659"/>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4636294"/>
            <a:ext cx="643890" cy="322659"/>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4636294"/>
            <a:ext cx="643890" cy="322659"/>
          </a:xfrm>
          <a:prstGeom prst="rect">
            <a:avLst/>
          </a:prstGeom>
          <a:solidFill>
            <a:srgbClr val="7B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4636294"/>
            <a:ext cx="643890" cy="322659"/>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4636294"/>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4636294"/>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4636294"/>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4636294"/>
            <a:ext cx="643890" cy="322659"/>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4636294"/>
            <a:ext cx="643890" cy="322659"/>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4636294"/>
            <a:ext cx="643890" cy="322659"/>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958953"/>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Pharmaceutical and Healthcare</a:t>
            </a:r>
          </a:p>
        </p:txBody>
      </p:sp>
      <p:sp>
        <p:nvSpPr>
          <p:cNvPr id="204" name="Rectangle 203"/>
          <p:cNvSpPr/>
          <p:nvPr/>
        </p:nvSpPr>
        <p:spPr>
          <a:xfrm>
            <a:off x="1857375" y="4958953"/>
            <a:ext cx="643890" cy="322659"/>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958953"/>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958953"/>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958953"/>
            <a:ext cx="643890" cy="322659"/>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958953"/>
            <a:ext cx="643890" cy="322659"/>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958953"/>
            <a:ext cx="643890" cy="322659"/>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958953"/>
            <a:ext cx="643890" cy="322659"/>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958953"/>
            <a:ext cx="643890" cy="322659"/>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958953"/>
            <a:ext cx="643890" cy="322659"/>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958953"/>
            <a:ext cx="643890" cy="322659"/>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958953"/>
            <a:ext cx="643890" cy="322659"/>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958953"/>
            <a:ext cx="643890" cy="322659"/>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958953"/>
            <a:ext cx="643890" cy="322659"/>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958953"/>
            <a:ext cx="643890" cy="322659"/>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958953"/>
            <a:ext cx="643890" cy="322659"/>
          </a:xfrm>
          <a:prstGeom prst="rect">
            <a:avLst/>
          </a:prstGeom>
          <a:solidFill>
            <a:srgbClr val="0E70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28161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Personal Care and Cosmetics</a:t>
            </a:r>
          </a:p>
        </p:txBody>
      </p:sp>
      <p:sp>
        <p:nvSpPr>
          <p:cNvPr id="220" name="Rectangle 219"/>
          <p:cNvSpPr/>
          <p:nvPr/>
        </p:nvSpPr>
        <p:spPr>
          <a:xfrm>
            <a:off x="1857375" y="5281612"/>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5281612"/>
            <a:ext cx="643890" cy="322659"/>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5281612"/>
            <a:ext cx="643890" cy="322659"/>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5281612"/>
            <a:ext cx="643890" cy="322659"/>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5281612"/>
            <a:ext cx="643890" cy="322659"/>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5281612"/>
            <a:ext cx="643890" cy="322659"/>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5281612"/>
            <a:ext cx="643890" cy="322659"/>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5281612"/>
            <a:ext cx="643890" cy="322659"/>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5281612"/>
            <a:ext cx="643890" cy="322659"/>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5281612"/>
            <a:ext cx="643890" cy="322659"/>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5281612"/>
            <a:ext cx="643890" cy="322659"/>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5281612"/>
            <a:ext cx="643890" cy="322659"/>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5281612"/>
            <a:ext cx="643890" cy="322659"/>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5281612"/>
            <a:ext cx="643890" cy="322659"/>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5281612"/>
            <a:ext cx="643890" cy="322659"/>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60427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Household Care</a:t>
            </a:r>
          </a:p>
        </p:txBody>
      </p:sp>
      <p:sp>
        <p:nvSpPr>
          <p:cNvPr id="236" name="Rectangle 235"/>
          <p:cNvSpPr/>
          <p:nvPr/>
        </p:nvSpPr>
        <p:spPr>
          <a:xfrm>
            <a:off x="1857375" y="5604272"/>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5604272"/>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5604272"/>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5604272"/>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5604272"/>
            <a:ext cx="643890" cy="322659"/>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5604272"/>
            <a:ext cx="643890" cy="322659"/>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5604272"/>
            <a:ext cx="643890" cy="322659"/>
          </a:xfrm>
          <a:prstGeom prst="rect">
            <a:avLst/>
          </a:prstGeom>
          <a:solidFill>
            <a:srgbClr val="BAD4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5604272"/>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5604272"/>
            <a:ext cx="643890" cy="322659"/>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5604272"/>
            <a:ext cx="643890" cy="322659"/>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5604272"/>
            <a:ext cx="643890" cy="322659"/>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5604272"/>
            <a:ext cx="643890" cy="322659"/>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5604272"/>
            <a:ext cx="643890" cy="322659"/>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5604272"/>
            <a:ext cx="643890" cy="322659"/>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5604272"/>
            <a:ext cx="643890" cy="322659"/>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92693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Chemicals and Agrochemicals</a:t>
            </a:r>
          </a:p>
        </p:txBody>
      </p:sp>
      <p:sp>
        <p:nvSpPr>
          <p:cNvPr id="252" name="Rectangle 251"/>
          <p:cNvSpPr/>
          <p:nvPr/>
        </p:nvSpPr>
        <p:spPr>
          <a:xfrm>
            <a:off x="1857375" y="5926931"/>
            <a:ext cx="643890" cy="322659"/>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926931"/>
            <a:ext cx="643890" cy="322659"/>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926931"/>
            <a:ext cx="643890" cy="322659"/>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926931"/>
            <a:ext cx="643890" cy="322659"/>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926931"/>
            <a:ext cx="643890" cy="322659"/>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926931"/>
            <a:ext cx="643890" cy="322659"/>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926931"/>
            <a:ext cx="643890" cy="322659"/>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926931"/>
            <a:ext cx="643890" cy="322659"/>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926931"/>
            <a:ext cx="643890" cy="322659"/>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926931"/>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926931"/>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926931"/>
            <a:ext cx="643890" cy="322659"/>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926931"/>
            <a:ext cx="643890" cy="322659"/>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926931"/>
            <a:ext cx="643890" cy="322659"/>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926931"/>
            <a:ext cx="643890" cy="322659"/>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624959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Electronics and Technical Products</a:t>
            </a:r>
          </a:p>
        </p:txBody>
      </p:sp>
      <p:sp>
        <p:nvSpPr>
          <p:cNvPr id="268" name="Rectangle 267"/>
          <p:cNvSpPr/>
          <p:nvPr/>
        </p:nvSpPr>
        <p:spPr>
          <a:xfrm>
            <a:off x="1857375" y="6249591"/>
            <a:ext cx="643890" cy="322659"/>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6249591"/>
            <a:ext cx="643890" cy="322659"/>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6249591"/>
            <a:ext cx="643890" cy="322659"/>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6249591"/>
            <a:ext cx="643890" cy="322659"/>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6249591"/>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6249591"/>
            <a:ext cx="643890" cy="322659"/>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6249591"/>
            <a:ext cx="643890" cy="322659"/>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6249591"/>
            <a:ext cx="643890" cy="322659"/>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6249591"/>
            <a:ext cx="643890" cy="322659"/>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6249591"/>
            <a:ext cx="643890" cy="322659"/>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6249591"/>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6249591"/>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6249591"/>
            <a:ext cx="643890" cy="322659"/>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6249591"/>
            <a:ext cx="643890" cy="322659"/>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6249591"/>
            <a:ext cx="643890" cy="322659"/>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Rectangle 314"/>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Rectangle 315"/>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325" name="TextBox 324"/>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26" name="TextBox 325"/>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327" name="TextBox 3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Application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Application,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Growth,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Application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Application,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Heatmap, By Application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sp>
        <p:nvSpPr>
          <p:cNvPr id="28" name="Rectangle 27"/>
          <p:cNvSpPr/>
          <p:nvPr/>
        </p:nvSpPr>
        <p:spPr>
          <a:xfrm>
            <a:off x="1857375" y="1409700"/>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322659"/>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322659"/>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322659"/>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322659"/>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322659"/>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322659"/>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322659"/>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322659"/>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322659"/>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3235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Meat and Processed Meat</a:t>
            </a:r>
          </a:p>
        </p:txBody>
      </p:sp>
      <p:sp>
        <p:nvSpPr>
          <p:cNvPr id="44" name="Rectangle 43"/>
          <p:cNvSpPr/>
          <p:nvPr/>
        </p:nvSpPr>
        <p:spPr>
          <a:xfrm>
            <a:off x="1857375" y="1732359"/>
            <a:ext cx="643890" cy="322659"/>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732359"/>
            <a:ext cx="643890" cy="322659"/>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732359"/>
            <a:ext cx="643890" cy="322659"/>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732359"/>
            <a:ext cx="643890" cy="322659"/>
          </a:xfrm>
          <a:prstGeom prst="rect">
            <a:avLst/>
          </a:prstGeom>
          <a:solidFill>
            <a:srgbClr val="B0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732359"/>
            <a:ext cx="643890" cy="322659"/>
          </a:xfrm>
          <a:prstGeom prst="rect">
            <a:avLst/>
          </a:prstGeom>
          <a:solidFill>
            <a:srgbClr val="89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732359"/>
            <a:ext cx="643890" cy="322659"/>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732359"/>
            <a:ext cx="643890" cy="322659"/>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732359"/>
            <a:ext cx="643890" cy="322659"/>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732359"/>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732359"/>
            <a:ext cx="643890" cy="322659"/>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732359"/>
            <a:ext cx="643890" cy="322659"/>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732359"/>
            <a:ext cx="643890" cy="322659"/>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732359"/>
            <a:ext cx="643890" cy="322659"/>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732359"/>
            <a:ext cx="643890" cy="322659"/>
          </a:xfrm>
          <a:prstGeom prst="rect">
            <a:avLst/>
          </a:prstGeom>
          <a:solidFill>
            <a:srgbClr val="1577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732359"/>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5501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Poultry</a:t>
            </a:r>
          </a:p>
        </p:txBody>
      </p:sp>
      <p:sp>
        <p:nvSpPr>
          <p:cNvPr id="60" name="Rectangle 59"/>
          <p:cNvSpPr/>
          <p:nvPr/>
        </p:nvSpPr>
        <p:spPr>
          <a:xfrm>
            <a:off x="1857375" y="2055019"/>
            <a:ext cx="643890" cy="322659"/>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055019"/>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055019"/>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055019"/>
            <a:ext cx="643890" cy="322659"/>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055019"/>
            <a:ext cx="643890" cy="322659"/>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055019"/>
            <a:ext cx="643890" cy="322659"/>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055019"/>
            <a:ext cx="643890" cy="322659"/>
          </a:xfrm>
          <a:prstGeom prst="rect">
            <a:avLst/>
          </a:prstGeom>
          <a:solidFill>
            <a:srgbClr val="89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055019"/>
            <a:ext cx="643890" cy="322659"/>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055019"/>
            <a:ext cx="643890" cy="322659"/>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055019"/>
            <a:ext cx="643890" cy="322659"/>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055019"/>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055019"/>
            <a:ext cx="643890" cy="322659"/>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055019"/>
            <a:ext cx="643890" cy="322659"/>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055019"/>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055019"/>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37767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Fish and Seafood</a:t>
            </a:r>
          </a:p>
        </p:txBody>
      </p:sp>
      <p:sp>
        <p:nvSpPr>
          <p:cNvPr id="76" name="Rectangle 75"/>
          <p:cNvSpPr/>
          <p:nvPr/>
        </p:nvSpPr>
        <p:spPr>
          <a:xfrm>
            <a:off x="1857375" y="2377678"/>
            <a:ext cx="643890" cy="322659"/>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377678"/>
            <a:ext cx="643890" cy="322659"/>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377678"/>
            <a:ext cx="643890" cy="322659"/>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377678"/>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377678"/>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377678"/>
            <a:ext cx="643890" cy="322659"/>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377678"/>
            <a:ext cx="643890" cy="322659"/>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377678"/>
            <a:ext cx="643890" cy="322659"/>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377678"/>
            <a:ext cx="643890" cy="322659"/>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377678"/>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377678"/>
            <a:ext cx="643890" cy="322659"/>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377678"/>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377678"/>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377678"/>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377678"/>
            <a:ext cx="643890" cy="322659"/>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0033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Dairy and Cheese</a:t>
            </a:r>
          </a:p>
        </p:txBody>
      </p:sp>
      <p:sp>
        <p:nvSpPr>
          <p:cNvPr id="92" name="Rectangle 91"/>
          <p:cNvSpPr/>
          <p:nvPr/>
        </p:nvSpPr>
        <p:spPr>
          <a:xfrm>
            <a:off x="1857375" y="2700338"/>
            <a:ext cx="643890" cy="322659"/>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700338"/>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700338"/>
            <a:ext cx="643890" cy="322659"/>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700338"/>
            <a:ext cx="643890" cy="322659"/>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700338"/>
            <a:ext cx="643890" cy="322659"/>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700338"/>
            <a:ext cx="643890" cy="322659"/>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700338"/>
            <a:ext cx="643890" cy="322659"/>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700338"/>
            <a:ext cx="643890" cy="322659"/>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700338"/>
            <a:ext cx="643890" cy="322659"/>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700338"/>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700338"/>
            <a:ext cx="643890" cy="322659"/>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700338"/>
            <a:ext cx="643890" cy="322659"/>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700338"/>
            <a:ext cx="643890" cy="322659"/>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700338"/>
            <a:ext cx="643890" cy="322659"/>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700338"/>
            <a:ext cx="643890" cy="322659"/>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022997"/>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Ready Meals and Prepared Foods</a:t>
            </a:r>
          </a:p>
        </p:txBody>
      </p:sp>
      <p:sp>
        <p:nvSpPr>
          <p:cNvPr id="108" name="Rectangle 107"/>
          <p:cNvSpPr/>
          <p:nvPr/>
        </p:nvSpPr>
        <p:spPr>
          <a:xfrm>
            <a:off x="1857375" y="3022997"/>
            <a:ext cx="643890" cy="322659"/>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022997"/>
            <a:ext cx="643890" cy="322659"/>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022997"/>
            <a:ext cx="643890" cy="322659"/>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022997"/>
            <a:ext cx="643890" cy="322659"/>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022997"/>
            <a:ext cx="643890" cy="322659"/>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022997"/>
            <a:ext cx="643890" cy="322659"/>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022997"/>
            <a:ext cx="643890" cy="322659"/>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022997"/>
            <a:ext cx="643890" cy="322659"/>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022997"/>
            <a:ext cx="643890" cy="322659"/>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022997"/>
            <a:ext cx="643890" cy="322659"/>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022997"/>
            <a:ext cx="643890" cy="322659"/>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022997"/>
            <a:ext cx="643890" cy="322659"/>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022997"/>
            <a:ext cx="643890" cy="322659"/>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022997"/>
            <a:ext cx="643890" cy="322659"/>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022997"/>
            <a:ext cx="643890" cy="322659"/>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34565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Bakery, Confectionery and Snacks</a:t>
            </a:r>
          </a:p>
        </p:txBody>
      </p:sp>
      <p:sp>
        <p:nvSpPr>
          <p:cNvPr id="124" name="Rectangle 123"/>
          <p:cNvSpPr/>
          <p:nvPr/>
        </p:nvSpPr>
        <p:spPr>
          <a:xfrm>
            <a:off x="1857375" y="3345656"/>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345656"/>
            <a:ext cx="643890" cy="322659"/>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345656"/>
            <a:ext cx="643890" cy="322659"/>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345656"/>
            <a:ext cx="643890" cy="322659"/>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345656"/>
            <a:ext cx="643890" cy="322659"/>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345656"/>
            <a:ext cx="643890" cy="322659"/>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345656"/>
            <a:ext cx="643890" cy="322659"/>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345656"/>
            <a:ext cx="643890" cy="322659"/>
          </a:xfrm>
          <a:prstGeom prst="rect">
            <a:avLst/>
          </a:prstGeom>
          <a:solidFill>
            <a:srgbClr val="7C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345656"/>
            <a:ext cx="643890" cy="322659"/>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345656"/>
            <a:ext cx="643890" cy="322659"/>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345656"/>
            <a:ext cx="643890" cy="322659"/>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345656"/>
            <a:ext cx="643890" cy="322659"/>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345656"/>
            <a:ext cx="643890" cy="322659"/>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345656"/>
            <a:ext cx="643890" cy="322659"/>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345656"/>
            <a:ext cx="643890" cy="322659"/>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66831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Dry Foods and Powders</a:t>
            </a:r>
          </a:p>
        </p:txBody>
      </p:sp>
      <p:sp>
        <p:nvSpPr>
          <p:cNvPr id="140" name="Rectangle 139"/>
          <p:cNvSpPr/>
          <p:nvPr/>
        </p:nvSpPr>
        <p:spPr>
          <a:xfrm>
            <a:off x="1857375" y="3668316"/>
            <a:ext cx="643890" cy="322659"/>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668316"/>
            <a:ext cx="643890" cy="322659"/>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668316"/>
            <a:ext cx="643890" cy="322659"/>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668316"/>
            <a:ext cx="643890" cy="322659"/>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668316"/>
            <a:ext cx="643890" cy="322659"/>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668316"/>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668316"/>
            <a:ext cx="643890" cy="322659"/>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668316"/>
            <a:ext cx="643890" cy="322659"/>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668316"/>
            <a:ext cx="643890" cy="322659"/>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668316"/>
            <a:ext cx="643890" cy="322659"/>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668316"/>
            <a:ext cx="643890" cy="322659"/>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668316"/>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668316"/>
            <a:ext cx="643890" cy="322659"/>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668316"/>
            <a:ext cx="643890" cy="322659"/>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668316"/>
            <a:ext cx="643890" cy="322659"/>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990975"/>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Pet Food</a:t>
            </a:r>
          </a:p>
        </p:txBody>
      </p:sp>
      <p:sp>
        <p:nvSpPr>
          <p:cNvPr id="156" name="Rectangle 155"/>
          <p:cNvSpPr/>
          <p:nvPr/>
        </p:nvSpPr>
        <p:spPr>
          <a:xfrm>
            <a:off x="1857375" y="3990975"/>
            <a:ext cx="643890" cy="322659"/>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990975"/>
            <a:ext cx="643890" cy="322659"/>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990975"/>
            <a:ext cx="643890" cy="322659"/>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990975"/>
            <a:ext cx="643890" cy="322659"/>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990975"/>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990975"/>
            <a:ext cx="643890" cy="322659"/>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990975"/>
            <a:ext cx="643890" cy="322659"/>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990975"/>
            <a:ext cx="643890" cy="322659"/>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990975"/>
            <a:ext cx="643890" cy="322659"/>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990975"/>
            <a:ext cx="643890" cy="322659"/>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990975"/>
            <a:ext cx="643890" cy="322659"/>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990975"/>
            <a:ext cx="643890" cy="322659"/>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990975"/>
            <a:ext cx="643890" cy="322659"/>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990975"/>
            <a:ext cx="643890" cy="322659"/>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990975"/>
            <a:ext cx="643890" cy="322659"/>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31363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Other Food Products (Fresh Produce, Plant-Based Foods, Condiments and Dressings, Foodservice Products)</a:t>
            </a:r>
          </a:p>
        </p:txBody>
      </p:sp>
      <p:sp>
        <p:nvSpPr>
          <p:cNvPr id="172" name="Rectangle 171"/>
          <p:cNvSpPr/>
          <p:nvPr/>
        </p:nvSpPr>
        <p:spPr>
          <a:xfrm>
            <a:off x="1857375" y="4313634"/>
            <a:ext cx="643890" cy="322659"/>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4313634"/>
            <a:ext cx="643890" cy="322659"/>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4313634"/>
            <a:ext cx="643890" cy="322659"/>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4313634"/>
            <a:ext cx="643890" cy="322659"/>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4313634"/>
            <a:ext cx="643890" cy="322659"/>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4313634"/>
            <a:ext cx="643890" cy="322659"/>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4313634"/>
            <a:ext cx="643890" cy="322659"/>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4313634"/>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4313634"/>
            <a:ext cx="643890" cy="322659"/>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4313634"/>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4313634"/>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4313634"/>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4313634"/>
            <a:ext cx="643890" cy="322659"/>
          </a:xfrm>
          <a:prstGeom prst="rect">
            <a:avLst/>
          </a:prstGeom>
          <a:solidFill>
            <a:srgbClr val="36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4313634"/>
            <a:ext cx="643890" cy="322659"/>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4313634"/>
            <a:ext cx="643890" cy="322659"/>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63629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sp>
        <p:nvSpPr>
          <p:cNvPr id="188" name="Rectangle 187"/>
          <p:cNvSpPr/>
          <p:nvPr/>
        </p:nvSpPr>
        <p:spPr>
          <a:xfrm>
            <a:off x="1857375" y="4636294"/>
            <a:ext cx="643890" cy="322659"/>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4636294"/>
            <a:ext cx="643890" cy="322659"/>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4636294"/>
            <a:ext cx="643890" cy="322659"/>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4636294"/>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4636294"/>
            <a:ext cx="643890" cy="322659"/>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4636294"/>
            <a:ext cx="643890" cy="322659"/>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4636294"/>
            <a:ext cx="643890" cy="322659"/>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4636294"/>
            <a:ext cx="643890" cy="322659"/>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4636294"/>
            <a:ext cx="643890" cy="322659"/>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4636294"/>
            <a:ext cx="643890" cy="322659"/>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4636294"/>
            <a:ext cx="643890" cy="322659"/>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4636294"/>
            <a:ext cx="643890" cy="322659"/>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4636294"/>
            <a:ext cx="643890" cy="322659"/>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4636294"/>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4636294"/>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958953"/>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Pharmaceutical and Healthcare</a:t>
            </a:r>
          </a:p>
        </p:txBody>
      </p:sp>
      <p:sp>
        <p:nvSpPr>
          <p:cNvPr id="204" name="Rectangle 203"/>
          <p:cNvSpPr/>
          <p:nvPr/>
        </p:nvSpPr>
        <p:spPr>
          <a:xfrm>
            <a:off x="1857375" y="4958953"/>
            <a:ext cx="643890" cy="322659"/>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958953"/>
            <a:ext cx="643890" cy="322659"/>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958953"/>
            <a:ext cx="643890" cy="322659"/>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958953"/>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958953"/>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958953"/>
            <a:ext cx="643890" cy="322659"/>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958953"/>
            <a:ext cx="643890" cy="322659"/>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958953"/>
            <a:ext cx="643890" cy="322659"/>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958953"/>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958953"/>
            <a:ext cx="643890" cy="322659"/>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958953"/>
            <a:ext cx="643890" cy="322659"/>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958953"/>
            <a:ext cx="643890" cy="322659"/>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958953"/>
            <a:ext cx="643890" cy="322659"/>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958953"/>
            <a:ext cx="643890" cy="322659"/>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958953"/>
            <a:ext cx="643890" cy="322659"/>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28161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Personal Care and Cosmetics</a:t>
            </a:r>
          </a:p>
        </p:txBody>
      </p:sp>
      <p:sp>
        <p:nvSpPr>
          <p:cNvPr id="220" name="Rectangle 219"/>
          <p:cNvSpPr/>
          <p:nvPr/>
        </p:nvSpPr>
        <p:spPr>
          <a:xfrm>
            <a:off x="1857375" y="5281612"/>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5281612"/>
            <a:ext cx="643890" cy="322659"/>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5281612"/>
            <a:ext cx="643890" cy="322659"/>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5281612"/>
            <a:ext cx="643890" cy="322659"/>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5281612"/>
            <a:ext cx="643890" cy="322659"/>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5281612"/>
            <a:ext cx="643890" cy="322659"/>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5281612"/>
            <a:ext cx="643890" cy="322659"/>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5281612"/>
            <a:ext cx="643890" cy="322659"/>
          </a:xfrm>
          <a:prstGeom prst="rect">
            <a:avLst/>
          </a:prstGeom>
          <a:solidFill>
            <a:srgbClr val="5E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5281612"/>
            <a:ext cx="643890" cy="322659"/>
          </a:xfrm>
          <a:prstGeom prst="rect">
            <a:avLst/>
          </a:prstGeom>
          <a:solidFill>
            <a:srgbClr val="44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5281612"/>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5281612"/>
            <a:ext cx="643890" cy="322659"/>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5281612"/>
            <a:ext cx="643890" cy="322659"/>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5281612"/>
            <a:ext cx="643890" cy="322659"/>
          </a:xfrm>
          <a:prstGeom prst="rect">
            <a:avLst/>
          </a:prstGeom>
          <a:solidFill>
            <a:srgbClr val="37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5281612"/>
            <a:ext cx="643890" cy="322659"/>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5281612"/>
            <a:ext cx="643890" cy="322659"/>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60427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Household Care</a:t>
            </a:r>
          </a:p>
        </p:txBody>
      </p:sp>
      <p:sp>
        <p:nvSpPr>
          <p:cNvPr id="236" name="Rectangle 235"/>
          <p:cNvSpPr/>
          <p:nvPr/>
        </p:nvSpPr>
        <p:spPr>
          <a:xfrm>
            <a:off x="1857375" y="5604272"/>
            <a:ext cx="643890" cy="322659"/>
          </a:xfrm>
          <a:prstGeom prst="rect">
            <a:avLst/>
          </a:prstGeom>
          <a:solidFill>
            <a:srgbClr val="E4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5604272"/>
            <a:ext cx="643890" cy="322659"/>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5604272"/>
            <a:ext cx="643890" cy="322659"/>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5604272"/>
            <a:ext cx="643890" cy="322659"/>
          </a:xfrm>
          <a:prstGeom prst="rect">
            <a:avLst/>
          </a:prstGeom>
          <a:solidFill>
            <a:srgbClr val="DF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5604272"/>
            <a:ext cx="643890" cy="322659"/>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5604272"/>
            <a:ext cx="643890" cy="322659"/>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5604272"/>
            <a:ext cx="643890" cy="322659"/>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5604272"/>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5604272"/>
            <a:ext cx="643890" cy="322659"/>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5604272"/>
            <a:ext cx="643890" cy="322659"/>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5604272"/>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5604272"/>
            <a:ext cx="643890" cy="322659"/>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5604272"/>
            <a:ext cx="643890" cy="322659"/>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5604272"/>
            <a:ext cx="643890" cy="322659"/>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5604272"/>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92693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Chemicals and Agrochemicals</a:t>
            </a:r>
          </a:p>
        </p:txBody>
      </p:sp>
      <p:sp>
        <p:nvSpPr>
          <p:cNvPr id="252" name="Rectangle 251"/>
          <p:cNvSpPr/>
          <p:nvPr/>
        </p:nvSpPr>
        <p:spPr>
          <a:xfrm>
            <a:off x="1857375" y="5926931"/>
            <a:ext cx="643890" cy="322659"/>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926931"/>
            <a:ext cx="643890" cy="322659"/>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926931"/>
            <a:ext cx="643890" cy="322659"/>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926931"/>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926931"/>
            <a:ext cx="643890" cy="322659"/>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926931"/>
            <a:ext cx="643890" cy="322659"/>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926931"/>
            <a:ext cx="643890" cy="322659"/>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926931"/>
            <a:ext cx="643890" cy="322659"/>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926931"/>
            <a:ext cx="643890" cy="322659"/>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926931"/>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926931"/>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926931"/>
            <a:ext cx="643890" cy="322659"/>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926931"/>
            <a:ext cx="643890" cy="322659"/>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926931"/>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926931"/>
            <a:ext cx="643890" cy="322659"/>
          </a:xfrm>
          <a:prstGeom prst="rect">
            <a:avLst/>
          </a:prstGeom>
          <a:solidFill>
            <a:srgbClr val="23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624959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Electronics and Technical Products</a:t>
            </a:r>
          </a:p>
        </p:txBody>
      </p:sp>
      <p:sp>
        <p:nvSpPr>
          <p:cNvPr id="268" name="Rectangle 267"/>
          <p:cNvSpPr/>
          <p:nvPr/>
        </p:nvSpPr>
        <p:spPr>
          <a:xfrm>
            <a:off x="1857375" y="6249591"/>
            <a:ext cx="643890" cy="322659"/>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6249591"/>
            <a:ext cx="643890" cy="322659"/>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6249591"/>
            <a:ext cx="643890" cy="322659"/>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6249591"/>
            <a:ext cx="643890" cy="322659"/>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6249591"/>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6249591"/>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6249591"/>
            <a:ext cx="643890" cy="322659"/>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6249591"/>
            <a:ext cx="643890" cy="322659"/>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6249591"/>
            <a:ext cx="643890" cy="322659"/>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6249591"/>
            <a:ext cx="643890" cy="322659"/>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6249591"/>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6249591"/>
            <a:ext cx="643890" cy="322659"/>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6249591"/>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6249591"/>
            <a:ext cx="643890" cy="322659"/>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6249591"/>
            <a:ext cx="643890" cy="322659"/>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Rectangle 314"/>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Rectangle 315"/>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325" name="TextBox 324"/>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326" name="TextBox 325"/>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327" name="TextBox 3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Barrier Level Vs Application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Barrier Level Vs Application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Barrier Level Vs Application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Barrier Level Vs Application,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Barrier Level Vs Application segment categorizes the market by barrier level vs application.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Medium-Barrier Films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2,842</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5,463</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6.8%</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High-Barrier Films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2,698</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5,573</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7.5%</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Low-Barrier Films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1,685</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3,340</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7.1%</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Ultra-High-Barrier Films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1,099</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2,242</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7.4%</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barrier level vs application, high-barrier films segment is expected to witness the highest CAGR of 7.5% over the forecast period. In terms of value share by barrier level vs application, the high-barrier films segment is expected to dominate the market, gaining 112 BPS and accounting for 33.5%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High-barrier films segment is projected to register 1.0X higher value than medium-barrier films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Medium-Barrier Films: </a:t>
            </a:r>
            <a:r>
              <a:rPr sz="1100" b="0">
                <a:solidFill>
                  <a:srgbClr val="2E2E2E"/>
                </a:solidFill>
                <a:latin typeface="Calibri"/>
              </a:rPr>
              <a:t>34% of 2026 value · 6.8%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High-Barrier Films: </a:t>
            </a:r>
            <a:r>
              <a:rPr sz="1100" b="0">
                <a:solidFill>
                  <a:srgbClr val="2E2E2E"/>
                </a:solidFill>
                <a:latin typeface="Calibri"/>
              </a:rPr>
              <a:t>32% of 2026 value · 7.5%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Low-Barrier Films: </a:t>
            </a:r>
            <a:r>
              <a:rPr sz="1100" b="0">
                <a:solidFill>
                  <a:srgbClr val="2E2E2E"/>
                </a:solidFill>
                <a:latin typeface="Calibri"/>
              </a:rPr>
              <a:t>20% of 2026 value · 7.1%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Ultra-High-Barrier Films: </a:t>
            </a:r>
            <a:r>
              <a:rPr sz="1100" b="0">
                <a:solidFill>
                  <a:srgbClr val="2E2E2E"/>
                </a:solidFill>
                <a:latin typeface="Calibri"/>
              </a:rPr>
              <a:t>13% of 2026 value · 7.4% CAGR serves a niche.</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Barrier Level Vs Application split shows how demand is distributed across barrier level vs application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Barrier Level Vs Application segment is projected to grow at a CAGR of 7.2%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Structure &amp; Attractiveness, By Barrier Level Vs Application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Barrier Level Vs Application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Barrier Level Vs Application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High-barrier films followed by medium-barrier films are expected to be the two most attractive barrier level vs application segments in the Latin America flexible plastic packaging market in terms of value over the forecast period. High-Barrier films and Medium-Barrier films exhibit a CAGR index of 105 and 94 and a market share index of 130 and 137 respectively, against the segment average of 100. The ultra-high-barrier films segment is expected to be less attractive as compared to other segments over the forecast period, owing to its lower CAGR and incremental opportunity. High-Barrier Films and Medium-Barrier Films rank as the most attractive because they pair scale with growth. High-barrier grades combine a large base with shelf-life-driven demand from protein, ready meals and delivered food, with 32.4% of 2026 value growing at 7.5%. For Medium-Barrier Films, medium-barrier films retain a large installed base in fresh produce, bakery and dairy, at 34.1% share and 6.8% CAGR.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Barrier Level Vs Application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Low-Barrier Films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Medium-Barrier Films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High-Barrier Films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Ultra-High-Barrier Films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Volume Analysis, By Barrier Level Vs Application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Barrier Level Vs Application,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686300"/>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Volume Analysis, By Barrier Level Vs Application</a:t>
            </a:r>
          </a:p>
        </p:txBody>
      </p:sp>
      <p:sp>
        <p:nvSpPr>
          <p:cNvPr id="17" name="Rectangle 16"/>
          <p:cNvSpPr/>
          <p:nvPr/>
        </p:nvSpPr>
        <p:spPr>
          <a:xfrm>
            <a:off x="276225" y="49244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010150"/>
            <a:ext cx="11639550"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High-barrier films segment is projected to register 1.0X higher volume than medium-barrier films segment in 2036. Among flexible plastic packaging by barrier level vs application, high-barrier films segment is expected to witness the highest CAGR of 6.1% over the forecast period.</a:t>
            </a:r>
          </a:p>
          <a:p>
            <a:pPr algn="l">
              <a:lnSpc>
                <a:spcPct val="110000"/>
              </a:lnSpc>
              <a:spcBef>
                <a:spcPts val="0"/>
              </a:spcBef>
              <a:spcAft>
                <a:spcPts val="500"/>
              </a:spcAft>
            </a:pPr>
            <a:r>
              <a:rPr sz="1100" b="0">
                <a:solidFill>
                  <a:srgbClr val="2E2E2E"/>
                </a:solidFill>
                <a:latin typeface="Calibri"/>
              </a:rPr>
              <a:t>In terms of volume share by barrier level vs application, the high-barrier films segment is expected to dominate the market, gaining 112 BPS and accounting for 33.6% share by 2036. The medium-barrier films segment is expected to lose 127 BPS over the forecast period to account for 32.9% share by 2036.</a:t>
            </a:r>
          </a:p>
          <a:p>
            <a:pPr algn="l">
              <a:lnSpc>
                <a:spcPct val="110000"/>
              </a:lnSpc>
              <a:spcBef>
                <a:spcPts val="0"/>
              </a:spcBef>
              <a:spcAft>
                <a:spcPts val="500"/>
              </a:spcAft>
            </a:pPr>
            <a:r>
              <a:rPr sz="1100" b="0">
                <a:solidFill>
                  <a:srgbClr val="2E2E2E"/>
                </a:solidFill>
                <a:latin typeface="Calibri"/>
              </a:rPr>
              <a:t>High-Barrier Films add 112 BPS of volume share at 6.1% growth because fresh protein, cheese, snacks and ready meals need longer shelf life and lower food waste, and brands keep upgrading packs, supported by urbanisation, retail modernisation and rising packaged-food consumption. Medium-Barrier Films lose 127 BPS at 5.3%, as those applications trade up to higher barrier and ultra-high-barrier films take the premium niches.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Analysis, By Barrier Level Vs Application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Barrier Level Vs Application,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Barrier Level Vs Application (US$ Mn)</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686300"/>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Value Analysis, By Barrier Level Vs Application</a:t>
            </a:r>
          </a:p>
        </p:txBody>
      </p:sp>
      <p:sp>
        <p:nvSpPr>
          <p:cNvPr id="17" name="Rectangle 16"/>
          <p:cNvSpPr/>
          <p:nvPr/>
        </p:nvSpPr>
        <p:spPr>
          <a:xfrm>
            <a:off x="276225" y="49244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010150"/>
            <a:ext cx="11639550"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High-barrier films segment is projected to register 1.0X higher value than medium-barrier films segment in 2036. Among flexible plastic packaging by barrier level vs application, high-barrier films segment is expected to witness the highest CAGR of 7.5% over the forecast period.</a:t>
            </a:r>
          </a:p>
          <a:p>
            <a:pPr algn="l">
              <a:lnSpc>
                <a:spcPct val="110000"/>
              </a:lnSpc>
              <a:spcBef>
                <a:spcPts val="0"/>
              </a:spcBef>
              <a:spcAft>
                <a:spcPts val="500"/>
              </a:spcAft>
            </a:pPr>
            <a:r>
              <a:rPr sz="1100" b="0">
                <a:solidFill>
                  <a:srgbClr val="2E2E2E"/>
                </a:solidFill>
                <a:latin typeface="Calibri"/>
              </a:rPr>
              <a:t>In terms of value share by barrier level vs application, the high-barrier films segment is expected to dominate the market, gaining 112 BPS and accounting for 33.5% share by 2036. The medium-barrier films segment is expected to lose 127 BPS over the forecast period to account for 32.9% share by 2036.</a:t>
            </a:r>
          </a:p>
          <a:p>
            <a:pPr algn="l">
              <a:lnSpc>
                <a:spcPct val="110000"/>
              </a:lnSpc>
              <a:spcBef>
                <a:spcPts val="0"/>
              </a:spcBef>
              <a:spcAft>
                <a:spcPts val="500"/>
              </a:spcAft>
            </a:pPr>
            <a:r>
              <a:rPr sz="1100" b="0">
                <a:solidFill>
                  <a:srgbClr val="2E2E2E"/>
                </a:solidFill>
                <a:latin typeface="Calibri"/>
              </a:rPr>
              <a:t>High-Barrier Films gain 112 BPS because food applications such as meat, dairy and ready meals need longer shelf life as modern retail extends distribution, and pharma uses need strong protection. Medium-Barrier Films lose 127 BPS and grow only 6.8% as buyers upgrade to better barriers. Ultra-High-Barrier Films gain 29 BPS at 7.4% on premium and sensitive products.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&amp; Share Shift, By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Barrier Level Vs Application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Composition, By Barrier Level Vs Application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79664"/>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7490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9870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Ultra-High-Barrier Films</a:t>
            </a:r>
          </a:p>
        </p:txBody>
      </p:sp>
      <p:sp>
        <p:nvSpPr>
          <p:cNvPr id="19" name="BPS Value 1"/>
          <p:cNvSpPr txBox="1"/>
          <p:nvPr/>
        </p:nvSpPr>
        <p:spPr>
          <a:xfrm>
            <a:off x="6896100" y="1960614"/>
            <a:ext cx="514350" cy="123825"/>
          </a:xfrm>
          <a:prstGeom prst="rect">
            <a:avLst/>
          </a:prstGeom>
          <a:noFill/>
        </p:spPr>
        <p:txBody>
          <a:bodyPr wrap="none" lIns="0" rIns="0" tIns="0" bIns="0" anchor="ctr">
            <a:spAutoFit/>
          </a:bodyPr>
          <a:lstStyle/>
          <a:p>
            <a:pPr algn="r"/>
            <a:r>
              <a:rPr sz="900" b="1">
                <a:solidFill>
                  <a:srgbClr val="2E7D32"/>
                </a:solidFill>
                <a:latin typeface="Calibri"/>
              </a:rPr>
              <a:t>+29</a:t>
            </a:r>
          </a:p>
        </p:txBody>
      </p:sp>
      <p:sp>
        <p:nvSpPr>
          <p:cNvPr id="20" name="FMI Legend Chip"/>
          <p:cNvSpPr/>
          <p:nvPr/>
        </p:nvSpPr>
        <p:spPr>
          <a:xfrm>
            <a:off x="4928997" y="274755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74279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66659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Low-Barrier Films</a:t>
            </a:r>
          </a:p>
        </p:txBody>
      </p:sp>
      <p:sp>
        <p:nvSpPr>
          <p:cNvPr id="23" name="BPS Value 2"/>
          <p:cNvSpPr txBox="1"/>
          <p:nvPr/>
        </p:nvSpPr>
        <p:spPr>
          <a:xfrm>
            <a:off x="6896100" y="2728504"/>
            <a:ext cx="514350" cy="123825"/>
          </a:xfrm>
          <a:prstGeom prst="rect">
            <a:avLst/>
          </a:prstGeom>
          <a:noFill/>
        </p:spPr>
        <p:txBody>
          <a:bodyPr wrap="none" lIns="0" rIns="0" tIns="0" bIns="0" anchor="ctr">
            <a:spAutoFit/>
          </a:bodyPr>
          <a:lstStyle/>
          <a:p>
            <a:pPr algn="r"/>
            <a:r>
              <a:rPr sz="900" b="1">
                <a:solidFill>
                  <a:srgbClr val="E44D3A"/>
                </a:solidFill>
                <a:latin typeface="Calibri"/>
              </a:rPr>
              <a:t>-14</a:t>
            </a:r>
          </a:p>
        </p:txBody>
      </p:sp>
      <p:sp>
        <p:nvSpPr>
          <p:cNvPr id="24" name="FMI Legend Chip"/>
          <p:cNvSpPr/>
          <p:nvPr/>
        </p:nvSpPr>
        <p:spPr>
          <a:xfrm>
            <a:off x="4928997" y="3958647"/>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95388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87768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Medium-Barrier Films</a:t>
            </a:r>
          </a:p>
        </p:txBody>
      </p:sp>
      <p:sp>
        <p:nvSpPr>
          <p:cNvPr id="27" name="BPS Value 3"/>
          <p:cNvSpPr txBox="1"/>
          <p:nvPr/>
        </p:nvSpPr>
        <p:spPr>
          <a:xfrm>
            <a:off x="6896100" y="3939597"/>
            <a:ext cx="514350" cy="123825"/>
          </a:xfrm>
          <a:prstGeom prst="rect">
            <a:avLst/>
          </a:prstGeom>
          <a:noFill/>
        </p:spPr>
        <p:txBody>
          <a:bodyPr wrap="none" lIns="0" rIns="0" tIns="0" bIns="0" anchor="ctr">
            <a:spAutoFit/>
          </a:bodyPr>
          <a:lstStyle/>
          <a:p>
            <a:pPr algn="r"/>
            <a:r>
              <a:rPr sz="900" b="1">
                <a:solidFill>
                  <a:srgbClr val="E44D3A"/>
                </a:solidFill>
                <a:latin typeface="Calibri"/>
              </a:rPr>
              <a:t>-127</a:t>
            </a:r>
          </a:p>
        </p:txBody>
      </p:sp>
      <p:sp>
        <p:nvSpPr>
          <p:cNvPr id="28" name="FMI Legend Chip"/>
          <p:cNvSpPr/>
          <p:nvPr/>
        </p:nvSpPr>
        <p:spPr>
          <a:xfrm>
            <a:off x="4928997" y="547694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47218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39598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High-Barrier Films</a:t>
            </a:r>
          </a:p>
        </p:txBody>
      </p:sp>
      <p:sp>
        <p:nvSpPr>
          <p:cNvPr id="31" name="BPS Value 4"/>
          <p:cNvSpPr txBox="1"/>
          <p:nvPr/>
        </p:nvSpPr>
        <p:spPr>
          <a:xfrm>
            <a:off x="6896100" y="5457898"/>
            <a:ext cx="514350" cy="123825"/>
          </a:xfrm>
          <a:prstGeom prst="rect">
            <a:avLst/>
          </a:prstGeom>
          <a:noFill/>
        </p:spPr>
        <p:txBody>
          <a:bodyPr wrap="none" lIns="0" rIns="0" tIns="0" bIns="0" anchor="ctr">
            <a:spAutoFit/>
          </a:bodyPr>
          <a:lstStyle/>
          <a:p>
            <a:pPr algn="r"/>
            <a:r>
              <a:rPr sz="900" b="1">
                <a:solidFill>
                  <a:srgbClr val="2E7D32"/>
                </a:solidFill>
                <a:latin typeface="Calibri"/>
              </a:rPr>
              <a:t>+112</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Latin America Read-out, By Barrier Level Vs Application</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barrier level vs application, high-barrier films segment is expected to witness the highest CAGR of 7.5% over the forecast period. In terms of value share by barrier level vs application, the high-barrier films segment is expected to dominate the market, gaining 112 BPS and accounting for 33.5% share by 2036.</a:t>
            </a:r>
          </a:p>
          <a:p>
            <a:pPr algn="l">
              <a:lnSpc>
                <a:spcPct val="110000"/>
              </a:lnSpc>
              <a:spcBef>
                <a:spcPts val="0"/>
              </a:spcBef>
              <a:spcAft>
                <a:spcPts val="500"/>
              </a:spcAft>
            </a:pPr>
            <a:r>
              <a:rPr sz="1150" b="0">
                <a:solidFill>
                  <a:srgbClr val="2E2E2E"/>
                </a:solidFill>
                <a:latin typeface="Calibri"/>
              </a:rPr>
              <a:t>The medium-barrier films segment is expected to lose 127 BPS over the forecast period to account for 32.9% share by 2036.</a:t>
            </a:r>
          </a:p>
          <a:p>
            <a:pPr algn="l">
              <a:lnSpc>
                <a:spcPct val="110000"/>
              </a:lnSpc>
              <a:spcBef>
                <a:spcPts val="0"/>
              </a:spcBef>
              <a:spcAft>
                <a:spcPts val="500"/>
              </a:spcAft>
            </a:pPr>
            <a:r>
              <a:rPr sz="1150" b="0">
                <a:solidFill>
                  <a:srgbClr val="2E2E2E"/>
                </a:solidFill>
                <a:latin typeface="Calibri"/>
              </a:rPr>
              <a:t>High-Barrier Films grows fastest at a 7.5% CAGR against 7.2% for the market because protein, ready meals and e-commerce-delivered food need longer shelf life and lower spoilage. The slowest part, Medium-Barrier Films, grows at 6.8% as demand polarises between cost-led low-barrier grades and performance-led high-barrier grades. In Latin America, urbanisation, modern retail expansion and local converting capacity support the shift.</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Volume, By Barrier Level Vs Application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Barrier Level Vs Application,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Volume YoY Growth,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Volume, By Barrier Level Vs Application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Barrier Level Vs Application,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Volume YoY Heatmap, By Barrier Level Vs Application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sp>
        <p:nvSpPr>
          <p:cNvPr id="28" name="Rectangle 27"/>
          <p:cNvSpPr/>
          <p:nvPr/>
        </p:nvSpPr>
        <p:spPr>
          <a:xfrm>
            <a:off x="1857375" y="1409700"/>
            <a:ext cx="643890" cy="430212"/>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a:t>
            </a:r>
          </a:p>
        </p:txBody>
      </p:sp>
      <p:sp>
        <p:nvSpPr>
          <p:cNvPr id="44" name="Rectangle 43"/>
          <p:cNvSpPr/>
          <p:nvPr/>
        </p:nvSpPr>
        <p:spPr>
          <a:xfrm>
            <a:off x="1857375" y="1839912"/>
            <a:ext cx="643890" cy="430212"/>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a:t>
            </a:r>
          </a:p>
        </p:txBody>
      </p:sp>
      <p:sp>
        <p:nvSpPr>
          <p:cNvPr id="60" name="Rectangle 59"/>
          <p:cNvSpPr/>
          <p:nvPr/>
        </p:nvSpPr>
        <p:spPr>
          <a:xfrm>
            <a:off x="1857375" y="2270125"/>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5A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32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sp>
        <p:nvSpPr>
          <p:cNvPr id="76" name="Rectangle 75"/>
          <p:cNvSpPr/>
          <p:nvPr/>
        </p:nvSpPr>
        <p:spPr>
          <a:xfrm>
            <a:off x="1857375" y="2700338"/>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92" name="Rectangle 91"/>
          <p:cNvSpPr/>
          <p:nvPr/>
        </p:nvSpPr>
        <p:spPr>
          <a:xfrm>
            <a:off x="1857375" y="3130550"/>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65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108" name="Rectangle 107"/>
          <p:cNvSpPr/>
          <p:nvPr/>
        </p:nvSpPr>
        <p:spPr>
          <a:xfrm>
            <a:off x="1857375" y="3560762"/>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D1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sp>
        <p:nvSpPr>
          <p:cNvPr id="124" name="Rectangle 123"/>
          <p:cNvSpPr/>
          <p:nvPr/>
        </p:nvSpPr>
        <p:spPr>
          <a:xfrm>
            <a:off x="1857375" y="3990975"/>
            <a:ext cx="643890" cy="430212"/>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237F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140" name="Rectangle 139"/>
          <p:cNvSpPr/>
          <p:nvPr/>
        </p:nvSpPr>
        <p:spPr>
          <a:xfrm>
            <a:off x="1857375" y="4421188"/>
            <a:ext cx="643890" cy="430212"/>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156" name="Rectangle 155"/>
          <p:cNvSpPr/>
          <p:nvPr/>
        </p:nvSpPr>
        <p:spPr>
          <a:xfrm>
            <a:off x="1857375" y="4851400"/>
            <a:ext cx="643890" cy="430212"/>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1E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172" name="Rectangle 171"/>
          <p:cNvSpPr/>
          <p:nvPr/>
        </p:nvSpPr>
        <p:spPr>
          <a:xfrm>
            <a:off x="1857375" y="5281612"/>
            <a:ext cx="643890" cy="430212"/>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28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0D54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188" name="Rectangle 187"/>
          <p:cNvSpPr/>
          <p:nvPr/>
        </p:nvSpPr>
        <p:spPr>
          <a:xfrm>
            <a:off x="1857375" y="5711825"/>
            <a:ext cx="643890" cy="430212"/>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0D56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0E70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204" name="Rectangle 203"/>
          <p:cNvSpPr/>
          <p:nvPr/>
        </p:nvSpPr>
        <p:spPr>
          <a:xfrm>
            <a:off x="1857375" y="6142037"/>
            <a:ext cx="643890" cy="430212"/>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Barrier Level Vs Application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Barrier Level Vs Application,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Growth,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Barrier Level Vs Application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Barrier Level Vs Application,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Heatmap, By Barrier Level Vs Application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sp>
        <p:nvSpPr>
          <p:cNvPr id="28" name="Rectangle 27"/>
          <p:cNvSpPr/>
          <p:nvPr/>
        </p:nvSpPr>
        <p:spPr>
          <a:xfrm>
            <a:off x="1857375" y="1409700"/>
            <a:ext cx="643890" cy="43021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a:t>
            </a:r>
          </a:p>
        </p:txBody>
      </p:sp>
      <p:sp>
        <p:nvSpPr>
          <p:cNvPr id="44" name="Rectangle 43"/>
          <p:cNvSpPr/>
          <p:nvPr/>
        </p:nvSpPr>
        <p:spPr>
          <a:xfrm>
            <a:off x="1857375" y="1839912"/>
            <a:ext cx="643890" cy="430212"/>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68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2E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a:t>
            </a:r>
          </a:p>
        </p:txBody>
      </p:sp>
      <p:sp>
        <p:nvSpPr>
          <p:cNvPr id="60" name="Rectangle 59"/>
          <p:cNvSpPr/>
          <p:nvPr/>
        </p:nvSpPr>
        <p:spPr>
          <a:xfrm>
            <a:off x="1857375" y="2270125"/>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A9C9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sp>
        <p:nvSpPr>
          <p:cNvPr id="76" name="Rectangle 75"/>
          <p:cNvSpPr/>
          <p:nvPr/>
        </p:nvSpPr>
        <p:spPr>
          <a:xfrm>
            <a:off x="1857375" y="2700338"/>
            <a:ext cx="643890" cy="43021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92" name="Rectangle 91"/>
          <p:cNvSpPr/>
          <p:nvPr/>
        </p:nvSpPr>
        <p:spPr>
          <a:xfrm>
            <a:off x="1857375" y="3130550"/>
            <a:ext cx="643890" cy="43021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7B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108" name="Rectangle 107"/>
          <p:cNvSpPr/>
          <p:nvPr/>
        </p:nvSpPr>
        <p:spPr>
          <a:xfrm>
            <a:off x="1857375" y="3560762"/>
            <a:ext cx="643890" cy="430212"/>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A3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sp>
        <p:nvSpPr>
          <p:cNvPr id="124" name="Rectangle 123"/>
          <p:cNvSpPr/>
          <p:nvPr/>
        </p:nvSpPr>
        <p:spPr>
          <a:xfrm>
            <a:off x="1857375" y="3990975"/>
            <a:ext cx="643890" cy="43021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2E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140" name="Rectangle 139"/>
          <p:cNvSpPr/>
          <p:nvPr/>
        </p:nvSpPr>
        <p:spPr>
          <a:xfrm>
            <a:off x="1857375" y="4421188"/>
            <a:ext cx="643890" cy="430212"/>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28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2B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32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156" name="Rectangle 155"/>
          <p:cNvSpPr/>
          <p:nvPr/>
        </p:nvSpPr>
        <p:spPr>
          <a:xfrm>
            <a:off x="1857375" y="4851400"/>
            <a:ext cx="643890" cy="430212"/>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4E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1E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172" name="Rectangle 171"/>
          <p:cNvSpPr/>
          <p:nvPr/>
        </p:nvSpPr>
        <p:spPr>
          <a:xfrm>
            <a:off x="1857375" y="5281612"/>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188" name="Rectangle 187"/>
          <p:cNvSpPr/>
          <p:nvPr/>
        </p:nvSpPr>
        <p:spPr>
          <a:xfrm>
            <a:off x="1857375" y="5711825"/>
            <a:ext cx="643890" cy="430212"/>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204" name="Rectangle 203"/>
          <p:cNvSpPr/>
          <p:nvPr/>
        </p:nvSpPr>
        <p:spPr>
          <a:xfrm>
            <a:off x="1857375" y="6142037"/>
            <a:ext cx="643890" cy="430212"/>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37045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2675255"/>
            <a:ext cx="7239000" cy="514350"/>
          </a:xfrm>
          <a:prstGeom prst="rect">
            <a:avLst/>
          </a:prstGeom>
          <a:noFill/>
        </p:spPr>
        <p:txBody>
          <a:bodyPr wrap="square" lIns="0" rIns="0" tIns="0">
            <a:spAutoFit/>
          </a:bodyPr>
          <a:lstStyle/>
          <a:p>
            <a:r>
              <a:rPr sz="3000" b="1" cap="all" spc="400">
                <a:solidFill>
                  <a:srgbClr val="FFFFFF"/>
                </a:solidFill>
                <a:latin typeface="Calibri"/>
              </a:rPr>
              <a:t>Country Market Outlook</a:t>
            </a:r>
          </a:p>
        </p:txBody>
      </p:sp>
      <p:sp>
        <p:nvSpPr>
          <p:cNvPr id="7" name="TextBox 6"/>
          <p:cNvSpPr txBox="1"/>
          <p:nvPr/>
        </p:nvSpPr>
        <p:spPr>
          <a:xfrm>
            <a:off x="914400" y="3380105"/>
            <a:ext cx="7124700" cy="253619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Overview (Volume &amp; Value)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Segment Overview (Volume &amp; Value)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Principal Material / Barrier Technology</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Material Structure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Barrier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Application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Barrier Level Vs Application</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Brazil</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0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Overview (Volume &amp; Value)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Segments (Value)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Brazil market in volume: size, growth, YoY momentum and gap to the Latin America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1,019</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1,706</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4.2%</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4.8%</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-91 BPS</a:t>
            </a:r>
          </a:p>
          <a:p>
            <a:pPr algn="ctr"/>
            <a:r>
              <a:rPr sz="1100" b="0">
                <a:solidFill>
                  <a:srgbClr val="6C7A89"/>
                </a:solidFill>
                <a:latin typeface="Calibri"/>
              </a:rPr>
              <a:t>vs Latin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Brazil's flexible plastic packaging market expands at 4.8% CAGR through 2036, trailing the Latin America benchmark of 5.7% by 91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Brazil holds 37.5% of the Latin America flexible plastic packaging market in 2026; by 2036 that share moves to 34.4%.</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641.9 Thousand MT between 2026 and 2036 the Brazil market grows to 1.6×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Brazil market in value: size, growth, YoY momentum and gap to the Latin America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3,081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5,955</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4.6%</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6.3%</a:t>
            </a:r>
          </a:p>
        </p:txBody>
      </p:sp>
      <p:sp>
        <p:nvSpPr>
          <p:cNvPr id="15" name="Rounded Rectangle 14"/>
          <p:cNvSpPr/>
          <p:nvPr/>
        </p:nvSpPr>
        <p:spPr>
          <a:xfrm>
            <a:off x="142875" y="1657350"/>
            <a:ext cx="4695825"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(US$ Mn), 2021–2036</a:t>
            </a:r>
          </a:p>
        </p:txBody>
      </p:sp>
      <p:graphicFrame>
        <p:nvGraphicFramePr>
          <p:cNvPr id="17" name="Chart 16"/>
          <p:cNvGraphicFramePr>
            <a:graphicFrameLocks noGrp="1"/>
          </p:cNvGraphicFramePr>
          <p:nvPr/>
        </p:nvGraphicFramePr>
        <p:xfrm>
          <a:off x="238125" y="1943100"/>
          <a:ext cx="4505325" cy="1162050"/>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162050"/>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-90 BPS</a:t>
            </a:r>
          </a:p>
          <a:p>
            <a:pPr algn="ctr"/>
            <a:r>
              <a:rPr sz="1100" b="0">
                <a:solidFill>
                  <a:srgbClr val="6C7A89"/>
                </a:solidFill>
                <a:latin typeface="Calibri"/>
              </a:rPr>
              <a:t>vs Latin America benchmark</a:t>
            </a:r>
          </a:p>
          <a:p>
            <a:pPr algn="ctr"/>
            <a:r>
              <a:rPr sz="1100" b="1">
                <a:solidFill>
                  <a:srgbClr val="E44D3A"/>
                </a:solidFill>
                <a:latin typeface="Calibri"/>
              </a:rPr>
              <a:t>▼ below benchmark</a:t>
            </a:r>
          </a:p>
        </p:txBody>
      </p:sp>
      <p:sp>
        <p:nvSpPr>
          <p:cNvPr id="22" name="TextBox 21"/>
          <p:cNvSpPr txBox="1"/>
          <p:nvPr/>
        </p:nvSpPr>
        <p:spPr>
          <a:xfrm>
            <a:off x="8042910" y="2705100"/>
            <a:ext cx="3901440" cy="361950"/>
          </a:xfrm>
          <a:prstGeom prst="rect">
            <a:avLst/>
          </a:prstGeom>
          <a:noFill/>
        </p:spPr>
        <p:txBody>
          <a:bodyPr wrap="square" lIns="28575" rIns="28575" tIns="9525" bIns="9525" anchor="t">
            <a:spAutoFit/>
          </a:bodyPr>
          <a:lstStyle/>
          <a:p>
            <a:pPr algn="l"/>
            <a:r>
              <a:rPr sz="1100" b="0">
                <a:solidFill>
                  <a:srgbClr val="2E2E2E"/>
                </a:solidFill>
                <a:latin typeface="Calibri"/>
              </a:rPr>
              <a:t>Brazil's flexible plastic packaging market expands at 6.3% CAGR through 2036, trailing the Latin America benchmark of 7.2% by 90 BPS.</a:t>
            </a:r>
          </a:p>
        </p:txBody>
      </p:sp>
      <p:sp>
        <p:nvSpPr>
          <p:cNvPr id="23" name="Rounded Rectangle 22"/>
          <p:cNvSpPr/>
          <p:nvPr/>
        </p:nvSpPr>
        <p:spPr>
          <a:xfrm>
            <a:off x="142875" y="3295650"/>
            <a:ext cx="4695825"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3528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581400"/>
          <a:ext cx="4505325" cy="1162050"/>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295650"/>
            <a:ext cx="7048500"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3528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Market Share, 2026</a:t>
            </a:r>
          </a:p>
        </p:txBody>
      </p:sp>
      <p:graphicFrame>
        <p:nvGraphicFramePr>
          <p:cNvPr id="28" name="Chart 27"/>
          <p:cNvGraphicFramePr>
            <a:graphicFrameLocks noGrp="1"/>
          </p:cNvGraphicFramePr>
          <p:nvPr/>
        </p:nvGraphicFramePr>
        <p:xfrm>
          <a:off x="5086350" y="3581400"/>
          <a:ext cx="6858000" cy="1162050"/>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4933950"/>
            <a:ext cx="5876925"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Brazil holds 39.0% of the Latin America flexible plastic packaging market in 2026; by 2036 that share moves to 35.8%.</a:t>
            </a:r>
          </a:p>
        </p:txBody>
      </p:sp>
      <p:sp>
        <p:nvSpPr>
          <p:cNvPr id="30" name="Rounded Rectangle 29"/>
          <p:cNvSpPr/>
          <p:nvPr/>
        </p:nvSpPr>
        <p:spPr>
          <a:xfrm>
            <a:off x="6172200" y="4933950"/>
            <a:ext cx="5876925"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Brazil is expected to account for US$ 5,955 Mn by 2036 at a CAGR of 6.3% over the forecast period. Brazil is expected to create an incremental opportunity of US$ 2,875 Mn for the overall flexible plastic packaging market from 2025 to 2036. Brazil's value grows at 6.3% and volume at 4.8%, both the slowest in Latin America, since it is a large and mature packaging market with an established converting base and food industry. The gap between the two rates points to price and mix gains, with average price rising from US$ 3,051 to US$ 3,491 per MT as barrier pouches and recyclable structures replace basic film. Currency swings and a cautious consumer temper volume.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Brazil's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3,245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1,746 US$ Mn (54% share), ahead of 'Premade Pouches &amp; Bags' (894.4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966.0 US$ Mn (30% share), ahead of 'PP-Based' (706.3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945.7 US$ Mn (29% share), ahead of 'Laminated Films' (793.5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1,103 US$ Mn (34% share), ahead of 'High-Barrier Films' (1,051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2,708 US$ Mn (83% share), ahead of 'Non-Food Packaging' (537.6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1,103 US$ Mn (34% share), ahead of 'High-Barrier Films' (1,051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Segment Overview (Volume &amp; Value)</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Principal Material / Barrier 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Material Structure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Barrier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Application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Barrier Level Vs Application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Brazil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Brazil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Principal Material / Barrier 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segmental analysis by Principal Material / Barrier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segmental analysis by Principal Material / Barrier Technology: growth contribution, share variance and absolute $…</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Brazil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Brazil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Material Structure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Brazil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Brazil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Barrier Level</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Brazil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Application</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Brazil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Brazil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Barrier Level Vs Application</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Brazil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Brazil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Mexico</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Mexico market in volume: size, growth, YoY momentum and gap to the Latin America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903.4</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1,767</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5.2%</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+63 BPS</a:t>
            </a:r>
          </a:p>
          <a:p>
            <a:pPr algn="ctr"/>
            <a:r>
              <a:rPr sz="1100" b="0">
                <a:solidFill>
                  <a:srgbClr val="6C7A89"/>
                </a:solidFill>
                <a:latin typeface="Calibri"/>
              </a:rPr>
              <a:t>vs Latin America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Mexico's flexible plastic packaging market expands at 6.4% CAGR through 2036, outpacing the Latin America benchmark of 5.7% by 63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Mexico holds 33.6% of the Latin America flexible plastic packaging market in 2026; by 2036 that share moves to 35.7%.</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814.8 Thousand MT between 2026 and 2036 the Mexico market grows to 1.9×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Mexico market in value: size, growth, YoY momentum and gap to the Latin America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2,475</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5,587</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5.6%</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7.8%</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+66 BPS</a:t>
            </a:r>
          </a:p>
          <a:p>
            <a:pPr algn="ctr"/>
            <a:r>
              <a:rPr sz="1100" b="0">
                <a:solidFill>
                  <a:srgbClr val="6C7A89"/>
                </a:solidFill>
                <a:latin typeface="Calibri"/>
              </a:rPr>
              <a:t>vs Latin America benchmark</a:t>
            </a:r>
          </a:p>
          <a:p>
            <a:pPr algn="ctr"/>
            <a:r>
              <a:rPr sz="1100" b="1">
                <a:solidFill>
                  <a:srgbClr val="2E7D32"/>
                </a:solidFill>
                <a:latin typeface="Calibri"/>
              </a:rPr>
              <a:t>▲ above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Mexico's flexible plastic packaging market expands at 7.8% CAGR through 2036, outpacing the Latin America benchmark of 7.2% by 66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Mexico holds 31.6% of the Latin America flexible plastic packaging market in 2026; by 2036 that share moves to 33.6%.</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Mexico is expected to account for US$ 5,587 Mn by 2036 at a CAGR of 7.8% over the forecast period. Mexico is expected to create an incremental opportunity of US$ 3,111 Mn for the overall flexible plastic packaging market from 2025 to 2036. Mexico grows at 7.8% in value and 6.4% in volume, ahead of the 5.6% value pace of 2021-25, as nearshoring, export-oriented food processing, retail modernisation and a growing middle class raise packaged-food demand. The value-volume gap reflects price and mix, with the average price climbing from US$2,763 to US$3,162 per MT as converters move into barrier and pouch formats.</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Mexico's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2,631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1,422 US$ Mn (54% share), ahead of 'Premade Pouches &amp; Bags' (728.5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840.5 US$ Mn (32% share), ahead of 'PP-Based' (512.2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758.3 US$ Mn (29% share), ahead of 'Laminated Films' (643.3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'High-Barrier Films' leads at 886.2 US$ Mn (34% share), ahead of 'Medium-Barrier Films' (885.1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2,192 US$ Mn (83% share), ahead of 'Non-Food Packaging' (438.6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'High-Barrier Films' leads at 886.2 US$ Mn (34% share), ahead of 'Medium-Barrier Films' (885.1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Mexico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Mexico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0" cy="4524385"/>
        </p:xfrm>
        <a:graphic>
          <a:graphicData uri="http://schemas.openxmlformats.org/drawingml/2006/table">
            <a:tbl>
              <a:tblPr>
                <a:tableStyleId>{5C22544A-7EE6-4342-B048-85BDC9FD1C3A}</a:tableStyleId>
              </a:tblPr>
              <a:tblGrid>
                <a:gridCol w="2015655"/>
                <a:gridCol w="658103"/>
                <a:gridCol w="658103"/>
                <a:gridCol w="658103"/>
                <a:gridCol w="658103"/>
                <a:gridCol w="658103"/>
                <a:gridCol w="658103"/>
                <a:gridCol w="658103"/>
                <a:gridCol w="658103"/>
                <a:gridCol w="658103"/>
                <a:gridCol w="658103"/>
                <a:gridCol w="658103"/>
                <a:gridCol w="658103"/>
                <a:gridCol w="658103"/>
                <a:gridCol w="658103"/>
                <a:gridCol w="65810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segmental analysis by Principal Material / Barrier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segmental analysis by Principal Material / Barrier Technology: growth contribution, share variance and absolute $…</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Mexico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Mexico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1295400"/>
        </p:xfrm>
        <a:graphic>
          <a:graphicData uri="http://schemas.openxmlformats.org/drawingml/2006/table">
            <a:tbl>
              <a:tblPr>
                <a:tableStyleId>{5C22544A-7EE6-4342-B048-85BDC9FD1C3A}</a:tableStyleId>
              </a:tblPr>
              <a:tblGrid>
                <a:gridCol w="2563612"/>
                <a:gridCol w="595722"/>
                <a:gridCol w="595722"/>
                <a:gridCol w="595722"/>
                <a:gridCol w="595722"/>
                <a:gridCol w="595722"/>
                <a:gridCol w="595722"/>
                <a:gridCol w="595722"/>
                <a:gridCol w="595722"/>
                <a:gridCol w="595722"/>
                <a:gridCol w="595722"/>
                <a:gridCol w="673273"/>
                <a:gridCol w="673273"/>
                <a:gridCol w="673273"/>
                <a:gridCol w="673273"/>
                <a:gridCol w="673273"/>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Mexico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Mexico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Mexico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197" cy="1076325"/>
        </p:xfrm>
        <a:graphic>
          <a:graphicData uri="http://schemas.openxmlformats.org/drawingml/2006/table">
            <a:tbl>
              <a:tblPr>
                <a:tableStyleId>{5C22544A-7EE6-4342-B048-85BDC9FD1C3A}</a:tableStyleId>
              </a:tblPr>
              <a:tblGrid>
                <a:gridCol w="1631997"/>
                <a:gridCol w="683680"/>
                <a:gridCol w="683680"/>
                <a:gridCol w="683680"/>
                <a:gridCol w="683680"/>
                <a:gridCol w="683680"/>
                <a:gridCol w="683680"/>
                <a:gridCol w="683680"/>
                <a:gridCol w="683680"/>
                <a:gridCol w="683680"/>
                <a:gridCol w="683680"/>
                <a:gridCol w="683680"/>
                <a:gridCol w="683680"/>
                <a:gridCol w="683680"/>
                <a:gridCol w="683680"/>
                <a:gridCol w="683680"/>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Mexico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Mexico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Mexico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Mexico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1295400"/>
        </p:xfrm>
        <a:graphic>
          <a:graphicData uri="http://schemas.openxmlformats.org/drawingml/2006/table">
            <a:tbl>
              <a:tblPr>
                <a:tableStyleId>{5C22544A-7EE6-4342-B048-85BDC9FD1C3A}</a:tableStyleId>
              </a:tblPr>
              <a:tblGrid>
                <a:gridCol w="1842713"/>
                <a:gridCol w="669632"/>
                <a:gridCol w="669632"/>
                <a:gridCol w="669632"/>
                <a:gridCol w="669632"/>
                <a:gridCol w="669632"/>
                <a:gridCol w="669632"/>
                <a:gridCol w="669632"/>
                <a:gridCol w="669632"/>
                <a:gridCol w="669632"/>
                <a:gridCol w="669632"/>
                <a:gridCol w="669632"/>
                <a:gridCol w="669632"/>
                <a:gridCol w="669632"/>
                <a:gridCol w="669632"/>
                <a:gridCol w="669632"/>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Colombia</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Colombia market in volume: size, growth, YoY momentum and gap to the Latin America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231.6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482.3</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6.1%</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6.9%</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+120 BPS</a:t>
            </a:r>
          </a:p>
          <a:p>
            <a:pPr algn="ctr"/>
            <a:r>
              <a:rPr sz="1100" b="0">
                <a:solidFill>
                  <a:srgbClr val="6C7A89"/>
                </a:solidFill>
                <a:latin typeface="Calibri"/>
              </a:rPr>
              <a:t>vs Latin America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Colombia's flexible plastic packaging market expands at 6.9% CAGR through 2036, outpacing the Latin America benchmark of 5.7% by 120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Colombia holds 8.7% of the Latin America flexible plastic packaging market in 2026; by 2036 that share moves to 9.7%.</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235.9 Thousand MT between 2026 and 2036 the Colombia market grows to 2.0×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Colombia market in value: size, growth, YoY momentum and gap to the Latin America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683.7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1,643</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6.5%</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8.4%</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+123 BPS</a:t>
            </a:r>
          </a:p>
          <a:p>
            <a:pPr algn="ctr"/>
            <a:r>
              <a:rPr sz="1100" b="0">
                <a:solidFill>
                  <a:srgbClr val="6C7A89"/>
                </a:solidFill>
                <a:latin typeface="Calibri"/>
              </a:rPr>
              <a:t>vs Latin America benchmark</a:t>
            </a:r>
          </a:p>
          <a:p>
            <a:pPr algn="ctr"/>
            <a:r>
              <a:rPr sz="1100" b="1">
                <a:solidFill>
                  <a:srgbClr val="2E7D32"/>
                </a:solidFill>
                <a:latin typeface="Calibri"/>
              </a:rPr>
              <a:t>▲ above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Colombia's flexible plastic packaging market expands at 8.4% CAGR through 2036, outpacing the Latin America benchmark of 7.2% by 123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Colombia holds 8.8% of the Latin America flexible plastic packaging market in 2026; by 2036 that share moves to 9.9%.</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Colombia is expected to account for US$ 1,643 Mn by 2036 at a CAGR of 8.4% over the forecast period. Colombia is expected to create an incremental opportunity of US$ 959.2 Mn for the overall flexible plastic packaging market from 2025 to 2036. Colombia grows at 8.4% in value and 6.9% in volume, among the fastest in its region, because rising incomes, urbanisation, modern retail expansion and a growing food processing base lift packaged food demand from a modest starting point. Average price climbs from US$2,979 to US$3,407 per MT, which pushes value ahead of volume as barrier and pouch formats gain mix.</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Colombia's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734.1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404.6 US$ Mn (55% share), ahead of 'Premade Pouches &amp; Bags' (201.2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220.3 US$ Mn (30% share), ahead of 'PP-Based' (147.5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213.7 US$ Mn (29% share), ahead of 'Laminated Films' (178.1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256.8 US$ Mn (35% share), ahead of 'High-Barrier Films' (227.0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620.4 US$ Mn (85% share), ahead of 'Non-Food Packaging' (113.7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256.8 US$ Mn (35% share), ahead of 'High-Barrier Films' (227.0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Colombia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Colombia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segmental analysis by Principal Material / Barrier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segmental analysis by Principal Material / Barrier Technology: growth contribution, share variance and absolute $…</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Colombia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Colombia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197" cy="1514475"/>
        </p:xfrm>
        <a:graphic>
          <a:graphicData uri="http://schemas.openxmlformats.org/drawingml/2006/table">
            <a:tbl>
              <a:tblPr>
                <a:tableStyleId>{5C22544A-7EE6-4342-B048-85BDC9FD1C3A}</a:tableStyleId>
              </a:tblPr>
              <a:tblGrid>
                <a:gridCol w="2563612"/>
                <a:gridCol w="595722"/>
                <a:gridCol w="595722"/>
                <a:gridCol w="595722"/>
                <a:gridCol w="673273"/>
                <a:gridCol w="673273"/>
                <a:gridCol w="595722"/>
                <a:gridCol w="595722"/>
                <a:gridCol w="595722"/>
                <a:gridCol w="595722"/>
                <a:gridCol w="595722"/>
                <a:gridCol w="595722"/>
                <a:gridCol w="673273"/>
                <a:gridCol w="673273"/>
                <a:gridCol w="673273"/>
                <a:gridCol w="595722"/>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Colombia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Colombia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3" cy="3667121"/>
        </p:xfrm>
        <a:graphic>
          <a:graphicData uri="http://schemas.openxmlformats.org/drawingml/2006/table">
            <a:tbl>
              <a:tblPr>
                <a:tableStyleId>{5C22544A-7EE6-4342-B048-85BDC9FD1C3A}</a:tableStyleId>
              </a:tblPr>
              <a:tblGrid>
                <a:gridCol w="2475828"/>
                <a:gridCol w="596371"/>
                <a:gridCol w="596371"/>
                <a:gridCol w="596371"/>
                <a:gridCol w="674006"/>
                <a:gridCol w="674006"/>
                <a:gridCol w="674006"/>
                <a:gridCol w="674006"/>
                <a:gridCol w="596371"/>
                <a:gridCol w="596371"/>
                <a:gridCol w="596371"/>
                <a:gridCol w="596371"/>
                <a:gridCol w="674006"/>
                <a:gridCol w="674006"/>
                <a:gridCol w="596371"/>
                <a:gridCol w="596371"/>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Colombia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Colombia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Colombia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Colombia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Colombia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Rest of Latin America</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Latin America market in volume: size, growth, YoY momentum and gap to the Latin America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544.4</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1,000</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4.7%</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5.8%</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 BPS</a:t>
            </a:r>
          </a:p>
          <a:p>
            <a:pPr algn="ctr"/>
            <a:r>
              <a:rPr sz="1100" b="0">
                <a:solidFill>
                  <a:srgbClr val="6C7A89"/>
                </a:solidFill>
                <a:latin typeface="Calibri"/>
              </a:rPr>
              <a:t>vs Latin America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Latin America's flexible plastic packaging market expands at 5.8% CAGR through 2036, outpacing the Latin America benchmark of 5.7% by 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Latin America holds 20.2% of the Latin America flexible plastic packaging market in 2026; by 2036 that share moves to 20.2%.</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429.2 Thousand MT between 2026 and 2036 the Rest of Latin America market grows to 1.8×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Latin America market in value: size, growth, YoY momentum and gap to the Latin America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1,619</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3,434</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5.1%</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7.2%</a:t>
            </a:r>
          </a:p>
        </p:txBody>
      </p:sp>
      <p:sp>
        <p:nvSpPr>
          <p:cNvPr id="15" name="Rounded Rectangle 14"/>
          <p:cNvSpPr/>
          <p:nvPr/>
        </p:nvSpPr>
        <p:spPr>
          <a:xfrm>
            <a:off x="142875" y="1657350"/>
            <a:ext cx="4695825"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(US$ Mn), 2021–2036</a:t>
            </a:r>
          </a:p>
        </p:txBody>
      </p:sp>
      <p:graphicFrame>
        <p:nvGraphicFramePr>
          <p:cNvPr id="17" name="Chart 16"/>
          <p:cNvGraphicFramePr>
            <a:graphicFrameLocks noGrp="1"/>
          </p:cNvGraphicFramePr>
          <p:nvPr/>
        </p:nvGraphicFramePr>
        <p:xfrm>
          <a:off x="238125" y="1943100"/>
          <a:ext cx="4505325" cy="1162050"/>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162050"/>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+4 BPS</a:t>
            </a:r>
          </a:p>
          <a:p>
            <a:pPr algn="ctr"/>
            <a:r>
              <a:rPr sz="1100" b="0">
                <a:solidFill>
                  <a:srgbClr val="6C7A89"/>
                </a:solidFill>
                <a:latin typeface="Calibri"/>
              </a:rPr>
              <a:t>vs Latin America benchmark</a:t>
            </a:r>
          </a:p>
          <a:p>
            <a:pPr algn="ctr"/>
            <a:r>
              <a:rPr sz="1100" b="1">
                <a:solidFill>
                  <a:srgbClr val="2E7D32"/>
                </a:solidFill>
                <a:latin typeface="Calibri"/>
              </a:rPr>
              <a:t>▲ above benchmark</a:t>
            </a:r>
          </a:p>
        </p:txBody>
      </p:sp>
      <p:sp>
        <p:nvSpPr>
          <p:cNvPr id="22" name="TextBox 21"/>
          <p:cNvSpPr txBox="1"/>
          <p:nvPr/>
        </p:nvSpPr>
        <p:spPr>
          <a:xfrm>
            <a:off x="8042910" y="2705100"/>
            <a:ext cx="3901440" cy="361950"/>
          </a:xfrm>
          <a:prstGeom prst="rect">
            <a:avLst/>
          </a:prstGeom>
          <a:noFill/>
        </p:spPr>
        <p:txBody>
          <a:bodyPr wrap="square" lIns="28575" rIns="28575" tIns="9525" bIns="9525" anchor="t">
            <a:spAutoFit/>
          </a:bodyPr>
          <a:lstStyle/>
          <a:p>
            <a:pPr algn="l"/>
            <a:r>
              <a:rPr sz="1100" b="0">
                <a:solidFill>
                  <a:srgbClr val="2E2E2E"/>
                </a:solidFill>
                <a:latin typeface="Calibri"/>
              </a:rPr>
              <a:t>Rest of Latin America's flexible plastic packaging market expands at 7.2% CAGR through 2036, outpacing the Latin America benchmark of 7.2% by 4 BPS.</a:t>
            </a:r>
          </a:p>
        </p:txBody>
      </p:sp>
      <p:sp>
        <p:nvSpPr>
          <p:cNvPr id="23" name="Rounded Rectangle 22"/>
          <p:cNvSpPr/>
          <p:nvPr/>
        </p:nvSpPr>
        <p:spPr>
          <a:xfrm>
            <a:off x="142875" y="3295650"/>
            <a:ext cx="4695825"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3528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581400"/>
          <a:ext cx="4505325" cy="1162050"/>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295650"/>
            <a:ext cx="7048500"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3528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Market Share, 2026</a:t>
            </a:r>
          </a:p>
        </p:txBody>
      </p:sp>
      <p:graphicFrame>
        <p:nvGraphicFramePr>
          <p:cNvPr id="28" name="Chart 27"/>
          <p:cNvGraphicFramePr>
            <a:graphicFrameLocks noGrp="1"/>
          </p:cNvGraphicFramePr>
          <p:nvPr/>
        </p:nvGraphicFramePr>
        <p:xfrm>
          <a:off x="5086350" y="3581400"/>
          <a:ext cx="6858000" cy="1162050"/>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4933950"/>
            <a:ext cx="5876925"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Latin America holds 20.6% of the Latin America flexible plastic packaging market in 2026; by 2036 that share moves to 20.7%.</a:t>
            </a:r>
          </a:p>
        </p:txBody>
      </p:sp>
      <p:sp>
        <p:nvSpPr>
          <p:cNvPr id="30" name="Rounded Rectangle 29"/>
          <p:cNvSpPr/>
          <p:nvPr/>
        </p:nvSpPr>
        <p:spPr>
          <a:xfrm>
            <a:off x="6172200" y="4933950"/>
            <a:ext cx="5876925"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Rest of Latin America is expected to account for US$ 3,434 Mn by 2036 at a CAGR of 7.2% over the forecast period. Rest of Latin America is expected to create an incremental opportunity of US$ 1,815 Mn for the overall flexible plastic packaging market from 2025 to 2036. Rest of Latin America grows 7.2% in value against 5.8% in volume as expanding supermarket formats, rising packaged-food consumption and growing local converting capacity pull more flexible packs into smaller economies. Value outpaces volume because the average price rises from US$3,000 to US$3,432 per MT as buyers move toward barrier films and premade pouches.</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Latin America's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1,714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930.7 US$ Mn (54% share), ahead of 'Premade Pouches &amp; Bags' (471.3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511.9 US$ Mn (30% share), ahead of 'PP-Based' (352.0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492.1 US$ Mn (29% share), ahead of 'Laminated Films' (415.7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597.6 US$ Mn (35% share), ahead of 'High-Barrier Films' (534.3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1,440 US$ Mn (84% share), ahead of 'Non-Food Packaging' (273.9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597.6 US$ Mn (35% share), ahead of 'High-Barrier Films' (534.3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Latin America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Latin America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segmental analysis by Principal Material / Barrier Technology: growth contribution, share variance…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segmental analysis by Principal Material / Barrier Technology: growth contribution, share variance…</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Latin America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Latin America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volume and value growth by Principal Material / Barrier Technology, highlighting…</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volume and value growth by Principal Material / Barrier Technology, highlighting…</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segmental analysis by Material Structure: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Latin America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Latin America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Latin America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Latin America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Latin America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segmental analysis by Barrier Level Vs Application: growth contribution, share variance and absolute…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Latin America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Latin America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volume and value growth by Barrier Level Vs Application,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volume and value growth by Barrier Level Vs Application,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4.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Pricing Assessment</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Pricing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4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Pricing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Pricing &amp; Regional Price Index Trends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Latin America Pricing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Price Positioning &amp; Key Findings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Pricing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Factors Impacting Pricing</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Flexible Plastic Packaging Market Product Pricing &amp; Price Index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range by sub-segment and indexed regional price movement, highlighting dispersion and structural shifts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average USD pricing by product type and indexed regional price movement with base-year inflation adjustments.</a:t>
            </a:r>
          </a:p>
        </p:txBody>
      </p:sp>
      <p:sp>
        <p:nvSpPr>
          <p:cNvPr id="11" name="Rounded Rectangle 10"/>
          <p:cNvSpPr/>
          <p:nvPr/>
        </p:nvSpPr>
        <p:spPr>
          <a:xfrm>
            <a:off x="142875" y="1317574"/>
            <a:ext cx="7696200"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Pricing by Product Type</a:t>
            </a:r>
          </a:p>
        </p:txBody>
      </p:sp>
      <p:sp>
        <p:nvSpPr>
          <p:cNvPr id="13" name="TextBox 12"/>
          <p:cNvSpPr txBox="1"/>
          <p:nvPr/>
        </p:nvSpPr>
        <p:spPr>
          <a:xfrm>
            <a:off x="111919" y="3471051"/>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2124.9</a:t>
            </a:r>
          </a:p>
        </p:txBody>
      </p:sp>
      <p:sp>
        <p:nvSpPr>
          <p:cNvPr id="14" name="TextBox 13"/>
          <p:cNvSpPr txBox="1"/>
          <p:nvPr/>
        </p:nvSpPr>
        <p:spPr>
          <a:xfrm>
            <a:off x="111919" y="2561000"/>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3631.7</a:t>
            </a:r>
          </a:p>
        </p:txBody>
      </p:sp>
      <p:sp>
        <p:nvSpPr>
          <p:cNvPr id="15" name="TextBox 14"/>
          <p:cNvSpPr txBox="1"/>
          <p:nvPr/>
        </p:nvSpPr>
        <p:spPr>
          <a:xfrm>
            <a:off x="111919" y="1650949"/>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5138.4</a:t>
            </a:r>
          </a:p>
        </p:txBody>
      </p:sp>
      <p:cxnSp>
        <p:nvCxnSpPr>
          <p:cNvPr id="16" name="Connector 15"/>
          <p:cNvCxnSpPr/>
          <p:nvPr/>
        </p:nvCxnSpPr>
        <p:spPr>
          <a:xfrm>
            <a:off x="1533525" y="2787581"/>
            <a:ext cx="0" cy="297637"/>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17" name="Rectangle 16"/>
          <p:cNvSpPr/>
          <p:nvPr/>
        </p:nvSpPr>
        <p:spPr>
          <a:xfrm>
            <a:off x="1314450" y="2787581"/>
            <a:ext cx="438150" cy="297637"/>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57225" y="2635181"/>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3366.9</a:t>
            </a:r>
          </a:p>
        </p:txBody>
      </p:sp>
      <p:sp>
        <p:nvSpPr>
          <p:cNvPr id="19" name="TextBox 18"/>
          <p:cNvSpPr txBox="1"/>
          <p:nvPr/>
        </p:nvSpPr>
        <p:spPr>
          <a:xfrm>
            <a:off x="6572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Rollstock Films</a:t>
            </a:r>
          </a:p>
        </p:txBody>
      </p:sp>
      <p:cxnSp>
        <p:nvCxnSpPr>
          <p:cNvPr id="20" name="Connector 19"/>
          <p:cNvCxnSpPr/>
          <p:nvPr/>
        </p:nvCxnSpPr>
        <p:spPr>
          <a:xfrm>
            <a:off x="3286125" y="1927636"/>
            <a:ext cx="0" cy="399836"/>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3067050" y="1927636"/>
            <a:ext cx="438150" cy="399836"/>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409825" y="1775236"/>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4790.7</a:t>
            </a:r>
          </a:p>
        </p:txBody>
      </p:sp>
      <p:sp>
        <p:nvSpPr>
          <p:cNvPr id="23" name="TextBox 22"/>
          <p:cNvSpPr txBox="1"/>
          <p:nvPr/>
        </p:nvSpPr>
        <p:spPr>
          <a:xfrm>
            <a:off x="24098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Barrier Casings</a:t>
            </a:r>
          </a:p>
        </p:txBody>
      </p:sp>
      <p:cxnSp>
        <p:nvCxnSpPr>
          <p:cNvPr id="24" name="Connector 23"/>
          <p:cNvCxnSpPr/>
          <p:nvPr/>
        </p:nvCxnSpPr>
        <p:spPr>
          <a:xfrm>
            <a:off x="5038725" y="2957208"/>
            <a:ext cx="0" cy="272258"/>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4819650" y="2957208"/>
            <a:ext cx="438150" cy="272258"/>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4162425" y="2804808"/>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3086.1</a:t>
            </a:r>
          </a:p>
        </p:txBody>
      </p:sp>
      <p:sp>
        <p:nvSpPr>
          <p:cNvPr id="27" name="TextBox 26"/>
          <p:cNvSpPr txBox="1"/>
          <p:nvPr/>
        </p:nvSpPr>
        <p:spPr>
          <a:xfrm>
            <a:off x="41624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Premade Pouches &amp; Bags</a:t>
            </a:r>
          </a:p>
        </p:txBody>
      </p:sp>
      <p:cxnSp>
        <p:nvCxnSpPr>
          <p:cNvPr id="28" name="Connector 27"/>
          <p:cNvCxnSpPr/>
          <p:nvPr/>
        </p:nvCxnSpPr>
        <p:spPr>
          <a:xfrm>
            <a:off x="6791325" y="3082325"/>
            <a:ext cx="0" cy="245389"/>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6572250" y="3082325"/>
            <a:ext cx="438150" cy="245389"/>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5915025" y="2929925"/>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2878.9</a:t>
            </a:r>
          </a:p>
        </p:txBody>
      </p:sp>
      <p:sp>
        <p:nvSpPr>
          <p:cNvPr id="31" name="TextBox 30"/>
          <p:cNvSpPr txBox="1"/>
          <p:nvPr/>
        </p:nvSpPr>
        <p:spPr>
          <a:xfrm>
            <a:off x="59150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Sachets &amp; Stick Packs</a:t>
            </a:r>
          </a:p>
        </p:txBody>
      </p:sp>
      <p:sp>
        <p:nvSpPr>
          <p:cNvPr id="32" name="Rounded Rectangle 31"/>
          <p:cNvSpPr/>
          <p:nvPr/>
        </p:nvSpPr>
        <p:spPr>
          <a:xfrm>
            <a:off x="142875" y="3991741"/>
            <a:ext cx="7696200" cy="2564645"/>
          </a:xfrm>
          <a:prstGeom prst="roundRect">
            <a:avLst>
              <a:gd name="adj" fmla="val 29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38125" y="4048891"/>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a:t>
            </a:r>
          </a:p>
        </p:txBody>
      </p:sp>
      <p:cxnSp>
        <p:nvCxnSpPr>
          <p:cNvPr id="34" name="Connector 33"/>
          <p:cNvCxnSpPr/>
          <p:nvPr/>
        </p:nvCxnSpPr>
        <p:spPr>
          <a:xfrm>
            <a:off x="619125" y="452736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619125" y="4915001"/>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619125" y="530263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619125" y="5690275"/>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619125" y="607791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619125" y="4527363"/>
            <a:ext cx="0" cy="155055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590550" y="452736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590550" y="4915001"/>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590550" y="53026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590550" y="569027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590550" y="607791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45" name="FMI Scale tick"/>
          <p:cNvSpPr txBox="1"/>
          <p:nvPr/>
        </p:nvSpPr>
        <p:spPr>
          <a:xfrm>
            <a:off x="219075" y="4460688"/>
            <a:ext cx="361950" cy="133350"/>
          </a:xfrm>
          <a:prstGeom prst="rect">
            <a:avLst/>
          </a:prstGeom>
          <a:noFill/>
        </p:spPr>
        <p:txBody>
          <a:bodyPr wrap="none" lIns="0" rIns="0" tIns="0" bIns="0" anchor="ctr">
            <a:spAutoFit/>
          </a:bodyPr>
          <a:lstStyle/>
          <a:p>
            <a:pPr algn="r"/>
            <a:r>
              <a:rPr sz="1100" b="0">
                <a:solidFill>
                  <a:srgbClr val="6C7A89"/>
                </a:solidFill>
                <a:latin typeface="Calibri"/>
              </a:rPr>
              <a:t>+17%</a:t>
            </a:r>
          </a:p>
        </p:txBody>
      </p:sp>
      <p:sp>
        <p:nvSpPr>
          <p:cNvPr id="46" name="FMI Scale tick"/>
          <p:cNvSpPr txBox="1"/>
          <p:nvPr/>
        </p:nvSpPr>
        <p:spPr>
          <a:xfrm>
            <a:off x="219075" y="4848326"/>
            <a:ext cx="361950" cy="133350"/>
          </a:xfrm>
          <a:prstGeom prst="rect">
            <a:avLst/>
          </a:prstGeom>
          <a:noFill/>
        </p:spPr>
        <p:txBody>
          <a:bodyPr wrap="none" lIns="0" rIns="0" tIns="0" bIns="0" anchor="ctr">
            <a:spAutoFit/>
          </a:bodyPr>
          <a:lstStyle/>
          <a:p>
            <a:pPr algn="r"/>
            <a:r>
              <a:rPr sz="1100" b="0">
                <a:solidFill>
                  <a:srgbClr val="6C7A89"/>
                </a:solidFill>
                <a:latin typeface="Calibri"/>
              </a:rPr>
              <a:t>+8%</a:t>
            </a:r>
          </a:p>
        </p:txBody>
      </p:sp>
      <p:sp>
        <p:nvSpPr>
          <p:cNvPr id="47" name="FMI Scale tick"/>
          <p:cNvSpPr txBox="1"/>
          <p:nvPr/>
        </p:nvSpPr>
        <p:spPr>
          <a:xfrm>
            <a:off x="219075" y="5235963"/>
            <a:ext cx="361950" cy="13335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8" name="FMI Scale tick"/>
          <p:cNvSpPr txBox="1"/>
          <p:nvPr/>
        </p:nvSpPr>
        <p:spPr>
          <a:xfrm>
            <a:off x="219075" y="5623600"/>
            <a:ext cx="361950" cy="133350"/>
          </a:xfrm>
          <a:prstGeom prst="rect">
            <a:avLst/>
          </a:prstGeom>
          <a:noFill/>
        </p:spPr>
        <p:txBody>
          <a:bodyPr wrap="none" lIns="0" rIns="0" tIns="0" bIns="0" anchor="ctr">
            <a:spAutoFit/>
          </a:bodyPr>
          <a:lstStyle/>
          <a:p>
            <a:pPr algn="r"/>
            <a:r>
              <a:rPr sz="1100" b="0">
                <a:solidFill>
                  <a:srgbClr val="6C7A89"/>
                </a:solidFill>
                <a:latin typeface="Calibri"/>
              </a:rPr>
              <a:t>-8%</a:t>
            </a:r>
          </a:p>
        </p:txBody>
      </p:sp>
      <p:sp>
        <p:nvSpPr>
          <p:cNvPr id="49" name="FMI Scale tick"/>
          <p:cNvSpPr txBox="1"/>
          <p:nvPr/>
        </p:nvSpPr>
        <p:spPr>
          <a:xfrm>
            <a:off x="219075" y="6011238"/>
            <a:ext cx="361950" cy="133350"/>
          </a:xfrm>
          <a:prstGeom prst="rect">
            <a:avLst/>
          </a:prstGeom>
          <a:noFill/>
        </p:spPr>
        <p:txBody>
          <a:bodyPr wrap="none" lIns="0" rIns="0" tIns="0" bIns="0" anchor="ctr">
            <a:spAutoFit/>
          </a:bodyPr>
          <a:lstStyle/>
          <a:p>
            <a:pPr algn="r"/>
            <a:r>
              <a:rPr sz="1100" b="0">
                <a:solidFill>
                  <a:srgbClr val="6C7A89"/>
                </a:solidFill>
                <a:latin typeface="Calibri"/>
              </a:rPr>
              <a:t>-17%</a:t>
            </a:r>
          </a:p>
        </p:txBody>
      </p:sp>
      <p:cxnSp>
        <p:nvCxnSpPr>
          <p:cNvPr id="50" name="Connector 49"/>
          <p:cNvCxnSpPr/>
          <p:nvPr/>
        </p:nvCxnSpPr>
        <p:spPr>
          <a:xfrm>
            <a:off x="619125" y="5302638"/>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1271588" y="4627936"/>
            <a:ext cx="457200" cy="67470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MI Data Label"/>
          <p:cNvSpPr txBox="1"/>
          <p:nvPr/>
        </p:nvSpPr>
        <p:spPr>
          <a:xfrm>
            <a:off x="619125" y="4485061"/>
            <a:ext cx="1762125" cy="133350"/>
          </a:xfrm>
          <a:prstGeom prst="rect">
            <a:avLst/>
          </a:prstGeom>
          <a:noFill/>
        </p:spPr>
        <p:txBody>
          <a:bodyPr wrap="square" lIns="28575" rIns="28575" tIns="9525" bIns="9525">
            <a:spAutoFit/>
          </a:bodyPr>
          <a:lstStyle/>
          <a:p>
            <a:pPr algn="ctr"/>
            <a:r>
              <a:rPr sz="1100" b="1">
                <a:solidFill>
                  <a:srgbClr val="2E2E2E"/>
                </a:solidFill>
                <a:latin typeface="Calibri"/>
              </a:rPr>
              <a:t>+14.4%</a:t>
            </a:r>
          </a:p>
        </p:txBody>
      </p:sp>
      <p:sp>
        <p:nvSpPr>
          <p:cNvPr id="53" name="Rectangle 52"/>
          <p:cNvSpPr/>
          <p:nvPr/>
        </p:nvSpPr>
        <p:spPr>
          <a:xfrm>
            <a:off x="3033712" y="4628586"/>
            <a:ext cx="457200" cy="67405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MI Data Label"/>
          <p:cNvSpPr txBox="1"/>
          <p:nvPr/>
        </p:nvSpPr>
        <p:spPr>
          <a:xfrm>
            <a:off x="2381250" y="4485711"/>
            <a:ext cx="1762125" cy="133350"/>
          </a:xfrm>
          <a:prstGeom prst="rect">
            <a:avLst/>
          </a:prstGeom>
          <a:noFill/>
        </p:spPr>
        <p:txBody>
          <a:bodyPr wrap="square" lIns="28575" rIns="28575" tIns="9525" bIns="9525">
            <a:spAutoFit/>
          </a:bodyPr>
          <a:lstStyle/>
          <a:p>
            <a:pPr algn="ctr"/>
            <a:r>
              <a:rPr sz="1100" b="1">
                <a:solidFill>
                  <a:srgbClr val="2E2E2E"/>
                </a:solidFill>
                <a:latin typeface="Calibri"/>
              </a:rPr>
              <a:t>+14.4%</a:t>
            </a:r>
          </a:p>
        </p:txBody>
      </p:sp>
      <p:sp>
        <p:nvSpPr>
          <p:cNvPr id="55" name="Rectangle 54"/>
          <p:cNvSpPr/>
          <p:nvPr/>
        </p:nvSpPr>
        <p:spPr>
          <a:xfrm>
            <a:off x="4795838" y="4632788"/>
            <a:ext cx="457200" cy="669850"/>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FMI Data Label"/>
          <p:cNvSpPr txBox="1"/>
          <p:nvPr/>
        </p:nvSpPr>
        <p:spPr>
          <a:xfrm>
            <a:off x="4143375" y="4489913"/>
            <a:ext cx="1762125" cy="133350"/>
          </a:xfrm>
          <a:prstGeom prst="rect">
            <a:avLst/>
          </a:prstGeom>
          <a:noFill/>
        </p:spPr>
        <p:txBody>
          <a:bodyPr wrap="square" lIns="28575" rIns="28575" tIns="9525" bIns="9525">
            <a:spAutoFit/>
          </a:bodyPr>
          <a:lstStyle/>
          <a:p>
            <a:pPr algn="ctr"/>
            <a:r>
              <a:rPr sz="1100" b="1">
                <a:solidFill>
                  <a:srgbClr val="2E2E2E"/>
                </a:solidFill>
                <a:latin typeface="Calibri"/>
              </a:rPr>
              <a:t>+14.3%</a:t>
            </a:r>
          </a:p>
        </p:txBody>
      </p:sp>
      <p:sp>
        <p:nvSpPr>
          <p:cNvPr id="57" name="Rectangle 56"/>
          <p:cNvSpPr/>
          <p:nvPr/>
        </p:nvSpPr>
        <p:spPr>
          <a:xfrm>
            <a:off x="6557962" y="4630121"/>
            <a:ext cx="457200" cy="672517"/>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FMI Data Label"/>
          <p:cNvSpPr txBox="1"/>
          <p:nvPr/>
        </p:nvSpPr>
        <p:spPr>
          <a:xfrm>
            <a:off x="5905500" y="4487246"/>
            <a:ext cx="1762125" cy="133350"/>
          </a:xfrm>
          <a:prstGeom prst="rect">
            <a:avLst/>
          </a:prstGeom>
          <a:noFill/>
        </p:spPr>
        <p:txBody>
          <a:bodyPr wrap="square" lIns="28575" rIns="28575" tIns="9525" bIns="9525">
            <a:spAutoFit/>
          </a:bodyPr>
          <a:lstStyle/>
          <a:p>
            <a:pPr algn="ctr"/>
            <a:r>
              <a:rPr sz="1100" b="1">
                <a:solidFill>
                  <a:srgbClr val="2E2E2E"/>
                </a:solidFill>
                <a:latin typeface="Calibri"/>
              </a:rPr>
              <a:t>+14.4%</a:t>
            </a:r>
          </a:p>
        </p:txBody>
      </p:sp>
      <p:sp>
        <p:nvSpPr>
          <p:cNvPr id="59" name="TextBox 58"/>
          <p:cNvSpPr txBox="1"/>
          <p:nvPr/>
        </p:nvSpPr>
        <p:spPr>
          <a:xfrm>
            <a:off x="619125" y="6242060"/>
            <a:ext cx="1762125" cy="247650"/>
          </a:xfrm>
          <a:prstGeom prst="rect">
            <a:avLst/>
          </a:prstGeom>
          <a:noFill/>
        </p:spPr>
        <p:txBody>
          <a:bodyPr wrap="square" lIns="28575" rIns="28575" tIns="9525" bIns="9525">
            <a:spAutoFit/>
          </a:bodyPr>
          <a:lstStyle/>
          <a:p>
            <a:pPr algn="ctr"/>
            <a:r>
              <a:rPr sz="1100" b="0">
                <a:solidFill>
                  <a:srgbClr val="2E2E2E"/>
                </a:solidFill>
                <a:latin typeface="Calibri"/>
              </a:rPr>
              <a:t>Brazil</a:t>
            </a:r>
          </a:p>
        </p:txBody>
      </p:sp>
      <p:sp>
        <p:nvSpPr>
          <p:cNvPr id="60" name="TextBox 59"/>
          <p:cNvSpPr txBox="1"/>
          <p:nvPr/>
        </p:nvSpPr>
        <p:spPr>
          <a:xfrm>
            <a:off x="2381250" y="6242060"/>
            <a:ext cx="1762125" cy="247650"/>
          </a:xfrm>
          <a:prstGeom prst="rect">
            <a:avLst/>
          </a:prstGeom>
          <a:noFill/>
        </p:spPr>
        <p:txBody>
          <a:bodyPr wrap="square" lIns="28575" rIns="28575" tIns="9525" bIns="9525">
            <a:spAutoFit/>
          </a:bodyPr>
          <a:lstStyle/>
          <a:p>
            <a:pPr algn="ctr"/>
            <a:r>
              <a:rPr sz="1100" b="0">
                <a:solidFill>
                  <a:srgbClr val="2E2E2E"/>
                </a:solidFill>
                <a:latin typeface="Calibri"/>
              </a:rPr>
              <a:t>Mexico</a:t>
            </a:r>
          </a:p>
        </p:txBody>
      </p:sp>
      <p:sp>
        <p:nvSpPr>
          <p:cNvPr id="61" name="TextBox 60"/>
          <p:cNvSpPr txBox="1"/>
          <p:nvPr/>
        </p:nvSpPr>
        <p:spPr>
          <a:xfrm>
            <a:off x="4143375" y="6242060"/>
            <a:ext cx="1762125" cy="247650"/>
          </a:xfrm>
          <a:prstGeom prst="rect">
            <a:avLst/>
          </a:prstGeom>
          <a:noFill/>
        </p:spPr>
        <p:txBody>
          <a:bodyPr wrap="square" lIns="28575" rIns="28575" tIns="9525" bIns="9525">
            <a:spAutoFit/>
          </a:bodyPr>
          <a:lstStyle/>
          <a:p>
            <a:pPr algn="ctr"/>
            <a:r>
              <a:rPr sz="1100" b="0">
                <a:solidFill>
                  <a:srgbClr val="2E2E2E"/>
                </a:solidFill>
                <a:latin typeface="Calibri"/>
              </a:rPr>
              <a:t>Colombia</a:t>
            </a:r>
          </a:p>
        </p:txBody>
      </p:sp>
      <p:sp>
        <p:nvSpPr>
          <p:cNvPr id="62" name="TextBox 61"/>
          <p:cNvSpPr txBox="1"/>
          <p:nvPr/>
        </p:nvSpPr>
        <p:spPr>
          <a:xfrm>
            <a:off x="5905500" y="6242060"/>
            <a:ext cx="1762125" cy="247650"/>
          </a:xfrm>
          <a:prstGeom prst="rect">
            <a:avLst/>
          </a:prstGeom>
          <a:noFill/>
        </p:spPr>
        <p:txBody>
          <a:bodyPr wrap="square" lIns="28575" rIns="28575" tIns="9525" bIns="9525">
            <a:spAutoFit/>
          </a:bodyPr>
          <a:lstStyle/>
          <a:p>
            <a:pPr algn="ctr"/>
            <a:r>
              <a:rPr sz="1100" b="0">
                <a:solidFill>
                  <a:srgbClr val="2E2E2E"/>
                </a:solidFill>
                <a:latin typeface="Calibri"/>
              </a:rPr>
              <a:t>Rest of Latin America</a:t>
            </a:r>
          </a:p>
        </p:txBody>
      </p:sp>
      <p:sp>
        <p:nvSpPr>
          <p:cNvPr id="63" name="Rounded Rectangle 62"/>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65" name="Rectangle 64"/>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chart shows Latin America average pricing of key product type types in USD, harmonised across regions. Each candlestick spans the minimum-to-maximum observed price within the base year, giving a clear read of price range and market dispersion.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Wider bodies mark a larger gap between opening and closing price levels 'Rollstock Films' shows the most movement (+17.1%) and 'Barrier Casings' the least (+16.0%) variability stakeholders should monitor when planning procurement or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lower chart indexes country-level price movement to the base year, applied consistently across the horizon to strip out year-on-year inflationary volatility and reveal structural price shifts.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Country price indices diverge by up to 14.4% between 2026 and 2036: higher-priced countries start higher and grow steadily, while lower-priced countries start lower and converge, reflecting catch-up growth.</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Flexible Plastic Packaging Market Pricing Assessment: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(US$/MT) by product type, 2021 to 2036, with 2026 price index and growth outlook</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Barrier Casings command the highest 2026 price point at US$ 4,237/MT, a 67.4% premium over Sachets &amp; Stick Packs.</a:t>
            </a:r>
          </a:p>
        </p:txBody>
      </p:sp>
      <p:sp>
        <p:nvSpPr>
          <p:cNvPr id="11" name="Rectangle 10"/>
          <p:cNvSpPr/>
          <p:nvPr/>
        </p:nvSpPr>
        <p:spPr>
          <a:xfrm>
            <a:off x="274320" y="1529715"/>
            <a:ext cx="644652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621792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Trend by Product Type, 2021 to 2036 (US$/MT)</a:t>
            </a:r>
          </a:p>
        </p:txBody>
      </p:sp>
      <p:graphicFrame>
        <p:nvGraphicFramePr>
          <p:cNvPr id="13" name="FMI Price Chart"/>
          <p:cNvGraphicFramePr>
            <a:graphicFrameLocks noGrp="1"/>
          </p:cNvGraphicFramePr>
          <p:nvPr/>
        </p:nvGraphicFramePr>
        <p:xfrm>
          <a:off x="347472" y="1831467"/>
          <a:ext cx="6309360" cy="3182112"/>
        </p:xfrm>
        <a:graphic>
          <a:graphicData uri="http://schemas.openxmlformats.org/drawingml/2006/chart">
            <c:chart xmlns:c="http://schemas.openxmlformats.org/drawingml/2006/chart" r:id="rId3"/>
          </a:graphicData>
        </a:graphic>
      </p:graphicFrame>
      <p:sp>
        <p:nvSpPr>
          <p:cNvPr id="14" name="TextBox 13"/>
          <p:cNvSpPr txBox="1"/>
          <p:nvPr/>
        </p:nvSpPr>
        <p:spPr>
          <a:xfrm>
            <a:off x="4572000" y="1593723"/>
            <a:ext cx="2103120" cy="228600"/>
          </a:xfrm>
          <a:prstGeom prst="rect">
            <a:avLst/>
          </a:prstGeom>
          <a:noFill/>
        </p:spPr>
        <p:txBody>
          <a:bodyPr wrap="square" anchor="t" lIns="27432" rIns="27432" tIns="27432" bIns="27432">
            <a:spAutoFit/>
          </a:bodyPr>
          <a:lstStyle/>
          <a:p>
            <a:pPr algn="r"/>
            <a:r>
              <a:rPr sz="850" b="0" i="1">
                <a:solidFill>
                  <a:srgbClr val="59636E"/>
                </a:solidFill>
                <a:latin typeface="Calibri"/>
              </a:rPr>
              <a:t>Forecast period: 2026 to 2036</a:t>
            </a:r>
          </a:p>
        </p:txBody>
      </p:sp>
      <p:sp>
        <p:nvSpPr>
          <p:cNvPr id="15" name="Rectangle 14"/>
          <p:cNvSpPr/>
          <p:nvPr/>
        </p:nvSpPr>
        <p:spPr>
          <a:xfrm>
            <a:off x="6858000" y="1529715"/>
            <a:ext cx="5056632" cy="160020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6967728" y="1575435"/>
            <a:ext cx="484632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Index vs Latin America Average (= 100)</a:t>
            </a:r>
          </a:p>
        </p:txBody>
      </p:sp>
      <p:graphicFrame>
        <p:nvGraphicFramePr>
          <p:cNvPr id="17" name="FMI Open Chart"/>
          <p:cNvGraphicFramePr>
            <a:graphicFrameLocks noGrp="1"/>
          </p:cNvGraphicFramePr>
          <p:nvPr/>
        </p:nvGraphicFramePr>
        <p:xfrm>
          <a:off x="6903720" y="1785747"/>
          <a:ext cx="4965192" cy="1325880"/>
        </p:xfrm>
        <a:graphic>
          <a:graphicData uri="http://schemas.openxmlformats.org/drawingml/2006/chart">
            <c:chart xmlns:c="http://schemas.openxmlformats.org/drawingml/2006/chart" r:id="rId4"/>
          </a:graphicData>
        </a:graphic>
      </p:graphicFrame>
      <p:graphicFrame>
        <p:nvGraphicFramePr>
          <p:cNvPr id="18" name="Table 17"/>
          <p:cNvGraphicFramePr>
            <a:graphicFrameLocks noGrp="1"/>
          </p:cNvGraphicFramePr>
          <p:nvPr/>
        </p:nvGraphicFramePr>
        <p:xfrm>
          <a:off x="6858000" y="3203067"/>
          <a:ext cx="5056632" cy="1847088"/>
        </p:xfrm>
        <a:graphic>
          <a:graphicData uri="http://schemas.openxmlformats.org/drawingml/2006/table">
            <a:tbl>
              <a:tblPr firstRow="1" bandRow="1">
                <a:tableStyleId>{5C22544A-7EE6-4342-B048-85BDC9FD1C3A}</a:tableStyleId>
              </a:tblPr>
              <a:tblGrid>
                <a:gridCol w="2130552"/>
                <a:gridCol w="548640"/>
                <a:gridCol w="548640"/>
                <a:gridCol w="548640"/>
                <a:gridCol w="777240"/>
                <a:gridCol w="502920"/>
              </a:tblGrid>
              <a:tr h="307848">
                <a:tc>
                  <a:txBody>
                    <a:bodyPr wrap="square"/>
                    <a:lstStyle/>
                    <a:p>
                      <a:pPr algn="l"/>
                      <a:r>
                        <a:rPr sz="850" b="1">
                          <a:solidFill>
                            <a:srgbClr val="FFFFFF"/>
                          </a:solidFill>
                          <a:latin typeface="Calibri"/>
                        </a:rPr>
                        <a:t>Product Type</a:t>
                      </a:r>
                    </a:p>
                  </a:txBody>
                  <a:tcPr marL="36576" marR="36576" marT="9144" marB="9144" anchor="ctr">
                    <a:solidFill>
                      <a:srgbClr val="0B2E4A"/>
                    </a:solidFill>
                  </a:tcPr>
                </a:tc>
                <a:tc>
                  <a:txBody>
                    <a:bodyPr wrap="square"/>
                    <a:lstStyle/>
                    <a:p>
                      <a:pPr algn="ctr"/>
                      <a:r>
                        <a:rPr sz="850" b="1">
                          <a:solidFill>
                            <a:srgbClr val="FFFFFF"/>
                          </a:solidFill>
                          <a:latin typeface="Calibri"/>
                        </a:rPr>
                        <a:t>2021</a:t>
                      </a:r>
                    </a:p>
                  </a:txBody>
                  <a:tcPr marL="36576" marR="36576" marT="9144" marB="9144" anchor="ctr">
                    <a:solidFill>
                      <a:srgbClr val="0B2E4A"/>
                    </a:solidFill>
                  </a:tcPr>
                </a:tc>
                <a:tc>
                  <a:txBody>
                    <a:bodyPr wrap="square"/>
                    <a:lstStyle/>
                    <a:p>
                      <a:pPr algn="ctr"/>
                      <a:r>
                        <a:rPr sz="850" b="1">
                          <a:solidFill>
                            <a:srgbClr val="FFFFFF"/>
                          </a:solidFill>
                          <a:latin typeface="Calibri"/>
                        </a:rPr>
                        <a:t>2026</a:t>
                      </a:r>
                    </a:p>
                  </a:txBody>
                  <a:tcPr marL="36576" marR="36576" marT="9144" marB="9144" anchor="ctr">
                    <a:solidFill>
                      <a:srgbClr val="0B2E4A"/>
                    </a:solidFill>
                  </a:tcPr>
                </a:tc>
                <a:tc>
                  <a:txBody>
                    <a:bodyPr wrap="square"/>
                    <a:lstStyle/>
                    <a:p>
                      <a:pPr algn="ctr"/>
                      <a:r>
                        <a:rPr sz="850" b="1">
                          <a:solidFill>
                            <a:srgbClr val="FFFFFF"/>
                          </a:solidFill>
                          <a:latin typeface="Calibri"/>
                        </a:rPr>
                        <a:t>2036</a:t>
                      </a:r>
                    </a:p>
                  </a:txBody>
                  <a:tcPr marL="36576" marR="36576" marT="9144" marB="9144" anchor="ctr">
                    <a:solidFill>
                      <a:srgbClr val="0B2E4A"/>
                    </a:solidFill>
                  </a:tcPr>
                </a:tc>
                <a:tc>
                  <a:txBody>
                    <a:bodyPr wrap="square"/>
                    <a:lstStyle/>
                    <a:p>
                      <a:pPr algn="ctr"/>
                      <a:r>
                        <a:rPr sz="850" b="1">
                          <a:solidFill>
                            <a:srgbClr val="FFFFFF"/>
                          </a:solidFill>
                          <a:latin typeface="Calibri"/>
                        </a:rPr>
                        <a:t>CAGR 2026 to 2036</a:t>
                      </a:r>
                    </a:p>
                  </a:txBody>
                  <a:tcPr marL="36576" marR="36576" marT="9144" marB="9144" anchor="ctr">
                    <a:solidFill>
                      <a:srgbClr val="0B2E4A"/>
                    </a:solidFill>
                  </a:tcPr>
                </a:tc>
                <a:tc>
                  <a:txBody>
                    <a:bodyPr wrap="square"/>
                    <a:lstStyle/>
                    <a:p>
                      <a:pPr algn="ctr"/>
                      <a:r>
                        <a:rPr sz="850" b="1">
                          <a:solidFill>
                            <a:srgbClr val="FFFFFF"/>
                          </a:solidFill>
                          <a:latin typeface="Calibri"/>
                        </a:rPr>
                        <a:t>Index</a:t>
                      </a:r>
                    </a:p>
                  </a:txBody>
                  <a:tcPr marL="36576" marR="36576" marT="9144" marB="9144" anchor="ctr">
                    <a:solidFill>
                      <a:srgbClr val="0B2E4A"/>
                    </a:solidFill>
                  </a:tcPr>
                </a:tc>
              </a:tr>
              <a:tr h="307848">
                <a:tc>
                  <a:txBody>
                    <a:bodyPr wrap="square"/>
                    <a:lstStyle/>
                    <a:p>
                      <a:pPr algn="l"/>
                      <a:r>
                        <a:rPr sz="850" b="1">
                          <a:solidFill>
                            <a:srgbClr val="1F1F1F"/>
                          </a:solidFill>
                          <a:latin typeface="Calibri"/>
                        </a:rPr>
                        <a:t>Barrier Casings</a:t>
                      </a:r>
                    </a:p>
                  </a:txBody>
                  <a:tcPr marL="36576" marR="36576" marT="9144" marB="9144" anchor="ctr">
                    <a:solidFill>
                      <a:srgbClr val="FFFFFF"/>
                    </a:solidFill>
                  </a:tcPr>
                </a:tc>
                <a:tc>
                  <a:txBody>
                    <a:bodyPr wrap="square"/>
                    <a:lstStyle/>
                    <a:p>
                      <a:pPr algn="ctr"/>
                      <a:r>
                        <a:rPr sz="850" b="0">
                          <a:solidFill>
                            <a:srgbClr val="1F1F1F"/>
                          </a:solidFill>
                          <a:latin typeface="Calibri"/>
                        </a:rPr>
                        <a:t>4,129</a:t>
                      </a:r>
                    </a:p>
                  </a:txBody>
                  <a:tcPr marL="36576" marR="36576" marT="9144" marB="9144" anchor="ctr">
                    <a:solidFill>
                      <a:srgbClr val="FFFFFF"/>
                    </a:solidFill>
                  </a:tcPr>
                </a:tc>
                <a:tc>
                  <a:txBody>
                    <a:bodyPr wrap="square"/>
                    <a:lstStyle/>
                    <a:p>
                      <a:pPr algn="ctr"/>
                      <a:r>
                        <a:rPr sz="850" b="0">
                          <a:solidFill>
                            <a:srgbClr val="1F1F1F"/>
                          </a:solidFill>
                          <a:latin typeface="Calibri"/>
                        </a:rPr>
                        <a:t>4,237</a:t>
                      </a:r>
                    </a:p>
                  </a:txBody>
                  <a:tcPr marL="36576" marR="36576" marT="9144" marB="9144" anchor="ctr">
                    <a:solidFill>
                      <a:srgbClr val="FFFFFF"/>
                    </a:solidFill>
                  </a:tcPr>
                </a:tc>
                <a:tc>
                  <a:txBody>
                    <a:bodyPr wrap="square"/>
                    <a:lstStyle/>
                    <a:p>
                      <a:pPr algn="ctr"/>
                      <a:r>
                        <a:rPr sz="850" b="0">
                          <a:solidFill>
                            <a:srgbClr val="1F1F1F"/>
                          </a:solidFill>
                          <a:latin typeface="Calibri"/>
                        </a:rPr>
                        <a:t>4,791</a:t>
                      </a:r>
                    </a:p>
                  </a:txBody>
                  <a:tcPr marL="36576" marR="36576" marT="9144" marB="9144" anchor="ctr">
                    <a:solidFill>
                      <a:srgbClr val="FFFFFF"/>
                    </a:solidFill>
                  </a:tcPr>
                </a:tc>
                <a:tc>
                  <a:txBody>
                    <a:bodyPr wrap="square"/>
                    <a:lstStyle/>
                    <a:p>
                      <a:pPr algn="ctr"/>
                      <a:r>
                        <a:rPr sz="850" b="0">
                          <a:solidFill>
                            <a:srgbClr val="1F1F1F"/>
                          </a:solidFill>
                          <a:latin typeface="Calibri"/>
                        </a:rPr>
                        <a:t>1.24%</a:t>
                      </a:r>
                    </a:p>
                  </a:txBody>
                  <a:tcPr marL="36576" marR="36576" marT="9144" marB="9144" anchor="ctr">
                    <a:solidFill>
                      <a:srgbClr val="FFFFFF"/>
                    </a:solidFill>
                  </a:tcPr>
                </a:tc>
                <a:tc>
                  <a:txBody>
                    <a:bodyPr wrap="square"/>
                    <a:lstStyle/>
                    <a:p>
                      <a:pPr algn="ctr"/>
                      <a:r>
                        <a:rPr sz="850" b="0">
                          <a:solidFill>
                            <a:srgbClr val="1F1F1F"/>
                          </a:solidFill>
                          <a:latin typeface="Calibri"/>
                        </a:rPr>
                        <a:t>144.2</a:t>
                      </a:r>
                    </a:p>
                  </a:txBody>
                  <a:tcPr marL="36576" marR="36576" marT="9144" marB="9144" anchor="ctr">
                    <a:solidFill>
                      <a:srgbClr val="F4B183"/>
                    </a:solidFill>
                  </a:tcPr>
                </a:tc>
              </a:tr>
              <a:tr h="307848">
                <a:tc>
                  <a:txBody>
                    <a:bodyPr wrap="square"/>
                    <a:lstStyle/>
                    <a:p>
                      <a:pPr algn="l"/>
                      <a:r>
                        <a:rPr sz="850" b="1">
                          <a:solidFill>
                            <a:srgbClr val="1F1F1F"/>
                          </a:solidFill>
                          <a:latin typeface="Calibri"/>
                        </a:rPr>
                        <a:t>Rollstock Films</a:t>
                      </a:r>
                    </a:p>
                  </a:txBody>
                  <a:tcPr marL="36576" marR="36576" marT="9144" marB="9144" anchor="ctr">
                    <a:solidFill>
                      <a:srgbClr val="F3F6F9"/>
                    </a:solidFill>
                  </a:tcPr>
                </a:tc>
                <a:tc>
                  <a:txBody>
                    <a:bodyPr wrap="square"/>
                    <a:lstStyle/>
                    <a:p>
                      <a:pPr algn="ctr"/>
                      <a:r>
                        <a:rPr sz="850" b="0">
                          <a:solidFill>
                            <a:srgbClr val="1F1F1F"/>
                          </a:solidFill>
                          <a:latin typeface="Calibri"/>
                        </a:rPr>
                        <a:t>2,874</a:t>
                      </a:r>
                    </a:p>
                  </a:txBody>
                  <a:tcPr marL="36576" marR="36576" marT="9144" marB="9144" anchor="ctr">
                    <a:solidFill>
                      <a:srgbClr val="F3F6F9"/>
                    </a:solidFill>
                  </a:tcPr>
                </a:tc>
                <a:tc>
                  <a:txBody>
                    <a:bodyPr wrap="square"/>
                    <a:lstStyle/>
                    <a:p>
                      <a:pPr algn="ctr"/>
                      <a:r>
                        <a:rPr sz="850" b="0">
                          <a:solidFill>
                            <a:srgbClr val="1F1F1F"/>
                          </a:solidFill>
                          <a:latin typeface="Calibri"/>
                        </a:rPr>
                        <a:t>2,943</a:t>
                      </a:r>
                    </a:p>
                  </a:txBody>
                  <a:tcPr marL="36576" marR="36576" marT="9144" marB="9144" anchor="ctr">
                    <a:solidFill>
                      <a:srgbClr val="F3F6F9"/>
                    </a:solidFill>
                  </a:tcPr>
                </a:tc>
                <a:tc>
                  <a:txBody>
                    <a:bodyPr wrap="square"/>
                    <a:lstStyle/>
                    <a:p>
                      <a:pPr algn="ctr"/>
                      <a:r>
                        <a:rPr sz="850" b="0">
                          <a:solidFill>
                            <a:srgbClr val="1F1F1F"/>
                          </a:solidFill>
                          <a:latin typeface="Calibri"/>
                        </a:rPr>
                        <a:t>3,367</a:t>
                      </a:r>
                    </a:p>
                  </a:txBody>
                  <a:tcPr marL="36576" marR="36576" marT="9144" marB="9144" anchor="ctr">
                    <a:solidFill>
                      <a:srgbClr val="F3F6F9"/>
                    </a:solidFill>
                  </a:tcPr>
                </a:tc>
                <a:tc>
                  <a:txBody>
                    <a:bodyPr wrap="square"/>
                    <a:lstStyle/>
                    <a:p>
                      <a:pPr algn="ctr"/>
                      <a:r>
                        <a:rPr sz="850" b="0">
                          <a:solidFill>
                            <a:srgbClr val="1F1F1F"/>
                          </a:solidFill>
                          <a:latin typeface="Calibri"/>
                        </a:rPr>
                        <a:t>1.36%</a:t>
                      </a:r>
                    </a:p>
                  </a:txBody>
                  <a:tcPr marL="36576" marR="36576" marT="9144" marB="9144" anchor="ctr">
                    <a:solidFill>
                      <a:srgbClr val="F3F6F9"/>
                    </a:solidFill>
                  </a:tcPr>
                </a:tc>
                <a:tc>
                  <a:txBody>
                    <a:bodyPr wrap="square"/>
                    <a:lstStyle/>
                    <a:p>
                      <a:pPr algn="ctr"/>
                      <a:r>
                        <a:rPr sz="850" b="0">
                          <a:solidFill>
                            <a:srgbClr val="1F1F1F"/>
                          </a:solidFill>
                          <a:latin typeface="Calibri"/>
                        </a:rPr>
                        <a:t>100.2</a:t>
                      </a:r>
                    </a:p>
                  </a:txBody>
                  <a:tcPr marL="36576" marR="36576" marT="9144" marB="9144" anchor="ctr">
                    <a:solidFill>
                      <a:srgbClr val="F7F7F7"/>
                    </a:solidFill>
                  </a:tcPr>
                </a:tc>
              </a:tr>
              <a:tr h="307848">
                <a:tc>
                  <a:txBody>
                    <a:bodyPr wrap="square"/>
                    <a:lstStyle/>
                    <a:p>
                      <a:pPr algn="l"/>
                      <a:r>
                        <a:rPr sz="850" b="1">
                          <a:solidFill>
                            <a:srgbClr val="1F1F1F"/>
                          </a:solidFill>
                          <a:latin typeface="Calibri"/>
                        </a:rPr>
                        <a:t>Premade Pouches &amp; Bags</a:t>
                      </a:r>
                    </a:p>
                  </a:txBody>
                  <a:tcPr marL="36576" marR="36576" marT="9144" marB="9144" anchor="ctr">
                    <a:solidFill>
                      <a:srgbClr val="FFFFFF"/>
                    </a:solidFill>
                  </a:tcPr>
                </a:tc>
                <a:tc>
                  <a:txBody>
                    <a:bodyPr wrap="square"/>
                    <a:lstStyle/>
                    <a:p>
                      <a:pPr algn="ctr"/>
                      <a:r>
                        <a:rPr sz="850" b="0">
                          <a:solidFill>
                            <a:srgbClr val="1F1F1F"/>
                          </a:solidFill>
                          <a:latin typeface="Calibri"/>
                        </a:rPr>
                        <a:t>2,635</a:t>
                      </a:r>
                    </a:p>
                  </a:txBody>
                  <a:tcPr marL="36576" marR="36576" marT="9144" marB="9144" anchor="ctr">
                    <a:solidFill>
                      <a:srgbClr val="FFFFFF"/>
                    </a:solidFill>
                  </a:tcPr>
                </a:tc>
                <a:tc>
                  <a:txBody>
                    <a:bodyPr wrap="square"/>
                    <a:lstStyle/>
                    <a:p>
                      <a:pPr algn="ctr"/>
                      <a:r>
                        <a:rPr sz="850" b="0">
                          <a:solidFill>
                            <a:srgbClr val="1F1F1F"/>
                          </a:solidFill>
                          <a:latin typeface="Calibri"/>
                        </a:rPr>
                        <a:t>2,703</a:t>
                      </a:r>
                    </a:p>
                  </a:txBody>
                  <a:tcPr marL="36576" marR="36576" marT="9144" marB="9144" anchor="ctr">
                    <a:solidFill>
                      <a:srgbClr val="FFFFFF"/>
                    </a:solidFill>
                  </a:tcPr>
                </a:tc>
                <a:tc>
                  <a:txBody>
                    <a:bodyPr wrap="square"/>
                    <a:lstStyle/>
                    <a:p>
                      <a:pPr algn="ctr"/>
                      <a:r>
                        <a:rPr sz="850" b="0">
                          <a:solidFill>
                            <a:srgbClr val="1F1F1F"/>
                          </a:solidFill>
                          <a:latin typeface="Calibri"/>
                        </a:rPr>
                        <a:t>3,086</a:t>
                      </a:r>
                    </a:p>
                  </a:txBody>
                  <a:tcPr marL="36576" marR="36576" marT="9144" marB="9144" anchor="ctr">
                    <a:solidFill>
                      <a:srgbClr val="FFFFFF"/>
                    </a:solidFill>
                  </a:tcPr>
                </a:tc>
                <a:tc>
                  <a:txBody>
                    <a:bodyPr wrap="square"/>
                    <a:lstStyle/>
                    <a:p>
                      <a:pPr algn="ctr"/>
                      <a:r>
                        <a:rPr sz="850" b="0">
                          <a:solidFill>
                            <a:srgbClr val="1F1F1F"/>
                          </a:solidFill>
                          <a:latin typeface="Calibri"/>
                        </a:rPr>
                        <a:t>1.34%</a:t>
                      </a:r>
                    </a:p>
                  </a:txBody>
                  <a:tcPr marL="36576" marR="36576" marT="9144" marB="9144" anchor="ctr">
                    <a:solidFill>
                      <a:srgbClr val="FFFFFF"/>
                    </a:solidFill>
                  </a:tcPr>
                </a:tc>
                <a:tc>
                  <a:txBody>
                    <a:bodyPr wrap="square"/>
                    <a:lstStyle/>
                    <a:p>
                      <a:pPr algn="ctr"/>
                      <a:r>
                        <a:rPr sz="850" b="0">
                          <a:solidFill>
                            <a:srgbClr val="1F1F1F"/>
                          </a:solidFill>
                          <a:latin typeface="Calibri"/>
                        </a:rPr>
                        <a:t>92.0</a:t>
                      </a:r>
                    </a:p>
                  </a:txBody>
                  <a:tcPr marL="36576" marR="36576" marT="9144" marB="9144" anchor="ctr">
                    <a:solidFill>
                      <a:srgbClr val="9DC0E0"/>
                    </a:solidFill>
                  </a:tcPr>
                </a:tc>
              </a:tr>
              <a:tr h="307848">
                <a:tc>
                  <a:txBody>
                    <a:bodyPr wrap="square"/>
                    <a:lstStyle/>
                    <a:p>
                      <a:pPr algn="l"/>
                      <a:r>
                        <a:rPr sz="850" b="1">
                          <a:solidFill>
                            <a:srgbClr val="1F1F1F"/>
                          </a:solidFill>
                          <a:latin typeface="Calibri"/>
                        </a:rPr>
                        <a:t>Sachets &amp; Stick Packs</a:t>
                      </a:r>
                    </a:p>
                  </a:txBody>
                  <a:tcPr marL="36576" marR="36576" marT="9144" marB="9144" anchor="ctr">
                    <a:solidFill>
                      <a:srgbClr val="F3F6F9"/>
                    </a:solidFill>
                  </a:tcPr>
                </a:tc>
                <a:tc>
                  <a:txBody>
                    <a:bodyPr wrap="square"/>
                    <a:lstStyle/>
                    <a:p>
                      <a:pPr algn="ctr"/>
                      <a:r>
                        <a:rPr sz="850" b="0">
                          <a:solidFill>
                            <a:srgbClr val="1F1F1F"/>
                          </a:solidFill>
                          <a:latin typeface="Calibri"/>
                        </a:rPr>
                        <a:t>2,473</a:t>
                      </a:r>
                    </a:p>
                  </a:txBody>
                  <a:tcPr marL="36576" marR="36576" marT="9144" marB="9144" anchor="ctr">
                    <a:solidFill>
                      <a:srgbClr val="F3F6F9"/>
                    </a:solidFill>
                  </a:tcPr>
                </a:tc>
                <a:tc>
                  <a:txBody>
                    <a:bodyPr wrap="square"/>
                    <a:lstStyle/>
                    <a:p>
                      <a:pPr algn="ctr"/>
                      <a:r>
                        <a:rPr sz="850" b="0">
                          <a:solidFill>
                            <a:srgbClr val="1F1F1F"/>
                          </a:solidFill>
                          <a:latin typeface="Calibri"/>
                        </a:rPr>
                        <a:t>2,531</a:t>
                      </a:r>
                    </a:p>
                  </a:txBody>
                  <a:tcPr marL="36576" marR="36576" marT="9144" marB="9144" anchor="ctr">
                    <a:solidFill>
                      <a:srgbClr val="F3F6F9"/>
                    </a:solidFill>
                  </a:tcPr>
                </a:tc>
                <a:tc>
                  <a:txBody>
                    <a:bodyPr wrap="square"/>
                    <a:lstStyle/>
                    <a:p>
                      <a:pPr algn="ctr"/>
                      <a:r>
                        <a:rPr sz="850" b="0">
                          <a:solidFill>
                            <a:srgbClr val="1F1F1F"/>
                          </a:solidFill>
                          <a:latin typeface="Calibri"/>
                        </a:rPr>
                        <a:t>2,879</a:t>
                      </a:r>
                    </a:p>
                  </a:txBody>
                  <a:tcPr marL="36576" marR="36576" marT="9144" marB="9144" anchor="ctr">
                    <a:solidFill>
                      <a:srgbClr val="F3F6F9"/>
                    </a:solidFill>
                  </a:tcPr>
                </a:tc>
                <a:tc>
                  <a:txBody>
                    <a:bodyPr wrap="square"/>
                    <a:lstStyle/>
                    <a:p>
                      <a:pPr algn="ctr"/>
                      <a:r>
                        <a:rPr sz="850" b="0">
                          <a:solidFill>
                            <a:srgbClr val="1F1F1F"/>
                          </a:solidFill>
                          <a:latin typeface="Calibri"/>
                        </a:rPr>
                        <a:t>1.30%</a:t>
                      </a:r>
                    </a:p>
                  </a:txBody>
                  <a:tcPr marL="36576" marR="36576" marT="9144" marB="9144" anchor="ctr">
                    <a:solidFill>
                      <a:srgbClr val="F3F6F9"/>
                    </a:solidFill>
                  </a:tcPr>
                </a:tc>
                <a:tc>
                  <a:txBody>
                    <a:bodyPr wrap="square"/>
                    <a:lstStyle/>
                    <a:p>
                      <a:pPr algn="ctr"/>
                      <a:r>
                        <a:rPr sz="850" b="0">
                          <a:solidFill>
                            <a:srgbClr val="1F1F1F"/>
                          </a:solidFill>
                          <a:latin typeface="Calibri"/>
                        </a:rPr>
                        <a:t>86.1</a:t>
                      </a:r>
                    </a:p>
                  </a:txBody>
                  <a:tcPr marL="36576" marR="36576" marT="9144" marB="9144" anchor="ctr">
                    <a:solidFill>
                      <a:srgbClr val="9DC0E0"/>
                    </a:solidFill>
                  </a:tcPr>
                </a:tc>
              </a:tr>
              <a:tr h="307848">
                <a:tc>
                  <a:txBody>
                    <a:bodyPr wrap="square"/>
                    <a:lstStyle/>
                    <a:p>
                      <a:pPr algn="l"/>
                      <a:r>
                        <a:rPr sz="850" b="1">
                          <a:solidFill>
                            <a:srgbClr val="1F1F1F"/>
                          </a:solidFill>
                          <a:latin typeface="Calibri"/>
                        </a:rPr>
                        <a:t>Latin America Average</a:t>
                      </a:r>
                    </a:p>
                  </a:txBody>
                  <a:tcPr marL="36576" marR="36576" marT="9144" marB="9144" anchor="ctr">
                    <a:solidFill>
                      <a:srgbClr val="F3F6F9"/>
                    </a:solidFill>
                  </a:tcPr>
                </a:tc>
                <a:tc>
                  <a:txBody>
                    <a:bodyPr wrap="square"/>
                    <a:lstStyle/>
                    <a:p>
                      <a:pPr algn="ctr"/>
                      <a:r>
                        <a:rPr sz="850" b="0">
                          <a:solidFill>
                            <a:srgbClr val="1F1F1F"/>
                          </a:solidFill>
                          <a:latin typeface="Calibri"/>
                        </a:rPr>
                        <a:t>2,870</a:t>
                      </a:r>
                    </a:p>
                  </a:txBody>
                  <a:tcPr marL="36576" marR="36576" marT="9144" marB="9144" anchor="ctr">
                    <a:solidFill>
                      <a:srgbClr val="F3F6F9"/>
                    </a:solidFill>
                  </a:tcPr>
                </a:tc>
                <a:tc>
                  <a:txBody>
                    <a:bodyPr wrap="square"/>
                    <a:lstStyle/>
                    <a:p>
                      <a:pPr algn="ctr"/>
                      <a:r>
                        <a:rPr sz="850" b="0">
                          <a:solidFill>
                            <a:srgbClr val="1F1F1F"/>
                          </a:solidFill>
                          <a:latin typeface="Calibri"/>
                        </a:rPr>
                        <a:t>2,938</a:t>
                      </a:r>
                    </a:p>
                  </a:txBody>
                  <a:tcPr marL="36576" marR="36576" marT="9144" marB="9144" anchor="ctr">
                    <a:solidFill>
                      <a:srgbClr val="F3F6F9"/>
                    </a:solidFill>
                  </a:tcPr>
                </a:tc>
                <a:tc>
                  <a:txBody>
                    <a:bodyPr wrap="square"/>
                    <a:lstStyle/>
                    <a:p>
                      <a:pPr algn="ctr"/>
                      <a:r>
                        <a:rPr sz="850" b="0">
                          <a:solidFill>
                            <a:srgbClr val="1F1F1F"/>
                          </a:solidFill>
                          <a:latin typeface="Calibri"/>
                        </a:rPr>
                        <a:t>3,354</a:t>
                      </a:r>
                    </a:p>
                  </a:txBody>
                  <a:tcPr marL="36576" marR="36576" marT="9144" marB="9144" anchor="ctr">
                    <a:solidFill>
                      <a:srgbClr val="F3F6F9"/>
                    </a:solidFill>
                  </a:tcPr>
                </a:tc>
                <a:tc>
                  <a:txBody>
                    <a:bodyPr wrap="square"/>
                    <a:lstStyle/>
                    <a:p>
                      <a:pPr algn="ctr"/>
                      <a:r>
                        <a:rPr sz="850" b="0">
                          <a:solidFill>
                            <a:srgbClr val="1F1F1F"/>
                          </a:solidFill>
                          <a:latin typeface="Calibri"/>
                        </a:rPr>
                        <a:t>1.33%</a:t>
                      </a:r>
                    </a:p>
                  </a:txBody>
                  <a:tcPr marL="36576" marR="36576" marT="9144" marB="9144" anchor="ctr">
                    <a:solidFill>
                      <a:srgbClr val="F3F6F9"/>
                    </a:solidFill>
                  </a:tcPr>
                </a:tc>
                <a:tc>
                  <a:txBody>
                    <a:bodyPr wrap="square"/>
                    <a:lstStyle/>
                    <a:p>
                      <a:pPr algn="ctr"/>
                      <a:r>
                        <a:rPr sz="850" b="0">
                          <a:solidFill>
                            <a:srgbClr val="1F1F1F"/>
                          </a:solidFill>
                          <a:latin typeface="Calibri"/>
                        </a:rPr>
                        <a:t>100.0</a:t>
                      </a:r>
                    </a:p>
                  </a:txBody>
                  <a:tcPr marL="36576" marR="36576" marT="9144" marB="9144" anchor="ctr">
                    <a:solidFill>
                      <a:srgbClr val="F3F6F9"/>
                    </a:solidFill>
                  </a:tcPr>
                </a:tc>
              </a:tr>
            </a:tbl>
          </a:graphicData>
        </a:graphic>
      </p:graphicFrame>
      <p:sp>
        <p:nvSpPr>
          <p:cNvPr id="19" name="Rectangle 18"/>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0" name="Oval 19"/>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1" name="TextBox 20"/>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Hierarchy</a:t>
            </a:r>
          </a:p>
        </p:txBody>
      </p:sp>
      <p:sp>
        <p:nvSpPr>
          <p:cNvPr id="22" name="TextBox 21"/>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Barrier Casings sit at the top of the 2026 price ladder at an index of 144.2, while Sachets &amp; Stick Packs trade at 86.1, which keeps the full product type spread within 67.4%.</a:t>
            </a:r>
          </a:p>
        </p:txBody>
      </p:sp>
      <p:sp>
        <p:nvSpPr>
          <p:cNvPr id="23" name="Rectangle 22"/>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4" name="Oval 23"/>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5" name="TextBox 24"/>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Momentum</a:t>
            </a:r>
          </a:p>
        </p:txBody>
      </p:sp>
      <p:sp>
        <p:nvSpPr>
          <p:cNvPr id="26" name="TextBox 25"/>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Rollstock Films post the fastest price growth at a 1.36% CAGR between 2026 and 2036, compared with 1.24% for Barrier Casings.</a:t>
            </a:r>
          </a:p>
        </p:txBody>
      </p:sp>
      <p:sp>
        <p:nvSpPr>
          <p:cNvPr id="27" name="Rectangle 26"/>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8" name="Oval 27"/>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9" name="TextBox 28"/>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Outlook</a:t>
            </a:r>
          </a:p>
        </p:txBody>
      </p:sp>
      <p:sp>
        <p:nvSpPr>
          <p:cNvPr id="30" name="TextBox 29"/>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The Latin America average price rises from US$ 2,938/MT in 2026 to US$ 3,354/MT in 2036, and the gap between the highest and lowest priced product type moves from 67.0% in 2021 to 66.4% in 2036.</a:t>
            </a:r>
          </a:p>
        </p:txBody>
      </p:sp>
      <p:sp>
        <p:nvSpPr>
          <p:cNvPr id="31" name="TextBox 30"/>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Average price = market value (US$) / market volume (MT). 2021 to 2025 historical, 2026 to 2036 forecast.</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Flexible Plastic Packaging Market Pricing Assessment: Country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average price and price range across product types, 2026 (US$/MT)</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Brazil is the most premium Latin America market at US$ 3,051/MT in 2026, +3.8% above the regional average, while Mexico is the lowest priced.</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Range Across Product Types by Country (US$/MT), Ranked by Average</a:t>
            </a:r>
          </a:p>
        </p:txBody>
      </p:sp>
      <p:graphicFrame>
        <p:nvGraphicFramePr>
          <p:cNvPr id="13" name="FMI Open Chart"/>
          <p:cNvGraphicFramePr>
            <a:graphicFrameLocks noGrp="1"/>
          </p:cNvGraphicFramePr>
          <p:nvPr/>
        </p:nvGraphicFramePr>
        <p:xfrm>
          <a:off x="347472" y="2014347"/>
          <a:ext cx="7406640" cy="3017520"/>
        </p:xfrm>
        <a:graphic>
          <a:graphicData uri="http://schemas.openxmlformats.org/drawingml/2006/chart">
            <c:chart xmlns:c="http://schemas.openxmlformats.org/drawingml/2006/chart" r:id="rId3"/>
          </a:graphicData>
        </a:graphic>
      </p:graphicFrame>
      <p:sp>
        <p:nvSpPr>
          <p:cNvPr id="14" name="TextBox 13"/>
          <p:cNvSpPr txBox="1"/>
          <p:nvPr/>
        </p:nvSpPr>
        <p:spPr>
          <a:xfrm>
            <a:off x="384048" y="1804035"/>
            <a:ext cx="7223760" cy="219075"/>
          </a:xfrm>
          <a:prstGeom prst="rect">
            <a:avLst/>
          </a:prstGeom>
          <a:noFill/>
        </p:spPr>
        <p:txBody>
          <a:bodyPr wrap="square" anchor="t" lIns="27432" rIns="27432" tIns="27432" bIns="27432">
            <a:spAutoFit/>
          </a:bodyPr>
          <a:lstStyle/>
          <a:p>
            <a:pPr algn="l"/>
            <a:r>
              <a:rPr sz="850" b="0" i="1">
                <a:solidFill>
                  <a:srgbClr val="59636E"/>
                </a:solidFill>
                <a:latin typeface="Calibri"/>
              </a:rPr>
              <a:t>Bar spans the lowest to highest product type price in each country, read on the price index axis (Latin America average = 100). Teal = above Latin America average, blue = below.</a:t>
            </a:r>
          </a:p>
        </p:txBody>
      </p:sp>
      <p:sp>
        <p:nvSpPr>
          <p:cNvPr id="15" name="Rectangle 14"/>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Premium and Discount Markets</a:t>
            </a:r>
          </a:p>
        </p:txBody>
      </p:sp>
      <p:graphicFrame>
        <p:nvGraphicFramePr>
          <p:cNvPr id="17" name="Table 16"/>
          <p:cNvGraphicFramePr>
            <a:graphicFrameLocks noGrp="1"/>
          </p:cNvGraphicFramePr>
          <p:nvPr/>
        </p:nvGraphicFramePr>
        <p:xfrm>
          <a:off x="8046720" y="1868043"/>
          <a:ext cx="3776472" cy="3090672"/>
        </p:xfrm>
        <a:graphic>
          <a:graphicData uri="http://schemas.openxmlformats.org/drawingml/2006/table">
            <a:tbl>
              <a:tblPr firstRow="1" bandRow="1">
                <a:tableStyleId>{5C22544A-7EE6-4342-B048-85BDC9FD1C3A}</a:tableStyleId>
              </a:tblPr>
              <a:tblGrid>
                <a:gridCol w="1417320"/>
                <a:gridCol w="786384"/>
                <a:gridCol w="658368"/>
                <a:gridCol w="914400"/>
              </a:tblGrid>
              <a:tr h="1030224">
                <a:tc>
                  <a:txBody>
                    <a:bodyPr wrap="square"/>
                    <a:lstStyle/>
                    <a:p>
                      <a:pPr algn="l"/>
                      <a:r>
                        <a:rPr sz="900" b="1">
                          <a:solidFill>
                            <a:srgbClr val="FFFFFF"/>
                          </a:solidFill>
                          <a:latin typeface="Calibri"/>
                        </a:rPr>
                        <a:t>Country</a:t>
                      </a:r>
                    </a:p>
                  </a:txBody>
                  <a:tcPr marL="36576" marR="36576" marT="9144" marB="9144" anchor="ctr">
                    <a:solidFill>
                      <a:srgbClr val="0B2E4A"/>
                    </a:solidFill>
                  </a:tcPr>
                </a:tc>
                <a:tc>
                  <a:txBody>
                    <a:bodyPr wrap="square"/>
                    <a:lstStyle/>
                    <a:p>
                      <a:pPr algn="ctr"/>
                      <a:r>
                        <a:rPr sz="900" b="1">
                          <a:solidFill>
                            <a:srgbClr val="FFFFFF"/>
                          </a:solidFill>
                          <a:latin typeface="Calibri"/>
                        </a:rPr>
                        <a:t>Avg. 2026</a:t>
                      </a:r>
                    </a:p>
                  </a:txBody>
                  <a:tcPr marL="36576" marR="36576" marT="9144" marB="9144" anchor="ctr">
                    <a:solidFill>
                      <a:srgbClr val="0B2E4A"/>
                    </a:solidFill>
                  </a:tcPr>
                </a:tc>
                <a:tc>
                  <a:txBody>
                    <a:bodyPr wrap="square"/>
                    <a:lstStyle/>
                    <a:p>
                      <a:pPr algn="ctr"/>
                      <a:r>
                        <a:rPr sz="900" b="1">
                          <a:solidFill>
                            <a:srgbClr val="FFFFFF"/>
                          </a:solidFill>
                          <a:latin typeface="Calibri"/>
                        </a:rPr>
                        <a:t>Index</a:t>
                      </a:r>
                    </a:p>
                  </a:txBody>
                  <a:tcPr marL="36576" marR="36576" marT="9144" marB="9144" anchor="ctr">
                    <a:solidFill>
                      <a:srgbClr val="0B2E4A"/>
                    </a:solidFill>
                  </a:tcPr>
                </a:tc>
                <a:tc>
                  <a:txBody>
                    <a:bodyPr wrap="square"/>
                    <a:lstStyle/>
                    <a:p>
                      <a:pPr algn="ctr"/>
                      <a:r>
                        <a:rPr sz="900" b="1">
                          <a:solidFill>
                            <a:srgbClr val="FFFFFF"/>
                          </a:solidFill>
                          <a:latin typeface="Calibri"/>
                        </a:rPr>
                        <a:t>CAGR 2026 to 2036</a:t>
                      </a:r>
                    </a:p>
                  </a:txBody>
                  <a:tcPr marL="36576" marR="36576" marT="9144" marB="9144" anchor="ctr">
                    <a:solidFill>
                      <a:srgbClr val="0B2E4A"/>
                    </a:solidFill>
                  </a:tcPr>
                </a:tc>
              </a:tr>
              <a:tr h="1030224">
                <a:tc>
                  <a:txBody>
                    <a:bodyPr wrap="square"/>
                    <a:lstStyle/>
                    <a:p>
                      <a:pPr algn="l"/>
                      <a:r>
                        <a:rPr sz="900" b="1">
                          <a:solidFill>
                            <a:srgbClr val="1F1F1F"/>
                          </a:solidFill>
                          <a:latin typeface="Calibri"/>
                        </a:rPr>
                        <a:t>Brazil</a:t>
                      </a:r>
                    </a:p>
                  </a:txBody>
                  <a:tcPr marL="36576" marR="36576" marT="9144" marB="9144" anchor="ctr">
                    <a:solidFill>
                      <a:srgbClr val="FFFFFF"/>
                    </a:solidFill>
                  </a:tcPr>
                </a:tc>
                <a:tc>
                  <a:txBody>
                    <a:bodyPr wrap="square"/>
                    <a:lstStyle/>
                    <a:p>
                      <a:pPr algn="ctr"/>
                      <a:r>
                        <a:rPr sz="900" b="0">
                          <a:solidFill>
                            <a:srgbClr val="1F1F1F"/>
                          </a:solidFill>
                          <a:latin typeface="Calibri"/>
                        </a:rPr>
                        <a:t>3,051</a:t>
                      </a:r>
                    </a:p>
                  </a:txBody>
                  <a:tcPr marL="36576" marR="36576" marT="9144" marB="9144" anchor="ctr">
                    <a:solidFill>
                      <a:srgbClr val="FFFFFF"/>
                    </a:solidFill>
                  </a:tcPr>
                </a:tc>
                <a:tc>
                  <a:txBody>
                    <a:bodyPr wrap="square"/>
                    <a:lstStyle/>
                    <a:p>
                      <a:pPr algn="ctr"/>
                      <a:r>
                        <a:rPr sz="900" b="0">
                          <a:solidFill>
                            <a:srgbClr val="1F1F1F"/>
                          </a:solidFill>
                          <a:latin typeface="Calibri"/>
                        </a:rPr>
                        <a:t>103.8</a:t>
                      </a:r>
                    </a:p>
                  </a:txBody>
                  <a:tcPr marL="36576" marR="36576" marT="9144" marB="9144" anchor="ctr">
                    <a:solidFill>
                      <a:srgbClr val="F4B183"/>
                    </a:solidFill>
                  </a:tcPr>
                </a:tc>
                <a:tc>
                  <a:txBody>
                    <a:bodyPr wrap="square"/>
                    <a:lstStyle/>
                    <a:p>
                      <a:pPr algn="ctr"/>
                      <a:r>
                        <a:rPr sz="900" b="0">
                          <a:solidFill>
                            <a:srgbClr val="1F1F1F"/>
                          </a:solidFill>
                          <a:latin typeface="Calibri"/>
                        </a:rPr>
                        <a:t>1.36%</a:t>
                      </a:r>
                    </a:p>
                  </a:txBody>
                  <a:tcPr marL="36576" marR="36576" marT="9144" marB="9144" anchor="ctr">
                    <a:solidFill>
                      <a:srgbClr val="FFFFFF"/>
                    </a:solidFill>
                  </a:tcPr>
                </a:tc>
              </a:tr>
              <a:tr h="1030224">
                <a:tc>
                  <a:txBody>
                    <a:bodyPr wrap="square"/>
                    <a:lstStyle/>
                    <a:p>
                      <a:pPr algn="l"/>
                      <a:r>
                        <a:rPr sz="900" b="1">
                          <a:solidFill>
                            <a:srgbClr val="1F1F1F"/>
                          </a:solidFill>
                          <a:latin typeface="Calibri"/>
                        </a:rPr>
                        <a:t>Mexico</a:t>
                      </a:r>
                    </a:p>
                  </a:txBody>
                  <a:tcPr marL="36576" marR="36576" marT="9144" marB="9144" anchor="ctr">
                    <a:solidFill>
                      <a:srgbClr val="F3F6F9"/>
                    </a:solidFill>
                  </a:tcPr>
                </a:tc>
                <a:tc>
                  <a:txBody>
                    <a:bodyPr wrap="square"/>
                    <a:lstStyle/>
                    <a:p>
                      <a:pPr algn="ctr"/>
                      <a:r>
                        <a:rPr sz="900" b="0">
                          <a:solidFill>
                            <a:srgbClr val="1F1F1F"/>
                          </a:solidFill>
                          <a:latin typeface="Calibri"/>
                        </a:rPr>
                        <a:t>2,763</a:t>
                      </a:r>
                    </a:p>
                  </a:txBody>
                  <a:tcPr marL="36576" marR="36576" marT="9144" marB="9144" anchor="ctr">
                    <a:solidFill>
                      <a:srgbClr val="F3F6F9"/>
                    </a:solidFill>
                  </a:tcPr>
                </a:tc>
                <a:tc>
                  <a:txBody>
                    <a:bodyPr wrap="square"/>
                    <a:lstStyle/>
                    <a:p>
                      <a:pPr algn="ctr"/>
                      <a:r>
                        <a:rPr sz="900" b="0">
                          <a:solidFill>
                            <a:srgbClr val="1F1F1F"/>
                          </a:solidFill>
                          <a:latin typeface="Calibri"/>
                        </a:rPr>
                        <a:t>94.1</a:t>
                      </a:r>
                    </a:p>
                  </a:txBody>
                  <a:tcPr marL="36576" marR="36576" marT="9144" marB="9144" anchor="ctr">
                    <a:solidFill>
                      <a:srgbClr val="9DC0E0"/>
                    </a:solidFill>
                  </a:tcPr>
                </a:tc>
                <a:tc>
                  <a:txBody>
                    <a:bodyPr wrap="square"/>
                    <a:lstStyle/>
                    <a:p>
                      <a:pPr algn="ctr"/>
                      <a:r>
                        <a:rPr sz="900" b="0">
                          <a:solidFill>
                            <a:srgbClr val="1F1F1F"/>
                          </a:solidFill>
                          <a:latin typeface="Calibri"/>
                        </a:rPr>
                        <a:t>1.36%</a:t>
                      </a:r>
                    </a:p>
                  </a:txBody>
                  <a:tcPr marL="36576" marR="36576" marT="9144" marB="9144" anchor="ctr">
                    <a:solidFill>
                      <a:srgbClr val="F3F6F9"/>
                    </a:solidFill>
                  </a:tcPr>
                </a:tc>
              </a:tr>
            </a:tbl>
          </a:graphicData>
        </a:graphic>
      </p:graphicFrame>
      <p:sp>
        <p:nvSpPr>
          <p:cNvPr id="18" name="Rectangle 1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19" name="Oval 1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0" name="TextBox 1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Country Spread</a:t>
            </a:r>
          </a:p>
        </p:txBody>
      </p:sp>
      <p:sp>
        <p:nvSpPr>
          <p:cNvPr id="21" name="TextBox 2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Average prices across the ranked countries differ by 10.4% in 2026, from US$ 2,763/MT in Mexico to US$ 3,051/MT in Brazil.</a:t>
            </a:r>
          </a:p>
        </p:txBody>
      </p:sp>
      <p:sp>
        <p:nvSpPr>
          <p:cNvPr id="22" name="Rectangle 2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3" name="Oval 2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4" name="TextBox 2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Growth Leader</a:t>
            </a:r>
          </a:p>
        </p:txBody>
      </p:sp>
      <p:sp>
        <p:nvSpPr>
          <p:cNvPr id="25" name="TextBox 2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Brazil records the fastest average price growth at a 1.36% CAGR between 2026 and 2036, against 1.33% for Latin America as a whole.</a:t>
            </a:r>
          </a:p>
        </p:txBody>
      </p:sp>
      <p:sp>
        <p:nvSpPr>
          <p:cNvPr id="26" name="Rectangle 2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7" name="Oval 2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8" name="TextBox 2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Mix Exposure</a:t>
            </a:r>
          </a:p>
        </p:txBody>
      </p:sp>
      <p:sp>
        <p:nvSpPr>
          <p:cNvPr id="29" name="TextBox 2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Brazil shows the widest gap between its cheapest and most expensive product type at 67.8%, so product mix shifts move its average price the most.</a:t>
            </a:r>
          </a:p>
        </p:txBody>
      </p:sp>
      <p:sp>
        <p:nvSpPr>
          <p:cNvPr id="30" name="TextBox 2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Range = lowest to highest product type price in each country; ranked by average price. Other geographies grouped as 'Other' are excluded from the ranking.</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Price Positioning &amp; Key Findings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positioning of each country on a common axis with FMI's key findings on where premiums and discounts sit</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Average selling price and price range by region on a shared price scale (US$/MT).</a:t>
            </a:r>
          </a:p>
        </p:txBody>
      </p:sp>
      <p:sp>
        <p:nvSpPr>
          <p:cNvPr id="11" name="Rounded Rectangle 10"/>
          <p:cNvSpPr/>
          <p:nvPr/>
        </p:nvSpPr>
        <p:spPr>
          <a:xfrm>
            <a:off x="142875" y="1317574"/>
            <a:ext cx="769620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&amp; Range by Region</a:t>
            </a:r>
          </a:p>
        </p:txBody>
      </p:sp>
      <p:cxnSp>
        <p:nvCxnSpPr>
          <p:cNvPr id="13" name="Connector 12"/>
          <p:cNvCxnSpPr/>
          <p:nvPr/>
        </p:nvCxnSpPr>
        <p:spPr>
          <a:xfrm>
            <a:off x="13620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11442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2,117</a:t>
            </a:r>
          </a:p>
        </p:txBody>
      </p:sp>
      <p:cxnSp>
        <p:nvCxnSpPr>
          <p:cNvPr id="15" name="Connector 14"/>
          <p:cNvCxnSpPr/>
          <p:nvPr/>
        </p:nvCxnSpPr>
        <p:spPr>
          <a:xfrm>
            <a:off x="261175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36410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2,631</a:t>
            </a:r>
          </a:p>
        </p:txBody>
      </p:sp>
      <p:cxnSp>
        <p:nvCxnSpPr>
          <p:cNvPr id="17" name="Connector 16"/>
          <p:cNvCxnSpPr/>
          <p:nvPr/>
        </p:nvCxnSpPr>
        <p:spPr>
          <a:xfrm>
            <a:off x="386143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61378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3,144</a:t>
            </a:r>
          </a:p>
        </p:txBody>
      </p:sp>
      <p:cxnSp>
        <p:nvCxnSpPr>
          <p:cNvPr id="19" name="Connector 18"/>
          <p:cNvCxnSpPr/>
          <p:nvPr/>
        </p:nvCxnSpPr>
        <p:spPr>
          <a:xfrm>
            <a:off x="511111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86346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3,657</a:t>
            </a:r>
          </a:p>
        </p:txBody>
      </p:sp>
      <p:cxnSp>
        <p:nvCxnSpPr>
          <p:cNvPr id="21" name="Connector 20"/>
          <p:cNvCxnSpPr/>
          <p:nvPr/>
        </p:nvCxnSpPr>
        <p:spPr>
          <a:xfrm>
            <a:off x="636079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611314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4,171</a:t>
            </a:r>
          </a:p>
        </p:txBody>
      </p:sp>
      <p:cxnSp>
        <p:nvCxnSpPr>
          <p:cNvPr id="23" name="Connector 22"/>
          <p:cNvCxnSpPr/>
          <p:nvPr/>
        </p:nvCxnSpPr>
        <p:spPr>
          <a:xfrm>
            <a:off x="76104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736282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4,684</a:t>
            </a:r>
          </a:p>
        </p:txBody>
      </p:sp>
      <p:sp>
        <p:nvSpPr>
          <p:cNvPr id="25" name="TextBox 24"/>
          <p:cNvSpPr txBox="1"/>
          <p:nvPr/>
        </p:nvSpPr>
        <p:spPr>
          <a:xfrm>
            <a:off x="238125" y="2384382"/>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Brazil</a:t>
            </a:r>
          </a:p>
        </p:txBody>
      </p:sp>
      <p:sp>
        <p:nvSpPr>
          <p:cNvPr id="26" name="Rectangle 25"/>
          <p:cNvSpPr/>
          <p:nvPr/>
        </p:nvSpPr>
        <p:spPr>
          <a:xfrm>
            <a:off x="2596221" y="2187782"/>
            <a:ext cx="4330835" cy="56465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Oval 26"/>
          <p:cNvSpPr/>
          <p:nvPr/>
        </p:nvSpPr>
        <p:spPr>
          <a:xfrm>
            <a:off x="3987543" y="2408194"/>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38125" y="3470247"/>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Mexico</a:t>
            </a:r>
          </a:p>
        </p:txBody>
      </p:sp>
      <p:sp>
        <p:nvSpPr>
          <p:cNvPr id="29" name="Rectangle 28"/>
          <p:cNvSpPr/>
          <p:nvPr/>
        </p:nvSpPr>
        <p:spPr>
          <a:xfrm>
            <a:off x="2045494" y="3273647"/>
            <a:ext cx="3896079" cy="56465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274209" y="3494059"/>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4556112"/>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Colombia</a:t>
            </a:r>
          </a:p>
        </p:txBody>
      </p:sp>
      <p:sp>
        <p:nvSpPr>
          <p:cNvPr id="32" name="Rectangle 31"/>
          <p:cNvSpPr/>
          <p:nvPr/>
        </p:nvSpPr>
        <p:spPr>
          <a:xfrm>
            <a:off x="2457630" y="4359512"/>
            <a:ext cx="4184021" cy="56465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3807795" y="4579925"/>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238125" y="5641978"/>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Rest of Latin America</a:t>
            </a:r>
          </a:p>
        </p:txBody>
      </p:sp>
      <p:sp>
        <p:nvSpPr>
          <p:cNvPr id="35" name="Rectangle 34"/>
          <p:cNvSpPr/>
          <p:nvPr/>
        </p:nvSpPr>
        <p:spPr>
          <a:xfrm>
            <a:off x="2455348" y="5445378"/>
            <a:ext cx="4182658" cy="56465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3820509" y="5665790"/>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1362075" y="1727149"/>
            <a:ext cx="114300" cy="114300"/>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495425" y="1717624"/>
            <a:ext cx="838200" cy="133350"/>
          </a:xfrm>
          <a:prstGeom prst="rect">
            <a:avLst/>
          </a:prstGeom>
          <a:noFill/>
        </p:spPr>
        <p:txBody>
          <a:bodyPr wrap="square" lIns="28575" rIns="28575" tIns="9525" bIns="9525">
            <a:spAutoFit/>
          </a:bodyPr>
          <a:lstStyle/>
          <a:p>
            <a:pPr algn="l"/>
            <a:r>
              <a:rPr sz="1100" b="0">
                <a:solidFill>
                  <a:srgbClr val="2E2E2E"/>
                </a:solidFill>
                <a:latin typeface="Calibri"/>
              </a:rPr>
              <a:t>Average Price</a:t>
            </a:r>
          </a:p>
        </p:txBody>
      </p:sp>
      <p:sp>
        <p:nvSpPr>
          <p:cNvPr id="39" name="Rectangle 38"/>
          <p:cNvSpPr/>
          <p:nvPr/>
        </p:nvSpPr>
        <p:spPr>
          <a:xfrm>
            <a:off x="2390775" y="1736674"/>
            <a:ext cx="190500" cy="11430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619375" y="1717624"/>
            <a:ext cx="800100" cy="133350"/>
          </a:xfrm>
          <a:prstGeom prst="rect">
            <a:avLst/>
          </a:prstGeom>
          <a:noFill/>
        </p:spPr>
        <p:txBody>
          <a:bodyPr wrap="square" lIns="28575" rIns="28575" tIns="9525" bIns="9525">
            <a:spAutoFit/>
          </a:bodyPr>
          <a:lstStyle/>
          <a:p>
            <a:pPr algn="l"/>
            <a:r>
              <a:rPr sz="1100" b="0">
                <a:solidFill>
                  <a:srgbClr val="2E2E2E"/>
                </a:solidFill>
                <a:latin typeface="Calibri"/>
              </a:rPr>
              <a:t>Price Range</a:t>
            </a:r>
          </a:p>
        </p:txBody>
      </p:sp>
      <p:sp>
        <p:nvSpPr>
          <p:cNvPr id="41" name="Rounded Rectangle 40"/>
          <p:cNvSpPr/>
          <p:nvPr/>
        </p:nvSpPr>
        <p:spPr>
          <a:xfrm>
            <a:off x="7915275" y="1317574"/>
            <a:ext cx="413385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43" name="Rectangle 42"/>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048625" y="1727149"/>
            <a:ext cx="3867150" cy="343877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Barrier casings segment is expected to command the highest average price of US$ 4,791 per MT in 2036. Average selling price of flexible plastic packaging is estimated at US$ 2,913 per MT in 2025 and is projected to increase to US$ 3,354 per MT by 2036. Brazil is the highest-priced country, while Mexico is the most price-competitive market.</a:t>
            </a:r>
          </a:p>
          <a:p>
            <a:pPr algn="l">
              <a:lnSpc>
                <a:spcPct val="100000"/>
              </a:lnSpc>
              <a:spcBef>
                <a:spcPts val="0"/>
              </a:spcBef>
              <a:spcAft>
                <a:spcPts val="300"/>
              </a:spcAft>
            </a:pPr>
            <a:r>
              <a:rPr sz="1100" b="0">
                <a:solidFill>
                  <a:srgbClr val="2E2E2E"/>
                </a:solidFill>
                <a:latin typeface="Calibri"/>
              </a:rPr>
              <a:t>The orange dot is each region's average selling price; the blue band is its full low-to-high price range, all derived as Value ÷ Volume. Narrow bands point to commoditised, price-led competition; wider bands flag premiumisation headroom to trade buyers up the mix.</a:t>
            </a:r>
          </a:p>
          <a:p>
            <a:pPr algn="l">
              <a:lnSpc>
                <a:spcPct val="100000"/>
              </a:lnSpc>
              <a:spcBef>
                <a:spcPts val="0"/>
              </a:spcBef>
              <a:spcAft>
                <a:spcPts val="300"/>
              </a:spcAft>
            </a:pPr>
            <a:r>
              <a:rPr sz="1100" b="0">
                <a:solidFill>
                  <a:srgbClr val="2E2E2E"/>
                </a:solidFill>
                <a:latin typeface="Calibri"/>
              </a:rPr>
              <a:t>Latin America's average price of US$ 2,938 per MT in 2026 sits below the global US$ 3,100, because the mix leans toward commodity PE and PP film and basic food packaging rather than high-barrier or specialty structures. Imported barrier resins and converting inputs add cost, yet price rises to US$ 3,354 per MT by 2036 as value growth of 7.2% outpaces volume at 5.7%.</a:t>
            </a:r>
          </a:p>
        </p:txBody>
      </p:sp>
      <p:sp>
        <p:nvSpPr>
          <p:cNvPr id="45" name="Rounded Rectangle 44"/>
          <p:cNvSpPr/>
          <p:nvPr/>
        </p:nvSpPr>
        <p:spPr>
          <a:xfrm>
            <a:off x="7915275" y="5351641"/>
            <a:ext cx="4133850" cy="1204744"/>
          </a:xfrm>
          <a:prstGeom prst="roundRect">
            <a:avLst>
              <a:gd name="adj" fmla="val 6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the above information is indicative in nature and does not constitute any form of analysis.</a:t>
            </a:r>
          </a:p>
        </p:txBody>
      </p:sp>
      <p:sp>
        <p:nvSpPr>
          <p:cNvPr id="46" name="TextBox 4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Key Pricing Drivers Influencing Flexible Plastic Packaging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input costs, market conditions and competitive forces shaping pricing strategies and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input costs, market conditions, and competitive forces shaping pricing strategies and profitability across the value chain</a:t>
            </a:r>
          </a:p>
        </p:txBody>
      </p:sp>
      <p:sp>
        <p:nvSpPr>
          <p:cNvPr id="12" name="Rounded Rectangle 11"/>
          <p:cNvSpPr/>
          <p:nvPr/>
        </p:nvSpPr>
        <p:spPr>
          <a:xfrm>
            <a:off x="142875" y="1354081"/>
            <a:ext cx="702945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6838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Impacting Factors</a:t>
            </a:r>
          </a:p>
        </p:txBody>
      </p:sp>
      <p:sp>
        <p:nvSpPr>
          <p:cNvPr id="14" name="Freeform 13"/>
          <p:cNvSpPr/>
          <p:nvPr/>
        </p:nvSpPr>
        <p:spPr>
          <a:xfrm>
            <a:off x="3295650" y="3705225"/>
            <a:ext cx="723900" cy="752475"/>
          </a:xfrm>
          <a:custGeom>
            <a:avLst/>
            <a:gdLst/>
            <a:ahLst/>
            <a:cxnLst/>
            <a:rect l="l" t="t" r="r" b="b"/>
            <a:pathLst>
              <a:path w="76" h="79">
                <a:moveTo>
                  <a:pt x="38" y="0"/>
                </a:moveTo>
                <a:lnTo>
                  <a:pt x="61" y="7"/>
                </a:lnTo>
                <a:lnTo>
                  <a:pt x="76" y="27"/>
                </a:lnTo>
                <a:lnTo>
                  <a:pt x="76" y="51"/>
                </a:lnTo>
                <a:lnTo>
                  <a:pt x="61" y="71"/>
                </a:lnTo>
                <a:lnTo>
                  <a:pt x="38" y="79"/>
                </a:lnTo>
                <a:lnTo>
                  <a:pt x="15" y="71"/>
                </a:lnTo>
                <a:lnTo>
                  <a:pt x="0" y="51"/>
                </a:lnTo>
                <a:lnTo>
                  <a:pt x="0" y="27"/>
                </a:lnTo>
                <a:lnTo>
                  <a:pt x="15" y="7"/>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943225" y="3324225"/>
            <a:ext cx="1428750" cy="1504950"/>
          </a:xfrm>
          <a:custGeom>
            <a:avLst/>
            <a:gdLst/>
            <a:ahLst/>
            <a:cxnLst/>
            <a:rect l="l" t="t" r="r" b="b"/>
            <a:pathLst>
              <a:path w="150" h="158">
                <a:moveTo>
                  <a:pt x="75" y="0"/>
                </a:moveTo>
                <a:lnTo>
                  <a:pt x="122" y="15"/>
                </a:lnTo>
                <a:lnTo>
                  <a:pt x="150" y="55"/>
                </a:lnTo>
                <a:lnTo>
                  <a:pt x="150" y="104"/>
                </a:lnTo>
                <a:lnTo>
                  <a:pt x="122" y="143"/>
                </a:lnTo>
                <a:lnTo>
                  <a:pt x="75" y="158"/>
                </a:lnTo>
                <a:lnTo>
                  <a:pt x="28" y="143"/>
                </a:lnTo>
                <a:lnTo>
                  <a:pt x="0" y="104"/>
                </a:lnTo>
                <a:lnTo>
                  <a:pt x="0" y="55"/>
                </a:lnTo>
                <a:lnTo>
                  <a:pt x="28" y="15"/>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581275" y="2943225"/>
            <a:ext cx="2152650" cy="2266950"/>
          </a:xfrm>
          <a:custGeom>
            <a:avLst/>
            <a:gdLst/>
            <a:ahLst/>
            <a:cxnLst/>
            <a:rect l="l" t="t" r="r" b="b"/>
            <a:pathLst>
              <a:path w="226" h="238">
                <a:moveTo>
                  <a:pt x="113" y="0"/>
                </a:moveTo>
                <a:lnTo>
                  <a:pt x="183" y="23"/>
                </a:lnTo>
                <a:lnTo>
                  <a:pt x="226" y="82"/>
                </a:lnTo>
                <a:lnTo>
                  <a:pt x="226" y="156"/>
                </a:lnTo>
                <a:lnTo>
                  <a:pt x="183" y="215"/>
                </a:lnTo>
                <a:lnTo>
                  <a:pt x="113" y="238"/>
                </a:lnTo>
                <a:lnTo>
                  <a:pt x="43" y="215"/>
                </a:lnTo>
                <a:lnTo>
                  <a:pt x="0" y="156"/>
                </a:lnTo>
                <a:lnTo>
                  <a:pt x="0" y="82"/>
                </a:lnTo>
                <a:lnTo>
                  <a:pt x="43" y="23"/>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219325" y="2571750"/>
            <a:ext cx="2876550" cy="3019425"/>
          </a:xfrm>
          <a:custGeom>
            <a:avLst/>
            <a:gdLst/>
            <a:ahLst/>
            <a:cxnLst/>
            <a:rect l="l" t="t" r="r" b="b"/>
            <a:pathLst>
              <a:path w="302" h="317">
                <a:moveTo>
                  <a:pt x="151" y="0"/>
                </a:moveTo>
                <a:lnTo>
                  <a:pt x="244" y="30"/>
                </a:lnTo>
                <a:lnTo>
                  <a:pt x="302" y="109"/>
                </a:lnTo>
                <a:lnTo>
                  <a:pt x="302" y="207"/>
                </a:lnTo>
                <a:lnTo>
                  <a:pt x="244" y="286"/>
                </a:lnTo>
                <a:lnTo>
                  <a:pt x="151" y="317"/>
                </a:lnTo>
                <a:lnTo>
                  <a:pt x="58" y="286"/>
                </a:lnTo>
                <a:lnTo>
                  <a:pt x="0" y="207"/>
                </a:lnTo>
                <a:lnTo>
                  <a:pt x="0" y="109"/>
                </a:lnTo>
                <a:lnTo>
                  <a:pt x="58" y="30"/>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1866900" y="2190750"/>
            <a:ext cx="3581400" cy="3771900"/>
          </a:xfrm>
          <a:custGeom>
            <a:avLst/>
            <a:gdLst/>
            <a:ahLst/>
            <a:cxnLst/>
            <a:rect l="l" t="t" r="r" b="b"/>
            <a:pathLst>
              <a:path w="376" h="396">
                <a:moveTo>
                  <a:pt x="188" y="0"/>
                </a:moveTo>
                <a:lnTo>
                  <a:pt x="304" y="38"/>
                </a:lnTo>
                <a:lnTo>
                  <a:pt x="376" y="137"/>
                </a:lnTo>
                <a:lnTo>
                  <a:pt x="376" y="259"/>
                </a:lnTo>
                <a:lnTo>
                  <a:pt x="304" y="358"/>
                </a:lnTo>
                <a:lnTo>
                  <a:pt x="188" y="396"/>
                </a:lnTo>
                <a:lnTo>
                  <a:pt x="72" y="358"/>
                </a:lnTo>
                <a:lnTo>
                  <a:pt x="0" y="259"/>
                </a:lnTo>
                <a:lnTo>
                  <a:pt x="0" y="137"/>
                </a:lnTo>
                <a:lnTo>
                  <a:pt x="72" y="38"/>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flipV="1">
            <a:off x="3657600" y="2192281"/>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flipV="1">
            <a:off x="3657600"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flipV="1">
            <a:off x="3657600"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657600"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657600"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3657600" y="4078660"/>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548814"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1863547"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flipV="1">
            <a:off x="1863547"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flipH="1" flipV="1">
            <a:off x="2548814"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95550" y="2381250"/>
            <a:ext cx="2505075" cy="3209925"/>
          </a:xfrm>
          <a:custGeom>
            <a:avLst/>
            <a:gdLst/>
            <a:ahLst/>
            <a:cxnLst/>
            <a:rect l="l" t="t" r="r" b="b"/>
            <a:pathLst>
              <a:path w="263" h="337">
                <a:moveTo>
                  <a:pt x="122" y="0"/>
                </a:moveTo>
                <a:lnTo>
                  <a:pt x="203" y="66"/>
                </a:lnTo>
                <a:lnTo>
                  <a:pt x="244" y="138"/>
                </a:lnTo>
                <a:lnTo>
                  <a:pt x="263" y="224"/>
                </a:lnTo>
                <a:lnTo>
                  <a:pt x="221" y="314"/>
                </a:lnTo>
                <a:lnTo>
                  <a:pt x="122" y="337"/>
                </a:lnTo>
                <a:lnTo>
                  <a:pt x="52" y="274"/>
                </a:lnTo>
                <a:lnTo>
                  <a:pt x="18" y="212"/>
                </a:lnTo>
                <a:lnTo>
                  <a:pt x="0" y="138"/>
                </a:lnTo>
                <a:lnTo>
                  <a:pt x="70" y="106"/>
                </a:lnTo>
                <a:close/>
              </a:path>
            </a:pathLst>
          </a:custGeom>
          <a:solidFill>
            <a:srgbClr val="2B5F8E">
              <a:alpha val="62000"/>
            </a:srgbClr>
          </a:solidFill>
          <a:ln w="27940">
            <a:solidFill>
              <a:srgbClr val="2B5F8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624262" y="234758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400412" y="2977044"/>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4790397"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4969802" y="4482515"/>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4566730" y="5342518"/>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3624262" y="5554426"/>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2958991" y="496099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2637533" y="436593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Oval 37"/>
          <p:cNvSpPr/>
          <p:nvPr/>
        </p:nvSpPr>
        <p:spPr>
          <a:xfrm>
            <a:off x="2458128"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3125309" y="335857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686175" y="3634709"/>
            <a:ext cx="285750" cy="123825"/>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41" name="TextBox 40"/>
          <p:cNvSpPr txBox="1"/>
          <p:nvPr/>
        </p:nvSpPr>
        <p:spPr>
          <a:xfrm>
            <a:off x="3686175" y="3257434"/>
            <a:ext cx="285750" cy="123825"/>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42" name="TextBox 41"/>
          <p:cNvSpPr txBox="1"/>
          <p:nvPr/>
        </p:nvSpPr>
        <p:spPr>
          <a:xfrm>
            <a:off x="3686175" y="2880158"/>
            <a:ext cx="285750" cy="123825"/>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43" name="TextBox 42"/>
          <p:cNvSpPr txBox="1"/>
          <p:nvPr/>
        </p:nvSpPr>
        <p:spPr>
          <a:xfrm>
            <a:off x="3686175" y="2502882"/>
            <a:ext cx="285750" cy="123825"/>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44" name="TextBox 43"/>
          <p:cNvSpPr txBox="1"/>
          <p:nvPr/>
        </p:nvSpPr>
        <p:spPr>
          <a:xfrm>
            <a:off x="3686175" y="2125606"/>
            <a:ext cx="285750" cy="123825"/>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5" name="TextBox 44"/>
          <p:cNvSpPr txBox="1"/>
          <p:nvPr/>
        </p:nvSpPr>
        <p:spPr>
          <a:xfrm>
            <a:off x="3000375" y="1839856"/>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Input Cost  13.0%</a:t>
            </a:r>
          </a:p>
        </p:txBody>
      </p:sp>
      <p:sp>
        <p:nvSpPr>
          <p:cNvPr id="46" name="TextBox 45"/>
          <p:cNvSpPr txBox="1"/>
          <p:nvPr/>
        </p:nvSpPr>
        <p:spPr>
          <a:xfrm>
            <a:off x="4232331"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Labor &amp; Production Costs  10.1%</a:t>
            </a:r>
          </a:p>
        </p:txBody>
      </p:sp>
      <p:sp>
        <p:nvSpPr>
          <p:cNvPr id="47" name="TextBox 46"/>
          <p:cNvSpPr txBox="1"/>
          <p:nvPr/>
        </p:nvSpPr>
        <p:spPr>
          <a:xfrm>
            <a:off x="4993722"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Technology &amp; Innovation  9.4%</a:t>
            </a:r>
          </a:p>
        </p:txBody>
      </p:sp>
      <p:sp>
        <p:nvSpPr>
          <p:cNvPr id="48" name="TextBox 47"/>
          <p:cNvSpPr txBox="1"/>
          <p:nvPr/>
        </p:nvSpPr>
        <p:spPr>
          <a:xfrm>
            <a:off x="4993722"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Supply Chain &amp; Logistics  10.9%</a:t>
            </a:r>
          </a:p>
        </p:txBody>
      </p:sp>
      <p:sp>
        <p:nvSpPr>
          <p:cNvPr id="49" name="TextBox 48"/>
          <p:cNvSpPr txBox="1"/>
          <p:nvPr/>
        </p:nvSpPr>
        <p:spPr>
          <a:xfrm>
            <a:off x="4232331"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Demand &amp; Market Conditions  12.3%</a:t>
            </a:r>
          </a:p>
        </p:txBody>
      </p:sp>
      <p:sp>
        <p:nvSpPr>
          <p:cNvPr id="50" name="TextBox 49"/>
          <p:cNvSpPr txBox="1"/>
          <p:nvPr/>
        </p:nvSpPr>
        <p:spPr>
          <a:xfrm>
            <a:off x="3000375" y="6031714"/>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Competitive Landscape  11.6%</a:t>
            </a:r>
          </a:p>
        </p:txBody>
      </p:sp>
      <p:sp>
        <p:nvSpPr>
          <p:cNvPr id="51" name="TextBox 50"/>
          <p:cNvSpPr txBox="1"/>
          <p:nvPr/>
        </p:nvSpPr>
        <p:spPr>
          <a:xfrm>
            <a:off x="1768419"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Regulatory &amp; Compliance Costs  8.7%</a:t>
            </a:r>
          </a:p>
        </p:txBody>
      </p:sp>
      <p:sp>
        <p:nvSpPr>
          <p:cNvPr id="52" name="TextBox 51"/>
          <p:cNvSpPr txBox="1"/>
          <p:nvPr/>
        </p:nvSpPr>
        <p:spPr>
          <a:xfrm>
            <a:off x="1007028"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Currency &amp; Trade Dynamics  8.0%</a:t>
            </a:r>
          </a:p>
        </p:txBody>
      </p:sp>
      <p:sp>
        <p:nvSpPr>
          <p:cNvPr id="53" name="TextBox 52"/>
          <p:cNvSpPr txBox="1"/>
          <p:nvPr/>
        </p:nvSpPr>
        <p:spPr>
          <a:xfrm>
            <a:off x="1007028"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Brand &amp; Value Perception  9.4%</a:t>
            </a:r>
          </a:p>
        </p:txBody>
      </p:sp>
      <p:sp>
        <p:nvSpPr>
          <p:cNvPr id="54" name="TextBox 53"/>
          <p:cNvSpPr txBox="1"/>
          <p:nvPr/>
        </p:nvSpPr>
        <p:spPr>
          <a:xfrm>
            <a:off x="1768419"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Aftermarket &amp; Service Costs  6.5%</a:t>
            </a:r>
          </a:p>
        </p:txBody>
      </p:sp>
      <p:sp>
        <p:nvSpPr>
          <p:cNvPr id="55" name="Rounded Rectangle 54"/>
          <p:cNvSpPr/>
          <p:nvPr/>
        </p:nvSpPr>
        <p:spPr>
          <a:xfrm>
            <a:off x="7248525" y="1354081"/>
            <a:ext cx="4800600" cy="3479443"/>
          </a:xfrm>
          <a:prstGeom prst="roundRect">
            <a:avLst>
              <a:gd name="adj" fmla="val 21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7381875" y="1439806"/>
            <a:ext cx="453390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7" name="Rectangle 56"/>
          <p:cNvSpPr/>
          <p:nvPr/>
        </p:nvSpPr>
        <p:spPr>
          <a:xfrm>
            <a:off x="7381875" y="1677931"/>
            <a:ext cx="45339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7381875" y="1763656"/>
            <a:ext cx="4533900" cy="2993668"/>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Pricing across the Flexible Plastic Packaging Market is shaped by a mix of input costs, operational efficiency and market dynamics with raw-material and input costs carrying the single heaviest weight on selling prices today.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Raw-material and input costs and demand and broader market conditions are the dominant cost pressures; as they fluctuate they feed directly into prices and squeeze margins along the value chain.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intensity and supply-chain and logistics conditions are the next most influential forces helping offset cost inflation and setting how aggressively players can price without ceding share.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strength, competitive intensity and supply-chain reliability together define the ceiling on pricing power across the Flexible Plastic Packaging Market.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Regulatory, currency and brand factors add second-order effects while aftermarket and service costs exert the least pressure collectively creating a pricing balance that must be monitored to stay competitive and profitable.</a:t>
            </a:r>
          </a:p>
        </p:txBody>
      </p:sp>
      <p:sp>
        <p:nvSpPr>
          <p:cNvPr id="59" name="Rounded Rectangle 58"/>
          <p:cNvSpPr/>
          <p:nvPr/>
        </p:nvSpPr>
        <p:spPr>
          <a:xfrm>
            <a:off x="7248525" y="4943046"/>
            <a:ext cx="4800600" cy="1686354"/>
          </a:xfrm>
          <a:prstGeom prst="roundRect">
            <a:avLst>
              <a:gd name="adj" fmla="val 45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7381875" y="5028771"/>
            <a:ext cx="4533900" cy="209550"/>
          </a:xfrm>
          <a:prstGeom prst="rect">
            <a:avLst/>
          </a:prstGeom>
          <a:noFill/>
        </p:spPr>
        <p:txBody>
          <a:bodyPr wrap="square" lIns="0" rIns="19050" tIns="9525" bIns="9525">
            <a:spAutoFit/>
          </a:bodyPr>
          <a:lstStyle/>
          <a:p>
            <a:pPr algn="l"/>
            <a:r>
              <a:rPr sz="1300" b="1">
                <a:solidFill>
                  <a:srgbClr val="0B2E4A"/>
                </a:solidFill>
                <a:latin typeface="Calibri"/>
              </a:rPr>
              <a:t>Highest-Impact Drivers</a:t>
            </a:r>
          </a:p>
        </p:txBody>
      </p:sp>
      <p:sp>
        <p:nvSpPr>
          <p:cNvPr id="61" name="Rectangle 60"/>
          <p:cNvSpPr/>
          <p:nvPr/>
        </p:nvSpPr>
        <p:spPr>
          <a:xfrm>
            <a:off x="7381875" y="5266896"/>
            <a:ext cx="45339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381875" y="5352621"/>
            <a:ext cx="4533900" cy="1200579"/>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Input Cost 9.0 / 10  ·  dominant cost pressure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&amp; Market Conditions 8.5 / 10  ·  major cost pressure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Landscape 8.0 / 10  ·  key pricing lever</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Supply Chain &amp; Logistics 7.5 / 10  ·  key pricing lever</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Labor &amp; Production Costs 7.0 / 10  ·  supporting factor</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Factors Impacting Pricing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Factors affecting the pricing decision of the product: category, price impact, direction of pressure and rationale</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cost, demand, efficiency and regulatory forces shaping and impacting achievable selling prices grouped by category, with each factor's direction, impact and score.</a:t>
            </a:r>
          </a:p>
        </p:txBody>
      </p:sp>
      <p:sp>
        <p:nvSpPr>
          <p:cNvPr id="11" name="Rounded Rectangle 10"/>
          <p:cNvSpPr/>
          <p:nvPr/>
        </p:nvSpPr>
        <p:spPr>
          <a:xfrm>
            <a:off x="142875" y="1314450"/>
            <a:ext cx="11906250" cy="3114675"/>
          </a:xfrm>
          <a:prstGeom prst="roundRect">
            <a:avLst>
              <a:gd name="adj" fmla="val 24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0650"/>
          <a:ext cx="11887199" cy="2809875"/>
        </p:xfrm>
        <a:graphic>
          <a:graphicData uri="http://schemas.openxmlformats.org/drawingml/2006/table">
            <a:tbl>
              <a:tblPr>
                <a:tableStyleId>{5C22544A-7EE6-4342-B048-85BDC9FD1C3A}</a:tableStyleId>
              </a:tblPr>
              <a:tblGrid>
                <a:gridCol w="2561515"/>
                <a:gridCol w="2697613"/>
                <a:gridCol w="1098187"/>
                <a:gridCol w="1211368"/>
                <a:gridCol w="1098187"/>
                <a:gridCol w="3220329"/>
              </a:tblGrid>
              <a:tr h="215265">
                <a:tc>
                  <a:txBody>
                    <a:bodyPr wrap="none"/>
                    <a:lstStyle/>
                    <a:p>
                      <a:pPr algn="l"/>
                      <a:r>
                        <a:rPr sz="1100" b="1">
                          <a:solidFill>
                            <a:srgbClr val="0B2E4A"/>
                          </a:solidFill>
                          <a:latin typeface="Calibri"/>
                        </a:rPr>
                        <a:t>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Impact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Score (0–10)</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How It Shapes Price</a:t>
                      </a:r>
                      <a:endParaRPr sz="1100"/>
                    </a:p>
                  </a:txBody>
                  <a:tcPr marL="47625" marR="38100" marT="19050" marB="19050" anchor="ctr">
                    <a:solidFill>
                      <a:srgbClr val="E0E8EF"/>
                    </a:solidFill>
                  </a:tcPr>
                </a:tc>
              </a:tr>
              <a:tr h="259461">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Raw-material and input costs.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Labour and production expenses.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Supply-chain and logistics conditions.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and broader market conditions.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Competitive intensity.</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strength and value perception.</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Technology and process innovation.</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Aftermarket and service costs.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and compliance costs.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Currency and trade dynamics.</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210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581525"/>
            <a:ext cx="11906250" cy="1962150"/>
          </a:xfrm>
          <a:prstGeom prst="roundRect">
            <a:avLst>
              <a:gd name="adj" fmla="val 388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667250"/>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the Factors Imply</a:t>
            </a:r>
          </a:p>
        </p:txBody>
      </p:sp>
      <p:sp>
        <p:nvSpPr>
          <p:cNvPr id="16" name="Rectangle 15"/>
          <p:cNvSpPr/>
          <p:nvPr/>
        </p:nvSpPr>
        <p:spPr>
          <a:xfrm>
            <a:off x="276225" y="4905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991100"/>
            <a:ext cx="11639550" cy="14763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Input Cost and Demand &amp; Market Conditions carry the heaviest weight on selling prices (9.0 and 8.5 / 10).</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8 of 10 factors exert upward pressure on price; the rest pull prices down chiefly Technology &amp; Innovation and the Competitive Landscape.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Cost-side factors set the price floor; demand, brand and competitive forces determine how much of that cost can be passed through.</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Aftermarket &amp; Service Costs exerts the least pressure a second-order effect to monitor rather than actively manage.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Regional Price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price assessment across the value chain, from manufacturer to retail, and average price by geography, 2026–2036</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price assessment across the value chain (US$/MT) and price trajectory to 2036.</a:t>
            </a:r>
          </a:p>
        </p:txBody>
      </p:sp>
      <p:sp>
        <p:nvSpPr>
          <p:cNvPr id="11" name="Rounded Rectangle 10"/>
          <p:cNvSpPr/>
          <p:nvPr/>
        </p:nvSpPr>
        <p:spPr>
          <a:xfrm>
            <a:off x="142875" y="1317574"/>
            <a:ext cx="590550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Regional Price by Value-Chain Level (US$/MT)</a:t>
            </a:r>
          </a:p>
        </p:txBody>
      </p:sp>
      <p:graphicFrame>
        <p:nvGraphicFramePr>
          <p:cNvPr id="13" name="Table 12"/>
          <p:cNvGraphicFramePr>
            <a:graphicFrameLocks noGrp="1"/>
          </p:cNvGraphicFramePr>
          <p:nvPr/>
        </p:nvGraphicFramePr>
        <p:xfrm>
          <a:off x="152400" y="1574749"/>
          <a:ext cx="5886451" cy="2271329"/>
        </p:xfrm>
        <a:graphic>
          <a:graphicData uri="http://schemas.openxmlformats.org/drawingml/2006/table">
            <a:tbl>
              <a:tblPr>
                <a:tableStyleId>{5C22544A-7EE6-4342-B048-85BDC9FD1C3A}</a:tableStyleId>
              </a:tblPr>
              <a:tblGrid>
                <a:gridCol w="1407387"/>
                <a:gridCol w="1119766"/>
                <a:gridCol w="1119766"/>
                <a:gridCol w="1119766"/>
                <a:gridCol w="1119766"/>
              </a:tblGrid>
              <a:tr h="215265">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Manufacturer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Distribution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Retail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Total Margin (%)</a:t>
                      </a:r>
                      <a:endParaRPr sz="1100"/>
                    </a:p>
                  </a:txBody>
                  <a:tcPr marL="47625" marR="38100" marT="19050" marB="19050" anchor="ctr">
                    <a:solidFill>
                      <a:srgbClr val="E0E8EF"/>
                    </a:solidFill>
                  </a:tcPr>
                </a:tc>
              </a:tr>
              <a:tr h="514016">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514016">
                <a:tc>
                  <a:txBody>
                    <a:bodyPr wrap="none"/>
                    <a:lstStyle/>
                    <a:p>
                      <a:pPr algn="l"/>
                      <a:r>
                        <a:rPr sz="1100" b="1">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514016">
                <a:tc>
                  <a:txBody>
                    <a:bodyPr wrap="none"/>
                    <a:lstStyle/>
                    <a:p>
                      <a:pPr algn="l"/>
                      <a:r>
                        <a:rPr sz="1100" b="1">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514016">
                <a:tc>
                  <a:txBody>
                    <a:bodyPr wrap="none"/>
                    <a:lstStyle/>
                    <a:p>
                      <a:pPr algn="l"/>
                      <a:r>
                        <a:rPr sz="1100" b="1">
                          <a:solidFill>
                            <a:srgbClr val="2E2E2E"/>
                          </a:solidFill>
                          <a:latin typeface="Calibri"/>
                        </a:rPr>
                        <a:t>Rest of 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855604"/>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6200775" y="1317574"/>
            <a:ext cx="584835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6025" y="1374724"/>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by Geography (US$/MT)</a:t>
            </a:r>
          </a:p>
        </p:txBody>
      </p:sp>
      <p:graphicFrame>
        <p:nvGraphicFramePr>
          <p:cNvPr id="17" name="Table 16"/>
          <p:cNvGraphicFramePr>
            <a:graphicFrameLocks noGrp="1"/>
          </p:cNvGraphicFramePr>
          <p:nvPr/>
        </p:nvGraphicFramePr>
        <p:xfrm>
          <a:off x="6210300" y="1574749"/>
          <a:ext cx="5829301" cy="2271329"/>
        </p:xfrm>
        <a:graphic>
          <a:graphicData uri="http://schemas.openxmlformats.org/drawingml/2006/table">
            <a:tbl>
              <a:tblPr>
                <a:tableStyleId>{5C22544A-7EE6-4342-B048-85BDC9FD1C3A}</a:tableStyleId>
              </a:tblPr>
              <a:tblGrid>
                <a:gridCol w="2084565"/>
                <a:gridCol w="936184"/>
                <a:gridCol w="936184"/>
                <a:gridCol w="936184"/>
                <a:gridCol w="936184"/>
              </a:tblGrid>
              <a:tr h="215265">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514016">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3,491.24</a:t>
                      </a:r>
                      <a:endParaRPr sz="1100"/>
                    </a:p>
                  </a:txBody>
                  <a:tcPr marL="47625" marR="38100" marT="19050" marB="19050" anchor="ctr">
                    <a:solidFill>
                      <a:srgbClr val="FFFFFF"/>
                    </a:solidFill>
                  </a:tcPr>
                </a:tc>
              </a:tr>
              <a:tr h="514016">
                <a:tc>
                  <a:txBody>
                    <a:bodyPr wrap="none"/>
                    <a:lstStyle/>
                    <a:p>
                      <a:pPr algn="l"/>
                      <a:r>
                        <a:rPr sz="1100" b="1">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3,161.98</a:t>
                      </a:r>
                      <a:endParaRPr sz="1100"/>
                    </a:p>
                  </a:txBody>
                  <a:tcPr marL="47625" marR="38100" marT="19050" marB="19050" anchor="ctr">
                    <a:solidFill>
                      <a:srgbClr val="F5F8FA"/>
                    </a:solidFill>
                  </a:tcPr>
                </a:tc>
              </a:tr>
              <a:tr h="514016">
                <a:tc>
                  <a:txBody>
                    <a:bodyPr wrap="none"/>
                    <a:lstStyle/>
                    <a:p>
                      <a:pPr algn="l"/>
                      <a:r>
                        <a:rPr sz="1100" b="1">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3,406.61</a:t>
                      </a:r>
                      <a:endParaRPr sz="1100"/>
                    </a:p>
                  </a:txBody>
                  <a:tcPr marL="47625" marR="38100" marT="19050" marB="19050" anchor="ctr">
                    <a:solidFill>
                      <a:srgbClr val="FFFFFF"/>
                    </a:solidFill>
                  </a:tcPr>
                </a:tc>
              </a:tr>
              <a:tr h="514016">
                <a:tc>
                  <a:txBody>
                    <a:bodyPr wrap="none"/>
                    <a:lstStyle/>
                    <a:p>
                      <a:pPr algn="l"/>
                      <a:r>
                        <a:rPr sz="1100" b="1">
                          <a:solidFill>
                            <a:srgbClr val="2E2E2E"/>
                          </a:solidFill>
                          <a:latin typeface="Calibri"/>
                        </a:rPr>
                        <a:t>Rest of 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3,431.84</a:t>
                      </a:r>
                      <a:endParaRPr sz="1100"/>
                    </a:p>
                  </a:txBody>
                  <a:tcPr marL="47625" marR="38100" marT="19050" marB="19050" anchor="ctr">
                    <a:solidFill>
                      <a:srgbClr val="F5F8FA"/>
                    </a:solidFill>
                  </a:tcPr>
                </a:tc>
              </a:tr>
            </a:tbl>
          </a:graphicData>
        </a:graphic>
      </p:graphicFrame>
      <p:sp>
        <p:nvSpPr>
          <p:cNvPr id="18" name="TextBox 17"/>
          <p:cNvSpPr txBox="1"/>
          <p:nvPr/>
        </p:nvSpPr>
        <p:spPr>
          <a:xfrm>
            <a:off x="6276975" y="3855604"/>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142875" y="4201658"/>
            <a:ext cx="119062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287383"/>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This Section Covers</a:t>
            </a:r>
          </a:p>
        </p:txBody>
      </p:sp>
      <p:sp>
        <p:nvSpPr>
          <p:cNvPr id="21" name="Rectangle 20"/>
          <p:cNvSpPr/>
          <p:nvPr/>
        </p:nvSpPr>
        <p:spPr>
          <a:xfrm>
            <a:off x="276225" y="4525508"/>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11233"/>
            <a:ext cx="116395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Manufacturer-level pricing ex-works / producer price benchmarked for each geography.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Distribution &amp; channel pricing logistics and channel margin layered onto the producer price.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Retail / end-market pricing the average price paid by the end customer across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Value-chain margin build-up cumulative margin from manufacturer to retail, by geography (prices derived as Value ÷ Volume).</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Latin America Pricing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price range by country and sub-segment against the weighted average price of each country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Development-stage price assumptions and manufacturer benchmarking price range by product type type and region (US$/MT).</a:t>
            </a:r>
          </a:p>
        </p:txBody>
      </p:sp>
      <p:sp>
        <p:nvSpPr>
          <p:cNvPr id="11" name="Rounded Rectangle 10"/>
          <p:cNvSpPr/>
          <p:nvPr/>
        </p:nvSpPr>
        <p:spPr>
          <a:xfrm>
            <a:off x="142875" y="1314450"/>
            <a:ext cx="11906250" cy="2552700"/>
          </a:xfrm>
          <a:prstGeom prst="roundRect">
            <a:avLst>
              <a:gd name="adj" fmla="val 29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16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Benchmarking by Region &amp; Product Type (US$/MT)</a:t>
            </a:r>
          </a:p>
        </p:txBody>
      </p:sp>
      <p:graphicFrame>
        <p:nvGraphicFramePr>
          <p:cNvPr id="13" name="Table 12"/>
          <p:cNvGraphicFramePr>
            <a:graphicFrameLocks noGrp="1"/>
          </p:cNvGraphicFramePr>
          <p:nvPr/>
        </p:nvGraphicFramePr>
        <p:xfrm>
          <a:off x="152400" y="1571625"/>
          <a:ext cx="11887202" cy="2085977"/>
        </p:xfrm>
        <a:graphic>
          <a:graphicData uri="http://schemas.openxmlformats.org/drawingml/2006/table">
            <a:tbl>
              <a:tblPr>
                <a:tableStyleId>{5C22544A-7EE6-4342-B048-85BDC9FD1C3A}</a:tableStyleId>
              </a:tblPr>
              <a:tblGrid>
                <a:gridCol w="1721207"/>
                <a:gridCol w="2033199"/>
                <a:gridCol w="2033199"/>
                <a:gridCol w="2033199"/>
                <a:gridCol w="2033199"/>
                <a:gridCol w="2033199"/>
              </a:tblGrid>
              <a:tr h="215265">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Rollstock Films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Barrier Casings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Premade Pouches &amp; Bags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Sachets &amp; Stick Packs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Weighted Avg</a:t>
                      </a:r>
                      <a:endParaRPr sz="1100"/>
                    </a:p>
                  </a:txBody>
                  <a:tcPr marL="47625" marR="38100" marT="19050" marB="19050" anchor="ctr">
                    <a:solidFill>
                      <a:srgbClr val="E0E8EF"/>
                    </a:solidFill>
                  </a:tcPr>
                </a:tc>
              </a:tr>
              <a:tr h="467678">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3,025.25–3,086.36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4,359.17–4,447.23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2,773.66–2,829.69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2,598.12–2,650.61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3,050.54</a:t>
                      </a:r>
                      <a:endParaRPr sz="1100"/>
                    </a:p>
                  </a:txBody>
                  <a:tcPr marL="47625" marR="38100" marT="19050" marB="19050" anchor="ctr">
                    <a:solidFill>
                      <a:srgbClr val="FFFFFF"/>
                    </a:solidFill>
                  </a:tcPr>
                </a:tc>
              </a:tr>
              <a:tr h="467678">
                <a:tc>
                  <a:txBody>
                    <a:bodyPr wrap="none"/>
                    <a:lstStyle/>
                    <a:p>
                      <a:pPr algn="l"/>
                      <a:r>
                        <a:rPr sz="1100" b="1">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2,738.00–2,793.31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3,958.44–4,038.41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2,525.33–2,576.34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2,374.18–2,422.14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2,763.18</a:t>
                      </a:r>
                      <a:endParaRPr sz="1100"/>
                    </a:p>
                  </a:txBody>
                  <a:tcPr marL="47625" marR="38100" marT="19050" marB="19050" anchor="ctr">
                    <a:solidFill>
                      <a:srgbClr val="F5F8FA"/>
                    </a:solidFill>
                  </a:tcPr>
                </a:tc>
              </a:tr>
              <a:tr h="467678">
                <a:tc>
                  <a:txBody>
                    <a:bodyPr wrap="none"/>
                    <a:lstStyle/>
                    <a:p>
                      <a:pPr algn="l"/>
                      <a:r>
                        <a:rPr sz="1100" b="1">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2,963.00–3,022.86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4,243.12–4,328.83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2,715.96–2,770.82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2,541.76–2,593.11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2,979.30</a:t>
                      </a:r>
                      <a:endParaRPr sz="1100"/>
                    </a:p>
                  </a:txBody>
                  <a:tcPr marL="47625" marR="38100" marT="19050" marB="19050" anchor="ctr">
                    <a:solidFill>
                      <a:srgbClr val="FFFFFF"/>
                    </a:solidFill>
                  </a:tcPr>
                </a:tc>
              </a:tr>
              <a:tr h="467678">
                <a:tc>
                  <a:txBody>
                    <a:bodyPr wrap="none"/>
                    <a:lstStyle/>
                    <a:p>
                      <a:pPr algn="l"/>
                      <a:r>
                        <a:rPr sz="1100" b="1">
                          <a:solidFill>
                            <a:srgbClr val="2E2E2E"/>
                          </a:solidFill>
                          <a:latin typeface="Calibri"/>
                        </a:rPr>
                        <a:t>Rest of 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2,976.28–3,036.41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4,241.63–4,327.32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2,725.76–2,780.82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2,540.84–2,592.17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2,999.86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667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010025"/>
            <a:ext cx="11906250" cy="2533650"/>
          </a:xfrm>
          <a:prstGeom prst="roundRect">
            <a:avLst>
              <a:gd name="adj" fmla="val 300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095750"/>
            <a:ext cx="11639550" cy="209550"/>
          </a:xfrm>
          <a:prstGeom prst="rect">
            <a:avLst/>
          </a:prstGeom>
          <a:noFill/>
        </p:spPr>
        <p:txBody>
          <a:bodyPr wrap="square" lIns="0" rIns="19050" tIns="9525" bIns="9525">
            <a:spAutoFit/>
          </a:bodyPr>
          <a:lstStyle/>
          <a:p>
            <a:pPr algn="l"/>
            <a:r>
              <a:rPr sz="1300" b="1">
                <a:solidFill>
                  <a:srgbClr val="0B2E4A"/>
                </a:solidFill>
                <a:latin typeface="Calibri"/>
              </a:rPr>
              <a:t>Benchmarking Insights</a:t>
            </a:r>
          </a:p>
        </p:txBody>
      </p:sp>
      <p:sp>
        <p:nvSpPr>
          <p:cNvPr id="17" name="Rectangle 16"/>
          <p:cNvSpPr/>
          <p:nvPr/>
        </p:nvSpPr>
        <p:spPr>
          <a:xfrm>
            <a:off x="276225" y="43338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419600"/>
            <a:ext cx="11639550" cy="2047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On a weighted-average basis 'Brazil' is the highest-priced region (~3,050.54 US$/MT) and 'Mexico' the most competitive (~2,763.18 US$/MT).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Price ranges are benchmarked per product type type at 2026, derived as Value ÷ Volume with a ±1% observed trading band.</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Cross-region price dispersion of ~1.10× reflects differences in mix, logistics and channel structure.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Benchmarks support price-corridor setting and margin-defence decisions across geographies.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Price Forecast &amp; Dynamics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forecast by sub-segment, 2026–2036, with the factors and dynamics shaping the trajectory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Forward price trajectory to 2036 by product type type and the structural factors shaping it (US$/MT).</a:t>
            </a:r>
          </a:p>
        </p:txBody>
      </p:sp>
      <p:sp>
        <p:nvSpPr>
          <p:cNvPr id="11" name="Rounded Rectangle 10"/>
          <p:cNvSpPr/>
          <p:nvPr/>
        </p:nvSpPr>
        <p:spPr>
          <a:xfrm>
            <a:off x="142875" y="1317574"/>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Forecast to 2036 by Product Type (US$/MT)</a:t>
            </a:r>
          </a:p>
        </p:txBody>
      </p:sp>
      <p:graphicFrame>
        <p:nvGraphicFramePr>
          <p:cNvPr id="13" name="Table 12"/>
          <p:cNvGraphicFramePr>
            <a:graphicFrameLocks noGrp="1"/>
          </p:cNvGraphicFramePr>
          <p:nvPr/>
        </p:nvGraphicFramePr>
        <p:xfrm>
          <a:off x="152400" y="1574749"/>
          <a:ext cx="11887200" cy="1504673"/>
        </p:xfrm>
        <a:graphic>
          <a:graphicData uri="http://schemas.openxmlformats.org/drawingml/2006/table">
            <a:tbl>
              <a:tblPr>
                <a:tableStyleId>{5C22544A-7EE6-4342-B048-85BDC9FD1C3A}</a:tableStyleId>
              </a:tblPr>
              <a:tblGrid>
                <a:gridCol w="3622896"/>
                <a:gridCol w="1377384"/>
                <a:gridCol w="1377384"/>
                <a:gridCol w="1377384"/>
                <a:gridCol w="1377384"/>
                <a:gridCol w="1377384"/>
                <a:gridCol w="1377384"/>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322352">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3,495.65</a:t>
                      </a:r>
                      <a:endParaRPr sz="1100"/>
                    </a:p>
                  </a:txBody>
                  <a:tcPr marL="47625" marR="38100" marT="19050" marB="19050" anchor="ctr">
                    <a:solidFill>
                      <a:srgbClr val="FFFFFF"/>
                    </a:solidFill>
                  </a:tcPr>
                </a:tc>
              </a:tr>
              <a:tr h="322352">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5,078.83</a:t>
                      </a:r>
                      <a:endParaRPr sz="1100"/>
                    </a:p>
                  </a:txBody>
                  <a:tcPr marL="47625" marR="38100" marT="19050" marB="19050" anchor="ctr">
                    <a:solidFill>
                      <a:srgbClr val="F5F8FA"/>
                    </a:solidFill>
                  </a:tcPr>
                </a:tc>
              </a:tr>
              <a:tr h="322352">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3,248.16</a:t>
                      </a:r>
                      <a:endParaRPr sz="1100"/>
                    </a:p>
                  </a:txBody>
                  <a:tcPr marL="47625" marR="38100" marT="19050" marB="19050" anchor="ctr">
                    <a:solidFill>
                      <a:srgbClr val="FFFFFF"/>
                    </a:solidFill>
                  </a:tcPr>
                </a:tc>
              </a:tr>
              <a:tr h="322352">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3,014.94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88948"/>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Factors Impacting Pricing</a:t>
            </a:r>
          </a:p>
        </p:txBody>
      </p:sp>
      <p:graphicFrame>
        <p:nvGraphicFramePr>
          <p:cNvPr id="17" name="Table 16"/>
          <p:cNvGraphicFramePr>
            <a:graphicFrameLocks noGrp="1"/>
          </p:cNvGraphicFramePr>
          <p:nvPr/>
        </p:nvGraphicFramePr>
        <p:xfrm>
          <a:off x="152400" y="3655670"/>
          <a:ext cx="5886449" cy="2691165"/>
        </p:xfrm>
        <a:graphic>
          <a:graphicData uri="http://schemas.openxmlformats.org/drawingml/2006/table">
            <a:tbl>
              <a:tblPr>
                <a:tableStyleId>{5C22544A-7EE6-4342-B048-85BDC9FD1C3A}</a:tableStyleId>
              </a:tblPr>
              <a:tblGrid>
                <a:gridCol w="2867491"/>
                <a:gridCol w="1509479"/>
                <a:gridCol w="1509479"/>
              </a:tblGrid>
              <a:tr h="215265">
                <a:tc>
                  <a:txBody>
                    <a:bodyPr wrap="none"/>
                    <a:lstStyle/>
                    <a:p>
                      <a:pPr algn="l"/>
                      <a:r>
                        <a:rPr sz="1100" b="1">
                          <a:solidFill>
                            <a:srgbClr val="0B2E4A"/>
                          </a:solidFill>
                          <a:latin typeface="Calibri"/>
                        </a:rPr>
                        <a:t>Pricing 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Impact (H/M/L)</a:t>
                      </a:r>
                      <a:endParaRPr sz="1100"/>
                    </a:p>
                  </a:txBody>
                  <a:tcPr marL="47625" marR="38100" marT="19050" marB="19050" anchor="ctr">
                    <a:solidFill>
                      <a:srgbClr val="E0E8EF"/>
                    </a:solidFill>
                  </a:tcPr>
                </a:tc>
              </a:tr>
              <a:tr h="24759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56360"/>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3398495"/>
            <a:ext cx="584835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34125" y="3484220"/>
            <a:ext cx="5581650" cy="209550"/>
          </a:xfrm>
          <a:prstGeom prst="rect">
            <a:avLst/>
          </a:prstGeom>
          <a:noFill/>
        </p:spPr>
        <p:txBody>
          <a:bodyPr wrap="square" lIns="0" rIns="19050" tIns="9525" bIns="9525">
            <a:spAutoFit/>
          </a:bodyPr>
          <a:lstStyle/>
          <a:p>
            <a:pPr algn="l"/>
            <a:r>
              <a:rPr sz="1300" b="1">
                <a:solidFill>
                  <a:srgbClr val="0B2E4A"/>
                </a:solidFill>
                <a:latin typeface="Calibri"/>
              </a:rPr>
              <a:t>Pricing Dynamics &amp; Outlook</a:t>
            </a:r>
          </a:p>
        </p:txBody>
      </p:sp>
      <p:sp>
        <p:nvSpPr>
          <p:cNvPr id="21" name="Rectangle 20"/>
          <p:cNvSpPr/>
          <p:nvPr/>
        </p:nvSpPr>
        <p:spPr>
          <a:xfrm>
            <a:off x="6334125" y="3722345"/>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34125" y="3808070"/>
            <a:ext cx="5581650" cy="267211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Average product type price is projected to rise from ~3,280.75 to ~3,709.40 US$/MT by 2036 a +1.2%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'Premade Pouches &amp; Bags' shows the strongest forecast price appreciation (+13.8%) over the horizon.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Upward pressure is led by input cost and demand &amp; market conditions; efficiency and competitive intensity work the other way.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Net outlook: modest, structural price appreciation mix and geography will determine realised pricing.</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5.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Supply Chain Analysis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Supply Chain Analysis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5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Supply Chain Analysis</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Chain &amp; Stakeholder Mapping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Operating Margin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Buyers Assessment</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Value Chain &amp; Stakeholder Mapping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Mapping of the value chain stages, the stakeholders at each stage and the value added along the chain</a:t>
            </a:r>
          </a:p>
        </p:txBody>
      </p:sp>
      <p:sp>
        <p:nvSpPr>
          <p:cNvPr id="10" name="TextBox 9"/>
          <p:cNvSpPr txBox="1"/>
          <p:nvPr/>
        </p:nvSpPr>
        <p:spPr>
          <a:xfrm>
            <a:off x="285750" y="970754"/>
            <a:ext cx="10668000" cy="164283"/>
          </a:xfrm>
          <a:prstGeom prst="rect">
            <a:avLst/>
          </a:prstGeom>
          <a:noFill/>
        </p:spPr>
        <p:txBody>
          <a:bodyPr wrap="square" lIns="0" rIns="19050" tIns="0" bIns="0">
            <a:spAutoFit/>
          </a:bodyPr>
          <a:lstStyle/>
          <a:p>
            <a:pPr algn="l"/>
            <a:r>
              <a:rPr sz="1100" b="0">
                <a:solidFill>
                  <a:srgbClr val="6C7A89"/>
                </a:solidFill>
                <a:latin typeface="Calibri"/>
              </a:rPr>
              <a:t>End-to-end value chain with the key stakeholders at each stage and their indicative contribution to value addition.</a:t>
            </a:r>
          </a:p>
        </p:txBody>
      </p:sp>
      <p:sp>
        <p:nvSpPr>
          <p:cNvPr id="11" name="Right Arrow 10"/>
          <p:cNvSpPr/>
          <p:nvPr/>
        </p:nvSpPr>
        <p:spPr>
          <a:xfrm>
            <a:off x="1885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ight Arrow 11"/>
          <p:cNvSpPr/>
          <p:nvPr/>
        </p:nvSpPr>
        <p:spPr>
          <a:xfrm>
            <a:off x="4171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ight Arrow 12"/>
          <p:cNvSpPr/>
          <p:nvPr/>
        </p:nvSpPr>
        <p:spPr>
          <a:xfrm>
            <a:off x="6457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ight Arrow 13"/>
          <p:cNvSpPr/>
          <p:nvPr/>
        </p:nvSpPr>
        <p:spPr>
          <a:xfrm>
            <a:off x="8743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19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Raw Material</a:t>
            </a:r>
          </a:p>
          <a:p>
            <a:pPr algn="ctr">
              <a:lnSpc>
                <a:spcPct val="100000"/>
              </a:lnSpc>
            </a:pPr>
            <a:r>
              <a:rPr sz="1100" b="1">
                <a:solidFill>
                  <a:srgbClr val="0B2E4A"/>
                </a:solidFill>
                <a:latin typeface="Calibri"/>
              </a:rPr>
              <a:t>Suppliers</a:t>
            </a:r>
          </a:p>
        </p:txBody>
      </p:sp>
      <p:sp>
        <p:nvSpPr>
          <p:cNvPr id="16" name="Oval 15"/>
          <p:cNvSpPr/>
          <p:nvPr/>
        </p:nvSpPr>
        <p:spPr>
          <a:xfrm>
            <a:off x="1076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1123950" y="1719155"/>
            <a:ext cx="800100" cy="766655"/>
          </a:xfrm>
          <a:prstGeom prst="ellipse">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1509712" y="2084229"/>
            <a:ext cx="28575" cy="1551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rot="19500000">
            <a:off x="1381125"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rot="2100000">
            <a:off x="1524000"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000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5–10%</a:t>
            </a:r>
          </a:p>
        </p:txBody>
      </p:sp>
      <p:sp>
        <p:nvSpPr>
          <p:cNvPr id="22" name="Rounded Rectangle 21"/>
          <p:cNvSpPr/>
          <p:nvPr/>
        </p:nvSpPr>
        <p:spPr>
          <a:xfrm>
            <a:off x="457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Rectangle 22"/>
          <p:cNvSpPr/>
          <p:nvPr/>
        </p:nvSpPr>
        <p:spPr>
          <a:xfrm>
            <a:off x="457200" y="2905646"/>
            <a:ext cx="2133600" cy="4563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542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Raw Material Suppliers</a:t>
            </a:r>
          </a:p>
        </p:txBody>
      </p:sp>
      <p:sp>
        <p:nvSpPr>
          <p:cNvPr id="25" name="TextBox 24"/>
          <p:cNvSpPr txBox="1"/>
          <p:nvPr/>
        </p:nvSpPr>
        <p:spPr>
          <a:xfrm>
            <a:off x="542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26" name="TextBox 25"/>
          <p:cNvSpPr txBox="1"/>
          <p:nvPr/>
        </p:nvSpPr>
        <p:spPr>
          <a:xfrm>
            <a:off x="542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Growers and primary producers supply core inputs; some forward-integrate into small-scale processing.</a:t>
            </a:r>
          </a:p>
        </p:txBody>
      </p:sp>
      <p:sp>
        <p:nvSpPr>
          <p:cNvPr id="27" name="TextBox 26"/>
          <p:cNvSpPr txBox="1"/>
          <p:nvPr/>
        </p:nvSpPr>
        <p:spPr>
          <a:xfrm>
            <a:off x="2705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Manufacturers</a:t>
            </a:r>
          </a:p>
        </p:txBody>
      </p:sp>
      <p:sp>
        <p:nvSpPr>
          <p:cNvPr id="28" name="Oval 27"/>
          <p:cNvSpPr/>
          <p:nvPr/>
        </p:nvSpPr>
        <p:spPr>
          <a:xfrm>
            <a:off x="3362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3409950" y="1719155"/>
            <a:ext cx="800100" cy="766655"/>
          </a:xfrm>
          <a:prstGeom prst="ellipse">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638550" y="2084229"/>
            <a:ext cx="34290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667125" y="1983834"/>
            <a:ext cx="66675" cy="109522"/>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3771900" y="2020341"/>
            <a:ext cx="66675" cy="7301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3876675" y="1992961"/>
            <a:ext cx="66675" cy="10039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ounded Rectangle 33"/>
          <p:cNvSpPr/>
          <p:nvPr/>
        </p:nvSpPr>
        <p:spPr>
          <a:xfrm>
            <a:off x="3286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20–40%</a:t>
            </a:r>
          </a:p>
        </p:txBody>
      </p:sp>
      <p:sp>
        <p:nvSpPr>
          <p:cNvPr id="35" name="Rounded Rectangle 34"/>
          <p:cNvSpPr/>
          <p:nvPr/>
        </p:nvSpPr>
        <p:spPr>
          <a:xfrm>
            <a:off x="2743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2743200" y="2905646"/>
            <a:ext cx="2133600" cy="4563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28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Manufacturers / Processors</a:t>
            </a:r>
          </a:p>
        </p:txBody>
      </p:sp>
      <p:sp>
        <p:nvSpPr>
          <p:cNvPr id="38" name="TextBox 37"/>
          <p:cNvSpPr txBox="1"/>
          <p:nvPr/>
        </p:nvSpPr>
        <p:spPr>
          <a:xfrm>
            <a:off x="2828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39" name="TextBox 38"/>
          <p:cNvSpPr txBox="1"/>
          <p:nvPr/>
        </p:nvSpPr>
        <p:spPr>
          <a:xfrm>
            <a:off x="2828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Convert inputs into finished and semi-finished product the single largest value-addition stage.</a:t>
            </a:r>
          </a:p>
        </p:txBody>
      </p:sp>
      <p:sp>
        <p:nvSpPr>
          <p:cNvPr id="40" name="TextBox 39"/>
          <p:cNvSpPr txBox="1"/>
          <p:nvPr/>
        </p:nvSpPr>
        <p:spPr>
          <a:xfrm>
            <a:off x="4991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Distributors</a:t>
            </a:r>
          </a:p>
        </p:txBody>
      </p:sp>
      <p:sp>
        <p:nvSpPr>
          <p:cNvPr id="41" name="Oval 40"/>
          <p:cNvSpPr/>
          <p:nvPr/>
        </p:nvSpPr>
        <p:spPr>
          <a:xfrm>
            <a:off x="5648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5695950" y="1719155"/>
            <a:ext cx="800100" cy="766655"/>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5915025" y="2002088"/>
            <a:ext cx="20955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6134100" y="2075102"/>
            <a:ext cx="123825" cy="912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5972175"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6153150"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ounded Rectangle 46"/>
          <p:cNvSpPr/>
          <p:nvPr/>
        </p:nvSpPr>
        <p:spPr>
          <a:xfrm>
            <a:off x="5572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5–25%</a:t>
            </a:r>
          </a:p>
        </p:txBody>
      </p:sp>
      <p:sp>
        <p:nvSpPr>
          <p:cNvPr id="48" name="Rounded Rectangle 47"/>
          <p:cNvSpPr/>
          <p:nvPr/>
        </p:nvSpPr>
        <p:spPr>
          <a:xfrm>
            <a:off x="5029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29200" y="2905646"/>
            <a:ext cx="2133600" cy="4563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5114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Distributors &amp; Wholesalers</a:t>
            </a:r>
          </a:p>
        </p:txBody>
      </p:sp>
      <p:sp>
        <p:nvSpPr>
          <p:cNvPr id="51" name="TextBox 50"/>
          <p:cNvSpPr txBox="1"/>
          <p:nvPr/>
        </p:nvSpPr>
        <p:spPr>
          <a:xfrm>
            <a:off x="5114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52" name="TextBox 51"/>
          <p:cNvSpPr txBox="1"/>
          <p:nvPr/>
        </p:nvSpPr>
        <p:spPr>
          <a:xfrm>
            <a:off x="5114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Move product to market, hold inventory and provide logistics, reach and credit to downstream channels.</a:t>
            </a:r>
          </a:p>
        </p:txBody>
      </p:sp>
      <p:sp>
        <p:nvSpPr>
          <p:cNvPr id="53" name="TextBox 52"/>
          <p:cNvSpPr txBox="1"/>
          <p:nvPr/>
        </p:nvSpPr>
        <p:spPr>
          <a:xfrm>
            <a:off x="7277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Retailers</a:t>
            </a:r>
          </a:p>
        </p:txBody>
      </p:sp>
      <p:sp>
        <p:nvSpPr>
          <p:cNvPr id="54" name="Oval 53"/>
          <p:cNvSpPr/>
          <p:nvPr/>
        </p:nvSpPr>
        <p:spPr>
          <a:xfrm>
            <a:off x="7934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7981950" y="1719155"/>
            <a:ext cx="800100" cy="766655"/>
          </a:xfrm>
          <a:prstGeom prst="ellipse">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Isosceles Triangle 55"/>
          <p:cNvSpPr/>
          <p:nvPr/>
        </p:nvSpPr>
        <p:spPr>
          <a:xfrm>
            <a:off x="8201025" y="1965580"/>
            <a:ext cx="361950" cy="109522"/>
          </a:xfrm>
          <a:prstGeom prst="triangl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8239125" y="2065976"/>
            <a:ext cx="285750" cy="182537"/>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8343900" y="2138990"/>
            <a:ext cx="76200" cy="109522"/>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ounded Rectangle 58"/>
          <p:cNvSpPr/>
          <p:nvPr/>
        </p:nvSpPr>
        <p:spPr>
          <a:xfrm>
            <a:off x="7858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10–35%</a:t>
            </a:r>
          </a:p>
        </p:txBody>
      </p:sp>
      <p:sp>
        <p:nvSpPr>
          <p:cNvPr id="60" name="Rounded Rectangle 59"/>
          <p:cNvSpPr/>
          <p:nvPr/>
        </p:nvSpPr>
        <p:spPr>
          <a:xfrm>
            <a:off x="7315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7315200" y="2905646"/>
            <a:ext cx="2133600" cy="4563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400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Retailers &amp; Channels</a:t>
            </a:r>
          </a:p>
        </p:txBody>
      </p:sp>
      <p:sp>
        <p:nvSpPr>
          <p:cNvPr id="63" name="TextBox 62"/>
          <p:cNvSpPr txBox="1"/>
          <p:nvPr/>
        </p:nvSpPr>
        <p:spPr>
          <a:xfrm>
            <a:off x="7400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64" name="TextBox 63"/>
          <p:cNvSpPr txBox="1"/>
          <p:nvPr/>
        </p:nvSpPr>
        <p:spPr>
          <a:xfrm>
            <a:off x="7400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Sell to end customers across offline and online channels, capturing point-of-sale margin and brand visibility.</a:t>
            </a:r>
          </a:p>
        </p:txBody>
      </p:sp>
      <p:sp>
        <p:nvSpPr>
          <p:cNvPr id="65" name="TextBox 64"/>
          <p:cNvSpPr txBox="1"/>
          <p:nvPr/>
        </p:nvSpPr>
        <p:spPr>
          <a:xfrm>
            <a:off x="9563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End Users</a:t>
            </a:r>
          </a:p>
        </p:txBody>
      </p:sp>
      <p:sp>
        <p:nvSpPr>
          <p:cNvPr id="66" name="Oval 65"/>
          <p:cNvSpPr/>
          <p:nvPr/>
        </p:nvSpPr>
        <p:spPr>
          <a:xfrm>
            <a:off x="10220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10267950" y="1719155"/>
            <a:ext cx="800100" cy="766655"/>
          </a:xfrm>
          <a:prstGeom prst="ellipse">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10601325" y="1956453"/>
            <a:ext cx="133350" cy="127776"/>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10544175" y="2111610"/>
            <a:ext cx="247650" cy="127776"/>
          </a:xfrm>
          <a:custGeom>
            <a:avLst/>
            <a:gdLst/>
            <a:ahLst/>
            <a:cxnLst/>
            <a:rect l="l" t="t" r="r" b="b"/>
            <a:pathLst>
              <a:path w="26" h="14">
                <a:moveTo>
                  <a:pt x="0" y="14"/>
                </a:moveTo>
                <a:lnTo>
                  <a:pt x="4" y="0"/>
                </a:lnTo>
                <a:lnTo>
                  <a:pt x="22" y="0"/>
                </a:lnTo>
                <a:lnTo>
                  <a:pt x="26" y="14"/>
                </a:lnTo>
                <a:close/>
              </a:path>
            </a:pathLst>
          </a:cu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ounded Rectangle 69"/>
          <p:cNvSpPr/>
          <p:nvPr/>
        </p:nvSpPr>
        <p:spPr>
          <a:xfrm>
            <a:off x="10144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10–20%</a:t>
            </a:r>
          </a:p>
        </p:txBody>
      </p:sp>
      <p:sp>
        <p:nvSpPr>
          <p:cNvPr id="71" name="Rounded Rectangle 70"/>
          <p:cNvSpPr/>
          <p:nvPr/>
        </p:nvSpPr>
        <p:spPr>
          <a:xfrm>
            <a:off x="9601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01200" y="2905646"/>
            <a:ext cx="2133600" cy="4563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9686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End Users</a:t>
            </a:r>
          </a:p>
        </p:txBody>
      </p:sp>
      <p:sp>
        <p:nvSpPr>
          <p:cNvPr id="74" name="TextBox 73"/>
          <p:cNvSpPr txBox="1"/>
          <p:nvPr/>
        </p:nvSpPr>
        <p:spPr>
          <a:xfrm>
            <a:off x="9686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75" name="TextBox 74"/>
          <p:cNvSpPr txBox="1"/>
          <p:nvPr/>
        </p:nvSpPr>
        <p:spPr>
          <a:xfrm>
            <a:off x="9686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Consumers and downstream industries; large end users sometimes backward-integrate to secure supply and cost.</a:t>
            </a:r>
          </a:p>
        </p:txBody>
      </p:sp>
      <p:sp>
        <p:nvSpPr>
          <p:cNvPr id="76" name="Rounded Rectangle 75"/>
          <p:cNvSpPr/>
          <p:nvPr/>
        </p:nvSpPr>
        <p:spPr>
          <a:xfrm>
            <a:off x="381000" y="5315134"/>
            <a:ext cx="11430000" cy="1204744"/>
          </a:xfrm>
          <a:prstGeom prst="roundRect">
            <a:avLst>
              <a:gd name="adj" fmla="val 60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514350" y="5397275"/>
            <a:ext cx="11163300" cy="200791"/>
          </a:xfrm>
          <a:prstGeom prst="rect">
            <a:avLst/>
          </a:prstGeom>
          <a:noFill/>
        </p:spPr>
        <p:txBody>
          <a:bodyPr wrap="square" lIns="0" rIns="19050" tIns="9525" bIns="9525">
            <a:spAutoFit/>
          </a:bodyPr>
          <a:lstStyle/>
          <a:p>
            <a:pPr algn="l"/>
            <a:r>
              <a:rPr sz="1300" b="1">
                <a:solidFill>
                  <a:srgbClr val="0B2E4A"/>
                </a:solidFill>
                <a:latin typeface="Calibri"/>
              </a:rPr>
              <a:t>Value-Added Read-out</a:t>
            </a:r>
          </a:p>
        </p:txBody>
      </p:sp>
      <p:sp>
        <p:nvSpPr>
          <p:cNvPr id="78" name="Rectangle 77"/>
          <p:cNvSpPr/>
          <p:nvPr/>
        </p:nvSpPr>
        <p:spPr>
          <a:xfrm>
            <a:off x="514350" y="5625447"/>
            <a:ext cx="111633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514350" y="5707588"/>
            <a:ext cx="11163300" cy="73927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Flexible Plastic Packaging Market value chain runs from raw-material suppliers through manufacturers, distributors and retailers to end users.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'Manufacturers / Processors' captures the largest value addition (20–40%), reflecting processing and scale advantages.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Forward and backward integration is common some suppliers process, and some large end users produce their own input.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Percentages show each stage's indicative share of value added along the chain.</a:t>
            </a:r>
          </a:p>
        </p:txBody>
      </p:sp>
      <p:sp>
        <p:nvSpPr>
          <p:cNvPr id="80" name="TextBox 7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Industry-Wide Operating Margin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Operating margin by region and value chain node, highlighting where value concentrates along the chain</a:t>
            </a:r>
          </a:p>
        </p:txBody>
      </p:sp>
      <p:sp>
        <p:nvSpPr>
          <p:cNvPr id="10" name="Rounded Rectangle 9"/>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Flexible Plastic Packaging Market Operating Margin by Region &amp; Node</a:t>
            </a:r>
          </a:p>
        </p:txBody>
      </p:sp>
      <p:graphicFrame>
        <p:nvGraphicFramePr>
          <p:cNvPr id="12" name="Table 11"/>
          <p:cNvGraphicFramePr>
            <a:graphicFrameLocks noGrp="1"/>
          </p:cNvGraphicFramePr>
          <p:nvPr/>
        </p:nvGraphicFramePr>
        <p:xfrm>
          <a:off x="152400" y="1238250"/>
          <a:ext cx="11887202" cy="2800353"/>
        </p:xfrm>
        <a:graphic>
          <a:graphicData uri="http://schemas.openxmlformats.org/drawingml/2006/table">
            <a:tbl>
              <a:tblPr>
                <a:tableStyleId>{5C22544A-7EE6-4342-B048-85BDC9FD1C3A}</a:tableStyleId>
              </a:tblPr>
              <a:tblGrid>
                <a:gridCol w="1208402"/>
                <a:gridCol w="2669700"/>
                <a:gridCol w="2669700"/>
                <a:gridCol w="2669700"/>
                <a:gridCol w="2669700"/>
              </a:tblGrid>
              <a:tr h="215265">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Node of Supply Chain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Operating Margin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Comparison to Parent Market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Notes</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+1,722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381500"/>
            <a:ext cx="11906250" cy="2247900"/>
          </a:xfrm>
          <a:prstGeom prst="roundRect">
            <a:avLst>
              <a:gd name="adj" fmla="val 338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467225"/>
            <a:ext cx="11639550" cy="209550"/>
          </a:xfrm>
          <a:prstGeom prst="rect">
            <a:avLst/>
          </a:prstGeom>
          <a:noFill/>
        </p:spPr>
        <p:txBody>
          <a:bodyPr wrap="square" lIns="0" rIns="19050" tIns="9525" bIns="9525">
            <a:spAutoFit/>
          </a:bodyPr>
          <a:lstStyle/>
          <a:p>
            <a:pPr algn="l"/>
            <a:r>
              <a:rPr sz="1300" b="1">
                <a:solidFill>
                  <a:srgbClr val="0B2E4A"/>
                </a:solidFill>
                <a:latin typeface="Calibri"/>
              </a:rPr>
              <a:t>How to Read This</a:t>
            </a:r>
          </a:p>
        </p:txBody>
      </p:sp>
      <p:sp>
        <p:nvSpPr>
          <p:cNvPr id="16" name="Rectangle 15"/>
          <p:cNvSpPr/>
          <p:nvPr/>
        </p:nvSpPr>
        <p:spPr>
          <a:xfrm>
            <a:off x="276225" y="4705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791075"/>
            <a:ext cx="11639550" cy="17621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Node of Supply Chain: each major stage, from raw-material suppliers through to retailers.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Operating Margin: the indicative margin earned at each node, by region.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Comparison to Parent Market: margin versus the parent / associated market (e.g. the broader food or pharmaceutical value chain).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Margins are broken down by both region and node to surface where value concentrates along the chain.</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Buyers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Assessment of buyers and end users by volume, average price and revenue, highlighting purchasing power</a:t>
            </a:r>
          </a:p>
        </p:txBody>
      </p:sp>
      <p:sp>
        <p:nvSpPr>
          <p:cNvPr id="10" name="Rounded Rectangle 9"/>
          <p:cNvSpPr/>
          <p:nvPr/>
        </p:nvSpPr>
        <p:spPr>
          <a:xfrm>
            <a:off x="142875" y="981075"/>
            <a:ext cx="11906250" cy="2838450"/>
          </a:xfrm>
          <a:prstGeom prst="roundRect">
            <a:avLst>
              <a:gd name="adj" fmla="val 268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Flexible Plastic Packaging Market Buyers / End-User Assessment</a:t>
            </a:r>
          </a:p>
        </p:txBody>
      </p:sp>
      <p:graphicFrame>
        <p:nvGraphicFramePr>
          <p:cNvPr id="12" name="Table 11"/>
          <p:cNvGraphicFramePr>
            <a:graphicFrameLocks noGrp="1"/>
          </p:cNvGraphicFramePr>
          <p:nvPr/>
        </p:nvGraphicFramePr>
        <p:xfrm>
          <a:off x="152400" y="1238250"/>
          <a:ext cx="11887200" cy="2371725"/>
        </p:xfrm>
        <a:graphic>
          <a:graphicData uri="http://schemas.openxmlformats.org/drawingml/2006/table">
            <a:tbl>
              <a:tblPr>
                <a:tableStyleId>{5C22544A-7EE6-4342-B048-85BDC9FD1C3A}</a:tableStyleId>
              </a:tblPr>
              <a:tblGrid>
                <a:gridCol w="938673"/>
                <a:gridCol w="1486675"/>
                <a:gridCol w="1065550"/>
                <a:gridCol w="1130339"/>
                <a:gridCol w="1605454"/>
                <a:gridCol w="1397591"/>
                <a:gridCol w="1405647"/>
                <a:gridCol w="1351699"/>
                <a:gridCol w="1505572"/>
              </a:tblGrid>
              <a:tr h="215265">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 End-User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Procurement Vol.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Avg Price (US$/MT)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Revenue (US$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Key Selection Factor</a:t>
                      </a:r>
                      <a:endParaRPr sz="1100"/>
                    </a:p>
                  </a:txBody>
                  <a:tcPr marL="47625" marR="38100" marT="19050" marB="19050" anchor="ctr">
                    <a:solidFill>
                      <a:srgbClr val="E0E8EF"/>
                    </a:solidFill>
                  </a:tcPr>
                </a:tc>
              </a:tr>
              <a:tr h="215646">
                <a:tc>
                  <a:txBody>
                    <a:bodyPr wrap="none"/>
                    <a:lstStyle/>
                    <a:p>
                      <a:pPr algn="l"/>
                      <a:r>
                        <a:rPr sz="1100" b="1">
                          <a:solidFill>
                            <a:srgbClr val="2E2E2E"/>
                          </a:solidFill>
                          <a:latin typeface="Calibri"/>
                        </a:rPr>
                        <a:t>Company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2,390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6,520,131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2,151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6,090,395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1,673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5,082,738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1,434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4,504,817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Rest of 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1,195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3,877,502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Germany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3,200,791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U.K.</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2,474,686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France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1,699,186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3619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952875"/>
            <a:ext cx="11906250" cy="2676525"/>
          </a:xfrm>
          <a:prstGeom prst="roundRect">
            <a:avLst>
              <a:gd name="adj" fmla="val 2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038600"/>
            <a:ext cx="11639550" cy="209550"/>
          </a:xfrm>
          <a:prstGeom prst="rect">
            <a:avLst/>
          </a:prstGeom>
          <a:noFill/>
        </p:spPr>
        <p:txBody>
          <a:bodyPr wrap="square" lIns="0" rIns="19050" tIns="9525" bIns="9525">
            <a:spAutoFit/>
          </a:bodyPr>
          <a:lstStyle/>
          <a:p>
            <a:pPr algn="l"/>
            <a:r>
              <a:rPr sz="1300" b="1">
                <a:solidFill>
                  <a:srgbClr val="0B2E4A"/>
                </a:solidFill>
                <a:latin typeface="Calibri"/>
              </a:rPr>
              <a:t>Notes</a:t>
            </a:r>
          </a:p>
        </p:txBody>
      </p:sp>
      <p:sp>
        <p:nvSpPr>
          <p:cNvPr id="16" name="Rectangle 15"/>
          <p:cNvSpPr/>
          <p:nvPr/>
        </p:nvSpPr>
        <p:spPr>
          <a:xfrm>
            <a:off x="276225" y="4276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362450"/>
            <a:ext cx="11639550" cy="2190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This is a representative subset the full assessment lists 20–30 active participants (with brands, specifications, procurement strategies and SWOT). Note: value-chain economics are indicative derived from market modelling and expert validation, not company disclosures.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0.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Market Dynamics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Dynamics &amp; Forces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6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Dynamics &amp; Forces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Restraints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Opportunities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Recent Developments &amp; Milestones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Five Forces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Flexible Plastic Packaging Market Dynamics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growth driver, restraint and opportunity shaping each country of the Latin America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180975" y="1025515"/>
            <a:ext cx="8572500" cy="219044"/>
          </a:xfrm>
          <a:prstGeom prst="rect">
            <a:avLst/>
          </a:prstGeom>
          <a:noFill/>
        </p:spPr>
        <p:txBody>
          <a:bodyPr wrap="square" lIns="28575" rIns="28575" tIns="9525" bIns="9525" anchor="ctr">
            <a:spAutoFit/>
          </a:bodyPr>
          <a:lstStyle/>
          <a:p>
            <a:pPr algn="l"/>
            <a:r>
              <a:rPr sz="1150" b="1">
                <a:solidFill>
                  <a:srgbClr val="2E2E2E"/>
                </a:solidFill>
                <a:latin typeface="Calibri"/>
              </a:rPr>
              <a:t>Demand Dynamics by Country  ·  ranked by 2036 value</a:t>
            </a:r>
          </a:p>
        </p:txBody>
      </p:sp>
      <p:sp>
        <p:nvSpPr>
          <p:cNvPr id="12" name="Rectangle 11"/>
          <p:cNvSpPr/>
          <p:nvPr/>
        </p:nvSpPr>
        <p:spPr>
          <a:xfrm>
            <a:off x="142875" y="1262813"/>
            <a:ext cx="11906250" cy="255552"/>
          </a:xfrm>
          <a:prstGeom prst="rect">
            <a:avLst/>
          </a:prstGeom>
          <a:solidFill>
            <a:srgbClr val="DCE6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00025" y="1262813"/>
            <a:ext cx="1428750" cy="255552"/>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TextBox 13"/>
          <p:cNvSpPr txBox="1"/>
          <p:nvPr/>
        </p:nvSpPr>
        <p:spPr>
          <a:xfrm>
            <a:off x="1724025" y="1262813"/>
            <a:ext cx="3714750" cy="255552"/>
          </a:xfrm>
          <a:prstGeom prst="rect">
            <a:avLst/>
          </a:prstGeom>
          <a:noFill/>
        </p:spPr>
        <p:txBody>
          <a:bodyPr wrap="square" lIns="28575" rIns="28575" tIns="9525" bIns="9525" anchor="ctr">
            <a:spAutoFit/>
          </a:bodyPr>
          <a:lstStyle/>
          <a:p>
            <a:pPr algn="l"/>
            <a:r>
              <a:rPr sz="1100" b="1">
                <a:solidFill>
                  <a:srgbClr val="0B2E4A"/>
                </a:solidFill>
                <a:latin typeface="Calibri"/>
              </a:rPr>
              <a:t>Growth Drivers</a:t>
            </a:r>
          </a:p>
        </p:txBody>
      </p:sp>
      <p:sp>
        <p:nvSpPr>
          <p:cNvPr id="15" name="TextBox 14"/>
          <p:cNvSpPr txBox="1"/>
          <p:nvPr/>
        </p:nvSpPr>
        <p:spPr>
          <a:xfrm>
            <a:off x="5534025" y="1262813"/>
            <a:ext cx="2762250" cy="255552"/>
          </a:xfrm>
          <a:prstGeom prst="rect">
            <a:avLst/>
          </a:prstGeom>
          <a:noFill/>
        </p:spPr>
        <p:txBody>
          <a:bodyPr wrap="square" lIns="28575" rIns="28575" tIns="9525" bIns="9525" anchor="ctr">
            <a:spAutoFit/>
          </a:bodyPr>
          <a:lstStyle/>
          <a:p>
            <a:pPr algn="l"/>
            <a:r>
              <a:rPr sz="1100" b="1">
                <a:solidFill>
                  <a:srgbClr val="0B2E4A"/>
                </a:solidFill>
                <a:latin typeface="Calibri"/>
              </a:rPr>
              <a:t>Restraints</a:t>
            </a:r>
          </a:p>
        </p:txBody>
      </p:sp>
      <p:sp>
        <p:nvSpPr>
          <p:cNvPr id="16" name="TextBox 15"/>
          <p:cNvSpPr txBox="1"/>
          <p:nvPr/>
        </p:nvSpPr>
        <p:spPr>
          <a:xfrm>
            <a:off x="8391525" y="1262813"/>
            <a:ext cx="3619500" cy="255552"/>
          </a:xfrm>
          <a:prstGeom prst="rect">
            <a:avLst/>
          </a:prstGeom>
          <a:noFill/>
        </p:spPr>
        <p:txBody>
          <a:bodyPr wrap="square" lIns="28575" rIns="28575" tIns="9525" bIns="9525" anchor="ctr">
            <a:spAutoFit/>
          </a:bodyPr>
          <a:lstStyle/>
          <a:p>
            <a:pPr algn="l"/>
            <a:r>
              <a:rPr sz="1100" b="1">
                <a:solidFill>
                  <a:srgbClr val="0B2E4A"/>
                </a:solidFill>
                <a:latin typeface="Calibri"/>
              </a:rPr>
              <a:t>Priority Opportunities</a:t>
            </a:r>
          </a:p>
        </p:txBody>
      </p:sp>
      <p:sp>
        <p:nvSpPr>
          <p:cNvPr id="17" name="Rectangle 16"/>
          <p:cNvSpPr/>
          <p:nvPr/>
        </p:nvSpPr>
        <p:spPr>
          <a:xfrm>
            <a:off x="142875" y="1518365"/>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00025" y="1518365"/>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Brazil</a:t>
            </a:r>
          </a:p>
        </p:txBody>
      </p:sp>
      <p:sp>
        <p:nvSpPr>
          <p:cNvPr id="19" name="TextBox 18"/>
          <p:cNvSpPr txBox="1"/>
          <p:nvPr/>
        </p:nvSpPr>
        <p:spPr>
          <a:xfrm>
            <a:off x="1724025" y="1545745"/>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base (35.8% share), Installed demand (6.3% CAGR), Rollstock Films demand, Accelerating vs history.</a:t>
            </a:r>
          </a:p>
        </p:txBody>
      </p:sp>
      <p:sp>
        <p:nvSpPr>
          <p:cNvPr id="20" name="TextBox 19"/>
          <p:cNvSpPr txBox="1"/>
          <p:nvPr/>
        </p:nvSpPr>
        <p:spPr>
          <a:xfrm>
            <a:off x="5534025" y="1545745"/>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Trails market pace by 90 BPS, Rising realisation (1.4%).</a:t>
            </a:r>
          </a:p>
        </p:txBody>
      </p:sp>
      <p:sp>
        <p:nvSpPr>
          <p:cNvPr id="21" name="TextBox 20"/>
          <p:cNvSpPr txBox="1"/>
          <p:nvPr/>
        </p:nvSpPr>
        <p:spPr>
          <a:xfrm>
            <a:off x="8391525" y="1545745"/>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Premade Pouches &amp; Bags (6.6%), 2,710 US$ Mn headroom.</a:t>
            </a:r>
          </a:p>
        </p:txBody>
      </p:sp>
      <p:sp>
        <p:nvSpPr>
          <p:cNvPr id="22" name="Rectangle 21"/>
          <p:cNvSpPr/>
          <p:nvPr/>
        </p:nvSpPr>
        <p:spPr>
          <a:xfrm>
            <a:off x="142875" y="2029468"/>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00025" y="2029468"/>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Mexico</a:t>
            </a:r>
          </a:p>
        </p:txBody>
      </p:sp>
      <p:sp>
        <p:nvSpPr>
          <p:cNvPr id="24" name="TextBox 23"/>
          <p:cNvSpPr txBox="1"/>
          <p:nvPr/>
        </p:nvSpPr>
        <p:spPr>
          <a:xfrm>
            <a:off x="1724025" y="2056849"/>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base (33.6% share), Above-market pace (7.8%), Rollstock Films demand, Accelerating vs history.</a:t>
            </a:r>
          </a:p>
        </p:txBody>
      </p:sp>
      <p:sp>
        <p:nvSpPr>
          <p:cNvPr id="25" name="TextBox 24"/>
          <p:cNvSpPr txBox="1"/>
          <p:nvPr/>
        </p:nvSpPr>
        <p:spPr>
          <a:xfrm>
            <a:off x="5534025" y="2056849"/>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Rising realisation (1.4%).</a:t>
            </a:r>
          </a:p>
        </p:txBody>
      </p:sp>
      <p:sp>
        <p:nvSpPr>
          <p:cNvPr id="26" name="TextBox 25"/>
          <p:cNvSpPr txBox="1"/>
          <p:nvPr/>
        </p:nvSpPr>
        <p:spPr>
          <a:xfrm>
            <a:off x="8391525" y="2056849"/>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Barrier Casings (8.3%), 2,956 US$ Mn headroom.</a:t>
            </a:r>
          </a:p>
        </p:txBody>
      </p:sp>
      <p:sp>
        <p:nvSpPr>
          <p:cNvPr id="27" name="Rectangle 26"/>
          <p:cNvSpPr/>
          <p:nvPr/>
        </p:nvSpPr>
        <p:spPr>
          <a:xfrm>
            <a:off x="142875" y="2540572"/>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00025" y="2540572"/>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Rest of Latin America</a:t>
            </a:r>
          </a:p>
        </p:txBody>
      </p:sp>
      <p:sp>
        <p:nvSpPr>
          <p:cNvPr id="29" name="TextBox 28"/>
          <p:cNvSpPr txBox="1"/>
          <p:nvPr/>
        </p:nvSpPr>
        <p:spPr>
          <a:xfrm>
            <a:off x="1724025" y="2567952"/>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base (20.7% share), Above-market pace (7.2%), Rollstock Films demand, Accelerating vs history.</a:t>
            </a:r>
          </a:p>
        </p:txBody>
      </p:sp>
      <p:sp>
        <p:nvSpPr>
          <p:cNvPr id="30" name="TextBox 29"/>
          <p:cNvSpPr txBox="1"/>
          <p:nvPr/>
        </p:nvSpPr>
        <p:spPr>
          <a:xfrm>
            <a:off x="5534025" y="2567952"/>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Rising realisation (1.4%).</a:t>
            </a:r>
          </a:p>
        </p:txBody>
      </p:sp>
      <p:sp>
        <p:nvSpPr>
          <p:cNvPr id="31" name="TextBox 30"/>
          <p:cNvSpPr txBox="1"/>
          <p:nvPr/>
        </p:nvSpPr>
        <p:spPr>
          <a:xfrm>
            <a:off x="8391525" y="2567952"/>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Rollstock Films (7.3%), 1,720 US$ Mn headroom.</a:t>
            </a:r>
          </a:p>
        </p:txBody>
      </p:sp>
      <p:sp>
        <p:nvSpPr>
          <p:cNvPr id="32" name="Rectangle 31"/>
          <p:cNvSpPr/>
          <p:nvPr/>
        </p:nvSpPr>
        <p:spPr>
          <a:xfrm>
            <a:off x="142875" y="3051675"/>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00025" y="3051675"/>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Colombia</a:t>
            </a:r>
          </a:p>
        </p:txBody>
      </p:sp>
      <p:sp>
        <p:nvSpPr>
          <p:cNvPr id="34" name="TextBox 33"/>
          <p:cNvSpPr txBox="1"/>
          <p:nvPr/>
        </p:nvSpPr>
        <p:spPr>
          <a:xfrm>
            <a:off x="1724025" y="3079056"/>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Above-market pace (8.4%), Rollstock Films demand, Accelerating vs history.</a:t>
            </a:r>
          </a:p>
        </p:txBody>
      </p:sp>
      <p:sp>
        <p:nvSpPr>
          <p:cNvPr id="35" name="TextBox 34"/>
          <p:cNvSpPr txBox="1"/>
          <p:nvPr/>
        </p:nvSpPr>
        <p:spPr>
          <a:xfrm>
            <a:off x="5534025" y="3079056"/>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Rising realisation (1.3%).</a:t>
            </a:r>
          </a:p>
        </p:txBody>
      </p:sp>
      <p:sp>
        <p:nvSpPr>
          <p:cNvPr id="36" name="TextBox 35"/>
          <p:cNvSpPr txBox="1"/>
          <p:nvPr/>
        </p:nvSpPr>
        <p:spPr>
          <a:xfrm>
            <a:off x="8391525" y="3079056"/>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Premade Pouches &amp; Bags (8.4%), Mix shift to Rollstock Films, 908.8 US$ Mn headroom.</a:t>
            </a:r>
          </a:p>
        </p:txBody>
      </p:sp>
      <p:cxnSp>
        <p:nvCxnSpPr>
          <p:cNvPr id="37" name="Connector 36"/>
          <p:cNvCxnSpPr/>
          <p:nvPr/>
        </p:nvCxnSpPr>
        <p:spPr>
          <a:xfrm>
            <a:off x="142875" y="3562779"/>
            <a:ext cx="11906250" cy="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00025" y="3581032"/>
            <a:ext cx="3810000" cy="182537"/>
          </a:xfrm>
          <a:prstGeom prst="rect">
            <a:avLst/>
          </a:prstGeom>
          <a:noFill/>
        </p:spPr>
        <p:txBody>
          <a:bodyPr wrap="square" lIns="28575" rIns="28575" tIns="9525" bIns="9525" anchor="ctr">
            <a:spAutoFit/>
          </a:bodyPr>
          <a:lstStyle/>
          <a:p>
            <a:pPr algn="l"/>
            <a:r>
              <a:rPr sz="1100" b="0">
                <a:solidFill>
                  <a:srgbClr val="6C7A89"/>
                </a:solidFill>
                <a:latin typeface="Calibri"/>
              </a:rPr>
              <a:t>Source: FMI Analysis, 2026</a:t>
            </a:r>
          </a:p>
        </p:txBody>
      </p:sp>
      <p:sp>
        <p:nvSpPr>
          <p:cNvPr id="39" name="Rounded Rectangle 38"/>
          <p:cNvSpPr/>
          <p:nvPr/>
        </p:nvSpPr>
        <p:spPr>
          <a:xfrm>
            <a:off x="142875" y="3836584"/>
            <a:ext cx="11906250" cy="994827"/>
          </a:xfrm>
          <a:prstGeom prst="roundRect">
            <a:avLst>
              <a:gd name="adj" fmla="val 479"/>
            </a:avLst>
          </a:prstGeom>
          <a:solidFill>
            <a:srgbClr val="FFFFFF"/>
          </a:solidFill>
          <a:ln w="1270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3873092"/>
            <a:ext cx="3810000" cy="219044"/>
          </a:xfrm>
          <a:prstGeom prst="rect">
            <a:avLst/>
          </a:prstGeom>
          <a:noFill/>
        </p:spPr>
        <p:txBody>
          <a:bodyPr wrap="square" lIns="28575" rIns="28575" tIns="9525" bIns="9525" anchor="ctr">
            <a:spAutoFit/>
          </a:bodyPr>
          <a:lstStyle/>
          <a:p>
            <a:pPr algn="l"/>
            <a:r>
              <a:rPr sz="1200" b="1">
                <a:solidFill>
                  <a:srgbClr val="0B2E4A"/>
                </a:solidFill>
                <a:latin typeface="Calibri"/>
              </a:rPr>
              <a:t>KEY TAKEAWAY</a:t>
            </a:r>
          </a:p>
        </p:txBody>
      </p:sp>
      <p:cxnSp>
        <p:nvCxnSpPr>
          <p:cNvPr id="41" name="Connector 40"/>
          <p:cNvCxnSpPr/>
          <p:nvPr/>
        </p:nvCxnSpPr>
        <p:spPr>
          <a:xfrm>
            <a:off x="276225" y="4110390"/>
            <a:ext cx="11639550" cy="0"/>
          </a:xfrm>
          <a:prstGeom prst="line">
            <a:avLst/>
          </a:prstGeom>
          <a:ln w="15875">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42" name="TextBox 41"/>
          <p:cNvSpPr txBox="1"/>
          <p:nvPr/>
        </p:nvSpPr>
        <p:spPr>
          <a:xfrm>
            <a:off x="276225" y="4165151"/>
            <a:ext cx="1152525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Brazil, Mexico, Rest of Latin America anchor scale with a combined 90.1% of Latin America value in 2036, while 'Colombia' offers the steepest upside at 8.4% CAGR against a market pace of 7.2%. 3 of 4 countries grow at or above that pace, so entry logic has to differ by country scale defence in the leaders, mix and premiumisation in the mid-tier, and availability-led expansion in the fastest movers.</a:t>
            </a:r>
          </a:p>
        </p:txBody>
      </p:sp>
      <p:sp>
        <p:nvSpPr>
          <p:cNvPr id="43" name="TextBox 4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Flexible Plastic Packaging Market Driving Factors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economic and supply-side factors scored by their impact on the Latin America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Oval 10"/>
          <p:cNvSpPr/>
          <p:nvPr/>
        </p:nvSpPr>
        <p:spPr>
          <a:xfrm>
            <a:off x="2381250" y="1609633"/>
            <a:ext cx="4762500" cy="4563424"/>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2619375" y="1837804"/>
            <a:ext cx="4286250" cy="410708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2857500" y="2065976"/>
            <a:ext cx="3810000" cy="365074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3095625" y="2294147"/>
            <a:ext cx="3333750" cy="319439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3333750" y="2522318"/>
            <a:ext cx="2857500" cy="273805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3571875" y="2750489"/>
            <a:ext cx="2381250" cy="228171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3810000" y="2978660"/>
            <a:ext cx="1905000" cy="182537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4048125" y="3206832"/>
            <a:ext cx="1428750" cy="136902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4286250" y="3435003"/>
            <a:ext cx="952500" cy="91268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4524375" y="3663174"/>
            <a:ext cx="476250" cy="45634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4762500" y="1609633"/>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H="1" flipV="1">
            <a:off x="3729314" y="1835594"/>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H="1" flipV="1">
            <a:off x="2900764" y="2468721"/>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H="1" flipV="1">
            <a:off x="2440953" y="3383617"/>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440953" y="3891345"/>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2900764" y="3891345"/>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a:off x="3729314" y="3891345"/>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4762500" y="3891345"/>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38400" y="2248513"/>
            <a:ext cx="2324100" cy="3020987"/>
          </a:xfrm>
          <a:custGeom>
            <a:avLst/>
            <a:gdLst/>
            <a:ahLst/>
            <a:cxnLst/>
            <a:rect l="l" t="t" r="r" b="b"/>
            <a:pathLst>
              <a:path w="244" h="331">
                <a:moveTo>
                  <a:pt x="244" y="0"/>
                </a:moveTo>
                <a:lnTo>
                  <a:pt x="166" y="17"/>
                </a:lnTo>
                <a:lnTo>
                  <a:pt x="61" y="34"/>
                </a:lnTo>
                <a:lnTo>
                  <a:pt x="69" y="140"/>
                </a:lnTo>
                <a:lnTo>
                  <a:pt x="0" y="236"/>
                </a:lnTo>
                <a:lnTo>
                  <a:pt x="119" y="280"/>
                </a:lnTo>
                <a:lnTo>
                  <a:pt x="230" y="208"/>
                </a:lnTo>
                <a:lnTo>
                  <a:pt x="244" y="331"/>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4714875" y="1563999"/>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400300" y="128106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Production Scale-up  13.2%</a:t>
            </a:r>
          </a:p>
        </p:txBody>
      </p:sp>
      <p:sp>
        <p:nvSpPr>
          <p:cNvPr id="32" name="Oval 31"/>
          <p:cNvSpPr/>
          <p:nvPr/>
        </p:nvSpPr>
        <p:spPr>
          <a:xfrm>
            <a:off x="3681689" y="178996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1385456" y="151968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Input Cost Pressure  13.2%</a:t>
            </a:r>
          </a:p>
        </p:txBody>
      </p:sp>
      <p:sp>
        <p:nvSpPr>
          <p:cNvPr id="34" name="Oval 33"/>
          <p:cNvSpPr/>
          <p:nvPr/>
        </p:nvSpPr>
        <p:spPr>
          <a:xfrm>
            <a:off x="2853139" y="2423087"/>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10507" y="227040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Capacity Add  17.1%</a:t>
            </a:r>
          </a:p>
        </p:txBody>
      </p:sp>
      <p:sp>
        <p:nvSpPr>
          <p:cNvPr id="36" name="Oval 35"/>
          <p:cNvSpPr/>
          <p:nvPr/>
        </p:nvSpPr>
        <p:spPr>
          <a:xfrm>
            <a:off x="2393328" y="3337982"/>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4946" y="323653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Supply Concentration  13.1%</a:t>
            </a:r>
          </a:p>
        </p:txBody>
      </p:sp>
      <p:sp>
        <p:nvSpPr>
          <p:cNvPr id="38" name="Oval 37"/>
          <p:cNvSpPr/>
          <p:nvPr/>
        </p:nvSpPr>
        <p:spPr>
          <a:xfrm>
            <a:off x="2393328" y="435344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4946" y="4308858"/>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Geographic Spread  18.3%</a:t>
            </a:r>
          </a:p>
        </p:txBody>
      </p:sp>
      <p:sp>
        <p:nvSpPr>
          <p:cNvPr id="40" name="Oval 39"/>
          <p:cNvSpPr/>
          <p:nvPr/>
        </p:nvSpPr>
        <p:spPr>
          <a:xfrm>
            <a:off x="2853139" y="5268335"/>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510507" y="527498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Portfolio Breadth  11.7%</a:t>
            </a:r>
          </a:p>
        </p:txBody>
      </p:sp>
      <p:sp>
        <p:nvSpPr>
          <p:cNvPr id="42" name="Oval 41"/>
          <p:cNvSpPr/>
          <p:nvPr/>
        </p:nvSpPr>
        <p:spPr>
          <a:xfrm>
            <a:off x="3681689" y="590146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385456" y="602571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Route Depth  2.3%</a:t>
            </a:r>
          </a:p>
        </p:txBody>
      </p:sp>
      <p:sp>
        <p:nvSpPr>
          <p:cNvPr id="44" name="Oval 43"/>
          <p:cNvSpPr/>
          <p:nvPr/>
        </p:nvSpPr>
        <p:spPr>
          <a:xfrm>
            <a:off x="4714875" y="612742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2400300" y="6264326"/>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Value Realisation  11.1%</a:t>
            </a:r>
          </a:p>
        </p:txBody>
      </p:sp>
      <p:sp>
        <p:nvSpPr>
          <p:cNvPr id="46" name="Rectangle 45"/>
          <p:cNvSpPr/>
          <p:nvPr/>
        </p:nvSpPr>
        <p:spPr>
          <a:xfrm>
            <a:off x="476250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4286250" y="3818331"/>
            <a:ext cx="419100" cy="14603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8" name="FMI Scale 1"/>
          <p:cNvSpPr txBox="1"/>
          <p:nvPr/>
        </p:nvSpPr>
        <p:spPr>
          <a:xfrm>
            <a:off x="4286250" y="3590159"/>
            <a:ext cx="419100" cy="146030"/>
          </a:xfrm>
          <a:prstGeom prst="rect">
            <a:avLst/>
          </a:prstGeom>
          <a:noFill/>
        </p:spPr>
        <p:txBody>
          <a:bodyPr wrap="none" lIns="0" rIns="0" tIns="0" bIns="0" anchor="ctr">
            <a:spAutoFit/>
          </a:bodyPr>
          <a:lstStyle/>
          <a:p>
            <a:pPr algn="r"/>
            <a:r>
              <a:rPr sz="1100" b="0">
                <a:solidFill>
                  <a:srgbClr val="6C7A89"/>
                </a:solidFill>
                <a:latin typeface="Calibri"/>
              </a:rPr>
              <a:t>10%</a:t>
            </a:r>
          </a:p>
        </p:txBody>
      </p:sp>
      <p:sp>
        <p:nvSpPr>
          <p:cNvPr id="49" name="FMI Scale 2"/>
          <p:cNvSpPr txBox="1"/>
          <p:nvPr/>
        </p:nvSpPr>
        <p:spPr>
          <a:xfrm>
            <a:off x="4286250" y="3361988"/>
            <a:ext cx="419100" cy="146030"/>
          </a:xfrm>
          <a:prstGeom prst="rect">
            <a:avLst/>
          </a:prstGeom>
          <a:noFill/>
        </p:spPr>
        <p:txBody>
          <a:bodyPr wrap="none" lIns="0" rIns="0" tIns="0" bIns="0" anchor="ctr">
            <a:spAutoFit/>
          </a:bodyPr>
          <a:lstStyle/>
          <a:p>
            <a:pPr algn="r"/>
            <a:r>
              <a:rPr sz="1100" b="0">
                <a:solidFill>
                  <a:srgbClr val="6C7A89"/>
                </a:solidFill>
                <a:latin typeface="Calibri"/>
              </a:rPr>
              <a:t>20%</a:t>
            </a:r>
          </a:p>
        </p:txBody>
      </p:sp>
      <p:sp>
        <p:nvSpPr>
          <p:cNvPr id="50" name="FMI Scale 3"/>
          <p:cNvSpPr txBox="1"/>
          <p:nvPr/>
        </p:nvSpPr>
        <p:spPr>
          <a:xfrm>
            <a:off x="4286250" y="3133817"/>
            <a:ext cx="419100" cy="146030"/>
          </a:xfrm>
          <a:prstGeom prst="rect">
            <a:avLst/>
          </a:prstGeom>
          <a:noFill/>
        </p:spPr>
        <p:txBody>
          <a:bodyPr wrap="none" lIns="0" rIns="0" tIns="0" bIns="0" anchor="ctr">
            <a:spAutoFit/>
          </a:bodyPr>
          <a:lstStyle/>
          <a:p>
            <a:pPr algn="r"/>
            <a:r>
              <a:rPr sz="1100" b="0">
                <a:solidFill>
                  <a:srgbClr val="6C7A89"/>
                </a:solidFill>
                <a:latin typeface="Calibri"/>
              </a:rPr>
              <a:t>30%</a:t>
            </a:r>
          </a:p>
        </p:txBody>
      </p:sp>
      <p:sp>
        <p:nvSpPr>
          <p:cNvPr id="51" name="FMI Scale 4"/>
          <p:cNvSpPr txBox="1"/>
          <p:nvPr/>
        </p:nvSpPr>
        <p:spPr>
          <a:xfrm>
            <a:off x="4286250" y="2905646"/>
            <a:ext cx="419100" cy="146030"/>
          </a:xfrm>
          <a:prstGeom prst="rect">
            <a:avLst/>
          </a:prstGeom>
          <a:noFill/>
        </p:spPr>
        <p:txBody>
          <a:bodyPr wrap="none" lIns="0" rIns="0" tIns="0" bIns="0" anchor="ctr">
            <a:spAutoFit/>
          </a:bodyPr>
          <a:lstStyle/>
          <a:p>
            <a:pPr algn="r"/>
            <a:r>
              <a:rPr sz="1100" b="0">
                <a:solidFill>
                  <a:srgbClr val="6C7A89"/>
                </a:solidFill>
                <a:latin typeface="Calibri"/>
              </a:rPr>
              <a:t>40%</a:t>
            </a:r>
          </a:p>
        </p:txBody>
      </p:sp>
      <p:sp>
        <p:nvSpPr>
          <p:cNvPr id="52" name="FMI Scale 5"/>
          <p:cNvSpPr txBox="1"/>
          <p:nvPr/>
        </p:nvSpPr>
        <p:spPr>
          <a:xfrm>
            <a:off x="4286250" y="2677474"/>
            <a:ext cx="419100" cy="146030"/>
          </a:xfrm>
          <a:prstGeom prst="rect">
            <a:avLst/>
          </a:prstGeom>
          <a:noFill/>
        </p:spPr>
        <p:txBody>
          <a:bodyPr wrap="none" lIns="0" rIns="0" tIns="0" bIns="0" anchor="ctr">
            <a:spAutoFit/>
          </a:bodyPr>
          <a:lstStyle/>
          <a:p>
            <a:pPr algn="r"/>
            <a:r>
              <a:rPr sz="1100" b="0">
                <a:solidFill>
                  <a:srgbClr val="6C7A89"/>
                </a:solidFill>
                <a:latin typeface="Calibri"/>
              </a:rPr>
              <a:t>50%</a:t>
            </a:r>
          </a:p>
        </p:txBody>
      </p:sp>
      <p:sp>
        <p:nvSpPr>
          <p:cNvPr id="53" name="FMI Scale 6"/>
          <p:cNvSpPr txBox="1"/>
          <p:nvPr/>
        </p:nvSpPr>
        <p:spPr>
          <a:xfrm>
            <a:off x="4286250" y="2449303"/>
            <a:ext cx="419100" cy="146030"/>
          </a:xfrm>
          <a:prstGeom prst="rect">
            <a:avLst/>
          </a:prstGeom>
          <a:noFill/>
        </p:spPr>
        <p:txBody>
          <a:bodyPr wrap="none" lIns="0" rIns="0" tIns="0" bIns="0" anchor="ctr">
            <a:spAutoFit/>
          </a:bodyPr>
          <a:lstStyle/>
          <a:p>
            <a:pPr algn="r"/>
            <a:r>
              <a:rPr sz="1100" b="0">
                <a:solidFill>
                  <a:srgbClr val="6C7A89"/>
                </a:solidFill>
                <a:latin typeface="Calibri"/>
              </a:rPr>
              <a:t>60%</a:t>
            </a:r>
          </a:p>
        </p:txBody>
      </p:sp>
      <p:sp>
        <p:nvSpPr>
          <p:cNvPr id="54" name="FMI Scale 7"/>
          <p:cNvSpPr txBox="1"/>
          <p:nvPr/>
        </p:nvSpPr>
        <p:spPr>
          <a:xfrm>
            <a:off x="4286250" y="2221132"/>
            <a:ext cx="419100" cy="146030"/>
          </a:xfrm>
          <a:prstGeom prst="rect">
            <a:avLst/>
          </a:prstGeom>
          <a:noFill/>
        </p:spPr>
        <p:txBody>
          <a:bodyPr wrap="none" lIns="0" rIns="0" tIns="0" bIns="0" anchor="ctr">
            <a:spAutoFit/>
          </a:bodyPr>
          <a:lstStyle/>
          <a:p>
            <a:pPr algn="r"/>
            <a:r>
              <a:rPr sz="1100" b="0">
                <a:solidFill>
                  <a:srgbClr val="6C7A89"/>
                </a:solidFill>
                <a:latin typeface="Calibri"/>
              </a:rPr>
              <a:t>70%</a:t>
            </a:r>
          </a:p>
        </p:txBody>
      </p:sp>
      <p:sp>
        <p:nvSpPr>
          <p:cNvPr id="55" name="FMI Scale 8"/>
          <p:cNvSpPr txBox="1"/>
          <p:nvPr/>
        </p:nvSpPr>
        <p:spPr>
          <a:xfrm>
            <a:off x="4286250" y="1992961"/>
            <a:ext cx="419100" cy="146030"/>
          </a:xfrm>
          <a:prstGeom prst="rect">
            <a:avLst/>
          </a:prstGeom>
          <a:noFill/>
        </p:spPr>
        <p:txBody>
          <a:bodyPr wrap="none" lIns="0" rIns="0" tIns="0" bIns="0" anchor="ctr">
            <a:spAutoFit/>
          </a:bodyPr>
          <a:lstStyle/>
          <a:p>
            <a:pPr algn="r"/>
            <a:r>
              <a:rPr sz="1100" b="0">
                <a:solidFill>
                  <a:srgbClr val="6C7A89"/>
                </a:solidFill>
                <a:latin typeface="Calibri"/>
              </a:rPr>
              <a:t>80%</a:t>
            </a:r>
          </a:p>
        </p:txBody>
      </p:sp>
      <p:sp>
        <p:nvSpPr>
          <p:cNvPr id="56" name="FMI Scale 9"/>
          <p:cNvSpPr txBox="1"/>
          <p:nvPr/>
        </p:nvSpPr>
        <p:spPr>
          <a:xfrm>
            <a:off x="4286250" y="1764790"/>
            <a:ext cx="419100" cy="146030"/>
          </a:xfrm>
          <a:prstGeom prst="rect">
            <a:avLst/>
          </a:prstGeom>
          <a:noFill/>
        </p:spPr>
        <p:txBody>
          <a:bodyPr wrap="none" lIns="0" rIns="0" tIns="0" bIns="0" anchor="ctr">
            <a:spAutoFit/>
          </a:bodyPr>
          <a:lstStyle/>
          <a:p>
            <a:pPr algn="r"/>
            <a:r>
              <a:rPr sz="1100" b="0">
                <a:solidFill>
                  <a:srgbClr val="6C7A89"/>
                </a:solidFill>
                <a:latin typeface="Calibri"/>
              </a:rPr>
              <a:t>90%</a:t>
            </a:r>
          </a:p>
        </p:txBody>
      </p:sp>
      <p:sp>
        <p:nvSpPr>
          <p:cNvPr id="57" name="FMI Scale 10"/>
          <p:cNvSpPr txBox="1"/>
          <p:nvPr/>
        </p:nvSpPr>
        <p:spPr>
          <a:xfrm>
            <a:off x="4286250" y="1536618"/>
            <a:ext cx="419100" cy="146030"/>
          </a:xfrm>
          <a:prstGeom prst="rect">
            <a:avLst/>
          </a:prstGeom>
          <a:noFill/>
        </p:spPr>
        <p:txBody>
          <a:bodyPr wrap="none" lIns="0" rIns="0" tIns="0" bIns="0" anchor="ctr">
            <a:spAutoFit/>
          </a:bodyPr>
          <a:lstStyle/>
          <a:p>
            <a:pPr algn="r"/>
            <a:r>
              <a:rPr sz="1100" b="0">
                <a:solidFill>
                  <a:srgbClr val="6C7A89"/>
                </a:solidFill>
                <a:latin typeface="Calibri"/>
              </a:rPr>
              <a:t>100%</a:t>
            </a:r>
          </a:p>
        </p:txBody>
      </p:sp>
      <p:cxnSp>
        <p:nvCxnSpPr>
          <p:cNvPr id="58" name="Connector 57"/>
          <p:cNvCxnSpPr/>
          <p:nvPr/>
        </p:nvCxnSpPr>
        <p:spPr>
          <a:xfrm>
            <a:off x="4762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4972050" y="1080276"/>
            <a:ext cx="7077075" cy="219044"/>
          </a:xfrm>
          <a:prstGeom prst="rect">
            <a:avLst/>
          </a:prstGeom>
          <a:noFill/>
        </p:spPr>
        <p:txBody>
          <a:bodyPr wrap="square" lIns="28575" rIns="28575" tIns="9525" bIns="9525" anchor="ctr">
            <a:spAutoFit/>
          </a:bodyPr>
          <a:lstStyle/>
          <a:p>
            <a:pPr algn="l"/>
            <a:r>
              <a:rPr sz="1200" b="1">
                <a:solidFill>
                  <a:srgbClr val="0B2E4A"/>
                </a:solidFill>
                <a:latin typeface="Calibri"/>
              </a:rPr>
              <a:t>Economic and Supply-side Factors</a:t>
            </a:r>
          </a:p>
        </p:txBody>
      </p:sp>
      <p:cxnSp>
        <p:nvCxnSpPr>
          <p:cNvPr id="60" name="Connector 59"/>
          <p:cNvCxnSpPr/>
          <p:nvPr/>
        </p:nvCxnSpPr>
        <p:spPr>
          <a:xfrm>
            <a:off x="4972050" y="1335828"/>
            <a:ext cx="70770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4972050" y="142709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Supply-side conditions are led by Geographic Spread (10.0/10), Capacity Add (9.4/10), Input Cost Pressure (7.2/10) on a 0-10 scale scored from the latin america dataset itself.</a:t>
            </a:r>
          </a:p>
        </p:txBody>
      </p:sp>
      <p:sp>
        <p:nvSpPr>
          <p:cNvPr id="62" name="TextBox 61"/>
          <p:cNvSpPr txBox="1"/>
          <p:nvPr/>
        </p:nvSpPr>
        <p:spPr>
          <a:xfrm>
            <a:off x="4972050" y="1883439"/>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Volume expands at 5.7% CAGR (2026–2036) while average realisation moves 1.3% a year the balance of those two sets the cost-pass-through picture.</a:t>
            </a:r>
          </a:p>
        </p:txBody>
      </p:sp>
      <p:sp>
        <p:nvSpPr>
          <p:cNvPr id="63" name="TextBox 62"/>
          <p:cNvSpPr txBox="1"/>
          <p:nvPr/>
        </p:nvSpPr>
        <p:spPr>
          <a:xfrm>
            <a:off x="4972050" y="2339781"/>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Supply is concentrated: 'Brazil' holds 35.8% of 2036 value across 4 countries.</a:t>
            </a:r>
          </a:p>
        </p:txBody>
      </p:sp>
      <p:sp>
        <p:nvSpPr>
          <p:cNvPr id="64" name="TextBox 63"/>
          <p:cNvSpPr txBox="1"/>
          <p:nvPr/>
        </p:nvSpPr>
        <p:spPr>
          <a:xfrm>
            <a:off x="4972050" y="261358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Portfolio breadth spans 4 product type lines and 2 application routes, giving producers focused reformulation and channel latitude.</a:t>
            </a:r>
          </a:p>
        </p:txBody>
      </p:sp>
      <p:sp>
        <p:nvSpPr>
          <p:cNvPr id="65" name="TextBox 64"/>
          <p:cNvSpPr txBox="1"/>
          <p:nvPr/>
        </p:nvSpPr>
        <p:spPr>
          <a:xfrm>
            <a:off x="4972050" y="3069929"/>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Capacity added between 2026 and 2036 is worth 8,294 US$ Mn, a 2.0× expansion on the 2026 base.</a:t>
            </a:r>
          </a:p>
        </p:txBody>
      </p:sp>
      <p:sp>
        <p:nvSpPr>
          <p:cNvPr id="66" name="TextBox 65"/>
          <p:cNvSpPr txBox="1"/>
          <p:nvPr/>
        </p:nvSpPr>
        <p:spPr>
          <a:xfrm>
            <a:off x="4972050" y="3343734"/>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Flexible Plastic Packaging Market Driving Factors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demand-side factors scored by their impact on the Latin America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Oval 10"/>
          <p:cNvSpPr/>
          <p:nvPr/>
        </p:nvSpPr>
        <p:spPr>
          <a:xfrm>
            <a:off x="5048250" y="1609633"/>
            <a:ext cx="4762500" cy="4563424"/>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5286375" y="1837804"/>
            <a:ext cx="4286250" cy="410708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5524500" y="2065976"/>
            <a:ext cx="3810000" cy="365074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5762625" y="2294147"/>
            <a:ext cx="3333750" cy="319439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00750" y="2522318"/>
            <a:ext cx="2857500" cy="273805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238875" y="2750489"/>
            <a:ext cx="2381250" cy="228171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6477000" y="2978660"/>
            <a:ext cx="1905000" cy="182537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6715125" y="3206832"/>
            <a:ext cx="1428750" cy="136902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6953250" y="3435003"/>
            <a:ext cx="952500" cy="91268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7191375" y="3663174"/>
            <a:ext cx="476250" cy="45634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7429500" y="1609633"/>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V="1">
            <a:off x="7429500" y="1835594"/>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V="1">
            <a:off x="7429500" y="2468721"/>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V="1">
            <a:off x="7429500" y="3383617"/>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7429500" y="3891345"/>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7429500" y="3891345"/>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7429500" y="3891345"/>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7429500" y="3891345"/>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7429500" y="2257639"/>
            <a:ext cx="1533525" cy="3322173"/>
          </a:xfrm>
          <a:custGeom>
            <a:avLst/>
            <a:gdLst/>
            <a:ahLst/>
            <a:cxnLst/>
            <a:rect l="l" t="t" r="r" b="b"/>
            <a:pathLst>
              <a:path w="161" h="364">
                <a:moveTo>
                  <a:pt x="0" y="0"/>
                </a:moveTo>
                <a:lnTo>
                  <a:pt x="80" y="13"/>
                </a:lnTo>
                <a:lnTo>
                  <a:pt x="24" y="160"/>
                </a:lnTo>
                <a:lnTo>
                  <a:pt x="111" y="154"/>
                </a:lnTo>
                <a:lnTo>
                  <a:pt x="161" y="216"/>
                </a:lnTo>
                <a:lnTo>
                  <a:pt x="127" y="280"/>
                </a:lnTo>
                <a:lnTo>
                  <a:pt x="89" y="364"/>
                </a:lnTo>
                <a:lnTo>
                  <a:pt x="0" y="233"/>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7381875" y="1563999"/>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505700" y="128106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Demand Growth  16.4%</a:t>
            </a:r>
          </a:p>
        </p:txBody>
      </p:sp>
      <p:sp>
        <p:nvSpPr>
          <p:cNvPr id="32" name="Oval 31"/>
          <p:cNvSpPr/>
          <p:nvPr/>
        </p:nvSpPr>
        <p:spPr>
          <a:xfrm>
            <a:off x="8415061" y="178996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8520544" y="151968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Premiumisation  16.8%</a:t>
            </a:r>
          </a:p>
        </p:txBody>
      </p:sp>
      <p:sp>
        <p:nvSpPr>
          <p:cNvPr id="34" name="Oval 33"/>
          <p:cNvSpPr/>
          <p:nvPr/>
        </p:nvSpPr>
        <p:spPr>
          <a:xfrm>
            <a:off x="9243611" y="2423087"/>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9395493" y="2270405"/>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App. Breadth  2.9%</a:t>
            </a:r>
          </a:p>
        </p:txBody>
      </p:sp>
      <p:sp>
        <p:nvSpPr>
          <p:cNvPr id="36" name="Oval 35"/>
          <p:cNvSpPr/>
          <p:nvPr/>
        </p:nvSpPr>
        <p:spPr>
          <a:xfrm>
            <a:off x="9703422" y="3337982"/>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9881054" y="3236535"/>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Emerging Pull  10.4%</a:t>
            </a:r>
          </a:p>
        </p:txBody>
      </p:sp>
      <p:sp>
        <p:nvSpPr>
          <p:cNvPr id="38" name="Oval 37"/>
          <p:cNvSpPr/>
          <p:nvPr/>
        </p:nvSpPr>
        <p:spPr>
          <a:xfrm>
            <a:off x="9703422" y="435344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9881054" y="4308858"/>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Volume Momentum  15.1%</a:t>
            </a:r>
          </a:p>
        </p:txBody>
      </p:sp>
      <p:sp>
        <p:nvSpPr>
          <p:cNvPr id="40" name="Oval 39"/>
          <p:cNvSpPr/>
          <p:nvPr/>
        </p:nvSpPr>
        <p:spPr>
          <a:xfrm>
            <a:off x="9243611" y="5268335"/>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9395493" y="527498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Category Maturity  14.8%</a:t>
            </a:r>
          </a:p>
        </p:txBody>
      </p:sp>
      <p:sp>
        <p:nvSpPr>
          <p:cNvPr id="42" name="Oval 41"/>
          <p:cNvSpPr/>
          <p:nvPr/>
        </p:nvSpPr>
        <p:spPr>
          <a:xfrm>
            <a:off x="8415061" y="590146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520544" y="602571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Adoption Depth  18.7%</a:t>
            </a:r>
          </a:p>
        </p:txBody>
      </p:sp>
      <p:sp>
        <p:nvSpPr>
          <p:cNvPr id="44" name="Oval 43"/>
          <p:cNvSpPr/>
          <p:nvPr/>
        </p:nvSpPr>
        <p:spPr>
          <a:xfrm>
            <a:off x="7381875" y="612742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505700" y="6264326"/>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Consumer Reach  5.0%</a:t>
            </a:r>
          </a:p>
        </p:txBody>
      </p:sp>
      <p:sp>
        <p:nvSpPr>
          <p:cNvPr id="46" name="Rectangle 45"/>
          <p:cNvSpPr/>
          <p:nvPr/>
        </p:nvSpPr>
        <p:spPr>
          <a:xfrm>
            <a:off x="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7486650" y="3818331"/>
            <a:ext cx="419100" cy="14603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48" name="FMI Scale 1"/>
          <p:cNvSpPr txBox="1"/>
          <p:nvPr/>
        </p:nvSpPr>
        <p:spPr>
          <a:xfrm>
            <a:off x="7486650" y="3590159"/>
            <a:ext cx="419100" cy="14603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9" name="FMI Scale 2"/>
          <p:cNvSpPr txBox="1"/>
          <p:nvPr/>
        </p:nvSpPr>
        <p:spPr>
          <a:xfrm>
            <a:off x="7486650" y="3361988"/>
            <a:ext cx="419100" cy="146030"/>
          </a:xfrm>
          <a:prstGeom prst="rect">
            <a:avLst/>
          </a:prstGeom>
          <a:noFill/>
        </p:spPr>
        <p:txBody>
          <a:bodyPr wrap="none" lIns="0" rIns="0" tIns="0" bIns="0" anchor="ctr">
            <a:spAutoFit/>
          </a:bodyPr>
          <a:lstStyle/>
          <a:p>
            <a:pPr algn="l"/>
            <a:r>
              <a:rPr sz="1100" b="0">
                <a:solidFill>
                  <a:srgbClr val="6C7A89"/>
                </a:solidFill>
                <a:latin typeface="Calibri"/>
              </a:rPr>
              <a:t>20%</a:t>
            </a:r>
          </a:p>
        </p:txBody>
      </p:sp>
      <p:sp>
        <p:nvSpPr>
          <p:cNvPr id="50" name="FMI Scale 3"/>
          <p:cNvSpPr txBox="1"/>
          <p:nvPr/>
        </p:nvSpPr>
        <p:spPr>
          <a:xfrm>
            <a:off x="7486650" y="3133817"/>
            <a:ext cx="419100" cy="146030"/>
          </a:xfrm>
          <a:prstGeom prst="rect">
            <a:avLst/>
          </a:prstGeom>
          <a:noFill/>
        </p:spPr>
        <p:txBody>
          <a:bodyPr wrap="none" lIns="0" rIns="0" tIns="0" bIns="0" anchor="ctr">
            <a:spAutoFit/>
          </a:bodyPr>
          <a:lstStyle/>
          <a:p>
            <a:pPr algn="l"/>
            <a:r>
              <a:rPr sz="1100" b="0">
                <a:solidFill>
                  <a:srgbClr val="6C7A89"/>
                </a:solidFill>
                <a:latin typeface="Calibri"/>
              </a:rPr>
              <a:t>30%</a:t>
            </a:r>
          </a:p>
        </p:txBody>
      </p:sp>
      <p:sp>
        <p:nvSpPr>
          <p:cNvPr id="51" name="FMI Scale 4"/>
          <p:cNvSpPr txBox="1"/>
          <p:nvPr/>
        </p:nvSpPr>
        <p:spPr>
          <a:xfrm>
            <a:off x="7486650" y="2905646"/>
            <a:ext cx="419100" cy="146030"/>
          </a:xfrm>
          <a:prstGeom prst="rect">
            <a:avLst/>
          </a:prstGeom>
          <a:noFill/>
        </p:spPr>
        <p:txBody>
          <a:bodyPr wrap="none" lIns="0" rIns="0" tIns="0" bIns="0" anchor="ctr">
            <a:spAutoFit/>
          </a:bodyPr>
          <a:lstStyle/>
          <a:p>
            <a:pPr algn="l"/>
            <a:r>
              <a:rPr sz="1100" b="0">
                <a:solidFill>
                  <a:srgbClr val="6C7A89"/>
                </a:solidFill>
                <a:latin typeface="Calibri"/>
              </a:rPr>
              <a:t>40%</a:t>
            </a:r>
          </a:p>
        </p:txBody>
      </p:sp>
      <p:sp>
        <p:nvSpPr>
          <p:cNvPr id="52" name="FMI Scale 5"/>
          <p:cNvSpPr txBox="1"/>
          <p:nvPr/>
        </p:nvSpPr>
        <p:spPr>
          <a:xfrm>
            <a:off x="7486650" y="2677474"/>
            <a:ext cx="419100" cy="146030"/>
          </a:xfrm>
          <a:prstGeom prst="rect">
            <a:avLst/>
          </a:prstGeom>
          <a:noFill/>
        </p:spPr>
        <p:txBody>
          <a:bodyPr wrap="none" lIns="0" rIns="0" tIns="0" bIns="0" anchor="ctr">
            <a:spAutoFit/>
          </a:bodyPr>
          <a:lstStyle/>
          <a:p>
            <a:pPr algn="l"/>
            <a:r>
              <a:rPr sz="1100" b="0">
                <a:solidFill>
                  <a:srgbClr val="6C7A89"/>
                </a:solidFill>
                <a:latin typeface="Calibri"/>
              </a:rPr>
              <a:t>50%</a:t>
            </a:r>
          </a:p>
        </p:txBody>
      </p:sp>
      <p:sp>
        <p:nvSpPr>
          <p:cNvPr id="53" name="FMI Scale 6"/>
          <p:cNvSpPr txBox="1"/>
          <p:nvPr/>
        </p:nvSpPr>
        <p:spPr>
          <a:xfrm>
            <a:off x="7486650" y="2449303"/>
            <a:ext cx="419100" cy="146030"/>
          </a:xfrm>
          <a:prstGeom prst="rect">
            <a:avLst/>
          </a:prstGeom>
          <a:noFill/>
        </p:spPr>
        <p:txBody>
          <a:bodyPr wrap="none" lIns="0" rIns="0" tIns="0" bIns="0" anchor="ctr">
            <a:spAutoFit/>
          </a:bodyPr>
          <a:lstStyle/>
          <a:p>
            <a:pPr algn="l"/>
            <a:r>
              <a:rPr sz="1100" b="0">
                <a:solidFill>
                  <a:srgbClr val="6C7A89"/>
                </a:solidFill>
                <a:latin typeface="Calibri"/>
              </a:rPr>
              <a:t>60%</a:t>
            </a:r>
          </a:p>
        </p:txBody>
      </p:sp>
      <p:sp>
        <p:nvSpPr>
          <p:cNvPr id="54" name="FMI Scale 7"/>
          <p:cNvSpPr txBox="1"/>
          <p:nvPr/>
        </p:nvSpPr>
        <p:spPr>
          <a:xfrm>
            <a:off x="7486650" y="2221132"/>
            <a:ext cx="419100" cy="146030"/>
          </a:xfrm>
          <a:prstGeom prst="rect">
            <a:avLst/>
          </a:prstGeom>
          <a:noFill/>
        </p:spPr>
        <p:txBody>
          <a:bodyPr wrap="none" lIns="0" rIns="0" tIns="0" bIns="0" anchor="ctr">
            <a:spAutoFit/>
          </a:bodyPr>
          <a:lstStyle/>
          <a:p>
            <a:pPr algn="l"/>
            <a:r>
              <a:rPr sz="1100" b="0">
                <a:solidFill>
                  <a:srgbClr val="6C7A89"/>
                </a:solidFill>
                <a:latin typeface="Calibri"/>
              </a:rPr>
              <a:t>70%</a:t>
            </a:r>
          </a:p>
        </p:txBody>
      </p:sp>
      <p:sp>
        <p:nvSpPr>
          <p:cNvPr id="55" name="FMI Scale 8"/>
          <p:cNvSpPr txBox="1"/>
          <p:nvPr/>
        </p:nvSpPr>
        <p:spPr>
          <a:xfrm>
            <a:off x="7486650" y="1992961"/>
            <a:ext cx="419100" cy="146030"/>
          </a:xfrm>
          <a:prstGeom prst="rect">
            <a:avLst/>
          </a:prstGeom>
          <a:noFill/>
        </p:spPr>
        <p:txBody>
          <a:bodyPr wrap="none" lIns="0" rIns="0" tIns="0" bIns="0" anchor="ctr">
            <a:spAutoFit/>
          </a:bodyPr>
          <a:lstStyle/>
          <a:p>
            <a:pPr algn="l"/>
            <a:r>
              <a:rPr sz="1100" b="0">
                <a:solidFill>
                  <a:srgbClr val="6C7A89"/>
                </a:solidFill>
                <a:latin typeface="Calibri"/>
              </a:rPr>
              <a:t>80%</a:t>
            </a:r>
          </a:p>
        </p:txBody>
      </p:sp>
      <p:sp>
        <p:nvSpPr>
          <p:cNvPr id="56" name="FMI Scale 9"/>
          <p:cNvSpPr txBox="1"/>
          <p:nvPr/>
        </p:nvSpPr>
        <p:spPr>
          <a:xfrm>
            <a:off x="7486650" y="1764790"/>
            <a:ext cx="419100" cy="146030"/>
          </a:xfrm>
          <a:prstGeom prst="rect">
            <a:avLst/>
          </a:prstGeom>
          <a:noFill/>
        </p:spPr>
        <p:txBody>
          <a:bodyPr wrap="none" lIns="0" rIns="0" tIns="0" bIns="0" anchor="ctr">
            <a:spAutoFit/>
          </a:bodyPr>
          <a:lstStyle/>
          <a:p>
            <a:pPr algn="l"/>
            <a:r>
              <a:rPr sz="1100" b="0">
                <a:solidFill>
                  <a:srgbClr val="6C7A89"/>
                </a:solidFill>
                <a:latin typeface="Calibri"/>
              </a:rPr>
              <a:t>90%</a:t>
            </a:r>
          </a:p>
        </p:txBody>
      </p:sp>
      <p:sp>
        <p:nvSpPr>
          <p:cNvPr id="57" name="FMI Scale 10"/>
          <p:cNvSpPr txBox="1"/>
          <p:nvPr/>
        </p:nvSpPr>
        <p:spPr>
          <a:xfrm>
            <a:off x="7486650" y="1536618"/>
            <a:ext cx="419100" cy="146030"/>
          </a:xfrm>
          <a:prstGeom prst="rect">
            <a:avLst/>
          </a:prstGeom>
          <a:noFill/>
        </p:spPr>
        <p:txBody>
          <a:bodyPr wrap="none" lIns="0" rIns="0" tIns="0" bIns="0" anchor="ctr">
            <a:spAutoFit/>
          </a:bodyPr>
          <a:lstStyle/>
          <a:p>
            <a:pPr algn="l"/>
            <a:r>
              <a:rPr sz="1100" b="0">
                <a:solidFill>
                  <a:srgbClr val="6C7A89"/>
                </a:solidFill>
                <a:latin typeface="Calibri"/>
              </a:rPr>
              <a:t>100%</a:t>
            </a:r>
          </a:p>
        </p:txBody>
      </p:sp>
      <p:cxnSp>
        <p:nvCxnSpPr>
          <p:cNvPr id="58" name="Connector 57"/>
          <p:cNvCxnSpPr/>
          <p:nvPr/>
        </p:nvCxnSpPr>
        <p:spPr>
          <a:xfrm>
            <a:off x="7429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180975" y="1080276"/>
            <a:ext cx="7038975" cy="219044"/>
          </a:xfrm>
          <a:prstGeom prst="rect">
            <a:avLst/>
          </a:prstGeom>
          <a:noFill/>
        </p:spPr>
        <p:txBody>
          <a:bodyPr wrap="square" lIns="28575" rIns="28575" tIns="9525" bIns="9525" anchor="ctr">
            <a:spAutoFit/>
          </a:bodyPr>
          <a:lstStyle/>
          <a:p>
            <a:pPr algn="l"/>
            <a:r>
              <a:rPr sz="1200" b="1">
                <a:solidFill>
                  <a:srgbClr val="0B2E4A"/>
                </a:solidFill>
                <a:latin typeface="Calibri"/>
              </a:rPr>
              <a:t>Demand-side Factors</a:t>
            </a:r>
          </a:p>
        </p:txBody>
      </p:sp>
      <p:cxnSp>
        <p:nvCxnSpPr>
          <p:cNvPr id="60" name="Connector 59"/>
          <p:cNvCxnSpPr/>
          <p:nvPr/>
        </p:nvCxnSpPr>
        <p:spPr>
          <a:xfrm>
            <a:off x="180975" y="1335828"/>
            <a:ext cx="70389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180975" y="1427096"/>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Demand-side conditions are led by Adoption Depth (8.2/10), Premiumisation (7.3/10), Demand Growth (7.2/10) on a 0-10 scale scored from the latin america dataset itself.</a:t>
            </a:r>
          </a:p>
        </p:txBody>
      </p:sp>
      <p:sp>
        <p:nvSpPr>
          <p:cNvPr id="62" name="TextBox 61"/>
          <p:cNvSpPr txBox="1"/>
          <p:nvPr/>
        </p:nvSpPr>
        <p:spPr>
          <a:xfrm>
            <a:off x="180975" y="1883439"/>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Value grows at 7.2% against volume at 5.7% a premiumising market through 2036.</a:t>
            </a:r>
          </a:p>
        </p:txBody>
      </p:sp>
      <p:sp>
        <p:nvSpPr>
          <p:cNvPr id="63" name="TextBox 62"/>
          <p:cNvSpPr txBox="1"/>
          <p:nvPr/>
        </p:nvSpPr>
        <p:spPr>
          <a:xfrm>
            <a:off x="180975" y="2157244"/>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'Rollstock Films' carries 54.1% of product type demand while 'Premade Pouches &amp; Bags' compounds fastest at 7.2%.</a:t>
            </a:r>
          </a:p>
        </p:txBody>
      </p:sp>
      <p:sp>
        <p:nvSpPr>
          <p:cNvPr id="64" name="TextBox 63"/>
          <p:cNvSpPr txBox="1"/>
          <p:nvPr/>
        </p:nvSpPr>
        <p:spPr>
          <a:xfrm>
            <a:off x="180975" y="2613586"/>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Pull is strongest in 'Colombia' (8.4% CAGR, +123 BPS versus the market), with 3 of 4 countries at or above pace.</a:t>
            </a:r>
          </a:p>
        </p:txBody>
      </p:sp>
      <p:sp>
        <p:nvSpPr>
          <p:cNvPr id="65" name="TextBox 64"/>
          <p:cNvSpPr txBox="1"/>
          <p:nvPr/>
        </p:nvSpPr>
        <p:spPr>
          <a:xfrm>
            <a:off x="180975" y="3069929"/>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Reach runs through 2 application routes, led by 'Food Packaging' at 83.7% and with 'Food Packaging' growing fastest at 7.2%.</a:t>
            </a:r>
          </a:p>
        </p:txBody>
      </p:sp>
      <p:sp>
        <p:nvSpPr>
          <p:cNvPr id="66" name="TextBox 65"/>
          <p:cNvSpPr txBox="1"/>
          <p:nvPr/>
        </p:nvSpPr>
        <p:spPr>
          <a:xfrm>
            <a:off x="180975" y="3526271"/>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Flexible Plastic Packaging Market Restraints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restraints on the Latin America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1025515"/>
            <a:ext cx="2038350" cy="255552"/>
          </a:xfrm>
          <a:prstGeom prst="roundRect">
            <a:avLst>
              <a:gd name="adj" fmla="val 1869"/>
            </a:avLst>
          </a:prstGeom>
          <a:solidFill>
            <a:srgbClr val="C0603A"/>
          </a:solidFill>
          <a:ln w="12700">
            <a:solidFill>
              <a:srgbClr val="C060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Restraints</a:t>
            </a:r>
          </a:p>
        </p:txBody>
      </p:sp>
      <p:sp>
        <p:nvSpPr>
          <p:cNvPr id="13" name="Rectangle 12"/>
          <p:cNvSpPr/>
          <p:nvPr/>
        </p:nvSpPr>
        <p:spPr>
          <a:xfrm>
            <a:off x="142875" y="139058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Sachets &amp; Stick Packs Lags the Category and Dilutes Blended Growth</a:t>
            </a:r>
          </a:p>
        </p:txBody>
      </p:sp>
      <p:sp>
        <p:nvSpPr>
          <p:cNvPr id="15" name="TextBox 14"/>
          <p:cNvSpPr txBox="1"/>
          <p:nvPr/>
        </p:nvSpPr>
        <p:spPr>
          <a:xfrm>
            <a:off x="161925" y="1700902"/>
            <a:ext cx="9439275"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'Sachets &amp; Stick Packs' grows at only 6.9% CAGR against the market's 7.2%, a -23 BPS gap, and 'Sachets &amp; Stick Packs' surrenders 15 BPS of product type share between 2026 and 2036. Because these lines still carry meaningful volume, the drag is absorbed by the whole category: blended growth sits below what the leading lines achieve on their own. Rationalising or repositioning the lagging end of a 4-line portfolio is therefore a precondition for realising the headline forecast.</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Uneven Country Performance Caps the Blended Rate</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'Brazil' grows at just 6.3% CAGR -90 BPS against the market and 1 of 4 countries sit below the market pace altogether. Demand is therefore not uniformly available: suppliers carrying a broad geographic footprint fund presence in slow countries out of returns earned in the fast ones. With 'Brazil' at 35.8% of value, a shortfall in a single leading country is difficult to offset elsewhere in the forecast window.</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Concentration Risk Limits Pricing and Sourcing Flexibility</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The market is concentrated: 'Brazil' accounts for 35.8% of 2036 value and the leading product type line for 54.1% of its segment. Average realisation moves 1.3% a year, so cost movements cannot be passed on evenly across 4 countries. The practical constraint is the same in either case commercial terms set for the market as a whole underserve part of it, and margin is lost in the mismatch rather than in the headline growth rate.</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Flexible Plastic Packaging Market Opportunities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opportunities in the Latin America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1025515"/>
            <a:ext cx="2038350" cy="255552"/>
          </a:xfrm>
          <a:prstGeom prst="roundRect">
            <a:avLst>
              <a:gd name="adj" fmla="val 1869"/>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Opportunities</a:t>
            </a:r>
          </a:p>
        </p:txBody>
      </p:sp>
      <p:sp>
        <p:nvSpPr>
          <p:cNvPr id="13" name="Rectangle 12"/>
          <p:cNvSpPr/>
          <p:nvPr/>
        </p:nvSpPr>
        <p:spPr>
          <a:xfrm>
            <a:off x="142875" y="139058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Mexico Carries the Largest Absolute Opportunity</a:t>
            </a:r>
          </a:p>
        </p:txBody>
      </p:sp>
      <p:sp>
        <p:nvSpPr>
          <p:cNvPr id="15" name="TextBox 14"/>
          <p:cNvSpPr txBox="1"/>
          <p:nvPr/>
        </p:nvSpPr>
        <p:spPr>
          <a:xfrm>
            <a:off x="161925" y="170090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'Mexico' adds 2,956 US$ Mn between 2026 and 2036 the single largest absolute increment of any geography in the dataset. Capturing it is a question of scale execution rather than market creation: demand already exists and grows at 7.2% at the market level. Prioritising supply, channel coverage and service levels there converts the largest share of the 8,294 US$ Mn the whole market adds over the forecast period.</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Colombia Offers Under-penetrated, Above-pace Headroom</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'Colombia' compounds at 8.4% CAGR from a below-median base one of 1 geographies in the dataset combining above-median growth with below-median size. That profile is where share is cheapest to buy: competitive intensity is lower than in the 35.8%-share leaders, while growth runs +123 BPS ahead of the market. Early distribution and reference accounts established here compound through 2036.</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Food Packaging Opens the Fastest Route to Market</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'Food Packaging' grows at 7.2% CAGR, the fastest of 2 application routes, and adds 6,944 US$ Mn over the forecast period while 'Food Packaging' still carries 83.7% of demand today. Pairing the incumbent route for volume with the fastest route for growth and leading with 'Premade Pouches &amp; Bags' at 7.2% is the highest-yield combination the dataset supports.</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Flexible Plastic Packaging Market Recent Developments &amp; Milestones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Recent developments and milestones shaping the Latin America market, by year</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ectangle 10"/>
          <p:cNvSpPr/>
          <p:nvPr/>
        </p:nvSpPr>
        <p:spPr>
          <a:xfrm>
            <a:off x="142875" y="1025515"/>
            <a:ext cx="11906250" cy="29205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1428750" cy="292059"/>
          </a:xfrm>
          <a:prstGeom prst="rect">
            <a:avLst/>
          </a:prstGeom>
          <a:noFill/>
        </p:spPr>
        <p:txBody>
          <a:bodyPr wrap="square" lIns="28575" rIns="28575" tIns="9525" bIns="9525" anchor="ctr">
            <a:spAutoFit/>
          </a:bodyPr>
          <a:lstStyle/>
          <a:p>
            <a:pPr algn="ctr"/>
            <a:r>
              <a:rPr sz="1150" b="1">
                <a:solidFill>
                  <a:srgbClr val="FFFFFF"/>
                </a:solidFill>
                <a:latin typeface="Calibri"/>
              </a:rPr>
              <a:t>Year</a:t>
            </a:r>
          </a:p>
        </p:txBody>
      </p:sp>
      <p:sp>
        <p:nvSpPr>
          <p:cNvPr id="13" name="TextBox 12"/>
          <p:cNvSpPr txBox="1"/>
          <p:nvPr/>
        </p:nvSpPr>
        <p:spPr>
          <a:xfrm>
            <a:off x="1714500" y="1025515"/>
            <a:ext cx="10239375" cy="292059"/>
          </a:xfrm>
          <a:prstGeom prst="rect">
            <a:avLst/>
          </a:prstGeom>
          <a:noFill/>
        </p:spPr>
        <p:txBody>
          <a:bodyPr wrap="square" lIns="28575" rIns="28575" tIns="9525" bIns="9525" anchor="ctr">
            <a:spAutoFit/>
          </a:bodyPr>
          <a:lstStyle/>
          <a:p>
            <a:pPr algn="ctr"/>
            <a:r>
              <a:rPr sz="1150" b="1">
                <a:solidFill>
                  <a:srgbClr val="FFFFFF"/>
                </a:solidFill>
                <a:latin typeface="Calibri"/>
              </a:rPr>
              <a:t>Recent Development</a:t>
            </a:r>
          </a:p>
        </p:txBody>
      </p:sp>
      <p:sp>
        <p:nvSpPr>
          <p:cNvPr id="14" name="Rectangle 13"/>
          <p:cNvSpPr/>
          <p:nvPr/>
        </p:nvSpPr>
        <p:spPr>
          <a:xfrm>
            <a:off x="142875" y="1317574"/>
            <a:ext cx="11906250" cy="1296013"/>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142875" y="1317574"/>
            <a:ext cx="1428750" cy="1296013"/>
          </a:xfrm>
          <a:prstGeom prst="rect">
            <a:avLst/>
          </a:prstGeom>
          <a:noFill/>
        </p:spPr>
        <p:txBody>
          <a:bodyPr wrap="square" lIns="28575" rIns="28575" tIns="9525" bIns="9525" anchor="ctr">
            <a:spAutoFit/>
          </a:bodyPr>
          <a:lstStyle/>
          <a:p>
            <a:pPr algn="ctr"/>
            <a:r>
              <a:rPr sz="1250" b="1">
                <a:solidFill>
                  <a:srgbClr val="0B2E4A"/>
                </a:solidFill>
                <a:latin typeface="Calibri"/>
              </a:rPr>
              <a:t>2025</a:t>
            </a:r>
          </a:p>
        </p:txBody>
      </p:sp>
      <p:cxnSp>
        <p:nvCxnSpPr>
          <p:cNvPr id="16" name="Connector 15"/>
          <p:cNvCxnSpPr/>
          <p:nvPr/>
        </p:nvCxnSpPr>
        <p:spPr>
          <a:xfrm>
            <a:off x="1571625" y="1317574"/>
            <a:ext cx="0" cy="1296013"/>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1714500" y="1668957"/>
            <a:ext cx="102108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Strongest historical expansion on record: Latin America value rose +5.3% year on year to 7,859 US$ Mn, the steepest single-year move of the 2021–2025 period. Demand for 'Rollstock Films' 54.1% of product type value by 2036 set the pace, and the 2 application routes tracked here all carried volume through the year.</a:t>
            </a:r>
          </a:p>
        </p:txBody>
      </p:sp>
      <p:sp>
        <p:nvSpPr>
          <p:cNvPr id="18" name="Rectangle 17"/>
          <p:cNvSpPr/>
          <p:nvPr/>
        </p:nvSpPr>
        <p:spPr>
          <a:xfrm>
            <a:off x="142875" y="2613586"/>
            <a:ext cx="11906250" cy="985700"/>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42875" y="2613586"/>
            <a:ext cx="1428750" cy="985700"/>
          </a:xfrm>
          <a:prstGeom prst="rect">
            <a:avLst/>
          </a:prstGeom>
          <a:noFill/>
        </p:spPr>
        <p:txBody>
          <a:bodyPr wrap="square" lIns="28575" rIns="28575" tIns="9525" bIns="9525" anchor="ctr">
            <a:spAutoFit/>
          </a:bodyPr>
          <a:lstStyle/>
          <a:p>
            <a:pPr algn="ctr"/>
            <a:r>
              <a:rPr sz="1250" b="1">
                <a:solidFill>
                  <a:srgbClr val="0B2E4A"/>
                </a:solidFill>
                <a:latin typeface="Calibri"/>
              </a:rPr>
              <a:t>2026</a:t>
            </a:r>
          </a:p>
        </p:txBody>
      </p:sp>
      <p:cxnSp>
        <p:nvCxnSpPr>
          <p:cNvPr id="20" name="Connector 19"/>
          <p:cNvCxnSpPr/>
          <p:nvPr/>
        </p:nvCxnSpPr>
        <p:spPr>
          <a:xfrm>
            <a:off x="1571625" y="2613586"/>
            <a:ext cx="0" cy="98570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1714500" y="2905646"/>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Base year for the forecast: the latin america market is estimated at 8,324 US$ Mn, having compounded at 5.2% across 2021–2025. 'Brazil' holds 35.8% of value across 4 countries, and the forecast is built from 6 segment breakdowns covering 4 product type lines.</a:t>
            </a:r>
          </a:p>
        </p:txBody>
      </p:sp>
      <p:sp>
        <p:nvSpPr>
          <p:cNvPr id="22" name="Rectangle 21"/>
          <p:cNvSpPr/>
          <p:nvPr/>
        </p:nvSpPr>
        <p:spPr>
          <a:xfrm>
            <a:off x="142875" y="3599286"/>
            <a:ext cx="11906250" cy="985700"/>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42875" y="3599286"/>
            <a:ext cx="1428750" cy="985700"/>
          </a:xfrm>
          <a:prstGeom prst="rect">
            <a:avLst/>
          </a:prstGeom>
          <a:noFill/>
        </p:spPr>
        <p:txBody>
          <a:bodyPr wrap="square" lIns="28575" rIns="28575" tIns="9525" bIns="9525" anchor="ctr">
            <a:spAutoFit/>
          </a:bodyPr>
          <a:lstStyle/>
          <a:p>
            <a:pPr algn="ctr"/>
            <a:r>
              <a:rPr sz="1250" b="1">
                <a:solidFill>
                  <a:srgbClr val="0B2E4A"/>
                </a:solidFill>
                <a:latin typeface="Calibri"/>
              </a:rPr>
              <a:t>2033</a:t>
            </a:r>
          </a:p>
        </p:txBody>
      </p:sp>
      <p:cxnSp>
        <p:nvCxnSpPr>
          <p:cNvPr id="24" name="Connector 23"/>
          <p:cNvCxnSpPr/>
          <p:nvPr/>
        </p:nvCxnSpPr>
        <p:spPr>
          <a:xfrm>
            <a:off x="1571625" y="3599286"/>
            <a:ext cx="0" cy="98570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1714500" y="3891345"/>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The market passes 12,486 US$ Mn one and a half times the 2026 base reaching 13,364 US$ Mn. Growth by this point is led by 'Premade Pouches &amp; Bags' at 7.2% CAGR and by 'Colombia' among countries at 8.4%, with 3 of 4 countries running at or above the market rate.</a:t>
            </a:r>
          </a:p>
        </p:txBody>
      </p:sp>
      <p:sp>
        <p:nvSpPr>
          <p:cNvPr id="26" name="Rectangle 25"/>
          <p:cNvSpPr/>
          <p:nvPr/>
        </p:nvSpPr>
        <p:spPr>
          <a:xfrm>
            <a:off x="142875" y="4584986"/>
            <a:ext cx="11906250" cy="985700"/>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142875" y="4584986"/>
            <a:ext cx="1428750" cy="985700"/>
          </a:xfrm>
          <a:prstGeom prst="rect">
            <a:avLst/>
          </a:prstGeom>
          <a:noFill/>
        </p:spPr>
        <p:txBody>
          <a:bodyPr wrap="square" lIns="28575" rIns="28575" tIns="9525" bIns="9525" anchor="ctr">
            <a:spAutoFit/>
          </a:bodyPr>
          <a:lstStyle/>
          <a:p>
            <a:pPr algn="ctr"/>
            <a:r>
              <a:rPr sz="1250" b="1">
                <a:solidFill>
                  <a:srgbClr val="0B2E4A"/>
                </a:solidFill>
                <a:latin typeface="Calibri"/>
              </a:rPr>
              <a:t>2031</a:t>
            </a:r>
          </a:p>
        </p:txBody>
      </p:sp>
      <p:cxnSp>
        <p:nvCxnSpPr>
          <p:cNvPr id="28" name="Connector 27"/>
          <p:cNvCxnSpPr/>
          <p:nvPr/>
        </p:nvCxnSpPr>
        <p:spPr>
          <a:xfrm>
            <a:off x="1571625" y="4584986"/>
            <a:ext cx="0" cy="98570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1714500" y="4877045"/>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Mid-horizon checkpoint: value reaches 11,552 US$ Mn, 1.39× the 2026 base. Average realisation stands at 3104.91 US$/MT, and mix has moved +21 BPS toward 'Premade Pouches &amp; Bags' while 'Sachets &amp; Stick Packs' gives up 15 BPS.</a:t>
            </a:r>
          </a:p>
        </p:txBody>
      </p:sp>
      <p:sp>
        <p:nvSpPr>
          <p:cNvPr id="30" name="Rectangle 29"/>
          <p:cNvSpPr/>
          <p:nvPr/>
        </p:nvSpPr>
        <p:spPr>
          <a:xfrm>
            <a:off x="142875" y="5570686"/>
            <a:ext cx="11906250" cy="985700"/>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142875" y="5570686"/>
            <a:ext cx="1428750" cy="985700"/>
          </a:xfrm>
          <a:prstGeom prst="rect">
            <a:avLst/>
          </a:prstGeom>
          <a:noFill/>
        </p:spPr>
        <p:txBody>
          <a:bodyPr wrap="square" lIns="28575" rIns="28575" tIns="9525" bIns="9525" anchor="ctr">
            <a:spAutoFit/>
          </a:bodyPr>
          <a:lstStyle/>
          <a:p>
            <a:pPr algn="ctr"/>
            <a:r>
              <a:rPr sz="1250" b="1">
                <a:solidFill>
                  <a:srgbClr val="0B2E4A"/>
                </a:solidFill>
                <a:latin typeface="Calibri"/>
              </a:rPr>
              <a:t>2036</a:t>
            </a:r>
          </a:p>
        </p:txBody>
      </p:sp>
      <p:cxnSp>
        <p:nvCxnSpPr>
          <p:cNvPr id="32" name="Connector 31"/>
          <p:cNvCxnSpPr/>
          <p:nvPr/>
        </p:nvCxnSpPr>
        <p:spPr>
          <a:xfrm>
            <a:off x="1571625" y="5570686"/>
            <a:ext cx="0" cy="98570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714500" y="5862745"/>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Forecast outcome: the latin america market reaches 16,618 US$ Mn, a 2.0× expansion on 2026 and 8,294 US$ Mn of incremental value at 7.2% CAGR. Volume compounds at 5.7% over the same window, leaving realisation 1.3% a year the gap between the two is the premiumisation the forecast assumes.</a:t>
            </a:r>
          </a:p>
        </p:txBody>
      </p:sp>
      <p:sp>
        <p:nvSpPr>
          <p:cNvPr id="34" name="TextBox 3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Porter's Five Forces Analysis Latin America Flexible Plastic Packaging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supplier power, buyer power, competition, substitutes and entry barriers shaping the market's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142875" y="989007"/>
            <a:ext cx="11906250" cy="328567"/>
          </a:xfrm>
          <a:prstGeom prst="rect">
            <a:avLst/>
          </a:prstGeom>
          <a:noFill/>
        </p:spPr>
        <p:txBody>
          <a:bodyPr wrap="square" lIns="28575" rIns="28575" tIns="9525" bIns="9525" anchor="ctr">
            <a:spAutoFit/>
          </a:bodyPr>
          <a:lstStyle/>
          <a:p>
            <a:pPr algn="l">
              <a:lnSpc>
                <a:spcPct val="115000"/>
              </a:lnSpc>
            </a:pPr>
            <a:r>
              <a:rPr sz="1100" b="0">
                <a:solidFill>
                  <a:srgbClr val="6C7A89"/>
                </a:solidFill>
                <a:latin typeface="Calibri"/>
              </a:rPr>
              <a:t>Supplier power, buyer power, competitive intensity, substitution and entry barriers scored from the latin america dataset 4 product type lines, 2 application routes and 4 countries at 7.2% CAGR.</a:t>
            </a:r>
          </a:p>
        </p:txBody>
      </p:sp>
      <p:sp>
        <p:nvSpPr>
          <p:cNvPr id="12" name="Oval 11"/>
          <p:cNvSpPr/>
          <p:nvPr/>
        </p:nvSpPr>
        <p:spPr>
          <a:xfrm>
            <a:off x="876300" y="1427096"/>
            <a:ext cx="914400" cy="876177"/>
          </a:xfrm>
          <a:prstGeom prst="ellipse">
            <a:avLst/>
          </a:prstGeom>
          <a:solidFill>
            <a:srgbClr val="F2D24B"/>
          </a:solidFill>
          <a:ln w="12700">
            <a:solidFill>
              <a:srgbClr val="F2D24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047750" y="1664394"/>
            <a:ext cx="571500" cy="401581"/>
          </a:xfrm>
          <a:prstGeom prst="rect">
            <a:avLst/>
          </a:prstGeom>
          <a:noFill/>
        </p:spPr>
        <p:txBody>
          <a:bodyPr wrap="none" lIns="0" rIns="0" tIns="0" bIns="0" anchor="ctr">
            <a:spAutoFit/>
          </a:bodyPr>
          <a:lstStyle/>
          <a:p>
            <a:pPr algn="ctr"/>
            <a:r>
              <a:rPr sz="3400" b="1">
                <a:solidFill>
                  <a:srgbClr val="8A6A00"/>
                </a:solidFill>
                <a:latin typeface="Calibri"/>
              </a:rPr>
              <a:t>$</a:t>
            </a:r>
          </a:p>
        </p:txBody>
      </p:sp>
      <p:sp>
        <p:nvSpPr>
          <p:cNvPr id="14" name="TextBox 13"/>
          <p:cNvSpPr txBox="1"/>
          <p:nvPr/>
        </p:nvSpPr>
        <p:spPr>
          <a:xfrm>
            <a:off x="219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Suppliers</a:t>
            </a:r>
          </a:p>
        </p:txBody>
      </p:sp>
      <p:sp>
        <p:nvSpPr>
          <p:cNvPr id="15" name="TextBox 14"/>
          <p:cNvSpPr txBox="1"/>
          <p:nvPr/>
        </p:nvSpPr>
        <p:spPr>
          <a:xfrm>
            <a:off x="247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moderate to high. 'Brazil' supplies 35.8% of 2036 value across 4 countries, concentrating upstream leverage.</a:t>
            </a:r>
          </a:p>
        </p:txBody>
      </p:sp>
      <p:sp>
        <p:nvSpPr>
          <p:cNvPr id="16" name="TextBox 15"/>
          <p:cNvSpPr txBox="1"/>
          <p:nvPr/>
        </p:nvSpPr>
        <p:spPr>
          <a:xfrm>
            <a:off x="2476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Average realisation moves 1.3% a year (2026–2036), indicating input costs are being passed through.</a:t>
            </a:r>
          </a:p>
        </p:txBody>
      </p:sp>
      <p:sp>
        <p:nvSpPr>
          <p:cNvPr id="17" name="TextBox 16"/>
          <p:cNvSpPr txBox="1"/>
          <p:nvPr/>
        </p:nvSpPr>
        <p:spPr>
          <a:xfrm>
            <a:off x="247650" y="4530225"/>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Buyers can rebalance across 4 product type lines, which caps supplier leverage in commodity grades.</a:t>
            </a:r>
          </a:p>
        </p:txBody>
      </p:sp>
      <p:sp>
        <p:nvSpPr>
          <p:cNvPr id="18" name="Oval 17"/>
          <p:cNvSpPr/>
          <p:nvPr/>
        </p:nvSpPr>
        <p:spPr>
          <a:xfrm>
            <a:off x="3257550" y="1427096"/>
            <a:ext cx="914400" cy="876177"/>
          </a:xfrm>
          <a:prstGeom prst="ellipse">
            <a:avLst/>
          </a:prstGeom>
          <a:solidFill>
            <a:srgbClr val="D9D9D9"/>
          </a:solidFill>
          <a:ln w="12700">
            <a:solidFill>
              <a:srgbClr val="D9D9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3476625" y="1710028"/>
            <a:ext cx="152400" cy="209918"/>
          </a:xfrm>
          <a:custGeom>
            <a:avLst/>
            <a:gdLst/>
            <a:ahLst/>
            <a:cxnLst/>
            <a:rect l="l" t="t" r="r" b="b"/>
            <a:pathLst>
              <a:path w="16" h="23">
                <a:moveTo>
                  <a:pt x="0" y="0"/>
                </a:moveTo>
                <a:lnTo>
                  <a:pt x="8" y="0"/>
                </a:lnTo>
                <a:lnTo>
                  <a:pt x="16" y="23"/>
                </a:lnTo>
              </a:path>
            </a:pathLst>
          </a:custGeom>
          <a:noFill/>
          <a:ln w="4318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3609975" y="1783043"/>
            <a:ext cx="342900" cy="155156"/>
          </a:xfrm>
          <a:custGeom>
            <a:avLst/>
            <a:gdLst/>
            <a:ahLst/>
            <a:cxnLst/>
            <a:rect l="l" t="t" r="r" b="b"/>
            <a:pathLst>
              <a:path w="36" h="17">
                <a:moveTo>
                  <a:pt x="0" y="0"/>
                </a:moveTo>
                <a:lnTo>
                  <a:pt x="36" y="0"/>
                </a:lnTo>
                <a:lnTo>
                  <a:pt x="31" y="17"/>
                </a:lnTo>
                <a:lnTo>
                  <a:pt x="5" y="17"/>
                </a:lnTo>
                <a:close/>
              </a:path>
            </a:pathLst>
          </a:custGeom>
          <a:solidFill>
            <a:srgbClr val="2B2B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Oval 20"/>
          <p:cNvSpPr/>
          <p:nvPr/>
        </p:nvSpPr>
        <p:spPr>
          <a:xfrm>
            <a:off x="3648075"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3829050"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6003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Buyers</a:t>
            </a:r>
          </a:p>
        </p:txBody>
      </p:sp>
      <p:sp>
        <p:nvSpPr>
          <p:cNvPr id="24" name="TextBox 23"/>
          <p:cNvSpPr txBox="1"/>
          <p:nvPr/>
        </p:nvSpPr>
        <p:spPr>
          <a:xfrm>
            <a:off x="262890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low. Demand routes through 2 application channels led by 'Food Packaging' at 83.7%, giving large buyers scale.</a:t>
            </a:r>
          </a:p>
        </p:txBody>
      </p:sp>
      <p:sp>
        <p:nvSpPr>
          <p:cNvPr id="25" name="TextBox 24"/>
          <p:cNvSpPr txBox="1"/>
          <p:nvPr/>
        </p:nvSpPr>
        <p:spPr>
          <a:xfrm>
            <a:off x="2628900" y="3663174"/>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Price sensitivity tracks realisation moving 1.3% a year against volume growth of 5.7%.</a:t>
            </a:r>
          </a:p>
        </p:txBody>
      </p:sp>
      <p:sp>
        <p:nvSpPr>
          <p:cNvPr id="26" name="TextBox 25"/>
          <p:cNvSpPr txBox="1"/>
          <p:nvPr/>
        </p:nvSpPr>
        <p:spPr>
          <a:xfrm>
            <a:off x="262890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Switching is easiest where 4 comparable product type lines compete for the same demand.</a:t>
            </a:r>
          </a:p>
        </p:txBody>
      </p:sp>
      <p:sp>
        <p:nvSpPr>
          <p:cNvPr id="27" name="Oval 26"/>
          <p:cNvSpPr/>
          <p:nvPr/>
        </p:nvSpPr>
        <p:spPr>
          <a:xfrm>
            <a:off x="5638800" y="1427096"/>
            <a:ext cx="914400" cy="876177"/>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Oval 27"/>
          <p:cNvSpPr/>
          <p:nvPr/>
        </p:nvSpPr>
        <p:spPr>
          <a:xfrm>
            <a:off x="5876925" y="1655267"/>
            <a:ext cx="438150" cy="419835"/>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5943600" y="1719155"/>
            <a:ext cx="304800" cy="292059"/>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6010275" y="1783043"/>
            <a:ext cx="171450" cy="164283"/>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6062662" y="1833240"/>
            <a:ext cx="66675" cy="63888"/>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6134100" y="1627887"/>
            <a:ext cx="209550" cy="200791"/>
          </a:xfrm>
          <a:custGeom>
            <a:avLst/>
            <a:gdLst/>
            <a:ahLst/>
            <a:cxnLst/>
            <a:rect l="l" t="t" r="r" b="b"/>
            <a:pathLst>
              <a:path w="22" h="22">
                <a:moveTo>
                  <a:pt x="0" y="22"/>
                </a:moveTo>
                <a:lnTo>
                  <a:pt x="22" y="0"/>
                </a:lnTo>
              </a:path>
            </a:pathLst>
          </a:custGeom>
          <a:noFill/>
          <a:ln w="381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6267450" y="1591379"/>
            <a:ext cx="114300" cy="109522"/>
          </a:xfrm>
          <a:custGeom>
            <a:avLst/>
            <a:gdLst/>
            <a:ahLst/>
            <a:cxnLst/>
            <a:rect l="l" t="t" r="r" b="b"/>
            <a:pathLst>
              <a:path w="12" h="12">
                <a:moveTo>
                  <a:pt x="0" y="0"/>
                </a:moveTo>
                <a:lnTo>
                  <a:pt x="12" y="0"/>
                </a:lnTo>
                <a:lnTo>
                  <a:pt x="12" y="12"/>
                </a:lnTo>
                <a:close/>
              </a:path>
            </a:pathLst>
          </a:custGeom>
          <a:solidFill>
            <a:srgbClr val="B23A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49815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Intensity of Competition</a:t>
            </a:r>
          </a:p>
        </p:txBody>
      </p:sp>
      <p:sp>
        <p:nvSpPr>
          <p:cNvPr id="35" name="TextBox 34"/>
          <p:cNvSpPr txBox="1"/>
          <p:nvPr/>
        </p:nvSpPr>
        <p:spPr>
          <a:xfrm>
            <a:off x="5010150" y="2796123"/>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moderate. 4 product type lines compete inside the segment; the leader holds 54.1%.</a:t>
            </a:r>
          </a:p>
        </p:txBody>
      </p:sp>
      <p:sp>
        <p:nvSpPr>
          <p:cNvPr id="36" name="TextBox 35"/>
          <p:cNvSpPr txBox="1"/>
          <p:nvPr/>
        </p:nvSpPr>
        <p:spPr>
          <a:xfrm>
            <a:off x="5010150" y="3480637"/>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Growth is unevenly distributed 'Premade Pouches &amp; Bags' at 7.2% against 'Sachets &amp; Stick Packs' at 6.9%.</a:t>
            </a:r>
          </a:p>
        </p:txBody>
      </p:sp>
      <p:sp>
        <p:nvSpPr>
          <p:cNvPr id="37" name="TextBox 36"/>
          <p:cNvSpPr txBox="1"/>
          <p:nvPr/>
        </p:nvSpPr>
        <p:spPr>
          <a:xfrm>
            <a:off x="501015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3 of 4 countries grow at or above the 7.2% market pace, keeping share contested.</a:t>
            </a:r>
          </a:p>
        </p:txBody>
      </p:sp>
      <p:sp>
        <p:nvSpPr>
          <p:cNvPr id="38" name="Oval 37"/>
          <p:cNvSpPr/>
          <p:nvPr/>
        </p:nvSpPr>
        <p:spPr>
          <a:xfrm>
            <a:off x="8020050" y="1427096"/>
            <a:ext cx="914400" cy="876177"/>
          </a:xfrm>
          <a:prstGeom prst="ellipse">
            <a:avLst/>
          </a:prstGeom>
          <a:solidFill>
            <a:srgbClr val="C9C0E0"/>
          </a:solidFill>
          <a:ln w="12700">
            <a:solidFill>
              <a:srgbClr val="C9C0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ounded Rectangle 38"/>
          <p:cNvSpPr/>
          <p:nvPr/>
        </p:nvSpPr>
        <p:spPr>
          <a:xfrm>
            <a:off x="8382000" y="1637014"/>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ounded Rectangle 39"/>
          <p:cNvSpPr/>
          <p:nvPr/>
        </p:nvSpPr>
        <p:spPr>
          <a:xfrm>
            <a:off x="82486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ounded Rectangle 40"/>
          <p:cNvSpPr/>
          <p:nvPr/>
        </p:nvSpPr>
        <p:spPr>
          <a:xfrm>
            <a:off x="85153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3628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Substitutes</a:t>
            </a:r>
          </a:p>
        </p:txBody>
      </p:sp>
      <p:sp>
        <p:nvSpPr>
          <p:cNvPr id="43" name="TextBox 42"/>
          <p:cNvSpPr txBox="1"/>
          <p:nvPr/>
        </p:nvSpPr>
        <p:spPr>
          <a:xfrm>
            <a:off x="7391400" y="2796123"/>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low. 'Sachets &amp; Stick Packs' loses 15 BPS of share to 'Premade Pouches &amp; Bags' (+21 BPS) by 2036 substitution is visible inside the mix.</a:t>
            </a:r>
          </a:p>
        </p:txBody>
      </p:sp>
      <p:sp>
        <p:nvSpPr>
          <p:cNvPr id="44" name="TextBox 43"/>
          <p:cNvSpPr txBox="1"/>
          <p:nvPr/>
        </p:nvSpPr>
        <p:spPr>
          <a:xfrm>
            <a:off x="7391400" y="3854838"/>
            <a:ext cx="21717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The slowest line grows at 6.9%, -23 BPS against the market.</a:t>
            </a:r>
          </a:p>
        </p:txBody>
      </p:sp>
      <p:sp>
        <p:nvSpPr>
          <p:cNvPr id="45" name="TextBox 44"/>
          <p:cNvSpPr txBox="1"/>
          <p:nvPr/>
        </p:nvSpPr>
        <p:spPr>
          <a:xfrm>
            <a:off x="739140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Realisation moving 1.3% a year widens the price gap substitutes must close.</a:t>
            </a:r>
          </a:p>
        </p:txBody>
      </p:sp>
      <p:sp>
        <p:nvSpPr>
          <p:cNvPr id="46" name="Oval 45"/>
          <p:cNvSpPr/>
          <p:nvPr/>
        </p:nvSpPr>
        <p:spPr>
          <a:xfrm>
            <a:off x="10401300" y="1427096"/>
            <a:ext cx="914400" cy="876177"/>
          </a:xfrm>
          <a:prstGeom prst="ellipse">
            <a:avLst/>
          </a:prstGeom>
          <a:solidFill>
            <a:srgbClr val="BFDCEA"/>
          </a:solidFill>
          <a:ln w="12700">
            <a:solidFill>
              <a:srgbClr val="BFDC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10610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reeform 47"/>
          <p:cNvSpPr/>
          <p:nvPr/>
        </p:nvSpPr>
        <p:spPr>
          <a:xfrm>
            <a:off x="10563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10991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Freeform 49"/>
          <p:cNvSpPr/>
          <p:nvPr/>
        </p:nvSpPr>
        <p:spPr>
          <a:xfrm>
            <a:off x="10944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10782300" y="1609633"/>
            <a:ext cx="152400" cy="146030"/>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reeform 51"/>
          <p:cNvSpPr/>
          <p:nvPr/>
        </p:nvSpPr>
        <p:spPr>
          <a:xfrm>
            <a:off x="10715625" y="1783043"/>
            <a:ext cx="285750" cy="255552"/>
          </a:xfrm>
          <a:custGeom>
            <a:avLst/>
            <a:gdLst/>
            <a:ahLst/>
            <a:cxnLst/>
            <a:rect l="l" t="t" r="r" b="b"/>
            <a:pathLst>
              <a:path w="30" h="28">
                <a:moveTo>
                  <a:pt x="0" y="28"/>
                </a:moveTo>
                <a:lnTo>
                  <a:pt x="4" y="0"/>
                </a:lnTo>
                <a:lnTo>
                  <a:pt x="26" y="0"/>
                </a:lnTo>
                <a:lnTo>
                  <a:pt x="30" y="28"/>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744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New Entrants</a:t>
            </a:r>
          </a:p>
        </p:txBody>
      </p:sp>
      <p:sp>
        <p:nvSpPr>
          <p:cNvPr id="54" name="TextBox 53"/>
          <p:cNvSpPr txBox="1"/>
          <p:nvPr/>
        </p:nvSpPr>
        <p:spPr>
          <a:xfrm>
            <a:off x="9772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high. The market grows at 7.2% CAGR and adds 8,294 US$ Mn by 2036, attracting entry.</a:t>
            </a:r>
          </a:p>
        </p:txBody>
      </p:sp>
      <p:sp>
        <p:nvSpPr>
          <p:cNvPr id="55" name="TextBox 54"/>
          <p:cNvSpPr txBox="1"/>
          <p:nvPr/>
        </p:nvSpPr>
        <p:spPr>
          <a:xfrm>
            <a:off x="97726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Demand spreads over 4 countries with no single one above 35.8%, so regional entry is feasible.</a:t>
            </a:r>
          </a:p>
        </p:txBody>
      </p:sp>
      <p:sp>
        <p:nvSpPr>
          <p:cNvPr id="56" name="TextBox 55"/>
          <p:cNvSpPr txBox="1"/>
          <p:nvPr/>
        </p:nvSpPr>
        <p:spPr>
          <a:xfrm>
            <a:off x="9772650" y="4530225"/>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Incumbent scale in 'Brazil' and 'Rollstock Films' (54.1% of segment) remains the principal barrier.</a:t>
            </a:r>
          </a:p>
        </p:txBody>
      </p:sp>
      <p:sp>
        <p:nvSpPr>
          <p:cNvPr id="57" name="TextBox 5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1" i="0">
                          <a:solidFill>
                            <a:srgbClr val="000000"/>
                          </a:solidFill>
                          <a:latin typeface="Symbol"/>
                        </a:rPr>
                        <a:t></a:t>
                      </a:r>
                      <a:r>
                        <a:rPr sz="700" b="1" i="0">
                          <a:solidFill>
                            <a:srgbClr val="000000"/>
                          </a:solidFill>
                          <a:latin typeface="Times New Roman"/>
                        </a:rPr>
                        <a:t>         </a:t>
                      </a:r>
                      <a:r>
                        <a:rPr sz="1100" b="1" i="0">
                          <a:solidFill>
                            <a:srgbClr val="000000"/>
                          </a:solidFill>
                          <a:latin typeface="Calibri"/>
                        </a:rPr>
                        <a:t>Executive Summary</a:t>
                      </a:r>
                      <a:endParaRPr sz="1100"/>
                    </a:p>
                  </a:txBody>
                  <a:tcPr marL="17145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Global Market Snapshot</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Demand Trends</a:t>
                      </a:r>
                      <a:endParaRPr sz="1100"/>
                    </a:p>
                  </a:txBody>
                  <a:tcPr marL="685800" marR="9525" marT="9525" marB="0" anchor="ctr"/>
                </a:tc>
              </a:tr>
              <a:tr h="175260">
                <a:tc>
                  <a:txBody>
                    <a:bodyPr wrap="square"/>
                    <a:lstStyle/>
                    <a:p>
                      <a:pPr algn="l"/>
                      <a:r>
                        <a:rPr sz="1100" b="0" i="1">
                          <a:solidFill>
                            <a:srgbClr val="000000"/>
                          </a:solidFill>
                          <a:latin typeface="Calibri"/>
                        </a:rPr>
                        <a:t>1.1.1.1.</a:t>
                      </a:r>
                      <a:r>
                        <a:rPr sz="700" b="0" i="1">
                          <a:solidFill>
                            <a:srgbClr val="000000"/>
                          </a:solidFill>
                          <a:latin typeface="Times New Roman"/>
                        </a:rPr>
                        <a:t>    </a:t>
                      </a:r>
                      <a:r>
                        <a:rPr sz="1100" b="0" i="1">
                          <a:solidFill>
                            <a:srgbClr val="000000"/>
                          </a:solidFill>
                          <a:latin typeface="Calibri"/>
                        </a:rPr>
                        <a:t>Key Supply Trends</a:t>
                      </a:r>
                      <a:endParaRPr sz="1100"/>
                    </a:p>
                  </a:txBody>
                  <a:tcPr marL="10287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Technology Roadmap</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Analyst Takeaways &amp; Recommendations</a:t>
                      </a:r>
                      <a:endParaRPr sz="1100"/>
                    </a:p>
                  </a:txBody>
                  <a:tcPr marL="685800" marR="9525" marT="9525" marB="0" anchor="ctr"/>
                </a:tc>
              </a:tr>
              <a:tr h="175260">
                <a:tc>
                  <a:txBody>
                    <a:bodyPr wrap="square"/>
                    <a:lstStyle/>
                    <a:p>
                      <a:pPr algn="l"/>
                      <a:r>
                        <a:rPr sz="1100" b="1" i="0">
                          <a:solidFill>
                            <a:srgbClr val="000000"/>
                          </a:solidFill>
                          <a:latin typeface="Calibri"/>
                        </a:rPr>
                        <a:t>2.</a:t>
                      </a:r>
                      <a:r>
                        <a:rPr sz="700" b="1" i="0">
                          <a:solidFill>
                            <a:srgbClr val="000000"/>
                          </a:solidFill>
                          <a:latin typeface="Times New Roman"/>
                        </a:rPr>
                        <a:t>       </a:t>
                      </a:r>
                      <a:r>
                        <a:rPr sz="1100" b="1" i="0">
                          <a:solidFill>
                            <a:srgbClr val="000000"/>
                          </a:solidFill>
                          <a:latin typeface="Calibri"/>
                        </a:rPr>
                        <a:t>Market Overview</a:t>
                      </a:r>
                      <a:endParaRPr sz="1100"/>
                    </a:p>
                  </a:txBody>
                  <a:tcPr marL="171450" marR="9525" marT="9525" marB="0" anchor="ctr"/>
                </a:tc>
              </a:tr>
              <a:tr h="175260">
                <a:tc>
                  <a:txBody>
                    <a:bodyPr wrap="square"/>
                    <a:lstStyle/>
                    <a:p>
                      <a:pPr algn="l"/>
                      <a:r>
                        <a:rPr sz="1100" b="0" i="0">
                          <a:solidFill>
                            <a:srgbClr val="0070C0"/>
                          </a:solidFill>
                          <a:latin typeface="Calibri"/>
                        </a:rPr>
                        <a:t>2.1.</a:t>
                      </a:r>
                      <a:r>
                        <a:rPr sz="700" b="0" i="0">
                          <a:solidFill>
                            <a:srgbClr val="0070C0"/>
                          </a:solidFill>
                          <a:latin typeface="Times New Roman"/>
                        </a:rPr>
                        <a:t>    </a:t>
                      </a:r>
                      <a:r>
                        <a:rPr sz="1100" b="0" i="0">
                          <a:solidFill>
                            <a:srgbClr val="0070C0"/>
                          </a:solidFill>
                          <a:latin typeface="Calibri"/>
                        </a:rPr>
                        <a:t>Market Coverage / Taxonomy</a:t>
                      </a:r>
                      <a:endParaRPr sz="1100"/>
                    </a:p>
                  </a:txBody>
                  <a:tcPr marL="428625" marR="9525" marT="9525" marB="0" anchor="ctr"/>
                </a:tc>
              </a:tr>
              <a:tr h="175260">
                <a:tc>
                  <a:txBody>
                    <a:bodyPr wrap="square"/>
                    <a:lstStyle/>
                    <a:p>
                      <a:pPr algn="l"/>
                      <a:r>
                        <a:rPr sz="1100" b="0" i="0">
                          <a:solidFill>
                            <a:srgbClr val="0070C0"/>
                          </a:solidFill>
                          <a:latin typeface="Calibri"/>
                        </a:rPr>
                        <a:t>2.2.</a:t>
                      </a:r>
                      <a:r>
                        <a:rPr sz="700" b="0" i="0">
                          <a:solidFill>
                            <a:srgbClr val="0070C0"/>
                          </a:solidFill>
                          <a:latin typeface="Times New Roman"/>
                        </a:rPr>
                        <a:t>    </a:t>
                      </a:r>
                      <a:r>
                        <a:rPr sz="1100" b="0" i="0">
                          <a:solidFill>
                            <a:srgbClr val="0070C0"/>
                          </a:solidFill>
                          <a:latin typeface="Calibri"/>
                        </a:rPr>
                        <a:t>Market Definition By Segments Covered</a:t>
                      </a:r>
                      <a:endParaRPr sz="1100"/>
                    </a:p>
                  </a:txBody>
                  <a:tcPr marL="428625" marR="9525" marT="9525" marB="0" anchor="ctr"/>
                </a:tc>
              </a:tr>
              <a:tr h="175260">
                <a:tc>
                  <a:txBody>
                    <a:bodyPr wrap="square"/>
                    <a:lstStyle/>
                    <a:p>
                      <a:pPr algn="l"/>
                      <a:r>
                        <a:rPr sz="1100" b="1" i="0">
                          <a:solidFill>
                            <a:srgbClr val="000000"/>
                          </a:solidFill>
                          <a:latin typeface="Calibri"/>
                        </a:rPr>
                        <a:t>Section 1: Global Market Outlook</a:t>
                      </a:r>
                      <a:endParaRPr sz="1100"/>
                    </a:p>
                  </a:txBody>
                  <a:tcPr marL="9525" marR="9525" marT="9525" marB="0" anchor="ctr"/>
                </a:tc>
              </a:tr>
              <a:tr h="175260">
                <a:tc>
                  <a:txBody>
                    <a:bodyPr wrap="square"/>
                    <a:lstStyle/>
                    <a:p>
                      <a:pPr algn="l"/>
                      <a:r>
                        <a:rPr sz="1100" b="0" i="1">
                          <a:solidFill>
                            <a:srgbClr val="000000"/>
                          </a:solidFill>
                          <a:latin typeface="Calibri"/>
                        </a:rPr>
                        <a:t>2.2.1.1.</a:t>
                      </a:r>
                      <a:r>
                        <a:rPr sz="700" b="0" i="1">
                          <a:solidFill>
                            <a:srgbClr val="000000"/>
                          </a:solidFill>
                          <a:latin typeface="Times New Roman"/>
                        </a:rPr>
                        <a:t>    </a:t>
                      </a:r>
                      <a:r>
                        <a:rPr sz="1100" b="0" i="1">
                          <a:solidFill>
                            <a:srgbClr val="000000"/>
                          </a:solidFill>
                          <a:latin typeface="Calibri"/>
                        </a:rPr>
                        <a:t>Global Market Size (Value &amp; Volume) 2021–2036</a:t>
                      </a:r>
                      <a:endParaRPr sz="1100"/>
                    </a:p>
                  </a:txBody>
                  <a:tcPr marL="1028700" marR="9525" marT="9525" marB="0" anchor="ctr"/>
                </a:tc>
              </a:tr>
              <a:tr h="175260">
                <a:tc>
                  <a:txBody>
                    <a:bodyPr wrap="square"/>
                    <a:lstStyle/>
                    <a:p>
                      <a:pPr algn="l"/>
                      <a:r>
                        <a:rPr sz="1100" b="0" i="0">
                          <a:solidFill>
                            <a:srgbClr val="0070C0"/>
                          </a:solidFill>
                          <a:latin typeface="Calibri"/>
                        </a:rPr>
                        <a:t>2.3.</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2.4.</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2.5.</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2.6.</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1" i="0">
                          <a:solidFill>
                            <a:srgbClr val="000000"/>
                          </a:solidFill>
                          <a:latin typeface="Calibri"/>
                        </a:rPr>
                        <a:t>3.</a:t>
                      </a:r>
                      <a:r>
                        <a:rPr sz="700" b="1" i="0">
                          <a:solidFill>
                            <a:srgbClr val="000000"/>
                          </a:solidFill>
                          <a:latin typeface="Times New Roman"/>
                        </a:rPr>
                        <a:t>       </a:t>
                      </a:r>
                      <a:r>
                        <a:rPr sz="1100" b="1" i="0">
                          <a:solidFill>
                            <a:srgbClr val="000000"/>
                          </a:solidFill>
                          <a:latin typeface="Calibri"/>
                        </a:rPr>
                        <a:t>Global Market (Value- Volume) Analysis 2021-2036, By Product Type</a:t>
                      </a:r>
                      <a:endParaRPr sz="1100"/>
                    </a:p>
                  </a:txBody>
                  <a:tcPr marL="171450" marR="9525" marT="9525" marB="0" anchor="ctr"/>
                </a:tc>
              </a:tr>
              <a:tr h="175260">
                <a:tc>
                  <a:txBody>
                    <a:bodyPr wrap="square"/>
                    <a:lstStyle/>
                    <a:p>
                      <a:pPr algn="l"/>
                      <a:r>
                        <a:rPr sz="1100" b="0" i="0">
                          <a:solidFill>
                            <a:srgbClr val="0070C0"/>
                          </a:solidFill>
                          <a:latin typeface="Calibri"/>
                        </a:rPr>
                        <a:t>3.1.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3.2.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3.3.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3.4.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3.5.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3.5.1.</a:t>
                      </a:r>
                      <a:r>
                        <a:rPr sz="700" b="0" i="0">
                          <a:solidFill>
                            <a:srgbClr val="000000"/>
                          </a:solidFill>
                          <a:latin typeface="Times New Roman"/>
                        </a:rPr>
                        <a:t>   </a:t>
                      </a:r>
                      <a:r>
                        <a:rPr sz="1100" b="0" i="0">
                          <a:solidFill>
                            <a:srgbClr val="000000"/>
                          </a:solidFill>
                          <a:latin typeface="Calibri"/>
                        </a:rPr>
                        <a:t>Flat Polybags</a:t>
                      </a:r>
                      <a:endParaRPr sz="1100"/>
                    </a:p>
                  </a:txBody>
                  <a:tcPr marL="771525" marR="9525" marT="9525" marB="0" anchor="ctr"/>
                </a:tc>
              </a:tr>
              <a:tr h="175260">
                <a:tc>
                  <a:txBody>
                    <a:bodyPr wrap="square"/>
                    <a:lstStyle/>
                    <a:p>
                      <a:pPr algn="l"/>
                      <a:r>
                        <a:rPr sz="1100" b="0" i="1">
                          <a:solidFill>
                            <a:srgbClr val="000000"/>
                          </a:solidFill>
                          <a:latin typeface="Calibri"/>
                        </a:rPr>
                        <a:t>3.5.1.1.</a:t>
                      </a:r>
                      <a:r>
                        <a:rPr sz="700" b="0" i="1">
                          <a:solidFill>
                            <a:srgbClr val="000000"/>
                          </a:solidFill>
                          <a:latin typeface="Times New Roman"/>
                        </a:rPr>
                        <a:t>    </a:t>
                      </a:r>
                      <a:r>
                        <a:rPr sz="1100" b="0" i="1">
                          <a:solidFill>
                            <a:srgbClr val="000000"/>
                          </a:solidFill>
                          <a:latin typeface="Calibri"/>
                        </a:rPr>
                        <a:t>Standard Flat Bags</a:t>
                      </a:r>
                      <a:endParaRPr sz="1100"/>
                    </a:p>
                  </a:txBody>
                  <a:tcPr marL="1028700" marR="9525" marT="9525" marB="0" anchor="ctr"/>
                </a:tc>
              </a:tr>
              <a:tr h="175260">
                <a:tc>
                  <a:txBody>
                    <a:bodyPr wrap="square"/>
                    <a:lstStyle/>
                    <a:p>
                      <a:pPr algn="l"/>
                      <a:r>
                        <a:rPr sz="1100" b="0" i="1">
                          <a:solidFill>
                            <a:srgbClr val="000000"/>
                          </a:solidFill>
                          <a:latin typeface="Calibri"/>
                        </a:rPr>
                        <a:t>3.5.1.2.</a:t>
                      </a:r>
                      <a:r>
                        <a:rPr sz="700" b="0" i="1">
                          <a:solidFill>
                            <a:srgbClr val="000000"/>
                          </a:solidFill>
                          <a:latin typeface="Times New Roman"/>
                        </a:rPr>
                        <a:t>    </a:t>
                      </a:r>
                      <a:r>
                        <a:rPr sz="1100" b="0" i="1">
                          <a:solidFill>
                            <a:srgbClr val="000000"/>
                          </a:solidFill>
                          <a:latin typeface="Calibri"/>
                        </a:rPr>
                        <a:t>Lay Flat Tubing</a:t>
                      </a:r>
                      <a:endParaRPr sz="1100"/>
                    </a:p>
                  </a:txBody>
                  <a:tcPr marL="1028700" marR="9525" marT="9525" marB="0" anchor="ctr"/>
                </a:tc>
              </a:tr>
              <a:tr h="175260">
                <a:tc>
                  <a:txBody>
                    <a:bodyPr wrap="square"/>
                    <a:lstStyle/>
                    <a:p>
                      <a:pPr algn="l"/>
                      <a:r>
                        <a:rPr sz="1100" b="0" i="1">
                          <a:solidFill>
                            <a:srgbClr val="000000"/>
                          </a:solidFill>
                          <a:latin typeface="Calibri"/>
                        </a:rPr>
                        <a:t>3.5.1.3.</a:t>
                      </a:r>
                      <a:r>
                        <a:rPr sz="700" b="0" i="1">
                          <a:solidFill>
                            <a:srgbClr val="000000"/>
                          </a:solidFill>
                          <a:latin typeface="Times New Roman"/>
                        </a:rPr>
                        <a:t>    </a:t>
                      </a:r>
                      <a:r>
                        <a:rPr sz="1100" b="0" i="1">
                          <a:solidFill>
                            <a:srgbClr val="000000"/>
                          </a:solidFill>
                          <a:latin typeface="Calibri"/>
                        </a:rPr>
                        <a:t>Flat Poly Sleeves</a:t>
                      </a:r>
                      <a:endParaRPr sz="1100"/>
                    </a:p>
                  </a:txBody>
                  <a:tcPr marL="1028700" marR="9525" marT="9525" marB="0" anchor="ctr"/>
                </a:tc>
              </a:tr>
              <a:tr h="175260">
                <a:tc>
                  <a:txBody>
                    <a:bodyPr wrap="square"/>
                    <a:lstStyle/>
                    <a:p>
                      <a:pPr algn="l"/>
                      <a:r>
                        <a:rPr sz="1100" b="0" i="0">
                          <a:solidFill>
                            <a:srgbClr val="000000"/>
                          </a:solidFill>
                          <a:latin typeface="Calibri"/>
                        </a:rPr>
                        <a:t>3.5.2.</a:t>
                      </a:r>
                      <a:r>
                        <a:rPr sz="700" b="0" i="0">
                          <a:solidFill>
                            <a:srgbClr val="000000"/>
                          </a:solidFill>
                          <a:latin typeface="Times New Roman"/>
                        </a:rPr>
                        <a:t>   </a:t>
                      </a:r>
                      <a:r>
                        <a:rPr sz="1100" b="0" i="0">
                          <a:solidFill>
                            <a:srgbClr val="000000"/>
                          </a:solidFill>
                          <a:latin typeface="Calibri"/>
                        </a:rPr>
                        <a:t>Gusseted Polybags</a:t>
                      </a:r>
                      <a:endParaRPr sz="1100"/>
                    </a:p>
                  </a:txBody>
                  <a:tcPr marL="771525" marR="9525" marT="9525" marB="0" anchor="ctr"/>
                </a:tc>
              </a:tr>
              <a:tr h="175260">
                <a:tc>
                  <a:txBody>
                    <a:bodyPr wrap="square"/>
                    <a:lstStyle/>
                    <a:p>
                      <a:pPr algn="l"/>
                      <a:r>
                        <a:rPr sz="1100" b="0" i="1">
                          <a:solidFill>
                            <a:srgbClr val="000000"/>
                          </a:solidFill>
                          <a:latin typeface="Calibri"/>
                        </a:rPr>
                        <a:t>3.5.2.1.</a:t>
                      </a:r>
                      <a:r>
                        <a:rPr sz="700" b="0" i="1">
                          <a:solidFill>
                            <a:srgbClr val="000000"/>
                          </a:solidFill>
                          <a:latin typeface="Times New Roman"/>
                        </a:rPr>
                        <a:t>    </a:t>
                      </a:r>
                      <a:r>
                        <a:rPr sz="1100" b="0" i="1">
                          <a:solidFill>
                            <a:srgbClr val="000000"/>
                          </a:solidFill>
                          <a:latin typeface="Calibri"/>
                        </a:rPr>
                        <a:t>Side Gusset Bags</a:t>
                      </a:r>
                      <a:endParaRPr sz="1100"/>
                    </a:p>
                  </a:txBody>
                  <a:tcPr marL="1028700" marR="9525" marT="9525" marB="0" anchor="ctr"/>
                </a:tc>
              </a:tr>
              <a:tr h="175260">
                <a:tc>
                  <a:txBody>
                    <a:bodyPr wrap="square"/>
                    <a:lstStyle/>
                    <a:p>
                      <a:pPr algn="l"/>
                      <a:r>
                        <a:rPr sz="1100" b="0" i="1">
                          <a:solidFill>
                            <a:srgbClr val="000000"/>
                          </a:solidFill>
                          <a:latin typeface="Calibri"/>
                        </a:rPr>
                        <a:t>3.5.2.2.</a:t>
                      </a:r>
                      <a:r>
                        <a:rPr sz="700" b="0" i="1">
                          <a:solidFill>
                            <a:srgbClr val="000000"/>
                          </a:solidFill>
                          <a:latin typeface="Times New Roman"/>
                        </a:rPr>
                        <a:t>    </a:t>
                      </a:r>
                      <a:r>
                        <a:rPr sz="1100" b="0" i="1">
                          <a:solidFill>
                            <a:srgbClr val="000000"/>
                          </a:solidFill>
                          <a:latin typeface="Calibri"/>
                        </a:rPr>
                        <a:t>Bottom Gusset Bags</a:t>
                      </a:r>
                      <a:endParaRPr sz="1100"/>
                    </a:p>
                  </a:txBody>
                  <a:tcPr marL="1028700" marR="9525" marT="9525" marB="0" anchor="ctr"/>
                </a:tc>
              </a:tr>
              <a:tr h="175260">
                <a:tc>
                  <a:txBody>
                    <a:bodyPr wrap="square"/>
                    <a:lstStyle/>
                    <a:p>
                      <a:pPr algn="l"/>
                      <a:r>
                        <a:rPr sz="1100" b="0" i="1">
                          <a:solidFill>
                            <a:srgbClr val="000000"/>
                          </a:solidFill>
                          <a:latin typeface="Calibri"/>
                        </a:rPr>
                        <a:t>3.5.2.3.</a:t>
                      </a:r>
                      <a:r>
                        <a:rPr sz="700" b="0" i="1">
                          <a:solidFill>
                            <a:srgbClr val="000000"/>
                          </a:solidFill>
                          <a:latin typeface="Times New Roman"/>
                        </a:rPr>
                        <a:t>    </a:t>
                      </a:r>
                      <a:r>
                        <a:rPr sz="1100" b="0" i="1">
                          <a:solidFill>
                            <a:srgbClr val="000000"/>
                          </a:solidFill>
                          <a:latin typeface="Calibri"/>
                        </a:rPr>
                        <a:t>Quad Seal Bags</a:t>
                      </a:r>
                      <a:endParaRPr sz="1100"/>
                    </a:p>
                  </a:txBody>
                  <a:tcPr marL="1028700" marR="9525" marT="9525" marB="0" anchor="ctr"/>
                </a:tc>
              </a:tr>
              <a:tr h="175260">
                <a:tc>
                  <a:txBody>
                    <a:bodyPr wrap="square"/>
                    <a:lstStyle/>
                    <a:p>
                      <a:pPr algn="l"/>
                      <a:r>
                        <a:rPr sz="1100" b="0" i="0">
                          <a:solidFill>
                            <a:srgbClr val="000000"/>
                          </a:solidFill>
                          <a:latin typeface="Calibri"/>
                        </a:rPr>
                        <a:t>3.5.3.</a:t>
                      </a:r>
                      <a:r>
                        <a:rPr sz="700" b="0" i="0">
                          <a:solidFill>
                            <a:srgbClr val="000000"/>
                          </a:solidFill>
                          <a:latin typeface="Times New Roman"/>
                        </a:rPr>
                        <a:t>   </a:t>
                      </a:r>
                      <a:r>
                        <a:rPr sz="1100" b="0" i="0">
                          <a:solidFill>
                            <a:srgbClr val="000000"/>
                          </a:solidFill>
                          <a:latin typeface="Calibri"/>
                        </a:rPr>
                        <a:t>Resealable Polybags</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3.5.3.1.</a:t>
                      </a:r>
                      <a:r>
                        <a:rPr sz="700" b="0" i="1">
                          <a:solidFill>
                            <a:srgbClr val="000000"/>
                          </a:solidFill>
                          <a:latin typeface="Times New Roman"/>
                        </a:rPr>
                        <a:t>    </a:t>
                      </a:r>
                      <a:r>
                        <a:rPr sz="1100" b="0" i="1">
                          <a:solidFill>
                            <a:srgbClr val="000000"/>
                          </a:solidFill>
                          <a:latin typeface="Calibri"/>
                        </a:rPr>
                        <a:t>Zip Lock Bags</a:t>
                      </a:r>
                      <a:endParaRPr sz="1100"/>
                    </a:p>
                  </a:txBody>
                  <a:tcPr marL="1028700" marR="9525" marT="9525" marB="0" anchor="ctr"/>
                </a:tc>
              </a:tr>
              <a:tr h="175260">
                <a:tc>
                  <a:txBody>
                    <a:bodyPr wrap="square"/>
                    <a:lstStyle/>
                    <a:p>
                      <a:pPr algn="l"/>
                      <a:r>
                        <a:rPr sz="1100" b="0" i="1">
                          <a:solidFill>
                            <a:srgbClr val="000000"/>
                          </a:solidFill>
                          <a:latin typeface="Calibri"/>
                        </a:rPr>
                        <a:t>3.5.3.2.</a:t>
                      </a:r>
                      <a:r>
                        <a:rPr sz="700" b="0" i="1">
                          <a:solidFill>
                            <a:srgbClr val="000000"/>
                          </a:solidFill>
                          <a:latin typeface="Times New Roman"/>
                        </a:rPr>
                        <a:t>    </a:t>
                      </a:r>
                      <a:r>
                        <a:rPr sz="1100" b="0" i="1">
                          <a:solidFill>
                            <a:srgbClr val="000000"/>
                          </a:solidFill>
                          <a:latin typeface="Calibri"/>
                        </a:rPr>
                        <a:t>Slider Zip Bags</a:t>
                      </a:r>
                      <a:endParaRPr sz="1100"/>
                    </a:p>
                  </a:txBody>
                  <a:tcPr marL="1028700" marR="9525" marT="9525" marB="0" anchor="ctr"/>
                </a:tc>
              </a:tr>
              <a:tr h="175260">
                <a:tc>
                  <a:txBody>
                    <a:bodyPr wrap="square"/>
                    <a:lstStyle/>
                    <a:p>
                      <a:pPr algn="l"/>
                      <a:r>
                        <a:rPr sz="1100" b="0" i="1">
                          <a:solidFill>
                            <a:srgbClr val="000000"/>
                          </a:solidFill>
                          <a:latin typeface="Calibri"/>
                        </a:rPr>
                        <a:t>3.5.3.3.</a:t>
                      </a:r>
                      <a:r>
                        <a:rPr sz="700" b="0" i="1">
                          <a:solidFill>
                            <a:srgbClr val="000000"/>
                          </a:solidFill>
                          <a:latin typeface="Times New Roman"/>
                        </a:rPr>
                        <a:t>    </a:t>
                      </a:r>
                      <a:r>
                        <a:rPr sz="1100" b="0" i="1">
                          <a:solidFill>
                            <a:srgbClr val="000000"/>
                          </a:solidFill>
                          <a:latin typeface="Calibri"/>
                        </a:rPr>
                        <a:t>Press-to-Close Bags</a:t>
                      </a:r>
                      <a:endParaRPr sz="1100"/>
                    </a:p>
                  </a:txBody>
                  <a:tcPr marL="1028700" marR="9525" marT="9525" marB="0" anchor="ctr"/>
                </a:tc>
              </a:tr>
              <a:tr h="175260">
                <a:tc>
                  <a:txBody>
                    <a:bodyPr wrap="square"/>
                    <a:lstStyle/>
                    <a:p>
                      <a:pPr algn="l"/>
                      <a:r>
                        <a:rPr sz="1100" b="0" i="1">
                          <a:solidFill>
                            <a:srgbClr val="000000"/>
                          </a:solidFill>
                          <a:latin typeface="Calibri"/>
                        </a:rPr>
                        <a:t>3.5.3.4.</a:t>
                      </a:r>
                      <a:r>
                        <a:rPr sz="700" b="0" i="1">
                          <a:solidFill>
                            <a:srgbClr val="000000"/>
                          </a:solidFill>
                          <a:latin typeface="Times New Roman"/>
                        </a:rPr>
                        <a:t>    </a:t>
                      </a:r>
                      <a:r>
                        <a:rPr sz="1100" b="0" i="1">
                          <a:solidFill>
                            <a:srgbClr val="000000"/>
                          </a:solidFill>
                          <a:latin typeface="Calibri"/>
                        </a:rPr>
                        <a:t>Double Zip Bags</a:t>
                      </a:r>
                      <a:endParaRPr sz="1100"/>
                    </a:p>
                  </a:txBody>
                  <a:tcPr marL="1028700" marR="9525" marT="9525" marB="0" anchor="ctr"/>
                </a:tc>
              </a:tr>
              <a:tr h="175260">
                <a:tc>
                  <a:txBody>
                    <a:bodyPr wrap="square"/>
                    <a:lstStyle/>
                    <a:p>
                      <a:pPr algn="l"/>
                      <a:r>
                        <a:rPr sz="1100" b="0" i="0">
                          <a:solidFill>
                            <a:srgbClr val="000000"/>
                          </a:solidFill>
                          <a:latin typeface="Calibri"/>
                        </a:rPr>
                        <a:t>3.5.4.</a:t>
                      </a:r>
                      <a:r>
                        <a:rPr sz="700" b="0" i="0">
                          <a:solidFill>
                            <a:srgbClr val="000000"/>
                          </a:solidFill>
                          <a:latin typeface="Times New Roman"/>
                        </a:rPr>
                        <a:t>   </a:t>
                      </a:r>
                      <a:r>
                        <a:rPr sz="1100" b="0" i="0">
                          <a:solidFill>
                            <a:srgbClr val="000000"/>
                          </a:solidFill>
                          <a:latin typeface="Calibri"/>
                        </a:rPr>
                        <a:t>Industrial Polybags</a:t>
                      </a:r>
                      <a:endParaRPr sz="1100"/>
                    </a:p>
                  </a:txBody>
                  <a:tcPr marL="771525" marR="9525" marT="9525" marB="0" anchor="ctr"/>
                </a:tc>
              </a:tr>
              <a:tr h="175260">
                <a:tc>
                  <a:txBody>
                    <a:bodyPr wrap="square"/>
                    <a:lstStyle/>
                    <a:p>
                      <a:pPr algn="l"/>
                      <a:r>
                        <a:rPr sz="1100" b="0" i="1">
                          <a:solidFill>
                            <a:srgbClr val="000000"/>
                          </a:solidFill>
                          <a:latin typeface="Calibri"/>
                        </a:rPr>
                        <a:t>3.5.4.1.</a:t>
                      </a:r>
                      <a:r>
                        <a:rPr sz="700" b="0" i="1">
                          <a:solidFill>
                            <a:srgbClr val="000000"/>
                          </a:solidFill>
                          <a:latin typeface="Times New Roman"/>
                        </a:rPr>
                        <a:t>    </a:t>
                      </a:r>
                      <a:r>
                        <a:rPr sz="1100" b="0" i="1">
                          <a:solidFill>
                            <a:srgbClr val="000000"/>
                          </a:solidFill>
                          <a:latin typeface="Calibri"/>
                        </a:rPr>
                        <a:t>Heavy-Duty Bags</a:t>
                      </a:r>
                      <a:endParaRPr sz="1100"/>
                    </a:p>
                  </a:txBody>
                  <a:tcPr marL="1028700" marR="9525" marT="9525" marB="0" anchor="ctr"/>
                </a:tc>
              </a:tr>
              <a:tr h="175260">
                <a:tc>
                  <a:txBody>
                    <a:bodyPr wrap="square"/>
                    <a:lstStyle/>
                    <a:p>
                      <a:pPr algn="l"/>
                      <a:r>
                        <a:rPr sz="1100" b="0" i="1">
                          <a:solidFill>
                            <a:srgbClr val="000000"/>
                          </a:solidFill>
                          <a:latin typeface="Calibri"/>
                        </a:rPr>
                        <a:t>3.5.4.2.</a:t>
                      </a:r>
                      <a:r>
                        <a:rPr sz="700" b="0" i="1">
                          <a:solidFill>
                            <a:srgbClr val="000000"/>
                          </a:solidFill>
                          <a:latin typeface="Times New Roman"/>
                        </a:rPr>
                        <a:t>    </a:t>
                      </a:r>
                      <a:r>
                        <a:rPr sz="1100" b="0" i="1">
                          <a:solidFill>
                            <a:srgbClr val="000000"/>
                          </a:solidFill>
                          <a:latin typeface="Calibri"/>
                        </a:rPr>
                        <a:t>FIBC Liners</a:t>
                      </a:r>
                      <a:endParaRPr sz="1100"/>
                    </a:p>
                  </a:txBody>
                  <a:tcPr marL="1028700" marR="9525" marT="9525" marB="0" anchor="ctr"/>
                </a:tc>
              </a:tr>
              <a:tr h="175260">
                <a:tc>
                  <a:txBody>
                    <a:bodyPr wrap="square"/>
                    <a:lstStyle/>
                    <a:p>
                      <a:pPr algn="l"/>
                      <a:r>
                        <a:rPr sz="1100" b="0" i="1">
                          <a:solidFill>
                            <a:srgbClr val="000000"/>
                          </a:solidFill>
                          <a:latin typeface="Calibri"/>
                        </a:rPr>
                        <a:t>3.5.4.3.</a:t>
                      </a:r>
                      <a:r>
                        <a:rPr sz="700" b="0" i="1">
                          <a:solidFill>
                            <a:srgbClr val="000000"/>
                          </a:solidFill>
                          <a:latin typeface="Times New Roman"/>
                        </a:rPr>
                        <a:t>    </a:t>
                      </a:r>
                      <a:r>
                        <a:rPr sz="1100" b="0" i="1">
                          <a:solidFill>
                            <a:srgbClr val="000000"/>
                          </a:solidFill>
                          <a:latin typeface="Calibri"/>
                        </a:rPr>
                        <a:t>Machinery Parts Bags</a:t>
                      </a:r>
                      <a:endParaRPr sz="1100"/>
                    </a:p>
                  </a:txBody>
                  <a:tcPr marL="1028700" marR="9525" marT="9525" marB="0" anchor="ctr"/>
                </a:tc>
              </a:tr>
              <a:tr h="175260">
                <a:tc>
                  <a:txBody>
                    <a:bodyPr wrap="square"/>
                    <a:lstStyle/>
                    <a:p>
                      <a:pPr algn="l"/>
                      <a:r>
                        <a:rPr sz="1100" b="0" i="1">
                          <a:solidFill>
                            <a:srgbClr val="000000"/>
                          </a:solidFill>
                          <a:latin typeface="Calibri"/>
                        </a:rPr>
                        <a:t>3.5.4.4.</a:t>
                      </a:r>
                      <a:r>
                        <a:rPr sz="700" b="0" i="1">
                          <a:solidFill>
                            <a:srgbClr val="000000"/>
                          </a:solidFill>
                          <a:latin typeface="Times New Roman"/>
                        </a:rPr>
                        <a:t>    </a:t>
                      </a:r>
                      <a:r>
                        <a:rPr sz="1100" b="0" i="1">
                          <a:solidFill>
                            <a:srgbClr val="000000"/>
                          </a:solidFill>
                          <a:latin typeface="Calibri"/>
                        </a:rPr>
                        <a:t>Chemical Packaging Bags</a:t>
                      </a:r>
                      <a:endParaRPr sz="1100"/>
                    </a:p>
                  </a:txBody>
                  <a:tcPr marL="1028700" marR="9525" marT="9525" marB="0" anchor="ctr"/>
                </a:tc>
              </a:tr>
              <a:tr h="175260">
                <a:tc>
                  <a:txBody>
                    <a:bodyPr wrap="square"/>
                    <a:lstStyle/>
                    <a:p>
                      <a:pPr algn="l"/>
                      <a:r>
                        <a:rPr sz="1100" b="0" i="0">
                          <a:solidFill>
                            <a:srgbClr val="000000"/>
                          </a:solidFill>
                          <a:latin typeface="Calibri"/>
                        </a:rPr>
                        <a:t>3.5.5.</a:t>
                      </a:r>
                      <a:r>
                        <a:rPr sz="700" b="0" i="0">
                          <a:solidFill>
                            <a:srgbClr val="000000"/>
                          </a:solidFill>
                          <a:latin typeface="Times New Roman"/>
                        </a:rPr>
                        <a:t>   </a:t>
                      </a:r>
                      <a:r>
                        <a:rPr sz="1100" b="0" i="0">
                          <a:solidFill>
                            <a:srgbClr val="000000"/>
                          </a:solidFill>
                          <a:latin typeface="Calibri"/>
                        </a:rPr>
                        <a:t>Protective Polybags</a:t>
                      </a:r>
                      <a:endParaRPr sz="1100"/>
                    </a:p>
                  </a:txBody>
                  <a:tcPr marL="771525" marR="9525" marT="9525" marB="0" anchor="ctr"/>
                </a:tc>
              </a:tr>
              <a:tr h="175260">
                <a:tc>
                  <a:txBody>
                    <a:bodyPr wrap="square"/>
                    <a:lstStyle/>
                    <a:p>
                      <a:pPr algn="l"/>
                      <a:r>
                        <a:rPr sz="1100" b="0" i="1">
                          <a:solidFill>
                            <a:srgbClr val="000000"/>
                          </a:solidFill>
                          <a:latin typeface="Calibri"/>
                        </a:rPr>
                        <a:t>3.5.5.1.</a:t>
                      </a:r>
                      <a:r>
                        <a:rPr sz="700" b="0" i="1">
                          <a:solidFill>
                            <a:srgbClr val="000000"/>
                          </a:solidFill>
                          <a:latin typeface="Times New Roman"/>
                        </a:rPr>
                        <a:t>    </a:t>
                      </a:r>
                      <a:r>
                        <a:rPr sz="1100" b="0" i="1">
                          <a:solidFill>
                            <a:srgbClr val="000000"/>
                          </a:solidFill>
                          <a:latin typeface="Calibri"/>
                        </a:rPr>
                        <a:t>Bubble Poly Mailers</a:t>
                      </a:r>
                      <a:endParaRPr sz="1100"/>
                    </a:p>
                  </a:txBody>
                  <a:tcPr marL="1028700" marR="9525" marT="9525" marB="0" anchor="ctr"/>
                </a:tc>
              </a:tr>
              <a:tr h="175260">
                <a:tc>
                  <a:txBody>
                    <a:bodyPr wrap="square"/>
                    <a:lstStyle/>
                    <a:p>
                      <a:pPr algn="l"/>
                      <a:r>
                        <a:rPr sz="1100" b="0" i="1">
                          <a:solidFill>
                            <a:srgbClr val="000000"/>
                          </a:solidFill>
                          <a:latin typeface="Calibri"/>
                        </a:rPr>
                        <a:t>3.5.5.2.</a:t>
                      </a:r>
                      <a:r>
                        <a:rPr sz="700" b="0" i="1">
                          <a:solidFill>
                            <a:srgbClr val="000000"/>
                          </a:solidFill>
                          <a:latin typeface="Times New Roman"/>
                        </a:rPr>
                        <a:t>    </a:t>
                      </a:r>
                      <a:r>
                        <a:rPr sz="1100" b="0" i="1">
                          <a:solidFill>
                            <a:srgbClr val="000000"/>
                          </a:solidFill>
                          <a:latin typeface="Calibri"/>
                        </a:rPr>
                        <a:t>Anti-Static (ESD) Bags</a:t>
                      </a:r>
                      <a:endParaRPr sz="1100"/>
                    </a:p>
                  </a:txBody>
                  <a:tcPr marL="1028700" marR="9525" marT="9525" marB="0" anchor="ctr"/>
                </a:tc>
              </a:tr>
              <a:tr h="175260">
                <a:tc>
                  <a:txBody>
                    <a:bodyPr wrap="square"/>
                    <a:lstStyle/>
                    <a:p>
                      <a:pPr algn="l"/>
                      <a:r>
                        <a:rPr sz="1100" b="0" i="1">
                          <a:solidFill>
                            <a:srgbClr val="000000"/>
                          </a:solidFill>
                          <a:latin typeface="Calibri"/>
                        </a:rPr>
                        <a:t>3.5.5.3.</a:t>
                      </a:r>
                      <a:r>
                        <a:rPr sz="700" b="0" i="1">
                          <a:solidFill>
                            <a:srgbClr val="000000"/>
                          </a:solidFill>
                          <a:latin typeface="Times New Roman"/>
                        </a:rPr>
                        <a:t>    </a:t>
                      </a:r>
                      <a:r>
                        <a:rPr sz="1100" b="0" i="1">
                          <a:solidFill>
                            <a:srgbClr val="000000"/>
                          </a:solidFill>
                          <a:latin typeface="Calibri"/>
                        </a:rPr>
                        <a:t>Vacuum Bags</a:t>
                      </a:r>
                      <a:endParaRPr sz="1100"/>
                    </a:p>
                  </a:txBody>
                  <a:tcPr marL="1028700" marR="9525" marT="9525" marB="0" anchor="ctr"/>
                </a:tc>
              </a:tr>
              <a:tr h="175260">
                <a:tc>
                  <a:txBody>
                    <a:bodyPr wrap="square"/>
                    <a:lstStyle/>
                    <a:p>
                      <a:pPr algn="l"/>
                      <a:r>
                        <a:rPr sz="1100" b="0" i="1">
                          <a:solidFill>
                            <a:srgbClr val="000000"/>
                          </a:solidFill>
                          <a:latin typeface="Calibri"/>
                        </a:rPr>
                        <a:t>3.5.5.4.</a:t>
                      </a:r>
                      <a:r>
                        <a:rPr sz="700" b="0" i="1">
                          <a:solidFill>
                            <a:srgbClr val="000000"/>
                          </a:solidFill>
                          <a:latin typeface="Times New Roman"/>
                        </a:rPr>
                        <a:t>    </a:t>
                      </a:r>
                      <a:r>
                        <a:rPr sz="1100" b="0" i="1">
                          <a:solidFill>
                            <a:srgbClr val="000000"/>
                          </a:solidFill>
                          <a:latin typeface="Calibri"/>
                        </a:rPr>
                        <a:t>Cushion Packaging Bags</a:t>
                      </a:r>
                      <a:endParaRPr sz="1100"/>
                    </a:p>
                  </a:txBody>
                  <a:tcPr marL="1028700" marR="9525" marT="9525" marB="0" anchor="ctr"/>
                </a:tc>
              </a:tr>
              <a:tr h="175260">
                <a:tc>
                  <a:txBody>
                    <a:bodyPr wrap="square"/>
                    <a:lstStyle/>
                    <a:p>
                      <a:pPr algn="l"/>
                      <a:r>
                        <a:rPr sz="1100" b="0" i="0">
                          <a:solidFill>
                            <a:srgbClr val="000000"/>
                          </a:solidFill>
                          <a:latin typeface="Calibri"/>
                        </a:rPr>
                        <a:t>3.5.6.</a:t>
                      </a:r>
                      <a:r>
                        <a:rPr sz="700" b="0" i="0">
                          <a:solidFill>
                            <a:srgbClr val="000000"/>
                          </a:solidFill>
                          <a:latin typeface="Times New Roman"/>
                        </a:rPr>
                        <a:t>   </a:t>
                      </a:r>
                      <a:r>
                        <a:rPr sz="1100" b="0" i="0">
                          <a:solidFill>
                            <a:srgbClr val="000000"/>
                          </a:solidFill>
                          <a:latin typeface="Calibri"/>
                        </a:rPr>
                        <a:t>Retail &amp; Merchandise Bags</a:t>
                      </a:r>
                      <a:endParaRPr sz="1100"/>
                    </a:p>
                  </a:txBody>
                  <a:tcPr marL="771525" marR="9525" marT="9525" marB="0" anchor="ctr"/>
                </a:tc>
              </a:tr>
              <a:tr h="175260">
                <a:tc>
                  <a:txBody>
                    <a:bodyPr wrap="square"/>
                    <a:lstStyle/>
                    <a:p>
                      <a:pPr algn="l"/>
                      <a:r>
                        <a:rPr sz="1100" b="0" i="1">
                          <a:solidFill>
                            <a:srgbClr val="000000"/>
                          </a:solidFill>
                          <a:latin typeface="Calibri"/>
                        </a:rPr>
                        <a:t>3.5.6.1.</a:t>
                      </a:r>
                      <a:r>
                        <a:rPr sz="700" b="0" i="1">
                          <a:solidFill>
                            <a:srgbClr val="000000"/>
                          </a:solidFill>
                          <a:latin typeface="Times New Roman"/>
                        </a:rPr>
                        <a:t>    </a:t>
                      </a:r>
                      <a:r>
                        <a:rPr sz="1100" b="0" i="1">
                          <a:solidFill>
                            <a:srgbClr val="000000"/>
                          </a:solidFill>
                          <a:latin typeface="Calibri"/>
                        </a:rPr>
                        <a:t>T-Shirt Bags</a:t>
                      </a:r>
                      <a:endParaRPr sz="1100"/>
                    </a:p>
                  </a:txBody>
                  <a:tcPr marL="1028700" marR="9525" marT="9525" marB="0" anchor="ctr"/>
                </a:tc>
              </a:tr>
              <a:tr h="175260">
                <a:tc>
                  <a:txBody>
                    <a:bodyPr wrap="square"/>
                    <a:lstStyle/>
                    <a:p>
                      <a:pPr algn="l"/>
                      <a:r>
                        <a:rPr sz="1100" b="0" i="1">
                          <a:solidFill>
                            <a:srgbClr val="000000"/>
                          </a:solidFill>
                          <a:latin typeface="Calibri"/>
                        </a:rPr>
                        <a:t>3.5.6.2.</a:t>
                      </a:r>
                      <a:r>
                        <a:rPr sz="700" b="0" i="1">
                          <a:solidFill>
                            <a:srgbClr val="000000"/>
                          </a:solidFill>
                          <a:latin typeface="Times New Roman"/>
                        </a:rPr>
                        <a:t>    </a:t>
                      </a:r>
                      <a:r>
                        <a:rPr sz="1100" b="0" i="1">
                          <a:solidFill>
                            <a:srgbClr val="000000"/>
                          </a:solidFill>
                          <a:latin typeface="Calibri"/>
                        </a:rPr>
                        <a:t>Merchandise Bags</a:t>
                      </a:r>
                      <a:endParaRPr sz="1100"/>
                    </a:p>
                  </a:txBody>
                  <a:tcPr marL="1028700" marR="9525" marT="9525" marB="0" anchor="ctr"/>
                </a:tc>
              </a:tr>
              <a:tr h="175260">
                <a:tc>
                  <a:txBody>
                    <a:bodyPr wrap="square"/>
                    <a:lstStyle/>
                    <a:p>
                      <a:pPr algn="l"/>
                      <a:r>
                        <a:rPr sz="1100" b="0" i="1">
                          <a:solidFill>
                            <a:srgbClr val="000000"/>
                          </a:solidFill>
                          <a:latin typeface="Calibri"/>
                        </a:rPr>
                        <a:t>3.5.6.3.</a:t>
                      </a:r>
                      <a:r>
                        <a:rPr sz="700" b="0" i="1">
                          <a:solidFill>
                            <a:srgbClr val="000000"/>
                          </a:solidFill>
                          <a:latin typeface="Times New Roman"/>
                        </a:rPr>
                        <a:t>    </a:t>
                      </a:r>
                      <a:r>
                        <a:rPr sz="1100" b="0" i="1">
                          <a:solidFill>
                            <a:srgbClr val="000000"/>
                          </a:solidFill>
                          <a:latin typeface="Calibri"/>
                        </a:rPr>
                        <a:t>Die-Cut Handle Bags</a:t>
                      </a:r>
                      <a:endParaRPr sz="1100"/>
                    </a:p>
                  </a:txBody>
                  <a:tcPr marL="1028700" marR="9525" marT="9525" marB="0" anchor="ctr"/>
                </a:tc>
              </a:tr>
              <a:tr h="175260">
                <a:tc>
                  <a:txBody>
                    <a:bodyPr wrap="square"/>
                    <a:lstStyle/>
                    <a:p>
                      <a:pPr algn="l"/>
                      <a:r>
                        <a:rPr sz="1100" b="0" i="1">
                          <a:solidFill>
                            <a:srgbClr val="000000"/>
                          </a:solidFill>
                          <a:latin typeface="Calibri"/>
                        </a:rPr>
                        <a:t>3.5.6.4.</a:t>
                      </a:r>
                      <a:r>
                        <a:rPr sz="700" b="0" i="1">
                          <a:solidFill>
                            <a:srgbClr val="000000"/>
                          </a:solidFill>
                          <a:latin typeface="Times New Roman"/>
                        </a:rPr>
                        <a:t>    </a:t>
                      </a:r>
                      <a:r>
                        <a:rPr sz="1100" b="0" i="1">
                          <a:solidFill>
                            <a:srgbClr val="000000"/>
                          </a:solidFill>
                          <a:latin typeface="Calibri"/>
                        </a:rPr>
                        <a:t>Patch Handle Bags</a:t>
                      </a:r>
                      <a:endParaRPr sz="1100"/>
                    </a:p>
                  </a:txBody>
                  <a:tcPr marL="1028700" marR="9525" marT="9525" marB="0" anchor="ctr"/>
                </a:tc>
              </a:tr>
              <a:tr h="175260">
                <a:tc>
                  <a:txBody>
                    <a:bodyPr wrap="square"/>
                    <a:lstStyle/>
                    <a:p>
                      <a:pPr algn="l"/>
                      <a:r>
                        <a:rPr sz="1100" b="0" i="1">
                          <a:solidFill>
                            <a:srgbClr val="000000"/>
                          </a:solidFill>
                          <a:latin typeface="Calibri"/>
                        </a:rPr>
                        <a:t>3.5.6.5.</a:t>
                      </a:r>
                      <a:r>
                        <a:rPr sz="700" b="0" i="1">
                          <a:solidFill>
                            <a:srgbClr val="000000"/>
                          </a:solidFill>
                          <a:latin typeface="Times New Roman"/>
                        </a:rPr>
                        <a:t>    </a:t>
                      </a:r>
                      <a:r>
                        <a:rPr sz="1100" b="0" i="1">
                          <a:solidFill>
                            <a:srgbClr val="000000"/>
                          </a:solidFill>
                          <a:latin typeface="Calibri"/>
                        </a:rPr>
                        <a:t>D-Cut Bags</a:t>
                      </a:r>
                      <a:endParaRPr sz="1100"/>
                    </a:p>
                  </a:txBody>
                  <a:tcPr marL="1028700" marR="9525" marT="9525" marB="0" anchor="ctr"/>
                </a:tc>
              </a:tr>
              <a:tr h="175260">
                <a:tc>
                  <a:txBody>
                    <a:bodyPr wrap="square"/>
                    <a:lstStyle/>
                    <a:p>
                      <a:pPr algn="l"/>
                      <a:r>
                        <a:rPr sz="1100" b="0" i="0">
                          <a:solidFill>
                            <a:srgbClr val="000000"/>
                          </a:solidFill>
                          <a:latin typeface="Calibri"/>
                        </a:rPr>
                        <a:t>3.5.7.</a:t>
                      </a:r>
                      <a:r>
                        <a:rPr sz="700" b="0" i="0">
                          <a:solidFill>
                            <a:srgbClr val="000000"/>
                          </a:solidFill>
                          <a:latin typeface="Times New Roman"/>
                        </a:rPr>
                        <a:t>   </a:t>
                      </a:r>
                      <a:r>
                        <a:rPr sz="1100" b="0" i="0">
                          <a:solidFill>
                            <a:srgbClr val="000000"/>
                          </a:solidFill>
                          <a:latin typeface="Calibri"/>
                        </a:rPr>
                        <a:t>E-commerce Polybags</a:t>
                      </a:r>
                      <a:endParaRPr sz="1100"/>
                    </a:p>
                  </a:txBody>
                  <a:tcPr marL="771525" marR="9525" marT="9525" marB="0" anchor="ctr"/>
                </a:tc>
              </a:tr>
              <a:tr h="175260">
                <a:tc>
                  <a:txBody>
                    <a:bodyPr wrap="square"/>
                    <a:lstStyle/>
                    <a:p>
                      <a:pPr algn="l"/>
                      <a:r>
                        <a:rPr sz="1100" b="0" i="1">
                          <a:solidFill>
                            <a:srgbClr val="000000"/>
                          </a:solidFill>
                          <a:latin typeface="Calibri"/>
                        </a:rPr>
                        <a:t>3.5.7.1.</a:t>
                      </a:r>
                      <a:r>
                        <a:rPr sz="700" b="0" i="1">
                          <a:solidFill>
                            <a:srgbClr val="000000"/>
                          </a:solidFill>
                          <a:latin typeface="Times New Roman"/>
                        </a:rPr>
                        <a:t>    </a:t>
                      </a:r>
                      <a:r>
                        <a:rPr sz="1100" b="0" i="1">
                          <a:solidFill>
                            <a:srgbClr val="000000"/>
                          </a:solidFill>
                          <a:latin typeface="Calibri"/>
                        </a:rPr>
                        <a:t>Courier Mailers</a:t>
                      </a:r>
                      <a:endParaRPr sz="1100"/>
                    </a:p>
                  </a:txBody>
                  <a:tcPr marL="1028700" marR="9525" marT="9525" marB="0" anchor="ctr"/>
                </a:tc>
              </a:tr>
              <a:tr h="175260">
                <a:tc>
                  <a:txBody>
                    <a:bodyPr wrap="square"/>
                    <a:lstStyle/>
                    <a:p>
                      <a:pPr algn="l"/>
                      <a:r>
                        <a:rPr sz="1100" b="0" i="1">
                          <a:solidFill>
                            <a:srgbClr val="000000"/>
                          </a:solidFill>
                          <a:latin typeface="Calibri"/>
                        </a:rPr>
                        <a:t>3.5.7.2.</a:t>
                      </a:r>
                      <a:r>
                        <a:rPr sz="700" b="0" i="1">
                          <a:solidFill>
                            <a:srgbClr val="000000"/>
                          </a:solidFill>
                          <a:latin typeface="Times New Roman"/>
                        </a:rPr>
                        <a:t>    </a:t>
                      </a:r>
                      <a:r>
                        <a:rPr sz="1100" b="0" i="1">
                          <a:solidFill>
                            <a:srgbClr val="000000"/>
                          </a:solidFill>
                          <a:latin typeface="Calibri"/>
                        </a:rPr>
                        <a:t>Tamper-Evident Mailers</a:t>
                      </a:r>
                      <a:endParaRPr sz="1100"/>
                    </a:p>
                  </a:txBody>
                  <a:tcPr marL="1028700" marR="9525" marT="9525" marB="0" anchor="ctr"/>
                </a:tc>
              </a:tr>
              <a:tr h="175260">
                <a:tc>
                  <a:txBody>
                    <a:bodyPr wrap="square"/>
                    <a:lstStyle/>
                    <a:p>
                      <a:pPr algn="l"/>
                      <a:r>
                        <a:rPr sz="1100" b="0" i="1">
                          <a:solidFill>
                            <a:srgbClr val="000000"/>
                          </a:solidFill>
                          <a:latin typeface="Calibri"/>
                        </a:rPr>
                        <a:t>3.5.7.3.</a:t>
                      </a:r>
                      <a:r>
                        <a:rPr sz="700" b="0" i="1">
                          <a:solidFill>
                            <a:srgbClr val="000000"/>
                          </a:solidFill>
                          <a:latin typeface="Times New Roman"/>
                        </a:rPr>
                        <a:t>    </a:t>
                      </a:r>
                      <a:r>
                        <a:rPr sz="1100" b="0" i="1">
                          <a:solidFill>
                            <a:srgbClr val="000000"/>
                          </a:solidFill>
                          <a:latin typeface="Calibri"/>
                        </a:rPr>
                        <a:t>Return Mailers</a:t>
                      </a:r>
                      <a:endParaRPr sz="1100"/>
                    </a:p>
                  </a:txBody>
                  <a:tcPr marL="1028700" marR="9525" marT="9525" marB="0" anchor="ctr"/>
                </a:tc>
              </a:tr>
              <a:tr h="175260">
                <a:tc>
                  <a:txBody>
                    <a:bodyPr wrap="square"/>
                    <a:lstStyle/>
                    <a:p>
                      <a:pPr algn="l"/>
                      <a:r>
                        <a:rPr sz="1100" b="0" i="1">
                          <a:solidFill>
                            <a:srgbClr val="000000"/>
                          </a:solidFill>
                          <a:latin typeface="Calibri"/>
                        </a:rPr>
                        <a:t>3.5.7.4.</a:t>
                      </a:r>
                      <a:r>
                        <a:rPr sz="700" b="0" i="1">
                          <a:solidFill>
                            <a:srgbClr val="000000"/>
                          </a:solidFill>
                          <a:latin typeface="Times New Roman"/>
                        </a:rPr>
                        <a:t>    </a:t>
                      </a:r>
                      <a:r>
                        <a:rPr sz="1100" b="0" i="1">
                          <a:solidFill>
                            <a:srgbClr val="000000"/>
                          </a:solidFill>
                          <a:latin typeface="Calibri"/>
                        </a:rPr>
                        <a:t>Security Mailers</a:t>
                      </a:r>
                      <a:endParaRPr sz="1100"/>
                    </a:p>
                  </a:txBody>
                  <a:tcPr marL="1028700" marR="9525" marT="9525" marB="0" anchor="ctr"/>
                </a:tc>
              </a:tr>
              <a:tr h="175260">
                <a:tc>
                  <a:txBody>
                    <a:bodyPr wrap="square"/>
                    <a:lstStyle/>
                    <a:p>
                      <a:pPr algn="l"/>
                      <a:r>
                        <a:rPr sz="1100" b="0" i="0">
                          <a:solidFill>
                            <a:srgbClr val="000000"/>
                          </a:solidFill>
                          <a:latin typeface="Calibri"/>
                        </a:rPr>
                        <a:t>3.5.8.</a:t>
                      </a:r>
                      <a:r>
                        <a:rPr sz="700" b="0" i="0">
                          <a:solidFill>
                            <a:srgbClr val="000000"/>
                          </a:solidFill>
                          <a:latin typeface="Times New Roman"/>
                        </a:rPr>
                        <a:t>   </a:t>
                      </a:r>
                      <a:r>
                        <a:rPr sz="1100" b="0" i="0">
                          <a:solidFill>
                            <a:srgbClr val="000000"/>
                          </a:solidFill>
                          <a:latin typeface="Calibri"/>
                        </a:rPr>
                        <a:t>Specialty Polybags</a:t>
                      </a:r>
                      <a:endParaRPr sz="1100"/>
                    </a:p>
                  </a:txBody>
                  <a:tcPr marL="771525" marR="9525" marT="9525" marB="0" anchor="ctr"/>
                </a:tc>
              </a:tr>
              <a:tr h="175260">
                <a:tc>
                  <a:txBody>
                    <a:bodyPr wrap="square"/>
                    <a:lstStyle/>
                    <a:p>
                      <a:pPr algn="l"/>
                      <a:r>
                        <a:rPr sz="1100" b="0" i="1">
                          <a:solidFill>
                            <a:srgbClr val="000000"/>
                          </a:solidFill>
                          <a:latin typeface="Calibri"/>
                        </a:rPr>
                        <a:t>3.5.8.1.</a:t>
                      </a:r>
                      <a:r>
                        <a:rPr sz="700" b="0" i="1">
                          <a:solidFill>
                            <a:srgbClr val="000000"/>
                          </a:solidFill>
                          <a:latin typeface="Times New Roman"/>
                        </a:rPr>
                        <a:t>    </a:t>
                      </a:r>
                      <a:r>
                        <a:rPr sz="1100" b="0" i="1">
                          <a:solidFill>
                            <a:srgbClr val="000000"/>
                          </a:solidFill>
                          <a:latin typeface="Calibri"/>
                        </a:rPr>
                        <a:t>Wicketed Bags</a:t>
                      </a:r>
                      <a:endParaRPr sz="1100"/>
                    </a:p>
                  </a:txBody>
                  <a:tcPr marL="1028700" marR="9525" marT="9525" marB="0" anchor="ctr"/>
                </a:tc>
              </a:tr>
              <a:tr h="175260">
                <a:tc>
                  <a:txBody>
                    <a:bodyPr wrap="square"/>
                    <a:lstStyle/>
                    <a:p>
                      <a:pPr algn="l"/>
                      <a:r>
                        <a:rPr sz="1100" b="0" i="1">
                          <a:solidFill>
                            <a:srgbClr val="000000"/>
                          </a:solidFill>
                          <a:latin typeface="Calibri"/>
                        </a:rPr>
                        <a:t>3.5.8.2.</a:t>
                      </a:r>
                      <a:r>
                        <a:rPr sz="700" b="0" i="1">
                          <a:solidFill>
                            <a:srgbClr val="000000"/>
                          </a:solidFill>
                          <a:latin typeface="Times New Roman"/>
                        </a:rPr>
                        <a:t>    </a:t>
                      </a:r>
                      <a:r>
                        <a:rPr sz="1100" b="0" i="1">
                          <a:solidFill>
                            <a:srgbClr val="000000"/>
                          </a:solidFill>
                          <a:latin typeface="Calibri"/>
                        </a:rPr>
                        <a:t>Header Bags</a:t>
                      </a:r>
                      <a:endParaRPr sz="1100"/>
                    </a:p>
                  </a:txBody>
                  <a:tcPr marL="1028700" marR="9525" marT="9525" marB="0" anchor="ctr"/>
                </a:tc>
              </a:tr>
              <a:tr h="175260">
                <a:tc>
                  <a:txBody>
                    <a:bodyPr wrap="square"/>
                    <a:lstStyle/>
                    <a:p>
                      <a:pPr algn="l"/>
                      <a:r>
                        <a:rPr sz="1100" b="0" i="1">
                          <a:solidFill>
                            <a:srgbClr val="000000"/>
                          </a:solidFill>
                          <a:latin typeface="Calibri"/>
                        </a:rPr>
                        <a:t>3.5.8.3.</a:t>
                      </a:r>
                      <a:r>
                        <a:rPr sz="700" b="0" i="1">
                          <a:solidFill>
                            <a:srgbClr val="000000"/>
                          </a:solidFill>
                          <a:latin typeface="Times New Roman"/>
                        </a:rPr>
                        <a:t>    </a:t>
                      </a:r>
                      <a:r>
                        <a:rPr sz="1100" b="0" i="1">
                          <a:solidFill>
                            <a:srgbClr val="000000"/>
                          </a:solidFill>
                          <a:latin typeface="Calibri"/>
                        </a:rPr>
                        <a:t>Perforated Bags</a:t>
                      </a:r>
                      <a:endParaRPr sz="1100"/>
                    </a:p>
                  </a:txBody>
                  <a:tcPr marL="1028700" marR="9525" marT="9525" marB="0" anchor="ctr"/>
                </a:tc>
              </a:tr>
              <a:tr h="175260">
                <a:tc>
                  <a:txBody>
                    <a:bodyPr wrap="square"/>
                    <a:lstStyle/>
                    <a:p>
                      <a:pPr algn="l"/>
                      <a:r>
                        <a:rPr sz="1100" b="0" i="1">
                          <a:solidFill>
                            <a:srgbClr val="000000"/>
                          </a:solidFill>
                          <a:latin typeface="Calibri"/>
                        </a:rPr>
                        <a:t>3.5.8.4.</a:t>
                      </a:r>
                      <a:r>
                        <a:rPr sz="700" b="0" i="1">
                          <a:solidFill>
                            <a:srgbClr val="000000"/>
                          </a:solidFill>
                          <a:latin typeface="Times New Roman"/>
                        </a:rPr>
                        <a:t>    </a:t>
                      </a:r>
                      <a:r>
                        <a:rPr sz="1100" b="0" i="1">
                          <a:solidFill>
                            <a:srgbClr val="000000"/>
                          </a:solidFill>
                          <a:latin typeface="Calibri"/>
                        </a:rPr>
                        <a:t>Drawstring Bags</a:t>
                      </a:r>
                      <a:endParaRPr sz="1100"/>
                    </a:p>
                  </a:txBody>
                  <a:tcPr marL="10287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(2/6)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3.5.8.5.</a:t>
                      </a:r>
                      <a:r>
                        <a:rPr sz="700" b="0" i="1">
                          <a:solidFill>
                            <a:srgbClr val="000000"/>
                          </a:solidFill>
                          <a:latin typeface="Times New Roman"/>
                        </a:rPr>
                        <a:t>    </a:t>
                      </a:r>
                      <a:r>
                        <a:rPr sz="1100" b="0" i="1">
                          <a:solidFill>
                            <a:srgbClr val="000000"/>
                          </a:solidFill>
                          <a:latin typeface="Calibri"/>
                        </a:rPr>
                        <a:t>Custom Printed Bags</a:t>
                      </a:r>
                      <a:endParaRPr sz="1100"/>
                    </a:p>
                  </a:txBody>
                  <a:tcPr marL="1028700" marR="9525" marT="9525" marB="0" anchor="ctr"/>
                </a:tc>
              </a:tr>
              <a:tr h="175260">
                <a:tc>
                  <a:txBody>
                    <a:bodyPr wrap="square"/>
                    <a:lstStyle/>
                    <a:p>
                      <a:pPr algn="l"/>
                      <a:r>
                        <a:rPr sz="1100" b="1" i="0">
                          <a:solidFill>
                            <a:srgbClr val="000000"/>
                          </a:solidFill>
                          <a:latin typeface="Calibri"/>
                        </a:rPr>
                        <a:t>4.</a:t>
                      </a:r>
                      <a:r>
                        <a:rPr sz="700" b="1" i="0">
                          <a:solidFill>
                            <a:srgbClr val="000000"/>
                          </a:solidFill>
                          <a:latin typeface="Times New Roman"/>
                        </a:rPr>
                        <a:t>       </a:t>
                      </a:r>
                      <a:r>
                        <a:rPr sz="1100" b="1" i="0">
                          <a:solidFill>
                            <a:srgbClr val="000000"/>
                          </a:solidFill>
                          <a:latin typeface="Calibri"/>
                        </a:rPr>
                        <a:t>Global Market (Value- Volume) Analysis 2021–2036, By Material</a:t>
                      </a:r>
                      <a:endParaRPr sz="1100"/>
                    </a:p>
                  </a:txBody>
                  <a:tcPr marL="171450" marR="9525" marT="9525" marB="0" anchor="ctr"/>
                </a:tc>
              </a:tr>
              <a:tr h="175260">
                <a:tc>
                  <a:txBody>
                    <a:bodyPr wrap="square"/>
                    <a:lstStyle/>
                    <a:p>
                      <a:pPr algn="l"/>
                      <a:r>
                        <a:rPr sz="1100" b="0" i="0">
                          <a:solidFill>
                            <a:srgbClr val="0070C0"/>
                          </a:solidFill>
                          <a:latin typeface="Calibri"/>
                        </a:rPr>
                        <a:t>4.1.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4.2.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4.3.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4.4.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4.5.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4.5.1.</a:t>
                      </a:r>
                      <a:r>
                        <a:rPr sz="700" b="0" i="0">
                          <a:solidFill>
                            <a:srgbClr val="000000"/>
                          </a:solidFill>
                          <a:latin typeface="Times New Roman"/>
                        </a:rPr>
                        <a:t>   </a:t>
                      </a:r>
                      <a:r>
                        <a:rPr sz="1100" b="0" i="0">
                          <a:solidFill>
                            <a:srgbClr val="000000"/>
                          </a:solidFill>
                          <a:latin typeface="Calibri"/>
                        </a:rPr>
                        <a:t>Polyethylene (PE)</a:t>
                      </a:r>
                      <a:endParaRPr sz="1100"/>
                    </a:p>
                  </a:txBody>
                  <a:tcPr marL="771525" marR="9525" marT="9525" marB="0" anchor="ctr"/>
                </a:tc>
              </a:tr>
              <a:tr h="175260">
                <a:tc>
                  <a:txBody>
                    <a:bodyPr wrap="square"/>
                    <a:lstStyle/>
                    <a:p>
                      <a:pPr algn="l"/>
                      <a:r>
                        <a:rPr sz="1100" b="0" i="0">
                          <a:solidFill>
                            <a:srgbClr val="000000"/>
                          </a:solidFill>
                          <a:latin typeface="Calibri"/>
                        </a:rPr>
                        <a:t>4.5.2.</a:t>
                      </a:r>
                      <a:r>
                        <a:rPr sz="700" b="0" i="0">
                          <a:solidFill>
                            <a:srgbClr val="000000"/>
                          </a:solidFill>
                          <a:latin typeface="Times New Roman"/>
                        </a:rPr>
                        <a:t>   </a:t>
                      </a:r>
                      <a:r>
                        <a:rPr sz="1100" b="0" i="0">
                          <a:solidFill>
                            <a:srgbClr val="000000"/>
                          </a:solidFill>
                          <a:latin typeface="Calibri"/>
                        </a:rPr>
                        <a:t>Low-Density Polyethylene (LDPE)</a:t>
                      </a:r>
                      <a:endParaRPr sz="1100"/>
                    </a:p>
                  </a:txBody>
                  <a:tcPr marL="771525" marR="9525" marT="9525" marB="0" anchor="ctr"/>
                </a:tc>
              </a:tr>
              <a:tr h="175260">
                <a:tc>
                  <a:txBody>
                    <a:bodyPr wrap="square"/>
                    <a:lstStyle/>
                    <a:p>
                      <a:pPr algn="l"/>
                      <a:r>
                        <a:rPr sz="1100" b="0" i="0">
                          <a:solidFill>
                            <a:srgbClr val="000000"/>
                          </a:solidFill>
                          <a:latin typeface="Calibri"/>
                        </a:rPr>
                        <a:t>4.5.3.</a:t>
                      </a:r>
                      <a:r>
                        <a:rPr sz="700" b="0" i="0">
                          <a:solidFill>
                            <a:srgbClr val="000000"/>
                          </a:solidFill>
                          <a:latin typeface="Times New Roman"/>
                        </a:rPr>
                        <a:t>   </a:t>
                      </a:r>
                      <a:r>
                        <a:rPr sz="1100" b="0" i="0">
                          <a:solidFill>
                            <a:srgbClr val="000000"/>
                          </a:solidFill>
                          <a:latin typeface="Calibri"/>
                        </a:rPr>
                        <a:t>Linear Low-Density Polyethylene (LLDPE)</a:t>
                      </a:r>
                      <a:endParaRPr sz="1100"/>
                    </a:p>
                  </a:txBody>
                  <a:tcPr marL="771525" marR="9525" marT="9525" marB="0" anchor="ctr"/>
                </a:tc>
              </a:tr>
              <a:tr h="175260">
                <a:tc>
                  <a:txBody>
                    <a:bodyPr wrap="square"/>
                    <a:lstStyle/>
                    <a:p>
                      <a:pPr algn="l"/>
                      <a:r>
                        <a:rPr sz="1100" b="0" i="0">
                          <a:solidFill>
                            <a:srgbClr val="000000"/>
                          </a:solidFill>
                          <a:latin typeface="Calibri"/>
                        </a:rPr>
                        <a:t>4.5.4.</a:t>
                      </a:r>
                      <a:r>
                        <a:rPr sz="700" b="0" i="0">
                          <a:solidFill>
                            <a:srgbClr val="000000"/>
                          </a:solidFill>
                          <a:latin typeface="Times New Roman"/>
                        </a:rPr>
                        <a:t>   </a:t>
                      </a:r>
                      <a:r>
                        <a:rPr sz="1100" b="0" i="0">
                          <a:solidFill>
                            <a:srgbClr val="000000"/>
                          </a:solidFill>
                          <a:latin typeface="Calibri"/>
                        </a:rPr>
                        <a:t>High-Density Polyethylene (HDPE)</a:t>
                      </a:r>
                      <a:endParaRPr sz="1100"/>
                    </a:p>
                  </a:txBody>
                  <a:tcPr marL="771525" marR="9525" marT="9525" marB="0" anchor="ctr"/>
                </a:tc>
              </a:tr>
              <a:tr h="175260">
                <a:tc>
                  <a:txBody>
                    <a:bodyPr wrap="square"/>
                    <a:lstStyle/>
                    <a:p>
                      <a:pPr algn="l"/>
                      <a:r>
                        <a:rPr sz="1100" b="0" i="0">
                          <a:solidFill>
                            <a:srgbClr val="000000"/>
                          </a:solidFill>
                          <a:latin typeface="Calibri"/>
                        </a:rPr>
                        <a:t>4.5.5.</a:t>
                      </a:r>
                      <a:r>
                        <a:rPr sz="700" b="0" i="0">
                          <a:solidFill>
                            <a:srgbClr val="000000"/>
                          </a:solidFill>
                          <a:latin typeface="Times New Roman"/>
                        </a:rPr>
                        <a:t>   </a:t>
                      </a:r>
                      <a:r>
                        <a:rPr sz="1100" b="0" i="0">
                          <a:solidFill>
                            <a:srgbClr val="000000"/>
                          </a:solidFill>
                          <a:latin typeface="Calibri"/>
                        </a:rPr>
                        <a:t>Medium-Density Polyethylene (MDPE)</a:t>
                      </a:r>
                      <a:endParaRPr sz="1100"/>
                    </a:p>
                  </a:txBody>
                  <a:tcPr marL="771525" marR="9525" marT="9525" marB="0" anchor="ctr"/>
                </a:tc>
              </a:tr>
              <a:tr h="175260">
                <a:tc>
                  <a:txBody>
                    <a:bodyPr wrap="square"/>
                    <a:lstStyle/>
                    <a:p>
                      <a:pPr algn="l"/>
                      <a:r>
                        <a:rPr sz="1100" b="0" i="0">
                          <a:solidFill>
                            <a:srgbClr val="000000"/>
                          </a:solidFill>
                          <a:latin typeface="Calibri"/>
                        </a:rPr>
                        <a:t>4.5.6.</a:t>
                      </a:r>
                      <a:r>
                        <a:rPr sz="700" b="0" i="0">
                          <a:solidFill>
                            <a:srgbClr val="000000"/>
                          </a:solidFill>
                          <a:latin typeface="Times New Roman"/>
                        </a:rPr>
                        <a:t>   </a:t>
                      </a:r>
                      <a:r>
                        <a:rPr sz="1100" b="0" i="0">
                          <a:solidFill>
                            <a:srgbClr val="000000"/>
                          </a:solidFill>
                          <a:latin typeface="Calibri"/>
                        </a:rPr>
                        <a:t>Polypropylene (PP)</a:t>
                      </a:r>
                      <a:endParaRPr sz="1100"/>
                    </a:p>
                  </a:txBody>
                  <a:tcPr marL="771525" marR="9525" marT="9525" marB="0" anchor="ctr"/>
                </a:tc>
              </a:tr>
              <a:tr h="175260">
                <a:tc>
                  <a:txBody>
                    <a:bodyPr wrap="square"/>
                    <a:lstStyle/>
                    <a:p>
                      <a:pPr algn="l"/>
                      <a:r>
                        <a:rPr sz="1100" b="0" i="1">
                          <a:solidFill>
                            <a:srgbClr val="000000"/>
                          </a:solidFill>
                          <a:latin typeface="Calibri"/>
                        </a:rPr>
                        <a:t>4.5.6.1.</a:t>
                      </a:r>
                      <a:r>
                        <a:rPr sz="700" b="0" i="1">
                          <a:solidFill>
                            <a:srgbClr val="000000"/>
                          </a:solidFill>
                          <a:latin typeface="Times New Roman"/>
                        </a:rPr>
                        <a:t>    </a:t>
                      </a:r>
                      <a:r>
                        <a:rPr sz="1100" b="0" i="1">
                          <a:solidFill>
                            <a:srgbClr val="000000"/>
                          </a:solidFill>
                          <a:latin typeface="Calibri"/>
                        </a:rPr>
                        <a:t>Cast Polypropylene (CPP)</a:t>
                      </a:r>
                      <a:endParaRPr sz="1100"/>
                    </a:p>
                  </a:txBody>
                  <a:tcPr marL="1028700" marR="9525" marT="9525" marB="0" anchor="ctr"/>
                </a:tc>
              </a:tr>
              <a:tr h="175260">
                <a:tc>
                  <a:txBody>
                    <a:bodyPr wrap="square"/>
                    <a:lstStyle/>
                    <a:p>
                      <a:pPr algn="l"/>
                      <a:r>
                        <a:rPr sz="1100" b="0" i="1">
                          <a:solidFill>
                            <a:srgbClr val="000000"/>
                          </a:solidFill>
                          <a:latin typeface="Calibri"/>
                        </a:rPr>
                        <a:t>4.5.6.2.</a:t>
                      </a:r>
                      <a:r>
                        <a:rPr sz="700" b="0" i="1">
                          <a:solidFill>
                            <a:srgbClr val="000000"/>
                          </a:solidFill>
                          <a:latin typeface="Times New Roman"/>
                        </a:rPr>
                        <a:t>    </a:t>
                      </a:r>
                      <a:r>
                        <a:rPr sz="1100" b="0" i="1">
                          <a:solidFill>
                            <a:srgbClr val="000000"/>
                          </a:solidFill>
                          <a:latin typeface="Calibri"/>
                        </a:rPr>
                        <a:t>Biaxially Oriented Polypropylene (BOPP)</a:t>
                      </a:r>
                      <a:endParaRPr sz="1100"/>
                    </a:p>
                  </a:txBody>
                  <a:tcPr marL="1028700" marR="9525" marT="9525" marB="0" anchor="ctr"/>
                </a:tc>
              </a:tr>
              <a:tr h="175260">
                <a:tc>
                  <a:txBody>
                    <a:bodyPr wrap="square"/>
                    <a:lstStyle/>
                    <a:p>
                      <a:pPr algn="l"/>
                      <a:r>
                        <a:rPr sz="1100" b="0" i="1">
                          <a:solidFill>
                            <a:srgbClr val="000000"/>
                          </a:solidFill>
                          <a:latin typeface="Calibri"/>
                        </a:rPr>
                        <a:t>4.5.6.3.</a:t>
                      </a:r>
                      <a:r>
                        <a:rPr sz="700" b="0" i="1">
                          <a:solidFill>
                            <a:srgbClr val="000000"/>
                          </a:solidFill>
                          <a:latin typeface="Times New Roman"/>
                        </a:rPr>
                        <a:t>    </a:t>
                      </a:r>
                      <a:r>
                        <a:rPr sz="1100" b="0" i="1">
                          <a:solidFill>
                            <a:srgbClr val="000000"/>
                          </a:solidFill>
                          <a:latin typeface="Calibri"/>
                        </a:rPr>
                        <a:t>Oriented Polypropylene (OPP)</a:t>
                      </a:r>
                      <a:endParaRPr sz="1100"/>
                    </a:p>
                  </a:txBody>
                  <a:tcPr marL="1028700" marR="9525" marT="9525" marB="0" anchor="ctr"/>
                </a:tc>
              </a:tr>
              <a:tr h="175260">
                <a:tc>
                  <a:txBody>
                    <a:bodyPr wrap="square"/>
                    <a:lstStyle/>
                    <a:p>
                      <a:pPr algn="l"/>
                      <a:r>
                        <a:rPr sz="1100" b="0" i="0">
                          <a:solidFill>
                            <a:srgbClr val="000000"/>
                          </a:solidFill>
                          <a:latin typeface="Calibri"/>
                        </a:rPr>
                        <a:t>4.5.7.</a:t>
                      </a:r>
                      <a:r>
                        <a:rPr sz="700" b="0" i="0">
                          <a:solidFill>
                            <a:srgbClr val="000000"/>
                          </a:solidFill>
                          <a:latin typeface="Times New Roman"/>
                        </a:rPr>
                        <a:t>   </a:t>
                      </a:r>
                      <a:r>
                        <a:rPr sz="1100" b="0" i="0">
                          <a:solidFill>
                            <a:srgbClr val="000000"/>
                          </a:solidFill>
                          <a:latin typeface="Calibri"/>
                        </a:rPr>
                        <a:t>Recycled Plastics</a:t>
                      </a:r>
                      <a:endParaRPr sz="1100"/>
                    </a:p>
                  </a:txBody>
                  <a:tcPr marL="771525" marR="9525" marT="9525" marB="0" anchor="ctr"/>
                </a:tc>
              </a:tr>
              <a:tr h="175260">
                <a:tc>
                  <a:txBody>
                    <a:bodyPr wrap="square"/>
                    <a:lstStyle/>
                    <a:p>
                      <a:pPr algn="l"/>
                      <a:r>
                        <a:rPr sz="1100" b="0" i="1">
                          <a:solidFill>
                            <a:srgbClr val="000000"/>
                          </a:solidFill>
                          <a:latin typeface="Calibri"/>
                        </a:rPr>
                        <a:t>4.5.7.1.</a:t>
                      </a:r>
                      <a:r>
                        <a:rPr sz="700" b="0" i="1">
                          <a:solidFill>
                            <a:srgbClr val="000000"/>
                          </a:solidFill>
                          <a:latin typeface="Times New Roman"/>
                        </a:rPr>
                        <a:t>    </a:t>
                      </a:r>
                      <a:r>
                        <a:rPr sz="1100" b="0" i="1">
                          <a:solidFill>
                            <a:srgbClr val="000000"/>
                          </a:solidFill>
                          <a:latin typeface="Calibri"/>
                        </a:rPr>
                        <a:t>Post-Consumer Recycled (PCR)</a:t>
                      </a:r>
                      <a:endParaRPr sz="1100"/>
                    </a:p>
                  </a:txBody>
                  <a:tcPr marL="1028700" marR="9525" marT="9525" marB="0" anchor="ctr"/>
                </a:tc>
              </a:tr>
              <a:tr h="175260">
                <a:tc>
                  <a:txBody>
                    <a:bodyPr wrap="square"/>
                    <a:lstStyle/>
                    <a:p>
                      <a:pPr algn="l"/>
                      <a:r>
                        <a:rPr sz="1100" b="0" i="1">
                          <a:solidFill>
                            <a:srgbClr val="000000"/>
                          </a:solidFill>
                          <a:latin typeface="Calibri"/>
                        </a:rPr>
                        <a:t>4.5.7.2.</a:t>
                      </a:r>
                      <a:r>
                        <a:rPr sz="700" b="0" i="1">
                          <a:solidFill>
                            <a:srgbClr val="000000"/>
                          </a:solidFill>
                          <a:latin typeface="Times New Roman"/>
                        </a:rPr>
                        <a:t>    </a:t>
                      </a:r>
                      <a:r>
                        <a:rPr sz="1100" b="0" i="1">
                          <a:solidFill>
                            <a:srgbClr val="000000"/>
                          </a:solidFill>
                          <a:latin typeface="Calibri"/>
                        </a:rPr>
                        <a:t>Post-Industrial Recycled (PIR)</a:t>
                      </a:r>
                      <a:endParaRPr sz="1100"/>
                    </a:p>
                  </a:txBody>
                  <a:tcPr marL="1028700" marR="9525" marT="9525" marB="0" anchor="ctr"/>
                </a:tc>
              </a:tr>
              <a:tr h="175260">
                <a:tc>
                  <a:txBody>
                    <a:bodyPr wrap="square"/>
                    <a:lstStyle/>
                    <a:p>
                      <a:pPr algn="l"/>
                      <a:r>
                        <a:rPr sz="1100" b="0" i="1">
                          <a:solidFill>
                            <a:srgbClr val="000000"/>
                          </a:solidFill>
                          <a:latin typeface="Calibri"/>
                        </a:rPr>
                        <a:t>4.5.7.3.</a:t>
                      </a:r>
                      <a:r>
                        <a:rPr sz="700" b="0" i="1">
                          <a:solidFill>
                            <a:srgbClr val="000000"/>
                          </a:solidFill>
                          <a:latin typeface="Times New Roman"/>
                        </a:rPr>
                        <a:t>    </a:t>
                      </a:r>
                      <a:r>
                        <a:rPr sz="1100" b="0" i="1">
                          <a:solidFill>
                            <a:srgbClr val="000000"/>
                          </a:solidFill>
                          <a:latin typeface="Calibri"/>
                        </a:rPr>
                        <a:t>Mixed Recycled Resin</a:t>
                      </a:r>
                      <a:endParaRPr sz="1100"/>
                    </a:p>
                  </a:txBody>
                  <a:tcPr marL="1028700" marR="9525" marT="9525" marB="0" anchor="ctr"/>
                </a:tc>
              </a:tr>
              <a:tr h="175260">
                <a:tc>
                  <a:txBody>
                    <a:bodyPr wrap="square"/>
                    <a:lstStyle/>
                    <a:p>
                      <a:pPr algn="l"/>
                      <a:r>
                        <a:rPr sz="1100" b="0" i="0">
                          <a:solidFill>
                            <a:srgbClr val="000000"/>
                          </a:solidFill>
                          <a:latin typeface="Calibri"/>
                        </a:rPr>
                        <a:t>4.5.8.</a:t>
                      </a:r>
                      <a:r>
                        <a:rPr sz="700" b="0" i="0">
                          <a:solidFill>
                            <a:srgbClr val="000000"/>
                          </a:solidFill>
                          <a:latin typeface="Times New Roman"/>
                        </a:rPr>
                        <a:t>   </a:t>
                      </a:r>
                      <a:r>
                        <a:rPr sz="1100" b="0" i="0">
                          <a:solidFill>
                            <a:srgbClr val="000000"/>
                          </a:solidFill>
                          <a:latin typeface="Calibri"/>
                        </a:rPr>
                        <a:t>Bio-Based Materials</a:t>
                      </a:r>
                      <a:endParaRPr sz="1100"/>
                    </a:p>
                  </a:txBody>
                  <a:tcPr marL="771525" marR="9525" marT="9525" marB="0" anchor="ctr"/>
                </a:tc>
              </a:tr>
              <a:tr h="175260">
                <a:tc>
                  <a:txBody>
                    <a:bodyPr wrap="square"/>
                    <a:lstStyle/>
                    <a:p>
                      <a:pPr algn="l"/>
                      <a:r>
                        <a:rPr sz="1100" b="0" i="1">
                          <a:solidFill>
                            <a:srgbClr val="000000"/>
                          </a:solidFill>
                          <a:latin typeface="Calibri"/>
                        </a:rPr>
                        <a:t>4.5.8.1.</a:t>
                      </a:r>
                      <a:r>
                        <a:rPr sz="700" b="0" i="1">
                          <a:solidFill>
                            <a:srgbClr val="000000"/>
                          </a:solidFill>
                          <a:latin typeface="Times New Roman"/>
                        </a:rPr>
                        <a:t>    </a:t>
                      </a:r>
                      <a:r>
                        <a:rPr sz="1100" b="0" i="1">
                          <a:solidFill>
                            <a:srgbClr val="000000"/>
                          </a:solidFill>
                          <a:latin typeface="Calibri"/>
                        </a:rPr>
                        <a:t>PLA</a:t>
                      </a:r>
                      <a:endParaRPr sz="1100"/>
                    </a:p>
                  </a:txBody>
                  <a:tcPr marL="1028700" marR="9525" marT="9525" marB="0" anchor="ctr"/>
                </a:tc>
              </a:tr>
              <a:tr h="175260">
                <a:tc>
                  <a:txBody>
                    <a:bodyPr wrap="square"/>
                    <a:lstStyle/>
                    <a:p>
                      <a:pPr algn="l"/>
                      <a:r>
                        <a:rPr sz="1100" b="0" i="1">
                          <a:solidFill>
                            <a:srgbClr val="000000"/>
                          </a:solidFill>
                          <a:latin typeface="Calibri"/>
                        </a:rPr>
                        <a:t>4.5.8.2.</a:t>
                      </a:r>
                      <a:r>
                        <a:rPr sz="700" b="0" i="1">
                          <a:solidFill>
                            <a:srgbClr val="000000"/>
                          </a:solidFill>
                          <a:latin typeface="Times New Roman"/>
                        </a:rPr>
                        <a:t>    </a:t>
                      </a:r>
                      <a:r>
                        <a:rPr sz="1100" b="0" i="1">
                          <a:solidFill>
                            <a:srgbClr val="000000"/>
                          </a:solidFill>
                          <a:latin typeface="Calibri"/>
                        </a:rPr>
                        <a:t>PHA</a:t>
                      </a:r>
                      <a:endParaRPr sz="1100"/>
                    </a:p>
                  </a:txBody>
                  <a:tcPr marL="1028700" marR="9525" marT="9525" marB="0" anchor="ctr"/>
                </a:tc>
              </a:tr>
              <a:tr h="175260">
                <a:tc>
                  <a:txBody>
                    <a:bodyPr wrap="square"/>
                    <a:lstStyle/>
                    <a:p>
                      <a:pPr algn="l"/>
                      <a:r>
                        <a:rPr sz="1100" b="0" i="1">
                          <a:solidFill>
                            <a:srgbClr val="000000"/>
                          </a:solidFill>
                          <a:latin typeface="Calibri"/>
                        </a:rPr>
                        <a:t>4.5.8.3.</a:t>
                      </a:r>
                      <a:r>
                        <a:rPr sz="700" b="0" i="1">
                          <a:solidFill>
                            <a:srgbClr val="000000"/>
                          </a:solidFill>
                          <a:latin typeface="Times New Roman"/>
                        </a:rPr>
                        <a:t>    </a:t>
                      </a:r>
                      <a:r>
                        <a:rPr sz="1100" b="0" i="1">
                          <a:solidFill>
                            <a:srgbClr val="000000"/>
                          </a:solidFill>
                          <a:latin typeface="Calibri"/>
                        </a:rPr>
                        <a:t>Starch Blend</a:t>
                      </a:r>
                      <a:endParaRPr sz="1100"/>
                    </a:p>
                  </a:txBody>
                  <a:tcPr marL="1028700" marR="9525" marT="9525" marB="0" anchor="ctr"/>
                </a:tc>
              </a:tr>
              <a:tr h="175260">
                <a:tc>
                  <a:txBody>
                    <a:bodyPr wrap="square"/>
                    <a:lstStyle/>
                    <a:p>
                      <a:pPr algn="l"/>
                      <a:r>
                        <a:rPr sz="1100" b="0" i="1">
                          <a:solidFill>
                            <a:srgbClr val="000000"/>
                          </a:solidFill>
                          <a:latin typeface="Calibri"/>
                        </a:rPr>
                        <a:t>4.5.8.4.</a:t>
                      </a:r>
                      <a:r>
                        <a:rPr sz="700" b="0" i="1">
                          <a:solidFill>
                            <a:srgbClr val="000000"/>
                          </a:solidFill>
                          <a:latin typeface="Times New Roman"/>
                        </a:rPr>
                        <a:t>    </a:t>
                      </a:r>
                      <a:r>
                        <a:rPr sz="1100" b="0" i="1">
                          <a:solidFill>
                            <a:srgbClr val="000000"/>
                          </a:solidFill>
                          <a:latin typeface="Calibri"/>
                        </a:rPr>
                        <a:t>PBAT Blend</a:t>
                      </a:r>
                      <a:endParaRPr sz="1100"/>
                    </a:p>
                  </a:txBody>
                  <a:tcPr marL="1028700" marR="9525" marT="9525" marB="0" anchor="ctr"/>
                </a:tc>
              </a:tr>
              <a:tr h="175260">
                <a:tc>
                  <a:txBody>
                    <a:bodyPr wrap="square"/>
                    <a:lstStyle/>
                    <a:p>
                      <a:pPr algn="l"/>
                      <a:r>
                        <a:rPr sz="1100" b="0" i="1">
                          <a:solidFill>
                            <a:srgbClr val="000000"/>
                          </a:solidFill>
                          <a:latin typeface="Calibri"/>
                        </a:rPr>
                        <a:t>4.5.8.5.</a:t>
                      </a:r>
                      <a:r>
                        <a:rPr sz="700" b="0" i="1">
                          <a:solidFill>
                            <a:srgbClr val="000000"/>
                          </a:solidFill>
                          <a:latin typeface="Times New Roman"/>
                        </a:rPr>
                        <a:t>    </a:t>
                      </a:r>
                      <a:r>
                        <a:rPr sz="1100" b="0" i="1">
                          <a:solidFill>
                            <a:srgbClr val="000000"/>
                          </a:solidFill>
                          <a:latin typeface="Calibri"/>
                        </a:rPr>
                        <a:t>Cellulose-Based Films</a:t>
                      </a:r>
                      <a:endParaRPr sz="1100"/>
                    </a:p>
                  </a:txBody>
                  <a:tcPr marL="1028700" marR="9525" marT="9525" marB="0" anchor="ctr"/>
                </a:tc>
              </a:tr>
              <a:tr h="175260">
                <a:tc>
                  <a:txBody>
                    <a:bodyPr wrap="square"/>
                    <a:lstStyle/>
                    <a:p>
                      <a:pPr algn="l"/>
                      <a:r>
                        <a:rPr sz="1100" b="0" i="0">
                          <a:solidFill>
                            <a:srgbClr val="000000"/>
                          </a:solidFill>
                          <a:latin typeface="Calibri"/>
                        </a:rPr>
                        <a:t>4.5.9.</a:t>
                      </a:r>
                      <a:r>
                        <a:rPr sz="700" b="0" i="0">
                          <a:solidFill>
                            <a:srgbClr val="000000"/>
                          </a:solidFill>
                          <a:latin typeface="Times New Roman"/>
                        </a:rPr>
                        <a:t>   </a:t>
                      </a:r>
                      <a:r>
                        <a:rPr sz="1100" b="0" i="0">
                          <a:solidFill>
                            <a:srgbClr val="000000"/>
                          </a:solidFill>
                          <a:latin typeface="Calibri"/>
                        </a:rPr>
                        <a:t>Specialty Materials</a:t>
                      </a:r>
                      <a:endParaRPr sz="1100"/>
                    </a:p>
                  </a:txBody>
                  <a:tcPr marL="771525" marR="9525" marT="9525" marB="0" anchor="ctr"/>
                </a:tc>
              </a:tr>
              <a:tr h="175260">
                <a:tc>
                  <a:txBody>
                    <a:bodyPr wrap="square"/>
                    <a:lstStyle/>
                    <a:p>
                      <a:pPr algn="l"/>
                      <a:r>
                        <a:rPr sz="1100" b="0" i="1">
                          <a:solidFill>
                            <a:srgbClr val="000000"/>
                          </a:solidFill>
                          <a:latin typeface="Calibri"/>
                        </a:rPr>
                        <a:t>4.5.9.1.</a:t>
                      </a:r>
                      <a:r>
                        <a:rPr sz="700" b="0" i="1">
                          <a:solidFill>
                            <a:srgbClr val="000000"/>
                          </a:solidFill>
                          <a:latin typeface="Times New Roman"/>
                        </a:rPr>
                        <a:t>    </a:t>
                      </a:r>
                      <a:r>
                        <a:rPr sz="1100" b="0" i="1">
                          <a:solidFill>
                            <a:srgbClr val="000000"/>
                          </a:solidFill>
                          <a:latin typeface="Calibri"/>
                        </a:rPr>
                        <a:t>EVA</a:t>
                      </a:r>
                      <a:endParaRPr sz="1100"/>
                    </a:p>
                  </a:txBody>
                  <a:tcPr marL="1028700" marR="9525" marT="9525" marB="0" anchor="ctr"/>
                </a:tc>
              </a:tr>
              <a:tr h="175260">
                <a:tc>
                  <a:txBody>
                    <a:bodyPr wrap="square"/>
                    <a:lstStyle/>
                    <a:p>
                      <a:pPr algn="l"/>
                      <a:r>
                        <a:rPr sz="1100" b="0" i="1">
                          <a:solidFill>
                            <a:srgbClr val="000000"/>
                          </a:solidFill>
                          <a:latin typeface="Calibri"/>
                        </a:rPr>
                        <a:t>4.5.9.2.</a:t>
                      </a:r>
                      <a:r>
                        <a:rPr sz="700" b="0" i="1">
                          <a:solidFill>
                            <a:srgbClr val="000000"/>
                          </a:solidFill>
                          <a:latin typeface="Times New Roman"/>
                        </a:rPr>
                        <a:t>    </a:t>
                      </a:r>
                      <a:r>
                        <a:rPr sz="1100" b="0" i="1">
                          <a:solidFill>
                            <a:srgbClr val="000000"/>
                          </a:solidFill>
                          <a:latin typeface="Calibri"/>
                        </a:rPr>
                        <a:t>Coextruded Multilayer Films</a:t>
                      </a:r>
                      <a:endParaRPr sz="1100"/>
                    </a:p>
                  </a:txBody>
                  <a:tcPr marL="1028700" marR="9525" marT="9525" marB="0" anchor="ctr"/>
                </a:tc>
              </a:tr>
              <a:tr h="175260">
                <a:tc>
                  <a:txBody>
                    <a:bodyPr wrap="square"/>
                    <a:lstStyle/>
                    <a:p>
                      <a:pPr algn="l"/>
                      <a:r>
                        <a:rPr sz="1100" b="0" i="1">
                          <a:solidFill>
                            <a:srgbClr val="000000"/>
                          </a:solidFill>
                          <a:latin typeface="Calibri"/>
                        </a:rPr>
                        <a:t>4.5.9.3.</a:t>
                      </a:r>
                      <a:r>
                        <a:rPr sz="700" b="0" i="1">
                          <a:solidFill>
                            <a:srgbClr val="000000"/>
                          </a:solidFill>
                          <a:latin typeface="Times New Roman"/>
                        </a:rPr>
                        <a:t>    </a:t>
                      </a:r>
                      <a:r>
                        <a:rPr sz="1100" b="0" i="1">
                          <a:solidFill>
                            <a:srgbClr val="000000"/>
                          </a:solidFill>
                          <a:latin typeface="Calibri"/>
                        </a:rPr>
                        <a:t>Barrier Films</a:t>
                      </a:r>
                      <a:endParaRPr sz="1100"/>
                    </a:p>
                  </a:txBody>
                  <a:tcPr marL="10287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4.5.9.4.</a:t>
                      </a:r>
                      <a:r>
                        <a:rPr sz="700" b="0" i="1">
                          <a:solidFill>
                            <a:srgbClr val="000000"/>
                          </a:solidFill>
                          <a:latin typeface="Times New Roman"/>
                        </a:rPr>
                        <a:t>    </a:t>
                      </a:r>
                      <a:r>
                        <a:rPr sz="1100" b="0" i="1">
                          <a:solidFill>
                            <a:srgbClr val="000000"/>
                          </a:solidFill>
                          <a:latin typeface="Calibri"/>
                        </a:rPr>
                        <a:t>Conductive Polymers</a:t>
                      </a:r>
                      <a:endParaRPr sz="1100"/>
                    </a:p>
                  </a:txBody>
                  <a:tcPr marL="1028700" marR="9525" marT="9525" marB="0" anchor="ctr"/>
                </a:tc>
              </a:tr>
              <a:tr h="175260">
                <a:tc>
                  <a:txBody>
                    <a:bodyPr wrap="square"/>
                    <a:lstStyle/>
                    <a:p>
                      <a:pPr algn="l"/>
                      <a:r>
                        <a:rPr sz="1100" b="1" i="0">
                          <a:solidFill>
                            <a:srgbClr val="000000"/>
                          </a:solidFill>
                          <a:latin typeface="Calibri"/>
                        </a:rPr>
                        <a:t>5.</a:t>
                      </a:r>
                      <a:r>
                        <a:rPr sz="700" b="1" i="0">
                          <a:solidFill>
                            <a:srgbClr val="000000"/>
                          </a:solidFill>
                          <a:latin typeface="Times New Roman"/>
                        </a:rPr>
                        <a:t>       </a:t>
                      </a:r>
                      <a:r>
                        <a:rPr sz="1100" b="1" i="0">
                          <a:solidFill>
                            <a:srgbClr val="000000"/>
                          </a:solidFill>
                          <a:latin typeface="Calibri"/>
                        </a:rPr>
                        <a:t>Global Market (Value- Volume) Analysis 2021–2036, By End-Use Industry</a:t>
                      </a:r>
                      <a:endParaRPr sz="1100"/>
                    </a:p>
                  </a:txBody>
                  <a:tcPr marL="171450" marR="9525" marT="9525" marB="0" anchor="ctr"/>
                </a:tc>
              </a:tr>
              <a:tr h="175260">
                <a:tc>
                  <a:txBody>
                    <a:bodyPr wrap="square"/>
                    <a:lstStyle/>
                    <a:p>
                      <a:pPr algn="l"/>
                      <a:r>
                        <a:rPr sz="1100" b="0" i="0">
                          <a:solidFill>
                            <a:srgbClr val="0070C0"/>
                          </a:solidFill>
                          <a:latin typeface="Calibri"/>
                        </a:rPr>
                        <a:t>5.1.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5.2.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5.3.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5.4.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5.5.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5.5.1.</a:t>
                      </a:r>
                      <a:r>
                        <a:rPr sz="700" b="0" i="0">
                          <a:solidFill>
                            <a:srgbClr val="000000"/>
                          </a:solidFill>
                          <a:latin typeface="Times New Roman"/>
                        </a:rPr>
                        <a:t>   </a:t>
                      </a:r>
                      <a:r>
                        <a:rPr sz="1100" b="0" i="0">
                          <a:solidFill>
                            <a:srgbClr val="000000"/>
                          </a:solidFill>
                          <a:latin typeface="Calibri"/>
                        </a:rPr>
                        <a:t>Food &amp; Beverage</a:t>
                      </a:r>
                      <a:endParaRPr sz="1100"/>
                    </a:p>
                  </a:txBody>
                  <a:tcPr marL="771525" marR="9525" marT="9525" marB="0" anchor="ctr"/>
                </a:tc>
              </a:tr>
              <a:tr h="175260">
                <a:tc>
                  <a:txBody>
                    <a:bodyPr wrap="square"/>
                    <a:lstStyle/>
                    <a:p>
                      <a:pPr algn="l"/>
                      <a:r>
                        <a:rPr sz="1100" b="0" i="1">
                          <a:solidFill>
                            <a:srgbClr val="000000"/>
                          </a:solidFill>
                          <a:latin typeface="Calibri"/>
                        </a:rPr>
                        <a:t>5.5.1.1.</a:t>
                      </a:r>
                      <a:r>
                        <a:rPr sz="700" b="0" i="1">
                          <a:solidFill>
                            <a:srgbClr val="000000"/>
                          </a:solidFill>
                          <a:latin typeface="Times New Roman"/>
                        </a:rPr>
                        <a:t>    </a:t>
                      </a:r>
                      <a:r>
                        <a:rPr sz="1100" b="0" i="1">
                          <a:solidFill>
                            <a:srgbClr val="000000"/>
                          </a:solidFill>
                          <a:latin typeface="Calibri"/>
                        </a:rPr>
                        <a:t>Fresh Produce</a:t>
                      </a:r>
                      <a:endParaRPr sz="1100"/>
                    </a:p>
                  </a:txBody>
                  <a:tcPr marL="1028700" marR="9525" marT="9525" marB="0" anchor="ctr"/>
                </a:tc>
              </a:tr>
              <a:tr h="175260">
                <a:tc>
                  <a:txBody>
                    <a:bodyPr wrap="square"/>
                    <a:lstStyle/>
                    <a:p>
                      <a:pPr algn="l"/>
                      <a:r>
                        <a:rPr sz="1100" b="0" i="1">
                          <a:solidFill>
                            <a:srgbClr val="000000"/>
                          </a:solidFill>
                          <a:latin typeface="Calibri"/>
                        </a:rPr>
                        <a:t>5.5.1.2.</a:t>
                      </a:r>
                      <a:r>
                        <a:rPr sz="700" b="0" i="1">
                          <a:solidFill>
                            <a:srgbClr val="000000"/>
                          </a:solidFill>
                          <a:latin typeface="Times New Roman"/>
                        </a:rPr>
                        <a:t>    </a:t>
                      </a:r>
                      <a:r>
                        <a:rPr sz="1100" b="0" i="1">
                          <a:solidFill>
                            <a:srgbClr val="000000"/>
                          </a:solidFill>
                          <a:latin typeface="Calibri"/>
                        </a:rPr>
                        <a:t>Frozen Food</a:t>
                      </a:r>
                      <a:endParaRPr sz="1100"/>
                    </a:p>
                  </a:txBody>
                  <a:tcPr marL="1028700" marR="9525" marT="9525" marB="0" anchor="ctr"/>
                </a:tc>
              </a:tr>
              <a:tr h="175260">
                <a:tc>
                  <a:txBody>
                    <a:bodyPr wrap="square"/>
                    <a:lstStyle/>
                    <a:p>
                      <a:pPr algn="l"/>
                      <a:r>
                        <a:rPr sz="1100" b="0" i="1">
                          <a:solidFill>
                            <a:srgbClr val="000000"/>
                          </a:solidFill>
                          <a:latin typeface="Calibri"/>
                        </a:rPr>
                        <a:t>5.5.1.3.</a:t>
                      </a:r>
                      <a:r>
                        <a:rPr sz="700" b="0" i="1">
                          <a:solidFill>
                            <a:srgbClr val="000000"/>
                          </a:solidFill>
                          <a:latin typeface="Times New Roman"/>
                        </a:rPr>
                        <a:t>    </a:t>
                      </a:r>
                      <a:r>
                        <a:rPr sz="1100" b="0" i="1">
                          <a:solidFill>
                            <a:srgbClr val="000000"/>
                          </a:solidFill>
                          <a:latin typeface="Calibri"/>
                        </a:rPr>
                        <a:t>Dairy Products</a:t>
                      </a:r>
                      <a:endParaRPr sz="1100"/>
                    </a:p>
                  </a:txBody>
                  <a:tcPr marL="1028700" marR="9525" marT="9525" marB="0" anchor="ctr"/>
                </a:tc>
              </a:tr>
              <a:tr h="175260">
                <a:tc>
                  <a:txBody>
                    <a:bodyPr wrap="square"/>
                    <a:lstStyle/>
                    <a:p>
                      <a:pPr algn="l"/>
                      <a:r>
                        <a:rPr sz="1100" b="0" i="1">
                          <a:solidFill>
                            <a:srgbClr val="000000"/>
                          </a:solidFill>
                          <a:latin typeface="Calibri"/>
                        </a:rPr>
                        <a:t>5.5.1.4.</a:t>
                      </a:r>
                      <a:r>
                        <a:rPr sz="700" b="0" i="1">
                          <a:solidFill>
                            <a:srgbClr val="000000"/>
                          </a:solidFill>
                          <a:latin typeface="Times New Roman"/>
                        </a:rPr>
                        <a:t>    </a:t>
                      </a:r>
                      <a:r>
                        <a:rPr sz="1100" b="0" i="1">
                          <a:solidFill>
                            <a:srgbClr val="000000"/>
                          </a:solidFill>
                          <a:latin typeface="Calibri"/>
                        </a:rPr>
                        <a:t>Bakery</a:t>
                      </a:r>
                      <a:endParaRPr sz="1100"/>
                    </a:p>
                  </a:txBody>
                  <a:tcPr marL="1028700" marR="9525" marT="9525" marB="0" anchor="ctr"/>
                </a:tc>
              </a:tr>
              <a:tr h="175260">
                <a:tc>
                  <a:txBody>
                    <a:bodyPr wrap="square"/>
                    <a:lstStyle/>
                    <a:p>
                      <a:pPr algn="l"/>
                      <a:r>
                        <a:rPr sz="1100" b="0" i="1">
                          <a:solidFill>
                            <a:srgbClr val="000000"/>
                          </a:solidFill>
                          <a:latin typeface="Calibri"/>
                        </a:rPr>
                        <a:t>5.5.1.5.</a:t>
                      </a:r>
                      <a:r>
                        <a:rPr sz="700" b="0" i="1">
                          <a:solidFill>
                            <a:srgbClr val="000000"/>
                          </a:solidFill>
                          <a:latin typeface="Times New Roman"/>
                        </a:rPr>
                        <a:t>    </a:t>
                      </a:r>
                      <a:r>
                        <a:rPr sz="1100" b="0" i="1">
                          <a:solidFill>
                            <a:srgbClr val="000000"/>
                          </a:solidFill>
                          <a:latin typeface="Calibri"/>
                        </a:rPr>
                        <a:t>Meat &amp; Poultry</a:t>
                      </a:r>
                      <a:endParaRPr sz="1100"/>
                    </a:p>
                  </a:txBody>
                  <a:tcPr marL="1028700" marR="9525" marT="9525" marB="0" anchor="ctr"/>
                </a:tc>
              </a:tr>
              <a:tr h="175260">
                <a:tc>
                  <a:txBody>
                    <a:bodyPr wrap="square"/>
                    <a:lstStyle/>
                    <a:p>
                      <a:pPr algn="l"/>
                      <a:r>
                        <a:rPr sz="1100" b="0" i="1">
                          <a:solidFill>
                            <a:srgbClr val="000000"/>
                          </a:solidFill>
                          <a:latin typeface="Calibri"/>
                        </a:rPr>
                        <a:t>5.5.1.6.</a:t>
                      </a:r>
                      <a:r>
                        <a:rPr sz="700" b="0" i="1">
                          <a:solidFill>
                            <a:srgbClr val="000000"/>
                          </a:solidFill>
                          <a:latin typeface="Times New Roman"/>
                        </a:rPr>
                        <a:t>    </a:t>
                      </a:r>
                      <a:r>
                        <a:rPr sz="1100" b="0" i="1">
                          <a:solidFill>
                            <a:srgbClr val="000000"/>
                          </a:solidFill>
                          <a:latin typeface="Calibri"/>
                        </a:rPr>
                        <a:t>Seafood</a:t>
                      </a:r>
                      <a:endParaRPr sz="1100"/>
                    </a:p>
                  </a:txBody>
                  <a:tcPr marL="1028700" marR="9525" marT="9525" marB="0" anchor="ctr"/>
                </a:tc>
              </a:tr>
              <a:tr h="175260">
                <a:tc>
                  <a:txBody>
                    <a:bodyPr wrap="square"/>
                    <a:lstStyle/>
                    <a:p>
                      <a:pPr algn="l"/>
                      <a:r>
                        <a:rPr sz="1100" b="0" i="1">
                          <a:solidFill>
                            <a:srgbClr val="000000"/>
                          </a:solidFill>
                          <a:latin typeface="Calibri"/>
                        </a:rPr>
                        <a:t>5.5.1.7.</a:t>
                      </a:r>
                      <a:r>
                        <a:rPr sz="700" b="0" i="1">
                          <a:solidFill>
                            <a:srgbClr val="000000"/>
                          </a:solidFill>
                          <a:latin typeface="Times New Roman"/>
                        </a:rPr>
                        <a:t>    </a:t>
                      </a:r>
                      <a:r>
                        <a:rPr sz="1100" b="0" i="1">
                          <a:solidFill>
                            <a:srgbClr val="000000"/>
                          </a:solidFill>
                          <a:latin typeface="Calibri"/>
                        </a:rPr>
                        <a:t>Snacks &amp; Confectionery</a:t>
                      </a:r>
                      <a:endParaRPr sz="1100"/>
                    </a:p>
                  </a:txBody>
                  <a:tcPr marL="1028700" marR="9525" marT="9525" marB="0" anchor="ctr"/>
                </a:tc>
              </a:tr>
              <a:tr h="175260">
                <a:tc>
                  <a:txBody>
                    <a:bodyPr wrap="square"/>
                    <a:lstStyle/>
                    <a:p>
                      <a:pPr algn="l"/>
                      <a:r>
                        <a:rPr sz="1100" b="0" i="1">
                          <a:solidFill>
                            <a:srgbClr val="000000"/>
                          </a:solidFill>
                          <a:latin typeface="Calibri"/>
                        </a:rPr>
                        <a:t>5.5.1.8.</a:t>
                      </a:r>
                      <a:r>
                        <a:rPr sz="700" b="0" i="1">
                          <a:solidFill>
                            <a:srgbClr val="000000"/>
                          </a:solidFill>
                          <a:latin typeface="Times New Roman"/>
                        </a:rPr>
                        <a:t>    </a:t>
                      </a:r>
                      <a:r>
                        <a:rPr sz="1100" b="0" i="1">
                          <a:solidFill>
                            <a:srgbClr val="000000"/>
                          </a:solidFill>
                          <a:latin typeface="Calibri"/>
                        </a:rPr>
                        <a:t>Beverage Packaging</a:t>
                      </a:r>
                      <a:endParaRPr sz="1100"/>
                    </a:p>
                  </a:txBody>
                  <a:tcPr marL="1028700" marR="9525" marT="9525" marB="0" anchor="ctr"/>
                </a:tc>
              </a:tr>
              <a:tr h="175260">
                <a:tc>
                  <a:txBody>
                    <a:bodyPr wrap="square"/>
                    <a:lstStyle/>
                    <a:p>
                      <a:pPr algn="l"/>
                      <a:r>
                        <a:rPr sz="1100" b="0" i="0">
                          <a:solidFill>
                            <a:srgbClr val="000000"/>
                          </a:solidFill>
                          <a:latin typeface="Calibri"/>
                        </a:rPr>
                        <a:t>5.5.2.</a:t>
                      </a:r>
                      <a:r>
                        <a:rPr sz="700" b="0" i="0">
                          <a:solidFill>
                            <a:srgbClr val="000000"/>
                          </a:solidFill>
                          <a:latin typeface="Times New Roman"/>
                        </a:rPr>
                        <a:t>   </a:t>
                      </a:r>
                      <a:r>
                        <a:rPr sz="1100" b="0" i="0">
                          <a:solidFill>
                            <a:srgbClr val="000000"/>
                          </a:solidFill>
                          <a:latin typeface="Calibri"/>
                        </a:rPr>
                        <a:t>Retail &amp; Consumer Goods</a:t>
                      </a:r>
                      <a:endParaRPr sz="1100"/>
                    </a:p>
                  </a:txBody>
                  <a:tcPr marL="771525" marR="9525" marT="9525" marB="0" anchor="ctr"/>
                </a:tc>
              </a:tr>
              <a:tr h="175260">
                <a:tc>
                  <a:txBody>
                    <a:bodyPr wrap="square"/>
                    <a:lstStyle/>
                    <a:p>
                      <a:pPr algn="l"/>
                      <a:r>
                        <a:rPr sz="1100" b="0" i="1">
                          <a:solidFill>
                            <a:srgbClr val="000000"/>
                          </a:solidFill>
                          <a:latin typeface="Calibri"/>
                        </a:rPr>
                        <a:t>5.5.2.1.</a:t>
                      </a:r>
                      <a:r>
                        <a:rPr sz="700" b="0" i="1">
                          <a:solidFill>
                            <a:srgbClr val="000000"/>
                          </a:solidFill>
                          <a:latin typeface="Times New Roman"/>
                        </a:rPr>
                        <a:t>    </a:t>
                      </a:r>
                      <a:r>
                        <a:rPr sz="1100" b="0" i="1">
                          <a:solidFill>
                            <a:srgbClr val="000000"/>
                          </a:solidFill>
                          <a:latin typeface="Calibri"/>
                        </a:rPr>
                        <a:t>Apparel</a:t>
                      </a:r>
                      <a:endParaRPr sz="1100"/>
                    </a:p>
                  </a:txBody>
                  <a:tcPr marL="1028700" marR="9525" marT="9525" marB="0" anchor="ctr"/>
                </a:tc>
              </a:tr>
              <a:tr h="175260">
                <a:tc>
                  <a:txBody>
                    <a:bodyPr wrap="square"/>
                    <a:lstStyle/>
                    <a:p>
                      <a:pPr algn="l"/>
                      <a:r>
                        <a:rPr sz="1100" b="0" i="1">
                          <a:solidFill>
                            <a:srgbClr val="000000"/>
                          </a:solidFill>
                          <a:latin typeface="Calibri"/>
                        </a:rPr>
                        <a:t>5.5.2.2.</a:t>
                      </a:r>
                      <a:r>
                        <a:rPr sz="700" b="0" i="1">
                          <a:solidFill>
                            <a:srgbClr val="000000"/>
                          </a:solidFill>
                          <a:latin typeface="Times New Roman"/>
                        </a:rPr>
                        <a:t>    </a:t>
                      </a:r>
                      <a:r>
                        <a:rPr sz="1100" b="0" i="1">
                          <a:solidFill>
                            <a:srgbClr val="000000"/>
                          </a:solidFill>
                          <a:latin typeface="Calibri"/>
                        </a:rPr>
                        <a:t>Footwear</a:t>
                      </a:r>
                      <a:endParaRPr sz="1100"/>
                    </a:p>
                  </a:txBody>
                  <a:tcPr marL="1028700" marR="9525" marT="9525" marB="0" anchor="ctr"/>
                </a:tc>
              </a:tr>
              <a:tr h="175260">
                <a:tc>
                  <a:txBody>
                    <a:bodyPr wrap="square"/>
                    <a:lstStyle/>
                    <a:p>
                      <a:pPr algn="l"/>
                      <a:r>
                        <a:rPr sz="1100" b="0" i="1">
                          <a:solidFill>
                            <a:srgbClr val="000000"/>
                          </a:solidFill>
                          <a:latin typeface="Calibri"/>
                        </a:rPr>
                        <a:t>5.5.2.3.</a:t>
                      </a:r>
                      <a:r>
                        <a:rPr sz="700" b="0" i="1">
                          <a:solidFill>
                            <a:srgbClr val="000000"/>
                          </a:solidFill>
                          <a:latin typeface="Times New Roman"/>
                        </a:rPr>
                        <a:t>    </a:t>
                      </a:r>
                      <a:r>
                        <a:rPr sz="1100" b="0" i="1">
                          <a:solidFill>
                            <a:srgbClr val="000000"/>
                          </a:solidFill>
                          <a:latin typeface="Calibri"/>
                        </a:rPr>
                        <a:t>Toys</a:t>
                      </a:r>
                      <a:endParaRPr sz="1100"/>
                    </a:p>
                  </a:txBody>
                  <a:tcPr marL="1028700" marR="9525" marT="9525" marB="0" anchor="ctr"/>
                </a:tc>
              </a:tr>
              <a:tr h="175260">
                <a:tc>
                  <a:txBody>
                    <a:bodyPr wrap="square"/>
                    <a:lstStyle/>
                    <a:p>
                      <a:pPr algn="l"/>
                      <a:r>
                        <a:rPr sz="1100" b="0" i="1">
                          <a:solidFill>
                            <a:srgbClr val="000000"/>
                          </a:solidFill>
                          <a:latin typeface="Calibri"/>
                        </a:rPr>
                        <a:t>5.5.2.4.</a:t>
                      </a:r>
                      <a:r>
                        <a:rPr sz="700" b="0" i="1">
                          <a:solidFill>
                            <a:srgbClr val="000000"/>
                          </a:solidFill>
                          <a:latin typeface="Times New Roman"/>
                        </a:rPr>
                        <a:t>    </a:t>
                      </a:r>
                      <a:r>
                        <a:rPr sz="1100" b="0" i="1">
                          <a:solidFill>
                            <a:srgbClr val="000000"/>
                          </a:solidFill>
                          <a:latin typeface="Calibri"/>
                        </a:rPr>
                        <a:t>Home Care</a:t>
                      </a:r>
                      <a:endParaRPr sz="1100"/>
                    </a:p>
                  </a:txBody>
                  <a:tcPr marL="1028700" marR="9525" marT="9525" marB="0" anchor="ctr"/>
                </a:tc>
              </a:tr>
              <a:tr h="175260">
                <a:tc>
                  <a:txBody>
                    <a:bodyPr wrap="square"/>
                    <a:lstStyle/>
                    <a:p>
                      <a:pPr algn="l"/>
                      <a:r>
                        <a:rPr sz="1100" b="0" i="1">
                          <a:solidFill>
                            <a:srgbClr val="000000"/>
                          </a:solidFill>
                          <a:latin typeface="Calibri"/>
                        </a:rPr>
                        <a:t>5.5.2.5.</a:t>
                      </a:r>
                      <a:r>
                        <a:rPr sz="700" b="0" i="1">
                          <a:solidFill>
                            <a:srgbClr val="000000"/>
                          </a:solidFill>
                          <a:latin typeface="Times New Roman"/>
                        </a:rPr>
                        <a:t>    </a:t>
                      </a:r>
                      <a:r>
                        <a:rPr sz="1100" b="0" i="1">
                          <a:solidFill>
                            <a:srgbClr val="000000"/>
                          </a:solidFill>
                          <a:latin typeface="Calibri"/>
                        </a:rPr>
                        <a:t>Household Goods</a:t>
                      </a:r>
                      <a:endParaRPr sz="1100"/>
                    </a:p>
                  </a:txBody>
                  <a:tcPr marL="1028700" marR="9525" marT="9525" marB="0" anchor="ctr"/>
                </a:tc>
              </a:tr>
              <a:tr h="175260">
                <a:tc>
                  <a:txBody>
                    <a:bodyPr wrap="square"/>
                    <a:lstStyle/>
                    <a:p>
                      <a:pPr algn="l"/>
                      <a:r>
                        <a:rPr sz="1100" b="0" i="1">
                          <a:solidFill>
                            <a:srgbClr val="000000"/>
                          </a:solidFill>
                          <a:latin typeface="Calibri"/>
                        </a:rPr>
                        <a:t>5.5.2.6.</a:t>
                      </a:r>
                      <a:r>
                        <a:rPr sz="700" b="0" i="1">
                          <a:solidFill>
                            <a:srgbClr val="000000"/>
                          </a:solidFill>
                          <a:latin typeface="Times New Roman"/>
                        </a:rPr>
                        <a:t>    </a:t>
                      </a:r>
                      <a:r>
                        <a:rPr sz="1100" b="0" i="1">
                          <a:solidFill>
                            <a:srgbClr val="000000"/>
                          </a:solidFill>
                          <a:latin typeface="Calibri"/>
                        </a:rPr>
                        <a:t>Stationery</a:t>
                      </a:r>
                      <a:endParaRPr sz="1100"/>
                    </a:p>
                  </a:txBody>
                  <a:tcPr marL="1028700" marR="9525" marT="9525" marB="0" anchor="ctr"/>
                </a:tc>
              </a:tr>
              <a:tr h="175260">
                <a:tc>
                  <a:txBody>
                    <a:bodyPr wrap="square"/>
                    <a:lstStyle/>
                    <a:p>
                      <a:pPr algn="l"/>
                      <a:r>
                        <a:rPr sz="1100" b="0" i="0">
                          <a:solidFill>
                            <a:srgbClr val="000000"/>
                          </a:solidFill>
                          <a:latin typeface="Calibri"/>
                        </a:rPr>
                        <a:t>5.5.3.</a:t>
                      </a:r>
                      <a:r>
                        <a:rPr sz="700" b="0" i="0">
                          <a:solidFill>
                            <a:srgbClr val="000000"/>
                          </a:solidFill>
                          <a:latin typeface="Times New Roman"/>
                        </a:rPr>
                        <a:t>   </a:t>
                      </a:r>
                      <a:r>
                        <a:rPr sz="1100" b="0" i="0">
                          <a:solidFill>
                            <a:srgbClr val="000000"/>
                          </a:solidFill>
                          <a:latin typeface="Calibri"/>
                        </a:rPr>
                        <a:t>Healthcare</a:t>
                      </a:r>
                      <a:endParaRPr sz="1100"/>
                    </a:p>
                  </a:txBody>
                  <a:tcPr marL="771525" marR="9525" marT="9525" marB="0" anchor="ctr"/>
                </a:tc>
              </a:tr>
              <a:tr h="175260">
                <a:tc>
                  <a:txBody>
                    <a:bodyPr wrap="square"/>
                    <a:lstStyle/>
                    <a:p>
                      <a:pPr algn="l"/>
                      <a:r>
                        <a:rPr sz="1100" b="0" i="1">
                          <a:solidFill>
                            <a:srgbClr val="000000"/>
                          </a:solidFill>
                          <a:latin typeface="Calibri"/>
                        </a:rPr>
                        <a:t>5.5.3.1.</a:t>
                      </a:r>
                      <a:r>
                        <a:rPr sz="700" b="0" i="1">
                          <a:solidFill>
                            <a:srgbClr val="000000"/>
                          </a:solidFill>
                          <a:latin typeface="Times New Roman"/>
                        </a:rPr>
                        <a:t>    </a:t>
                      </a:r>
                      <a:r>
                        <a:rPr sz="1100" b="0" i="1">
                          <a:solidFill>
                            <a:srgbClr val="000000"/>
                          </a:solidFill>
                          <a:latin typeface="Calibri"/>
                        </a:rPr>
                        <a:t>Pharmaceuticals</a:t>
                      </a:r>
                      <a:endParaRPr sz="1100"/>
                    </a:p>
                  </a:txBody>
                  <a:tcPr marL="1028700" marR="9525" marT="9525" marB="0" anchor="ctr"/>
                </a:tc>
              </a:tr>
              <a:tr h="175260">
                <a:tc>
                  <a:txBody>
                    <a:bodyPr wrap="square"/>
                    <a:lstStyle/>
                    <a:p>
                      <a:pPr algn="l"/>
                      <a:r>
                        <a:rPr sz="1100" b="0" i="1">
                          <a:solidFill>
                            <a:srgbClr val="000000"/>
                          </a:solidFill>
                          <a:latin typeface="Calibri"/>
                        </a:rPr>
                        <a:t>5.5.3.2.</a:t>
                      </a:r>
                      <a:r>
                        <a:rPr sz="700" b="0" i="1">
                          <a:solidFill>
                            <a:srgbClr val="000000"/>
                          </a:solidFill>
                          <a:latin typeface="Times New Roman"/>
                        </a:rPr>
                        <a:t>    </a:t>
                      </a:r>
                      <a:r>
                        <a:rPr sz="1100" b="0" i="1">
                          <a:solidFill>
                            <a:srgbClr val="000000"/>
                          </a:solidFill>
                          <a:latin typeface="Calibri"/>
                        </a:rPr>
                        <a:t>Medical Devices</a:t>
                      </a:r>
                      <a:endParaRPr sz="1100"/>
                    </a:p>
                  </a:txBody>
                  <a:tcPr marL="1028700" marR="9525" marT="9525" marB="0" anchor="ctr"/>
                </a:tc>
              </a:tr>
              <a:tr h="175260">
                <a:tc>
                  <a:txBody>
                    <a:bodyPr wrap="square"/>
                    <a:lstStyle/>
                    <a:p>
                      <a:pPr algn="l"/>
                      <a:r>
                        <a:rPr sz="1100" b="0" i="1">
                          <a:solidFill>
                            <a:srgbClr val="000000"/>
                          </a:solidFill>
                          <a:latin typeface="Calibri"/>
                        </a:rPr>
                        <a:t>5.5.3.3.</a:t>
                      </a:r>
                      <a:r>
                        <a:rPr sz="700" b="0" i="1">
                          <a:solidFill>
                            <a:srgbClr val="000000"/>
                          </a:solidFill>
                          <a:latin typeface="Times New Roman"/>
                        </a:rPr>
                        <a:t>    </a:t>
                      </a:r>
                      <a:r>
                        <a:rPr sz="1100" b="0" i="1">
                          <a:solidFill>
                            <a:srgbClr val="000000"/>
                          </a:solidFill>
                          <a:latin typeface="Calibri"/>
                        </a:rPr>
                        <a:t>Surgical Products</a:t>
                      </a:r>
                      <a:endParaRPr sz="1100"/>
                    </a:p>
                  </a:txBody>
                  <a:tcPr marL="1028700" marR="9525" marT="9525" marB="0" anchor="ctr"/>
                </a:tc>
              </a:tr>
              <a:tr h="175260">
                <a:tc>
                  <a:txBody>
                    <a:bodyPr wrap="square"/>
                    <a:lstStyle/>
                    <a:p>
                      <a:pPr algn="l"/>
                      <a:r>
                        <a:rPr sz="1100" b="0" i="1">
                          <a:solidFill>
                            <a:srgbClr val="000000"/>
                          </a:solidFill>
                          <a:latin typeface="Calibri"/>
                        </a:rPr>
                        <a:t>5.5.3.4.</a:t>
                      </a:r>
                      <a:r>
                        <a:rPr sz="700" b="0" i="1">
                          <a:solidFill>
                            <a:srgbClr val="000000"/>
                          </a:solidFill>
                          <a:latin typeface="Times New Roman"/>
                        </a:rPr>
                        <a:t>    </a:t>
                      </a:r>
                      <a:r>
                        <a:rPr sz="1100" b="0" i="1">
                          <a:solidFill>
                            <a:srgbClr val="000000"/>
                          </a:solidFill>
                          <a:latin typeface="Calibri"/>
                        </a:rPr>
                        <a:t>Diagnostic Kits</a:t>
                      </a:r>
                      <a:endParaRPr sz="1100"/>
                    </a:p>
                  </a:txBody>
                  <a:tcPr marL="1028700" marR="9525" marT="9525" marB="0" anchor="ctr"/>
                </a:tc>
              </a:tr>
              <a:tr h="175260">
                <a:tc>
                  <a:txBody>
                    <a:bodyPr wrap="square"/>
                    <a:lstStyle/>
                    <a:p>
                      <a:pPr algn="l"/>
                      <a:r>
                        <a:rPr sz="1100" b="0" i="1">
                          <a:solidFill>
                            <a:srgbClr val="000000"/>
                          </a:solidFill>
                          <a:latin typeface="Calibri"/>
                        </a:rPr>
                        <a:t>5.5.3.5.</a:t>
                      </a:r>
                      <a:r>
                        <a:rPr sz="700" b="0" i="1">
                          <a:solidFill>
                            <a:srgbClr val="000000"/>
                          </a:solidFill>
                          <a:latin typeface="Times New Roman"/>
                        </a:rPr>
                        <a:t>    </a:t>
                      </a:r>
                      <a:r>
                        <a:rPr sz="1100" b="0" i="1">
                          <a:solidFill>
                            <a:srgbClr val="000000"/>
                          </a:solidFill>
                          <a:latin typeface="Calibri"/>
                        </a:rPr>
                        <a:t>Laboratory Supplies</a:t>
                      </a:r>
                      <a:endParaRPr sz="1100"/>
                    </a:p>
                  </a:txBody>
                  <a:tcPr marL="1028700" marR="9525" marT="9525" marB="0" anchor="ctr"/>
                </a:tc>
              </a:tr>
              <a:tr h="175260">
                <a:tc>
                  <a:txBody>
                    <a:bodyPr wrap="square"/>
                    <a:lstStyle/>
                    <a:p>
                      <a:pPr algn="l"/>
                      <a:r>
                        <a:rPr sz="1100" b="0" i="0">
                          <a:solidFill>
                            <a:srgbClr val="000000"/>
                          </a:solidFill>
                          <a:latin typeface="Calibri"/>
                        </a:rPr>
                        <a:t>5.5.4.</a:t>
                      </a:r>
                      <a:r>
                        <a:rPr sz="700" b="0" i="0">
                          <a:solidFill>
                            <a:srgbClr val="000000"/>
                          </a:solidFill>
                          <a:latin typeface="Times New Roman"/>
                        </a:rPr>
                        <a:t>   </a:t>
                      </a:r>
                      <a:r>
                        <a:rPr sz="1100" b="0" i="0">
                          <a:solidFill>
                            <a:srgbClr val="000000"/>
                          </a:solidFill>
                          <a:latin typeface="Calibri"/>
                        </a:rPr>
                        <a:t>E-commerce &amp; Logistics</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(3/6)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5.5.4.1.</a:t>
                      </a:r>
                      <a:r>
                        <a:rPr sz="700" b="0" i="1">
                          <a:solidFill>
                            <a:srgbClr val="000000"/>
                          </a:solidFill>
                          <a:latin typeface="Times New Roman"/>
                        </a:rPr>
                        <a:t>    </a:t>
                      </a:r>
                      <a:r>
                        <a:rPr sz="1100" b="0" i="1">
                          <a:solidFill>
                            <a:srgbClr val="000000"/>
                          </a:solidFill>
                          <a:latin typeface="Calibri"/>
                        </a:rPr>
                        <a:t>Courier Packaging</a:t>
                      </a:r>
                      <a:endParaRPr sz="1100"/>
                    </a:p>
                  </a:txBody>
                  <a:tcPr marL="1028700" marR="9525" marT="9525" marB="0" anchor="ctr"/>
                </a:tc>
              </a:tr>
              <a:tr h="175260">
                <a:tc>
                  <a:txBody>
                    <a:bodyPr wrap="square"/>
                    <a:lstStyle/>
                    <a:p>
                      <a:pPr algn="l"/>
                      <a:r>
                        <a:rPr sz="1100" b="0" i="1">
                          <a:solidFill>
                            <a:srgbClr val="000000"/>
                          </a:solidFill>
                          <a:latin typeface="Calibri"/>
                        </a:rPr>
                        <a:t>5.5.4.2.</a:t>
                      </a:r>
                      <a:r>
                        <a:rPr sz="700" b="0" i="1">
                          <a:solidFill>
                            <a:srgbClr val="000000"/>
                          </a:solidFill>
                          <a:latin typeface="Times New Roman"/>
                        </a:rPr>
                        <a:t>    </a:t>
                      </a:r>
                      <a:r>
                        <a:rPr sz="1100" b="0" i="1">
                          <a:solidFill>
                            <a:srgbClr val="000000"/>
                          </a:solidFill>
                          <a:latin typeface="Calibri"/>
                        </a:rPr>
                        <a:t>Fulfillment Centers</a:t>
                      </a:r>
                      <a:endParaRPr sz="1100"/>
                    </a:p>
                  </a:txBody>
                  <a:tcPr marL="1028700" marR="9525" marT="9525" marB="0" anchor="ctr"/>
                </a:tc>
              </a:tr>
              <a:tr h="175260">
                <a:tc>
                  <a:txBody>
                    <a:bodyPr wrap="square"/>
                    <a:lstStyle/>
                    <a:p>
                      <a:pPr algn="l"/>
                      <a:r>
                        <a:rPr sz="1100" b="0" i="1">
                          <a:solidFill>
                            <a:srgbClr val="000000"/>
                          </a:solidFill>
                          <a:latin typeface="Calibri"/>
                        </a:rPr>
                        <a:t>5.5.4.3.</a:t>
                      </a:r>
                      <a:r>
                        <a:rPr sz="700" b="0" i="1">
                          <a:solidFill>
                            <a:srgbClr val="000000"/>
                          </a:solidFill>
                          <a:latin typeface="Times New Roman"/>
                        </a:rPr>
                        <a:t>    </a:t>
                      </a:r>
                      <a:r>
                        <a:rPr sz="1100" b="0" i="1">
                          <a:solidFill>
                            <a:srgbClr val="000000"/>
                          </a:solidFill>
                          <a:latin typeface="Calibri"/>
                        </a:rPr>
                        <a:t>Return Packaging</a:t>
                      </a:r>
                      <a:endParaRPr sz="1100"/>
                    </a:p>
                  </a:txBody>
                  <a:tcPr marL="1028700" marR="9525" marT="9525" marB="0" anchor="ctr"/>
                </a:tc>
              </a:tr>
              <a:tr h="175260">
                <a:tc>
                  <a:txBody>
                    <a:bodyPr wrap="square"/>
                    <a:lstStyle/>
                    <a:p>
                      <a:pPr algn="l"/>
                      <a:r>
                        <a:rPr sz="1100" b="0" i="1">
                          <a:solidFill>
                            <a:srgbClr val="000000"/>
                          </a:solidFill>
                          <a:latin typeface="Calibri"/>
                        </a:rPr>
                        <a:t>5.5.4.4.</a:t>
                      </a:r>
                      <a:r>
                        <a:rPr sz="700" b="0" i="1">
                          <a:solidFill>
                            <a:srgbClr val="000000"/>
                          </a:solidFill>
                          <a:latin typeface="Times New Roman"/>
                        </a:rPr>
                        <a:t>    </a:t>
                      </a:r>
                      <a:r>
                        <a:rPr sz="1100" b="0" i="1">
                          <a:solidFill>
                            <a:srgbClr val="000000"/>
                          </a:solidFill>
                          <a:latin typeface="Calibri"/>
                        </a:rPr>
                        <a:t>Warehouse Packaging</a:t>
                      </a:r>
                      <a:endParaRPr sz="1100"/>
                    </a:p>
                  </a:txBody>
                  <a:tcPr marL="1028700" marR="9525" marT="9525" marB="0" anchor="ctr"/>
                </a:tc>
              </a:tr>
              <a:tr h="175260">
                <a:tc>
                  <a:txBody>
                    <a:bodyPr wrap="square"/>
                    <a:lstStyle/>
                    <a:p>
                      <a:pPr algn="l"/>
                      <a:r>
                        <a:rPr sz="1100" b="0" i="0">
                          <a:solidFill>
                            <a:srgbClr val="000000"/>
                          </a:solidFill>
                          <a:latin typeface="Calibri"/>
                        </a:rPr>
                        <a:t>5.5.5.</a:t>
                      </a:r>
                      <a:r>
                        <a:rPr sz="700" b="0" i="0">
                          <a:solidFill>
                            <a:srgbClr val="000000"/>
                          </a:solidFill>
                          <a:latin typeface="Times New Roman"/>
                        </a:rPr>
                        <a:t>   </a:t>
                      </a:r>
                      <a:r>
                        <a:rPr sz="1100" b="0" i="0">
                          <a:solidFill>
                            <a:srgbClr val="000000"/>
                          </a:solidFill>
                          <a:latin typeface="Calibri"/>
                        </a:rPr>
                        <a:t>Industrial</a:t>
                      </a:r>
                      <a:endParaRPr sz="1100"/>
                    </a:p>
                  </a:txBody>
                  <a:tcPr marL="771525" marR="9525" marT="9525" marB="0" anchor="ctr"/>
                </a:tc>
              </a:tr>
              <a:tr h="175260">
                <a:tc>
                  <a:txBody>
                    <a:bodyPr wrap="square"/>
                    <a:lstStyle/>
                    <a:p>
                      <a:pPr algn="l"/>
                      <a:r>
                        <a:rPr sz="1100" b="0" i="1">
                          <a:solidFill>
                            <a:srgbClr val="000000"/>
                          </a:solidFill>
                          <a:latin typeface="Calibri"/>
                        </a:rPr>
                        <a:t>5.5.5.1.</a:t>
                      </a:r>
                      <a:r>
                        <a:rPr sz="700" b="0" i="1">
                          <a:solidFill>
                            <a:srgbClr val="000000"/>
                          </a:solidFill>
                          <a:latin typeface="Times New Roman"/>
                        </a:rPr>
                        <a:t>    </a:t>
                      </a:r>
                      <a:r>
                        <a:rPr sz="1100" b="0" i="1">
                          <a:solidFill>
                            <a:srgbClr val="000000"/>
                          </a:solidFill>
                          <a:latin typeface="Calibri"/>
                        </a:rPr>
                        <a:t>Automotive Components</a:t>
                      </a:r>
                      <a:endParaRPr sz="1100"/>
                    </a:p>
                  </a:txBody>
                  <a:tcPr marL="1028700" marR="9525" marT="9525" marB="0" anchor="ctr"/>
                </a:tc>
              </a:tr>
              <a:tr h="175260">
                <a:tc>
                  <a:txBody>
                    <a:bodyPr wrap="square"/>
                    <a:lstStyle/>
                    <a:p>
                      <a:pPr algn="l"/>
                      <a:r>
                        <a:rPr sz="1100" b="0" i="1">
                          <a:solidFill>
                            <a:srgbClr val="000000"/>
                          </a:solidFill>
                          <a:latin typeface="Calibri"/>
                        </a:rPr>
                        <a:t>5.5.5.2.</a:t>
                      </a:r>
                      <a:r>
                        <a:rPr sz="700" b="0" i="1">
                          <a:solidFill>
                            <a:srgbClr val="000000"/>
                          </a:solidFill>
                          <a:latin typeface="Times New Roman"/>
                        </a:rPr>
                        <a:t>    </a:t>
                      </a:r>
                      <a:r>
                        <a:rPr sz="1100" b="0" i="1">
                          <a:solidFill>
                            <a:srgbClr val="000000"/>
                          </a:solidFill>
                          <a:latin typeface="Calibri"/>
                        </a:rPr>
                        <a:t>Chemicals</a:t>
                      </a:r>
                      <a:endParaRPr sz="1100"/>
                    </a:p>
                  </a:txBody>
                  <a:tcPr marL="1028700" marR="9525" marT="9525" marB="0" anchor="ctr"/>
                </a:tc>
              </a:tr>
              <a:tr h="175260">
                <a:tc>
                  <a:txBody>
                    <a:bodyPr wrap="square"/>
                    <a:lstStyle/>
                    <a:p>
                      <a:pPr algn="l"/>
                      <a:r>
                        <a:rPr sz="1100" b="0" i="1">
                          <a:solidFill>
                            <a:srgbClr val="000000"/>
                          </a:solidFill>
                          <a:latin typeface="Calibri"/>
                        </a:rPr>
                        <a:t>5.5.5.3.</a:t>
                      </a:r>
                      <a:r>
                        <a:rPr sz="700" b="0" i="1">
                          <a:solidFill>
                            <a:srgbClr val="000000"/>
                          </a:solidFill>
                          <a:latin typeface="Times New Roman"/>
                        </a:rPr>
                        <a:t>    </a:t>
                      </a:r>
                      <a:r>
                        <a:rPr sz="1100" b="0" i="1">
                          <a:solidFill>
                            <a:srgbClr val="000000"/>
                          </a:solidFill>
                          <a:latin typeface="Calibri"/>
                        </a:rPr>
                        <a:t>Machinery Parts</a:t>
                      </a:r>
                      <a:endParaRPr sz="1100"/>
                    </a:p>
                  </a:txBody>
                  <a:tcPr marL="1028700" marR="9525" marT="9525" marB="0" anchor="ctr"/>
                </a:tc>
              </a:tr>
              <a:tr h="175260">
                <a:tc>
                  <a:txBody>
                    <a:bodyPr wrap="square"/>
                    <a:lstStyle/>
                    <a:p>
                      <a:pPr algn="l"/>
                      <a:r>
                        <a:rPr sz="1100" b="0" i="1">
                          <a:solidFill>
                            <a:srgbClr val="000000"/>
                          </a:solidFill>
                          <a:latin typeface="Calibri"/>
                        </a:rPr>
                        <a:t>5.5.5.4.</a:t>
                      </a:r>
                      <a:r>
                        <a:rPr sz="700" b="0" i="1">
                          <a:solidFill>
                            <a:srgbClr val="000000"/>
                          </a:solidFill>
                          <a:latin typeface="Times New Roman"/>
                        </a:rPr>
                        <a:t>    </a:t>
                      </a:r>
                      <a:r>
                        <a:rPr sz="1100" b="0" i="1">
                          <a:solidFill>
                            <a:srgbClr val="000000"/>
                          </a:solidFill>
                          <a:latin typeface="Calibri"/>
                        </a:rPr>
                        <a:t>Hardware</a:t>
                      </a:r>
                      <a:endParaRPr sz="1100"/>
                    </a:p>
                  </a:txBody>
                  <a:tcPr marL="1028700" marR="9525" marT="9525" marB="0" anchor="ctr"/>
                </a:tc>
              </a:tr>
              <a:tr h="175260">
                <a:tc>
                  <a:txBody>
                    <a:bodyPr wrap="square"/>
                    <a:lstStyle/>
                    <a:p>
                      <a:pPr algn="l"/>
                      <a:r>
                        <a:rPr sz="1100" b="0" i="1">
                          <a:solidFill>
                            <a:srgbClr val="000000"/>
                          </a:solidFill>
                          <a:latin typeface="Calibri"/>
                        </a:rPr>
                        <a:t>5.5.5.5.</a:t>
                      </a:r>
                      <a:r>
                        <a:rPr sz="700" b="0" i="1">
                          <a:solidFill>
                            <a:srgbClr val="000000"/>
                          </a:solidFill>
                          <a:latin typeface="Times New Roman"/>
                        </a:rPr>
                        <a:t>    </a:t>
                      </a:r>
                      <a:r>
                        <a:rPr sz="1100" b="0" i="1">
                          <a:solidFill>
                            <a:srgbClr val="000000"/>
                          </a:solidFill>
                          <a:latin typeface="Calibri"/>
                        </a:rPr>
                        <a:t>Electrical Components</a:t>
                      </a:r>
                      <a:endParaRPr sz="1100"/>
                    </a:p>
                  </a:txBody>
                  <a:tcPr marL="1028700" marR="9525" marT="9525" marB="0" anchor="ctr"/>
                </a:tc>
              </a:tr>
              <a:tr h="175260">
                <a:tc>
                  <a:txBody>
                    <a:bodyPr wrap="square"/>
                    <a:lstStyle/>
                    <a:p>
                      <a:pPr algn="l"/>
                      <a:r>
                        <a:rPr sz="1100" b="0" i="0">
                          <a:solidFill>
                            <a:srgbClr val="000000"/>
                          </a:solidFill>
                          <a:latin typeface="Calibri"/>
                        </a:rPr>
                        <a:t>5.5.6.</a:t>
                      </a:r>
                      <a:r>
                        <a:rPr sz="700" b="0" i="0">
                          <a:solidFill>
                            <a:srgbClr val="000000"/>
                          </a:solidFill>
                          <a:latin typeface="Times New Roman"/>
                        </a:rPr>
                        <a:t>   </a:t>
                      </a:r>
                      <a:r>
                        <a:rPr sz="1100" b="0" i="0">
                          <a:solidFill>
                            <a:srgbClr val="000000"/>
                          </a:solidFill>
                          <a:latin typeface="Calibri"/>
                        </a:rPr>
                        <a:t>Agriculture</a:t>
                      </a:r>
                      <a:endParaRPr sz="1100"/>
                    </a:p>
                  </a:txBody>
                  <a:tcPr marL="771525" marR="9525" marT="9525" marB="0" anchor="ctr"/>
                </a:tc>
              </a:tr>
              <a:tr h="175260">
                <a:tc>
                  <a:txBody>
                    <a:bodyPr wrap="square"/>
                    <a:lstStyle/>
                    <a:p>
                      <a:pPr algn="l"/>
                      <a:r>
                        <a:rPr sz="1100" b="0" i="1">
                          <a:solidFill>
                            <a:srgbClr val="000000"/>
                          </a:solidFill>
                          <a:latin typeface="Calibri"/>
                        </a:rPr>
                        <a:t>5.5.6.1.</a:t>
                      </a:r>
                      <a:r>
                        <a:rPr sz="700" b="0" i="1">
                          <a:solidFill>
                            <a:srgbClr val="000000"/>
                          </a:solidFill>
                          <a:latin typeface="Times New Roman"/>
                        </a:rPr>
                        <a:t>    </a:t>
                      </a:r>
                      <a:r>
                        <a:rPr sz="1100" b="0" i="1">
                          <a:solidFill>
                            <a:srgbClr val="000000"/>
                          </a:solidFill>
                          <a:latin typeface="Calibri"/>
                        </a:rPr>
                        <a:t>Seeds</a:t>
                      </a:r>
                      <a:endParaRPr sz="1100"/>
                    </a:p>
                  </a:txBody>
                  <a:tcPr marL="1028700" marR="9525" marT="9525" marB="0" anchor="ctr"/>
                </a:tc>
              </a:tr>
              <a:tr h="175260">
                <a:tc>
                  <a:txBody>
                    <a:bodyPr wrap="square"/>
                    <a:lstStyle/>
                    <a:p>
                      <a:pPr algn="l"/>
                      <a:r>
                        <a:rPr sz="1100" b="0" i="1">
                          <a:solidFill>
                            <a:srgbClr val="000000"/>
                          </a:solidFill>
                          <a:latin typeface="Calibri"/>
                        </a:rPr>
                        <a:t>5.5.6.2.</a:t>
                      </a:r>
                      <a:r>
                        <a:rPr sz="700" b="0" i="1">
                          <a:solidFill>
                            <a:srgbClr val="000000"/>
                          </a:solidFill>
                          <a:latin typeface="Times New Roman"/>
                        </a:rPr>
                        <a:t>    </a:t>
                      </a:r>
                      <a:r>
                        <a:rPr sz="1100" b="0" i="1">
                          <a:solidFill>
                            <a:srgbClr val="000000"/>
                          </a:solidFill>
                          <a:latin typeface="Calibri"/>
                        </a:rPr>
                        <a:t>Fertilizers</a:t>
                      </a:r>
                      <a:endParaRPr sz="1100"/>
                    </a:p>
                  </a:txBody>
                  <a:tcPr marL="1028700" marR="9525" marT="9525" marB="0" anchor="ctr"/>
                </a:tc>
              </a:tr>
              <a:tr h="175260">
                <a:tc>
                  <a:txBody>
                    <a:bodyPr wrap="square"/>
                    <a:lstStyle/>
                    <a:p>
                      <a:pPr algn="l"/>
                      <a:r>
                        <a:rPr sz="1100" b="0" i="1">
                          <a:solidFill>
                            <a:srgbClr val="000000"/>
                          </a:solidFill>
                          <a:latin typeface="Calibri"/>
                        </a:rPr>
                        <a:t>5.5.6.3.</a:t>
                      </a:r>
                      <a:r>
                        <a:rPr sz="700" b="0" i="1">
                          <a:solidFill>
                            <a:srgbClr val="000000"/>
                          </a:solidFill>
                          <a:latin typeface="Times New Roman"/>
                        </a:rPr>
                        <a:t>    </a:t>
                      </a:r>
                      <a:r>
                        <a:rPr sz="1100" b="0" i="1">
                          <a:solidFill>
                            <a:srgbClr val="000000"/>
                          </a:solidFill>
                          <a:latin typeface="Calibri"/>
                        </a:rPr>
                        <a:t>Animal Feed</a:t>
                      </a:r>
                      <a:endParaRPr sz="1100"/>
                    </a:p>
                  </a:txBody>
                  <a:tcPr marL="1028700" marR="9525" marT="9525" marB="0" anchor="ctr"/>
                </a:tc>
              </a:tr>
              <a:tr h="175260">
                <a:tc>
                  <a:txBody>
                    <a:bodyPr wrap="square"/>
                    <a:lstStyle/>
                    <a:p>
                      <a:pPr algn="l"/>
                      <a:r>
                        <a:rPr sz="1100" b="0" i="1">
                          <a:solidFill>
                            <a:srgbClr val="000000"/>
                          </a:solidFill>
                          <a:latin typeface="Calibri"/>
                        </a:rPr>
                        <a:t>5.5.6.4.</a:t>
                      </a:r>
                      <a:r>
                        <a:rPr sz="700" b="0" i="1">
                          <a:solidFill>
                            <a:srgbClr val="000000"/>
                          </a:solidFill>
                          <a:latin typeface="Times New Roman"/>
                        </a:rPr>
                        <a:t>    </a:t>
                      </a:r>
                      <a:r>
                        <a:rPr sz="1100" b="0" i="1">
                          <a:solidFill>
                            <a:srgbClr val="000000"/>
                          </a:solidFill>
                          <a:latin typeface="Calibri"/>
                        </a:rPr>
                        <a:t>Produce Packaging</a:t>
                      </a:r>
                      <a:endParaRPr sz="1100"/>
                    </a:p>
                  </a:txBody>
                  <a:tcPr marL="1028700" marR="9525" marT="9525" marB="0" anchor="ctr"/>
                </a:tc>
              </a:tr>
              <a:tr h="175260">
                <a:tc>
                  <a:txBody>
                    <a:bodyPr wrap="square"/>
                    <a:lstStyle/>
                    <a:p>
                      <a:pPr algn="l"/>
                      <a:r>
                        <a:rPr sz="1100" b="0" i="0">
                          <a:solidFill>
                            <a:srgbClr val="000000"/>
                          </a:solidFill>
                          <a:latin typeface="Calibri"/>
                        </a:rPr>
                        <a:t>5.5.7.</a:t>
                      </a:r>
                      <a:r>
                        <a:rPr sz="700" b="0" i="0">
                          <a:solidFill>
                            <a:srgbClr val="000000"/>
                          </a:solidFill>
                          <a:latin typeface="Times New Roman"/>
                        </a:rPr>
                        <a:t>   </a:t>
                      </a:r>
                      <a:r>
                        <a:rPr sz="1100" b="0" i="0">
                          <a:solidFill>
                            <a:srgbClr val="000000"/>
                          </a:solidFill>
                          <a:latin typeface="Calibri"/>
                        </a:rPr>
                        <a:t>Electronics</a:t>
                      </a:r>
                      <a:endParaRPr sz="1100"/>
                    </a:p>
                  </a:txBody>
                  <a:tcPr marL="771525" marR="9525" marT="9525" marB="0" anchor="ctr"/>
                </a:tc>
              </a:tr>
              <a:tr h="175260">
                <a:tc>
                  <a:txBody>
                    <a:bodyPr wrap="square"/>
                    <a:lstStyle/>
                    <a:p>
                      <a:pPr algn="l"/>
                      <a:r>
                        <a:rPr sz="1100" b="0" i="1">
                          <a:solidFill>
                            <a:srgbClr val="000000"/>
                          </a:solidFill>
                          <a:latin typeface="Calibri"/>
                        </a:rPr>
                        <a:t>5.5.7.1.</a:t>
                      </a:r>
                      <a:r>
                        <a:rPr sz="700" b="0" i="1">
                          <a:solidFill>
                            <a:srgbClr val="000000"/>
                          </a:solidFill>
                          <a:latin typeface="Times New Roman"/>
                        </a:rPr>
                        <a:t>    </a:t>
                      </a:r>
                      <a:r>
                        <a:rPr sz="1100" b="0" i="1">
                          <a:solidFill>
                            <a:srgbClr val="000000"/>
                          </a:solidFill>
                          <a:latin typeface="Calibri"/>
                        </a:rPr>
                        <a:t>Semiconductors</a:t>
                      </a:r>
                      <a:endParaRPr sz="1100"/>
                    </a:p>
                  </a:txBody>
                  <a:tcPr marL="1028700" marR="9525" marT="9525" marB="0" anchor="ctr"/>
                </a:tc>
              </a:tr>
              <a:tr h="175260">
                <a:tc>
                  <a:txBody>
                    <a:bodyPr wrap="square"/>
                    <a:lstStyle/>
                    <a:p>
                      <a:pPr algn="l"/>
                      <a:r>
                        <a:rPr sz="1100" b="0" i="1">
                          <a:solidFill>
                            <a:srgbClr val="000000"/>
                          </a:solidFill>
                          <a:latin typeface="Calibri"/>
                        </a:rPr>
                        <a:t>5.5.7.2.</a:t>
                      </a:r>
                      <a:r>
                        <a:rPr sz="700" b="0" i="1">
                          <a:solidFill>
                            <a:srgbClr val="000000"/>
                          </a:solidFill>
                          <a:latin typeface="Times New Roman"/>
                        </a:rPr>
                        <a:t>    </a:t>
                      </a:r>
                      <a:r>
                        <a:rPr sz="1100" b="0" i="1">
                          <a:solidFill>
                            <a:srgbClr val="000000"/>
                          </a:solidFill>
                          <a:latin typeface="Calibri"/>
                        </a:rPr>
                        <a:t>Consumer Electronics</a:t>
                      </a:r>
                      <a:endParaRPr sz="1100"/>
                    </a:p>
                  </a:txBody>
                  <a:tcPr marL="1028700" marR="9525" marT="9525" marB="0" anchor="ctr"/>
                </a:tc>
              </a:tr>
              <a:tr h="175260">
                <a:tc>
                  <a:txBody>
                    <a:bodyPr wrap="square"/>
                    <a:lstStyle/>
                    <a:p>
                      <a:pPr algn="l"/>
                      <a:r>
                        <a:rPr sz="1100" b="0" i="1">
                          <a:solidFill>
                            <a:srgbClr val="000000"/>
                          </a:solidFill>
                          <a:latin typeface="Calibri"/>
                        </a:rPr>
                        <a:t>5.5.7.3.</a:t>
                      </a:r>
                      <a:r>
                        <a:rPr sz="700" b="0" i="1">
                          <a:solidFill>
                            <a:srgbClr val="000000"/>
                          </a:solidFill>
                          <a:latin typeface="Times New Roman"/>
                        </a:rPr>
                        <a:t>    </a:t>
                      </a:r>
                      <a:r>
                        <a:rPr sz="1100" b="0" i="1">
                          <a:solidFill>
                            <a:srgbClr val="000000"/>
                          </a:solidFill>
                          <a:latin typeface="Calibri"/>
                        </a:rPr>
                        <a:t>Electronic Components</a:t>
                      </a:r>
                      <a:endParaRPr sz="1100"/>
                    </a:p>
                  </a:txBody>
                  <a:tcPr marL="1028700" marR="9525" marT="9525" marB="0" anchor="ctr"/>
                </a:tc>
              </a:tr>
              <a:tr h="175260">
                <a:tc>
                  <a:txBody>
                    <a:bodyPr wrap="square"/>
                    <a:lstStyle/>
                    <a:p>
                      <a:pPr algn="l"/>
                      <a:r>
                        <a:rPr sz="1100" b="0" i="1">
                          <a:solidFill>
                            <a:srgbClr val="000000"/>
                          </a:solidFill>
                          <a:latin typeface="Calibri"/>
                        </a:rPr>
                        <a:t>5.5.7.4.</a:t>
                      </a:r>
                      <a:r>
                        <a:rPr sz="700" b="0" i="1">
                          <a:solidFill>
                            <a:srgbClr val="000000"/>
                          </a:solidFill>
                          <a:latin typeface="Times New Roman"/>
                        </a:rPr>
                        <a:t>    </a:t>
                      </a:r>
                      <a:r>
                        <a:rPr sz="1100" b="0" i="1">
                          <a:solidFill>
                            <a:srgbClr val="000000"/>
                          </a:solidFill>
                          <a:latin typeface="Calibri"/>
                        </a:rPr>
                        <a:t>PCB Packaging</a:t>
                      </a:r>
                      <a:endParaRPr sz="1100"/>
                    </a:p>
                  </a:txBody>
                  <a:tcPr marL="1028700" marR="9525" marT="9525" marB="0" anchor="ctr"/>
                </a:tc>
              </a:tr>
              <a:tr h="175260">
                <a:tc>
                  <a:txBody>
                    <a:bodyPr wrap="square"/>
                    <a:lstStyle/>
                    <a:p>
                      <a:pPr algn="l"/>
                      <a:r>
                        <a:rPr sz="1100" b="0" i="0">
                          <a:solidFill>
                            <a:srgbClr val="000000"/>
                          </a:solidFill>
                          <a:latin typeface="Calibri"/>
                        </a:rPr>
                        <a:t>5.5.8.</a:t>
                      </a:r>
                      <a:r>
                        <a:rPr sz="700" b="0" i="0">
                          <a:solidFill>
                            <a:srgbClr val="000000"/>
                          </a:solidFill>
                          <a:latin typeface="Times New Roman"/>
                        </a:rPr>
                        <a:t>   </a:t>
                      </a:r>
                      <a:r>
                        <a:rPr sz="1100" b="0" i="0">
                          <a:solidFill>
                            <a:srgbClr val="000000"/>
                          </a:solidFill>
                          <a:latin typeface="Calibri"/>
                        </a:rPr>
                        <a:t>Personal Care &amp; Cosmetics</a:t>
                      </a:r>
                      <a:endParaRPr sz="1100"/>
                    </a:p>
                  </a:txBody>
                  <a:tcPr marL="771525" marR="9525" marT="9525" marB="0" anchor="ctr"/>
                </a:tc>
              </a:tr>
              <a:tr h="175260">
                <a:tc>
                  <a:txBody>
                    <a:bodyPr wrap="square"/>
                    <a:lstStyle/>
                    <a:p>
                      <a:pPr algn="l"/>
                      <a:r>
                        <a:rPr sz="1100" b="0" i="1">
                          <a:solidFill>
                            <a:srgbClr val="000000"/>
                          </a:solidFill>
                          <a:latin typeface="Calibri"/>
                        </a:rPr>
                        <a:t>5.5.8.1.</a:t>
                      </a:r>
                      <a:r>
                        <a:rPr sz="700" b="0" i="1">
                          <a:solidFill>
                            <a:srgbClr val="000000"/>
                          </a:solidFill>
                          <a:latin typeface="Times New Roman"/>
                        </a:rPr>
                        <a:t>    </a:t>
                      </a:r>
                      <a:r>
                        <a:rPr sz="1100" b="0" i="1">
                          <a:solidFill>
                            <a:srgbClr val="000000"/>
                          </a:solidFill>
                          <a:latin typeface="Calibri"/>
                        </a:rPr>
                        <a:t>Cosmetic Products</a:t>
                      </a:r>
                      <a:endParaRPr sz="1100"/>
                    </a:p>
                  </a:txBody>
                  <a:tcPr marL="1028700" marR="9525" marT="9525" marB="0" anchor="ctr"/>
                </a:tc>
              </a:tr>
              <a:tr h="175260">
                <a:tc>
                  <a:txBody>
                    <a:bodyPr wrap="square"/>
                    <a:lstStyle/>
                    <a:p>
                      <a:pPr algn="l"/>
                      <a:r>
                        <a:rPr sz="1100" b="0" i="1">
                          <a:solidFill>
                            <a:srgbClr val="000000"/>
                          </a:solidFill>
                          <a:latin typeface="Calibri"/>
                        </a:rPr>
                        <a:t>5.5.8.2.</a:t>
                      </a:r>
                      <a:r>
                        <a:rPr sz="700" b="0" i="1">
                          <a:solidFill>
                            <a:srgbClr val="000000"/>
                          </a:solidFill>
                          <a:latin typeface="Times New Roman"/>
                        </a:rPr>
                        <a:t>    </a:t>
                      </a:r>
                      <a:r>
                        <a:rPr sz="1100" b="0" i="1">
                          <a:solidFill>
                            <a:srgbClr val="000000"/>
                          </a:solidFill>
                          <a:latin typeface="Calibri"/>
                        </a:rPr>
                        <a:t>Toiletries</a:t>
                      </a:r>
                      <a:endParaRPr sz="1100"/>
                    </a:p>
                  </a:txBody>
                  <a:tcPr marL="1028700" marR="9525" marT="9525" marB="0" anchor="ctr"/>
                </a:tc>
              </a:tr>
              <a:tr h="175260">
                <a:tc>
                  <a:txBody>
                    <a:bodyPr wrap="square"/>
                    <a:lstStyle/>
                    <a:p>
                      <a:pPr algn="l"/>
                      <a:r>
                        <a:rPr sz="1100" b="0" i="1">
                          <a:solidFill>
                            <a:srgbClr val="000000"/>
                          </a:solidFill>
                          <a:latin typeface="Calibri"/>
                        </a:rPr>
                        <a:t>5.5.8.3.</a:t>
                      </a:r>
                      <a:r>
                        <a:rPr sz="700" b="0" i="1">
                          <a:solidFill>
                            <a:srgbClr val="000000"/>
                          </a:solidFill>
                          <a:latin typeface="Times New Roman"/>
                        </a:rPr>
                        <a:t>    </a:t>
                      </a:r>
                      <a:r>
                        <a:rPr sz="1100" b="0" i="1">
                          <a:solidFill>
                            <a:srgbClr val="000000"/>
                          </a:solidFill>
                          <a:latin typeface="Calibri"/>
                        </a:rPr>
                        <a:t>Beauty Products</a:t>
                      </a:r>
                      <a:endParaRPr sz="1100"/>
                    </a:p>
                  </a:txBody>
                  <a:tcPr marL="1028700" marR="9525" marT="9525" marB="0" anchor="ctr"/>
                </a:tc>
              </a:tr>
              <a:tr h="175260">
                <a:tc>
                  <a:txBody>
                    <a:bodyPr wrap="square"/>
                    <a:lstStyle/>
                    <a:p>
                      <a:pPr algn="l"/>
                      <a:r>
                        <a:rPr sz="1100" b="1" i="0">
                          <a:solidFill>
                            <a:srgbClr val="000000"/>
                          </a:solidFill>
                          <a:latin typeface="Calibri"/>
                        </a:rPr>
                        <a:t>6.</a:t>
                      </a:r>
                      <a:r>
                        <a:rPr sz="700" b="1" i="0">
                          <a:solidFill>
                            <a:srgbClr val="000000"/>
                          </a:solidFill>
                          <a:latin typeface="Times New Roman"/>
                        </a:rPr>
                        <a:t>       </a:t>
                      </a:r>
                      <a:r>
                        <a:rPr sz="1100" b="1" i="0">
                          <a:solidFill>
                            <a:srgbClr val="000000"/>
                          </a:solidFill>
                          <a:latin typeface="Calibri"/>
                        </a:rPr>
                        <a:t>Global Market (Value- Volume) Analysis 2021–2036, by Region</a:t>
                      </a:r>
                      <a:endParaRPr sz="1100"/>
                    </a:p>
                  </a:txBody>
                  <a:tcPr marL="171450" marR="9525" marT="9525" marB="0" anchor="ctr"/>
                </a:tc>
              </a:tr>
              <a:tr h="175260">
                <a:tc>
                  <a:txBody>
                    <a:bodyPr wrap="square"/>
                    <a:lstStyle/>
                    <a:p>
                      <a:pPr algn="l"/>
                      <a:r>
                        <a:rPr sz="1100" b="0" i="0">
                          <a:solidFill>
                            <a:srgbClr val="0070C0"/>
                          </a:solidFill>
                          <a:latin typeface="Calibri"/>
                        </a:rPr>
                        <a:t>6.1.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6.2.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6.3.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6.4.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6.5.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6.5.1.</a:t>
                      </a:r>
                      <a:r>
                        <a:rPr sz="700" b="0" i="0">
                          <a:solidFill>
                            <a:srgbClr val="000000"/>
                          </a:solidFill>
                          <a:latin typeface="Times New Roman"/>
                        </a:rPr>
                        <a:t>   </a:t>
                      </a:r>
                      <a:r>
                        <a:rPr sz="1100" b="0" i="0">
                          <a:solidFill>
                            <a:srgbClr val="000000"/>
                          </a:solidFill>
                          <a:latin typeface="Calibri"/>
                        </a:rPr>
                        <a:t>North America</a:t>
                      </a:r>
                      <a:endParaRPr sz="1100"/>
                    </a:p>
                  </a:txBody>
                  <a:tcPr marL="771525" marR="9525" marT="9525" marB="0" anchor="ctr"/>
                </a:tc>
              </a:tr>
              <a:tr h="175260">
                <a:tc>
                  <a:txBody>
                    <a:bodyPr wrap="square"/>
                    <a:lstStyle/>
                    <a:p>
                      <a:pPr algn="l"/>
                      <a:r>
                        <a:rPr sz="1100" b="0" i="1">
                          <a:solidFill>
                            <a:srgbClr val="000000"/>
                          </a:solidFill>
                          <a:latin typeface="Calibri"/>
                        </a:rPr>
                        <a:t>6.5.1.1.</a:t>
                      </a:r>
                      <a:r>
                        <a:rPr sz="700" b="0" i="1">
                          <a:solidFill>
                            <a:srgbClr val="000000"/>
                          </a:solidFill>
                          <a:latin typeface="Times New Roman"/>
                        </a:rPr>
                        <a:t>    </a:t>
                      </a:r>
                      <a:r>
                        <a:rPr sz="1100" b="0" i="1">
                          <a:solidFill>
                            <a:srgbClr val="000000"/>
                          </a:solidFill>
                          <a:latin typeface="Calibri"/>
                        </a:rPr>
                        <a:t>U.S.</a:t>
                      </a:r>
                      <a:endParaRPr sz="1100"/>
                    </a:p>
                  </a:txBody>
                  <a:tcPr marL="1028700" marR="9525" marT="9525" marB="0" anchor="ctr"/>
                </a:tc>
              </a:tr>
              <a:tr h="175260">
                <a:tc>
                  <a:txBody>
                    <a:bodyPr wrap="square"/>
                    <a:lstStyle/>
                    <a:p>
                      <a:pPr algn="l"/>
                      <a:r>
                        <a:rPr sz="1100" b="0" i="1">
                          <a:solidFill>
                            <a:srgbClr val="000000"/>
                          </a:solidFill>
                          <a:latin typeface="Calibri"/>
                        </a:rPr>
                        <a:t>6.5.1.2.</a:t>
                      </a:r>
                      <a:r>
                        <a:rPr sz="700" b="0" i="1">
                          <a:solidFill>
                            <a:srgbClr val="000000"/>
                          </a:solidFill>
                          <a:latin typeface="Times New Roman"/>
                        </a:rPr>
                        <a:t>    </a:t>
                      </a:r>
                      <a:r>
                        <a:rPr sz="1100" b="0" i="1">
                          <a:solidFill>
                            <a:srgbClr val="000000"/>
                          </a:solidFill>
                          <a:latin typeface="Calibri"/>
                        </a:rPr>
                        <a:t>Canada</a:t>
                      </a:r>
                      <a:endParaRPr sz="1100"/>
                    </a:p>
                  </a:txBody>
                  <a:tcPr marL="1028700" marR="9525" marT="9525" marB="0" anchor="ctr"/>
                </a:tc>
              </a:tr>
              <a:tr h="175260">
                <a:tc>
                  <a:txBody>
                    <a:bodyPr wrap="square"/>
                    <a:lstStyle/>
                    <a:p>
                      <a:pPr algn="l"/>
                      <a:r>
                        <a:rPr sz="1100" b="0" i="0">
                          <a:solidFill>
                            <a:srgbClr val="000000"/>
                          </a:solidFill>
                          <a:latin typeface="Calibri"/>
                        </a:rPr>
                        <a:t>6.5.2.</a:t>
                      </a:r>
                      <a:r>
                        <a:rPr sz="700" b="0" i="0">
                          <a:solidFill>
                            <a:srgbClr val="000000"/>
                          </a:solidFill>
                          <a:latin typeface="Times New Roman"/>
                        </a:rPr>
                        <a:t>   </a:t>
                      </a:r>
                      <a:r>
                        <a:rPr sz="1100" b="0" i="0">
                          <a:solidFill>
                            <a:srgbClr val="000000"/>
                          </a:solidFill>
                          <a:latin typeface="Calibri"/>
                        </a:rPr>
                        <a:t>Latin America</a:t>
                      </a:r>
                      <a:endParaRPr sz="1100"/>
                    </a:p>
                  </a:txBody>
                  <a:tcPr marL="771525" marR="9525" marT="9525" marB="0" anchor="ctr"/>
                </a:tc>
              </a:tr>
              <a:tr h="175260">
                <a:tc>
                  <a:txBody>
                    <a:bodyPr wrap="square"/>
                    <a:lstStyle/>
                    <a:p>
                      <a:pPr algn="l"/>
                      <a:r>
                        <a:rPr sz="1100" b="0" i="1">
                          <a:solidFill>
                            <a:srgbClr val="000000"/>
                          </a:solidFill>
                          <a:latin typeface="Calibri"/>
                        </a:rPr>
                        <a:t>6.5.2.1.</a:t>
                      </a:r>
                      <a:r>
                        <a:rPr sz="700" b="0" i="1">
                          <a:solidFill>
                            <a:srgbClr val="000000"/>
                          </a:solidFill>
                          <a:latin typeface="Times New Roman"/>
                        </a:rPr>
                        <a:t>    </a:t>
                      </a:r>
                      <a:r>
                        <a:rPr sz="1100" b="0" i="1">
                          <a:solidFill>
                            <a:srgbClr val="000000"/>
                          </a:solidFill>
                          <a:latin typeface="Calibri"/>
                        </a:rPr>
                        <a:t>Brazil</a:t>
                      </a:r>
                      <a:endParaRPr sz="1100"/>
                    </a:p>
                  </a:txBody>
                  <a:tcPr marL="1028700" marR="9525" marT="9525" marB="0" anchor="ctr"/>
                </a:tc>
              </a:tr>
              <a:tr h="175260">
                <a:tc>
                  <a:txBody>
                    <a:bodyPr wrap="square"/>
                    <a:lstStyle/>
                    <a:p>
                      <a:pPr algn="l"/>
                      <a:r>
                        <a:rPr sz="1100" b="0" i="1">
                          <a:solidFill>
                            <a:srgbClr val="000000"/>
                          </a:solidFill>
                          <a:latin typeface="Calibri"/>
                        </a:rPr>
                        <a:t>6.5.2.2.</a:t>
                      </a:r>
                      <a:r>
                        <a:rPr sz="700" b="0" i="1">
                          <a:solidFill>
                            <a:srgbClr val="000000"/>
                          </a:solidFill>
                          <a:latin typeface="Times New Roman"/>
                        </a:rPr>
                        <a:t>    </a:t>
                      </a:r>
                      <a:r>
                        <a:rPr sz="1100" b="0" i="1">
                          <a:solidFill>
                            <a:srgbClr val="000000"/>
                          </a:solidFill>
                          <a:latin typeface="Calibri"/>
                        </a:rPr>
                        <a:t>Mexico</a:t>
                      </a:r>
                      <a:endParaRPr sz="1100"/>
                    </a:p>
                  </a:txBody>
                  <a:tcPr marL="1028700" marR="9525" marT="9525" marB="0" anchor="ctr"/>
                </a:tc>
              </a:tr>
              <a:tr h="175260">
                <a:tc>
                  <a:txBody>
                    <a:bodyPr wrap="square"/>
                    <a:lstStyle/>
                    <a:p>
                      <a:pPr algn="l"/>
                      <a:r>
                        <a:rPr sz="1100" b="0" i="1">
                          <a:solidFill>
                            <a:srgbClr val="000000"/>
                          </a:solidFill>
                          <a:latin typeface="Calibri"/>
                        </a:rPr>
                        <a:t>6.5.2.3.</a:t>
                      </a:r>
                      <a:r>
                        <a:rPr sz="700" b="0" i="1">
                          <a:solidFill>
                            <a:srgbClr val="000000"/>
                          </a:solidFill>
                          <a:latin typeface="Times New Roman"/>
                        </a:rPr>
                        <a:t>    </a:t>
                      </a:r>
                      <a:r>
                        <a:rPr sz="1100" b="0" i="1">
                          <a:solidFill>
                            <a:srgbClr val="000000"/>
                          </a:solidFill>
                          <a:latin typeface="Calibri"/>
                        </a:rPr>
                        <a:t>Rest of LATAM</a:t>
                      </a:r>
                      <a:endParaRPr sz="1100"/>
                    </a:p>
                  </a:txBody>
                  <a:tcPr marL="1028700" marR="9525" marT="9525" marB="0" anchor="ctr"/>
                </a:tc>
              </a:tr>
              <a:tr h="175260">
                <a:tc>
                  <a:txBody>
                    <a:bodyPr wrap="square"/>
                    <a:lstStyle/>
                    <a:p>
                      <a:pPr algn="l"/>
                      <a:r>
                        <a:rPr sz="1100" b="0" i="0">
                          <a:solidFill>
                            <a:srgbClr val="000000"/>
                          </a:solidFill>
                          <a:latin typeface="Calibri"/>
                        </a:rPr>
                        <a:t>6.5.3.</a:t>
                      </a:r>
                      <a:r>
                        <a:rPr sz="700" b="0" i="0">
                          <a:solidFill>
                            <a:srgbClr val="000000"/>
                          </a:solidFill>
                          <a:latin typeface="Times New Roman"/>
                        </a:rPr>
                        <a:t>   </a:t>
                      </a:r>
                      <a:r>
                        <a:rPr sz="1100" b="0" i="0">
                          <a:solidFill>
                            <a:srgbClr val="000000"/>
                          </a:solidFill>
                          <a:latin typeface="Calibri"/>
                        </a:rPr>
                        <a:t>East Asia</a:t>
                      </a:r>
                      <a:endParaRPr sz="1100"/>
                    </a:p>
                  </a:txBody>
                  <a:tcPr marL="771525" marR="9525" marT="9525" marB="0" anchor="ctr"/>
                </a:tc>
              </a:tr>
              <a:tr h="175260">
                <a:tc>
                  <a:txBody>
                    <a:bodyPr wrap="square"/>
                    <a:lstStyle/>
                    <a:p>
                      <a:pPr algn="l"/>
                      <a:r>
                        <a:rPr sz="1100" b="0" i="1">
                          <a:solidFill>
                            <a:srgbClr val="000000"/>
                          </a:solidFill>
                          <a:latin typeface="Calibri"/>
                        </a:rPr>
                        <a:t>6.5.3.1.</a:t>
                      </a:r>
                      <a:r>
                        <a:rPr sz="700" b="0" i="1">
                          <a:solidFill>
                            <a:srgbClr val="000000"/>
                          </a:solidFill>
                          <a:latin typeface="Times New Roman"/>
                        </a:rPr>
                        <a:t>    </a:t>
                      </a:r>
                      <a:r>
                        <a:rPr sz="1100" b="0" i="1">
                          <a:solidFill>
                            <a:srgbClr val="000000"/>
                          </a:solidFill>
                          <a:latin typeface="Calibri"/>
                        </a:rPr>
                        <a:t>China</a:t>
                      </a:r>
                      <a:endParaRPr sz="1100"/>
                    </a:p>
                  </a:txBody>
                  <a:tcPr marL="1028700" marR="9525" marT="9525" marB="0" anchor="ctr"/>
                </a:tc>
              </a:tr>
              <a:tr h="175260">
                <a:tc>
                  <a:txBody>
                    <a:bodyPr wrap="square"/>
                    <a:lstStyle/>
                    <a:p>
                      <a:pPr algn="l"/>
                      <a:r>
                        <a:rPr sz="1100" b="0" i="1">
                          <a:solidFill>
                            <a:srgbClr val="000000"/>
                          </a:solidFill>
                          <a:latin typeface="Calibri"/>
                        </a:rPr>
                        <a:t>6.5.3.2.</a:t>
                      </a:r>
                      <a:r>
                        <a:rPr sz="700" b="0" i="1">
                          <a:solidFill>
                            <a:srgbClr val="000000"/>
                          </a:solidFill>
                          <a:latin typeface="Times New Roman"/>
                        </a:rPr>
                        <a:t>    </a:t>
                      </a:r>
                      <a:r>
                        <a:rPr sz="1100" b="0" i="1">
                          <a:solidFill>
                            <a:srgbClr val="000000"/>
                          </a:solidFill>
                          <a:latin typeface="Calibri"/>
                        </a:rPr>
                        <a:t>Japan</a:t>
                      </a:r>
                      <a:endParaRPr sz="1100"/>
                    </a:p>
                  </a:txBody>
                  <a:tcPr marL="1028700" marR="9525" marT="9525" marB="0" anchor="ctr"/>
                </a:tc>
              </a:tr>
              <a:tr h="175260">
                <a:tc>
                  <a:txBody>
                    <a:bodyPr wrap="square"/>
                    <a:lstStyle/>
                    <a:p>
                      <a:pPr algn="l"/>
                      <a:r>
                        <a:rPr sz="1100" b="0" i="1">
                          <a:solidFill>
                            <a:srgbClr val="000000"/>
                          </a:solidFill>
                          <a:latin typeface="Calibri"/>
                        </a:rPr>
                        <a:t>6.5.3.3.</a:t>
                      </a:r>
                      <a:r>
                        <a:rPr sz="700" b="0" i="1">
                          <a:solidFill>
                            <a:srgbClr val="000000"/>
                          </a:solidFill>
                          <a:latin typeface="Times New Roman"/>
                        </a:rPr>
                        <a:t>    </a:t>
                      </a:r>
                      <a:r>
                        <a:rPr sz="1100" b="0" i="1">
                          <a:solidFill>
                            <a:srgbClr val="000000"/>
                          </a:solidFill>
                          <a:latin typeface="Calibri"/>
                        </a:rPr>
                        <a:t>S Korea</a:t>
                      </a:r>
                      <a:endParaRPr sz="1100"/>
                    </a:p>
                  </a:txBody>
                  <a:tcPr marL="1028700" marR="9525" marT="9525" marB="0" anchor="ctr"/>
                </a:tc>
              </a:tr>
              <a:tr h="175260">
                <a:tc>
                  <a:txBody>
                    <a:bodyPr wrap="square"/>
                    <a:lstStyle/>
                    <a:p>
                      <a:pPr algn="l"/>
                      <a:r>
                        <a:rPr sz="1100" b="0" i="0">
                          <a:solidFill>
                            <a:srgbClr val="000000"/>
                          </a:solidFill>
                          <a:latin typeface="Calibri"/>
                        </a:rPr>
                        <a:t>6.5.4.</a:t>
                      </a:r>
                      <a:r>
                        <a:rPr sz="700" b="0" i="0">
                          <a:solidFill>
                            <a:srgbClr val="000000"/>
                          </a:solidFill>
                          <a:latin typeface="Times New Roman"/>
                        </a:rPr>
                        <a:t>   </a:t>
                      </a:r>
                      <a:r>
                        <a:rPr sz="1100" b="0" i="0">
                          <a:solidFill>
                            <a:srgbClr val="000000"/>
                          </a:solidFill>
                          <a:latin typeface="Calibri"/>
                        </a:rPr>
                        <a:t>South Asia &amp; Pacific</a:t>
                      </a:r>
                      <a:endParaRPr sz="1100"/>
                    </a:p>
                  </a:txBody>
                  <a:tcPr marL="771525" marR="9525" marT="9525" marB="0" anchor="ctr"/>
                </a:tc>
              </a:tr>
              <a:tr h="175260">
                <a:tc>
                  <a:txBody>
                    <a:bodyPr wrap="square"/>
                    <a:lstStyle/>
                    <a:p>
                      <a:pPr algn="l"/>
                      <a:r>
                        <a:rPr sz="1100" b="0" i="1">
                          <a:solidFill>
                            <a:srgbClr val="000000"/>
                          </a:solidFill>
                          <a:latin typeface="Calibri"/>
                        </a:rPr>
                        <a:t>6.5.4.1.</a:t>
                      </a:r>
                      <a:r>
                        <a:rPr sz="700" b="0" i="1">
                          <a:solidFill>
                            <a:srgbClr val="000000"/>
                          </a:solidFill>
                          <a:latin typeface="Times New Roman"/>
                        </a:rPr>
                        <a:t>    </a:t>
                      </a:r>
                      <a:r>
                        <a:rPr sz="1100" b="0" i="1">
                          <a:solidFill>
                            <a:srgbClr val="000000"/>
                          </a:solidFill>
                          <a:latin typeface="Calibri"/>
                        </a:rPr>
                        <a:t>India</a:t>
                      </a:r>
                      <a:endParaRPr sz="1100"/>
                    </a:p>
                  </a:txBody>
                  <a:tcPr marL="1028700" marR="9525" marT="9525" marB="0" anchor="ctr"/>
                </a:tc>
              </a:tr>
              <a:tr h="175260">
                <a:tc>
                  <a:txBody>
                    <a:bodyPr wrap="square"/>
                    <a:lstStyle/>
                    <a:p>
                      <a:pPr algn="l"/>
                      <a:r>
                        <a:rPr sz="1100" b="0" i="1">
                          <a:solidFill>
                            <a:srgbClr val="000000"/>
                          </a:solidFill>
                          <a:latin typeface="Calibri"/>
                        </a:rPr>
                        <a:t>6.5.4.2.</a:t>
                      </a:r>
                      <a:r>
                        <a:rPr sz="700" b="0" i="1">
                          <a:solidFill>
                            <a:srgbClr val="000000"/>
                          </a:solidFill>
                          <a:latin typeface="Times New Roman"/>
                        </a:rPr>
                        <a:t>    </a:t>
                      </a:r>
                      <a:r>
                        <a:rPr sz="1100" b="0" i="1">
                          <a:solidFill>
                            <a:srgbClr val="000000"/>
                          </a:solidFill>
                          <a:latin typeface="Calibri"/>
                        </a:rPr>
                        <a:t>Thailand</a:t>
                      </a:r>
                      <a:endParaRPr sz="1100"/>
                    </a:p>
                  </a:txBody>
                  <a:tcPr marL="1028700" marR="9525" marT="9525" marB="0" anchor="ctr"/>
                </a:tc>
              </a:tr>
              <a:tr h="175260">
                <a:tc>
                  <a:txBody>
                    <a:bodyPr wrap="square"/>
                    <a:lstStyle/>
                    <a:p>
                      <a:pPr algn="l"/>
                      <a:r>
                        <a:rPr sz="1100" b="0" i="1">
                          <a:solidFill>
                            <a:srgbClr val="000000"/>
                          </a:solidFill>
                          <a:latin typeface="Calibri"/>
                        </a:rPr>
                        <a:t>6.5.4.3.</a:t>
                      </a:r>
                      <a:r>
                        <a:rPr sz="700" b="0" i="1">
                          <a:solidFill>
                            <a:srgbClr val="000000"/>
                          </a:solidFill>
                          <a:latin typeface="Times New Roman"/>
                        </a:rPr>
                        <a:t>    </a:t>
                      </a:r>
                      <a:r>
                        <a:rPr sz="1100" b="0" i="1">
                          <a:solidFill>
                            <a:srgbClr val="000000"/>
                          </a:solidFill>
                          <a:latin typeface="Calibri"/>
                        </a:rPr>
                        <a:t>Malaysia</a:t>
                      </a:r>
                      <a:endParaRPr sz="1100"/>
                    </a:p>
                  </a:txBody>
                  <a:tcPr marL="1028700" marR="9525" marT="9525" marB="0" anchor="ctr"/>
                </a:tc>
              </a:tr>
              <a:tr h="175260">
                <a:tc>
                  <a:txBody>
                    <a:bodyPr wrap="square"/>
                    <a:lstStyle/>
                    <a:p>
                      <a:pPr algn="l"/>
                      <a:r>
                        <a:rPr sz="1100" b="0" i="1">
                          <a:solidFill>
                            <a:srgbClr val="000000"/>
                          </a:solidFill>
                          <a:latin typeface="Calibri"/>
                        </a:rPr>
                        <a:t>6.5.4.4.</a:t>
                      </a:r>
                      <a:r>
                        <a:rPr sz="700" b="0" i="1">
                          <a:solidFill>
                            <a:srgbClr val="000000"/>
                          </a:solidFill>
                          <a:latin typeface="Times New Roman"/>
                        </a:rPr>
                        <a:t>    </a:t>
                      </a:r>
                      <a:r>
                        <a:rPr sz="1100" b="0" i="1">
                          <a:solidFill>
                            <a:srgbClr val="000000"/>
                          </a:solidFill>
                          <a:latin typeface="Calibri"/>
                        </a:rPr>
                        <a:t>Indonesia</a:t>
                      </a:r>
                      <a:endParaRPr sz="1100"/>
                    </a:p>
                  </a:txBody>
                  <a:tcPr marL="1028700" marR="9525" marT="9525" marB="0" anchor="ctr"/>
                </a:tc>
              </a:tr>
              <a:tr h="175260">
                <a:tc>
                  <a:txBody>
                    <a:bodyPr wrap="square"/>
                    <a:lstStyle/>
                    <a:p>
                      <a:pPr algn="l"/>
                      <a:r>
                        <a:rPr sz="1100" b="0" i="1">
                          <a:solidFill>
                            <a:srgbClr val="000000"/>
                          </a:solidFill>
                          <a:latin typeface="Calibri"/>
                        </a:rPr>
                        <a:t>6.5.4.5.</a:t>
                      </a:r>
                      <a:r>
                        <a:rPr sz="700" b="0" i="1">
                          <a:solidFill>
                            <a:srgbClr val="000000"/>
                          </a:solidFill>
                          <a:latin typeface="Times New Roman"/>
                        </a:rPr>
                        <a:t>    </a:t>
                      </a:r>
                      <a:r>
                        <a:rPr sz="1100" b="0" i="1">
                          <a:solidFill>
                            <a:srgbClr val="000000"/>
                          </a:solidFill>
                          <a:latin typeface="Calibri"/>
                        </a:rPr>
                        <a:t>Philippines</a:t>
                      </a:r>
                      <a:endParaRPr sz="1100"/>
                    </a:p>
                  </a:txBody>
                  <a:tcPr marL="1028700" marR="9525" marT="9525" marB="0" anchor="ctr"/>
                </a:tc>
              </a:tr>
              <a:tr h="175260">
                <a:tc>
                  <a:txBody>
                    <a:bodyPr wrap="square"/>
                    <a:lstStyle/>
                    <a:p>
                      <a:pPr algn="l"/>
                      <a:r>
                        <a:rPr sz="1100" b="0" i="1">
                          <a:solidFill>
                            <a:srgbClr val="000000"/>
                          </a:solidFill>
                          <a:latin typeface="Calibri"/>
                        </a:rPr>
                        <a:t>6.5.4.6.</a:t>
                      </a:r>
                      <a:r>
                        <a:rPr sz="700" b="0" i="1">
                          <a:solidFill>
                            <a:srgbClr val="000000"/>
                          </a:solidFill>
                          <a:latin typeface="Times New Roman"/>
                        </a:rPr>
                        <a:t>    </a:t>
                      </a:r>
                      <a:r>
                        <a:rPr sz="1100" b="0" i="1">
                          <a:solidFill>
                            <a:srgbClr val="000000"/>
                          </a:solidFill>
                          <a:latin typeface="Calibri"/>
                        </a:rPr>
                        <a:t>Singapore</a:t>
                      </a:r>
                      <a:endParaRPr sz="1100"/>
                    </a:p>
                  </a:txBody>
                  <a:tcPr marL="1028700" marR="9525" marT="9525" marB="0" anchor="ctr"/>
                </a:tc>
              </a:tr>
              <a:tr h="175260">
                <a:tc>
                  <a:txBody>
                    <a:bodyPr wrap="square"/>
                    <a:lstStyle/>
                    <a:p>
                      <a:pPr algn="l"/>
                      <a:r>
                        <a:rPr sz="1100" b="0" i="1">
                          <a:solidFill>
                            <a:srgbClr val="000000"/>
                          </a:solidFill>
                          <a:latin typeface="Calibri"/>
                        </a:rPr>
                        <a:t>6.5.4.7.</a:t>
                      </a:r>
                      <a:r>
                        <a:rPr sz="700" b="0" i="1">
                          <a:solidFill>
                            <a:srgbClr val="000000"/>
                          </a:solidFill>
                          <a:latin typeface="Times New Roman"/>
                        </a:rPr>
                        <a:t>    </a:t>
                      </a:r>
                      <a:r>
                        <a:rPr sz="1100" b="0" i="1">
                          <a:solidFill>
                            <a:srgbClr val="000000"/>
                          </a:solidFill>
                          <a:latin typeface="Calibri"/>
                        </a:rPr>
                        <a:t>Australia</a:t>
                      </a:r>
                      <a:endParaRPr sz="1100"/>
                    </a:p>
                  </a:txBody>
                  <a:tcPr marL="1028700" marR="9525" marT="9525" marB="0" anchor="ctr"/>
                </a:tc>
              </a:tr>
              <a:tr h="175260">
                <a:tc>
                  <a:txBody>
                    <a:bodyPr wrap="square"/>
                    <a:lstStyle/>
                    <a:p>
                      <a:pPr algn="l"/>
                      <a:r>
                        <a:rPr sz="1100" b="0" i="1">
                          <a:solidFill>
                            <a:srgbClr val="000000"/>
                          </a:solidFill>
                          <a:latin typeface="Calibri"/>
                        </a:rPr>
                        <a:t>6.5.4.8.</a:t>
                      </a:r>
                      <a:r>
                        <a:rPr sz="700" b="0" i="1">
                          <a:solidFill>
                            <a:srgbClr val="000000"/>
                          </a:solidFill>
                          <a:latin typeface="Times New Roman"/>
                        </a:rPr>
                        <a:t>    </a:t>
                      </a:r>
                      <a:r>
                        <a:rPr sz="1100" b="0" i="1">
                          <a:solidFill>
                            <a:srgbClr val="000000"/>
                          </a:solidFill>
                          <a:latin typeface="Calibri"/>
                        </a:rPr>
                        <a:t>New Zealand</a:t>
                      </a:r>
                      <a:endParaRPr sz="1100"/>
                    </a:p>
                  </a:txBody>
                  <a:tcPr marL="1028700" marR="9525" marT="9525" marB="0" anchor="ctr"/>
                </a:tc>
              </a:tr>
              <a:tr h="175260">
                <a:tc>
                  <a:txBody>
                    <a:bodyPr wrap="square"/>
                    <a:lstStyle/>
                    <a:p>
                      <a:pPr algn="l"/>
                      <a:r>
                        <a:rPr sz="1100" b="0" i="1">
                          <a:solidFill>
                            <a:srgbClr val="000000"/>
                          </a:solidFill>
                          <a:latin typeface="Calibri"/>
                        </a:rPr>
                        <a:t>6.5.4.9.</a:t>
                      </a:r>
                      <a:r>
                        <a:rPr sz="700" b="0" i="1">
                          <a:solidFill>
                            <a:srgbClr val="000000"/>
                          </a:solidFill>
                          <a:latin typeface="Times New Roman"/>
                        </a:rPr>
                        <a:t>    </a:t>
                      </a:r>
                      <a:r>
                        <a:rPr sz="1100" b="0" i="1">
                          <a:solidFill>
                            <a:srgbClr val="000000"/>
                          </a:solidFill>
                          <a:latin typeface="Calibri"/>
                        </a:rPr>
                        <a:t>Rest of South East Asia</a:t>
                      </a:r>
                      <a:endParaRPr sz="1100"/>
                    </a:p>
                  </a:txBody>
                  <a:tcPr marL="1028700" marR="9525" marT="9525" marB="0" anchor="ctr"/>
                </a:tc>
              </a:tr>
              <a:tr h="175260">
                <a:tc>
                  <a:txBody>
                    <a:bodyPr wrap="square"/>
                    <a:lstStyle/>
                    <a:p>
                      <a:pPr algn="l"/>
                      <a:r>
                        <a:rPr sz="1100" b="0" i="0">
                          <a:solidFill>
                            <a:srgbClr val="000000"/>
                          </a:solidFill>
                          <a:latin typeface="Calibri"/>
                        </a:rPr>
                        <a:t>6.5.5.</a:t>
                      </a:r>
                      <a:r>
                        <a:rPr sz="700" b="0" i="0">
                          <a:solidFill>
                            <a:srgbClr val="000000"/>
                          </a:solidFill>
                          <a:latin typeface="Times New Roman"/>
                        </a:rPr>
                        <a:t>   </a:t>
                      </a:r>
                      <a:r>
                        <a:rPr sz="1100" b="0" i="0">
                          <a:solidFill>
                            <a:srgbClr val="000000"/>
                          </a:solidFill>
                          <a:latin typeface="Calibri"/>
                        </a:rPr>
                        <a:t>Europe</a:t>
                      </a:r>
                      <a:endParaRPr sz="1100"/>
                    </a:p>
                  </a:txBody>
                  <a:tcPr marL="771525" marR="9525" marT="9525" marB="0" anchor="ctr"/>
                </a:tc>
              </a:tr>
              <a:tr h="175260">
                <a:tc>
                  <a:txBody>
                    <a:bodyPr wrap="square"/>
                    <a:lstStyle/>
                    <a:p>
                      <a:pPr algn="l"/>
                      <a:r>
                        <a:rPr sz="1100" b="0" i="1">
                          <a:solidFill>
                            <a:srgbClr val="000000"/>
                          </a:solidFill>
                          <a:latin typeface="Calibri"/>
                        </a:rPr>
                        <a:t>6.5.5.1.</a:t>
                      </a:r>
                      <a:r>
                        <a:rPr sz="700" b="0" i="1">
                          <a:solidFill>
                            <a:srgbClr val="000000"/>
                          </a:solidFill>
                          <a:latin typeface="Times New Roman"/>
                        </a:rPr>
                        <a:t>    </a:t>
                      </a:r>
                      <a:r>
                        <a:rPr sz="1100" b="0" i="1">
                          <a:solidFill>
                            <a:srgbClr val="000000"/>
                          </a:solidFill>
                          <a:latin typeface="Calibri"/>
                        </a:rPr>
                        <a:t>Germany</a:t>
                      </a:r>
                      <a:endParaRPr sz="1100"/>
                    </a:p>
                  </a:txBody>
                  <a:tcPr marL="1028700" marR="9525" marT="9525" marB="0" anchor="ctr"/>
                </a:tc>
              </a:tr>
              <a:tr h="175260">
                <a:tc>
                  <a:txBody>
                    <a:bodyPr wrap="square"/>
                    <a:lstStyle/>
                    <a:p>
                      <a:pPr algn="l"/>
                      <a:r>
                        <a:rPr sz="1100" b="0" i="1">
                          <a:solidFill>
                            <a:srgbClr val="000000"/>
                          </a:solidFill>
                          <a:latin typeface="Calibri"/>
                        </a:rPr>
                        <a:t>6.5.5.2.</a:t>
                      </a:r>
                      <a:r>
                        <a:rPr sz="700" b="0" i="1">
                          <a:solidFill>
                            <a:srgbClr val="000000"/>
                          </a:solidFill>
                          <a:latin typeface="Times New Roman"/>
                        </a:rPr>
                        <a:t>    </a:t>
                      </a:r>
                      <a:r>
                        <a:rPr sz="1100" b="0" i="1">
                          <a:solidFill>
                            <a:srgbClr val="000000"/>
                          </a:solidFill>
                          <a:latin typeface="Calibri"/>
                        </a:rPr>
                        <a:t>U.K.</a:t>
                      </a:r>
                      <a:endParaRPr sz="1100"/>
                    </a:p>
                  </a:txBody>
                  <a:tcPr marL="1028700" marR="9525" marT="9525" marB="0" anchor="ctr"/>
                </a:tc>
              </a:tr>
              <a:tr h="175260">
                <a:tc>
                  <a:txBody>
                    <a:bodyPr wrap="square"/>
                    <a:lstStyle/>
                    <a:p>
                      <a:pPr algn="l"/>
                      <a:r>
                        <a:rPr sz="1100" b="0" i="1">
                          <a:solidFill>
                            <a:srgbClr val="000000"/>
                          </a:solidFill>
                          <a:latin typeface="Calibri"/>
                        </a:rPr>
                        <a:t>6.5.5.3.</a:t>
                      </a:r>
                      <a:r>
                        <a:rPr sz="700" b="0" i="1">
                          <a:solidFill>
                            <a:srgbClr val="000000"/>
                          </a:solidFill>
                          <a:latin typeface="Times New Roman"/>
                        </a:rPr>
                        <a:t>    </a:t>
                      </a:r>
                      <a:r>
                        <a:rPr sz="1100" b="0" i="1">
                          <a:solidFill>
                            <a:srgbClr val="000000"/>
                          </a:solidFill>
                          <a:latin typeface="Calibri"/>
                        </a:rPr>
                        <a:t>France</a:t>
                      </a:r>
                      <a:endParaRPr sz="1100"/>
                    </a:p>
                  </a:txBody>
                  <a:tcPr marL="1028700" marR="9525" marT="9525" marB="0" anchor="ctr"/>
                </a:tc>
              </a:tr>
              <a:tr h="175260">
                <a:tc>
                  <a:txBody>
                    <a:bodyPr wrap="square"/>
                    <a:lstStyle/>
                    <a:p>
                      <a:pPr algn="l"/>
                      <a:r>
                        <a:rPr sz="1100" b="0" i="1">
                          <a:solidFill>
                            <a:srgbClr val="000000"/>
                          </a:solidFill>
                          <a:latin typeface="Calibri"/>
                        </a:rPr>
                        <a:t>6.5.5.4.</a:t>
                      </a:r>
                      <a:r>
                        <a:rPr sz="700" b="0" i="1">
                          <a:solidFill>
                            <a:srgbClr val="000000"/>
                          </a:solidFill>
                          <a:latin typeface="Times New Roman"/>
                        </a:rPr>
                        <a:t>    </a:t>
                      </a:r>
                      <a:r>
                        <a:rPr sz="1100" b="0" i="1">
                          <a:solidFill>
                            <a:srgbClr val="000000"/>
                          </a:solidFill>
                          <a:latin typeface="Calibri"/>
                        </a:rPr>
                        <a:t>Italy</a:t>
                      </a:r>
                      <a:endParaRPr sz="1100"/>
                    </a:p>
                  </a:txBody>
                  <a:tcPr marL="1028700" marR="9525" marT="9525" marB="0" anchor="ctr"/>
                </a:tc>
              </a:tr>
              <a:tr h="175260">
                <a:tc>
                  <a:txBody>
                    <a:bodyPr wrap="square"/>
                    <a:lstStyle/>
                    <a:p>
                      <a:pPr algn="l"/>
                      <a:r>
                        <a:rPr sz="1100" b="0" i="1">
                          <a:solidFill>
                            <a:srgbClr val="000000"/>
                          </a:solidFill>
                          <a:latin typeface="Calibri"/>
                        </a:rPr>
                        <a:t>6.5.5.5.</a:t>
                      </a:r>
                      <a:r>
                        <a:rPr sz="700" b="0" i="1">
                          <a:solidFill>
                            <a:srgbClr val="000000"/>
                          </a:solidFill>
                          <a:latin typeface="Times New Roman"/>
                        </a:rPr>
                        <a:t>    </a:t>
                      </a:r>
                      <a:r>
                        <a:rPr sz="1100" b="0" i="1">
                          <a:solidFill>
                            <a:srgbClr val="000000"/>
                          </a:solidFill>
                          <a:latin typeface="Calibri"/>
                        </a:rPr>
                        <a:t>Spain</a:t>
                      </a:r>
                      <a:endParaRPr sz="1100"/>
                    </a:p>
                  </a:txBody>
                  <a:tcPr marL="1028700" marR="9525" marT="9525" marB="0" anchor="ctr"/>
                </a:tc>
              </a:tr>
              <a:tr h="175260">
                <a:tc>
                  <a:txBody>
                    <a:bodyPr wrap="square"/>
                    <a:lstStyle/>
                    <a:p>
                      <a:pPr algn="l"/>
                      <a:r>
                        <a:rPr sz="1100" b="0" i="1">
                          <a:solidFill>
                            <a:srgbClr val="000000"/>
                          </a:solidFill>
                          <a:latin typeface="Calibri"/>
                        </a:rPr>
                        <a:t>6.5.5.6.</a:t>
                      </a:r>
                      <a:r>
                        <a:rPr sz="700" b="0" i="1">
                          <a:solidFill>
                            <a:srgbClr val="000000"/>
                          </a:solidFill>
                          <a:latin typeface="Times New Roman"/>
                        </a:rPr>
                        <a:t>    </a:t>
                      </a:r>
                      <a:r>
                        <a:rPr sz="1100" b="0" i="1">
                          <a:solidFill>
                            <a:srgbClr val="000000"/>
                          </a:solidFill>
                          <a:latin typeface="Calibri"/>
                        </a:rPr>
                        <a:t>Belgium</a:t>
                      </a:r>
                      <a:endParaRPr sz="1100"/>
                    </a:p>
                  </a:txBody>
                  <a:tcPr marL="1028700" marR="9525" marT="9525" marB="0" anchor="ctr"/>
                </a:tc>
              </a:tr>
              <a:tr h="175260">
                <a:tc>
                  <a:txBody>
                    <a:bodyPr wrap="square"/>
                    <a:lstStyle/>
                    <a:p>
                      <a:pPr algn="l"/>
                      <a:r>
                        <a:rPr sz="1100" b="0" i="1">
                          <a:solidFill>
                            <a:srgbClr val="000000"/>
                          </a:solidFill>
                          <a:latin typeface="Calibri"/>
                        </a:rPr>
                        <a:t>6.5.5.7.</a:t>
                      </a:r>
                      <a:r>
                        <a:rPr sz="700" b="0" i="1">
                          <a:solidFill>
                            <a:srgbClr val="000000"/>
                          </a:solidFill>
                          <a:latin typeface="Times New Roman"/>
                        </a:rPr>
                        <a:t>    </a:t>
                      </a:r>
                      <a:r>
                        <a:rPr sz="1100" b="0" i="1">
                          <a:solidFill>
                            <a:srgbClr val="000000"/>
                          </a:solidFill>
                          <a:latin typeface="Calibri"/>
                        </a:rPr>
                        <a:t>Netherlands</a:t>
                      </a:r>
                      <a:endParaRPr sz="1100"/>
                    </a:p>
                  </a:txBody>
                  <a:tcPr marL="1028700" marR="9525" marT="9525" marB="0" anchor="ctr"/>
                </a:tc>
              </a:tr>
              <a:tr h="175260">
                <a:tc>
                  <a:txBody>
                    <a:bodyPr wrap="square"/>
                    <a:lstStyle/>
                    <a:p>
                      <a:pPr algn="l"/>
                      <a:r>
                        <a:rPr sz="1100" b="0" i="1">
                          <a:solidFill>
                            <a:srgbClr val="000000"/>
                          </a:solidFill>
                          <a:latin typeface="Calibri"/>
                        </a:rPr>
                        <a:t>6.5.5.8.</a:t>
                      </a:r>
                      <a:r>
                        <a:rPr sz="700" b="0" i="1">
                          <a:solidFill>
                            <a:srgbClr val="000000"/>
                          </a:solidFill>
                          <a:latin typeface="Times New Roman"/>
                        </a:rPr>
                        <a:t>    </a:t>
                      </a:r>
                      <a:r>
                        <a:rPr sz="1100" b="0" i="1">
                          <a:solidFill>
                            <a:srgbClr val="000000"/>
                          </a:solidFill>
                          <a:latin typeface="Calibri"/>
                        </a:rPr>
                        <a:t>Nordic</a:t>
                      </a:r>
                      <a:endParaRPr sz="1100"/>
                    </a:p>
                  </a:txBody>
                  <a:tcPr marL="10287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(4/6)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6.5.5.9.</a:t>
                      </a:r>
                      <a:r>
                        <a:rPr sz="700" b="0" i="1">
                          <a:solidFill>
                            <a:srgbClr val="000000"/>
                          </a:solidFill>
                          <a:latin typeface="Times New Roman"/>
                        </a:rPr>
                        <a:t>    </a:t>
                      </a:r>
                      <a:r>
                        <a:rPr sz="1100" b="0" i="1">
                          <a:solidFill>
                            <a:srgbClr val="000000"/>
                          </a:solidFill>
                          <a:latin typeface="Calibri"/>
                        </a:rPr>
                        <a:t>Russia</a:t>
                      </a:r>
                      <a:endParaRPr sz="1100"/>
                    </a:p>
                  </a:txBody>
                  <a:tcPr marL="1028700" marR="9525" marT="9525" marB="0" anchor="ctr"/>
                </a:tc>
              </a:tr>
              <a:tr h="175260">
                <a:tc>
                  <a:txBody>
                    <a:bodyPr wrap="square"/>
                    <a:lstStyle/>
                    <a:p>
                      <a:pPr algn="l"/>
                      <a:r>
                        <a:rPr sz="1100" b="0" i="1">
                          <a:solidFill>
                            <a:srgbClr val="000000"/>
                          </a:solidFill>
                          <a:latin typeface="Calibri"/>
                        </a:rPr>
                        <a:t>6.5.5.10.</a:t>
                      </a:r>
                      <a:r>
                        <a:rPr sz="700" b="0" i="1">
                          <a:solidFill>
                            <a:srgbClr val="000000"/>
                          </a:solidFill>
                          <a:latin typeface="Times New Roman"/>
                        </a:rPr>
                        <a:t> </a:t>
                      </a:r>
                      <a:r>
                        <a:rPr sz="1100" b="0" i="1">
                          <a:solidFill>
                            <a:srgbClr val="000000"/>
                          </a:solidFill>
                          <a:latin typeface="Calibri"/>
                        </a:rPr>
                        <a:t>Poland</a:t>
                      </a:r>
                      <a:endParaRPr sz="1100"/>
                    </a:p>
                  </a:txBody>
                  <a:tcPr marL="1028700" marR="9525" marT="9525" marB="0" anchor="ctr"/>
                </a:tc>
              </a:tr>
              <a:tr h="175260">
                <a:tc>
                  <a:txBody>
                    <a:bodyPr wrap="square"/>
                    <a:lstStyle/>
                    <a:p>
                      <a:pPr algn="l"/>
                      <a:r>
                        <a:rPr sz="1100" b="0" i="1">
                          <a:solidFill>
                            <a:srgbClr val="000000"/>
                          </a:solidFill>
                          <a:latin typeface="Calibri"/>
                        </a:rPr>
                        <a:t>6.5.5.11.</a:t>
                      </a:r>
                      <a:r>
                        <a:rPr sz="700" b="0" i="1">
                          <a:solidFill>
                            <a:srgbClr val="000000"/>
                          </a:solidFill>
                          <a:latin typeface="Times New Roman"/>
                        </a:rPr>
                        <a:t> </a:t>
                      </a:r>
                      <a:r>
                        <a:rPr sz="1100" b="0" i="1">
                          <a:solidFill>
                            <a:srgbClr val="000000"/>
                          </a:solidFill>
                          <a:latin typeface="Calibri"/>
                        </a:rPr>
                        <a:t>Switzerland</a:t>
                      </a:r>
                      <a:endParaRPr sz="1100"/>
                    </a:p>
                  </a:txBody>
                  <a:tcPr marL="1028700" marR="9525" marT="9525" marB="0" anchor="ctr"/>
                </a:tc>
              </a:tr>
              <a:tr h="175260">
                <a:tc>
                  <a:txBody>
                    <a:bodyPr wrap="square"/>
                    <a:lstStyle/>
                    <a:p>
                      <a:pPr algn="l"/>
                      <a:r>
                        <a:rPr sz="1100" b="0" i="1">
                          <a:solidFill>
                            <a:srgbClr val="000000"/>
                          </a:solidFill>
                          <a:latin typeface="Calibri"/>
                        </a:rPr>
                        <a:t>6.5.5.12.</a:t>
                      </a:r>
                      <a:r>
                        <a:rPr sz="700" b="0" i="1">
                          <a:solidFill>
                            <a:srgbClr val="000000"/>
                          </a:solidFill>
                          <a:latin typeface="Times New Roman"/>
                        </a:rPr>
                        <a:t> </a:t>
                      </a:r>
                      <a:r>
                        <a:rPr sz="1100" b="0" i="1">
                          <a:solidFill>
                            <a:srgbClr val="000000"/>
                          </a:solidFill>
                          <a:latin typeface="Calibri"/>
                        </a:rPr>
                        <a:t>Rest of Europe</a:t>
                      </a:r>
                      <a:endParaRPr sz="1100"/>
                    </a:p>
                  </a:txBody>
                  <a:tcPr marL="1028700" marR="9525" marT="9525" marB="0" anchor="ctr"/>
                </a:tc>
              </a:tr>
              <a:tr h="175260">
                <a:tc>
                  <a:txBody>
                    <a:bodyPr wrap="square"/>
                    <a:lstStyle/>
                    <a:p>
                      <a:pPr algn="l"/>
                      <a:r>
                        <a:rPr sz="1100" b="0" i="0">
                          <a:solidFill>
                            <a:srgbClr val="000000"/>
                          </a:solidFill>
                          <a:latin typeface="Calibri"/>
                        </a:rPr>
                        <a:t>6.5.6.</a:t>
                      </a:r>
                      <a:r>
                        <a:rPr sz="700" b="0" i="0">
                          <a:solidFill>
                            <a:srgbClr val="000000"/>
                          </a:solidFill>
                          <a:latin typeface="Times New Roman"/>
                        </a:rPr>
                        <a:t>   </a:t>
                      </a:r>
                      <a:r>
                        <a:rPr sz="1100" b="0" i="0">
                          <a:solidFill>
                            <a:srgbClr val="000000"/>
                          </a:solidFill>
                          <a:latin typeface="Calibri"/>
                        </a:rPr>
                        <a:t>Middle East &amp; Africa</a:t>
                      </a:r>
                      <a:endParaRPr sz="1100"/>
                    </a:p>
                  </a:txBody>
                  <a:tcPr marL="771525" marR="9525" marT="9525" marB="0" anchor="ctr"/>
                </a:tc>
              </a:tr>
              <a:tr h="175260">
                <a:tc>
                  <a:txBody>
                    <a:bodyPr wrap="square"/>
                    <a:lstStyle/>
                    <a:p>
                      <a:pPr algn="l"/>
                      <a:r>
                        <a:rPr sz="1100" b="0" i="1">
                          <a:solidFill>
                            <a:srgbClr val="000000"/>
                          </a:solidFill>
                          <a:latin typeface="Calibri"/>
                        </a:rPr>
                        <a:t>6.5.6.1.</a:t>
                      </a:r>
                      <a:r>
                        <a:rPr sz="700" b="0" i="1">
                          <a:solidFill>
                            <a:srgbClr val="000000"/>
                          </a:solidFill>
                          <a:latin typeface="Times New Roman"/>
                        </a:rPr>
                        <a:t>    </a:t>
                      </a:r>
                      <a:r>
                        <a:rPr sz="1100" b="0" i="1">
                          <a:solidFill>
                            <a:srgbClr val="000000"/>
                          </a:solidFill>
                          <a:latin typeface="Calibri"/>
                        </a:rPr>
                        <a:t>UAE</a:t>
                      </a:r>
                      <a:endParaRPr sz="1100"/>
                    </a:p>
                  </a:txBody>
                  <a:tcPr marL="1028700" marR="9525" marT="9525" marB="0" anchor="ctr"/>
                </a:tc>
              </a:tr>
              <a:tr h="175260">
                <a:tc>
                  <a:txBody>
                    <a:bodyPr wrap="square"/>
                    <a:lstStyle/>
                    <a:p>
                      <a:pPr algn="l"/>
                      <a:r>
                        <a:rPr sz="1100" b="0" i="1">
                          <a:solidFill>
                            <a:srgbClr val="000000"/>
                          </a:solidFill>
                          <a:latin typeface="Calibri"/>
                        </a:rPr>
                        <a:t>6.5.6.2.</a:t>
                      </a:r>
                      <a:r>
                        <a:rPr sz="700" b="0" i="1">
                          <a:solidFill>
                            <a:srgbClr val="000000"/>
                          </a:solidFill>
                          <a:latin typeface="Times New Roman"/>
                        </a:rPr>
                        <a:t>    </a:t>
                      </a:r>
                      <a:r>
                        <a:rPr sz="1100" b="0" i="1">
                          <a:solidFill>
                            <a:srgbClr val="000000"/>
                          </a:solidFill>
                          <a:latin typeface="Calibri"/>
                        </a:rPr>
                        <a:t>Saudi Arabia</a:t>
                      </a:r>
                      <a:endParaRPr sz="1100"/>
                    </a:p>
                  </a:txBody>
                  <a:tcPr marL="1028700" marR="9525" marT="9525" marB="0" anchor="ctr"/>
                </a:tc>
              </a:tr>
              <a:tr h="175260">
                <a:tc>
                  <a:txBody>
                    <a:bodyPr wrap="square"/>
                    <a:lstStyle/>
                    <a:p>
                      <a:pPr algn="l"/>
                      <a:r>
                        <a:rPr sz="1100" b="0" i="1">
                          <a:solidFill>
                            <a:srgbClr val="000000"/>
                          </a:solidFill>
                          <a:latin typeface="Calibri"/>
                        </a:rPr>
                        <a:t>6.5.6.3.</a:t>
                      </a:r>
                      <a:r>
                        <a:rPr sz="700" b="0" i="1">
                          <a:solidFill>
                            <a:srgbClr val="000000"/>
                          </a:solidFill>
                          <a:latin typeface="Times New Roman"/>
                        </a:rPr>
                        <a:t>    </a:t>
                      </a:r>
                      <a:r>
                        <a:rPr sz="1100" b="0" i="1">
                          <a:solidFill>
                            <a:srgbClr val="000000"/>
                          </a:solidFill>
                          <a:latin typeface="Calibri"/>
                        </a:rPr>
                        <a:t>Turkey</a:t>
                      </a:r>
                      <a:endParaRPr sz="1100"/>
                    </a:p>
                  </a:txBody>
                  <a:tcPr marL="1028700" marR="9525" marT="9525" marB="0" anchor="ctr"/>
                </a:tc>
              </a:tr>
              <a:tr h="175260">
                <a:tc>
                  <a:txBody>
                    <a:bodyPr wrap="square"/>
                    <a:lstStyle/>
                    <a:p>
                      <a:pPr algn="l"/>
                      <a:r>
                        <a:rPr sz="1100" b="0" i="1">
                          <a:solidFill>
                            <a:srgbClr val="000000"/>
                          </a:solidFill>
                          <a:latin typeface="Calibri"/>
                        </a:rPr>
                        <a:t>6.5.6.4.</a:t>
                      </a:r>
                      <a:r>
                        <a:rPr sz="700" b="0" i="1">
                          <a:solidFill>
                            <a:srgbClr val="000000"/>
                          </a:solidFill>
                          <a:latin typeface="Times New Roman"/>
                        </a:rPr>
                        <a:t>    </a:t>
                      </a:r>
                      <a:r>
                        <a:rPr sz="1100" b="0" i="1">
                          <a:solidFill>
                            <a:srgbClr val="000000"/>
                          </a:solidFill>
                          <a:latin typeface="Calibri"/>
                        </a:rPr>
                        <a:t>Israel</a:t>
                      </a:r>
                      <a:endParaRPr sz="1100"/>
                    </a:p>
                  </a:txBody>
                  <a:tcPr marL="1028700" marR="9525" marT="9525" marB="0" anchor="ctr"/>
                </a:tc>
              </a:tr>
              <a:tr h="175260">
                <a:tc>
                  <a:txBody>
                    <a:bodyPr wrap="square"/>
                    <a:lstStyle/>
                    <a:p>
                      <a:pPr algn="l"/>
                      <a:r>
                        <a:rPr sz="1100" b="0" i="1">
                          <a:solidFill>
                            <a:srgbClr val="000000"/>
                          </a:solidFill>
                          <a:latin typeface="Calibri"/>
                        </a:rPr>
                        <a:t>6.5.6.5.</a:t>
                      </a:r>
                      <a:r>
                        <a:rPr sz="700" b="0" i="1">
                          <a:solidFill>
                            <a:srgbClr val="000000"/>
                          </a:solidFill>
                          <a:latin typeface="Times New Roman"/>
                        </a:rPr>
                        <a:t>    </a:t>
                      </a:r>
                      <a:r>
                        <a:rPr sz="1100" b="0" i="1">
                          <a:solidFill>
                            <a:srgbClr val="000000"/>
                          </a:solidFill>
                          <a:latin typeface="Calibri"/>
                        </a:rPr>
                        <a:t>Rest of GCC</a:t>
                      </a:r>
                      <a:endParaRPr sz="1100"/>
                    </a:p>
                  </a:txBody>
                  <a:tcPr marL="1028700" marR="9525" marT="9525" marB="0" anchor="ctr"/>
                </a:tc>
              </a:tr>
              <a:tr h="175260">
                <a:tc>
                  <a:txBody>
                    <a:bodyPr wrap="square"/>
                    <a:lstStyle/>
                    <a:p>
                      <a:pPr algn="l"/>
                      <a:r>
                        <a:rPr sz="1100" b="0" i="1">
                          <a:solidFill>
                            <a:srgbClr val="000000"/>
                          </a:solidFill>
                          <a:latin typeface="Calibri"/>
                        </a:rPr>
                        <a:t>6.5.6.6.</a:t>
                      </a:r>
                      <a:r>
                        <a:rPr sz="700" b="0" i="1">
                          <a:solidFill>
                            <a:srgbClr val="000000"/>
                          </a:solidFill>
                          <a:latin typeface="Times New Roman"/>
                        </a:rPr>
                        <a:t>    </a:t>
                      </a:r>
                      <a:r>
                        <a:rPr sz="1100" b="0" i="1">
                          <a:solidFill>
                            <a:srgbClr val="000000"/>
                          </a:solidFill>
                          <a:latin typeface="Calibri"/>
                        </a:rPr>
                        <a:t>South Africa</a:t>
                      </a:r>
                      <a:endParaRPr sz="1100"/>
                    </a:p>
                  </a:txBody>
                  <a:tcPr marL="1028700" marR="9525" marT="9525" marB="0" anchor="ctr"/>
                </a:tc>
              </a:tr>
              <a:tr h="175260">
                <a:tc>
                  <a:txBody>
                    <a:bodyPr wrap="square"/>
                    <a:lstStyle/>
                    <a:p>
                      <a:pPr algn="l"/>
                      <a:r>
                        <a:rPr sz="1100" b="0" i="1">
                          <a:solidFill>
                            <a:srgbClr val="000000"/>
                          </a:solidFill>
                          <a:latin typeface="Calibri"/>
                        </a:rPr>
                        <a:t>6.5.6.7.</a:t>
                      </a:r>
                      <a:r>
                        <a:rPr sz="700" b="0" i="1">
                          <a:solidFill>
                            <a:srgbClr val="000000"/>
                          </a:solidFill>
                          <a:latin typeface="Times New Roman"/>
                        </a:rPr>
                        <a:t>    </a:t>
                      </a:r>
                      <a:r>
                        <a:rPr sz="1100" b="0" i="1">
                          <a:solidFill>
                            <a:srgbClr val="000000"/>
                          </a:solidFill>
                          <a:latin typeface="Calibri"/>
                        </a:rPr>
                        <a:t>Rest if MEA</a:t>
                      </a:r>
                      <a:endParaRPr sz="1100"/>
                    </a:p>
                  </a:txBody>
                  <a:tcPr marL="1028700" marR="9525" marT="9525" marB="0" anchor="ctr"/>
                </a:tc>
              </a:tr>
              <a:tr h="350520">
                <a:tc>
                  <a:txBody>
                    <a:bodyPr wrap="square"/>
                    <a:lstStyle/>
                    <a:p>
                      <a:pPr algn="l"/>
                      <a:r>
                        <a:rPr sz="1100" b="0" i="1">
                          <a:solidFill>
                            <a:srgbClr val="EE0000"/>
                          </a:solidFill>
                          <a:latin typeface="Calibri"/>
                        </a:rPr>
                        <a:t>Note: Value &amp; Volume (US$ Mn / UNITS) for all segments will be provided for each region/ Country</a:t>
                      </a:r>
                      <a:endParaRPr sz="1100"/>
                    </a:p>
                  </a:txBody>
                  <a:tcPr marL="9525" marR="9525" marT="9525" marB="0" anchor="ctr"/>
                </a:tc>
              </a:tr>
              <a:tr h="175260">
                <a:tc>
                  <a:txBody>
                    <a:bodyPr wrap="square"/>
                    <a:lstStyle/>
                    <a:p>
                      <a:pPr algn="l"/>
                      <a:r>
                        <a:rPr sz="1100" b="1" i="0">
                          <a:solidFill>
                            <a:srgbClr val="000000"/>
                          </a:solidFill>
                          <a:latin typeface="Calibri"/>
                        </a:rPr>
                        <a:t>7.</a:t>
                      </a:r>
                      <a:r>
                        <a:rPr sz="700" b="1" i="0">
                          <a:solidFill>
                            <a:srgbClr val="000000"/>
                          </a:solidFill>
                          <a:latin typeface="Times New Roman"/>
                        </a:rPr>
                        <a:t>       </a:t>
                      </a:r>
                      <a:r>
                        <a:rPr sz="1100" b="1" i="0">
                          <a:solidFill>
                            <a:srgbClr val="000000"/>
                          </a:solidFill>
                          <a:latin typeface="Calibri"/>
                        </a:rPr>
                        <a:t>Cross-sectional Assessment</a:t>
                      </a:r>
                      <a:endParaRPr sz="1100"/>
                    </a:p>
                  </a:txBody>
                  <a:tcPr marL="171450" marR="9525" marT="9525" marB="0" anchor="ctr"/>
                </a:tc>
              </a:tr>
              <a:tr h="175260">
                <a:tc>
                  <a:txBody>
                    <a:bodyPr wrap="square"/>
                    <a:lstStyle/>
                    <a:p>
                      <a:pPr algn="l"/>
                      <a:r>
                        <a:rPr sz="1100" b="0" i="0">
                          <a:solidFill>
                            <a:srgbClr val="0070C0"/>
                          </a:solidFill>
                          <a:latin typeface="Calibri"/>
                        </a:rPr>
                        <a:t>7.1.</a:t>
                      </a:r>
                      <a:r>
                        <a:rPr sz="700" b="0" i="0">
                          <a:solidFill>
                            <a:srgbClr val="0070C0"/>
                          </a:solidFill>
                          <a:latin typeface="Times New Roman"/>
                        </a:rPr>
                        <a:t>    </a:t>
                      </a:r>
                      <a:r>
                        <a:rPr sz="1100" b="0" i="0">
                          <a:solidFill>
                            <a:srgbClr val="0070C0"/>
                          </a:solidFill>
                          <a:latin typeface="Calibri"/>
                        </a:rPr>
                        <a:t>Product Type × End-Use Industry</a:t>
                      </a:r>
                      <a:endParaRPr sz="1100"/>
                    </a:p>
                  </a:txBody>
                  <a:tcPr marL="428625" marR="9525" marT="9525" marB="0" anchor="ctr"/>
                </a:tc>
              </a:tr>
              <a:tr h="175260">
                <a:tc>
                  <a:txBody>
                    <a:bodyPr wrap="square"/>
                    <a:lstStyle/>
                    <a:p>
                      <a:pPr algn="l"/>
                      <a:r>
                        <a:rPr sz="1100" b="0" i="0">
                          <a:solidFill>
                            <a:srgbClr val="0070C0"/>
                          </a:solidFill>
                          <a:latin typeface="Calibri"/>
                        </a:rPr>
                        <a:t>7.2.</a:t>
                      </a:r>
                      <a:r>
                        <a:rPr sz="700" b="0" i="0">
                          <a:solidFill>
                            <a:srgbClr val="0070C0"/>
                          </a:solidFill>
                          <a:latin typeface="Times New Roman"/>
                        </a:rPr>
                        <a:t>    </a:t>
                      </a:r>
                      <a:r>
                        <a:rPr sz="1100" b="0" i="0">
                          <a:solidFill>
                            <a:srgbClr val="0070C0"/>
                          </a:solidFill>
                          <a:latin typeface="Calibri"/>
                        </a:rPr>
                        <a:t>End-Use Industry × Material</a:t>
                      </a:r>
                      <a:endParaRPr sz="1100"/>
                    </a:p>
                  </a:txBody>
                  <a:tcPr marL="428625" marR="9525" marT="9525" marB="0" anchor="ctr"/>
                </a:tc>
              </a:tr>
              <a:tr h="175260">
                <a:tc>
                  <a:txBody>
                    <a:bodyPr wrap="square"/>
                    <a:lstStyle/>
                    <a:p>
                      <a:pPr algn="l"/>
                      <a:r>
                        <a:rPr sz="1100" b="0" i="1">
                          <a:solidFill>
                            <a:srgbClr val="EE0000"/>
                          </a:solidFill>
                          <a:latin typeface="Calibri"/>
                        </a:rPr>
                        <a:t>Note: Cross Sectional Assessment shall be provided on custom request</a:t>
                      </a:r>
                      <a:endParaRPr sz="1100"/>
                    </a:p>
                  </a:txBody>
                  <a:tcPr marL="9525" marR="9525" marT="9525" marB="0" anchor="ctr"/>
                </a:tc>
              </a:tr>
              <a:tr h="175260">
                <a:tc>
                  <a:txBody>
                    <a:bodyPr wrap="square"/>
                    <a:lstStyle/>
                    <a:p>
                      <a:pPr algn="l"/>
                      <a:r>
                        <a:rPr sz="1100" b="1" i="0">
                          <a:solidFill>
                            <a:srgbClr val="000000"/>
                          </a:solidFill>
                          <a:latin typeface="Calibri"/>
                        </a:rPr>
                        <a:t>Section 2: Regional and Country Market Outlook</a:t>
                      </a:r>
                      <a:endParaRPr sz="1100"/>
                    </a:p>
                  </a:txBody>
                  <a:tcPr marL="9525" marR="9525" marT="9525" marB="0" anchor="ctr"/>
                </a:tc>
              </a:tr>
              <a:tr h="175260">
                <a:tc>
                  <a:txBody>
                    <a:bodyPr wrap="square"/>
                    <a:lstStyle/>
                    <a:p>
                      <a:pPr algn="l"/>
                      <a:r>
                        <a:rPr sz="1100" b="1" i="0">
                          <a:solidFill>
                            <a:srgbClr val="000000"/>
                          </a:solidFill>
                          <a:latin typeface="Calibri"/>
                        </a:rPr>
                        <a:t>8.</a:t>
                      </a:r>
                      <a:r>
                        <a:rPr sz="700" b="1" i="0">
                          <a:solidFill>
                            <a:srgbClr val="000000"/>
                          </a:solidFill>
                          <a:latin typeface="Times New Roman"/>
                        </a:rPr>
                        <a:t>       </a:t>
                      </a:r>
                      <a:r>
                        <a:rPr sz="1100" b="1" i="0">
                          <a:solidFill>
                            <a:srgbClr val="000000"/>
                          </a:solidFill>
                          <a:latin typeface="Calibri"/>
                        </a:rPr>
                        <a:t>North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8.1.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8.2.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8.3.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8.4.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8.4.1.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8.4.2.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8.4.3.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9.</a:t>
                      </a:r>
                      <a:r>
                        <a:rPr sz="700" b="1" i="0">
                          <a:solidFill>
                            <a:srgbClr val="000000"/>
                          </a:solidFill>
                          <a:latin typeface="Times New Roman"/>
                        </a:rPr>
                        <a:t>       </a:t>
                      </a:r>
                      <a:r>
                        <a:rPr sz="1100" b="1" i="0">
                          <a:solidFill>
                            <a:srgbClr val="000000"/>
                          </a:solidFill>
                          <a:latin typeface="Calibri"/>
                        </a:rPr>
                        <a:t>Latin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9.1.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9.2.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9.3.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9.4.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9.4.1.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9.4.2.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9.4.3.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10.</a:t>
                      </a:r>
                      <a:r>
                        <a:rPr sz="700" b="1" i="0">
                          <a:solidFill>
                            <a:srgbClr val="000000"/>
                          </a:solidFill>
                          <a:latin typeface="Times New Roman"/>
                        </a:rPr>
                        <a:t>    </a:t>
                      </a:r>
                      <a:r>
                        <a:rPr sz="1100" b="1" i="0">
                          <a:solidFill>
                            <a:srgbClr val="000000"/>
                          </a:solidFill>
                          <a:latin typeface="Calibri"/>
                        </a:rPr>
                        <a:t>Europe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10.1.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10.2.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10.3.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10.4.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10.4.1.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10.4.2.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10.4.3.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11.</a:t>
                      </a:r>
                      <a:r>
                        <a:rPr sz="700" b="1" i="0">
                          <a:solidFill>
                            <a:srgbClr val="000000"/>
                          </a:solidFill>
                          <a:latin typeface="Times New Roman"/>
                        </a:rPr>
                        <a:t>    </a:t>
                      </a:r>
                      <a:r>
                        <a:rPr sz="1100" b="1" i="0">
                          <a:solidFill>
                            <a:srgbClr val="000000"/>
                          </a:solidFill>
                          <a:latin typeface="Calibri"/>
                        </a:rPr>
                        <a:t>East Asia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11.1.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11.2.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11.3.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11.4.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11.4.1.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11.4.2.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11.4.3.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12.</a:t>
                      </a:r>
                      <a:r>
                        <a:rPr sz="700" b="1" i="0">
                          <a:solidFill>
                            <a:srgbClr val="000000"/>
                          </a:solidFill>
                          <a:latin typeface="Times New Roman"/>
                        </a:rPr>
                        <a:t>    </a:t>
                      </a:r>
                      <a:r>
                        <a:rPr sz="1100" b="1" i="0">
                          <a:solidFill>
                            <a:srgbClr val="000000"/>
                          </a:solidFill>
                          <a:latin typeface="Calibri"/>
                        </a:rPr>
                        <a:t>South Asia &amp; Pacific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12.4.1.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12.4.2.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12.4.3.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13.</a:t>
                      </a:r>
                      <a:r>
                        <a:rPr sz="700" b="1" i="0">
                          <a:solidFill>
                            <a:srgbClr val="000000"/>
                          </a:solidFill>
                          <a:latin typeface="Times New Roman"/>
                        </a:rPr>
                        <a:t>    </a:t>
                      </a:r>
                      <a:r>
                        <a:rPr sz="1100" b="1" i="0">
                          <a:solidFill>
                            <a:srgbClr val="000000"/>
                          </a:solidFill>
                          <a:latin typeface="Calibri"/>
                        </a:rPr>
                        <a:t>Middle East &amp; Africa Market Size (Value &amp; Volume) 2021–2036</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(5/6)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13.1.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13.2.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13.3.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13.4.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13.4.1.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13.4.2.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13.4.3.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Section 3: Pricing Assessment</a:t>
                      </a:r>
                      <a:endParaRPr sz="1100"/>
                    </a:p>
                  </a:txBody>
                  <a:tcPr marL="9525" marR="9525" marT="9525" marB="0" anchor="ctr"/>
                </a:tc>
              </a:tr>
              <a:tr h="175260">
                <a:tc>
                  <a:txBody>
                    <a:bodyPr wrap="square"/>
                    <a:lstStyle/>
                    <a:p>
                      <a:pPr algn="l"/>
                      <a:r>
                        <a:rPr sz="1100" b="1" i="0">
                          <a:solidFill>
                            <a:srgbClr val="000000"/>
                          </a:solidFill>
                          <a:latin typeface="Calibri"/>
                        </a:rPr>
                        <a:t>14.</a:t>
                      </a:r>
                      <a:r>
                        <a:rPr sz="700" b="1" i="0">
                          <a:solidFill>
                            <a:srgbClr val="000000"/>
                          </a:solidFill>
                          <a:latin typeface="Times New Roman"/>
                        </a:rPr>
                        <a:t>    </a:t>
                      </a:r>
                      <a:r>
                        <a:rPr sz="1100" b="1" i="0">
                          <a:solidFill>
                            <a:srgbClr val="000000"/>
                          </a:solidFill>
                          <a:latin typeface="Calibri"/>
                        </a:rPr>
                        <a:t>Global Pricing Analysis</a:t>
                      </a:r>
                      <a:endParaRPr sz="1100"/>
                    </a:p>
                  </a:txBody>
                  <a:tcPr marL="171450" marR="9525" marT="9525" marB="0" anchor="ctr"/>
                </a:tc>
              </a:tr>
              <a:tr h="175260">
                <a:tc>
                  <a:txBody>
                    <a:bodyPr wrap="square"/>
                    <a:lstStyle/>
                    <a:p>
                      <a:pPr algn="l"/>
                      <a:r>
                        <a:rPr sz="1100" b="0" i="0">
                          <a:solidFill>
                            <a:srgbClr val="0070C0"/>
                          </a:solidFill>
                          <a:latin typeface="Calibri"/>
                        </a:rPr>
                        <a:t>14.1.</a:t>
                      </a:r>
                      <a:r>
                        <a:rPr sz="700" b="0" i="0">
                          <a:solidFill>
                            <a:srgbClr val="0070C0"/>
                          </a:solidFill>
                          <a:latin typeface="Times New Roman"/>
                        </a:rPr>
                        <a:t>  </a:t>
                      </a:r>
                      <a:r>
                        <a:rPr sz="1100" b="0" i="0">
                          <a:solidFill>
                            <a:srgbClr val="0070C0"/>
                          </a:solidFill>
                          <a:latin typeface="Calibri"/>
                        </a:rPr>
                        <a:t>Regional Price Assessment</a:t>
                      </a:r>
                      <a:endParaRPr sz="1100"/>
                    </a:p>
                  </a:txBody>
                  <a:tcPr marL="428625" marR="9525" marT="9525" marB="0" anchor="ctr"/>
                </a:tc>
              </a:tr>
              <a:tr h="175260">
                <a:tc>
                  <a:txBody>
                    <a:bodyPr wrap="square"/>
                    <a:lstStyle/>
                    <a:p>
                      <a:pPr algn="l"/>
                      <a:r>
                        <a:rPr sz="1100" b="0" i="0">
                          <a:solidFill>
                            <a:srgbClr val="000000"/>
                          </a:solidFill>
                          <a:latin typeface="Calibri"/>
                        </a:rPr>
                        <a:t>14.1.1.</a:t>
                      </a:r>
                      <a:r>
                        <a:rPr sz="700" b="0" i="0">
                          <a:solidFill>
                            <a:srgbClr val="000000"/>
                          </a:solidFill>
                          <a:latin typeface="Times New Roman"/>
                        </a:rPr>
                        <a:t> </a:t>
                      </a:r>
                      <a:r>
                        <a:rPr sz="1100" b="0" i="0">
                          <a:solidFill>
                            <a:srgbClr val="000000"/>
                          </a:solidFill>
                          <a:latin typeface="Calibri"/>
                        </a:rPr>
                        <a:t>Manufacturer Level Pricing</a:t>
                      </a:r>
                      <a:endParaRPr sz="1100"/>
                    </a:p>
                  </a:txBody>
                  <a:tcPr marL="771525" marR="9525" marT="9525" marB="0" anchor="ctr"/>
                </a:tc>
              </a:tr>
              <a:tr h="175260">
                <a:tc>
                  <a:txBody>
                    <a:bodyPr wrap="square"/>
                    <a:lstStyle/>
                    <a:p>
                      <a:pPr algn="l"/>
                      <a:r>
                        <a:rPr sz="1100" b="0" i="0">
                          <a:solidFill>
                            <a:srgbClr val="000000"/>
                          </a:solidFill>
                          <a:latin typeface="Calibri"/>
                        </a:rPr>
                        <a:t>14.1.2.</a:t>
                      </a:r>
                      <a:r>
                        <a:rPr sz="700" b="0" i="0">
                          <a:solidFill>
                            <a:srgbClr val="000000"/>
                          </a:solidFill>
                          <a:latin typeface="Times New Roman"/>
                        </a:rPr>
                        <a:t> </a:t>
                      </a:r>
                      <a:r>
                        <a:rPr sz="1100" b="0" i="0">
                          <a:solidFill>
                            <a:srgbClr val="000000"/>
                          </a:solidFill>
                          <a:latin typeface="Calibri"/>
                        </a:rPr>
                        <a:t>Distributor Level Pricing</a:t>
                      </a:r>
                      <a:endParaRPr sz="1100"/>
                    </a:p>
                  </a:txBody>
                  <a:tcPr marL="771525" marR="9525" marT="9525" marB="0" anchor="ctr"/>
                </a:tc>
              </a:tr>
              <a:tr h="175260">
                <a:tc>
                  <a:txBody>
                    <a:bodyPr wrap="square"/>
                    <a:lstStyle/>
                    <a:p>
                      <a:pPr algn="l"/>
                      <a:r>
                        <a:rPr sz="1100" b="0" i="0">
                          <a:solidFill>
                            <a:srgbClr val="000000"/>
                          </a:solidFill>
                          <a:latin typeface="Calibri"/>
                        </a:rPr>
                        <a:t>14.1.3.</a:t>
                      </a:r>
                      <a:r>
                        <a:rPr sz="700" b="0" i="0">
                          <a:solidFill>
                            <a:srgbClr val="000000"/>
                          </a:solidFill>
                          <a:latin typeface="Times New Roman"/>
                        </a:rPr>
                        <a:t> </a:t>
                      </a:r>
                      <a:r>
                        <a:rPr sz="1100" b="0" i="0">
                          <a:solidFill>
                            <a:srgbClr val="000000"/>
                          </a:solidFill>
                          <a:latin typeface="Calibri"/>
                        </a:rPr>
                        <a:t>Retail Pricing (where applicable)</a:t>
                      </a:r>
                      <a:endParaRPr sz="1100"/>
                    </a:p>
                  </a:txBody>
                  <a:tcPr marL="771525" marR="9525" marT="9525" marB="0" anchor="ctr"/>
                </a:tc>
              </a:tr>
              <a:tr h="175260">
                <a:tc>
                  <a:txBody>
                    <a:bodyPr wrap="square"/>
                    <a:lstStyle/>
                    <a:p>
                      <a:pPr algn="l"/>
                      <a:r>
                        <a:rPr sz="1100" b="0" i="0">
                          <a:solidFill>
                            <a:srgbClr val="0070C0"/>
                          </a:solidFill>
                          <a:latin typeface="Calibri"/>
                        </a:rPr>
                        <a:t>14.2.</a:t>
                      </a:r>
                      <a:r>
                        <a:rPr sz="700" b="0" i="0">
                          <a:solidFill>
                            <a:srgbClr val="0070C0"/>
                          </a:solidFill>
                          <a:latin typeface="Times New Roman"/>
                        </a:rPr>
                        <a:t>  </a:t>
                      </a:r>
                      <a:r>
                        <a:rPr sz="1100" b="0" i="0">
                          <a:solidFill>
                            <a:srgbClr val="0070C0"/>
                          </a:solidFill>
                          <a:latin typeface="Calibri"/>
                        </a:rPr>
                        <a:t>Segment-wise Price Comparison (Product Type vs Material)</a:t>
                      </a:r>
                      <a:endParaRPr sz="1100"/>
                    </a:p>
                  </a:txBody>
                  <a:tcPr marL="428625" marR="9525" marT="9525" marB="0" anchor="ctr"/>
                </a:tc>
              </a:tr>
              <a:tr h="175260">
                <a:tc>
                  <a:txBody>
                    <a:bodyPr wrap="square"/>
                    <a:lstStyle/>
                    <a:p>
                      <a:pPr algn="l"/>
                      <a:r>
                        <a:rPr sz="1100" b="0" i="0">
                          <a:solidFill>
                            <a:srgbClr val="0070C0"/>
                          </a:solidFill>
                          <a:latin typeface="Calibri"/>
                        </a:rPr>
                        <a:t>14.3.</a:t>
                      </a:r>
                      <a:r>
                        <a:rPr sz="700" b="0" i="0">
                          <a:solidFill>
                            <a:srgbClr val="0070C0"/>
                          </a:solidFill>
                          <a:latin typeface="Times New Roman"/>
                        </a:rPr>
                        <a:t>  </a:t>
                      </a:r>
                      <a:r>
                        <a:rPr sz="1100" b="0" i="0">
                          <a:solidFill>
                            <a:srgbClr val="0070C0"/>
                          </a:solidFill>
                          <a:latin typeface="Calibri"/>
                        </a:rPr>
                        <a:t>Country-wise Price Comparison (Product Type)</a:t>
                      </a:r>
                      <a:endParaRPr sz="1100"/>
                    </a:p>
                  </a:txBody>
                  <a:tcPr marL="428625" marR="9525" marT="9525" marB="0" anchor="ctr"/>
                </a:tc>
              </a:tr>
              <a:tr h="175260">
                <a:tc>
                  <a:txBody>
                    <a:bodyPr wrap="square"/>
                    <a:lstStyle/>
                    <a:p>
                      <a:pPr algn="l"/>
                      <a:r>
                        <a:rPr sz="1100" b="0" i="0">
                          <a:solidFill>
                            <a:srgbClr val="0070C0"/>
                          </a:solidFill>
                          <a:latin typeface="Calibri"/>
                        </a:rPr>
                        <a:t>14.4.</a:t>
                      </a:r>
                      <a:r>
                        <a:rPr sz="700" b="0" i="0">
                          <a:solidFill>
                            <a:srgbClr val="0070C0"/>
                          </a:solidFill>
                          <a:latin typeface="Times New Roman"/>
                        </a:rPr>
                        <a:t>  </a:t>
                      </a:r>
                      <a:r>
                        <a:rPr sz="1100" b="0" i="0">
                          <a:solidFill>
                            <a:srgbClr val="0070C0"/>
                          </a:solidFill>
                          <a:latin typeface="Calibri"/>
                        </a:rPr>
                        <a:t>Price Forecast till 2036</a:t>
                      </a:r>
                      <a:endParaRPr sz="1100"/>
                    </a:p>
                  </a:txBody>
                  <a:tcPr marL="428625" marR="9525" marT="9525" marB="0" anchor="ctr"/>
                </a:tc>
              </a:tr>
              <a:tr h="175260">
                <a:tc>
                  <a:txBody>
                    <a:bodyPr wrap="square"/>
                    <a:lstStyle/>
                    <a:p>
                      <a:pPr algn="l"/>
                      <a:r>
                        <a:rPr sz="1100" b="0" i="0">
                          <a:solidFill>
                            <a:srgbClr val="0070C0"/>
                          </a:solidFill>
                          <a:latin typeface="Calibri"/>
                        </a:rPr>
                        <a:t>14.5.</a:t>
                      </a:r>
                      <a:r>
                        <a:rPr sz="700" b="0" i="0">
                          <a:solidFill>
                            <a:srgbClr val="0070C0"/>
                          </a:solidFill>
                          <a:latin typeface="Times New Roman"/>
                        </a:rPr>
                        <a:t>  </a:t>
                      </a:r>
                      <a:r>
                        <a:rPr sz="1100" b="0" i="0">
                          <a:solidFill>
                            <a:srgbClr val="0070C0"/>
                          </a:solidFill>
                          <a:latin typeface="Calibri"/>
                        </a:rPr>
                        <a:t>Factors Impacting Pricing</a:t>
                      </a:r>
                      <a:endParaRPr sz="1100"/>
                    </a:p>
                  </a:txBody>
                  <a:tcPr marL="428625" marR="9525" marT="9525" marB="0" anchor="ctr"/>
                </a:tc>
              </a:tr>
              <a:tr h="175260">
                <a:tc>
                  <a:txBody>
                    <a:bodyPr wrap="square"/>
                    <a:lstStyle/>
                    <a:p>
                      <a:pPr algn="l"/>
                      <a:r>
                        <a:rPr sz="1100" b="0" i="0">
                          <a:solidFill>
                            <a:srgbClr val="0070C0"/>
                          </a:solidFill>
                          <a:latin typeface="Calibri"/>
                        </a:rPr>
                        <a:t>14.6.</a:t>
                      </a:r>
                      <a:r>
                        <a:rPr sz="700" b="0" i="0">
                          <a:solidFill>
                            <a:srgbClr val="0070C0"/>
                          </a:solidFill>
                          <a:latin typeface="Times New Roman"/>
                        </a:rPr>
                        <a:t>  </a:t>
                      </a:r>
                      <a:r>
                        <a:rPr sz="1100" b="0" i="0">
                          <a:solidFill>
                            <a:srgbClr val="0070C0"/>
                          </a:solidFill>
                          <a:latin typeface="Calibri"/>
                        </a:rPr>
                        <a:t>Competitor Pricing Strategies</a:t>
                      </a:r>
                      <a:endParaRPr sz="1100"/>
                    </a:p>
                  </a:txBody>
                  <a:tcPr marL="428625" marR="9525" marT="9525" marB="0" anchor="ctr"/>
                </a:tc>
              </a:tr>
              <a:tr h="175260">
                <a:tc>
                  <a:txBody>
                    <a:bodyPr wrap="square"/>
                    <a:lstStyle/>
                    <a:p>
                      <a:pPr algn="l"/>
                      <a:r>
                        <a:rPr sz="1100" b="1" i="0">
                          <a:solidFill>
                            <a:srgbClr val="000000"/>
                          </a:solidFill>
                          <a:latin typeface="Calibri"/>
                        </a:rPr>
                        <a:t>Section 4: Market Dynamics</a:t>
                      </a:r>
                      <a:endParaRPr sz="1100"/>
                    </a:p>
                  </a:txBody>
                  <a:tcPr marL="9525" marR="9525" marT="9525" marB="0" anchor="ctr"/>
                </a:tc>
              </a:tr>
              <a:tr h="175260">
                <a:tc>
                  <a:txBody>
                    <a:bodyPr wrap="square"/>
                    <a:lstStyle/>
                    <a:p>
                      <a:pPr algn="l"/>
                      <a:r>
                        <a:rPr sz="1100" b="1" i="0">
                          <a:solidFill>
                            <a:srgbClr val="000000"/>
                          </a:solidFill>
                          <a:latin typeface="Calibri"/>
                        </a:rPr>
                        <a:t>15.</a:t>
                      </a:r>
                      <a:r>
                        <a:rPr sz="700" b="1" i="0">
                          <a:solidFill>
                            <a:srgbClr val="000000"/>
                          </a:solidFill>
                          <a:latin typeface="Times New Roman"/>
                        </a:rPr>
                        <a:t>    </a:t>
                      </a:r>
                      <a:r>
                        <a:rPr sz="1100" b="1" i="0">
                          <a:solidFill>
                            <a:srgbClr val="000000"/>
                          </a:solidFill>
                          <a:latin typeface="Calibri"/>
                        </a:rPr>
                        <a:t>Innovation Tracker</a:t>
                      </a:r>
                      <a:endParaRPr sz="1100"/>
                    </a:p>
                  </a:txBody>
                  <a:tcPr marL="171450" marR="9525" marT="9525" marB="0" anchor="ctr"/>
                </a:tc>
              </a:tr>
              <a:tr h="175260">
                <a:tc>
                  <a:txBody>
                    <a:bodyPr wrap="square"/>
                    <a:lstStyle/>
                    <a:p>
                      <a:pPr algn="l"/>
                      <a:r>
                        <a:rPr sz="1100" b="0" i="0">
                          <a:solidFill>
                            <a:srgbClr val="0070C0"/>
                          </a:solidFill>
                          <a:latin typeface="Calibri"/>
                        </a:rPr>
                        <a:t>15.1.</a:t>
                      </a:r>
                      <a:r>
                        <a:rPr sz="700" b="0" i="0">
                          <a:solidFill>
                            <a:srgbClr val="0070C0"/>
                          </a:solidFill>
                          <a:latin typeface="Times New Roman"/>
                        </a:rPr>
                        <a:t>  </a:t>
                      </a:r>
                      <a:r>
                        <a:rPr sz="1100" b="0" i="0">
                          <a:solidFill>
                            <a:srgbClr val="0070C0"/>
                          </a:solidFill>
                          <a:latin typeface="Calibri"/>
                        </a:rPr>
                        <a:t>Major Deals and Strategic Alliance</a:t>
                      </a:r>
                      <a:endParaRPr sz="1100"/>
                    </a:p>
                  </a:txBody>
                  <a:tcPr marL="428625" marR="9525" marT="9525" marB="0" anchor="ctr"/>
                </a:tc>
              </a:tr>
              <a:tr h="175260">
                <a:tc>
                  <a:txBody>
                    <a:bodyPr wrap="square"/>
                    <a:lstStyle/>
                    <a:p>
                      <a:pPr algn="l"/>
                      <a:r>
                        <a:rPr sz="1100" b="0" i="0">
                          <a:solidFill>
                            <a:srgbClr val="000000"/>
                          </a:solidFill>
                          <a:latin typeface="Calibri"/>
                        </a:rPr>
                        <a:t>15.1.1.</a:t>
                      </a:r>
                      <a:r>
                        <a:rPr sz="700" b="0" i="0">
                          <a:solidFill>
                            <a:srgbClr val="000000"/>
                          </a:solidFill>
                          <a:latin typeface="Times New Roman"/>
                        </a:rPr>
                        <a:t> </a:t>
                      </a:r>
                      <a:r>
                        <a:rPr sz="1100" b="0" i="0">
                          <a:solidFill>
                            <a:srgbClr val="000000"/>
                          </a:solidFill>
                          <a:latin typeface="Calibri"/>
                        </a:rPr>
                        <a:t>Joint Ventures, M&amp;A, Licensing &amp; Partnerships</a:t>
                      </a:r>
                      <a:endParaRPr sz="1100"/>
                    </a:p>
                  </a:txBody>
                  <a:tcPr marL="771525" marR="9525" marT="9525" marB="0" anchor="ctr"/>
                </a:tc>
              </a:tr>
              <a:tr h="175260">
                <a:tc>
                  <a:txBody>
                    <a:bodyPr wrap="square"/>
                    <a:lstStyle/>
                    <a:p>
                      <a:pPr algn="l"/>
                      <a:r>
                        <a:rPr sz="1100" b="0" i="0">
                          <a:solidFill>
                            <a:srgbClr val="000000"/>
                          </a:solidFill>
                          <a:latin typeface="Calibri"/>
                        </a:rPr>
                        <a:t>15.1.2.</a:t>
                      </a:r>
                      <a:r>
                        <a:rPr sz="700" b="0" i="0">
                          <a:solidFill>
                            <a:srgbClr val="000000"/>
                          </a:solidFill>
                          <a:latin typeface="Times New Roman"/>
                        </a:rPr>
                        <a:t> </a:t>
                      </a:r>
                      <a:r>
                        <a:rPr sz="1100" b="0" i="0">
                          <a:solidFill>
                            <a:srgbClr val="000000"/>
                          </a:solidFill>
                          <a:latin typeface="Calibri"/>
                        </a:rPr>
                        <a:t>Technology Collaboration</a:t>
                      </a:r>
                      <a:endParaRPr sz="1100"/>
                    </a:p>
                  </a:txBody>
                  <a:tcPr marL="771525" marR="9525" marT="9525" marB="0" anchor="ctr"/>
                </a:tc>
              </a:tr>
              <a:tr h="175260">
                <a:tc>
                  <a:txBody>
                    <a:bodyPr wrap="square"/>
                    <a:lstStyle/>
                    <a:p>
                      <a:pPr algn="l"/>
                      <a:r>
                        <a:rPr sz="1100" b="0" i="0">
                          <a:solidFill>
                            <a:srgbClr val="000000"/>
                          </a:solidFill>
                          <a:latin typeface="Calibri"/>
                        </a:rPr>
                        <a:t>15.1.3.</a:t>
                      </a:r>
                      <a:r>
                        <a:rPr sz="700" b="0" i="0">
                          <a:solidFill>
                            <a:srgbClr val="000000"/>
                          </a:solidFill>
                          <a:latin typeface="Times New Roman"/>
                        </a:rPr>
                        <a:t> </a:t>
                      </a:r>
                      <a:r>
                        <a:rPr sz="1100" b="0" i="0">
                          <a:solidFill>
                            <a:srgbClr val="000000"/>
                          </a:solidFill>
                          <a:latin typeface="Calibri"/>
                        </a:rPr>
                        <a:t>Strategic Divestments/ Investments</a:t>
                      </a:r>
                      <a:endParaRPr sz="1100"/>
                    </a:p>
                  </a:txBody>
                  <a:tcPr marL="771525" marR="9525" marT="9525" marB="0" anchor="ctr"/>
                </a:tc>
              </a:tr>
              <a:tr h="175260">
                <a:tc>
                  <a:txBody>
                    <a:bodyPr wrap="square"/>
                    <a:lstStyle/>
                    <a:p>
                      <a:pPr algn="l"/>
                      <a:r>
                        <a:rPr sz="1100" b="0" i="0">
                          <a:solidFill>
                            <a:srgbClr val="0070C0"/>
                          </a:solidFill>
                          <a:latin typeface="Calibri"/>
                        </a:rPr>
                        <a:t>15.2.</a:t>
                      </a:r>
                      <a:r>
                        <a:rPr sz="700" b="0" i="0">
                          <a:solidFill>
                            <a:srgbClr val="0070C0"/>
                          </a:solidFill>
                          <a:latin typeface="Times New Roman"/>
                        </a:rPr>
                        <a:t>  </a:t>
                      </a:r>
                      <a:r>
                        <a:rPr sz="1100" b="0" i="0">
                          <a:solidFill>
                            <a:srgbClr val="0070C0"/>
                          </a:solidFill>
                          <a:latin typeface="Calibri"/>
                        </a:rPr>
                        <a:t>Product Launches &amp; Development</a:t>
                      </a:r>
                      <a:endParaRPr sz="1100"/>
                    </a:p>
                  </a:txBody>
                  <a:tcPr marL="428625" marR="9525" marT="9525" marB="0" anchor="ctr"/>
                </a:tc>
              </a:tr>
              <a:tr h="175260">
                <a:tc>
                  <a:txBody>
                    <a:bodyPr wrap="square"/>
                    <a:lstStyle/>
                    <a:p>
                      <a:pPr algn="l"/>
                      <a:r>
                        <a:rPr sz="1100" b="1" i="0">
                          <a:solidFill>
                            <a:srgbClr val="000000"/>
                          </a:solidFill>
                          <a:latin typeface="Calibri"/>
                        </a:rPr>
                        <a:t>16.</a:t>
                      </a:r>
                      <a:r>
                        <a:rPr sz="700" b="1" i="0">
                          <a:solidFill>
                            <a:srgbClr val="000000"/>
                          </a:solidFill>
                          <a:latin typeface="Times New Roman"/>
                        </a:rPr>
                        <a:t>    </a:t>
                      </a:r>
                      <a:r>
                        <a:rPr sz="1100" b="1" i="0">
                          <a:solidFill>
                            <a:srgbClr val="000000"/>
                          </a:solidFill>
                          <a:latin typeface="Calibri"/>
                        </a:rPr>
                        <a:t>Stakeholder Perspectives – Manufacturer, Customer &amp; Distributor Insights</a:t>
                      </a:r>
                      <a:endParaRPr sz="1100"/>
                    </a:p>
                  </a:txBody>
                  <a:tcPr marL="171450" marR="9525" marT="9525" marB="0" anchor="ctr"/>
                </a:tc>
              </a:tr>
              <a:tr h="175260">
                <a:tc>
                  <a:txBody>
                    <a:bodyPr wrap="square"/>
                    <a:lstStyle/>
                    <a:p>
                      <a:pPr algn="l"/>
                      <a:r>
                        <a:rPr sz="1100" b="0" i="0">
                          <a:solidFill>
                            <a:srgbClr val="0070C0"/>
                          </a:solidFill>
                          <a:latin typeface="Calibri"/>
                        </a:rPr>
                        <a:t>16.1.</a:t>
                      </a:r>
                      <a:r>
                        <a:rPr sz="700" b="0" i="0">
                          <a:solidFill>
                            <a:srgbClr val="0070C0"/>
                          </a:solidFill>
                          <a:latin typeface="Times New Roman"/>
                        </a:rPr>
                        <a:t>  </a:t>
                      </a:r>
                      <a:r>
                        <a:rPr sz="1100" b="0" i="0">
                          <a:solidFill>
                            <a:srgbClr val="0070C0"/>
                          </a:solidFill>
                          <a:latin typeface="Calibri"/>
                        </a:rPr>
                        <a:t>Stakeholder Insights</a:t>
                      </a:r>
                      <a:endParaRPr sz="1100"/>
                    </a:p>
                  </a:txBody>
                  <a:tcPr marL="428625" marR="9525" marT="9525" marB="0" anchor="ctr"/>
                </a:tc>
              </a:tr>
              <a:tr h="175260">
                <a:tc>
                  <a:txBody>
                    <a:bodyPr wrap="square"/>
                    <a:lstStyle/>
                    <a:p>
                      <a:pPr algn="l"/>
                      <a:r>
                        <a:rPr sz="1100" b="0" i="0">
                          <a:solidFill>
                            <a:srgbClr val="000000"/>
                          </a:solidFill>
                          <a:latin typeface="Calibri"/>
                        </a:rPr>
                        <a:t>16.1.1.</a:t>
                      </a:r>
                      <a:r>
                        <a:rPr sz="700" b="0" i="0">
                          <a:solidFill>
                            <a:srgbClr val="000000"/>
                          </a:solidFill>
                          <a:latin typeface="Times New Roman"/>
                        </a:rPr>
                        <a:t> </a:t>
                      </a:r>
                      <a:r>
                        <a:rPr sz="1100" b="0" i="0">
                          <a:solidFill>
                            <a:srgbClr val="000000"/>
                          </a:solidFill>
                          <a:latin typeface="Calibri"/>
                        </a:rPr>
                        <a:t>Manufacturers</a:t>
                      </a:r>
                      <a:endParaRPr sz="1100"/>
                    </a:p>
                  </a:txBody>
                  <a:tcPr marL="771525" marR="9525" marT="9525" marB="0" anchor="ctr"/>
                </a:tc>
              </a:tr>
              <a:tr h="175260">
                <a:tc>
                  <a:txBody>
                    <a:bodyPr wrap="square"/>
                    <a:lstStyle/>
                    <a:p>
                      <a:pPr algn="l"/>
                      <a:r>
                        <a:rPr sz="1100" b="0" i="0">
                          <a:solidFill>
                            <a:srgbClr val="000000"/>
                          </a:solidFill>
                          <a:latin typeface="Calibri"/>
                        </a:rPr>
                        <a:t>16.1.2.</a:t>
                      </a:r>
                      <a:r>
                        <a:rPr sz="700" b="0" i="0">
                          <a:solidFill>
                            <a:srgbClr val="000000"/>
                          </a:solidFill>
                          <a:latin typeface="Times New Roman"/>
                        </a:rPr>
                        <a:t> </a:t>
                      </a:r>
                      <a:r>
                        <a:rPr sz="1100" b="0" i="0">
                          <a:solidFill>
                            <a:srgbClr val="000000"/>
                          </a:solidFill>
                          <a:latin typeface="Calibri"/>
                        </a:rPr>
                        <a:t>Customers</a:t>
                      </a:r>
                      <a:endParaRPr sz="1100"/>
                    </a:p>
                  </a:txBody>
                  <a:tcPr marL="771525" marR="9525" marT="9525" marB="0" anchor="ctr"/>
                </a:tc>
              </a:tr>
              <a:tr h="175260">
                <a:tc>
                  <a:txBody>
                    <a:bodyPr wrap="square"/>
                    <a:lstStyle/>
                    <a:p>
                      <a:pPr algn="l"/>
                      <a:r>
                        <a:rPr sz="1100" b="0" i="0">
                          <a:solidFill>
                            <a:srgbClr val="000000"/>
                          </a:solidFill>
                          <a:latin typeface="Calibri"/>
                        </a:rPr>
                        <a:t>16.1.3.</a:t>
                      </a:r>
                      <a:r>
                        <a:rPr sz="700" b="0" i="0">
                          <a:solidFill>
                            <a:srgbClr val="000000"/>
                          </a:solidFill>
                          <a:latin typeface="Times New Roman"/>
                        </a:rPr>
                        <a:t> </a:t>
                      </a:r>
                      <a:r>
                        <a:rPr sz="1100" b="0" i="0">
                          <a:solidFill>
                            <a:srgbClr val="000000"/>
                          </a:solidFill>
                          <a:latin typeface="Calibri"/>
                        </a:rPr>
                        <a:t>Distributors</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16.2.</a:t>
                      </a:r>
                      <a:r>
                        <a:rPr sz="700" b="0" i="0">
                          <a:solidFill>
                            <a:srgbClr val="0070C0"/>
                          </a:solidFill>
                          <a:latin typeface="Times New Roman"/>
                        </a:rPr>
                        <a:t>  </a:t>
                      </a:r>
                      <a:r>
                        <a:rPr sz="1100" b="0" i="0">
                          <a:solidFill>
                            <a:srgbClr val="0070C0"/>
                          </a:solidFill>
                          <a:latin typeface="Calibri"/>
                        </a:rPr>
                        <a:t>Country- Level Market Drivers</a:t>
                      </a:r>
                      <a:endParaRPr sz="1100"/>
                    </a:p>
                  </a:txBody>
                  <a:tcPr marL="428625" marR="9525" marT="9525" marB="0" anchor="ctr"/>
                </a:tc>
              </a:tr>
              <a:tr h="175260">
                <a:tc>
                  <a:txBody>
                    <a:bodyPr wrap="square"/>
                    <a:lstStyle/>
                    <a:p>
                      <a:pPr algn="l"/>
                      <a:r>
                        <a:rPr sz="1100" b="0" i="0">
                          <a:solidFill>
                            <a:srgbClr val="000000"/>
                          </a:solidFill>
                          <a:latin typeface="Calibri"/>
                        </a:rPr>
                        <a:t>16.2.1.</a:t>
                      </a:r>
                      <a:r>
                        <a:rPr sz="700" b="0" i="0">
                          <a:solidFill>
                            <a:srgbClr val="000000"/>
                          </a:solidFill>
                          <a:latin typeface="Times New Roman"/>
                        </a:rPr>
                        <a:t> </a:t>
                      </a:r>
                      <a:r>
                        <a:rPr sz="1100" b="0" i="0">
                          <a:solidFill>
                            <a:srgbClr val="000000"/>
                          </a:solidFill>
                          <a:latin typeface="Calibri"/>
                        </a:rPr>
                        <a:t>Supply Side Drivers</a:t>
                      </a:r>
                      <a:endParaRPr sz="1100"/>
                    </a:p>
                  </a:txBody>
                  <a:tcPr marL="771525" marR="9525" marT="9525" marB="0" anchor="ctr"/>
                </a:tc>
              </a:tr>
              <a:tr h="175260">
                <a:tc>
                  <a:txBody>
                    <a:bodyPr wrap="square"/>
                    <a:lstStyle/>
                    <a:p>
                      <a:pPr algn="l"/>
                      <a:r>
                        <a:rPr sz="1100" b="0" i="0">
                          <a:solidFill>
                            <a:srgbClr val="000000"/>
                          </a:solidFill>
                          <a:latin typeface="Calibri"/>
                        </a:rPr>
                        <a:t>16.2.2.</a:t>
                      </a:r>
                      <a:r>
                        <a:rPr sz="700" b="0" i="0">
                          <a:solidFill>
                            <a:srgbClr val="000000"/>
                          </a:solidFill>
                          <a:latin typeface="Times New Roman"/>
                        </a:rPr>
                        <a:t> </a:t>
                      </a:r>
                      <a:r>
                        <a:rPr sz="1100" b="0" i="0">
                          <a:solidFill>
                            <a:srgbClr val="000000"/>
                          </a:solidFill>
                          <a:latin typeface="Calibri"/>
                        </a:rPr>
                        <a:t>Demand Side drivers</a:t>
                      </a:r>
                      <a:endParaRPr sz="1100"/>
                    </a:p>
                  </a:txBody>
                  <a:tcPr marL="771525" marR="9525" marT="9525" marB="0" anchor="ctr"/>
                </a:tc>
              </a:tr>
              <a:tr h="175260">
                <a:tc>
                  <a:txBody>
                    <a:bodyPr wrap="square"/>
                    <a:lstStyle/>
                    <a:p>
                      <a:pPr algn="l"/>
                      <a:r>
                        <a:rPr sz="1100" b="0" i="0">
                          <a:solidFill>
                            <a:srgbClr val="000000"/>
                          </a:solidFill>
                          <a:latin typeface="Calibri"/>
                        </a:rPr>
                        <a:t>16.2.3.</a:t>
                      </a:r>
                      <a:r>
                        <a:rPr sz="700" b="0" i="0">
                          <a:solidFill>
                            <a:srgbClr val="000000"/>
                          </a:solidFill>
                          <a:latin typeface="Times New Roman"/>
                        </a:rPr>
                        <a:t> </a:t>
                      </a:r>
                      <a:r>
                        <a:rPr sz="1100" b="0" i="0">
                          <a:solidFill>
                            <a:srgbClr val="000000"/>
                          </a:solidFill>
                          <a:latin typeface="Calibri"/>
                        </a:rPr>
                        <a:t>Economic Side Drivers</a:t>
                      </a:r>
                      <a:endParaRPr sz="1100"/>
                    </a:p>
                  </a:txBody>
                  <a:tcPr marL="771525" marR="9525" marT="9525" marB="0" anchor="ctr"/>
                </a:tc>
              </a:tr>
              <a:tr h="175260">
                <a:tc>
                  <a:txBody>
                    <a:bodyPr wrap="square"/>
                    <a:lstStyle/>
                    <a:p>
                      <a:pPr algn="l"/>
                      <a:r>
                        <a:rPr sz="1100" b="0" i="0">
                          <a:solidFill>
                            <a:srgbClr val="0070C0"/>
                          </a:solidFill>
                          <a:latin typeface="Calibri"/>
                        </a:rPr>
                        <a:t>16.3.</a:t>
                      </a:r>
                      <a:r>
                        <a:rPr sz="700" b="0" i="0">
                          <a:solidFill>
                            <a:srgbClr val="0070C0"/>
                          </a:solidFill>
                          <a:latin typeface="Times New Roman"/>
                        </a:rPr>
                        <a:t>  </a:t>
                      </a:r>
                      <a:r>
                        <a:rPr sz="1100" b="0" i="0">
                          <a:solidFill>
                            <a:srgbClr val="0070C0"/>
                          </a:solidFill>
                          <a:latin typeface="Calibri"/>
                        </a:rPr>
                        <a:t>Country Level Restraints</a:t>
                      </a:r>
                      <a:endParaRPr sz="1100"/>
                    </a:p>
                  </a:txBody>
                  <a:tcPr marL="428625" marR="9525" marT="9525" marB="0" anchor="ctr"/>
                </a:tc>
              </a:tr>
              <a:tr h="175260">
                <a:tc>
                  <a:txBody>
                    <a:bodyPr wrap="square"/>
                    <a:lstStyle/>
                    <a:p>
                      <a:pPr algn="l"/>
                      <a:r>
                        <a:rPr sz="1100" b="0" i="0">
                          <a:solidFill>
                            <a:srgbClr val="0070C0"/>
                          </a:solidFill>
                          <a:latin typeface="Calibri"/>
                        </a:rPr>
                        <a:t>16.4.</a:t>
                      </a:r>
                      <a:r>
                        <a:rPr sz="700" b="0" i="0">
                          <a:solidFill>
                            <a:srgbClr val="0070C0"/>
                          </a:solidFill>
                          <a:latin typeface="Times New Roman"/>
                        </a:rPr>
                        <a:t>  </a:t>
                      </a:r>
                      <a:r>
                        <a:rPr sz="1100" b="0" i="0">
                          <a:solidFill>
                            <a:srgbClr val="0070C0"/>
                          </a:solidFill>
                          <a:latin typeface="Calibri"/>
                        </a:rPr>
                        <a:t>Country Level Opportunity</a:t>
                      </a:r>
                      <a:endParaRPr sz="1100"/>
                    </a:p>
                  </a:txBody>
                  <a:tcPr marL="428625" marR="9525" marT="9525" marB="0" anchor="ctr"/>
                </a:tc>
              </a:tr>
              <a:tr h="175260">
                <a:tc>
                  <a:txBody>
                    <a:bodyPr wrap="square"/>
                    <a:lstStyle/>
                    <a:p>
                      <a:pPr algn="l"/>
                      <a:r>
                        <a:rPr sz="1100" b="0" i="0">
                          <a:solidFill>
                            <a:srgbClr val="0070C0"/>
                          </a:solidFill>
                          <a:latin typeface="Calibri"/>
                        </a:rPr>
                        <a:t>16.5.</a:t>
                      </a:r>
                      <a:r>
                        <a:rPr sz="700" b="0" i="0">
                          <a:solidFill>
                            <a:srgbClr val="0070C0"/>
                          </a:solidFill>
                          <a:latin typeface="Times New Roman"/>
                        </a:rPr>
                        <a:t>  </a:t>
                      </a:r>
                      <a:r>
                        <a:rPr sz="1100" b="0" i="0">
                          <a:solidFill>
                            <a:srgbClr val="0070C0"/>
                          </a:solidFill>
                          <a:latin typeface="Calibri"/>
                        </a:rPr>
                        <a:t>Country Level Market Trends</a:t>
                      </a:r>
                      <a:endParaRPr sz="1100"/>
                    </a:p>
                  </a:txBody>
                  <a:tcPr marL="428625" marR="9525" marT="9525" marB="0" anchor="ctr"/>
                </a:tc>
              </a:tr>
              <a:tr h="175260">
                <a:tc>
                  <a:txBody>
                    <a:bodyPr wrap="square"/>
                    <a:lstStyle/>
                    <a:p>
                      <a:pPr algn="l"/>
                      <a:r>
                        <a:rPr sz="1100" b="0" i="0">
                          <a:solidFill>
                            <a:srgbClr val="0070C0"/>
                          </a:solidFill>
                          <a:latin typeface="Calibri"/>
                        </a:rPr>
                        <a:t>16.6.</a:t>
                      </a:r>
                      <a:r>
                        <a:rPr sz="700" b="0" i="0">
                          <a:solidFill>
                            <a:srgbClr val="0070C0"/>
                          </a:solidFill>
                          <a:latin typeface="Times New Roman"/>
                        </a:rPr>
                        <a:t>  </a:t>
                      </a:r>
                      <a:r>
                        <a:rPr sz="1100" b="0" i="0">
                          <a:solidFill>
                            <a:srgbClr val="0070C0"/>
                          </a:solidFill>
                          <a:latin typeface="Calibri"/>
                        </a:rPr>
                        <a:t>Forecast Factors – Top 20 Drivers by Relevance &amp; Impact</a:t>
                      </a:r>
                      <a:endParaRPr sz="1100"/>
                    </a:p>
                  </a:txBody>
                  <a:tcPr marL="428625" marR="9525" marT="9525" marB="0" anchor="ctr"/>
                </a:tc>
              </a:tr>
              <a:tr h="175260">
                <a:tc>
                  <a:txBody>
                    <a:bodyPr wrap="square"/>
                    <a:lstStyle/>
                    <a:p>
                      <a:pPr algn="l"/>
                      <a:r>
                        <a:rPr sz="1100" b="0" i="0">
                          <a:solidFill>
                            <a:srgbClr val="0070C0"/>
                          </a:solidFill>
                          <a:latin typeface="Calibri"/>
                        </a:rPr>
                        <a:t>16.7.</a:t>
                      </a:r>
                      <a:r>
                        <a:rPr sz="700" b="0" i="0">
                          <a:solidFill>
                            <a:srgbClr val="0070C0"/>
                          </a:solidFill>
                          <a:latin typeface="Times New Roman"/>
                        </a:rPr>
                        <a:t>  </a:t>
                      </a:r>
                      <a:r>
                        <a:rPr sz="1100" b="0" i="0">
                          <a:solidFill>
                            <a:srgbClr val="0070C0"/>
                          </a:solidFill>
                          <a:latin typeface="Calibri"/>
                        </a:rPr>
                        <a:t>Regional Macro-&amp; Micro Economic Indicators</a:t>
                      </a:r>
                      <a:endParaRPr sz="1100"/>
                    </a:p>
                  </a:txBody>
                  <a:tcPr marL="428625" marR="9525" marT="9525" marB="0" anchor="ctr"/>
                </a:tc>
              </a:tr>
              <a:tr h="175260">
                <a:tc>
                  <a:txBody>
                    <a:bodyPr wrap="square"/>
                    <a:lstStyle/>
                    <a:p>
                      <a:pPr algn="l"/>
                      <a:r>
                        <a:rPr sz="1100" b="0" i="0">
                          <a:solidFill>
                            <a:srgbClr val="0070C0"/>
                          </a:solidFill>
                          <a:latin typeface="Calibri"/>
                        </a:rPr>
                        <a:t>16.8.</a:t>
                      </a:r>
                      <a:r>
                        <a:rPr sz="700" b="0" i="0">
                          <a:solidFill>
                            <a:srgbClr val="0070C0"/>
                          </a:solidFill>
                          <a:latin typeface="Times New Roman"/>
                        </a:rPr>
                        <a:t>  </a:t>
                      </a:r>
                      <a:r>
                        <a:rPr sz="1100" b="0" i="0">
                          <a:solidFill>
                            <a:srgbClr val="0070C0"/>
                          </a:solidFill>
                          <a:latin typeface="Calibri"/>
                        </a:rPr>
                        <a:t>PESTEL Analysis</a:t>
                      </a:r>
                      <a:endParaRPr sz="1100"/>
                    </a:p>
                  </a:txBody>
                  <a:tcPr marL="428625" marR="9525" marT="9525" marB="0" anchor="ctr"/>
                </a:tc>
              </a:tr>
              <a:tr h="175260">
                <a:tc>
                  <a:txBody>
                    <a:bodyPr wrap="square"/>
                    <a:lstStyle/>
                    <a:p>
                      <a:pPr algn="l"/>
                      <a:r>
                        <a:rPr sz="1100" b="0" i="0">
                          <a:solidFill>
                            <a:srgbClr val="0070C0"/>
                          </a:solidFill>
                          <a:latin typeface="Calibri"/>
                        </a:rPr>
                        <a:t>16.9.</a:t>
                      </a:r>
                      <a:r>
                        <a:rPr sz="700" b="0" i="0">
                          <a:solidFill>
                            <a:srgbClr val="0070C0"/>
                          </a:solidFill>
                          <a:latin typeface="Times New Roman"/>
                        </a:rPr>
                        <a:t>  </a:t>
                      </a:r>
                      <a:r>
                        <a:rPr sz="1100" b="0" i="0">
                          <a:solidFill>
                            <a:srgbClr val="0070C0"/>
                          </a:solidFill>
                          <a:latin typeface="Calibri"/>
                        </a:rPr>
                        <a:t>Porter’s Analysis</a:t>
                      </a:r>
                      <a:endParaRPr sz="1100"/>
                    </a:p>
                  </a:txBody>
                  <a:tcPr marL="428625" marR="9525" marT="9525" marB="0" anchor="ctr"/>
                </a:tc>
              </a:tr>
              <a:tr h="175260">
                <a:tc>
                  <a:txBody>
                    <a:bodyPr wrap="square"/>
                    <a:lstStyle/>
                    <a:p>
                      <a:pPr algn="l"/>
                      <a:r>
                        <a:rPr sz="1100" b="1" i="0">
                          <a:solidFill>
                            <a:srgbClr val="000000"/>
                          </a:solidFill>
                          <a:latin typeface="Calibri"/>
                        </a:rPr>
                        <a:t>17.</a:t>
                      </a:r>
                      <a:r>
                        <a:rPr sz="700" b="1" i="0">
                          <a:solidFill>
                            <a:srgbClr val="000000"/>
                          </a:solidFill>
                          <a:latin typeface="Times New Roman"/>
                        </a:rPr>
                        <a:t>    </a:t>
                      </a:r>
                      <a:r>
                        <a:rPr sz="1100" b="1" i="0">
                          <a:solidFill>
                            <a:srgbClr val="000000"/>
                          </a:solidFill>
                          <a:latin typeface="Calibri"/>
                        </a:rPr>
                        <a:t>Regulations</a:t>
                      </a:r>
                      <a:endParaRPr sz="1100"/>
                    </a:p>
                  </a:txBody>
                  <a:tcPr marL="171450" marR="9525" marT="9525" marB="0" anchor="ctr"/>
                </a:tc>
              </a:tr>
              <a:tr h="175260">
                <a:tc>
                  <a:txBody>
                    <a:bodyPr wrap="square"/>
                    <a:lstStyle/>
                    <a:p>
                      <a:pPr algn="l"/>
                      <a:r>
                        <a:rPr sz="1100" b="0" i="0">
                          <a:solidFill>
                            <a:srgbClr val="0070C0"/>
                          </a:solidFill>
                          <a:latin typeface="Calibri"/>
                        </a:rPr>
                        <a:t>17.1.</a:t>
                      </a:r>
                      <a:r>
                        <a:rPr sz="700" b="0" i="0">
                          <a:solidFill>
                            <a:srgbClr val="0070C0"/>
                          </a:solidFill>
                          <a:latin typeface="Times New Roman"/>
                        </a:rPr>
                        <a:t>  </a:t>
                      </a:r>
                      <a:r>
                        <a:rPr sz="1100" b="0" i="0">
                          <a:solidFill>
                            <a:srgbClr val="0070C0"/>
                          </a:solidFill>
                          <a:latin typeface="Calibri"/>
                        </a:rPr>
                        <a:t>Certifications and Certifying Agency Overview</a:t>
                      </a:r>
                      <a:endParaRPr sz="1100"/>
                    </a:p>
                  </a:txBody>
                  <a:tcPr marL="428625" marR="9525" marT="9525" marB="0" anchor="ctr"/>
                </a:tc>
              </a:tr>
              <a:tr h="175260">
                <a:tc>
                  <a:txBody>
                    <a:bodyPr wrap="square"/>
                    <a:lstStyle/>
                    <a:p>
                      <a:pPr algn="l"/>
                      <a:r>
                        <a:rPr sz="1100" b="0" i="0">
                          <a:solidFill>
                            <a:srgbClr val="0070C0"/>
                          </a:solidFill>
                          <a:latin typeface="Calibri"/>
                        </a:rPr>
                        <a:t>17.2.</a:t>
                      </a:r>
                      <a:r>
                        <a:rPr sz="700" b="0" i="0">
                          <a:solidFill>
                            <a:srgbClr val="0070C0"/>
                          </a:solidFill>
                          <a:latin typeface="Times New Roman"/>
                        </a:rPr>
                        <a:t>  </a:t>
                      </a:r>
                      <a:r>
                        <a:rPr sz="1100" b="0" i="0">
                          <a:solidFill>
                            <a:srgbClr val="0070C0"/>
                          </a:solidFill>
                          <a:latin typeface="Calibri"/>
                        </a:rPr>
                        <a:t>Import/Export Policies</a:t>
                      </a:r>
                      <a:endParaRPr sz="1100"/>
                    </a:p>
                  </a:txBody>
                  <a:tcPr marL="428625" marR="9525" marT="9525" marB="0" anchor="ctr"/>
                </a:tc>
              </a:tr>
              <a:tr h="175260">
                <a:tc>
                  <a:txBody>
                    <a:bodyPr wrap="square"/>
                    <a:lstStyle/>
                    <a:p>
                      <a:pPr algn="l"/>
                      <a:r>
                        <a:rPr sz="1100" b="0" i="0">
                          <a:solidFill>
                            <a:srgbClr val="0070C0"/>
                          </a:solidFill>
                          <a:latin typeface="Calibri"/>
                        </a:rPr>
                        <a:t>17.3.</a:t>
                      </a:r>
                      <a:r>
                        <a:rPr sz="700" b="0" i="0">
                          <a:solidFill>
                            <a:srgbClr val="0070C0"/>
                          </a:solidFill>
                          <a:latin typeface="Times New Roman"/>
                        </a:rPr>
                        <a:t>  </a:t>
                      </a:r>
                      <a:r>
                        <a:rPr sz="1100" b="0" i="0">
                          <a:solidFill>
                            <a:srgbClr val="0070C0"/>
                          </a:solidFill>
                          <a:latin typeface="Calibri"/>
                        </a:rPr>
                        <a:t>Formula Requirements</a:t>
                      </a:r>
                      <a:endParaRPr sz="1100"/>
                    </a:p>
                  </a:txBody>
                  <a:tcPr marL="428625" marR="9525" marT="9525" marB="0" anchor="ctr"/>
                </a:tc>
              </a:tr>
              <a:tr h="175260">
                <a:tc>
                  <a:txBody>
                    <a:bodyPr wrap="square"/>
                    <a:lstStyle/>
                    <a:p>
                      <a:pPr algn="l"/>
                      <a:r>
                        <a:rPr sz="1100" b="0" i="0">
                          <a:solidFill>
                            <a:srgbClr val="0070C0"/>
                          </a:solidFill>
                          <a:latin typeface="Calibri"/>
                        </a:rPr>
                        <a:t>17.4.</a:t>
                      </a:r>
                      <a:r>
                        <a:rPr sz="700" b="0" i="0">
                          <a:solidFill>
                            <a:srgbClr val="0070C0"/>
                          </a:solidFill>
                          <a:latin typeface="Times New Roman"/>
                        </a:rPr>
                        <a:t>  </a:t>
                      </a:r>
                      <a:r>
                        <a:rPr sz="1100" b="0" i="0">
                          <a:solidFill>
                            <a:srgbClr val="0070C0"/>
                          </a:solidFill>
                          <a:latin typeface="Calibri"/>
                        </a:rPr>
                        <a:t>Standards as per institutions</a:t>
                      </a:r>
                      <a:endParaRPr sz="1100"/>
                    </a:p>
                  </a:txBody>
                  <a:tcPr marL="428625" marR="9525" marT="9525" marB="0" anchor="ctr"/>
                </a:tc>
              </a:tr>
              <a:tr h="175260">
                <a:tc>
                  <a:txBody>
                    <a:bodyPr wrap="square"/>
                    <a:lstStyle/>
                    <a:p>
                      <a:pPr algn="l"/>
                      <a:r>
                        <a:rPr sz="1100" b="0" i="0">
                          <a:solidFill>
                            <a:srgbClr val="000000"/>
                          </a:solidFill>
                          <a:latin typeface="Calibri"/>
                        </a:rPr>
                        <a:t>17.4.1.</a:t>
                      </a:r>
                      <a:r>
                        <a:rPr sz="700" b="0" i="0">
                          <a:solidFill>
                            <a:srgbClr val="000000"/>
                          </a:solidFill>
                          <a:latin typeface="Times New Roman"/>
                        </a:rPr>
                        <a:t> </a:t>
                      </a:r>
                      <a:r>
                        <a:rPr sz="1100" b="0" i="0">
                          <a:solidFill>
                            <a:srgbClr val="000000"/>
                          </a:solidFill>
                          <a:latin typeface="Calibri"/>
                        </a:rPr>
                        <a:t>FDA</a:t>
                      </a:r>
                      <a:endParaRPr sz="1100"/>
                    </a:p>
                  </a:txBody>
                  <a:tcPr marL="771525" marR="9525" marT="9525" marB="0" anchor="ctr"/>
                </a:tc>
              </a:tr>
              <a:tr h="175260">
                <a:tc>
                  <a:txBody>
                    <a:bodyPr wrap="square"/>
                    <a:lstStyle/>
                    <a:p>
                      <a:pPr algn="l"/>
                      <a:r>
                        <a:rPr sz="1100" b="0" i="0">
                          <a:solidFill>
                            <a:srgbClr val="000000"/>
                          </a:solidFill>
                          <a:latin typeface="Calibri"/>
                        </a:rPr>
                        <a:t>17.4.2.</a:t>
                      </a:r>
                      <a:r>
                        <a:rPr sz="700" b="0" i="0">
                          <a:solidFill>
                            <a:srgbClr val="000000"/>
                          </a:solidFill>
                          <a:latin typeface="Times New Roman"/>
                        </a:rPr>
                        <a:t> </a:t>
                      </a:r>
                      <a:r>
                        <a:rPr sz="1100" b="0" i="0">
                          <a:solidFill>
                            <a:srgbClr val="000000"/>
                          </a:solidFill>
                          <a:latin typeface="Calibri"/>
                        </a:rPr>
                        <a:t>USDA</a:t>
                      </a:r>
                      <a:endParaRPr sz="1100"/>
                    </a:p>
                  </a:txBody>
                  <a:tcPr marL="771525" marR="9525" marT="9525" marB="0" anchor="ctr"/>
                </a:tc>
              </a:tr>
              <a:tr h="175260">
                <a:tc>
                  <a:txBody>
                    <a:bodyPr wrap="square"/>
                    <a:lstStyle/>
                    <a:p>
                      <a:pPr algn="l"/>
                      <a:r>
                        <a:rPr sz="1100" b="0" i="0">
                          <a:solidFill>
                            <a:srgbClr val="000000"/>
                          </a:solidFill>
                          <a:latin typeface="Calibri"/>
                        </a:rPr>
                        <a:t>17.4.3.</a:t>
                      </a:r>
                      <a:r>
                        <a:rPr sz="700" b="0" i="0">
                          <a:solidFill>
                            <a:srgbClr val="000000"/>
                          </a:solidFill>
                          <a:latin typeface="Times New Roman"/>
                        </a:rPr>
                        <a:t> </a:t>
                      </a:r>
                      <a:r>
                        <a:rPr sz="1100" b="0" i="0">
                          <a:solidFill>
                            <a:srgbClr val="000000"/>
                          </a:solidFill>
                          <a:latin typeface="Calibri"/>
                        </a:rPr>
                        <a:t>FASSAI</a:t>
                      </a:r>
                      <a:endParaRPr sz="1100"/>
                    </a:p>
                  </a:txBody>
                  <a:tcPr marL="771525" marR="9525" marT="9525" marB="0" anchor="ctr"/>
                </a:tc>
              </a:tr>
              <a:tr h="175260">
                <a:tc>
                  <a:txBody>
                    <a:bodyPr wrap="square"/>
                    <a:lstStyle/>
                    <a:p>
                      <a:pPr algn="l"/>
                      <a:r>
                        <a:rPr sz="1100" b="0" i="0">
                          <a:solidFill>
                            <a:srgbClr val="000000"/>
                          </a:solidFill>
                          <a:latin typeface="Calibri"/>
                        </a:rPr>
                        <a:t>17.4.4.</a:t>
                      </a:r>
                      <a:r>
                        <a:rPr sz="700" b="0" i="0">
                          <a:solidFill>
                            <a:srgbClr val="000000"/>
                          </a:solidFill>
                          <a:latin typeface="Times New Roman"/>
                        </a:rPr>
                        <a:t> </a:t>
                      </a:r>
                      <a:r>
                        <a:rPr sz="1100" b="0" i="0">
                          <a:solidFill>
                            <a:srgbClr val="000000"/>
                          </a:solidFill>
                          <a:latin typeface="Calibri"/>
                        </a:rPr>
                        <a:t>EU Commissions</a:t>
                      </a:r>
                      <a:endParaRPr sz="1100"/>
                    </a:p>
                  </a:txBody>
                  <a:tcPr marL="771525" marR="9525" marT="9525" marB="0" anchor="ctr"/>
                </a:tc>
              </a:tr>
              <a:tr h="175260">
                <a:tc>
                  <a:txBody>
                    <a:bodyPr wrap="square"/>
                    <a:lstStyle/>
                    <a:p>
                      <a:pPr algn="l"/>
                      <a:r>
                        <a:rPr sz="1100" b="1" i="0">
                          <a:solidFill>
                            <a:srgbClr val="000000"/>
                          </a:solidFill>
                          <a:latin typeface="Calibri"/>
                        </a:rPr>
                        <a:t>Section 5: Production and Trade Outlook</a:t>
                      </a:r>
                      <a:endParaRPr sz="1100"/>
                    </a:p>
                  </a:txBody>
                  <a:tcPr marL="9525" marR="9525" marT="9525" marB="0" anchor="ctr"/>
                </a:tc>
              </a:tr>
              <a:tr h="175260">
                <a:tc>
                  <a:txBody>
                    <a:bodyPr wrap="square"/>
                    <a:lstStyle/>
                    <a:p>
                      <a:pPr algn="l"/>
                      <a:r>
                        <a:rPr sz="1100" b="1" i="0">
                          <a:solidFill>
                            <a:srgbClr val="000000"/>
                          </a:solidFill>
                          <a:latin typeface="Calibri"/>
                        </a:rPr>
                        <a:t>18.</a:t>
                      </a:r>
                      <a:r>
                        <a:rPr sz="700" b="1" i="0">
                          <a:solidFill>
                            <a:srgbClr val="000000"/>
                          </a:solidFill>
                          <a:latin typeface="Times New Roman"/>
                        </a:rPr>
                        <a:t>    </a:t>
                      </a:r>
                      <a:r>
                        <a:rPr sz="1100" b="1" i="0">
                          <a:solidFill>
                            <a:srgbClr val="000000"/>
                          </a:solidFill>
                          <a:latin typeface="Calibri"/>
                        </a:rPr>
                        <a:t>Global Market- Production and Trade Analysis</a:t>
                      </a:r>
                      <a:endParaRPr sz="1100"/>
                    </a:p>
                  </a:txBody>
                  <a:tcPr marL="171450" marR="9525" marT="9525" marB="0" anchor="ctr"/>
                </a:tc>
              </a:tr>
              <a:tr h="175260">
                <a:tc>
                  <a:txBody>
                    <a:bodyPr wrap="square"/>
                    <a:lstStyle/>
                    <a:p>
                      <a:pPr algn="l"/>
                      <a:r>
                        <a:rPr sz="1100" b="0" i="0">
                          <a:solidFill>
                            <a:srgbClr val="0070C0"/>
                          </a:solidFill>
                          <a:latin typeface="Calibri"/>
                        </a:rPr>
                        <a:t>18.1.</a:t>
                      </a:r>
                      <a:r>
                        <a:rPr sz="700" b="0" i="0">
                          <a:solidFill>
                            <a:srgbClr val="0070C0"/>
                          </a:solidFill>
                          <a:latin typeface="Times New Roman"/>
                        </a:rPr>
                        <a:t>  </a:t>
                      </a:r>
                      <a:r>
                        <a:rPr sz="1100" b="0" i="0">
                          <a:solidFill>
                            <a:srgbClr val="0070C0"/>
                          </a:solidFill>
                          <a:latin typeface="Calibri"/>
                        </a:rPr>
                        <a:t>Production Volume (UNITS), (2021-2026) by Region/ Country</a:t>
                      </a:r>
                      <a:endParaRPr sz="1100"/>
                    </a:p>
                  </a:txBody>
                  <a:tcPr marL="428625" marR="9525" marT="9525" marB="0" anchor="ctr"/>
                </a:tc>
              </a:tr>
              <a:tr h="175260">
                <a:tc>
                  <a:txBody>
                    <a:bodyPr wrap="square"/>
                    <a:lstStyle/>
                    <a:p>
                      <a:pPr algn="l"/>
                      <a:r>
                        <a:rPr sz="1100" b="0" i="0">
                          <a:solidFill>
                            <a:srgbClr val="0070C0"/>
                          </a:solidFill>
                          <a:latin typeface="Calibri"/>
                        </a:rPr>
                        <a:t>18.2.</a:t>
                      </a:r>
                      <a:r>
                        <a:rPr sz="700" b="0" i="0">
                          <a:solidFill>
                            <a:srgbClr val="0070C0"/>
                          </a:solidFill>
                          <a:latin typeface="Times New Roman"/>
                        </a:rPr>
                        <a:t>  </a:t>
                      </a:r>
                      <a:r>
                        <a:rPr sz="1100" b="0" i="0">
                          <a:solidFill>
                            <a:srgbClr val="0070C0"/>
                          </a:solidFill>
                          <a:latin typeface="Calibri"/>
                        </a:rPr>
                        <a:t>Exports: Key Countries, Share &amp; Value (US$ Mn / UNITS)</a:t>
                      </a:r>
                      <a:endParaRPr sz="1100"/>
                    </a:p>
                  </a:txBody>
                  <a:tcPr marL="428625" marR="9525" marT="9525" marB="0" anchor="ctr"/>
                </a:tc>
              </a:tr>
              <a:tr h="175260">
                <a:tc>
                  <a:txBody>
                    <a:bodyPr wrap="square"/>
                    <a:lstStyle/>
                    <a:p>
                      <a:pPr algn="l"/>
                      <a:r>
                        <a:rPr sz="1100" b="0" i="0">
                          <a:solidFill>
                            <a:srgbClr val="0070C0"/>
                          </a:solidFill>
                          <a:latin typeface="Calibri"/>
                        </a:rPr>
                        <a:t>18.3.</a:t>
                      </a:r>
                      <a:r>
                        <a:rPr sz="700" b="0" i="0">
                          <a:solidFill>
                            <a:srgbClr val="0070C0"/>
                          </a:solidFill>
                          <a:latin typeface="Times New Roman"/>
                        </a:rPr>
                        <a:t>  </a:t>
                      </a:r>
                      <a:r>
                        <a:rPr sz="1100" b="0" i="0">
                          <a:solidFill>
                            <a:srgbClr val="0070C0"/>
                          </a:solidFill>
                          <a:latin typeface="Calibri"/>
                        </a:rPr>
                        <a:t>Imports: Key Countries, Share &amp; Value (US$ Mn / UNITS)</a:t>
                      </a:r>
                      <a:endParaRPr sz="1100"/>
                    </a:p>
                  </a:txBody>
                  <a:tcPr marL="428625" marR="9525" marT="9525" marB="0" anchor="ctr"/>
                </a:tc>
              </a:tr>
              <a:tr h="175260">
                <a:tc>
                  <a:txBody>
                    <a:bodyPr wrap="square"/>
                    <a:lstStyle/>
                    <a:p>
                      <a:pPr algn="l"/>
                      <a:r>
                        <a:rPr sz="1100" b="0" i="0">
                          <a:solidFill>
                            <a:srgbClr val="0070C0"/>
                          </a:solidFill>
                          <a:latin typeface="Calibri"/>
                        </a:rPr>
                        <a:t>18.4.</a:t>
                      </a:r>
                      <a:r>
                        <a:rPr sz="700" b="0" i="0">
                          <a:solidFill>
                            <a:srgbClr val="0070C0"/>
                          </a:solidFill>
                          <a:latin typeface="Times New Roman"/>
                        </a:rPr>
                        <a:t>  </a:t>
                      </a:r>
                      <a:r>
                        <a:rPr sz="1100" b="0" i="0">
                          <a:solidFill>
                            <a:srgbClr val="0070C0"/>
                          </a:solidFill>
                          <a:latin typeface="Calibri"/>
                        </a:rPr>
                        <a:t>Global Supply-Demand Overview (Prod., Sales, Import, Export)</a:t>
                      </a:r>
                      <a:endParaRPr sz="1100"/>
                    </a:p>
                  </a:txBody>
                  <a:tcPr marL="428625" marR="9525" marT="9525" marB="0" anchor="ctr"/>
                </a:tc>
              </a:tr>
              <a:tr h="175260">
                <a:tc>
                  <a:txBody>
                    <a:bodyPr wrap="square"/>
                    <a:lstStyle/>
                    <a:p>
                      <a:pPr algn="l"/>
                      <a:r>
                        <a:rPr sz="1100" b="1" i="0">
                          <a:solidFill>
                            <a:srgbClr val="000000"/>
                          </a:solidFill>
                          <a:latin typeface="Calibri"/>
                        </a:rPr>
                        <a:t>19.</a:t>
                      </a:r>
                      <a:r>
                        <a:rPr sz="700" b="1" i="0">
                          <a:solidFill>
                            <a:srgbClr val="000000"/>
                          </a:solidFill>
                          <a:latin typeface="Times New Roman"/>
                        </a:rPr>
                        <a:t>    </a:t>
                      </a:r>
                      <a:r>
                        <a:rPr sz="1100" b="1" i="0">
                          <a:solidFill>
                            <a:srgbClr val="000000"/>
                          </a:solidFill>
                          <a:latin typeface="Calibri"/>
                        </a:rPr>
                        <a:t>Value Chain Analysis</a:t>
                      </a:r>
                      <a:endParaRPr sz="1100"/>
                    </a:p>
                  </a:txBody>
                  <a:tcPr marL="171450" marR="9525" marT="9525" marB="0" anchor="ctr"/>
                </a:tc>
              </a:tr>
              <a:tr h="175260">
                <a:tc>
                  <a:txBody>
                    <a:bodyPr wrap="square"/>
                    <a:lstStyle/>
                    <a:p>
                      <a:pPr algn="l"/>
                      <a:r>
                        <a:rPr sz="1100" b="0" i="0">
                          <a:solidFill>
                            <a:srgbClr val="0070C0"/>
                          </a:solidFill>
                          <a:latin typeface="Calibri"/>
                        </a:rPr>
                        <a:t>19.1.</a:t>
                      </a:r>
                      <a:r>
                        <a:rPr sz="700" b="0" i="0">
                          <a:solidFill>
                            <a:srgbClr val="0070C0"/>
                          </a:solidFill>
                          <a:latin typeface="Times New Roman"/>
                        </a:rPr>
                        <a:t>  </a:t>
                      </a:r>
                      <a:r>
                        <a:rPr sz="1100" b="0" i="0">
                          <a:solidFill>
                            <a:srgbClr val="0070C0"/>
                          </a:solidFill>
                          <a:latin typeface="Calibri"/>
                        </a:rPr>
                        <a:t>Industry-Wide Operating Margin</a:t>
                      </a:r>
                      <a:endParaRPr sz="1100"/>
                    </a:p>
                  </a:txBody>
                  <a:tcPr marL="428625" marR="9525" marT="9525" marB="0" anchor="ctr"/>
                </a:tc>
              </a:tr>
              <a:tr h="175260">
                <a:tc>
                  <a:txBody>
                    <a:bodyPr wrap="square"/>
                    <a:lstStyle/>
                    <a:p>
                      <a:pPr algn="l"/>
                      <a:r>
                        <a:rPr sz="1100" b="0" i="0">
                          <a:solidFill>
                            <a:srgbClr val="000000"/>
                          </a:solidFill>
                          <a:latin typeface="Calibri"/>
                        </a:rPr>
                        <a:t>19.1.1.</a:t>
                      </a:r>
                      <a:r>
                        <a:rPr sz="700" b="0" i="0">
                          <a:solidFill>
                            <a:srgbClr val="000000"/>
                          </a:solidFill>
                          <a:latin typeface="Times New Roman"/>
                        </a:rPr>
                        <a:t> </a:t>
                      </a:r>
                      <a:r>
                        <a:rPr sz="1100" b="0" i="0">
                          <a:solidFill>
                            <a:srgbClr val="000000"/>
                          </a:solidFill>
                          <a:latin typeface="Calibri"/>
                        </a:rPr>
                        <a:t>Operating margins at each node of supply chain</a:t>
                      </a:r>
                      <a:endParaRPr sz="1100"/>
                    </a:p>
                  </a:txBody>
                  <a:tcPr marL="771525" marR="9525" marT="9525" marB="0" anchor="ctr"/>
                </a:tc>
              </a:tr>
              <a:tr h="175260">
                <a:tc>
                  <a:txBody>
                    <a:bodyPr wrap="square"/>
                    <a:lstStyle/>
                    <a:p>
                      <a:pPr algn="l"/>
                      <a:r>
                        <a:rPr sz="1100" b="0" i="0">
                          <a:solidFill>
                            <a:srgbClr val="000000"/>
                          </a:solidFill>
                          <a:latin typeface="Calibri"/>
                        </a:rPr>
                        <a:t>19.1.2.</a:t>
                      </a:r>
                      <a:r>
                        <a:rPr sz="700" b="0" i="0">
                          <a:solidFill>
                            <a:srgbClr val="000000"/>
                          </a:solidFill>
                          <a:latin typeface="Times New Roman"/>
                        </a:rPr>
                        <a:t> </a:t>
                      </a:r>
                      <a:r>
                        <a:rPr sz="1100" b="0" i="0">
                          <a:solidFill>
                            <a:srgbClr val="000000"/>
                          </a:solidFill>
                          <a:latin typeface="Calibri"/>
                        </a:rPr>
                        <a:t>Operating margins Comparison to Parent/Associated Market</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(6/6)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19.2.</a:t>
                      </a:r>
                      <a:r>
                        <a:rPr sz="700" b="0" i="0">
                          <a:solidFill>
                            <a:srgbClr val="0070C0"/>
                          </a:solidFill>
                          <a:latin typeface="Times New Roman"/>
                        </a:rPr>
                        <a:t>  </a:t>
                      </a:r>
                      <a:r>
                        <a:rPr sz="1100" b="0" i="0">
                          <a:solidFill>
                            <a:srgbClr val="0070C0"/>
                          </a:solidFill>
                          <a:latin typeface="Calibri"/>
                        </a:rPr>
                        <a:t>Margin Optimization Strategies</a:t>
                      </a:r>
                      <a:endParaRPr sz="1100"/>
                    </a:p>
                  </a:txBody>
                  <a:tcPr marL="428625" marR="9525" marT="9525" marB="0" anchor="ctr"/>
                </a:tc>
              </a:tr>
              <a:tr h="175260">
                <a:tc>
                  <a:txBody>
                    <a:bodyPr wrap="square"/>
                    <a:lstStyle/>
                    <a:p>
                      <a:pPr algn="l"/>
                      <a:r>
                        <a:rPr sz="1100" b="0" i="0">
                          <a:solidFill>
                            <a:srgbClr val="0070C0"/>
                          </a:solidFill>
                          <a:latin typeface="Calibri"/>
                        </a:rPr>
                        <a:t>19.3.</a:t>
                      </a:r>
                      <a:r>
                        <a:rPr sz="700" b="0" i="0">
                          <a:solidFill>
                            <a:srgbClr val="0070C0"/>
                          </a:solidFill>
                          <a:latin typeface="Times New Roman"/>
                        </a:rPr>
                        <a:t>  </a:t>
                      </a:r>
                      <a:r>
                        <a:rPr sz="1100" b="0" i="0">
                          <a:solidFill>
                            <a:srgbClr val="0070C0"/>
                          </a:solidFill>
                          <a:latin typeface="Calibri"/>
                        </a:rPr>
                        <a:t>List of Active Market Participants</a:t>
                      </a:r>
                      <a:endParaRPr sz="1100"/>
                    </a:p>
                  </a:txBody>
                  <a:tcPr marL="428625" marR="9525" marT="9525" marB="0" anchor="ctr"/>
                </a:tc>
              </a:tr>
              <a:tr h="175260">
                <a:tc>
                  <a:txBody>
                    <a:bodyPr wrap="square"/>
                    <a:lstStyle/>
                    <a:p>
                      <a:pPr algn="l"/>
                      <a:r>
                        <a:rPr sz="1100" b="0" i="0">
                          <a:solidFill>
                            <a:srgbClr val="000000"/>
                          </a:solidFill>
                          <a:latin typeface="Calibri"/>
                        </a:rPr>
                        <a:t>19.3.1.</a:t>
                      </a:r>
                      <a:r>
                        <a:rPr sz="700" b="0" i="0">
                          <a:solidFill>
                            <a:srgbClr val="000000"/>
                          </a:solidFill>
                          <a:latin typeface="Times New Roman"/>
                        </a:rPr>
                        <a:t> </a:t>
                      </a:r>
                      <a:r>
                        <a:rPr sz="1100" b="0" i="0">
                          <a:solidFill>
                            <a:srgbClr val="000000"/>
                          </a:solidFill>
                          <a:latin typeface="Calibri"/>
                        </a:rPr>
                        <a:t>Product Manufacturers/ Key Brands</a:t>
                      </a:r>
                      <a:endParaRPr sz="1100"/>
                    </a:p>
                  </a:txBody>
                  <a:tcPr marL="771525" marR="9525" marT="9525" marB="0" anchor="ctr"/>
                </a:tc>
              </a:tr>
              <a:tr h="175260">
                <a:tc>
                  <a:txBody>
                    <a:bodyPr wrap="square"/>
                    <a:lstStyle/>
                    <a:p>
                      <a:pPr algn="l"/>
                      <a:r>
                        <a:rPr sz="1100" b="0" i="0">
                          <a:solidFill>
                            <a:srgbClr val="000000"/>
                          </a:solidFill>
                          <a:latin typeface="Calibri"/>
                        </a:rPr>
                        <a:t>19.3.2.</a:t>
                      </a:r>
                      <a:r>
                        <a:rPr sz="700" b="0" i="0">
                          <a:solidFill>
                            <a:srgbClr val="000000"/>
                          </a:solidFill>
                          <a:latin typeface="Times New Roman"/>
                        </a:rPr>
                        <a:t> </a:t>
                      </a:r>
                      <a:r>
                        <a:rPr sz="1100" b="0" i="0">
                          <a:solidFill>
                            <a:srgbClr val="000000"/>
                          </a:solidFill>
                          <a:latin typeface="Calibri"/>
                        </a:rPr>
                        <a:t>Distributors/Suppliers</a:t>
                      </a:r>
                      <a:endParaRPr sz="1100"/>
                    </a:p>
                  </a:txBody>
                  <a:tcPr marL="771525" marR="9525" marT="9525" marB="0" anchor="ctr"/>
                </a:tc>
              </a:tr>
              <a:tr h="175260">
                <a:tc>
                  <a:txBody>
                    <a:bodyPr wrap="square"/>
                    <a:lstStyle/>
                    <a:p>
                      <a:pPr algn="l"/>
                      <a:r>
                        <a:rPr sz="1100" b="0" i="0">
                          <a:solidFill>
                            <a:srgbClr val="000000"/>
                          </a:solidFill>
                          <a:latin typeface="Calibri"/>
                        </a:rPr>
                        <a:t>19.3.3.</a:t>
                      </a:r>
                      <a:r>
                        <a:rPr sz="700" b="0" i="0">
                          <a:solidFill>
                            <a:srgbClr val="000000"/>
                          </a:solidFill>
                          <a:latin typeface="Times New Roman"/>
                        </a:rPr>
                        <a:t> </a:t>
                      </a:r>
                      <a:r>
                        <a:rPr sz="1100" b="0" i="0">
                          <a:solidFill>
                            <a:srgbClr val="000000"/>
                          </a:solidFill>
                          <a:latin typeface="Calibri"/>
                        </a:rPr>
                        <a:t>End Users</a:t>
                      </a:r>
                      <a:endParaRPr sz="1100"/>
                    </a:p>
                  </a:txBody>
                  <a:tcPr marL="771525" marR="9525" marT="9525" marB="0" anchor="ctr"/>
                </a:tc>
              </a:tr>
              <a:tr h="350520">
                <a:tc>
                  <a:txBody>
                    <a:bodyPr wrap="square"/>
                    <a:lstStyle/>
                    <a:p>
                      <a:pPr algn="l"/>
                      <a:r>
                        <a:rPr sz="1100" b="0" i="1">
                          <a:solidFill>
                            <a:srgbClr val="FF0000"/>
                          </a:solidFill>
                          <a:latin typeface="Calibri"/>
                        </a:rPr>
                        <a:t>Note: The section lists 20-30 active market participants. For a comprehensive list, please contact the respective sales personnel</a:t>
                      </a:r>
                      <a:endParaRPr sz="1100"/>
                    </a:p>
                  </a:txBody>
                  <a:tcPr marL="9525" marR="9525" marT="9525" marB="0" anchor="ctr"/>
                </a:tc>
              </a:tr>
              <a:tr h="175260">
                <a:tc>
                  <a:txBody>
                    <a:bodyPr wrap="square"/>
                    <a:lstStyle/>
                    <a:p>
                      <a:pPr algn="l"/>
                      <a:r>
                        <a:rPr sz="1100" b="1" i="0">
                          <a:solidFill>
                            <a:srgbClr val="000000"/>
                          </a:solidFill>
                          <a:latin typeface="Calibri"/>
                        </a:rPr>
                        <a:t>Section 7: Competition Assessment</a:t>
                      </a:r>
                      <a:endParaRPr sz="1100"/>
                    </a:p>
                  </a:txBody>
                  <a:tcPr marL="9525" marR="9525" marT="9525" marB="0" anchor="ctr"/>
                </a:tc>
              </a:tr>
              <a:tr h="175260">
                <a:tc>
                  <a:txBody>
                    <a:bodyPr wrap="square"/>
                    <a:lstStyle/>
                    <a:p>
                      <a:pPr algn="l"/>
                      <a:r>
                        <a:rPr sz="1100" b="1" i="0">
                          <a:solidFill>
                            <a:srgbClr val="000000"/>
                          </a:solidFill>
                          <a:latin typeface="Calibri"/>
                        </a:rPr>
                        <a:t>20.</a:t>
                      </a:r>
                      <a:r>
                        <a:rPr sz="700" b="1" i="0">
                          <a:solidFill>
                            <a:srgbClr val="000000"/>
                          </a:solidFill>
                          <a:latin typeface="Times New Roman"/>
                        </a:rPr>
                        <a:t>    </a:t>
                      </a:r>
                      <a:r>
                        <a:rPr sz="1100" b="1" i="0">
                          <a:solidFill>
                            <a:srgbClr val="000000"/>
                          </a:solidFill>
                          <a:latin typeface="Calibri"/>
                        </a:rPr>
                        <a:t>Competition at a Glance- a Dashboard View</a:t>
                      </a:r>
                      <a:endParaRPr sz="1100"/>
                    </a:p>
                  </a:txBody>
                  <a:tcPr marL="171450" marR="9525" marT="9525" marB="0" anchor="ctr"/>
                </a:tc>
              </a:tr>
              <a:tr h="175260">
                <a:tc>
                  <a:txBody>
                    <a:bodyPr wrap="square"/>
                    <a:lstStyle/>
                    <a:p>
                      <a:pPr algn="l"/>
                      <a:r>
                        <a:rPr sz="1100" b="1" i="0">
                          <a:solidFill>
                            <a:srgbClr val="000000"/>
                          </a:solidFill>
                          <a:latin typeface="Calibri"/>
                        </a:rPr>
                        <a:t>21.</a:t>
                      </a:r>
                      <a:r>
                        <a:rPr sz="700" b="1" i="0">
                          <a:solidFill>
                            <a:srgbClr val="000000"/>
                          </a:solidFill>
                          <a:latin typeface="Times New Roman"/>
                        </a:rPr>
                        <a:t>    </a:t>
                      </a:r>
                      <a:r>
                        <a:rPr sz="1100" b="1" i="0">
                          <a:solidFill>
                            <a:srgbClr val="000000"/>
                          </a:solidFill>
                          <a:latin typeface="Calibri"/>
                        </a:rPr>
                        <a:t>Company Share (%) Analysis, 2023, 2025, 2026</a:t>
                      </a:r>
                      <a:endParaRPr sz="1100"/>
                    </a:p>
                  </a:txBody>
                  <a:tcPr marL="171450" marR="9525" marT="9525" marB="0" anchor="ctr"/>
                </a:tc>
              </a:tr>
              <a:tr h="175260">
                <a:tc>
                  <a:txBody>
                    <a:bodyPr wrap="square"/>
                    <a:lstStyle/>
                    <a:p>
                      <a:pPr algn="l"/>
                      <a:r>
                        <a:rPr sz="1100" b="0" i="0">
                          <a:solidFill>
                            <a:srgbClr val="0070C0"/>
                          </a:solidFill>
                          <a:latin typeface="Calibri"/>
                        </a:rPr>
                        <a:t>21.1.</a:t>
                      </a:r>
                      <a:r>
                        <a:rPr sz="700" b="0" i="0">
                          <a:solidFill>
                            <a:srgbClr val="0070C0"/>
                          </a:solidFill>
                          <a:latin typeface="Times New Roman"/>
                        </a:rPr>
                        <a:t>  </a:t>
                      </a:r>
                      <a:r>
                        <a:rPr sz="1100" b="0" i="0">
                          <a:solidFill>
                            <a:srgbClr val="0070C0"/>
                          </a:solidFill>
                          <a:latin typeface="Calibri"/>
                        </a:rPr>
                        <a:t>By Region</a:t>
                      </a:r>
                      <a:endParaRPr sz="1100"/>
                    </a:p>
                  </a:txBody>
                  <a:tcPr marL="428625" marR="9525" marT="9525" marB="0" anchor="ctr"/>
                </a:tc>
              </a:tr>
              <a:tr h="175260">
                <a:tc>
                  <a:txBody>
                    <a:bodyPr wrap="square"/>
                    <a:lstStyle/>
                    <a:p>
                      <a:pPr algn="l"/>
                      <a:r>
                        <a:rPr sz="1100" b="0" i="0">
                          <a:solidFill>
                            <a:srgbClr val="0070C0"/>
                          </a:solidFill>
                          <a:latin typeface="Calibri"/>
                        </a:rPr>
                        <a:t>21.2.</a:t>
                      </a:r>
                      <a:r>
                        <a:rPr sz="700" b="0" i="0">
                          <a:solidFill>
                            <a:srgbClr val="0070C0"/>
                          </a:solidFill>
                          <a:latin typeface="Times New Roman"/>
                        </a:rPr>
                        <a:t>  </a:t>
                      </a:r>
                      <a:r>
                        <a:rPr sz="1100" b="0" i="0">
                          <a:solidFill>
                            <a:srgbClr val="0070C0"/>
                          </a:solidFill>
                          <a:latin typeface="Calibri"/>
                        </a:rPr>
                        <a:t>By Product Type</a:t>
                      </a:r>
                      <a:endParaRPr sz="1100"/>
                    </a:p>
                  </a:txBody>
                  <a:tcPr marL="428625" marR="9525" marT="9525" marB="0" anchor="ctr"/>
                </a:tc>
              </a:tr>
              <a:tr h="175260">
                <a:tc>
                  <a:txBody>
                    <a:bodyPr wrap="square"/>
                    <a:lstStyle/>
                    <a:p>
                      <a:pPr algn="l"/>
                      <a:r>
                        <a:rPr sz="1100" b="0" i="0">
                          <a:solidFill>
                            <a:srgbClr val="0070C0"/>
                          </a:solidFill>
                          <a:latin typeface="Calibri"/>
                        </a:rPr>
                        <a:t>21.3.</a:t>
                      </a:r>
                      <a:r>
                        <a:rPr sz="700" b="0" i="0">
                          <a:solidFill>
                            <a:srgbClr val="0070C0"/>
                          </a:solidFill>
                          <a:latin typeface="Times New Roman"/>
                        </a:rPr>
                        <a:t>  </a:t>
                      </a:r>
                      <a:r>
                        <a:rPr sz="1100" b="0" i="0">
                          <a:solidFill>
                            <a:srgbClr val="0070C0"/>
                          </a:solidFill>
                          <a:latin typeface="Calibri"/>
                        </a:rPr>
                        <a:t>By End Use Application/ Sales Channel</a:t>
                      </a:r>
                      <a:endParaRPr sz="1100"/>
                    </a:p>
                  </a:txBody>
                  <a:tcPr marL="428625" marR="9525" marT="9525" marB="0" anchor="ctr"/>
                </a:tc>
              </a:tr>
              <a:tr h="175260">
                <a:tc>
                  <a:txBody>
                    <a:bodyPr wrap="square"/>
                    <a:lstStyle/>
                    <a:p>
                      <a:pPr algn="l"/>
                      <a:r>
                        <a:rPr sz="1100" b="1" i="0">
                          <a:solidFill>
                            <a:srgbClr val="000000"/>
                          </a:solidFill>
                          <a:latin typeface="Calibri"/>
                        </a:rPr>
                        <a:t>22.</a:t>
                      </a:r>
                      <a:r>
                        <a:rPr sz="700" b="1" i="0">
                          <a:solidFill>
                            <a:srgbClr val="000000"/>
                          </a:solidFill>
                          <a:latin typeface="Times New Roman"/>
                        </a:rPr>
                        <a:t>    </a:t>
                      </a:r>
                      <a:r>
                        <a:rPr sz="1100" b="1" i="0">
                          <a:solidFill>
                            <a:srgbClr val="000000"/>
                          </a:solidFill>
                          <a:latin typeface="Calibri"/>
                        </a:rPr>
                        <a:t>Company Share Breakdown (2026)</a:t>
                      </a:r>
                      <a:endParaRPr sz="1100"/>
                    </a:p>
                  </a:txBody>
                  <a:tcPr marL="171450" marR="9525" marT="9525" marB="0" anchor="ctr"/>
                </a:tc>
              </a:tr>
              <a:tr h="175260">
                <a:tc>
                  <a:txBody>
                    <a:bodyPr wrap="square"/>
                    <a:lstStyle/>
                    <a:p>
                      <a:pPr algn="l"/>
                      <a:r>
                        <a:rPr sz="1100" b="0" i="0">
                          <a:solidFill>
                            <a:srgbClr val="0070C0"/>
                          </a:solidFill>
                          <a:latin typeface="Calibri"/>
                        </a:rPr>
                        <a:t>22.1.</a:t>
                      </a:r>
                      <a:r>
                        <a:rPr sz="700" b="0" i="0">
                          <a:solidFill>
                            <a:srgbClr val="0070C0"/>
                          </a:solidFill>
                          <a:latin typeface="Times New Roman"/>
                        </a:rPr>
                        <a:t>  </a:t>
                      </a:r>
                      <a:r>
                        <a:rPr sz="1100" b="0" i="0">
                          <a:solidFill>
                            <a:srgbClr val="0070C0"/>
                          </a:solidFill>
                          <a:latin typeface="Calibri"/>
                        </a:rPr>
                        <a:t>Top Players (Tier 1)</a:t>
                      </a:r>
                      <a:endParaRPr sz="1100"/>
                    </a:p>
                  </a:txBody>
                  <a:tcPr marL="428625" marR="9525" marT="9525" marB="0" anchor="ctr"/>
                </a:tc>
              </a:tr>
              <a:tr h="175260">
                <a:tc>
                  <a:txBody>
                    <a:bodyPr wrap="square"/>
                    <a:lstStyle/>
                    <a:p>
                      <a:pPr algn="l"/>
                      <a:r>
                        <a:rPr sz="1100" b="0" i="0">
                          <a:solidFill>
                            <a:srgbClr val="0070C0"/>
                          </a:solidFill>
                          <a:latin typeface="Calibri"/>
                        </a:rPr>
                        <a:t>22.2.</a:t>
                      </a:r>
                      <a:r>
                        <a:rPr sz="700" b="0" i="0">
                          <a:solidFill>
                            <a:srgbClr val="0070C0"/>
                          </a:solidFill>
                          <a:latin typeface="Times New Roman"/>
                        </a:rPr>
                        <a:t>  </a:t>
                      </a:r>
                      <a:r>
                        <a:rPr sz="1100" b="0" i="0">
                          <a:solidFill>
                            <a:srgbClr val="0070C0"/>
                          </a:solidFill>
                          <a:latin typeface="Calibri"/>
                        </a:rPr>
                        <a:t>Mid-Sized Players (Tier 2)</a:t>
                      </a:r>
                      <a:endParaRPr sz="1100"/>
                    </a:p>
                  </a:txBody>
                  <a:tcPr marL="428625" marR="9525" marT="9525" marB="0" anchor="ctr"/>
                </a:tc>
              </a:tr>
              <a:tr h="175260">
                <a:tc>
                  <a:txBody>
                    <a:bodyPr wrap="square"/>
                    <a:lstStyle/>
                    <a:p>
                      <a:pPr algn="l"/>
                      <a:r>
                        <a:rPr sz="1100" b="0" i="0">
                          <a:solidFill>
                            <a:srgbClr val="0070C0"/>
                          </a:solidFill>
                          <a:latin typeface="Calibri"/>
                        </a:rPr>
                        <a:t>22.3.</a:t>
                      </a:r>
                      <a:r>
                        <a:rPr sz="700" b="0" i="0">
                          <a:solidFill>
                            <a:srgbClr val="0070C0"/>
                          </a:solidFill>
                          <a:latin typeface="Times New Roman"/>
                        </a:rPr>
                        <a:t>  </a:t>
                      </a:r>
                      <a:r>
                        <a:rPr sz="1100" b="0" i="0">
                          <a:solidFill>
                            <a:srgbClr val="0070C0"/>
                          </a:solidFill>
                          <a:latin typeface="Calibri"/>
                        </a:rPr>
                        <a:t>Emerging/Local Players (Tier 3)</a:t>
                      </a:r>
                      <a:endParaRPr sz="1100"/>
                    </a:p>
                  </a:txBody>
                  <a:tcPr marL="428625" marR="9525" marT="9525" marB="0" anchor="ctr"/>
                </a:tc>
              </a:tr>
              <a:tr h="175260">
                <a:tc>
                  <a:txBody>
                    <a:bodyPr wrap="square"/>
                    <a:lstStyle/>
                    <a:p>
                      <a:pPr algn="l"/>
                      <a:r>
                        <a:rPr sz="1100" b="1" i="0">
                          <a:solidFill>
                            <a:srgbClr val="000000"/>
                          </a:solidFill>
                          <a:latin typeface="Calibri"/>
                        </a:rPr>
                        <a:t>23.</a:t>
                      </a:r>
                      <a:r>
                        <a:rPr sz="700" b="1" i="0">
                          <a:solidFill>
                            <a:srgbClr val="000000"/>
                          </a:solidFill>
                          <a:latin typeface="Times New Roman"/>
                        </a:rPr>
                        <a:t>    </a:t>
                      </a:r>
                      <a:r>
                        <a:rPr sz="1100" b="1" i="0">
                          <a:solidFill>
                            <a:srgbClr val="000000"/>
                          </a:solidFill>
                          <a:latin typeface="Calibri"/>
                        </a:rPr>
                        <a:t>Company Profile- MNCs</a:t>
                      </a:r>
                      <a:endParaRPr sz="1100"/>
                    </a:p>
                  </a:txBody>
                  <a:tcPr marL="171450" marR="9525" marT="9525" marB="0" anchor="ctr"/>
                </a:tc>
              </a:tr>
              <a:tr h="175260">
                <a:tc>
                  <a:txBody>
                    <a:bodyPr wrap="square"/>
                    <a:lstStyle/>
                    <a:p>
                      <a:pPr algn="l"/>
                      <a:r>
                        <a:rPr sz="1100" b="0" i="0">
                          <a:solidFill>
                            <a:srgbClr val="0070C0"/>
                          </a:solidFill>
                          <a:latin typeface="Calibri"/>
                        </a:rPr>
                        <a:t>23.1.</a:t>
                      </a:r>
                      <a:r>
                        <a:rPr sz="700" b="0" i="0">
                          <a:solidFill>
                            <a:srgbClr val="0070C0"/>
                          </a:solidFill>
                          <a:latin typeface="Times New Roman"/>
                        </a:rPr>
                        <a:t>  </a:t>
                      </a:r>
                      <a:r>
                        <a:rPr sz="1100" b="0" i="0">
                          <a:solidFill>
                            <a:srgbClr val="0070C0"/>
                          </a:solidFill>
                          <a:latin typeface="Calibri"/>
                        </a:rPr>
                        <a:t>Amcor plc</a:t>
                      </a:r>
                      <a:endParaRPr sz="1100"/>
                    </a:p>
                  </a:txBody>
                  <a:tcPr marL="428625" marR="9525" marT="9525" marB="0" anchor="ctr"/>
                </a:tc>
              </a:tr>
              <a:tr h="175260">
                <a:tc>
                  <a:txBody>
                    <a:bodyPr wrap="square"/>
                    <a:lstStyle/>
                    <a:p>
                      <a:pPr algn="l"/>
                      <a:r>
                        <a:rPr sz="1100" b="0" i="0">
                          <a:solidFill>
                            <a:srgbClr val="000000"/>
                          </a:solidFill>
                          <a:latin typeface="Calibri"/>
                        </a:rPr>
                        <a:t>23.1.1.</a:t>
                      </a:r>
                      <a:r>
                        <a:rPr sz="700" b="0" i="0">
                          <a:solidFill>
                            <a:srgbClr val="000000"/>
                          </a:solidFill>
                          <a:latin typeface="Times New Roman"/>
                        </a:rPr>
                        <a:t> </a:t>
                      </a:r>
                      <a:r>
                        <a:rPr sz="1100" b="0" i="0">
                          <a:solidFill>
                            <a:srgbClr val="000000"/>
                          </a:solidFill>
                          <a:latin typeface="Calibri"/>
                        </a:rPr>
                        <a:t>Product Portfolio</a:t>
                      </a:r>
                      <a:endParaRPr sz="1100"/>
                    </a:p>
                  </a:txBody>
                  <a:tcPr marL="771525" marR="9525" marT="9525" marB="0" anchor="ctr"/>
                </a:tc>
              </a:tr>
              <a:tr h="175260">
                <a:tc>
                  <a:txBody>
                    <a:bodyPr wrap="square"/>
                    <a:lstStyle/>
                    <a:p>
                      <a:pPr algn="l"/>
                      <a:r>
                        <a:rPr sz="1100" b="0" i="0">
                          <a:solidFill>
                            <a:srgbClr val="000000"/>
                          </a:solidFill>
                          <a:latin typeface="Calibri"/>
                        </a:rPr>
                        <a:t>23.1.2.</a:t>
                      </a:r>
                      <a:r>
                        <a:rPr sz="700" b="0" i="0">
                          <a:solidFill>
                            <a:srgbClr val="000000"/>
                          </a:solidFill>
                          <a:latin typeface="Times New Roman"/>
                        </a:rPr>
                        <a:t> </a:t>
                      </a:r>
                      <a:r>
                        <a:rPr sz="1100" b="0" i="0">
                          <a:solidFill>
                            <a:srgbClr val="000000"/>
                          </a:solidFill>
                          <a:latin typeface="Calibri"/>
                        </a:rPr>
                        <a:t>Apparent Production Volume (UNITS)</a:t>
                      </a:r>
                      <a:endParaRPr sz="1100"/>
                    </a:p>
                  </a:txBody>
                  <a:tcPr marL="771525" marR="9525" marT="9525" marB="0" anchor="ctr"/>
                </a:tc>
              </a:tr>
              <a:tr h="175260">
                <a:tc>
                  <a:txBody>
                    <a:bodyPr wrap="square"/>
                    <a:lstStyle/>
                    <a:p>
                      <a:pPr algn="l"/>
                      <a:r>
                        <a:rPr sz="1100" b="0" i="0">
                          <a:solidFill>
                            <a:srgbClr val="000000"/>
                          </a:solidFill>
                          <a:latin typeface="Calibri"/>
                        </a:rPr>
                        <a:t>23.1.3.</a:t>
                      </a:r>
                      <a:r>
                        <a:rPr sz="700" b="0" i="0">
                          <a:solidFill>
                            <a:srgbClr val="000000"/>
                          </a:solidFill>
                          <a:latin typeface="Times New Roman"/>
                        </a:rPr>
                        <a:t> </a:t>
                      </a:r>
                      <a:r>
                        <a:rPr sz="1100" b="0" i="0">
                          <a:solidFill>
                            <a:srgbClr val="000000"/>
                          </a:solidFill>
                          <a:latin typeface="Calibri"/>
                        </a:rPr>
                        <a:t>Pricing Analysis (USD Per Unit) By Product Type</a:t>
                      </a:r>
                      <a:endParaRPr sz="1100"/>
                    </a:p>
                  </a:txBody>
                  <a:tcPr marL="771525" marR="9525" marT="9525" marB="0" anchor="ctr"/>
                </a:tc>
              </a:tr>
              <a:tr h="175260">
                <a:tc>
                  <a:txBody>
                    <a:bodyPr wrap="square"/>
                    <a:lstStyle/>
                    <a:p>
                      <a:pPr algn="l"/>
                      <a:r>
                        <a:rPr sz="1100" b="0" i="0">
                          <a:solidFill>
                            <a:srgbClr val="000000"/>
                          </a:solidFill>
                          <a:latin typeface="Calibri"/>
                        </a:rPr>
                        <a:t>23.1.4.</a:t>
                      </a:r>
                      <a:r>
                        <a:rPr sz="700" b="0" i="0">
                          <a:solidFill>
                            <a:srgbClr val="000000"/>
                          </a:solidFill>
                          <a:latin typeface="Times New Roman"/>
                        </a:rPr>
                        <a:t> </a:t>
                      </a:r>
                      <a:r>
                        <a:rPr sz="1100" b="0" i="0">
                          <a:solidFill>
                            <a:srgbClr val="000000"/>
                          </a:solidFill>
                          <a:latin typeface="Calibri"/>
                        </a:rPr>
                        <a:t>Revenue (USD Mn) and Market Share by Market Segments</a:t>
                      </a:r>
                      <a:endParaRPr sz="1100"/>
                    </a:p>
                  </a:txBody>
                  <a:tcPr marL="771525" marR="9525" marT="9525" marB="0" anchor="ctr"/>
                </a:tc>
              </a:tr>
              <a:tr h="175260">
                <a:tc>
                  <a:txBody>
                    <a:bodyPr wrap="square"/>
                    <a:lstStyle/>
                    <a:p>
                      <a:pPr algn="l"/>
                      <a:r>
                        <a:rPr sz="1100" b="0" i="1">
                          <a:solidFill>
                            <a:srgbClr val="000000"/>
                          </a:solidFill>
                          <a:latin typeface="Calibri"/>
                        </a:rPr>
                        <a:t>23.1.4.1.</a:t>
                      </a:r>
                      <a:r>
                        <a:rPr sz="700" b="0" i="1">
                          <a:solidFill>
                            <a:srgbClr val="000000"/>
                          </a:solidFill>
                          <a:latin typeface="Times New Roman"/>
                        </a:rPr>
                        <a:t> </a:t>
                      </a:r>
                      <a:r>
                        <a:rPr sz="1100" b="0" i="1">
                          <a:solidFill>
                            <a:srgbClr val="000000"/>
                          </a:solidFill>
                          <a:latin typeface="Calibri"/>
                        </a:rPr>
                        <a:t>Product Sales</a:t>
                      </a:r>
                      <a:endParaRPr sz="1100"/>
                    </a:p>
                  </a:txBody>
                  <a:tcPr marL="1028700" marR="9525" marT="9525" marB="0" anchor="ctr"/>
                </a:tc>
              </a:tr>
              <a:tr h="175260">
                <a:tc>
                  <a:txBody>
                    <a:bodyPr wrap="square"/>
                    <a:lstStyle/>
                    <a:p>
                      <a:pPr algn="l"/>
                      <a:r>
                        <a:rPr sz="1100" b="0" i="1">
                          <a:solidFill>
                            <a:srgbClr val="000000"/>
                          </a:solidFill>
                          <a:latin typeface="Calibri"/>
                        </a:rPr>
                        <a:t>23.1.4.2.</a:t>
                      </a:r>
                      <a:r>
                        <a:rPr sz="700" b="0" i="1">
                          <a:solidFill>
                            <a:srgbClr val="000000"/>
                          </a:solidFill>
                          <a:latin typeface="Times New Roman"/>
                        </a:rPr>
                        <a:t> </a:t>
                      </a:r>
                      <a:r>
                        <a:rPr sz="1100" b="0" i="1">
                          <a:solidFill>
                            <a:srgbClr val="000000"/>
                          </a:solidFill>
                          <a:latin typeface="Calibri"/>
                        </a:rPr>
                        <a:t>Channel Sales</a:t>
                      </a:r>
                      <a:endParaRPr sz="1100"/>
                    </a:p>
                  </a:txBody>
                  <a:tcPr marL="1028700" marR="9525" marT="9525" marB="0" anchor="ctr"/>
                </a:tc>
              </a:tr>
              <a:tr h="175260">
                <a:tc>
                  <a:txBody>
                    <a:bodyPr wrap="square"/>
                    <a:lstStyle/>
                    <a:p>
                      <a:pPr algn="l"/>
                      <a:r>
                        <a:rPr sz="1100" b="0" i="1">
                          <a:solidFill>
                            <a:srgbClr val="000000"/>
                          </a:solidFill>
                          <a:latin typeface="Calibri"/>
                        </a:rPr>
                        <a:t>23.1.4.3.</a:t>
                      </a:r>
                      <a:r>
                        <a:rPr sz="700" b="0" i="1">
                          <a:solidFill>
                            <a:srgbClr val="000000"/>
                          </a:solidFill>
                          <a:latin typeface="Times New Roman"/>
                        </a:rPr>
                        <a:t> </a:t>
                      </a:r>
                      <a:r>
                        <a:rPr sz="1100" b="0" i="1">
                          <a:solidFill>
                            <a:srgbClr val="000000"/>
                          </a:solidFill>
                          <a:latin typeface="Calibri"/>
                        </a:rPr>
                        <a:t>Regional Sales</a:t>
                      </a:r>
                      <a:endParaRPr sz="1100"/>
                    </a:p>
                  </a:txBody>
                  <a:tcPr marL="1028700" marR="9525" marT="9525" marB="0" anchor="ctr"/>
                </a:tc>
              </a:tr>
              <a:tr h="175260">
                <a:tc>
                  <a:txBody>
                    <a:bodyPr wrap="square"/>
                    <a:lstStyle/>
                    <a:p>
                      <a:pPr algn="l"/>
                      <a:r>
                        <a:rPr sz="1100" b="0" i="0">
                          <a:solidFill>
                            <a:srgbClr val="000000"/>
                          </a:solidFill>
                          <a:latin typeface="Calibri"/>
                        </a:rPr>
                        <a:t>23.1.5.</a:t>
                      </a:r>
                      <a:r>
                        <a:rPr sz="700" b="0" i="0">
                          <a:solidFill>
                            <a:srgbClr val="000000"/>
                          </a:solidFill>
                          <a:latin typeface="Times New Roman"/>
                        </a:rPr>
                        <a:t> </a:t>
                      </a:r>
                      <a:r>
                        <a:rPr sz="1100" b="0" i="0">
                          <a:solidFill>
                            <a:srgbClr val="000000"/>
                          </a:solidFill>
                          <a:latin typeface="Calibri"/>
                        </a:rPr>
                        <a:t>Sales Footprint</a:t>
                      </a:r>
                      <a:endParaRPr sz="1100"/>
                    </a:p>
                  </a:txBody>
                  <a:tcPr marL="771525" marR="9525" marT="9525" marB="0" anchor="ctr"/>
                </a:tc>
              </a:tr>
              <a:tr h="175260">
                <a:tc>
                  <a:txBody>
                    <a:bodyPr wrap="square"/>
                    <a:lstStyle/>
                    <a:p>
                      <a:pPr algn="l"/>
                      <a:r>
                        <a:rPr sz="1100" b="0" i="0">
                          <a:solidFill>
                            <a:srgbClr val="000000"/>
                          </a:solidFill>
                          <a:latin typeface="Calibri"/>
                        </a:rPr>
                        <a:t>23.1.6.</a:t>
                      </a:r>
                      <a:r>
                        <a:rPr sz="700" b="0" i="0">
                          <a:solidFill>
                            <a:srgbClr val="000000"/>
                          </a:solidFill>
                          <a:latin typeface="Times New Roman"/>
                        </a:rPr>
                        <a:t> </a:t>
                      </a:r>
                      <a:r>
                        <a:rPr sz="1100" b="0" i="0">
                          <a:solidFill>
                            <a:srgbClr val="000000"/>
                          </a:solidFill>
                          <a:latin typeface="Calibri"/>
                        </a:rPr>
                        <a:t>Strategy Overview</a:t>
                      </a:r>
                      <a:endParaRPr sz="1100"/>
                    </a:p>
                  </a:txBody>
                  <a:tcPr marL="771525" marR="9525" marT="9525" marB="0" anchor="ctr"/>
                </a:tc>
              </a:tr>
              <a:tr h="175260">
                <a:tc>
                  <a:txBody>
                    <a:bodyPr wrap="square"/>
                    <a:lstStyle/>
                    <a:p>
                      <a:pPr algn="l"/>
                      <a:r>
                        <a:rPr sz="1100" b="0" i="1">
                          <a:solidFill>
                            <a:srgbClr val="000000"/>
                          </a:solidFill>
                          <a:latin typeface="Calibri"/>
                        </a:rPr>
                        <a:t>23.1.6.1.</a:t>
                      </a:r>
                      <a:r>
                        <a:rPr sz="700" b="0" i="1">
                          <a:solidFill>
                            <a:srgbClr val="000000"/>
                          </a:solidFill>
                          <a:latin typeface="Times New Roman"/>
                        </a:rPr>
                        <a:t> </a:t>
                      </a:r>
                      <a:r>
                        <a:rPr sz="1100" b="0" i="1">
                          <a:solidFill>
                            <a:srgbClr val="000000"/>
                          </a:solidFill>
                          <a:latin typeface="Calibri"/>
                        </a:rPr>
                        <a:t>Marketing Strategy</a:t>
                      </a:r>
                      <a:endParaRPr sz="1100"/>
                    </a:p>
                  </a:txBody>
                  <a:tcPr marL="1028700" marR="9525" marT="9525" marB="0" anchor="ctr"/>
                </a:tc>
              </a:tr>
              <a:tr h="175260">
                <a:tc>
                  <a:txBody>
                    <a:bodyPr wrap="square"/>
                    <a:lstStyle/>
                    <a:p>
                      <a:pPr algn="l"/>
                      <a:r>
                        <a:rPr sz="1100" b="0" i="1">
                          <a:solidFill>
                            <a:srgbClr val="000000"/>
                          </a:solidFill>
                          <a:latin typeface="Calibri"/>
                        </a:rPr>
                        <a:t>23.1.6.2.</a:t>
                      </a:r>
                      <a:r>
                        <a:rPr sz="700" b="0" i="1">
                          <a:solidFill>
                            <a:srgbClr val="000000"/>
                          </a:solidFill>
                          <a:latin typeface="Times New Roman"/>
                        </a:rPr>
                        <a:t> </a:t>
                      </a:r>
                      <a:r>
                        <a:rPr sz="1100" b="0" i="1">
                          <a:solidFill>
                            <a:srgbClr val="000000"/>
                          </a:solidFill>
                          <a:latin typeface="Calibri"/>
                        </a:rPr>
                        <a:t>Product Strategy</a:t>
                      </a:r>
                      <a:endParaRPr sz="1100"/>
                    </a:p>
                  </a:txBody>
                  <a:tcPr marL="10287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403098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23.1.6.3.</a:t>
                      </a:r>
                      <a:r>
                        <a:rPr sz="700" b="0" i="1">
                          <a:solidFill>
                            <a:srgbClr val="000000"/>
                          </a:solidFill>
                          <a:latin typeface="Times New Roman"/>
                        </a:rPr>
                        <a:t> </a:t>
                      </a:r>
                      <a:r>
                        <a:rPr sz="1100" b="0" i="1">
                          <a:solidFill>
                            <a:srgbClr val="000000"/>
                          </a:solidFill>
                          <a:latin typeface="Calibri"/>
                        </a:rPr>
                        <a:t>Channel Strategy</a:t>
                      </a:r>
                      <a:endParaRPr sz="1100"/>
                    </a:p>
                  </a:txBody>
                  <a:tcPr marL="1028700" marR="9525" marT="9525" marB="0" anchor="ctr"/>
                </a:tc>
              </a:tr>
              <a:tr h="175260">
                <a:tc>
                  <a:txBody>
                    <a:bodyPr wrap="square"/>
                    <a:lstStyle/>
                    <a:p>
                      <a:pPr algn="l"/>
                      <a:r>
                        <a:rPr sz="1100" b="0" i="1">
                          <a:solidFill>
                            <a:srgbClr val="000000"/>
                          </a:solidFill>
                          <a:latin typeface="Calibri"/>
                        </a:rPr>
                        <a:t>23.1.6.4.</a:t>
                      </a:r>
                      <a:r>
                        <a:rPr sz="700" b="0" i="1">
                          <a:solidFill>
                            <a:srgbClr val="000000"/>
                          </a:solidFill>
                          <a:latin typeface="Times New Roman"/>
                        </a:rPr>
                        <a:t> </a:t>
                      </a:r>
                      <a:r>
                        <a:rPr sz="1100" b="0" i="1">
                          <a:solidFill>
                            <a:srgbClr val="000000"/>
                          </a:solidFill>
                          <a:latin typeface="Calibri"/>
                        </a:rPr>
                        <a:t>Pricing Strategy</a:t>
                      </a:r>
                      <a:endParaRPr sz="1100"/>
                    </a:p>
                  </a:txBody>
                  <a:tcPr marL="1028700" marR="9525" marT="9525" marB="0" anchor="ctr"/>
                </a:tc>
              </a:tr>
              <a:tr h="175260">
                <a:tc>
                  <a:txBody>
                    <a:bodyPr wrap="square"/>
                    <a:lstStyle/>
                    <a:p>
                      <a:pPr algn="l"/>
                      <a:r>
                        <a:rPr sz="1100" b="0" i="0">
                          <a:solidFill>
                            <a:srgbClr val="000000"/>
                          </a:solidFill>
                          <a:latin typeface="Calibri"/>
                        </a:rPr>
                        <a:t>23.1.7.</a:t>
                      </a:r>
                      <a:r>
                        <a:rPr sz="700" b="0" i="0">
                          <a:solidFill>
                            <a:srgbClr val="000000"/>
                          </a:solidFill>
                          <a:latin typeface="Times New Roman"/>
                        </a:rPr>
                        <a:t> </a:t>
                      </a:r>
                      <a:r>
                        <a:rPr sz="1100" b="0" i="0">
                          <a:solidFill>
                            <a:srgbClr val="000000"/>
                          </a:solidFill>
                          <a:latin typeface="Calibri"/>
                        </a:rPr>
                        <a:t>SWOT</a:t>
                      </a:r>
                      <a:endParaRPr sz="1100"/>
                    </a:p>
                  </a:txBody>
                  <a:tcPr marL="771525" marR="9525" marT="9525" marB="0" anchor="ctr"/>
                </a:tc>
              </a:tr>
              <a:tr h="175260">
                <a:tc>
                  <a:txBody>
                    <a:bodyPr wrap="square"/>
                    <a:lstStyle/>
                    <a:p>
                      <a:pPr algn="l"/>
                      <a:r>
                        <a:rPr sz="1100" b="0" i="0">
                          <a:solidFill>
                            <a:srgbClr val="000000"/>
                          </a:solidFill>
                          <a:latin typeface="Calibri"/>
                        </a:rPr>
                        <a:t>23.1.8.</a:t>
                      </a:r>
                      <a:r>
                        <a:rPr sz="700" b="0" i="0">
                          <a:solidFill>
                            <a:srgbClr val="000000"/>
                          </a:solidFill>
                          <a:latin typeface="Times New Roman"/>
                        </a:rPr>
                        <a:t> </a:t>
                      </a:r>
                      <a:r>
                        <a:rPr sz="1100" b="0" i="0">
                          <a:solidFill>
                            <a:srgbClr val="000000"/>
                          </a:solidFill>
                          <a:latin typeface="Calibri"/>
                        </a:rPr>
                        <a:t>Analyst Comment</a:t>
                      </a:r>
                      <a:endParaRPr sz="1100"/>
                    </a:p>
                  </a:txBody>
                  <a:tcPr marL="771525" marR="9525" marT="9525" marB="0" anchor="ctr"/>
                </a:tc>
              </a:tr>
              <a:tr h="175260">
                <a:tc>
                  <a:txBody>
                    <a:bodyPr wrap="square"/>
                    <a:lstStyle/>
                    <a:p>
                      <a:pPr algn="l"/>
                      <a:r>
                        <a:rPr sz="1100" b="0" i="1">
                          <a:solidFill>
                            <a:srgbClr val="EE0000"/>
                          </a:solidFill>
                          <a:latin typeface="Calibri"/>
                        </a:rPr>
                        <a:t>Note: All companies shall be indicated in similar manner</a:t>
                      </a:r>
                      <a:endParaRPr sz="1100"/>
                    </a:p>
                  </a:txBody>
                  <a:tcPr marL="9525" marR="9525" marT="9525" marB="0" anchor="ctr"/>
                </a:tc>
              </a:tr>
              <a:tr h="175260">
                <a:tc>
                  <a:txBody>
                    <a:bodyPr wrap="square"/>
                    <a:lstStyle/>
                    <a:p>
                      <a:pPr algn="l"/>
                      <a:r>
                        <a:rPr sz="1100" b="0" i="0">
                          <a:solidFill>
                            <a:srgbClr val="0070C0"/>
                          </a:solidFill>
                          <a:latin typeface="Calibri"/>
                        </a:rPr>
                        <a:t>23.2.</a:t>
                      </a:r>
                      <a:r>
                        <a:rPr sz="700" b="0" i="0">
                          <a:solidFill>
                            <a:srgbClr val="0070C0"/>
                          </a:solidFill>
                          <a:latin typeface="Times New Roman"/>
                        </a:rPr>
                        <a:t>  </a:t>
                      </a:r>
                      <a:r>
                        <a:rPr sz="1100" b="0" i="0">
                          <a:solidFill>
                            <a:srgbClr val="0070C0"/>
                          </a:solidFill>
                          <a:latin typeface="Calibri"/>
                        </a:rPr>
                        <a:t>Sealed Air Corporation</a:t>
                      </a:r>
                      <a:endParaRPr sz="1100"/>
                    </a:p>
                  </a:txBody>
                  <a:tcPr marL="428625" marR="9525" marT="9525" marB="0" anchor="ctr"/>
                </a:tc>
              </a:tr>
              <a:tr h="175260">
                <a:tc>
                  <a:txBody>
                    <a:bodyPr wrap="square"/>
                    <a:lstStyle/>
                    <a:p>
                      <a:pPr algn="l"/>
                      <a:r>
                        <a:rPr sz="1100" b="0" i="0">
                          <a:solidFill>
                            <a:srgbClr val="0070C0"/>
                          </a:solidFill>
                          <a:latin typeface="Calibri"/>
                        </a:rPr>
                        <a:t>23.3.</a:t>
                      </a:r>
                      <a:r>
                        <a:rPr sz="700" b="0" i="0">
                          <a:solidFill>
                            <a:srgbClr val="0070C0"/>
                          </a:solidFill>
                          <a:latin typeface="Times New Roman"/>
                        </a:rPr>
                        <a:t>  </a:t>
                      </a:r>
                      <a:r>
                        <a:rPr sz="1100" b="0" i="0">
                          <a:solidFill>
                            <a:srgbClr val="0070C0"/>
                          </a:solidFill>
                          <a:latin typeface="Calibri"/>
                        </a:rPr>
                        <a:t>Inteplast Group</a:t>
                      </a:r>
                      <a:endParaRPr sz="1100"/>
                    </a:p>
                  </a:txBody>
                  <a:tcPr marL="428625" marR="9525" marT="9525" marB="0" anchor="ctr"/>
                </a:tc>
              </a:tr>
              <a:tr h="175260">
                <a:tc>
                  <a:txBody>
                    <a:bodyPr wrap="square"/>
                    <a:lstStyle/>
                    <a:p>
                      <a:pPr algn="l"/>
                      <a:r>
                        <a:rPr sz="1100" b="0" i="0">
                          <a:solidFill>
                            <a:srgbClr val="0070C0"/>
                          </a:solidFill>
                          <a:latin typeface="Calibri"/>
                        </a:rPr>
                        <a:t>23.4.</a:t>
                      </a:r>
                      <a:r>
                        <a:rPr sz="700" b="0" i="0">
                          <a:solidFill>
                            <a:srgbClr val="0070C0"/>
                          </a:solidFill>
                          <a:latin typeface="Times New Roman"/>
                        </a:rPr>
                        <a:t>  </a:t>
                      </a:r>
                      <a:r>
                        <a:rPr sz="1100" b="0" i="0">
                          <a:solidFill>
                            <a:srgbClr val="0070C0"/>
                          </a:solidFill>
                          <a:latin typeface="Calibri"/>
                        </a:rPr>
                        <a:t>Novolex</a:t>
                      </a:r>
                      <a:endParaRPr sz="1100"/>
                    </a:p>
                  </a:txBody>
                  <a:tcPr marL="428625" marR="9525" marT="9525" marB="0" anchor="ctr"/>
                </a:tc>
              </a:tr>
              <a:tr h="175260">
                <a:tc>
                  <a:txBody>
                    <a:bodyPr wrap="square"/>
                    <a:lstStyle/>
                    <a:p>
                      <a:pPr algn="l"/>
                      <a:r>
                        <a:rPr sz="1100" b="0" i="0">
                          <a:solidFill>
                            <a:srgbClr val="0070C0"/>
                          </a:solidFill>
                          <a:latin typeface="Calibri"/>
                        </a:rPr>
                        <a:t>23.5.</a:t>
                      </a:r>
                      <a:r>
                        <a:rPr sz="700" b="0" i="0">
                          <a:solidFill>
                            <a:srgbClr val="0070C0"/>
                          </a:solidFill>
                          <a:latin typeface="Times New Roman"/>
                        </a:rPr>
                        <a:t>  </a:t>
                      </a:r>
                      <a:r>
                        <a:rPr sz="1100" b="0" i="0">
                          <a:solidFill>
                            <a:srgbClr val="0070C0"/>
                          </a:solidFill>
                          <a:latin typeface="Calibri"/>
                        </a:rPr>
                        <a:t>Coveris</a:t>
                      </a:r>
                      <a:endParaRPr sz="1100"/>
                    </a:p>
                  </a:txBody>
                  <a:tcPr marL="428625" marR="9525" marT="9525" marB="0" anchor="ctr"/>
                </a:tc>
              </a:tr>
              <a:tr h="175260">
                <a:tc>
                  <a:txBody>
                    <a:bodyPr wrap="square"/>
                    <a:lstStyle/>
                    <a:p>
                      <a:pPr algn="l"/>
                      <a:r>
                        <a:rPr sz="1100" b="0" i="0">
                          <a:solidFill>
                            <a:srgbClr val="0070C0"/>
                          </a:solidFill>
                          <a:latin typeface="Calibri"/>
                        </a:rPr>
                        <a:t>23.6.</a:t>
                      </a:r>
                      <a:r>
                        <a:rPr sz="700" b="0" i="0">
                          <a:solidFill>
                            <a:srgbClr val="0070C0"/>
                          </a:solidFill>
                          <a:latin typeface="Times New Roman"/>
                        </a:rPr>
                        <a:t>  </a:t>
                      </a:r>
                      <a:r>
                        <a:rPr sz="1100" b="0" i="0">
                          <a:solidFill>
                            <a:srgbClr val="0070C0"/>
                          </a:solidFill>
                          <a:latin typeface="Calibri"/>
                        </a:rPr>
                        <a:t>Printpack</a:t>
                      </a:r>
                      <a:endParaRPr sz="1100"/>
                    </a:p>
                  </a:txBody>
                  <a:tcPr marL="428625" marR="9525" marT="9525" marB="0" anchor="ctr"/>
                </a:tc>
              </a:tr>
              <a:tr h="175260">
                <a:tc>
                  <a:txBody>
                    <a:bodyPr wrap="square"/>
                    <a:lstStyle/>
                    <a:p>
                      <a:pPr algn="l"/>
                      <a:r>
                        <a:rPr sz="1100" b="0" i="0">
                          <a:solidFill>
                            <a:srgbClr val="0070C0"/>
                          </a:solidFill>
                          <a:latin typeface="Calibri"/>
                        </a:rPr>
                        <a:t>23.7.</a:t>
                      </a:r>
                      <a:r>
                        <a:rPr sz="700" b="0" i="0">
                          <a:solidFill>
                            <a:srgbClr val="0070C0"/>
                          </a:solidFill>
                          <a:latin typeface="Times New Roman"/>
                        </a:rPr>
                        <a:t>  </a:t>
                      </a:r>
                      <a:r>
                        <a:rPr sz="1100" b="0" i="0">
                          <a:solidFill>
                            <a:srgbClr val="0070C0"/>
                          </a:solidFill>
                          <a:latin typeface="Calibri"/>
                        </a:rPr>
                        <a:t>Winpak Ltd.</a:t>
                      </a:r>
                      <a:endParaRPr sz="1100"/>
                    </a:p>
                  </a:txBody>
                  <a:tcPr marL="428625" marR="9525" marT="9525" marB="0" anchor="ctr"/>
                </a:tc>
              </a:tr>
              <a:tr h="175260">
                <a:tc>
                  <a:txBody>
                    <a:bodyPr wrap="square"/>
                    <a:lstStyle/>
                    <a:p>
                      <a:pPr algn="l"/>
                      <a:r>
                        <a:rPr sz="1100" b="0" i="0">
                          <a:solidFill>
                            <a:srgbClr val="0070C0"/>
                          </a:solidFill>
                          <a:latin typeface="Calibri"/>
                        </a:rPr>
                        <a:t>23.8.</a:t>
                      </a:r>
                      <a:r>
                        <a:rPr sz="700" b="0" i="0">
                          <a:solidFill>
                            <a:srgbClr val="0070C0"/>
                          </a:solidFill>
                          <a:latin typeface="Times New Roman"/>
                        </a:rPr>
                        <a:t>  </a:t>
                      </a:r>
                      <a:r>
                        <a:rPr sz="1100" b="0" i="0">
                          <a:solidFill>
                            <a:srgbClr val="0070C0"/>
                          </a:solidFill>
                          <a:latin typeface="Calibri"/>
                        </a:rPr>
                        <a:t>Huhtamaki</a:t>
                      </a:r>
                      <a:endParaRPr sz="1100"/>
                    </a:p>
                  </a:txBody>
                  <a:tcPr marL="428625" marR="9525" marT="9525" marB="0" anchor="ctr"/>
                </a:tc>
              </a:tr>
              <a:tr h="175260">
                <a:tc>
                  <a:txBody>
                    <a:bodyPr wrap="square"/>
                    <a:lstStyle/>
                    <a:p>
                      <a:pPr algn="l"/>
                      <a:r>
                        <a:rPr sz="1100" b="0" i="0">
                          <a:solidFill>
                            <a:srgbClr val="0070C0"/>
                          </a:solidFill>
                          <a:latin typeface="Calibri"/>
                        </a:rPr>
                        <a:t>23.9.</a:t>
                      </a:r>
                      <a:r>
                        <a:rPr sz="700" b="0" i="0">
                          <a:solidFill>
                            <a:srgbClr val="0070C0"/>
                          </a:solidFill>
                          <a:latin typeface="Times New Roman"/>
                        </a:rPr>
                        <a:t>  </a:t>
                      </a:r>
                      <a:r>
                        <a:rPr sz="1100" b="0" i="0">
                          <a:solidFill>
                            <a:srgbClr val="0070C0"/>
                          </a:solidFill>
                          <a:latin typeface="Calibri"/>
                        </a:rPr>
                        <a:t>Berry Global Group</a:t>
                      </a:r>
                      <a:endParaRPr sz="1100"/>
                    </a:p>
                  </a:txBody>
                  <a:tcPr marL="428625" marR="9525" marT="9525" marB="0" anchor="ctr"/>
                </a:tc>
              </a:tr>
              <a:tr h="175260">
                <a:tc>
                  <a:txBody>
                    <a:bodyPr wrap="square"/>
                    <a:lstStyle/>
                    <a:p>
                      <a:pPr algn="l"/>
                      <a:r>
                        <a:rPr sz="1100" b="0" i="0">
                          <a:solidFill>
                            <a:srgbClr val="0070C0"/>
                          </a:solidFill>
                          <a:latin typeface="Calibri"/>
                        </a:rPr>
                        <a:t>23.10.</a:t>
                      </a:r>
                      <a:r>
                        <a:rPr sz="700" b="0" i="0">
                          <a:solidFill>
                            <a:srgbClr val="0070C0"/>
                          </a:solidFill>
                          <a:latin typeface="Times New Roman"/>
                        </a:rPr>
                        <a:t> </a:t>
                      </a:r>
                      <a:r>
                        <a:rPr sz="1100" b="0" i="0">
                          <a:solidFill>
                            <a:srgbClr val="0070C0"/>
                          </a:solidFill>
                          <a:latin typeface="Calibri"/>
                        </a:rPr>
                        <a:t>Mondi Group</a:t>
                      </a:r>
                      <a:endParaRPr sz="1100"/>
                    </a:p>
                  </a:txBody>
                  <a:tcPr marL="428625" marR="9525" marT="9525" marB="0" anchor="ctr"/>
                </a:tc>
              </a:tr>
              <a:tr h="175260">
                <a:tc>
                  <a:txBody>
                    <a:bodyPr wrap="square"/>
                    <a:lstStyle/>
                    <a:p>
                      <a:pPr algn="l"/>
                      <a:r>
                        <a:rPr sz="1100" b="0" i="0">
                          <a:solidFill>
                            <a:srgbClr val="0070C0"/>
                          </a:solidFill>
                          <a:latin typeface="Calibri"/>
                        </a:rPr>
                        <a:t>23.11.</a:t>
                      </a:r>
                      <a:r>
                        <a:rPr sz="700" b="0" i="0">
                          <a:solidFill>
                            <a:srgbClr val="0070C0"/>
                          </a:solidFill>
                          <a:latin typeface="Times New Roman"/>
                        </a:rPr>
                        <a:t> </a:t>
                      </a:r>
                      <a:r>
                        <a:rPr sz="1100" b="0" i="0">
                          <a:solidFill>
                            <a:srgbClr val="0070C0"/>
                          </a:solidFill>
                          <a:latin typeface="Calibri"/>
                        </a:rPr>
                        <a:t>Pactiv Evergreen</a:t>
                      </a:r>
                      <a:endParaRPr sz="1100"/>
                    </a:p>
                  </a:txBody>
                  <a:tcPr marL="428625" marR="9525" marT="9525" marB="0" anchor="ctr"/>
                </a:tc>
              </a:tr>
              <a:tr h="175260">
                <a:tc>
                  <a:txBody>
                    <a:bodyPr wrap="square"/>
                    <a:lstStyle/>
                    <a:p>
                      <a:pPr algn="l"/>
                      <a:r>
                        <a:rPr sz="1100" b="0" i="0">
                          <a:solidFill>
                            <a:srgbClr val="0070C0"/>
                          </a:solidFill>
                          <a:latin typeface="Calibri"/>
                        </a:rPr>
                        <a:t>23.12.</a:t>
                      </a:r>
                      <a:r>
                        <a:rPr sz="700" b="0" i="0">
                          <a:solidFill>
                            <a:srgbClr val="0070C0"/>
                          </a:solidFill>
                          <a:latin typeface="Times New Roman"/>
                        </a:rPr>
                        <a:t> </a:t>
                      </a:r>
                      <a:r>
                        <a:rPr sz="1100" b="0" i="0">
                          <a:solidFill>
                            <a:srgbClr val="0070C0"/>
                          </a:solidFill>
                          <a:latin typeface="Calibri"/>
                        </a:rPr>
                        <a:t>Sonoco Products Company</a:t>
                      </a:r>
                      <a:endParaRPr sz="1100"/>
                    </a:p>
                  </a:txBody>
                  <a:tcPr marL="428625" marR="9525" marT="9525" marB="0" anchor="ctr"/>
                </a:tc>
              </a:tr>
              <a:tr h="175260">
                <a:tc>
                  <a:txBody>
                    <a:bodyPr wrap="square"/>
                    <a:lstStyle/>
                    <a:p>
                      <a:pPr algn="l"/>
                      <a:r>
                        <a:rPr sz="1100" b="0" i="0">
                          <a:solidFill>
                            <a:srgbClr val="0070C0"/>
                          </a:solidFill>
                          <a:latin typeface="Calibri"/>
                        </a:rPr>
                        <a:t>23.13.</a:t>
                      </a:r>
                      <a:r>
                        <a:rPr sz="700" b="0" i="0">
                          <a:solidFill>
                            <a:srgbClr val="0070C0"/>
                          </a:solidFill>
                          <a:latin typeface="Times New Roman"/>
                        </a:rPr>
                        <a:t> </a:t>
                      </a:r>
                      <a:r>
                        <a:rPr sz="1100" b="0" i="0">
                          <a:solidFill>
                            <a:srgbClr val="0070C0"/>
                          </a:solidFill>
                          <a:latin typeface="Calibri"/>
                        </a:rPr>
                        <a:t>A-Pac Manufacturing Co., Inc.</a:t>
                      </a:r>
                      <a:endParaRPr sz="1100"/>
                    </a:p>
                  </a:txBody>
                  <a:tcPr marL="428625" marR="9525" marT="9525" marB="0" anchor="ctr"/>
                </a:tc>
              </a:tr>
              <a:tr h="175260">
                <a:tc>
                  <a:txBody>
                    <a:bodyPr wrap="square"/>
                    <a:lstStyle/>
                    <a:p>
                      <a:pPr algn="l"/>
                      <a:r>
                        <a:rPr sz="1100" b="0" i="0">
                          <a:solidFill>
                            <a:srgbClr val="0070C0"/>
                          </a:solidFill>
                          <a:latin typeface="Calibri"/>
                        </a:rPr>
                        <a:t>23.14.</a:t>
                      </a:r>
                      <a:r>
                        <a:rPr sz="700" b="0" i="0">
                          <a:solidFill>
                            <a:srgbClr val="0070C0"/>
                          </a:solidFill>
                          <a:latin typeface="Times New Roman"/>
                        </a:rPr>
                        <a:t> </a:t>
                      </a:r>
                      <a:r>
                        <a:rPr sz="1100" b="0" i="0">
                          <a:solidFill>
                            <a:srgbClr val="0070C0"/>
                          </a:solidFill>
                          <a:latin typeface="Calibri"/>
                        </a:rPr>
                        <a:t>PPC Flex</a:t>
                      </a:r>
                      <a:endParaRPr sz="1100"/>
                    </a:p>
                  </a:txBody>
                  <a:tcPr marL="428625" marR="9525" marT="9525" marB="0" anchor="ctr"/>
                </a:tc>
              </a:tr>
              <a:tr h="175260">
                <a:tc>
                  <a:txBody>
                    <a:bodyPr wrap="square"/>
                    <a:lstStyle/>
                    <a:p>
                      <a:pPr algn="l"/>
                      <a:r>
                        <a:rPr sz="1100" b="0" i="0">
                          <a:solidFill>
                            <a:srgbClr val="0070C0"/>
                          </a:solidFill>
                          <a:latin typeface="Calibri"/>
                        </a:rPr>
                        <a:t>23.15.</a:t>
                      </a:r>
                      <a:r>
                        <a:rPr sz="700" b="0" i="0">
                          <a:solidFill>
                            <a:srgbClr val="0070C0"/>
                          </a:solidFill>
                          <a:latin typeface="Times New Roman"/>
                        </a:rPr>
                        <a:t> </a:t>
                      </a:r>
                      <a:r>
                        <a:rPr sz="1100" b="0" i="0">
                          <a:solidFill>
                            <a:srgbClr val="0070C0"/>
                          </a:solidFill>
                          <a:latin typeface="Calibri"/>
                        </a:rPr>
                        <a:t>Arihant Packers</a:t>
                      </a:r>
                      <a:endParaRPr sz="1100"/>
                    </a:p>
                  </a:txBody>
                  <a:tcPr marL="428625" marR="9525" marT="9525" marB="0" anchor="ctr"/>
                </a:tc>
              </a:tr>
              <a:tr h="175260">
                <a:tc>
                  <a:txBody>
                    <a:bodyPr wrap="square"/>
                    <a:lstStyle/>
                    <a:p>
                      <a:pPr algn="l"/>
                      <a:r>
                        <a:rPr sz="1100" b="0" i="0">
                          <a:solidFill>
                            <a:srgbClr val="0070C0"/>
                          </a:solidFill>
                          <a:latin typeface="Calibri"/>
                        </a:rPr>
                        <a:t>23.16.</a:t>
                      </a:r>
                      <a:r>
                        <a:rPr sz="700" b="0" i="0">
                          <a:solidFill>
                            <a:srgbClr val="0070C0"/>
                          </a:solidFill>
                          <a:latin typeface="Times New Roman"/>
                        </a:rPr>
                        <a:t> </a:t>
                      </a:r>
                      <a:r>
                        <a:rPr sz="1100" b="0" i="0">
                          <a:solidFill>
                            <a:srgbClr val="0070C0"/>
                          </a:solidFill>
                          <a:latin typeface="Calibri"/>
                        </a:rPr>
                        <a:t>Others on request</a:t>
                      </a:r>
                      <a:endParaRPr sz="1100"/>
                    </a:p>
                  </a:txBody>
                  <a:tcPr marL="428625" marR="9525" marT="9525" marB="0" anchor="ctr"/>
                </a:tc>
              </a:tr>
              <a:tr h="175260">
                <a:tc>
                  <a:txBody>
                    <a:bodyPr wrap="square"/>
                    <a:lstStyle/>
                    <a:p>
                      <a:pPr algn="l"/>
                      <a:r>
                        <a:rPr sz="1100" b="1" i="0">
                          <a:solidFill>
                            <a:srgbClr val="EE0000"/>
                          </a:solidFill>
                          <a:latin typeface="Calibri"/>
                        </a:rPr>
                        <a:t>ADD SECTIONS AS PER STORY LINE</a:t>
                      </a:r>
                      <a:endParaRPr sz="1100"/>
                    </a:p>
                  </a:txBody>
                  <a:tcPr marL="9525" marR="9525" marT="9525" marB="0" anchor="ctr"/>
                </a:tc>
              </a:tr>
              <a:tr h="175260">
                <a:tc>
                  <a:txBody>
                    <a:bodyPr wrap="square"/>
                    <a:lstStyle/>
                    <a:p>
                      <a:pPr algn="l"/>
                      <a:r>
                        <a:rPr sz="1100" b="1" i="0">
                          <a:solidFill>
                            <a:srgbClr val="000000"/>
                          </a:solidFill>
                          <a:latin typeface="Calibri"/>
                        </a:rPr>
                        <a:t>24.</a:t>
                      </a:r>
                      <a:r>
                        <a:rPr sz="700" b="1" i="0">
                          <a:solidFill>
                            <a:srgbClr val="000000"/>
                          </a:solidFill>
                          <a:latin typeface="Times New Roman"/>
                        </a:rPr>
                        <a:t>    </a:t>
                      </a:r>
                      <a:r>
                        <a:rPr sz="1100" b="1" i="0">
                          <a:solidFill>
                            <a:srgbClr val="000000"/>
                          </a:solidFill>
                          <a:latin typeface="Calibri"/>
                        </a:rPr>
                        <a:t>Assumptions and Acronyms Used</a:t>
                      </a:r>
                      <a:endParaRPr sz="1100"/>
                    </a:p>
                  </a:txBody>
                  <a:tcPr marL="171450" marR="9525" marT="9525" marB="0" anchor="ctr"/>
                </a:tc>
              </a:tr>
              <a:tr h="175260">
                <a:tc>
                  <a:txBody>
                    <a:bodyPr wrap="square"/>
                    <a:lstStyle/>
                    <a:p>
                      <a:pPr algn="l"/>
                      <a:r>
                        <a:rPr sz="1100" b="1" i="0">
                          <a:solidFill>
                            <a:srgbClr val="000000"/>
                          </a:solidFill>
                          <a:latin typeface="Calibri"/>
                        </a:rPr>
                        <a:t>25.</a:t>
                      </a:r>
                      <a:r>
                        <a:rPr sz="700" b="1" i="0">
                          <a:solidFill>
                            <a:srgbClr val="000000"/>
                          </a:solidFill>
                          <a:latin typeface="Times New Roman"/>
                        </a:rPr>
                        <a:t>    </a:t>
                      </a:r>
                      <a:r>
                        <a:rPr sz="1100" b="1" i="0">
                          <a:solidFill>
                            <a:srgbClr val="000000"/>
                          </a:solidFill>
                          <a:latin typeface="Calibri"/>
                        </a:rPr>
                        <a:t>Research Methodology</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Table of Contents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The full contents of this study, as delivered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(1/4)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 Latin America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2: Latin America Market Value Snapshot,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3: Latin America Market Taxonomy by Segment, 2026</a:t>
                      </a:r>
                      <a:endParaRPr sz="1050"/>
                    </a:p>
                  </a:txBody>
                  <a:tcPr marL="9525" marR="9525" marT="9525" marB="0" anchor="ctr"/>
                </a:tc>
              </a:tr>
              <a:tr h="169606">
                <a:tc>
                  <a:txBody>
                    <a:bodyPr wrap="square"/>
                    <a:lstStyle/>
                    <a:p>
                      <a:pPr algn="l"/>
                      <a:r>
                        <a:rPr sz="1050" b="0" i="0">
                          <a:solidFill>
                            <a:srgbClr val="000000"/>
                          </a:solidFill>
                          <a:latin typeface="Calibri"/>
                        </a:rPr>
                        <a:t>Figure 4: Latin America Market Share by Product Type, %, 2026</a:t>
                      </a:r>
                      <a:endParaRPr sz="1050"/>
                    </a:p>
                  </a:txBody>
                  <a:tcPr marL="9525" marR="9525" marT="9525" marB="0" anchor="ctr"/>
                </a:tc>
              </a:tr>
              <a:tr h="169606">
                <a:tc>
                  <a:txBody>
                    <a:bodyPr wrap="square"/>
                    <a:lstStyle/>
                    <a:p>
                      <a:pPr algn="l"/>
                      <a:r>
                        <a:rPr sz="1050" b="0" i="0">
                          <a:solidFill>
                            <a:srgbClr val="000000"/>
                          </a:solidFill>
                          <a:latin typeface="Calibri"/>
                        </a:rPr>
                        <a:t>Figure 5: Latin America Market Share by Principal Material / Barrier Technology, %, 2026</a:t>
                      </a:r>
                      <a:endParaRPr sz="1050"/>
                    </a:p>
                  </a:txBody>
                  <a:tcPr marL="9525" marR="9525" marT="9525" marB="0" anchor="ctr"/>
                </a:tc>
              </a:tr>
              <a:tr h="169606">
                <a:tc>
                  <a:txBody>
                    <a:bodyPr wrap="square"/>
                    <a:lstStyle/>
                    <a:p>
                      <a:pPr algn="l"/>
                      <a:r>
                        <a:rPr sz="1050" b="0" i="0">
                          <a:solidFill>
                            <a:srgbClr val="000000"/>
                          </a:solidFill>
                          <a:latin typeface="Calibri"/>
                        </a:rPr>
                        <a:t>Figure 6: Latin America Market Share by Material Structure, %, 2026</a:t>
                      </a:r>
                      <a:endParaRPr sz="1050"/>
                    </a:p>
                  </a:txBody>
                  <a:tcPr marL="9525" marR="9525" marT="9525" marB="0" anchor="ctr"/>
                </a:tc>
              </a:tr>
              <a:tr h="169606">
                <a:tc>
                  <a:txBody>
                    <a:bodyPr wrap="square"/>
                    <a:lstStyle/>
                    <a:p>
                      <a:pPr algn="l"/>
                      <a:r>
                        <a:rPr sz="1050" b="0" i="0">
                          <a:solidFill>
                            <a:srgbClr val="000000"/>
                          </a:solidFill>
                          <a:latin typeface="Calibri"/>
                        </a:rPr>
                        <a:t>Figure 7: Latin America Market Share by Barrier Level, %, 2026</a:t>
                      </a:r>
                      <a:endParaRPr sz="1050"/>
                    </a:p>
                  </a:txBody>
                  <a:tcPr marL="9525" marR="9525" marT="9525" marB="0" anchor="ctr"/>
                </a:tc>
              </a:tr>
              <a:tr h="169606">
                <a:tc>
                  <a:txBody>
                    <a:bodyPr wrap="square"/>
                    <a:lstStyle/>
                    <a:p>
                      <a:pPr algn="l"/>
                      <a:r>
                        <a:rPr sz="1050" b="0" i="0">
                          <a:solidFill>
                            <a:srgbClr val="000000"/>
                          </a:solidFill>
                          <a:latin typeface="Calibri"/>
                        </a:rPr>
                        <a:t>Figure 8: Latin America Market Share by Application, %, 2026</a:t>
                      </a:r>
                      <a:endParaRPr sz="1050"/>
                    </a:p>
                  </a:txBody>
                  <a:tcPr marL="9525" marR="9525" marT="9525" marB="0" anchor="ctr"/>
                </a:tc>
              </a:tr>
              <a:tr h="169606">
                <a:tc>
                  <a:txBody>
                    <a:bodyPr wrap="square"/>
                    <a:lstStyle/>
                    <a:p>
                      <a:pPr algn="l"/>
                      <a:r>
                        <a:rPr sz="1050" b="0" i="0">
                          <a:solidFill>
                            <a:srgbClr val="000000"/>
                          </a:solidFill>
                          <a:latin typeface="Calibri"/>
                        </a:rPr>
                        <a:t>Figure 9: Latin America Market Share by Barrier Level Vs Application, %, 2026</a:t>
                      </a:r>
                      <a:endParaRPr sz="1050"/>
                    </a:p>
                  </a:txBody>
                  <a:tcPr marL="9525" marR="9525" marT="9525" marB="0" anchor="ctr"/>
                </a:tc>
              </a:tr>
              <a:tr h="169606">
                <a:tc>
                  <a:txBody>
                    <a:bodyPr wrap="square"/>
                    <a:lstStyle/>
                    <a:p>
                      <a:pPr algn="l"/>
                      <a:r>
                        <a:rPr sz="1050" b="0" i="0">
                          <a:solidFill>
                            <a:srgbClr val="000000"/>
                          </a:solidFill>
                          <a:latin typeface="Calibri"/>
                        </a:rPr>
                        <a:t>Figure 10: Latin America Market Incremental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 Latin America Market Historical Value, US$ Mn, 2021–2025</a:t>
                      </a:r>
                      <a:endParaRPr sz="1050"/>
                    </a:p>
                  </a:txBody>
                  <a:tcPr marL="9525" marR="9525" marT="9525" marB="0" anchor="ctr"/>
                </a:tc>
              </a:tr>
              <a:tr h="169606">
                <a:tc>
                  <a:txBody>
                    <a:bodyPr wrap="square"/>
                    <a:lstStyle/>
                    <a:p>
                      <a:pPr algn="l"/>
                      <a:r>
                        <a:rPr sz="1050" b="0" i="0">
                          <a:solidFill>
                            <a:srgbClr val="000000"/>
                          </a:solidFill>
                          <a:latin typeface="Calibri"/>
                        </a:rPr>
                        <a:t>Figure 12: Latin America Market Forecast Value, US$ Mn, 2026–2036</a:t>
                      </a:r>
                      <a:endParaRPr sz="1050"/>
                    </a:p>
                  </a:txBody>
                  <a:tcPr marL="9525" marR="9525" marT="9525" marB="0" anchor="ctr"/>
                </a:tc>
              </a:tr>
              <a:tr h="169606">
                <a:tc>
                  <a:txBody>
                    <a:bodyPr wrap="square"/>
                    <a:lstStyle/>
                    <a:p>
                      <a:pPr algn="l"/>
                      <a:r>
                        <a:rPr sz="1050" b="0" i="0">
                          <a:solidFill>
                            <a:srgbClr val="000000"/>
                          </a:solidFill>
                          <a:latin typeface="Calibri"/>
                        </a:rPr>
                        <a:t>Figure 13: Latin America Market YoY Growth, %, 2021–2036</a:t>
                      </a:r>
                      <a:endParaRPr sz="1050"/>
                    </a:p>
                  </a:txBody>
                  <a:tcPr marL="9525" marR="9525" marT="9525" marB="0" anchor="ctr"/>
                </a:tc>
              </a:tr>
              <a:tr h="169606">
                <a:tc>
                  <a:txBody>
                    <a:bodyPr wrap="square"/>
                    <a:lstStyle/>
                    <a:p>
                      <a:pPr algn="l"/>
                      <a:r>
                        <a:rPr sz="1050" b="0" i="0">
                          <a:solidFill>
                            <a:srgbClr val="000000"/>
                          </a:solidFill>
                          <a:latin typeface="Calibri"/>
                        </a:rPr>
                        <a:t>Figure 14: Latin America Market Volume and YoY Growth, Thousand MT and %, 2021–2036</a:t>
                      </a:r>
                      <a:endParaRPr sz="1050"/>
                    </a:p>
                  </a:txBody>
                  <a:tcPr marL="9525" marR="9525" marT="9525" marB="0" anchor="ctr"/>
                </a:tc>
              </a:tr>
              <a:tr h="169606">
                <a:tc>
                  <a:txBody>
                    <a:bodyPr wrap="square"/>
                    <a:lstStyle/>
                    <a:p>
                      <a:pPr algn="l"/>
                      <a:r>
                        <a:rPr sz="1050" b="0" i="0">
                          <a:solidFill>
                            <a:srgbClr val="000000"/>
                          </a:solidFill>
                          <a:latin typeface="Calibri"/>
                        </a:rPr>
                        <a:t>Figure 15: Latin America Market Volume vs Value CAGR Comparison, %, 2026–2036</a:t>
                      </a:r>
                      <a:endParaRPr sz="1050"/>
                    </a:p>
                  </a:txBody>
                  <a:tcPr marL="9525" marR="9525" marT="9525" marB="0" anchor="ctr"/>
                </a:tc>
              </a:tr>
              <a:tr h="169606">
                <a:tc>
                  <a:txBody>
                    <a:bodyPr wrap="square"/>
                    <a:lstStyle/>
                    <a:p>
                      <a:pPr algn="l"/>
                      <a:r>
                        <a:rPr sz="1050" b="0" i="0">
                          <a:solidFill>
                            <a:srgbClr val="000000"/>
                          </a:solidFill>
                          <a:latin typeface="Calibri"/>
                        </a:rPr>
                        <a:t>Figure 16: Latin America Market Average Selling Price, US$/MT, 2021–2036</a:t>
                      </a:r>
                      <a:endParaRPr sz="1050"/>
                    </a:p>
                  </a:txBody>
                  <a:tcPr marL="9525" marR="9525" marT="9525" marB="0" anchor="ctr"/>
                </a:tc>
              </a:tr>
              <a:tr h="169606">
                <a:tc>
                  <a:txBody>
                    <a:bodyPr wrap="square"/>
                    <a:lstStyle/>
                    <a:p>
                      <a:pPr algn="l"/>
                      <a:r>
                        <a:rPr sz="1050" b="0" i="0">
                          <a:solidFill>
                            <a:srgbClr val="000000"/>
                          </a:solidFill>
                          <a:latin typeface="Calibri"/>
                        </a:rPr>
                        <a:t>Figure 17: Latin America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18: Latin America Market Incremental Opportunity by Year, US$ Mn, 2026–2036</a:t>
                      </a:r>
                      <a:endParaRPr sz="1050"/>
                    </a:p>
                  </a:txBody>
                  <a:tcPr marL="9525" marR="9525" marT="9525" marB="0" anchor="ctr"/>
                </a:tc>
              </a:tr>
              <a:tr h="169606">
                <a:tc>
                  <a:txBody>
                    <a:bodyPr wrap="square"/>
                    <a:lstStyle/>
                    <a:p>
                      <a:pPr algn="l"/>
                      <a:r>
                        <a:rPr sz="1050" b="0" i="0">
                          <a:solidFill>
                            <a:srgbClr val="000000"/>
                          </a:solidFill>
                          <a:latin typeface="Calibri"/>
                        </a:rPr>
                        <a:t>Figure 19: Latin America Market Historical vs Forecast CAGR, %, 2021–2036</a:t>
                      </a:r>
                      <a:endParaRPr sz="1050"/>
                    </a:p>
                  </a:txBody>
                  <a:tcPr marL="9525" marR="9525" marT="9525" marB="0" anchor="ctr"/>
                </a:tc>
              </a:tr>
              <a:tr h="169606">
                <a:tc>
                  <a:txBody>
                    <a:bodyPr wrap="square"/>
                    <a:lstStyle/>
                    <a:p>
                      <a:pPr algn="l"/>
                      <a:r>
                        <a:rPr sz="1050" b="0" i="0">
                          <a:solidFill>
                            <a:srgbClr val="000000"/>
                          </a:solidFill>
                          <a:latin typeface="Calibri"/>
                        </a:rPr>
                        <a:t>Figure 20: Latin America Market Value by Scenario (Optimistic, Likely, Pessimistic), US$ Mn, 2026–2036</a:t>
                      </a:r>
                      <a:endParaRPr sz="1050"/>
                    </a:p>
                  </a:txBody>
                  <a:tcPr marL="9525" marR="9525" marT="9525" marB="0" anchor="ctr"/>
                </a:tc>
              </a:tr>
              <a:tr h="169606">
                <a:tc>
                  <a:txBody>
                    <a:bodyPr wrap="square"/>
                    <a:lstStyle/>
                    <a:p>
                      <a:pPr algn="l"/>
                      <a:r>
                        <a:rPr sz="1050" b="0" i="0">
                          <a:solidFill>
                            <a:srgbClr val="000000"/>
                          </a:solidFill>
                          <a:latin typeface="Calibri"/>
                        </a:rPr>
                        <a:t>Figure 21: Latin America Market Size Evolution Index, 2025=100, 2021–2036</a:t>
                      </a:r>
                      <a:endParaRPr sz="1050"/>
                    </a:p>
                  </a:txBody>
                  <a:tcPr marL="9525" marR="9525" marT="9525" marB="0" anchor="ctr"/>
                </a:tc>
              </a:tr>
              <a:tr h="169606">
                <a:tc>
                  <a:txBody>
                    <a:bodyPr wrap="square"/>
                    <a:lstStyle/>
                    <a:p>
                      <a:pPr algn="l"/>
                      <a:r>
                        <a:rPr sz="1050" b="0" i="0">
                          <a:solidFill>
                            <a:srgbClr val="000000"/>
                          </a:solidFill>
                          <a:latin typeface="Calibri"/>
                        </a:rPr>
                        <a:t>Figure 22: Latin America Market Cumulative Value Addition, US$ Mn, 2026–2036</a:t>
                      </a:r>
                      <a:endParaRPr sz="1050"/>
                    </a:p>
                  </a:txBody>
                  <a:tcPr marL="9525" marR="9525" marT="9525" marB="0" anchor="ctr"/>
                </a:tc>
              </a:tr>
              <a:tr h="169606">
                <a:tc>
                  <a:txBody>
                    <a:bodyPr wrap="square"/>
                    <a:lstStyle/>
                    <a:p>
                      <a:pPr algn="l"/>
                      <a:r>
                        <a:rPr sz="1050" b="0" i="0">
                          <a:solidFill>
                            <a:srgbClr val="000000"/>
                          </a:solidFill>
                          <a:latin typeface="Calibri"/>
                        </a:rPr>
                        <a:t>Figure 23: Latin America Market Five-Year Absolute $ Opportunity, US$ Mn, 2026–2031</a:t>
                      </a:r>
                      <a:endParaRPr sz="1050"/>
                    </a:p>
                  </a:txBody>
                  <a:tcPr marL="9525" marR="9525" marT="9525" marB="0" anchor="ctr"/>
                </a:tc>
              </a:tr>
              <a:tr h="169606">
                <a:tc>
                  <a:txBody>
                    <a:bodyPr wrap="square"/>
                    <a:lstStyle/>
                    <a:p>
                      <a:pPr algn="l"/>
                      <a:r>
                        <a:rPr sz="1050" b="0" i="0">
                          <a:solidFill>
                            <a:srgbClr val="000000"/>
                          </a:solidFill>
                          <a:latin typeface="Calibri"/>
                        </a:rPr>
                        <a:t>Figure 24: Latin America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Figure 25: Latin America Market Value by Principal Material / Barrier Technology, US$ Mn, 2021–2036</a:t>
                      </a:r>
                      <a:endParaRPr sz="1050"/>
                    </a:p>
                  </a:txBody>
                  <a:tcPr marL="9525" marR="9525" marT="9525" marB="0" anchor="ctr"/>
                </a:tc>
              </a:tr>
              <a:tr h="169606">
                <a:tc>
                  <a:txBody>
                    <a:bodyPr wrap="square"/>
                    <a:lstStyle/>
                    <a:p>
                      <a:pPr algn="l"/>
                      <a:r>
                        <a:rPr sz="1050" b="0" i="0">
                          <a:solidFill>
                            <a:srgbClr val="000000"/>
                          </a:solidFill>
                          <a:latin typeface="Calibri"/>
                        </a:rPr>
                        <a:t>Figure 26: Latin America Market Value by Material Structure, US$ Mn, 2021–2036</a:t>
                      </a:r>
                      <a:endParaRPr sz="1050"/>
                    </a:p>
                  </a:txBody>
                  <a:tcPr marL="9525" marR="9525" marT="9525" marB="0" anchor="ctr"/>
                </a:tc>
              </a:tr>
              <a:tr h="169606">
                <a:tc>
                  <a:txBody>
                    <a:bodyPr wrap="square"/>
                    <a:lstStyle/>
                    <a:p>
                      <a:pPr algn="l"/>
                      <a:r>
                        <a:rPr sz="1050" b="0" i="0">
                          <a:solidFill>
                            <a:srgbClr val="000000"/>
                          </a:solidFill>
                          <a:latin typeface="Calibri"/>
                        </a:rPr>
                        <a:t>Figure 27: Latin America Market Value by Barrier Level, US$ Mn, 2021–2036</a:t>
                      </a:r>
                      <a:endParaRPr sz="1050"/>
                    </a:p>
                  </a:txBody>
                  <a:tcPr marL="9525" marR="9525" marT="9525" marB="0" anchor="ctr"/>
                </a:tc>
              </a:tr>
              <a:tr h="169606">
                <a:tc>
                  <a:txBody>
                    <a:bodyPr wrap="square"/>
                    <a:lstStyle/>
                    <a:p>
                      <a:pPr algn="l"/>
                      <a:r>
                        <a:rPr sz="1050" b="0" i="0">
                          <a:solidFill>
                            <a:srgbClr val="000000"/>
                          </a:solidFill>
                          <a:latin typeface="Calibri"/>
                        </a:rPr>
                        <a:t>Figure 28: Latin America Market Value by Application, US$ Mn, 2021–2036</a:t>
                      </a:r>
                      <a:endParaRPr sz="1050"/>
                    </a:p>
                  </a:txBody>
                  <a:tcPr marL="9525" marR="9525" marT="9525" marB="0" anchor="ctr"/>
                </a:tc>
              </a:tr>
              <a:tr h="169606">
                <a:tc>
                  <a:txBody>
                    <a:bodyPr wrap="square"/>
                    <a:lstStyle/>
                    <a:p>
                      <a:pPr algn="l"/>
                      <a:r>
                        <a:rPr sz="1050" b="0" i="0">
                          <a:solidFill>
                            <a:srgbClr val="000000"/>
                          </a:solidFill>
                          <a:latin typeface="Calibri"/>
                        </a:rPr>
                        <a:t>Figure 29: Latin America Market Value by Barrier Level Vs Application, US$ Mn, 2021–2036</a:t>
                      </a:r>
                      <a:endParaRPr sz="1050"/>
                    </a:p>
                  </a:txBody>
                  <a:tcPr marL="9525" marR="9525" marT="9525" marB="0" anchor="ctr"/>
                </a:tc>
              </a:tr>
              <a:tr h="169606">
                <a:tc>
                  <a:txBody>
                    <a:bodyPr wrap="square"/>
                    <a:lstStyle/>
                    <a:p>
                      <a:pPr algn="l"/>
                      <a:r>
                        <a:rPr sz="1050" b="0" i="0">
                          <a:solidFill>
                            <a:srgbClr val="000000"/>
                          </a:solidFill>
                          <a:latin typeface="Calibri"/>
                        </a:rPr>
                        <a:t>Figure 30: Latin America Market Share by Product Type, %, 2026 and 2036</a:t>
                      </a:r>
                      <a:endParaRPr sz="1050"/>
                    </a:p>
                  </a:txBody>
                  <a:tcPr marL="9525" marR="9525" marT="9525" marB="0" anchor="ctr"/>
                </a:tc>
              </a:tr>
              <a:tr h="169606">
                <a:tc>
                  <a:txBody>
                    <a:bodyPr wrap="square"/>
                    <a:lstStyle/>
                    <a:p>
                      <a:pPr algn="l"/>
                      <a:r>
                        <a:rPr sz="1050" b="0" i="0">
                          <a:solidFill>
                            <a:srgbClr val="000000"/>
                          </a:solidFill>
                          <a:latin typeface="Calibri"/>
                        </a:rPr>
                        <a:t>Figure 31: Latin America Market Share by Principal Material / Barrier Technology, %,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10"/>
        </p:xfrm>
        <a:graphic>
          <a:graphicData uri="http://schemas.openxmlformats.org/drawingml/2006/table">
            <a:tbl>
              <a:tblPr>
                <a:tableStyleId>{3B4B98B0-60AC-42C2-AFA5-B58CD77FA1E5}</a:tableStyleId>
              </a:tblPr>
              <a:tblGrid>
                <a:gridCol w="5876925"/>
              </a:tblGrid>
              <a:tr h="170266">
                <a:tc>
                  <a:txBody>
                    <a:bodyPr wrap="square"/>
                    <a:lstStyle/>
                    <a:p>
                      <a:pPr algn="l"/>
                      <a:r>
                        <a:rPr sz="1050" b="0" i="0">
                          <a:solidFill>
                            <a:srgbClr val="000000"/>
                          </a:solidFill>
                          <a:latin typeface="Calibri"/>
                        </a:rPr>
                        <a:t>Figure 32: Latin America Market Share by Material Structure, %, 2026 and 2036</a:t>
                      </a:r>
                      <a:endParaRPr sz="1050"/>
                    </a:p>
                  </a:txBody>
                  <a:tcPr marL="9525" marR="9525" marT="9525" marB="0" anchor="ctr"/>
                </a:tc>
              </a:tr>
              <a:tr h="170266">
                <a:tc>
                  <a:txBody>
                    <a:bodyPr wrap="square"/>
                    <a:lstStyle/>
                    <a:p>
                      <a:pPr algn="l"/>
                      <a:r>
                        <a:rPr sz="1050" b="0" i="0">
                          <a:solidFill>
                            <a:srgbClr val="000000"/>
                          </a:solidFill>
                          <a:latin typeface="Calibri"/>
                        </a:rPr>
                        <a:t>Figure 33: Latin America Market Share by Barrier Level, %, 2026 and 2036</a:t>
                      </a:r>
                      <a:endParaRPr sz="1050"/>
                    </a:p>
                  </a:txBody>
                  <a:tcPr marL="9525" marR="9525" marT="9525" marB="0" anchor="ctr"/>
                </a:tc>
              </a:tr>
              <a:tr h="170266">
                <a:tc>
                  <a:txBody>
                    <a:bodyPr wrap="square"/>
                    <a:lstStyle/>
                    <a:p>
                      <a:pPr algn="l"/>
                      <a:r>
                        <a:rPr sz="1050" b="0" i="0">
                          <a:solidFill>
                            <a:srgbClr val="000000"/>
                          </a:solidFill>
                          <a:latin typeface="Calibri"/>
                        </a:rPr>
                        <a:t>Figure 34: Latin America Market Share by Application, %, 2026 and 2036</a:t>
                      </a:r>
                      <a:endParaRPr sz="1050"/>
                    </a:p>
                  </a:txBody>
                  <a:tcPr marL="9525" marR="9525" marT="9525" marB="0" anchor="ctr"/>
                </a:tc>
              </a:tr>
              <a:tr h="170266">
                <a:tc>
                  <a:txBody>
                    <a:bodyPr wrap="square"/>
                    <a:lstStyle/>
                    <a:p>
                      <a:pPr algn="l"/>
                      <a:r>
                        <a:rPr sz="1050" b="0" i="0">
                          <a:solidFill>
                            <a:srgbClr val="000000"/>
                          </a:solidFill>
                          <a:latin typeface="Calibri"/>
                        </a:rPr>
                        <a:t>Figure 35: Latin America Market Share by Barrier Level Vs Application, %, 2026 and 2036</a:t>
                      </a:r>
                      <a:endParaRPr sz="1050"/>
                    </a:p>
                  </a:txBody>
                  <a:tcPr marL="9525" marR="9525" marT="9525" marB="0" anchor="ctr"/>
                </a:tc>
              </a:tr>
              <a:tr h="170266">
                <a:tc>
                  <a:txBody>
                    <a:bodyPr wrap="square"/>
                    <a:lstStyle/>
                    <a:p>
                      <a:pPr algn="l"/>
                      <a:r>
                        <a:rPr sz="1050" b="0" i="0">
                          <a:solidFill>
                            <a:srgbClr val="000000"/>
                          </a:solidFill>
                          <a:latin typeface="Calibri"/>
                        </a:rPr>
                        <a:t>Figure 36: Latin America Market Absolute $ Opportunity by Product Type, US$ Mn, 2026–2036</a:t>
                      </a:r>
                      <a:endParaRPr sz="1050"/>
                    </a:p>
                  </a:txBody>
                  <a:tcPr marL="9525" marR="9525" marT="9525" marB="0" anchor="ctr"/>
                </a:tc>
              </a:tr>
              <a:tr h="333720">
                <a:tc>
                  <a:txBody>
                    <a:bodyPr wrap="square"/>
                    <a:lstStyle/>
                    <a:p>
                      <a:pPr algn="l"/>
                      <a:r>
                        <a:rPr sz="1050" b="0" i="0">
                          <a:solidFill>
                            <a:srgbClr val="000000"/>
                          </a:solidFill>
                          <a:latin typeface="Calibri"/>
                        </a:rPr>
                        <a:t>Figure 37: Latin America Market Absolute $ Opportunity by Principal Material / Barrier Technology, US$ Mn, 2026–2036</a:t>
                      </a:r>
                      <a:endParaRPr sz="1050"/>
                    </a:p>
                  </a:txBody>
                  <a:tcPr marL="9525" marR="9525" marT="9525" marB="0" anchor="ctr"/>
                </a:tc>
              </a:tr>
              <a:tr h="170266">
                <a:tc>
                  <a:txBody>
                    <a:bodyPr wrap="square"/>
                    <a:lstStyle/>
                    <a:p>
                      <a:pPr algn="l"/>
                      <a:r>
                        <a:rPr sz="1050" b="0" i="0">
                          <a:solidFill>
                            <a:srgbClr val="000000"/>
                          </a:solidFill>
                          <a:latin typeface="Calibri"/>
                        </a:rPr>
                        <a:t>Figure 38: Latin America Market Absolute $ Opportunity by Material Structure, US$ Mn, 2026–2036</a:t>
                      </a:r>
                      <a:endParaRPr sz="1050"/>
                    </a:p>
                  </a:txBody>
                  <a:tcPr marL="9525" marR="9525" marT="9525" marB="0" anchor="ctr"/>
                </a:tc>
              </a:tr>
              <a:tr h="170266">
                <a:tc>
                  <a:txBody>
                    <a:bodyPr wrap="square"/>
                    <a:lstStyle/>
                    <a:p>
                      <a:pPr algn="l"/>
                      <a:r>
                        <a:rPr sz="1050" b="0" i="0">
                          <a:solidFill>
                            <a:srgbClr val="000000"/>
                          </a:solidFill>
                          <a:latin typeface="Calibri"/>
                        </a:rPr>
                        <a:t>Figure 39: Latin America Market Absolute $ Opportunity by Barrier Level, US$ Mn, 2026–2036</a:t>
                      </a:r>
                      <a:endParaRPr sz="1050"/>
                    </a:p>
                  </a:txBody>
                  <a:tcPr marL="9525" marR="9525" marT="9525" marB="0" anchor="ctr"/>
                </a:tc>
              </a:tr>
              <a:tr h="170266">
                <a:tc>
                  <a:txBody>
                    <a:bodyPr wrap="square"/>
                    <a:lstStyle/>
                    <a:p>
                      <a:pPr algn="l"/>
                      <a:r>
                        <a:rPr sz="1050" b="0" i="0">
                          <a:solidFill>
                            <a:srgbClr val="000000"/>
                          </a:solidFill>
                          <a:latin typeface="Calibri"/>
                        </a:rPr>
                        <a:t>Figure 40: Latin America Market Absolute $ Opportunity by Application, US$ Mn, 2026–2036</a:t>
                      </a:r>
                      <a:endParaRPr sz="1050"/>
                    </a:p>
                  </a:txBody>
                  <a:tcPr marL="9525" marR="9525" marT="9525" marB="0" anchor="ctr"/>
                </a:tc>
              </a:tr>
              <a:tr h="333720">
                <a:tc>
                  <a:txBody>
                    <a:bodyPr wrap="square"/>
                    <a:lstStyle/>
                    <a:p>
                      <a:pPr algn="l"/>
                      <a:r>
                        <a:rPr sz="1050" b="0" i="0">
                          <a:solidFill>
                            <a:srgbClr val="000000"/>
                          </a:solidFill>
                          <a:latin typeface="Calibri"/>
                        </a:rPr>
                        <a:t>Figure 41: Latin America Market Absolute $ Opportunity by Barrier Level Vs Application, US$ Mn, 2026–2036</a:t>
                      </a:r>
                      <a:endParaRPr sz="1050"/>
                    </a:p>
                  </a:txBody>
                  <a:tcPr marL="9525" marR="9525" marT="9525" marB="0" anchor="ctr"/>
                </a:tc>
              </a:tr>
              <a:tr h="170266">
                <a:tc>
                  <a:txBody>
                    <a:bodyPr wrap="square"/>
                    <a:lstStyle/>
                    <a:p>
                      <a:pPr algn="l"/>
                      <a:r>
                        <a:rPr sz="1050" b="0" i="0">
                          <a:solidFill>
                            <a:srgbClr val="000000"/>
                          </a:solidFill>
                          <a:latin typeface="Calibri"/>
                        </a:rPr>
                        <a:t>Figure 42: Latin America Market BPS Share Change by Product Type, 2026–2036</a:t>
                      </a:r>
                      <a:endParaRPr sz="1050"/>
                    </a:p>
                  </a:txBody>
                  <a:tcPr marL="9525" marR="9525" marT="9525" marB="0" anchor="ctr"/>
                </a:tc>
              </a:tr>
              <a:tr h="333720">
                <a:tc>
                  <a:txBody>
                    <a:bodyPr wrap="square"/>
                    <a:lstStyle/>
                    <a:p>
                      <a:pPr algn="l"/>
                      <a:r>
                        <a:rPr sz="1050" b="0" i="0">
                          <a:solidFill>
                            <a:srgbClr val="000000"/>
                          </a:solidFill>
                          <a:latin typeface="Calibri"/>
                        </a:rPr>
                        <a:t>Figure 43: Latin America Market BPS Share Change by Principal Material / Barrier Technology, 2026–2036</a:t>
                      </a:r>
                      <a:endParaRPr sz="1050"/>
                    </a:p>
                  </a:txBody>
                  <a:tcPr marL="9525" marR="9525" marT="9525" marB="0" anchor="ctr"/>
                </a:tc>
              </a:tr>
              <a:tr h="170266">
                <a:tc>
                  <a:txBody>
                    <a:bodyPr wrap="square"/>
                    <a:lstStyle/>
                    <a:p>
                      <a:pPr algn="l"/>
                      <a:r>
                        <a:rPr sz="1050" b="0" i="0">
                          <a:solidFill>
                            <a:srgbClr val="000000"/>
                          </a:solidFill>
                          <a:latin typeface="Calibri"/>
                        </a:rPr>
                        <a:t>Figure 44: Latin America Market BPS Share Change by Material Structure, 2026–2036</a:t>
                      </a:r>
                      <a:endParaRPr sz="1050"/>
                    </a:p>
                  </a:txBody>
                  <a:tcPr marL="9525" marR="9525" marT="9525" marB="0" anchor="ctr"/>
                </a:tc>
              </a:tr>
              <a:tr h="170266">
                <a:tc>
                  <a:txBody>
                    <a:bodyPr wrap="square"/>
                    <a:lstStyle/>
                    <a:p>
                      <a:pPr algn="l"/>
                      <a:r>
                        <a:rPr sz="1050" b="0" i="0">
                          <a:solidFill>
                            <a:srgbClr val="000000"/>
                          </a:solidFill>
                          <a:latin typeface="Calibri"/>
                        </a:rPr>
                        <a:t>Figure 45: Latin America Market BPS Share Change by Barrier Level, 2026–2036</a:t>
                      </a:r>
                      <a:endParaRPr sz="1050"/>
                    </a:p>
                  </a:txBody>
                  <a:tcPr marL="9525" marR="9525" marT="9525" marB="0" anchor="ctr"/>
                </a:tc>
              </a:tr>
              <a:tr h="170266">
                <a:tc>
                  <a:txBody>
                    <a:bodyPr wrap="square"/>
                    <a:lstStyle/>
                    <a:p>
                      <a:pPr algn="l"/>
                      <a:r>
                        <a:rPr sz="1050" b="0" i="0">
                          <a:solidFill>
                            <a:srgbClr val="000000"/>
                          </a:solidFill>
                          <a:latin typeface="Calibri"/>
                        </a:rPr>
                        <a:t>Figure 46: Latin America Market BPS Share Change by Application, 2026–2036</a:t>
                      </a:r>
                      <a:endParaRPr sz="1050"/>
                    </a:p>
                  </a:txBody>
                  <a:tcPr marL="9525" marR="9525" marT="9525" marB="0" anchor="ctr"/>
                </a:tc>
              </a:tr>
              <a:tr h="170266">
                <a:tc>
                  <a:txBody>
                    <a:bodyPr wrap="square"/>
                    <a:lstStyle/>
                    <a:p>
                      <a:pPr algn="l"/>
                      <a:r>
                        <a:rPr sz="1050" b="0" i="0">
                          <a:solidFill>
                            <a:srgbClr val="000000"/>
                          </a:solidFill>
                          <a:latin typeface="Calibri"/>
                        </a:rPr>
                        <a:t>Figure 47: Latin America Market BPS Share Change by Barrier Level Vs Application, 2026–2036</a:t>
                      </a:r>
                      <a:endParaRPr sz="1050"/>
                    </a:p>
                  </a:txBody>
                  <a:tcPr marL="9525" marR="9525" marT="9525" marB="0" anchor="ctr"/>
                </a:tc>
              </a:tr>
              <a:tr h="170266">
                <a:tc>
                  <a:txBody>
                    <a:bodyPr wrap="square"/>
                    <a:lstStyle/>
                    <a:p>
                      <a:pPr algn="l"/>
                      <a:r>
                        <a:rPr sz="1050" b="0" i="0">
                          <a:solidFill>
                            <a:srgbClr val="000000"/>
                          </a:solidFill>
                          <a:latin typeface="Calibri"/>
                        </a:rPr>
                        <a:t>Figure 48: Latin America Market YoY Growth by Product Type, %, 2026–2036</a:t>
                      </a:r>
                      <a:endParaRPr sz="1050"/>
                    </a:p>
                  </a:txBody>
                  <a:tcPr marL="9525" marR="9525" marT="9525" marB="0" anchor="ctr"/>
                </a:tc>
              </a:tr>
              <a:tr h="170266">
                <a:tc>
                  <a:txBody>
                    <a:bodyPr wrap="square"/>
                    <a:lstStyle/>
                    <a:p>
                      <a:pPr algn="l"/>
                      <a:r>
                        <a:rPr sz="1050" b="0" i="0">
                          <a:solidFill>
                            <a:srgbClr val="000000"/>
                          </a:solidFill>
                          <a:latin typeface="Calibri"/>
                        </a:rPr>
                        <a:t>Figure 49: Latin America Market YoY Growth by Principal Material / Barrier Technology, %, 2026–2036</a:t>
                      </a:r>
                      <a:endParaRPr sz="1050"/>
                    </a:p>
                  </a:txBody>
                  <a:tcPr marL="9525" marR="9525" marT="9525" marB="0" anchor="ctr"/>
                </a:tc>
              </a:tr>
              <a:tr h="170266">
                <a:tc>
                  <a:txBody>
                    <a:bodyPr wrap="square"/>
                    <a:lstStyle/>
                    <a:p>
                      <a:pPr algn="l"/>
                      <a:r>
                        <a:rPr sz="1050" b="0" i="0">
                          <a:solidFill>
                            <a:srgbClr val="000000"/>
                          </a:solidFill>
                          <a:latin typeface="Calibri"/>
                        </a:rPr>
                        <a:t>Figure 50: Latin America Market YoY Growth by Material Structure, %, 2026–2036</a:t>
                      </a:r>
                      <a:endParaRPr sz="1050"/>
                    </a:p>
                  </a:txBody>
                  <a:tcPr marL="9525" marR="9525" marT="9525" marB="0" anchor="ctr"/>
                </a:tc>
              </a:tr>
              <a:tr h="170266">
                <a:tc>
                  <a:txBody>
                    <a:bodyPr wrap="square"/>
                    <a:lstStyle/>
                    <a:p>
                      <a:pPr algn="l"/>
                      <a:r>
                        <a:rPr sz="1050" b="0" i="0">
                          <a:solidFill>
                            <a:srgbClr val="000000"/>
                          </a:solidFill>
                          <a:latin typeface="Calibri"/>
                        </a:rPr>
                        <a:t>Figure 51: Latin America Market YoY Growth by Barrier Level, %, 2026–2036</a:t>
                      </a:r>
                      <a:endParaRPr sz="1050"/>
                    </a:p>
                  </a:txBody>
                  <a:tcPr marL="9525" marR="9525" marT="9525" marB="0" anchor="ctr"/>
                </a:tc>
              </a:tr>
              <a:tr h="170266">
                <a:tc>
                  <a:txBody>
                    <a:bodyPr wrap="square"/>
                    <a:lstStyle/>
                    <a:p>
                      <a:pPr algn="l"/>
                      <a:r>
                        <a:rPr sz="1050" b="0" i="0">
                          <a:solidFill>
                            <a:srgbClr val="000000"/>
                          </a:solidFill>
                          <a:latin typeface="Calibri"/>
                        </a:rPr>
                        <a:t>Figure 52: Latin America Market YoY Growth by Application, %, 2026–2036</a:t>
                      </a:r>
                      <a:endParaRPr sz="1050"/>
                    </a:p>
                  </a:txBody>
                  <a:tcPr marL="9525" marR="9525" marT="9525" marB="0" anchor="ctr"/>
                </a:tc>
              </a:tr>
              <a:tr h="170266">
                <a:tc>
                  <a:txBody>
                    <a:bodyPr wrap="square"/>
                    <a:lstStyle/>
                    <a:p>
                      <a:pPr algn="l"/>
                      <a:r>
                        <a:rPr sz="1050" b="0" i="0">
                          <a:solidFill>
                            <a:srgbClr val="000000"/>
                          </a:solidFill>
                          <a:latin typeface="Calibri"/>
                        </a:rPr>
                        <a:t>Figure 53: Latin America Market YoY Growth by Barrier Level Vs Application, %, 2026–2036</a:t>
                      </a:r>
                      <a:endParaRPr sz="1050"/>
                    </a:p>
                  </a:txBody>
                  <a:tcPr marL="9525" marR="9525" marT="9525" marB="0" anchor="ctr"/>
                </a:tc>
              </a:tr>
              <a:tr h="170266">
                <a:tc>
                  <a:txBody>
                    <a:bodyPr wrap="square"/>
                    <a:lstStyle/>
                    <a:p>
                      <a:pPr algn="l"/>
                      <a:r>
                        <a:rPr sz="1050" b="0" i="0">
                          <a:solidFill>
                            <a:srgbClr val="000000"/>
                          </a:solidFill>
                          <a:latin typeface="Calibri"/>
                        </a:rPr>
                        <a:t>Figure 54: Latin America Market Attractiveness by Product Type, 2026–2036</a:t>
                      </a:r>
                      <a:endParaRPr sz="1050"/>
                    </a:p>
                  </a:txBody>
                  <a:tcPr marL="9525" marR="9525" marT="9525" marB="0" anchor="ctr"/>
                </a:tc>
              </a:tr>
              <a:tr h="170266">
                <a:tc>
                  <a:txBody>
                    <a:bodyPr wrap="square"/>
                    <a:lstStyle/>
                    <a:p>
                      <a:pPr algn="l"/>
                      <a:r>
                        <a:rPr sz="1050" b="0" i="0">
                          <a:solidFill>
                            <a:srgbClr val="000000"/>
                          </a:solidFill>
                          <a:latin typeface="Calibri"/>
                        </a:rPr>
                        <a:t>Figure 55: Latin America Market Attractiveness by Principal Material / Barrier Technology, 2026–2036</a:t>
                      </a:r>
                      <a:endParaRPr sz="1050"/>
                    </a:p>
                  </a:txBody>
                  <a:tcPr marL="9525" marR="9525" marT="9525" marB="0" anchor="ctr"/>
                </a:tc>
              </a:tr>
              <a:tr h="170266">
                <a:tc>
                  <a:txBody>
                    <a:bodyPr wrap="square"/>
                    <a:lstStyle/>
                    <a:p>
                      <a:pPr algn="l"/>
                      <a:r>
                        <a:rPr sz="1050" b="0" i="0">
                          <a:solidFill>
                            <a:srgbClr val="000000"/>
                          </a:solidFill>
                          <a:latin typeface="Calibri"/>
                        </a:rPr>
                        <a:t>Figure 56: Latin America Market Attractiveness by Material Structure, 2026–2036</a:t>
                      </a:r>
                      <a:endParaRPr sz="1050"/>
                    </a:p>
                  </a:txBody>
                  <a:tcPr marL="9525" marR="9525" marT="9525" marB="0" anchor="ctr"/>
                </a:tc>
              </a:tr>
              <a:tr h="170266">
                <a:tc>
                  <a:txBody>
                    <a:bodyPr wrap="square"/>
                    <a:lstStyle/>
                    <a:p>
                      <a:pPr algn="l"/>
                      <a:r>
                        <a:rPr sz="1050" b="0" i="0">
                          <a:solidFill>
                            <a:srgbClr val="000000"/>
                          </a:solidFill>
                          <a:latin typeface="Calibri"/>
                        </a:rPr>
                        <a:t>Figure 57: Latin America Market Attractiveness by Barrier Level, 2026–2036</a:t>
                      </a:r>
                      <a:endParaRPr sz="1050"/>
                    </a:p>
                  </a:txBody>
                  <a:tcPr marL="9525" marR="9525" marT="9525" marB="0" anchor="ctr"/>
                </a:tc>
              </a:tr>
              <a:tr h="170266">
                <a:tc>
                  <a:txBody>
                    <a:bodyPr wrap="square"/>
                    <a:lstStyle/>
                    <a:p>
                      <a:pPr algn="l"/>
                      <a:r>
                        <a:rPr sz="1050" b="0" i="0">
                          <a:solidFill>
                            <a:srgbClr val="000000"/>
                          </a:solidFill>
                          <a:latin typeface="Calibri"/>
                        </a:rPr>
                        <a:t>Figure 58: Latin America Market Attractiveness by Application, 2026–2036</a:t>
                      </a:r>
                      <a:endParaRPr sz="1050"/>
                    </a:p>
                  </a:txBody>
                  <a:tcPr marL="9525" marR="9525" marT="9525" marB="0" anchor="ctr"/>
                </a:tc>
              </a:tr>
              <a:tr h="170266">
                <a:tc>
                  <a:txBody>
                    <a:bodyPr wrap="square"/>
                    <a:lstStyle/>
                    <a:p>
                      <a:pPr algn="l"/>
                      <a:r>
                        <a:rPr sz="1050" b="0" i="0">
                          <a:solidFill>
                            <a:srgbClr val="000000"/>
                          </a:solidFill>
                          <a:latin typeface="Calibri"/>
                        </a:rPr>
                        <a:t>Figure 59: Latin America Market Attractiveness by Barrier Level Vs Application,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(2/4)</a:t>
            </a:r>
          </a:p>
        </p:txBody>
      </p:sp>
      <p:graphicFrame>
        <p:nvGraphicFramePr>
          <p:cNvPr id="9" name="FMI Contents Table"/>
          <p:cNvGraphicFramePr>
            <a:graphicFrameLocks noGrp="1"/>
          </p:cNvGraphicFramePr>
          <p:nvPr/>
        </p:nvGraphicFramePr>
        <p:xfrm>
          <a:off x="142875" y="981075"/>
          <a:ext cx="5876925" cy="5257797"/>
        </p:xfrm>
        <a:graphic>
          <a:graphicData uri="http://schemas.openxmlformats.org/drawingml/2006/table">
            <a:tbl>
              <a:tblPr>
                <a:tableStyleId>{3B4B98B0-60AC-42C2-AFA5-B58CD77FA1E5}</a:tableStyleId>
              </a:tblPr>
              <a:tblGrid>
                <a:gridCol w="5876925"/>
              </a:tblGrid>
              <a:tr h="172048">
                <a:tc>
                  <a:txBody>
                    <a:bodyPr wrap="square"/>
                    <a:lstStyle/>
                    <a:p>
                      <a:pPr algn="l"/>
                      <a:r>
                        <a:rPr sz="1050" b="0" i="0">
                          <a:solidFill>
                            <a:srgbClr val="000000"/>
                          </a:solidFill>
                          <a:latin typeface="Calibri"/>
                        </a:rPr>
                        <a:t>Figure 60: Latin America Market Volume by Product Type, Thousand MT, 2021–2036</a:t>
                      </a:r>
                      <a:endParaRPr sz="1050"/>
                    </a:p>
                  </a:txBody>
                  <a:tcPr marL="9525" marR="9525" marT="9525" marB="0" anchor="ctr"/>
                </a:tc>
              </a:tr>
              <a:tr h="337215">
                <a:tc>
                  <a:txBody>
                    <a:bodyPr wrap="square"/>
                    <a:lstStyle/>
                    <a:p>
                      <a:pPr algn="l"/>
                      <a:r>
                        <a:rPr sz="1050" b="0" i="0">
                          <a:solidFill>
                            <a:srgbClr val="000000"/>
                          </a:solidFill>
                          <a:latin typeface="Calibri"/>
                        </a:rPr>
                        <a:t>Figure 61: Latin America Market Volume by Principal Material / Barrier Technology, Thousand MT, 2021–2036</a:t>
                      </a:r>
                      <a:endParaRPr sz="1050"/>
                    </a:p>
                  </a:txBody>
                  <a:tcPr marL="9525" marR="9525" marT="9525" marB="0" anchor="ctr"/>
                </a:tc>
              </a:tr>
              <a:tr h="172048">
                <a:tc>
                  <a:txBody>
                    <a:bodyPr wrap="square"/>
                    <a:lstStyle/>
                    <a:p>
                      <a:pPr algn="l"/>
                      <a:r>
                        <a:rPr sz="1050" b="0" i="0">
                          <a:solidFill>
                            <a:srgbClr val="000000"/>
                          </a:solidFill>
                          <a:latin typeface="Calibri"/>
                        </a:rPr>
                        <a:t>Figure 62: Latin America Market Volume by Material Structure, Thousand MT, 2021–2036</a:t>
                      </a:r>
                      <a:endParaRPr sz="1050"/>
                    </a:p>
                  </a:txBody>
                  <a:tcPr marL="9525" marR="9525" marT="9525" marB="0" anchor="ctr"/>
                </a:tc>
              </a:tr>
              <a:tr h="172048">
                <a:tc>
                  <a:txBody>
                    <a:bodyPr wrap="square"/>
                    <a:lstStyle/>
                    <a:p>
                      <a:pPr algn="l"/>
                      <a:r>
                        <a:rPr sz="1050" b="0" i="0">
                          <a:solidFill>
                            <a:srgbClr val="000000"/>
                          </a:solidFill>
                          <a:latin typeface="Calibri"/>
                        </a:rPr>
                        <a:t>Figure 63: Latin America Market Volume by Barrier Level, Thousand MT, 2021–2036</a:t>
                      </a:r>
                      <a:endParaRPr sz="1050"/>
                    </a:p>
                  </a:txBody>
                  <a:tcPr marL="9525" marR="9525" marT="9525" marB="0" anchor="ctr"/>
                </a:tc>
              </a:tr>
              <a:tr h="172048">
                <a:tc>
                  <a:txBody>
                    <a:bodyPr wrap="square"/>
                    <a:lstStyle/>
                    <a:p>
                      <a:pPr algn="l"/>
                      <a:r>
                        <a:rPr sz="1050" b="0" i="0">
                          <a:solidFill>
                            <a:srgbClr val="000000"/>
                          </a:solidFill>
                          <a:latin typeface="Calibri"/>
                        </a:rPr>
                        <a:t>Figure 64: Latin America Market Volume by Application, Thousand MT, 2021–2036</a:t>
                      </a:r>
                      <a:endParaRPr sz="1050"/>
                    </a:p>
                  </a:txBody>
                  <a:tcPr marL="9525" marR="9525" marT="9525" marB="0" anchor="ctr"/>
                </a:tc>
              </a:tr>
              <a:tr h="172048">
                <a:tc>
                  <a:txBody>
                    <a:bodyPr wrap="square"/>
                    <a:lstStyle/>
                    <a:p>
                      <a:pPr algn="l"/>
                      <a:r>
                        <a:rPr sz="1050" b="0" i="0">
                          <a:solidFill>
                            <a:srgbClr val="000000"/>
                          </a:solidFill>
                          <a:latin typeface="Calibri"/>
                        </a:rPr>
                        <a:t>Figure 65: Latin America Market Volume by Barrier Level Vs Application, Thousand MT, 2021–2036</a:t>
                      </a:r>
                      <a:endParaRPr sz="1050"/>
                    </a:p>
                  </a:txBody>
                  <a:tcPr marL="9525" marR="9525" marT="9525" marB="0" anchor="ctr"/>
                </a:tc>
              </a:tr>
              <a:tr h="172048">
                <a:tc>
                  <a:txBody>
                    <a:bodyPr wrap="square"/>
                    <a:lstStyle/>
                    <a:p>
                      <a:pPr algn="l"/>
                      <a:r>
                        <a:rPr sz="1050" b="0" i="0">
                          <a:solidFill>
                            <a:srgbClr val="000000"/>
                          </a:solidFill>
                          <a:latin typeface="Calibri"/>
                        </a:rPr>
                        <a:t>Figure 66: Latin America Market Average Selling Price by Product Type, US$/MT, 2021–2036</a:t>
                      </a:r>
                      <a:endParaRPr sz="1050"/>
                    </a:p>
                  </a:txBody>
                  <a:tcPr marL="9525" marR="9525" marT="9525" marB="0" anchor="ctr"/>
                </a:tc>
              </a:tr>
              <a:tr h="337215">
                <a:tc>
                  <a:txBody>
                    <a:bodyPr wrap="square"/>
                    <a:lstStyle/>
                    <a:p>
                      <a:pPr algn="l"/>
                      <a:r>
                        <a:rPr sz="1050" b="0" i="0">
                          <a:solidFill>
                            <a:srgbClr val="000000"/>
                          </a:solidFill>
                          <a:latin typeface="Calibri"/>
                        </a:rPr>
                        <a:t>Figure 67: Latin America Market Average Selling Price by Principal Material / Barrier Technology, US$/MT, 2021–2036</a:t>
                      </a:r>
                      <a:endParaRPr sz="1050"/>
                    </a:p>
                  </a:txBody>
                  <a:tcPr marL="9525" marR="9525" marT="9525" marB="0" anchor="ctr"/>
                </a:tc>
              </a:tr>
              <a:tr h="172048">
                <a:tc>
                  <a:txBody>
                    <a:bodyPr wrap="square"/>
                    <a:lstStyle/>
                    <a:p>
                      <a:pPr algn="l"/>
                      <a:r>
                        <a:rPr sz="1050" b="0" i="0">
                          <a:solidFill>
                            <a:srgbClr val="000000"/>
                          </a:solidFill>
                          <a:latin typeface="Calibri"/>
                        </a:rPr>
                        <a:t>Figure 68: Latin America Market Average Selling Price by Material Structure, US$/MT, 2021–2036</a:t>
                      </a:r>
                      <a:endParaRPr sz="1050"/>
                    </a:p>
                  </a:txBody>
                  <a:tcPr marL="9525" marR="9525" marT="9525" marB="0" anchor="ctr"/>
                </a:tc>
              </a:tr>
              <a:tr h="172048">
                <a:tc>
                  <a:txBody>
                    <a:bodyPr wrap="square"/>
                    <a:lstStyle/>
                    <a:p>
                      <a:pPr algn="l"/>
                      <a:r>
                        <a:rPr sz="1050" b="0" i="0">
                          <a:solidFill>
                            <a:srgbClr val="000000"/>
                          </a:solidFill>
                          <a:latin typeface="Calibri"/>
                        </a:rPr>
                        <a:t>Figure 69: Latin America Market Average Selling Price by Barrier Level, US$/MT, 2021–2036</a:t>
                      </a:r>
                      <a:endParaRPr sz="1050"/>
                    </a:p>
                  </a:txBody>
                  <a:tcPr marL="9525" marR="9525" marT="9525" marB="0" anchor="ctr"/>
                </a:tc>
              </a:tr>
              <a:tr h="172048">
                <a:tc>
                  <a:txBody>
                    <a:bodyPr wrap="square"/>
                    <a:lstStyle/>
                    <a:p>
                      <a:pPr algn="l"/>
                      <a:r>
                        <a:rPr sz="1050" b="0" i="0">
                          <a:solidFill>
                            <a:srgbClr val="000000"/>
                          </a:solidFill>
                          <a:latin typeface="Calibri"/>
                        </a:rPr>
                        <a:t>Figure 70: Latin America Market Average Selling Price by Application, US$/MT, 2021–2036</a:t>
                      </a:r>
                      <a:endParaRPr sz="1050"/>
                    </a:p>
                  </a:txBody>
                  <a:tcPr marL="9525" marR="9525" marT="9525" marB="0" anchor="ctr"/>
                </a:tc>
              </a:tr>
              <a:tr h="337215">
                <a:tc>
                  <a:txBody>
                    <a:bodyPr wrap="square"/>
                    <a:lstStyle/>
                    <a:p>
                      <a:pPr algn="l"/>
                      <a:r>
                        <a:rPr sz="1050" b="0" i="0">
                          <a:solidFill>
                            <a:srgbClr val="000000"/>
                          </a:solidFill>
                          <a:latin typeface="Calibri"/>
                        </a:rPr>
                        <a:t>Figure 71: Latin America Market Average Selling Price by Barrier Level Vs Application, US$/MT, 2021–2036</a:t>
                      </a:r>
                      <a:endParaRPr sz="1050"/>
                    </a:p>
                  </a:txBody>
                  <a:tcPr marL="9525" marR="9525" marT="9525" marB="0" anchor="ctr"/>
                </a:tc>
              </a:tr>
              <a:tr h="337215">
                <a:tc>
                  <a:txBody>
                    <a:bodyPr wrap="square"/>
                    <a:lstStyle/>
                    <a:p>
                      <a:pPr algn="l"/>
                      <a:r>
                        <a:rPr sz="1050" b="0" i="0">
                          <a:solidFill>
                            <a:srgbClr val="000000"/>
                          </a:solidFill>
                          <a:latin typeface="Calibri"/>
                        </a:rPr>
                        <a:t>Figure 72: Latin America Market Value and YoY Growth, Rollstock Films (Product Type), US$ Mn and %, 2021–2036</a:t>
                      </a:r>
                      <a:endParaRPr sz="1050"/>
                    </a:p>
                  </a:txBody>
                  <a:tcPr marL="9525" marR="9525" marT="9525" marB="0" anchor="ctr"/>
                </a:tc>
              </a:tr>
              <a:tr h="337215">
                <a:tc>
                  <a:txBody>
                    <a:bodyPr wrap="square"/>
                    <a:lstStyle/>
                    <a:p>
                      <a:pPr algn="l"/>
                      <a:r>
                        <a:rPr sz="1050" b="0" i="0">
                          <a:solidFill>
                            <a:srgbClr val="000000"/>
                          </a:solidFill>
                          <a:latin typeface="Calibri"/>
                        </a:rPr>
                        <a:t>Figure 73: Latin America Market Value and YoY Growth, PE-Based (Principal Material / Barrier Technology), US$ Mn and %, 2021–2036</a:t>
                      </a:r>
                      <a:endParaRPr sz="1050"/>
                    </a:p>
                  </a:txBody>
                  <a:tcPr marL="9525" marR="9525" marT="9525" marB="0" anchor="ctr"/>
                </a:tc>
              </a:tr>
              <a:tr h="337215">
                <a:tc>
                  <a:txBody>
                    <a:bodyPr wrap="square"/>
                    <a:lstStyle/>
                    <a:p>
                      <a:pPr algn="l"/>
                      <a:r>
                        <a:rPr sz="1050" b="0" i="0">
                          <a:solidFill>
                            <a:srgbClr val="000000"/>
                          </a:solidFill>
                          <a:latin typeface="Calibri"/>
                        </a:rPr>
                        <a:t>Figure 74: Latin America Market Value and YoY Growth, Monolayer Films (Material Structure), US$ Mn and %, 2021–2036</a:t>
                      </a:r>
                      <a:endParaRPr sz="1050"/>
                    </a:p>
                  </a:txBody>
                  <a:tcPr marL="9525" marR="9525" marT="9525" marB="0" anchor="ctr"/>
                </a:tc>
              </a:tr>
              <a:tr h="337215">
                <a:tc>
                  <a:txBody>
                    <a:bodyPr wrap="square"/>
                    <a:lstStyle/>
                    <a:p>
                      <a:pPr algn="l"/>
                      <a:r>
                        <a:rPr sz="1050" b="0" i="0">
                          <a:solidFill>
                            <a:srgbClr val="000000"/>
                          </a:solidFill>
                          <a:latin typeface="Calibri"/>
                        </a:rPr>
                        <a:t>Figure 75: Latin America Market Value and YoY Growth, Low-Barrier Films (Barrier Level), US$ Mn and %, 2021–2036</a:t>
                      </a:r>
                      <a:endParaRPr sz="1050"/>
                    </a:p>
                  </a:txBody>
                  <a:tcPr marL="9525" marR="9525" marT="9525" marB="0" anchor="ctr"/>
                </a:tc>
              </a:tr>
              <a:tr h="337215">
                <a:tc>
                  <a:txBody>
                    <a:bodyPr wrap="square"/>
                    <a:lstStyle/>
                    <a:p>
                      <a:pPr algn="l"/>
                      <a:r>
                        <a:rPr sz="1050" b="0" i="0">
                          <a:solidFill>
                            <a:srgbClr val="000000"/>
                          </a:solidFill>
                          <a:latin typeface="Calibri"/>
                        </a:rPr>
                        <a:t>Figure 76: Latin America Market Value and YoY Growth, Food Packaging (Application), US$ Mn and %, 2021–2036</a:t>
                      </a:r>
                      <a:endParaRPr sz="1050"/>
                    </a:p>
                  </a:txBody>
                  <a:tcPr marL="9525" marR="9525" marT="9525" marB="0" anchor="ctr"/>
                </a:tc>
              </a:tr>
              <a:tr h="337215">
                <a:tc>
                  <a:txBody>
                    <a:bodyPr wrap="square"/>
                    <a:lstStyle/>
                    <a:p>
                      <a:pPr algn="l"/>
                      <a:r>
                        <a:rPr sz="1050" b="0" i="0">
                          <a:solidFill>
                            <a:srgbClr val="000000"/>
                          </a:solidFill>
                          <a:latin typeface="Calibri"/>
                        </a:rPr>
                        <a:t>Figure 77: Latin America Market Value and YoY Growth, Low-Barrier Films (Barrier Level Vs Application), US$ Mn and %, 2021–2036</a:t>
                      </a:r>
                      <a:endParaRPr sz="1050"/>
                    </a:p>
                  </a:txBody>
                  <a:tcPr marL="9525" marR="9525" marT="9525" marB="0" anchor="ctr"/>
                </a:tc>
              </a:tr>
              <a:tr h="337215">
                <a:tc>
                  <a:txBody>
                    <a:bodyPr wrap="square"/>
                    <a:lstStyle/>
                    <a:p>
                      <a:pPr algn="l"/>
                      <a:r>
                        <a:rPr sz="1050" b="0" i="0">
                          <a:solidFill>
                            <a:srgbClr val="000000"/>
                          </a:solidFill>
                          <a:latin typeface="Calibri"/>
                        </a:rPr>
                        <a:t>Figure 78: Latin America Market Value and YoY Growth, Barrier Casings (Product Type), US$ Mn and %, 2021–2036</a:t>
                      </a:r>
                      <a:endParaRPr sz="1050"/>
                    </a:p>
                  </a:txBody>
                  <a:tcPr marL="9525" marR="9525" marT="9525" marB="0" anchor="ctr"/>
                </a:tc>
              </a:tr>
              <a:tr h="337215">
                <a:tc>
                  <a:txBody>
                    <a:bodyPr wrap="square"/>
                    <a:lstStyle/>
                    <a:p>
                      <a:pPr algn="l"/>
                      <a:r>
                        <a:rPr sz="1050" b="0" i="0">
                          <a:solidFill>
                            <a:srgbClr val="000000"/>
                          </a:solidFill>
                          <a:latin typeface="Calibri"/>
                        </a:rPr>
                        <a:t>Figure 79: Latin America Market Value and YoY Growth, PP-Based (Principal Material / Barrier Technology), US$ Mn and %,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7"/>
        </p:xfrm>
        <a:graphic>
          <a:graphicData uri="http://schemas.openxmlformats.org/drawingml/2006/table">
            <a:tbl>
              <a:tblPr>
                <a:tableStyleId>{3B4B98B0-60AC-42C2-AFA5-B58CD77FA1E5}</a:tableStyleId>
              </a:tblPr>
              <a:tblGrid>
                <a:gridCol w="5876925"/>
              </a:tblGrid>
              <a:tr h="337215">
                <a:tc>
                  <a:txBody>
                    <a:bodyPr wrap="square"/>
                    <a:lstStyle/>
                    <a:p>
                      <a:pPr algn="l"/>
                      <a:r>
                        <a:rPr sz="1050" b="0" i="0">
                          <a:solidFill>
                            <a:srgbClr val="000000"/>
                          </a:solidFill>
                          <a:latin typeface="Calibri"/>
                        </a:rPr>
                        <a:t>Figure 80: Latin America Market Value and YoY Growth, Coextruded Multilayer Films (Material Structure), US$ Mn and %, 2021–2036</a:t>
                      </a:r>
                      <a:endParaRPr sz="1050"/>
                    </a:p>
                  </a:txBody>
                  <a:tcPr marL="9525" marR="9525" marT="9525" marB="0" anchor="ctr"/>
                </a:tc>
              </a:tr>
              <a:tr h="337215">
                <a:tc>
                  <a:txBody>
                    <a:bodyPr wrap="square"/>
                    <a:lstStyle/>
                    <a:p>
                      <a:pPr algn="l"/>
                      <a:r>
                        <a:rPr sz="1050" b="0" i="0">
                          <a:solidFill>
                            <a:srgbClr val="000000"/>
                          </a:solidFill>
                          <a:latin typeface="Calibri"/>
                        </a:rPr>
                        <a:t>Figure 81: Latin America Market Value and YoY Growth, Medium-Barrier Films (Barrier Level), US$ Mn and %, 2021–2036</a:t>
                      </a:r>
                      <a:endParaRPr sz="1050"/>
                    </a:p>
                  </a:txBody>
                  <a:tcPr marL="9525" marR="9525" marT="9525" marB="0" anchor="ctr"/>
                </a:tc>
              </a:tr>
              <a:tr h="337215">
                <a:tc>
                  <a:txBody>
                    <a:bodyPr wrap="square"/>
                    <a:lstStyle/>
                    <a:p>
                      <a:pPr algn="l"/>
                      <a:r>
                        <a:rPr sz="1050" b="0" i="0">
                          <a:solidFill>
                            <a:srgbClr val="000000"/>
                          </a:solidFill>
                          <a:latin typeface="Calibri"/>
                        </a:rPr>
                        <a:t>Figure 82: Latin America Market Value and YoY Growth, Non-Food Packaging (Application), US$ Mn and %, 2021–2036</a:t>
                      </a:r>
                      <a:endParaRPr sz="1050"/>
                    </a:p>
                  </a:txBody>
                  <a:tcPr marL="9525" marR="9525" marT="9525" marB="0" anchor="ctr"/>
                </a:tc>
              </a:tr>
              <a:tr h="337215">
                <a:tc>
                  <a:txBody>
                    <a:bodyPr wrap="square"/>
                    <a:lstStyle/>
                    <a:p>
                      <a:pPr algn="l"/>
                      <a:r>
                        <a:rPr sz="1050" b="0" i="0">
                          <a:solidFill>
                            <a:srgbClr val="000000"/>
                          </a:solidFill>
                          <a:latin typeface="Calibri"/>
                        </a:rPr>
                        <a:t>Figure 83: Latin America Market Value and YoY Growth, Medium-Barrier Films (Barrier Level Vs Application), US$ Mn and %, 2021–2036</a:t>
                      </a:r>
                      <a:endParaRPr sz="1050"/>
                    </a:p>
                  </a:txBody>
                  <a:tcPr marL="9525" marR="9525" marT="9525" marB="0" anchor="ctr"/>
                </a:tc>
              </a:tr>
              <a:tr h="337215">
                <a:tc>
                  <a:txBody>
                    <a:bodyPr wrap="square"/>
                    <a:lstStyle/>
                    <a:p>
                      <a:pPr algn="l"/>
                      <a:r>
                        <a:rPr sz="1050" b="0" i="0">
                          <a:solidFill>
                            <a:srgbClr val="000000"/>
                          </a:solidFill>
                          <a:latin typeface="Calibri"/>
                        </a:rPr>
                        <a:t>Figure 84: Latin America Market Value and YoY Growth, Premade Pouches &amp; Bags (Product Type), US$ Mn and %, 2021–2036</a:t>
                      </a:r>
                      <a:endParaRPr sz="1050"/>
                    </a:p>
                  </a:txBody>
                  <a:tcPr marL="9525" marR="9525" marT="9525" marB="0" anchor="ctr"/>
                </a:tc>
              </a:tr>
              <a:tr h="337215">
                <a:tc>
                  <a:txBody>
                    <a:bodyPr wrap="square"/>
                    <a:lstStyle/>
                    <a:p>
                      <a:pPr algn="l"/>
                      <a:r>
                        <a:rPr sz="1050" b="0" i="0">
                          <a:solidFill>
                            <a:srgbClr val="000000"/>
                          </a:solidFill>
                          <a:latin typeface="Calibri"/>
                        </a:rPr>
                        <a:t>Figure 85: Latin America Market Value and YoY Growth, PET-Based (Principal Material / Barrier Technology), US$ Mn and %, 2021–2036</a:t>
                      </a:r>
                      <a:endParaRPr sz="1050"/>
                    </a:p>
                  </a:txBody>
                  <a:tcPr marL="9525" marR="9525" marT="9525" marB="0" anchor="ctr"/>
                </a:tc>
              </a:tr>
              <a:tr h="337215">
                <a:tc>
                  <a:txBody>
                    <a:bodyPr wrap="square"/>
                    <a:lstStyle/>
                    <a:p>
                      <a:pPr algn="l"/>
                      <a:r>
                        <a:rPr sz="1050" b="0" i="0">
                          <a:solidFill>
                            <a:srgbClr val="000000"/>
                          </a:solidFill>
                          <a:latin typeface="Calibri"/>
                        </a:rPr>
                        <a:t>Figure 86: Latin America Market Value and YoY Growth, Laminated Films (Material Structure), US$ Mn and %, 2021–2036</a:t>
                      </a:r>
                      <a:endParaRPr sz="1050"/>
                    </a:p>
                  </a:txBody>
                  <a:tcPr marL="9525" marR="9525" marT="9525" marB="0" anchor="ctr"/>
                </a:tc>
              </a:tr>
              <a:tr h="337215">
                <a:tc>
                  <a:txBody>
                    <a:bodyPr wrap="square"/>
                    <a:lstStyle/>
                    <a:p>
                      <a:pPr algn="l"/>
                      <a:r>
                        <a:rPr sz="1050" b="0" i="0">
                          <a:solidFill>
                            <a:srgbClr val="000000"/>
                          </a:solidFill>
                          <a:latin typeface="Calibri"/>
                        </a:rPr>
                        <a:t>Figure 87: Latin America Market Value and YoY Growth, High-Barrier Films (Barrier Level), US$ Mn and %, 2021–2036</a:t>
                      </a:r>
                      <a:endParaRPr sz="1050"/>
                    </a:p>
                  </a:txBody>
                  <a:tcPr marL="9525" marR="9525" marT="9525" marB="0" anchor="ctr"/>
                </a:tc>
              </a:tr>
              <a:tr h="172048">
                <a:tc>
                  <a:txBody>
                    <a:bodyPr wrap="square"/>
                    <a:lstStyle/>
                    <a:p>
                      <a:pPr algn="l"/>
                      <a:r>
                        <a:rPr sz="1050" b="0" i="0">
                          <a:solidFill>
                            <a:srgbClr val="000000"/>
                          </a:solidFill>
                          <a:latin typeface="Calibri"/>
                        </a:rPr>
                        <a:t>Figure 88: Latin America Market Value by Application by Scenario, US$ Mn, 2036</a:t>
                      </a:r>
                      <a:endParaRPr sz="1050"/>
                    </a:p>
                  </a:txBody>
                  <a:tcPr marL="9525" marR="9525" marT="9525" marB="0" anchor="ctr"/>
                </a:tc>
              </a:tr>
              <a:tr h="337215">
                <a:tc>
                  <a:txBody>
                    <a:bodyPr wrap="square"/>
                    <a:lstStyle/>
                    <a:p>
                      <a:pPr algn="l"/>
                      <a:r>
                        <a:rPr sz="1050" b="0" i="0">
                          <a:solidFill>
                            <a:srgbClr val="000000"/>
                          </a:solidFill>
                          <a:latin typeface="Calibri"/>
                        </a:rPr>
                        <a:t>Figure 89: Latin America Market Value and YoY Growth, High-Barrier Films (Barrier Level Vs Application), US$ Mn and %, 2021–2036</a:t>
                      </a:r>
                      <a:endParaRPr sz="1050"/>
                    </a:p>
                  </a:txBody>
                  <a:tcPr marL="9525" marR="9525" marT="9525" marB="0" anchor="ctr"/>
                </a:tc>
              </a:tr>
              <a:tr h="337215">
                <a:tc>
                  <a:txBody>
                    <a:bodyPr wrap="square"/>
                    <a:lstStyle/>
                    <a:p>
                      <a:pPr algn="l"/>
                      <a:r>
                        <a:rPr sz="1050" b="0" i="0">
                          <a:solidFill>
                            <a:srgbClr val="000000"/>
                          </a:solidFill>
                          <a:latin typeface="Calibri"/>
                        </a:rPr>
                        <a:t>Figure 90: Latin America Market Value and YoY Growth, Sachets &amp; Stick Packs (Product Type), US$ Mn and %, 2021–2036</a:t>
                      </a:r>
                      <a:endParaRPr sz="1050"/>
                    </a:p>
                  </a:txBody>
                  <a:tcPr marL="9525" marR="9525" marT="9525" marB="0" anchor="ctr"/>
                </a:tc>
              </a:tr>
              <a:tr h="172048">
                <a:tc>
                  <a:txBody>
                    <a:bodyPr wrap="square"/>
                    <a:lstStyle/>
                    <a:p>
                      <a:pPr algn="l"/>
                      <a:r>
                        <a:rPr sz="1050" b="0" i="0">
                          <a:solidFill>
                            <a:srgbClr val="000000"/>
                          </a:solidFill>
                          <a:latin typeface="Calibri"/>
                        </a:rPr>
                        <a:t>Figure 91: Product Type × Principal Material / Barrier Technology Opportunity Matrix, 2026–2036</a:t>
                      </a:r>
                      <a:endParaRPr sz="1050"/>
                    </a:p>
                  </a:txBody>
                  <a:tcPr marL="9525" marR="9525" marT="9525" marB="0" anchor="ctr"/>
                </a:tc>
              </a:tr>
              <a:tr h="172048">
                <a:tc>
                  <a:txBody>
                    <a:bodyPr wrap="square"/>
                    <a:lstStyle/>
                    <a:p>
                      <a:pPr algn="l"/>
                      <a:r>
                        <a:rPr sz="1050" b="0" i="0">
                          <a:solidFill>
                            <a:srgbClr val="000000"/>
                          </a:solidFill>
                          <a:latin typeface="Calibri"/>
                        </a:rPr>
                        <a:t>Figure 92: Product Type × Material Structure Opportunity Matrix, 2026–2036</a:t>
                      </a:r>
                      <a:endParaRPr sz="1050"/>
                    </a:p>
                  </a:txBody>
                  <a:tcPr marL="9525" marR="9525" marT="9525" marB="0" anchor="ctr"/>
                </a:tc>
              </a:tr>
              <a:tr h="172048">
                <a:tc>
                  <a:txBody>
                    <a:bodyPr wrap="square"/>
                    <a:lstStyle/>
                    <a:p>
                      <a:pPr algn="l"/>
                      <a:r>
                        <a:rPr sz="1050" b="0" i="0">
                          <a:solidFill>
                            <a:srgbClr val="000000"/>
                          </a:solidFill>
                          <a:latin typeface="Calibri"/>
                        </a:rPr>
                        <a:t>Figure 93: Product Type × Barrier Level Opportunity Matrix, 2026–2036</a:t>
                      </a:r>
                      <a:endParaRPr sz="1050"/>
                    </a:p>
                  </a:txBody>
                  <a:tcPr marL="9525" marR="9525" marT="9525" marB="0" anchor="ctr"/>
                </a:tc>
              </a:tr>
              <a:tr h="172048">
                <a:tc>
                  <a:txBody>
                    <a:bodyPr wrap="square"/>
                    <a:lstStyle/>
                    <a:p>
                      <a:pPr algn="l"/>
                      <a:r>
                        <a:rPr sz="1050" b="0" i="0">
                          <a:solidFill>
                            <a:srgbClr val="000000"/>
                          </a:solidFill>
                          <a:latin typeface="Calibri"/>
                        </a:rPr>
                        <a:t>Figure 94: Product Type × Application Opportunity Matrix, 2026–2036</a:t>
                      </a:r>
                      <a:endParaRPr sz="1050"/>
                    </a:p>
                  </a:txBody>
                  <a:tcPr marL="9525" marR="9525" marT="9525" marB="0" anchor="ctr"/>
                </a:tc>
              </a:tr>
              <a:tr h="172048">
                <a:tc>
                  <a:txBody>
                    <a:bodyPr wrap="square"/>
                    <a:lstStyle/>
                    <a:p>
                      <a:pPr algn="l"/>
                      <a:r>
                        <a:rPr sz="1050" b="0" i="0">
                          <a:solidFill>
                            <a:srgbClr val="000000"/>
                          </a:solidFill>
                          <a:latin typeface="Calibri"/>
                        </a:rPr>
                        <a:t>Figure 95: Product Type × Barrier Level Vs Application Opportunity Matrix, 2026–2036</a:t>
                      </a:r>
                      <a:endParaRPr sz="1050"/>
                    </a:p>
                  </a:txBody>
                  <a:tcPr marL="9525" marR="9525" marT="9525" marB="0" anchor="ctr"/>
                </a:tc>
              </a:tr>
              <a:tr h="172048">
                <a:tc>
                  <a:txBody>
                    <a:bodyPr wrap="square"/>
                    <a:lstStyle/>
                    <a:p>
                      <a:pPr algn="l"/>
                      <a:r>
                        <a:rPr sz="1050" b="0" i="0">
                          <a:solidFill>
                            <a:srgbClr val="000000"/>
                          </a:solidFill>
                          <a:latin typeface="Calibri"/>
                        </a:rPr>
                        <a:t>Figure 96: Principal Material / Barrier Technology × Material Structure Opportunity Matrix, 2026–2036</a:t>
                      </a:r>
                      <a:endParaRPr sz="1050"/>
                    </a:p>
                  </a:txBody>
                  <a:tcPr marL="9525" marR="9525" marT="9525" marB="0" anchor="ctr"/>
                </a:tc>
              </a:tr>
              <a:tr h="172048">
                <a:tc>
                  <a:txBody>
                    <a:bodyPr wrap="square"/>
                    <a:lstStyle/>
                    <a:p>
                      <a:pPr algn="l"/>
                      <a:r>
                        <a:rPr sz="1050" b="0" i="0">
                          <a:solidFill>
                            <a:srgbClr val="000000"/>
                          </a:solidFill>
                          <a:latin typeface="Calibri"/>
                        </a:rPr>
                        <a:t>Figure 97: Principal Material / Barrier Technology × Barrier Level Opportunity Matrix, 2026–2036</a:t>
                      </a:r>
                      <a:endParaRPr sz="1050"/>
                    </a:p>
                  </a:txBody>
                  <a:tcPr marL="9525" marR="9525" marT="9525" marB="0" anchor="ctr"/>
                </a:tc>
              </a:tr>
              <a:tr h="172048">
                <a:tc>
                  <a:txBody>
                    <a:bodyPr wrap="square"/>
                    <a:lstStyle/>
                    <a:p>
                      <a:pPr algn="l"/>
                      <a:r>
                        <a:rPr sz="1050" b="0" i="0">
                          <a:solidFill>
                            <a:srgbClr val="000000"/>
                          </a:solidFill>
                          <a:latin typeface="Calibri"/>
                        </a:rPr>
                        <a:t>Figure 98: Principal Material / Barrier Technology × Application Opportunity Matrix, 2026–2036</a:t>
                      </a:r>
                      <a:endParaRPr sz="1050"/>
                    </a:p>
                  </a:txBody>
                  <a:tcPr marL="9525" marR="9525" marT="9525" marB="0" anchor="ctr"/>
                </a:tc>
              </a:tr>
              <a:tr h="337215">
                <a:tc>
                  <a:txBody>
                    <a:bodyPr wrap="square"/>
                    <a:lstStyle/>
                    <a:p>
                      <a:pPr algn="l"/>
                      <a:r>
                        <a:rPr sz="1050" b="0" i="0">
                          <a:solidFill>
                            <a:srgbClr val="000000"/>
                          </a:solidFill>
                          <a:latin typeface="Calibri"/>
                        </a:rPr>
                        <a:t>Figure 99: Principal Material / Barrier Technology × Barrier Level Vs Application Opportunity Matrix,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(3/4)</a:t>
            </a:r>
          </a:p>
        </p:txBody>
      </p:sp>
      <p:graphicFrame>
        <p:nvGraphicFramePr>
          <p:cNvPr id="9" name="FMI Contents Table"/>
          <p:cNvGraphicFramePr>
            <a:graphicFrameLocks noGrp="1"/>
          </p:cNvGraphicFramePr>
          <p:nvPr/>
        </p:nvGraphicFramePr>
        <p:xfrm>
          <a:off x="142875" y="981075"/>
          <a:ext cx="5876925" cy="5257802"/>
        </p:xfrm>
        <a:graphic>
          <a:graphicData uri="http://schemas.openxmlformats.org/drawingml/2006/table">
            <a:tbl>
              <a:tblPr>
                <a:tableStyleId>{3B4B98B0-60AC-42C2-AFA5-B58CD77FA1E5}</a:tableStyleId>
              </a:tblPr>
              <a:tblGrid>
                <a:gridCol w="5876925"/>
              </a:tblGrid>
              <a:tr h="170930">
                <a:tc>
                  <a:txBody>
                    <a:bodyPr wrap="square"/>
                    <a:lstStyle/>
                    <a:p>
                      <a:pPr algn="l"/>
                      <a:r>
                        <a:rPr sz="1050" b="0" i="0">
                          <a:solidFill>
                            <a:srgbClr val="000000"/>
                          </a:solidFill>
                          <a:latin typeface="Calibri"/>
                        </a:rPr>
                        <a:t>Figure 100: Material Structure × Barrier Level Opportunity Matrix, 2026–2036</a:t>
                      </a:r>
                      <a:endParaRPr sz="1050"/>
                    </a:p>
                  </a:txBody>
                  <a:tcPr marL="9525" marR="9525" marT="9525" marB="0" anchor="ctr"/>
                </a:tc>
              </a:tr>
              <a:tr h="170930">
                <a:tc>
                  <a:txBody>
                    <a:bodyPr wrap="square"/>
                    <a:lstStyle/>
                    <a:p>
                      <a:pPr algn="l"/>
                      <a:r>
                        <a:rPr sz="1050" b="0" i="0">
                          <a:solidFill>
                            <a:srgbClr val="000000"/>
                          </a:solidFill>
                          <a:latin typeface="Calibri"/>
                        </a:rPr>
                        <a:t>Figure 101: Material Structure × Application Opportunity Matrix, 2026–2036</a:t>
                      </a:r>
                      <a:endParaRPr sz="1050"/>
                    </a:p>
                  </a:txBody>
                  <a:tcPr marL="9525" marR="9525" marT="9525" marB="0" anchor="ctr"/>
                </a:tc>
              </a:tr>
              <a:tr h="170930">
                <a:tc>
                  <a:txBody>
                    <a:bodyPr wrap="square"/>
                    <a:lstStyle/>
                    <a:p>
                      <a:pPr algn="l"/>
                      <a:r>
                        <a:rPr sz="1050" b="0" i="0">
                          <a:solidFill>
                            <a:srgbClr val="000000"/>
                          </a:solidFill>
                          <a:latin typeface="Calibri"/>
                        </a:rPr>
                        <a:t>Figure 102: Material Structure × Barrier Level Vs Application Opportunity Matrix, 2026–2036</a:t>
                      </a:r>
                      <a:endParaRPr sz="1050"/>
                    </a:p>
                  </a:txBody>
                  <a:tcPr marL="9525" marR="9525" marT="9525" marB="0" anchor="ctr"/>
                </a:tc>
              </a:tr>
              <a:tr h="170930">
                <a:tc>
                  <a:txBody>
                    <a:bodyPr wrap="square"/>
                    <a:lstStyle/>
                    <a:p>
                      <a:pPr algn="l"/>
                      <a:r>
                        <a:rPr sz="1050" b="0" i="0">
                          <a:solidFill>
                            <a:srgbClr val="000000"/>
                          </a:solidFill>
                          <a:latin typeface="Calibri"/>
                        </a:rPr>
                        <a:t>Figure 103: Barrier Level × Application Opportunity Matrix, 2026–2036</a:t>
                      </a:r>
                      <a:endParaRPr sz="1050"/>
                    </a:p>
                  </a:txBody>
                  <a:tcPr marL="9525" marR="9525" marT="9525" marB="0" anchor="ctr"/>
                </a:tc>
              </a:tr>
              <a:tr h="170930">
                <a:tc>
                  <a:txBody>
                    <a:bodyPr wrap="square"/>
                    <a:lstStyle/>
                    <a:p>
                      <a:pPr algn="l"/>
                      <a:r>
                        <a:rPr sz="1050" b="0" i="0">
                          <a:solidFill>
                            <a:srgbClr val="000000"/>
                          </a:solidFill>
                          <a:latin typeface="Calibri"/>
                        </a:rPr>
                        <a:t>Figure 104: Barrier Level × Barrier Level Vs Application Opportunity Matrix, 2026–2036</a:t>
                      </a:r>
                      <a:endParaRPr sz="1050"/>
                    </a:p>
                  </a:txBody>
                  <a:tcPr marL="9525" marR="9525" marT="9525" marB="0" anchor="ctr"/>
                </a:tc>
              </a:tr>
              <a:tr h="170930">
                <a:tc>
                  <a:txBody>
                    <a:bodyPr wrap="square"/>
                    <a:lstStyle/>
                    <a:p>
                      <a:pPr algn="l"/>
                      <a:r>
                        <a:rPr sz="1050" b="0" i="0">
                          <a:solidFill>
                            <a:srgbClr val="000000"/>
                          </a:solidFill>
                          <a:latin typeface="Calibri"/>
                        </a:rPr>
                        <a:t>Figure 105: Application × Barrier Level Vs Application Opportunity Matrix, 2026–2036</a:t>
                      </a:r>
                      <a:endParaRPr sz="1050"/>
                    </a:p>
                  </a:txBody>
                  <a:tcPr marL="9525" marR="9525" marT="9525" marB="0" anchor="ctr"/>
                </a:tc>
              </a:tr>
              <a:tr h="335022">
                <a:tc>
                  <a:txBody>
                    <a:bodyPr wrap="square"/>
                    <a:lstStyle/>
                    <a:p>
                      <a:pPr algn="l"/>
                      <a:r>
                        <a:rPr sz="1050" b="0" i="0">
                          <a:solidFill>
                            <a:srgbClr val="000000"/>
                          </a:solidFill>
                          <a:latin typeface="Calibri"/>
                        </a:rPr>
                        <a:t>Figure 106: Latin America Market Value by Product Type and Principal Material / Barrier Technology, US$ Mn, 2036</a:t>
                      </a:r>
                      <a:endParaRPr sz="1050"/>
                    </a:p>
                  </a:txBody>
                  <a:tcPr marL="9525" marR="9525" marT="9525" marB="0" anchor="ctr"/>
                </a:tc>
              </a:tr>
              <a:tr h="170930">
                <a:tc>
                  <a:txBody>
                    <a:bodyPr wrap="square"/>
                    <a:lstStyle/>
                    <a:p>
                      <a:pPr algn="l"/>
                      <a:r>
                        <a:rPr sz="1050" b="0" i="0">
                          <a:solidFill>
                            <a:srgbClr val="000000"/>
                          </a:solidFill>
                          <a:latin typeface="Calibri"/>
                        </a:rPr>
                        <a:t>Figure 107: Latin America Market Value by Product Type and Material Structure, US$ Mn, 2036</a:t>
                      </a:r>
                      <a:endParaRPr sz="1050"/>
                    </a:p>
                  </a:txBody>
                  <a:tcPr marL="9525" marR="9525" marT="9525" marB="0" anchor="ctr"/>
                </a:tc>
              </a:tr>
              <a:tr h="170930">
                <a:tc>
                  <a:txBody>
                    <a:bodyPr wrap="square"/>
                    <a:lstStyle/>
                    <a:p>
                      <a:pPr algn="l"/>
                      <a:r>
                        <a:rPr sz="1050" b="0" i="0">
                          <a:solidFill>
                            <a:srgbClr val="000000"/>
                          </a:solidFill>
                          <a:latin typeface="Calibri"/>
                        </a:rPr>
                        <a:t>Figure 108: Latin America Market Value by Product Type and Barrier Level, US$ Mn, 2036</a:t>
                      </a:r>
                      <a:endParaRPr sz="1050"/>
                    </a:p>
                  </a:txBody>
                  <a:tcPr marL="9525" marR="9525" marT="9525" marB="0" anchor="ctr"/>
                </a:tc>
              </a:tr>
              <a:tr h="170930">
                <a:tc>
                  <a:txBody>
                    <a:bodyPr wrap="square"/>
                    <a:lstStyle/>
                    <a:p>
                      <a:pPr algn="l"/>
                      <a:r>
                        <a:rPr sz="1050" b="0" i="0">
                          <a:solidFill>
                            <a:srgbClr val="000000"/>
                          </a:solidFill>
                          <a:latin typeface="Calibri"/>
                        </a:rPr>
                        <a:t>Figure 109: Latin America Market Value by Product Type and Application, US$ Mn, 2036</a:t>
                      </a:r>
                      <a:endParaRPr sz="1050"/>
                    </a:p>
                  </a:txBody>
                  <a:tcPr marL="9525" marR="9525" marT="9525" marB="0" anchor="ctr"/>
                </a:tc>
              </a:tr>
              <a:tr h="335022">
                <a:tc>
                  <a:txBody>
                    <a:bodyPr wrap="square"/>
                    <a:lstStyle/>
                    <a:p>
                      <a:pPr algn="l"/>
                      <a:r>
                        <a:rPr sz="1050" b="0" i="0">
                          <a:solidFill>
                            <a:srgbClr val="000000"/>
                          </a:solidFill>
                          <a:latin typeface="Calibri"/>
                        </a:rPr>
                        <a:t>Figure 110: Latin America Market Value by Product Type and Barrier Level Vs Application, US$ Mn, 2036</a:t>
                      </a:r>
                      <a:endParaRPr sz="1050"/>
                    </a:p>
                  </a:txBody>
                  <a:tcPr marL="9525" marR="9525" marT="9525" marB="0" anchor="ctr"/>
                </a:tc>
              </a:tr>
              <a:tr h="335022">
                <a:tc>
                  <a:txBody>
                    <a:bodyPr wrap="square"/>
                    <a:lstStyle/>
                    <a:p>
                      <a:pPr algn="l"/>
                      <a:r>
                        <a:rPr sz="1050" b="0" i="0">
                          <a:solidFill>
                            <a:srgbClr val="000000"/>
                          </a:solidFill>
                          <a:latin typeface="Calibri"/>
                        </a:rPr>
                        <a:t>Figure 111: Latin America Market Value by Principal Material / Barrier Technology and Material Structure, US$ Mn, 2036</a:t>
                      </a:r>
                      <a:endParaRPr sz="1050"/>
                    </a:p>
                  </a:txBody>
                  <a:tcPr marL="9525" marR="9525" marT="9525" marB="0" anchor="ctr"/>
                </a:tc>
              </a:tr>
              <a:tr h="335022">
                <a:tc>
                  <a:txBody>
                    <a:bodyPr wrap="square"/>
                    <a:lstStyle/>
                    <a:p>
                      <a:pPr algn="l"/>
                      <a:r>
                        <a:rPr sz="1050" b="0" i="0">
                          <a:solidFill>
                            <a:srgbClr val="000000"/>
                          </a:solidFill>
                          <a:latin typeface="Calibri"/>
                        </a:rPr>
                        <a:t>Figure 112: Latin America Market Value by Principal Material / Barrier Technology and Barrier Level, US$ Mn, 2036</a:t>
                      </a:r>
                      <a:endParaRPr sz="1050"/>
                    </a:p>
                  </a:txBody>
                  <a:tcPr marL="9525" marR="9525" marT="9525" marB="0" anchor="ctr"/>
                </a:tc>
              </a:tr>
              <a:tr h="335022">
                <a:tc>
                  <a:txBody>
                    <a:bodyPr wrap="square"/>
                    <a:lstStyle/>
                    <a:p>
                      <a:pPr algn="l"/>
                      <a:r>
                        <a:rPr sz="1050" b="0" i="0">
                          <a:solidFill>
                            <a:srgbClr val="000000"/>
                          </a:solidFill>
                          <a:latin typeface="Calibri"/>
                        </a:rPr>
                        <a:t>Figure 113: Latin America Market Value by Principal Material / Barrier Technology and Application, US$ Mn, 2036</a:t>
                      </a:r>
                      <a:endParaRPr sz="1050"/>
                    </a:p>
                  </a:txBody>
                  <a:tcPr marL="9525" marR="9525" marT="9525" marB="0" anchor="ctr"/>
                </a:tc>
              </a:tr>
              <a:tr h="335022">
                <a:tc>
                  <a:txBody>
                    <a:bodyPr wrap="square"/>
                    <a:lstStyle/>
                    <a:p>
                      <a:pPr algn="l"/>
                      <a:r>
                        <a:rPr sz="1050" b="0" i="0">
                          <a:solidFill>
                            <a:srgbClr val="000000"/>
                          </a:solidFill>
                          <a:latin typeface="Calibri"/>
                        </a:rPr>
                        <a:t>Figure 114: Latin America Market Value by Principal Material / Barrier Technology and Barrier Level Vs Application, US$ Mn, 2036</a:t>
                      </a:r>
                      <a:endParaRPr sz="1050"/>
                    </a:p>
                  </a:txBody>
                  <a:tcPr marL="9525" marR="9525" marT="9525" marB="0" anchor="ctr"/>
                </a:tc>
              </a:tr>
              <a:tr h="170930">
                <a:tc>
                  <a:txBody>
                    <a:bodyPr wrap="square"/>
                    <a:lstStyle/>
                    <a:p>
                      <a:pPr algn="l"/>
                      <a:r>
                        <a:rPr sz="1050" b="0" i="0">
                          <a:solidFill>
                            <a:srgbClr val="000000"/>
                          </a:solidFill>
                          <a:latin typeface="Calibri"/>
                        </a:rPr>
                        <a:t>Figure 115: Latin America Market Value by Material Structure and Barrier Level, US$ Mn, 2036</a:t>
                      </a:r>
                      <a:endParaRPr sz="1050"/>
                    </a:p>
                  </a:txBody>
                  <a:tcPr marL="9525" marR="9525" marT="9525" marB="0" anchor="ctr"/>
                </a:tc>
              </a:tr>
              <a:tr h="170930">
                <a:tc>
                  <a:txBody>
                    <a:bodyPr wrap="square"/>
                    <a:lstStyle/>
                    <a:p>
                      <a:pPr algn="l"/>
                      <a:r>
                        <a:rPr sz="1050" b="0" i="0">
                          <a:solidFill>
                            <a:srgbClr val="000000"/>
                          </a:solidFill>
                          <a:latin typeface="Calibri"/>
                        </a:rPr>
                        <a:t>Figure 116: Brazil Market Value and YoY Growth, US$ Mn and %, 2021–2036</a:t>
                      </a:r>
                      <a:endParaRPr sz="1050"/>
                    </a:p>
                  </a:txBody>
                  <a:tcPr marL="9525" marR="9525" marT="9525" marB="0" anchor="ctr"/>
                </a:tc>
              </a:tr>
              <a:tr h="170930">
                <a:tc>
                  <a:txBody>
                    <a:bodyPr wrap="square"/>
                    <a:lstStyle/>
                    <a:p>
                      <a:pPr algn="l"/>
                      <a:r>
                        <a:rPr sz="1050" b="0" i="0">
                          <a:solidFill>
                            <a:srgbClr val="000000"/>
                          </a:solidFill>
                          <a:latin typeface="Calibri"/>
                        </a:rPr>
                        <a:t>Figure 117: Brazil Market Value by Product Type, US$ Mn, 2026 and 2036</a:t>
                      </a:r>
                      <a:endParaRPr sz="1050"/>
                    </a:p>
                  </a:txBody>
                  <a:tcPr marL="9525" marR="9525" marT="9525" marB="0" anchor="ctr"/>
                </a:tc>
              </a:tr>
              <a:tr h="170930">
                <a:tc>
                  <a:txBody>
                    <a:bodyPr wrap="square"/>
                    <a:lstStyle/>
                    <a:p>
                      <a:pPr algn="l"/>
                      <a:r>
                        <a:rPr sz="1050" b="0" i="0">
                          <a:solidFill>
                            <a:srgbClr val="000000"/>
                          </a:solidFill>
                          <a:latin typeface="Calibri"/>
                        </a:rPr>
                        <a:t>Figure 118: Brazil Market Value by Application, US$ Mn, 2026 and 2036</a:t>
                      </a:r>
                      <a:endParaRPr sz="1050"/>
                    </a:p>
                  </a:txBody>
                  <a:tcPr marL="9525" marR="9525" marT="9525" marB="0" anchor="ctr"/>
                </a:tc>
              </a:tr>
              <a:tr h="170930">
                <a:tc>
                  <a:txBody>
                    <a:bodyPr wrap="square"/>
                    <a:lstStyle/>
                    <a:p>
                      <a:pPr algn="l"/>
                      <a:r>
                        <a:rPr sz="1050" b="0" i="0">
                          <a:solidFill>
                            <a:srgbClr val="000000"/>
                          </a:solidFill>
                          <a:latin typeface="Calibri"/>
                        </a:rPr>
                        <a:t>Figure 119: Brazil Market Share within Latin America, %, 2026 and 2036</a:t>
                      </a:r>
                      <a:endParaRPr sz="1050"/>
                    </a:p>
                  </a:txBody>
                  <a:tcPr marL="9525" marR="9525" marT="9525" marB="0" anchor="ctr"/>
                </a:tc>
              </a:tr>
              <a:tr h="170930">
                <a:tc>
                  <a:txBody>
                    <a:bodyPr wrap="square"/>
                    <a:lstStyle/>
                    <a:p>
                      <a:pPr algn="l"/>
                      <a:r>
                        <a:rPr sz="1050" b="0" i="0">
                          <a:solidFill>
                            <a:srgbClr val="000000"/>
                          </a:solidFill>
                          <a:latin typeface="Calibri"/>
                        </a:rPr>
                        <a:t>Figure 120: Brazil Market Value by Principal Material / Barrier Technology, US$ Mn, 2026 and 2036</a:t>
                      </a:r>
                      <a:endParaRPr sz="1050"/>
                    </a:p>
                  </a:txBody>
                  <a:tcPr marL="9525" marR="9525" marT="9525" marB="0" anchor="ctr"/>
                </a:tc>
              </a:tr>
              <a:tr h="170930">
                <a:tc>
                  <a:txBody>
                    <a:bodyPr wrap="square"/>
                    <a:lstStyle/>
                    <a:p>
                      <a:pPr algn="l"/>
                      <a:r>
                        <a:rPr sz="1050" b="0" i="0">
                          <a:solidFill>
                            <a:srgbClr val="000000"/>
                          </a:solidFill>
                          <a:latin typeface="Calibri"/>
                        </a:rPr>
                        <a:t>Figure 121: Brazil Market Value by Material Structure, US$ Mn, 2026 and 2036</a:t>
                      </a:r>
                      <a:endParaRPr sz="1050"/>
                    </a:p>
                  </a:txBody>
                  <a:tcPr marL="9525" marR="9525" marT="9525" marB="0" anchor="ctr"/>
                </a:tc>
              </a:tr>
              <a:tr h="170930">
                <a:tc>
                  <a:txBody>
                    <a:bodyPr wrap="square"/>
                    <a:lstStyle/>
                    <a:p>
                      <a:pPr algn="l"/>
                      <a:r>
                        <a:rPr sz="1050" b="0" i="0">
                          <a:solidFill>
                            <a:srgbClr val="000000"/>
                          </a:solidFill>
                          <a:latin typeface="Calibri"/>
                        </a:rPr>
                        <a:t>Figure 122: Brazil Market Value by Barrier Level, US$ Mn, 2026 and 2036</a:t>
                      </a:r>
                      <a:endParaRPr sz="1050"/>
                    </a:p>
                  </a:txBody>
                  <a:tcPr marL="9525" marR="9525" marT="9525" marB="0" anchor="ctr"/>
                </a:tc>
              </a:tr>
              <a:tr h="170930">
                <a:tc>
                  <a:txBody>
                    <a:bodyPr wrap="square"/>
                    <a:lstStyle/>
                    <a:p>
                      <a:pPr algn="l"/>
                      <a:r>
                        <a:rPr sz="1050" b="0" i="0">
                          <a:solidFill>
                            <a:srgbClr val="000000"/>
                          </a:solidFill>
                          <a:latin typeface="Calibri"/>
                        </a:rPr>
                        <a:t>Figure 123: Brazil Market Value by Barrier Level Vs Application, US$ Mn, 2026 and 2036</a:t>
                      </a:r>
                      <a:endParaRPr sz="1050"/>
                    </a:p>
                  </a:txBody>
                  <a:tcPr marL="9525" marR="9525" marT="9525" marB="0" anchor="ctr"/>
                </a:tc>
              </a:tr>
              <a:tr h="170930">
                <a:tc>
                  <a:txBody>
                    <a:bodyPr wrap="square"/>
                    <a:lstStyle/>
                    <a:p>
                      <a:pPr algn="l"/>
                      <a:r>
                        <a:rPr sz="1050" b="0" i="0">
                          <a:solidFill>
                            <a:srgbClr val="000000"/>
                          </a:solidFill>
                          <a:latin typeface="Calibri"/>
                        </a:rPr>
                        <a:t>Figure 124: Brazil Market Volume and YoY Growth, Thousand MT and %,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050" b="0" i="0">
                          <a:solidFill>
                            <a:srgbClr val="000000"/>
                          </a:solidFill>
                          <a:latin typeface="Calibri"/>
                        </a:rPr>
                        <a:t>Figure 125: Brazil Market Average Selling Price, US$/MT, 2021–2036</a:t>
                      </a:r>
                      <a:endParaRPr sz="1050"/>
                    </a:p>
                  </a:txBody>
                  <a:tcPr marL="9525" marR="9525" marT="9525" marB="0" anchor="ctr"/>
                </a:tc>
              </a:tr>
              <a:tr h="175260">
                <a:tc>
                  <a:txBody>
                    <a:bodyPr wrap="square"/>
                    <a:lstStyle/>
                    <a:p>
                      <a:pPr algn="l"/>
                      <a:r>
                        <a:rPr sz="1050" b="0" i="0">
                          <a:solidFill>
                            <a:srgbClr val="000000"/>
                          </a:solidFill>
                          <a:latin typeface="Calibri"/>
                        </a:rPr>
                        <a:t>Figure 126: Brazil Market Leading Suppliers Share, %, 2026</a:t>
                      </a:r>
                      <a:endParaRPr sz="1050"/>
                    </a:p>
                  </a:txBody>
                  <a:tcPr marL="9525" marR="9525" marT="9525" marB="0" anchor="ctr"/>
                </a:tc>
              </a:tr>
              <a:tr h="175260">
                <a:tc>
                  <a:txBody>
                    <a:bodyPr wrap="square"/>
                    <a:lstStyle/>
                    <a:p>
                      <a:pPr algn="l"/>
                      <a:r>
                        <a:rPr sz="1050" b="0" i="0">
                          <a:solidFill>
                            <a:srgbClr val="000000"/>
                          </a:solidFill>
                          <a:latin typeface="Calibri"/>
                        </a:rPr>
                        <a:t>Figure 127: Brazil Market Demand Outlook, US$ Mn, 2026–2036</a:t>
                      </a:r>
                      <a:endParaRPr sz="1050"/>
                    </a:p>
                  </a:txBody>
                  <a:tcPr marL="9525" marR="9525" marT="9525" marB="0" anchor="ctr"/>
                </a:tc>
              </a:tr>
              <a:tr h="175260">
                <a:tc>
                  <a:txBody>
                    <a:bodyPr wrap="square"/>
                    <a:lstStyle/>
                    <a:p>
                      <a:pPr algn="l"/>
                      <a:r>
                        <a:rPr sz="1050" b="0" i="0">
                          <a:solidFill>
                            <a:srgbClr val="000000"/>
                          </a:solidFill>
                          <a:latin typeface="Calibri"/>
                        </a:rPr>
                        <a:t>Figure 128: Mexico Market Value and YoY Growth, US$ Mn and %, 2021–2036</a:t>
                      </a:r>
                      <a:endParaRPr sz="1050"/>
                    </a:p>
                  </a:txBody>
                  <a:tcPr marL="9525" marR="9525" marT="9525" marB="0" anchor="ctr"/>
                </a:tc>
              </a:tr>
              <a:tr h="175260">
                <a:tc>
                  <a:txBody>
                    <a:bodyPr wrap="square"/>
                    <a:lstStyle/>
                    <a:p>
                      <a:pPr algn="l"/>
                      <a:r>
                        <a:rPr sz="1050" b="0" i="0">
                          <a:solidFill>
                            <a:srgbClr val="000000"/>
                          </a:solidFill>
                          <a:latin typeface="Calibri"/>
                        </a:rPr>
                        <a:t>Figure 129: Mexico Market Value by Product Type, US$ Mn, 2026 and 2036</a:t>
                      </a:r>
                      <a:endParaRPr sz="1050"/>
                    </a:p>
                  </a:txBody>
                  <a:tcPr marL="9525" marR="9525" marT="9525" marB="0" anchor="ctr"/>
                </a:tc>
              </a:tr>
              <a:tr h="175260">
                <a:tc>
                  <a:txBody>
                    <a:bodyPr wrap="square"/>
                    <a:lstStyle/>
                    <a:p>
                      <a:pPr algn="l"/>
                      <a:r>
                        <a:rPr sz="1050" b="0" i="0">
                          <a:solidFill>
                            <a:srgbClr val="000000"/>
                          </a:solidFill>
                          <a:latin typeface="Calibri"/>
                        </a:rPr>
                        <a:t>Figure 130: Mexico Market Value by Application, US$ Mn, 2026 and 2036</a:t>
                      </a:r>
                      <a:endParaRPr sz="1050"/>
                    </a:p>
                  </a:txBody>
                  <a:tcPr marL="9525" marR="9525" marT="9525" marB="0" anchor="ctr"/>
                </a:tc>
              </a:tr>
              <a:tr h="175260">
                <a:tc>
                  <a:txBody>
                    <a:bodyPr wrap="square"/>
                    <a:lstStyle/>
                    <a:p>
                      <a:pPr algn="l"/>
                      <a:r>
                        <a:rPr sz="1050" b="0" i="0">
                          <a:solidFill>
                            <a:srgbClr val="000000"/>
                          </a:solidFill>
                          <a:latin typeface="Calibri"/>
                        </a:rPr>
                        <a:t>Figure 131: Mexico Market Share within Latin America, %, 2026 and 2036</a:t>
                      </a:r>
                      <a:endParaRPr sz="1050"/>
                    </a:p>
                  </a:txBody>
                  <a:tcPr marL="9525" marR="9525" marT="9525" marB="0" anchor="ctr"/>
                </a:tc>
              </a:tr>
              <a:tr h="175260">
                <a:tc>
                  <a:txBody>
                    <a:bodyPr wrap="square"/>
                    <a:lstStyle/>
                    <a:p>
                      <a:pPr algn="l"/>
                      <a:r>
                        <a:rPr sz="1050" b="0" i="0">
                          <a:solidFill>
                            <a:srgbClr val="000000"/>
                          </a:solidFill>
                          <a:latin typeface="Calibri"/>
                        </a:rPr>
                        <a:t>Figure 132: Mexico Market Value by Principal Material / Barrier Technology, US$ Mn, 2026 and 2036</a:t>
                      </a:r>
                      <a:endParaRPr sz="1050"/>
                    </a:p>
                  </a:txBody>
                  <a:tcPr marL="9525" marR="9525" marT="9525" marB="0" anchor="ctr"/>
                </a:tc>
              </a:tr>
              <a:tr h="175260">
                <a:tc>
                  <a:txBody>
                    <a:bodyPr wrap="square"/>
                    <a:lstStyle/>
                    <a:p>
                      <a:pPr algn="l"/>
                      <a:r>
                        <a:rPr sz="1050" b="0" i="0">
                          <a:solidFill>
                            <a:srgbClr val="000000"/>
                          </a:solidFill>
                          <a:latin typeface="Calibri"/>
                        </a:rPr>
                        <a:t>Figure 133: Mexico Market Value by Material Structure, US$ Mn, 2026 and 2036</a:t>
                      </a:r>
                      <a:endParaRPr sz="1050"/>
                    </a:p>
                  </a:txBody>
                  <a:tcPr marL="9525" marR="9525" marT="9525" marB="0" anchor="ctr"/>
                </a:tc>
              </a:tr>
              <a:tr h="175260">
                <a:tc>
                  <a:txBody>
                    <a:bodyPr wrap="square"/>
                    <a:lstStyle/>
                    <a:p>
                      <a:pPr algn="l"/>
                      <a:r>
                        <a:rPr sz="1050" b="0" i="0">
                          <a:solidFill>
                            <a:srgbClr val="000000"/>
                          </a:solidFill>
                          <a:latin typeface="Calibri"/>
                        </a:rPr>
                        <a:t>Figure 134: Mexico Market Value by Barrier Level, US$ Mn, 2026 and 2036</a:t>
                      </a:r>
                      <a:endParaRPr sz="1050"/>
                    </a:p>
                  </a:txBody>
                  <a:tcPr marL="9525" marR="9525" marT="9525" marB="0" anchor="ctr"/>
                </a:tc>
              </a:tr>
              <a:tr h="175260">
                <a:tc>
                  <a:txBody>
                    <a:bodyPr wrap="square"/>
                    <a:lstStyle/>
                    <a:p>
                      <a:pPr algn="l"/>
                      <a:r>
                        <a:rPr sz="1050" b="0" i="0">
                          <a:solidFill>
                            <a:srgbClr val="000000"/>
                          </a:solidFill>
                          <a:latin typeface="Calibri"/>
                        </a:rPr>
                        <a:t>Figure 135: Mexico Market Value by Barrier Level Vs Application, US$ Mn, 2026 and 2036</a:t>
                      </a:r>
                      <a:endParaRPr sz="1050"/>
                    </a:p>
                  </a:txBody>
                  <a:tcPr marL="9525" marR="9525" marT="9525" marB="0" anchor="ctr"/>
                </a:tc>
              </a:tr>
              <a:tr h="175260">
                <a:tc>
                  <a:txBody>
                    <a:bodyPr wrap="square"/>
                    <a:lstStyle/>
                    <a:p>
                      <a:pPr algn="l"/>
                      <a:r>
                        <a:rPr sz="1050" b="0" i="0">
                          <a:solidFill>
                            <a:srgbClr val="000000"/>
                          </a:solidFill>
                          <a:latin typeface="Calibri"/>
                        </a:rPr>
                        <a:t>Figure 136: Mexico Market Volume and YoY Growth, Thousand MT and %, 2021–2036</a:t>
                      </a:r>
                      <a:endParaRPr sz="1050"/>
                    </a:p>
                  </a:txBody>
                  <a:tcPr marL="9525" marR="9525" marT="9525" marB="0" anchor="ctr"/>
                </a:tc>
              </a:tr>
              <a:tr h="175260">
                <a:tc>
                  <a:txBody>
                    <a:bodyPr wrap="square"/>
                    <a:lstStyle/>
                    <a:p>
                      <a:pPr algn="l"/>
                      <a:r>
                        <a:rPr sz="1050" b="0" i="0">
                          <a:solidFill>
                            <a:srgbClr val="000000"/>
                          </a:solidFill>
                          <a:latin typeface="Calibri"/>
                        </a:rPr>
                        <a:t>Figure 137: Mexico Market Average Selling Price, US$/MT, 2021–2036</a:t>
                      </a:r>
                      <a:endParaRPr sz="1050"/>
                    </a:p>
                  </a:txBody>
                  <a:tcPr marL="9525" marR="9525" marT="9525" marB="0" anchor="ctr"/>
                </a:tc>
              </a:tr>
              <a:tr h="175260">
                <a:tc>
                  <a:txBody>
                    <a:bodyPr wrap="square"/>
                    <a:lstStyle/>
                    <a:p>
                      <a:pPr algn="l"/>
                      <a:r>
                        <a:rPr sz="1050" b="0" i="0">
                          <a:solidFill>
                            <a:srgbClr val="000000"/>
                          </a:solidFill>
                          <a:latin typeface="Calibri"/>
                        </a:rPr>
                        <a:t>Figure 138: Mexico Market Leading Suppliers Share, %, 2026</a:t>
                      </a:r>
                      <a:endParaRPr sz="1050"/>
                    </a:p>
                  </a:txBody>
                  <a:tcPr marL="9525" marR="9525" marT="9525" marB="0" anchor="ctr"/>
                </a:tc>
              </a:tr>
              <a:tr h="175260">
                <a:tc>
                  <a:txBody>
                    <a:bodyPr wrap="square"/>
                    <a:lstStyle/>
                    <a:p>
                      <a:pPr algn="l"/>
                      <a:r>
                        <a:rPr sz="1050" b="0" i="0">
                          <a:solidFill>
                            <a:srgbClr val="000000"/>
                          </a:solidFill>
                          <a:latin typeface="Calibri"/>
                        </a:rPr>
                        <a:t>Figure 139: Mexico Market Demand Outlook, US$ Mn, 2026–2036</a:t>
                      </a:r>
                      <a:endParaRPr sz="1050"/>
                    </a:p>
                  </a:txBody>
                  <a:tcPr marL="9525" marR="9525" marT="9525" marB="0" anchor="ctr"/>
                </a:tc>
              </a:tr>
              <a:tr h="175260">
                <a:tc>
                  <a:txBody>
                    <a:bodyPr wrap="square"/>
                    <a:lstStyle/>
                    <a:p>
                      <a:pPr algn="l"/>
                      <a:r>
                        <a:rPr sz="1050" b="0" i="0">
                          <a:solidFill>
                            <a:srgbClr val="000000"/>
                          </a:solidFill>
                          <a:latin typeface="Calibri"/>
                        </a:rPr>
                        <a:t>Figure 140: Colombia Market Value and YoY Growth, US$ Mn and %, 2021–2036</a:t>
                      </a:r>
                      <a:endParaRPr sz="1050"/>
                    </a:p>
                  </a:txBody>
                  <a:tcPr marL="9525" marR="9525" marT="9525" marB="0" anchor="ctr"/>
                </a:tc>
              </a:tr>
              <a:tr h="175260">
                <a:tc>
                  <a:txBody>
                    <a:bodyPr wrap="square"/>
                    <a:lstStyle/>
                    <a:p>
                      <a:pPr algn="l"/>
                      <a:r>
                        <a:rPr sz="1050" b="0" i="0">
                          <a:solidFill>
                            <a:srgbClr val="000000"/>
                          </a:solidFill>
                          <a:latin typeface="Calibri"/>
                        </a:rPr>
                        <a:t>Figure 141: Colombia Market Value by Product Type, US$ Mn, 2026 and 2036</a:t>
                      </a:r>
                      <a:endParaRPr sz="1050"/>
                    </a:p>
                  </a:txBody>
                  <a:tcPr marL="9525" marR="9525" marT="9525" marB="0" anchor="ctr"/>
                </a:tc>
              </a:tr>
              <a:tr h="175260">
                <a:tc>
                  <a:txBody>
                    <a:bodyPr wrap="square"/>
                    <a:lstStyle/>
                    <a:p>
                      <a:pPr algn="l"/>
                      <a:r>
                        <a:rPr sz="1050" b="0" i="0">
                          <a:solidFill>
                            <a:srgbClr val="000000"/>
                          </a:solidFill>
                          <a:latin typeface="Calibri"/>
                        </a:rPr>
                        <a:t>Figure 142: Colombia Market Value by Application, US$ Mn, 2026 and 2036</a:t>
                      </a:r>
                      <a:endParaRPr sz="1050"/>
                    </a:p>
                  </a:txBody>
                  <a:tcPr marL="9525" marR="9525" marT="9525" marB="0" anchor="ctr"/>
                </a:tc>
              </a:tr>
              <a:tr h="175260">
                <a:tc>
                  <a:txBody>
                    <a:bodyPr wrap="square"/>
                    <a:lstStyle/>
                    <a:p>
                      <a:pPr algn="l"/>
                      <a:r>
                        <a:rPr sz="1050" b="0" i="0">
                          <a:solidFill>
                            <a:srgbClr val="000000"/>
                          </a:solidFill>
                          <a:latin typeface="Calibri"/>
                        </a:rPr>
                        <a:t>Figure 143: Colombia Market Share within Latin America, %, 2026 and 2036</a:t>
                      </a:r>
                      <a:endParaRPr sz="1050"/>
                    </a:p>
                  </a:txBody>
                  <a:tcPr marL="9525" marR="9525" marT="9525" marB="0" anchor="ctr"/>
                </a:tc>
              </a:tr>
              <a:tr h="175260">
                <a:tc>
                  <a:txBody>
                    <a:bodyPr wrap="square"/>
                    <a:lstStyle/>
                    <a:p>
                      <a:pPr algn="l"/>
                      <a:r>
                        <a:rPr sz="1050" b="0" i="0">
                          <a:solidFill>
                            <a:srgbClr val="000000"/>
                          </a:solidFill>
                          <a:latin typeface="Calibri"/>
                        </a:rPr>
                        <a:t>Figure 144: Colombia Market Value by Principal Material / Barrier Technology, US$ Mn, 2026 and 2036</a:t>
                      </a:r>
                      <a:endParaRPr sz="1050"/>
                    </a:p>
                  </a:txBody>
                  <a:tcPr marL="9525" marR="9525" marT="9525" marB="0" anchor="ctr"/>
                </a:tc>
              </a:tr>
              <a:tr h="175260">
                <a:tc>
                  <a:txBody>
                    <a:bodyPr wrap="square"/>
                    <a:lstStyle/>
                    <a:p>
                      <a:pPr algn="l"/>
                      <a:r>
                        <a:rPr sz="1050" b="0" i="0">
                          <a:solidFill>
                            <a:srgbClr val="000000"/>
                          </a:solidFill>
                          <a:latin typeface="Calibri"/>
                        </a:rPr>
                        <a:t>Figure 145: Colombia Market Value by Material Structure, US$ Mn, 2026 and 2036</a:t>
                      </a:r>
                      <a:endParaRPr sz="1050"/>
                    </a:p>
                  </a:txBody>
                  <a:tcPr marL="9525" marR="9525" marT="9525" marB="0" anchor="ctr"/>
                </a:tc>
              </a:tr>
              <a:tr h="175260">
                <a:tc>
                  <a:txBody>
                    <a:bodyPr wrap="square"/>
                    <a:lstStyle/>
                    <a:p>
                      <a:pPr algn="l"/>
                      <a:r>
                        <a:rPr sz="1050" b="0" i="0">
                          <a:solidFill>
                            <a:srgbClr val="000000"/>
                          </a:solidFill>
                          <a:latin typeface="Calibri"/>
                        </a:rPr>
                        <a:t>Figure 146: Colombia Market Value by Barrier Level, US$ Mn, 2026 and 2036</a:t>
                      </a:r>
                      <a:endParaRPr sz="1050"/>
                    </a:p>
                  </a:txBody>
                  <a:tcPr marL="9525" marR="9525" marT="9525" marB="0" anchor="ctr"/>
                </a:tc>
              </a:tr>
              <a:tr h="175260">
                <a:tc>
                  <a:txBody>
                    <a:bodyPr wrap="square"/>
                    <a:lstStyle/>
                    <a:p>
                      <a:pPr algn="l"/>
                      <a:r>
                        <a:rPr sz="1050" b="0" i="0">
                          <a:solidFill>
                            <a:srgbClr val="000000"/>
                          </a:solidFill>
                          <a:latin typeface="Calibri"/>
                        </a:rPr>
                        <a:t>Figure 147: Colombia Market Value by Barrier Level Vs Application, US$ Mn, 2026 and 2036</a:t>
                      </a:r>
                      <a:endParaRPr sz="1050"/>
                    </a:p>
                  </a:txBody>
                  <a:tcPr marL="9525" marR="9525" marT="9525" marB="0" anchor="ctr"/>
                </a:tc>
              </a:tr>
              <a:tr h="175260">
                <a:tc>
                  <a:txBody>
                    <a:bodyPr wrap="square"/>
                    <a:lstStyle/>
                    <a:p>
                      <a:pPr algn="l"/>
                      <a:r>
                        <a:rPr sz="1050" b="0" i="0">
                          <a:solidFill>
                            <a:srgbClr val="000000"/>
                          </a:solidFill>
                          <a:latin typeface="Calibri"/>
                        </a:rPr>
                        <a:t>Figure 148: Colombia Market Volume and YoY Growth, Thousand MT and %, 2021–2036</a:t>
                      </a:r>
                      <a:endParaRPr sz="1050"/>
                    </a:p>
                  </a:txBody>
                  <a:tcPr marL="9525" marR="9525" marT="9525" marB="0" anchor="ctr"/>
                </a:tc>
              </a:tr>
              <a:tr h="175260">
                <a:tc>
                  <a:txBody>
                    <a:bodyPr wrap="square"/>
                    <a:lstStyle/>
                    <a:p>
                      <a:pPr algn="l"/>
                      <a:r>
                        <a:rPr sz="1050" b="0" i="0">
                          <a:solidFill>
                            <a:srgbClr val="000000"/>
                          </a:solidFill>
                          <a:latin typeface="Calibri"/>
                        </a:rPr>
                        <a:t>Figure 149: Colombia Market Average Selling Price, US$/MT, 2021–2036</a:t>
                      </a:r>
                      <a:endParaRPr sz="1050"/>
                    </a:p>
                  </a:txBody>
                  <a:tcPr marL="9525" marR="9525" marT="9525" marB="0" anchor="ctr"/>
                </a:tc>
              </a:tr>
              <a:tr h="175260">
                <a:tc>
                  <a:txBody>
                    <a:bodyPr wrap="square"/>
                    <a:lstStyle/>
                    <a:p>
                      <a:pPr algn="l"/>
                      <a:r>
                        <a:rPr sz="1050" b="0" i="0">
                          <a:solidFill>
                            <a:srgbClr val="000000"/>
                          </a:solidFill>
                          <a:latin typeface="Calibri"/>
                        </a:rPr>
                        <a:t>Figure 150: Colombia Market Leading Suppliers Share, %, 2026</a:t>
                      </a:r>
                      <a:endParaRPr sz="1050"/>
                    </a:p>
                  </a:txBody>
                  <a:tcPr marL="9525" marR="9525" marT="9525" marB="0" anchor="ctr"/>
                </a:tc>
              </a:tr>
              <a:tr h="175260">
                <a:tc>
                  <a:txBody>
                    <a:bodyPr wrap="square"/>
                    <a:lstStyle/>
                    <a:p>
                      <a:pPr algn="l"/>
                      <a:r>
                        <a:rPr sz="1050" b="0" i="0">
                          <a:solidFill>
                            <a:srgbClr val="000000"/>
                          </a:solidFill>
                          <a:latin typeface="Calibri"/>
                        </a:rPr>
                        <a:t>Figure 151: Colombia Market Demand Outlook, US$ Mn, 2026–2036</a:t>
                      </a:r>
                      <a:endParaRPr sz="1050"/>
                    </a:p>
                  </a:txBody>
                  <a:tcPr marL="9525" marR="9525" marT="9525" marB="0" anchor="ctr"/>
                </a:tc>
              </a:tr>
              <a:tr h="175260">
                <a:tc>
                  <a:txBody>
                    <a:bodyPr wrap="square"/>
                    <a:lstStyle/>
                    <a:p>
                      <a:pPr algn="l"/>
                      <a:r>
                        <a:rPr sz="1050" b="0" i="0">
                          <a:solidFill>
                            <a:srgbClr val="000000"/>
                          </a:solidFill>
                          <a:latin typeface="Calibri"/>
                        </a:rPr>
                        <a:t>Figure 152: Latin America Market Average Selling Price Trend, US$/MT, 2021–2036</a:t>
                      </a:r>
                      <a:endParaRPr sz="1050"/>
                    </a:p>
                  </a:txBody>
                  <a:tcPr marL="9525" marR="9525" marT="9525" marB="0" anchor="ctr"/>
                </a:tc>
              </a:tr>
              <a:tr h="175260">
                <a:tc>
                  <a:txBody>
                    <a:bodyPr wrap="square"/>
                    <a:lstStyle/>
                    <a:p>
                      <a:pPr algn="l"/>
                      <a:r>
                        <a:rPr sz="1050" b="0" i="0">
                          <a:solidFill>
                            <a:srgbClr val="000000"/>
                          </a:solidFill>
                          <a:latin typeface="Calibri"/>
                        </a:rPr>
                        <a:t>Figure 153: Latin America Market Average Selling Price Outlook, US$/MT, 2026–2036</a:t>
                      </a:r>
                      <a:endParaRPr sz="1050"/>
                    </a:p>
                  </a:txBody>
                  <a:tcPr marL="9525" marR="9525" marT="9525" marB="0" anchor="ctr"/>
                </a:tc>
              </a:tr>
              <a:tr h="175260">
                <a:tc>
                  <a:txBody>
                    <a:bodyPr wrap="square"/>
                    <a:lstStyle/>
                    <a:p>
                      <a:pPr algn="l"/>
                      <a:r>
                        <a:rPr sz="1050" b="0" i="0">
                          <a:solidFill>
                            <a:srgbClr val="000000"/>
                          </a:solidFill>
                          <a:latin typeface="Calibri"/>
                        </a:rPr>
                        <a:t>Figure 154: Latin America Market Average Selling Price by Product Type, US$/MT, 2026 and 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(4/4)</a:t>
            </a:r>
          </a:p>
        </p:txBody>
      </p:sp>
      <p:graphicFrame>
        <p:nvGraphicFramePr>
          <p:cNvPr id="9" name="FMI Contents Table"/>
          <p:cNvGraphicFramePr>
            <a:graphicFrameLocks noGrp="1"/>
          </p:cNvGraphicFramePr>
          <p:nvPr/>
        </p:nvGraphicFramePr>
        <p:xfrm>
          <a:off x="142875" y="981075"/>
          <a:ext cx="5876925" cy="5257793"/>
        </p:xfrm>
        <a:graphic>
          <a:graphicData uri="http://schemas.openxmlformats.org/drawingml/2006/table">
            <a:tbl>
              <a:tblPr>
                <a:tableStyleId>{3B4B98B0-60AC-42C2-AFA5-B58CD77FA1E5}</a:tableStyleId>
              </a:tblPr>
              <a:tblGrid>
                <a:gridCol w="5876925"/>
              </a:tblGrid>
              <a:tr h="333289">
                <a:tc>
                  <a:txBody>
                    <a:bodyPr wrap="square"/>
                    <a:lstStyle/>
                    <a:p>
                      <a:pPr algn="l"/>
                      <a:r>
                        <a:rPr sz="1050" b="0" i="0">
                          <a:solidFill>
                            <a:srgbClr val="000000"/>
                          </a:solidFill>
                          <a:latin typeface="Calibri"/>
                        </a:rPr>
                        <a:t>Figure 155: Latin America Market Average Selling Price by Principal Material / Barrier Technology, US$/MT, 2026 and 2036</a:t>
                      </a:r>
                      <a:endParaRPr sz="1050"/>
                    </a:p>
                  </a:txBody>
                  <a:tcPr marL="9525" marR="9525" marT="9525" marB="0" anchor="ctr"/>
                </a:tc>
              </a:tr>
              <a:tr h="170045">
                <a:tc>
                  <a:txBody>
                    <a:bodyPr wrap="square"/>
                    <a:lstStyle/>
                    <a:p>
                      <a:pPr algn="l"/>
                      <a:r>
                        <a:rPr sz="1050" b="0" i="0">
                          <a:solidFill>
                            <a:srgbClr val="000000"/>
                          </a:solidFill>
                          <a:latin typeface="Calibri"/>
                        </a:rPr>
                        <a:t>Figure 156: Latin America Market Average Selling Price by Material Structure, US$/MT, 2026 and 2036</a:t>
                      </a:r>
                      <a:endParaRPr sz="1050"/>
                    </a:p>
                  </a:txBody>
                  <a:tcPr marL="9525" marR="9525" marT="9525" marB="0" anchor="ctr"/>
                </a:tc>
              </a:tr>
              <a:tr h="170045">
                <a:tc>
                  <a:txBody>
                    <a:bodyPr wrap="square"/>
                    <a:lstStyle/>
                    <a:p>
                      <a:pPr algn="l"/>
                      <a:r>
                        <a:rPr sz="1050" b="0" i="0">
                          <a:solidFill>
                            <a:srgbClr val="000000"/>
                          </a:solidFill>
                          <a:latin typeface="Calibri"/>
                        </a:rPr>
                        <a:t>Figure 157: Latin America Market Average Selling Price by Barrier Level, US$/MT, 2026 and 2036</a:t>
                      </a:r>
                      <a:endParaRPr sz="1050"/>
                    </a:p>
                  </a:txBody>
                  <a:tcPr marL="9525" marR="9525" marT="9525" marB="0" anchor="ctr"/>
                </a:tc>
              </a:tr>
              <a:tr h="170045">
                <a:tc>
                  <a:txBody>
                    <a:bodyPr wrap="square"/>
                    <a:lstStyle/>
                    <a:p>
                      <a:pPr algn="l"/>
                      <a:r>
                        <a:rPr sz="1050" b="0" i="0">
                          <a:solidFill>
                            <a:srgbClr val="000000"/>
                          </a:solidFill>
                          <a:latin typeface="Calibri"/>
                        </a:rPr>
                        <a:t>Figure 158: Latin America Market Average Selling Price by Application, US$/MT, 2026 and 2036</a:t>
                      </a:r>
                      <a:endParaRPr sz="1050"/>
                    </a:p>
                  </a:txBody>
                  <a:tcPr marL="9525" marR="9525" marT="9525" marB="0" anchor="ctr"/>
                </a:tc>
              </a:tr>
              <a:tr h="333289">
                <a:tc>
                  <a:txBody>
                    <a:bodyPr wrap="square"/>
                    <a:lstStyle/>
                    <a:p>
                      <a:pPr algn="l"/>
                      <a:r>
                        <a:rPr sz="1050" b="0" i="0">
                          <a:solidFill>
                            <a:srgbClr val="000000"/>
                          </a:solidFill>
                          <a:latin typeface="Calibri"/>
                        </a:rPr>
                        <a:t>Figure 159: Latin America Market Average Selling Price by Barrier Level Vs Application, US$/MT, 2026 and 2036</a:t>
                      </a:r>
                      <a:endParaRPr sz="1050"/>
                    </a:p>
                  </a:txBody>
                  <a:tcPr marL="9525" marR="9525" marT="9525" marB="0" anchor="ctr"/>
                </a:tc>
              </a:tr>
              <a:tr h="170045">
                <a:tc>
                  <a:txBody>
                    <a:bodyPr wrap="square"/>
                    <a:lstStyle/>
                    <a:p>
                      <a:pPr algn="l"/>
                      <a:r>
                        <a:rPr sz="1050" b="0" i="0">
                          <a:solidFill>
                            <a:srgbClr val="000000"/>
                          </a:solidFill>
                          <a:latin typeface="Calibri"/>
                        </a:rPr>
                        <a:t>Figure 160: Latin America Market Value Chain Structure, 2026</a:t>
                      </a:r>
                      <a:endParaRPr sz="1050"/>
                    </a:p>
                  </a:txBody>
                  <a:tcPr marL="9525" marR="9525" marT="9525" marB="0" anchor="ctr"/>
                </a:tc>
              </a:tr>
              <a:tr h="170045">
                <a:tc>
                  <a:txBody>
                    <a:bodyPr wrap="square"/>
                    <a:lstStyle/>
                    <a:p>
                      <a:pPr algn="l"/>
                      <a:r>
                        <a:rPr sz="1050" b="0" i="0">
                          <a:solidFill>
                            <a:srgbClr val="000000"/>
                          </a:solidFill>
                          <a:latin typeface="Calibri"/>
                        </a:rPr>
                        <a:t>Figure 161: Latin America Market Margin Distribution across the Value Chain, %, 2026</a:t>
                      </a:r>
                      <a:endParaRPr sz="1050"/>
                    </a:p>
                  </a:txBody>
                  <a:tcPr marL="9525" marR="9525" marT="9525" marB="0" anchor="ctr"/>
                </a:tc>
              </a:tr>
              <a:tr h="170045">
                <a:tc>
                  <a:txBody>
                    <a:bodyPr wrap="square"/>
                    <a:lstStyle/>
                    <a:p>
                      <a:pPr algn="l"/>
                      <a:r>
                        <a:rPr sz="1050" b="0" i="0">
                          <a:solidFill>
                            <a:srgbClr val="000000"/>
                          </a:solidFill>
                          <a:latin typeface="Calibri"/>
                        </a:rPr>
                        <a:t>Figure 162: Latin America Market Cost Structure Breakdown, %, 2026</a:t>
                      </a:r>
                      <a:endParaRPr sz="1050"/>
                    </a:p>
                  </a:txBody>
                  <a:tcPr marL="9525" marR="9525" marT="9525" marB="0" anchor="ctr"/>
                </a:tc>
              </a:tr>
              <a:tr h="170045">
                <a:tc>
                  <a:txBody>
                    <a:bodyPr wrap="square"/>
                    <a:lstStyle/>
                    <a:p>
                      <a:pPr algn="l"/>
                      <a:r>
                        <a:rPr sz="1050" b="0" i="0">
                          <a:solidFill>
                            <a:srgbClr val="000000"/>
                          </a:solidFill>
                          <a:latin typeface="Calibri"/>
                        </a:rPr>
                        <a:t>Figure 163: Latin America Market Pricing Pressure Assessment by Product Type, 2026–2036</a:t>
                      </a:r>
                      <a:endParaRPr sz="1050"/>
                    </a:p>
                  </a:txBody>
                  <a:tcPr marL="9525" marR="9525" marT="9525" marB="0" anchor="ctr"/>
                </a:tc>
              </a:tr>
              <a:tr h="170045">
                <a:tc>
                  <a:txBody>
                    <a:bodyPr wrap="square"/>
                    <a:lstStyle/>
                    <a:p>
                      <a:pPr algn="l"/>
                      <a:r>
                        <a:rPr sz="1050" b="0" i="0">
                          <a:solidFill>
                            <a:srgbClr val="000000"/>
                          </a:solidFill>
                          <a:latin typeface="Calibri"/>
                        </a:rPr>
                        <a:t>Figure 164: Latin America Market Import and Export Share, %, 2025</a:t>
                      </a:r>
                      <a:endParaRPr sz="1050"/>
                    </a:p>
                  </a:txBody>
                  <a:tcPr marL="9525" marR="9525" marT="9525" marB="0" anchor="ctr"/>
                </a:tc>
              </a:tr>
              <a:tr h="170045">
                <a:tc>
                  <a:txBody>
                    <a:bodyPr wrap="square"/>
                    <a:lstStyle/>
                    <a:p>
                      <a:pPr algn="l"/>
                      <a:r>
                        <a:rPr sz="1050" b="0" i="0">
                          <a:solidFill>
                            <a:srgbClr val="000000"/>
                          </a:solidFill>
                          <a:latin typeface="Calibri"/>
                        </a:rPr>
                        <a:t>Figure 165: Latin America Market Trade Balance by Leading Country, US$ Mn, 2025</a:t>
                      </a:r>
                      <a:endParaRPr sz="1050"/>
                    </a:p>
                  </a:txBody>
                  <a:tcPr marL="9525" marR="9525" marT="9525" marB="0" anchor="ctr"/>
                </a:tc>
              </a:tr>
              <a:tr h="170045">
                <a:tc>
                  <a:txBody>
                    <a:bodyPr wrap="square"/>
                    <a:lstStyle/>
                    <a:p>
                      <a:pPr algn="l"/>
                      <a:r>
                        <a:rPr sz="1050" b="0" i="0">
                          <a:solidFill>
                            <a:srgbClr val="000000"/>
                          </a:solidFill>
                          <a:latin typeface="Calibri"/>
                        </a:rPr>
                        <a:t>Figure 166: Latin America Market Raw Material Price Index, 2025=100, 2021–2036</a:t>
                      </a:r>
                      <a:endParaRPr sz="1050"/>
                    </a:p>
                  </a:txBody>
                  <a:tcPr marL="9525" marR="9525" marT="9525" marB="0" anchor="ctr"/>
                </a:tc>
              </a:tr>
              <a:tr h="170045">
                <a:tc>
                  <a:txBody>
                    <a:bodyPr wrap="square"/>
                    <a:lstStyle/>
                    <a:p>
                      <a:pPr algn="l"/>
                      <a:r>
                        <a:rPr sz="1050" b="0" i="0">
                          <a:solidFill>
                            <a:srgbClr val="000000"/>
                          </a:solidFill>
                          <a:latin typeface="Calibri"/>
                        </a:rPr>
                        <a:t>Figure 167: Latin America Market Distribution Channel Margin Comparison, %, 2026</a:t>
                      </a:r>
                      <a:endParaRPr sz="1050"/>
                    </a:p>
                  </a:txBody>
                  <a:tcPr marL="9525" marR="9525" marT="9525" marB="0" anchor="ctr"/>
                </a:tc>
              </a:tr>
              <a:tr h="170045">
                <a:tc>
                  <a:txBody>
                    <a:bodyPr wrap="square"/>
                    <a:lstStyle/>
                    <a:p>
                      <a:pPr algn="l"/>
                      <a:r>
                        <a:rPr sz="1050" b="0" i="0">
                          <a:solidFill>
                            <a:srgbClr val="000000"/>
                          </a:solidFill>
                          <a:latin typeface="Calibri"/>
                        </a:rPr>
                        <a:t>Figure 168: Company Market Share in the Latin America Market, %, 2026</a:t>
                      </a:r>
                      <a:endParaRPr sz="1050"/>
                    </a:p>
                  </a:txBody>
                  <a:tcPr marL="9525" marR="9525" marT="9525" marB="0" anchor="ctr"/>
                </a:tc>
              </a:tr>
              <a:tr h="170045">
                <a:tc>
                  <a:txBody>
                    <a:bodyPr wrap="square"/>
                    <a:lstStyle/>
                    <a:p>
                      <a:pPr algn="l"/>
                      <a:r>
                        <a:rPr sz="1050" b="0" i="0">
                          <a:solidFill>
                            <a:srgbClr val="000000"/>
                          </a:solidFill>
                          <a:latin typeface="Calibri"/>
                        </a:rPr>
                        <a:t>Figure 169: Competitive Positioning of Leading Flexible Plastic Packaging Manufacturers, 2026</a:t>
                      </a:r>
                      <a:endParaRPr sz="1050"/>
                    </a:p>
                  </a:txBody>
                  <a:tcPr marL="9525" marR="9525" marT="9525" marB="0" anchor="ctr"/>
                </a:tc>
              </a:tr>
              <a:tr h="170045">
                <a:tc>
                  <a:txBody>
                    <a:bodyPr wrap="square"/>
                    <a:lstStyle/>
                    <a:p>
                      <a:pPr algn="l"/>
                      <a:r>
                        <a:rPr sz="1050" b="0" i="0">
                          <a:solidFill>
                            <a:srgbClr val="000000"/>
                          </a:solidFill>
                          <a:latin typeface="Calibri"/>
                        </a:rPr>
                        <a:t>Figure 170: Company Revenue from the Latin America Market, US$ Mn, 2026</a:t>
                      </a:r>
                      <a:endParaRPr sz="1050"/>
                    </a:p>
                  </a:txBody>
                  <a:tcPr marL="9525" marR="9525" marT="9525" marB="0" anchor="ctr"/>
                </a:tc>
              </a:tr>
              <a:tr h="170045">
                <a:tc>
                  <a:txBody>
                    <a:bodyPr wrap="square"/>
                    <a:lstStyle/>
                    <a:p>
                      <a:pPr algn="l"/>
                      <a:r>
                        <a:rPr sz="1050" b="0" i="0">
                          <a:solidFill>
                            <a:srgbClr val="000000"/>
                          </a:solidFill>
                          <a:latin typeface="Calibri"/>
                        </a:rPr>
                        <a:t>Figure 171: Latin America Market Concentration by Company Tier, %, 2026</a:t>
                      </a:r>
                      <a:endParaRPr sz="1050"/>
                    </a:p>
                  </a:txBody>
                  <a:tcPr marL="9525" marR="9525" marT="9525" marB="0" anchor="ctr"/>
                </a:tc>
              </a:tr>
              <a:tr h="170045">
                <a:tc>
                  <a:txBody>
                    <a:bodyPr wrap="square"/>
                    <a:lstStyle/>
                    <a:p>
                      <a:pPr algn="l"/>
                      <a:r>
                        <a:rPr sz="1050" b="0" i="0">
                          <a:solidFill>
                            <a:srgbClr val="000000"/>
                          </a:solidFill>
                          <a:latin typeface="Calibri"/>
                        </a:rPr>
                        <a:t>Figure 172: Latin America Market Competitive Intensity Assessment, 2026</a:t>
                      </a:r>
                      <a:endParaRPr sz="1050"/>
                    </a:p>
                  </a:txBody>
                  <a:tcPr marL="9525" marR="9525" marT="9525" marB="0" anchor="ctr"/>
                </a:tc>
              </a:tr>
              <a:tr h="170045">
                <a:tc>
                  <a:txBody>
                    <a:bodyPr wrap="square"/>
                    <a:lstStyle/>
                    <a:p>
                      <a:pPr algn="l"/>
                      <a:r>
                        <a:rPr sz="1050" b="0" i="0">
                          <a:solidFill>
                            <a:srgbClr val="000000"/>
                          </a:solidFill>
                          <a:latin typeface="Calibri"/>
                        </a:rPr>
                        <a:t>Figure 173: Company A: Revenue from the Latin America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174: Company B: Revenue from the Latin America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175: Company C: Revenue from the Latin America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176: Company D: Revenue from the Latin America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177: Company E: Revenue from the Latin America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178: Company F: Revenue from the Latin America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179: Company G: Revenue from the Latin America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180: Company H: Revenue from the Latin America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181: Latin America Market Strategic Developments by Type, %, 2025–2026</a:t>
                      </a:r>
                      <a:endParaRPr sz="1050"/>
                    </a:p>
                  </a:txBody>
                  <a:tcPr marL="9525" marR="9525" marT="9525" marB="0" anchor="ctr"/>
                </a:tc>
              </a:tr>
              <a:tr h="170045">
                <a:tc>
                  <a:txBody>
                    <a:bodyPr wrap="square"/>
                    <a:lstStyle/>
                    <a:p>
                      <a:pPr algn="l"/>
                      <a:r>
                        <a:rPr sz="1050" b="0" i="0">
                          <a:solidFill>
                            <a:srgbClr val="000000"/>
                          </a:solidFill>
                          <a:latin typeface="Calibri"/>
                        </a:rPr>
                        <a:t>Figure 182: Latin America Market Company Footprint by Region, 2026</a:t>
                      </a:r>
                      <a:endParaRPr sz="1050"/>
                    </a:p>
                  </a:txBody>
                  <a:tcPr marL="9525" marR="9525" marT="9525" marB="0" anchor="ctr"/>
                </a:tc>
              </a:tr>
              <a:tr h="170045">
                <a:tc>
                  <a:txBody>
                    <a:bodyPr wrap="square"/>
                    <a:lstStyle/>
                    <a:p>
                      <a:pPr algn="l"/>
                      <a:r>
                        <a:rPr sz="1050" b="0" i="0">
                          <a:solidFill>
                            <a:srgbClr val="000000"/>
                          </a:solidFill>
                          <a:latin typeface="Calibri"/>
                        </a:rPr>
                        <a:t>Figure 183: Latin America Market Value Forecast by Scenario,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2833696"/>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Figure 184: Latin America Market YoY Growth by Scenario, %, 2026–2036</a:t>
                      </a:r>
                      <a:endParaRPr sz="1050"/>
                    </a:p>
                  </a:txBody>
                  <a:tcPr marL="9525" marR="9525" marT="9525" marB="0" anchor="ctr"/>
                </a:tc>
              </a:tr>
              <a:tr h="166688">
                <a:tc>
                  <a:txBody>
                    <a:bodyPr wrap="square"/>
                    <a:lstStyle/>
                    <a:p>
                      <a:pPr algn="l"/>
                      <a:r>
                        <a:rPr sz="1050" b="0" i="0">
                          <a:solidFill>
                            <a:srgbClr val="000000"/>
                          </a:solidFill>
                          <a:latin typeface="Calibri"/>
                        </a:rPr>
                        <a:t>Figure 185: Latin America Market Key Trends Impact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186: Latin America Market Drivers, Restraints and Opportunities Impact, 2026–2036</a:t>
                      </a:r>
                      <a:endParaRPr sz="1050"/>
                    </a:p>
                  </a:txBody>
                  <a:tcPr marL="9525" marR="9525" marT="9525" marB="0" anchor="ctr"/>
                </a:tc>
              </a:tr>
              <a:tr h="166688">
                <a:tc>
                  <a:txBody>
                    <a:bodyPr wrap="square"/>
                    <a:lstStyle/>
                    <a:p>
                      <a:pPr algn="l"/>
                      <a:r>
                        <a:rPr sz="1050" b="0" i="0">
                          <a:solidFill>
                            <a:srgbClr val="000000"/>
                          </a:solidFill>
                          <a:latin typeface="Calibri"/>
                        </a:rPr>
                        <a:t>Figure 187: Latin America Market Opportunity Map by Product Type, 2026–2036</a:t>
                      </a:r>
                      <a:endParaRPr sz="1050"/>
                    </a:p>
                  </a:txBody>
                  <a:tcPr marL="9525" marR="9525" marT="9525" marB="0" anchor="ctr"/>
                </a:tc>
              </a:tr>
              <a:tr h="166688">
                <a:tc>
                  <a:txBody>
                    <a:bodyPr wrap="square"/>
                    <a:lstStyle/>
                    <a:p>
                      <a:pPr algn="l"/>
                      <a:r>
                        <a:rPr sz="1050" b="0" i="0">
                          <a:solidFill>
                            <a:srgbClr val="000000"/>
                          </a:solidFill>
                          <a:latin typeface="Calibri"/>
                        </a:rPr>
                        <a:t>Figure 188: Latin America Market Technology Adoption Roadmap, 2021–2036</a:t>
                      </a:r>
                      <a:endParaRPr sz="1050"/>
                    </a:p>
                  </a:txBody>
                  <a:tcPr marL="9525" marR="9525" marT="9525" marB="0" anchor="ctr"/>
                </a:tc>
              </a:tr>
              <a:tr h="166688">
                <a:tc>
                  <a:txBody>
                    <a:bodyPr wrap="square"/>
                    <a:lstStyle/>
                    <a:p>
                      <a:pPr algn="l"/>
                      <a:r>
                        <a:rPr sz="1050" b="0" i="0">
                          <a:solidFill>
                            <a:srgbClr val="000000"/>
                          </a:solidFill>
                          <a:latin typeface="Calibri"/>
                        </a:rPr>
                        <a:t>Figure 189: Latin America Market Emerging Opportunity Pockets by Product Type, US$ Mn, 2026–2036</a:t>
                      </a:r>
                      <a:endParaRPr sz="1050"/>
                    </a:p>
                  </a:txBody>
                  <a:tcPr marL="9525" marR="9525" marT="9525" marB="0" anchor="ctr"/>
                </a:tc>
              </a:tr>
              <a:tr h="166688">
                <a:tc>
                  <a:txBody>
                    <a:bodyPr wrap="square"/>
                    <a:lstStyle/>
                    <a:p>
                      <a:pPr algn="l"/>
                      <a:r>
                        <a:rPr sz="1050" b="0" i="0">
                          <a:solidFill>
                            <a:srgbClr val="000000"/>
                          </a:solidFill>
                          <a:latin typeface="Calibri"/>
                        </a:rPr>
                        <a:t>Figure 190: Latin America Market Risk and Sensitivity Analysis, %, 2026–2036</a:t>
                      </a:r>
                      <a:endParaRPr sz="1050"/>
                    </a:p>
                  </a:txBody>
                  <a:tcPr marL="9525" marR="9525" marT="9525" marB="0" anchor="ctr"/>
                </a:tc>
              </a:tr>
              <a:tr h="166688">
                <a:tc>
                  <a:txBody>
                    <a:bodyPr wrap="square"/>
                    <a:lstStyle/>
                    <a:p>
                      <a:pPr algn="l"/>
                      <a:r>
                        <a:rPr sz="1050" b="0" i="0">
                          <a:solidFill>
                            <a:srgbClr val="000000"/>
                          </a:solidFill>
                          <a:latin typeface="Calibri"/>
                        </a:rPr>
                        <a:t>Figure 191: Latin America Market Regulatory Landscape Timeline, 2021–2036</a:t>
                      </a:r>
                      <a:endParaRPr sz="1050"/>
                    </a:p>
                  </a:txBody>
                  <a:tcPr marL="9525" marR="9525" marT="9525" marB="0" anchor="ctr"/>
                </a:tc>
              </a:tr>
              <a:tr h="166688">
                <a:tc>
                  <a:txBody>
                    <a:bodyPr wrap="square"/>
                    <a:lstStyle/>
                    <a:p>
                      <a:pPr algn="l"/>
                      <a:r>
                        <a:rPr sz="1050" b="0" i="0">
                          <a:solidFill>
                            <a:srgbClr val="000000"/>
                          </a:solidFill>
                          <a:latin typeface="Calibri"/>
                        </a:rPr>
                        <a:t>Figure 192: Latin America Market Investment Hotspots, 2026–2036</a:t>
                      </a:r>
                      <a:endParaRPr sz="1050"/>
                    </a:p>
                  </a:txBody>
                  <a:tcPr marL="9525" marR="9525" marT="9525" marB="0" anchor="ctr"/>
                </a:tc>
              </a:tr>
              <a:tr h="166688">
                <a:tc>
                  <a:txBody>
                    <a:bodyPr wrap="square"/>
                    <a:lstStyle/>
                    <a:p>
                      <a:pPr algn="l"/>
                      <a:r>
                        <a:rPr sz="1050" b="0" i="0">
                          <a:solidFill>
                            <a:srgbClr val="000000"/>
                          </a:solidFill>
                          <a:latin typeface="Calibri"/>
                        </a:rPr>
                        <a:t>Figure 193: Latin America Market Innovation Pipeline Assessment, 2026</a:t>
                      </a:r>
                      <a:endParaRPr sz="1050"/>
                    </a:p>
                  </a:txBody>
                  <a:tcPr marL="9525" marR="9525" marT="9525" marB="0" anchor="ctr"/>
                </a:tc>
              </a:tr>
              <a:tr h="166688">
                <a:tc>
                  <a:txBody>
                    <a:bodyPr wrap="square"/>
                    <a:lstStyle/>
                    <a:p>
                      <a:pPr algn="l"/>
                      <a:r>
                        <a:rPr sz="1050" b="0" i="0">
                          <a:solidFill>
                            <a:srgbClr val="000000"/>
                          </a:solidFill>
                          <a:latin typeface="Calibri"/>
                        </a:rPr>
                        <a:t>Figure 194: Latin America Market Demand Shift Analysis by Product Type, %, 2026–2036</a:t>
                      </a:r>
                      <a:endParaRPr sz="1050"/>
                    </a:p>
                  </a:txBody>
                  <a:tcPr marL="9525" marR="9525" marT="9525" marB="0" anchor="ctr"/>
                </a:tc>
              </a:tr>
              <a:tr h="166688">
                <a:tc>
                  <a:txBody>
                    <a:bodyPr wrap="square"/>
                    <a:lstStyle/>
                    <a:p>
                      <a:pPr algn="l"/>
                      <a:r>
                        <a:rPr sz="1050" b="0" i="0">
                          <a:solidFill>
                            <a:srgbClr val="000000"/>
                          </a:solidFill>
                          <a:latin typeface="Calibri"/>
                        </a:rPr>
                        <a:t>Figure 195: Latin America Market White-Space Opportunity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196: Latin America Market Customer Purchase Criteria Assessment, 2026</a:t>
                      </a:r>
                      <a:endParaRPr sz="1050"/>
                    </a:p>
                  </a:txBody>
                  <a:tcPr marL="9525" marR="9525" marT="9525" marB="0" anchor="ctr"/>
                </a:tc>
              </a:tr>
              <a:tr h="166688">
                <a:tc>
                  <a:txBody>
                    <a:bodyPr wrap="square"/>
                    <a:lstStyle/>
                    <a:p>
                      <a:pPr algn="l"/>
                      <a:r>
                        <a:rPr sz="1050" b="0" i="0">
                          <a:solidFill>
                            <a:srgbClr val="000000"/>
                          </a:solidFill>
                          <a:latin typeface="Calibri"/>
                        </a:rPr>
                        <a:t>Figure 197: Latin America Market Go-to-Market Priority, 2026–2036</a:t>
                      </a:r>
                      <a:endParaRPr sz="1050"/>
                    </a:p>
                  </a:txBody>
                  <a:tcPr marL="9525" marR="9525" marT="9525" marB="0" anchor="ctr"/>
                </a:tc>
              </a:tr>
              <a:tr h="166688">
                <a:tc>
                  <a:txBody>
                    <a:bodyPr wrap="square"/>
                    <a:lstStyle/>
                    <a:p>
                      <a:pPr algn="l"/>
                      <a:r>
                        <a:rPr sz="1050" b="0" i="0">
                          <a:solidFill>
                            <a:srgbClr val="000000"/>
                          </a:solidFill>
                          <a:latin typeface="Calibri"/>
                        </a:rPr>
                        <a:t>Figure 198: Latin America Market Unmet Needs Analysis by Product Type, 2026</a:t>
                      </a:r>
                      <a:endParaRPr sz="1050"/>
                    </a:p>
                  </a:txBody>
                  <a:tcPr marL="9525" marR="9525" marT="9525" marB="0" anchor="ctr"/>
                </a:tc>
              </a:tr>
              <a:tr h="166688">
                <a:tc>
                  <a:txBody>
                    <a:bodyPr wrap="square"/>
                    <a:lstStyle/>
                    <a:p>
                      <a:pPr algn="l"/>
                      <a:r>
                        <a:rPr sz="1050" b="0" i="0">
                          <a:solidFill>
                            <a:srgbClr val="000000"/>
                          </a:solidFill>
                          <a:latin typeface="Calibri"/>
                        </a:rPr>
                        <a:t>Figure 199: Latin America Market Right-to-Win Assessment, 2026</a:t>
                      </a:r>
                      <a:endParaRPr sz="1050"/>
                    </a:p>
                  </a:txBody>
                  <a:tcPr marL="9525" marR="9525" marT="9525" marB="0" anchor="ctr"/>
                </a:tc>
              </a:tr>
              <a:tr h="166688">
                <a:tc>
                  <a:txBody>
                    <a:bodyPr wrap="square"/>
                    <a:lstStyle/>
                    <a:p>
                      <a:pPr algn="l"/>
                      <a:r>
                        <a:rPr sz="1050" b="0" i="0">
                          <a:solidFill>
                            <a:srgbClr val="000000"/>
                          </a:solidFill>
                          <a:latin typeface="Calibri"/>
                        </a:rPr>
                        <a:t>Figure 200: Latin America Market Entry Strategy Scorecard,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(1/5)</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494">
                <a:tc>
                  <a:txBody>
                    <a:bodyPr wrap="square"/>
                    <a:lstStyle/>
                    <a:p>
                      <a:pPr algn="l"/>
                      <a:r>
                        <a:rPr sz="1050" b="0" i="0">
                          <a:solidFill>
                            <a:srgbClr val="000000"/>
                          </a:solidFill>
                          <a:latin typeface="Calibri"/>
                        </a:rPr>
                        <a:t>Table 1: Latin America Market Snapshot: Value, Volume and CAGR, US$ Mn, 2025–2036</a:t>
                      </a:r>
                      <a:endParaRPr sz="1050"/>
                    </a:p>
                  </a:txBody>
                  <a:tcPr marL="9525" marR="9525" marT="9525" marB="0" anchor="ctr"/>
                </a:tc>
              </a:tr>
              <a:tr h="175494">
                <a:tc>
                  <a:txBody>
                    <a:bodyPr wrap="square"/>
                    <a:lstStyle/>
                    <a:p>
                      <a:pPr algn="l"/>
                      <a:r>
                        <a:rPr sz="1050" b="0" i="0">
                          <a:solidFill>
                            <a:srgbClr val="000000"/>
                          </a:solidFill>
                          <a:latin typeface="Calibri"/>
                        </a:rPr>
                        <a:t>Table 2: Latin America Market Taxonomy by Segment, 2026</a:t>
                      </a:r>
                      <a:endParaRPr sz="1050"/>
                    </a:p>
                  </a:txBody>
                  <a:tcPr marL="9525" marR="9525" marT="9525" marB="0" anchor="ctr"/>
                </a:tc>
              </a:tr>
              <a:tr h="175494">
                <a:tc>
                  <a:txBody>
                    <a:bodyPr wrap="square"/>
                    <a:lstStyle/>
                    <a:p>
                      <a:pPr algn="l"/>
                      <a:r>
                        <a:rPr sz="1050" b="0" i="0">
                          <a:solidFill>
                            <a:srgbClr val="000000"/>
                          </a:solidFill>
                          <a:latin typeface="Calibri"/>
                        </a:rPr>
                        <a:t>Table 3: Latin America Market Scope: Inclusions and Exclusions by Segment, 2026</a:t>
                      </a:r>
                      <a:endParaRPr sz="1050"/>
                    </a:p>
                  </a:txBody>
                  <a:tcPr marL="9525" marR="9525" marT="9525" marB="0" anchor="ctr"/>
                </a:tc>
              </a:tr>
              <a:tr h="175494">
                <a:tc>
                  <a:txBody>
                    <a:bodyPr wrap="square"/>
                    <a:lstStyle/>
                    <a:p>
                      <a:pPr algn="l"/>
                      <a:r>
                        <a:rPr sz="1050" b="0" i="0">
                          <a:solidFill>
                            <a:srgbClr val="000000"/>
                          </a:solidFill>
                          <a:latin typeface="Calibri"/>
                        </a:rPr>
                        <a:t>Table 4: Latin America Market Key Demand Drivers and Impact Rating, 2026–2036</a:t>
                      </a:r>
                      <a:endParaRPr sz="1050"/>
                    </a:p>
                  </a:txBody>
                  <a:tcPr marL="9525" marR="9525" marT="9525" marB="0" anchor="ctr"/>
                </a:tc>
              </a:tr>
              <a:tr h="175494">
                <a:tc>
                  <a:txBody>
                    <a:bodyPr wrap="square"/>
                    <a:lstStyle/>
                    <a:p>
                      <a:pPr algn="l"/>
                      <a:r>
                        <a:rPr sz="1050" b="0" i="0">
                          <a:solidFill>
                            <a:srgbClr val="000000"/>
                          </a:solidFill>
                          <a:latin typeface="Calibri"/>
                        </a:rPr>
                        <a:t>Table 5: Latin America Market Key Restraints and Impact Rating, 2026–2036</a:t>
                      </a:r>
                      <a:endParaRPr sz="1050"/>
                    </a:p>
                  </a:txBody>
                  <a:tcPr marL="9525" marR="9525" marT="9525" marB="0" anchor="ctr"/>
                </a:tc>
              </a:tr>
              <a:tr h="175494">
                <a:tc>
                  <a:txBody>
                    <a:bodyPr wrap="square"/>
                    <a:lstStyle/>
                    <a:p>
                      <a:pPr algn="l"/>
                      <a:r>
                        <a:rPr sz="1050" b="0" i="0">
                          <a:solidFill>
                            <a:srgbClr val="000000"/>
                          </a:solidFill>
                          <a:latin typeface="Calibri"/>
                        </a:rPr>
                        <a:t>Table 6: Latin America Market Analyst Recommendations by Segment, 2026–2036</a:t>
                      </a:r>
                      <a:endParaRPr sz="1050"/>
                    </a:p>
                  </a:txBody>
                  <a:tcPr marL="9525" marR="9525" marT="9525" marB="0" anchor="ctr"/>
                </a:tc>
              </a:tr>
              <a:tr h="175494">
                <a:tc>
                  <a:txBody>
                    <a:bodyPr wrap="square"/>
                    <a:lstStyle/>
                    <a:p>
                      <a:pPr algn="l"/>
                      <a:r>
                        <a:rPr sz="1050" b="0" i="0">
                          <a:solidFill>
                            <a:srgbClr val="000000"/>
                          </a:solidFill>
                          <a:latin typeface="Calibri"/>
                        </a:rPr>
                        <a:t>Table 7: Latin America Market Key Market Signals and Data Points, 2026</a:t>
                      </a:r>
                      <a:endParaRPr sz="1050"/>
                    </a:p>
                  </a:txBody>
                  <a:tcPr marL="9525" marR="9525" marT="9525" marB="0" anchor="ctr"/>
                </a:tc>
              </a:tr>
              <a:tr h="175494">
                <a:tc>
                  <a:txBody>
                    <a:bodyPr wrap="square"/>
                    <a:lstStyle/>
                    <a:p>
                      <a:pPr algn="l"/>
                      <a:r>
                        <a:rPr sz="1050" b="0" i="0">
                          <a:solidFill>
                            <a:srgbClr val="000000"/>
                          </a:solidFill>
                          <a:latin typeface="Calibri"/>
                        </a:rPr>
                        <a:t>Table 8: Latin America Market Research Methodology and Data Sources, 2026</a:t>
                      </a:r>
                      <a:endParaRPr sz="1050"/>
                    </a:p>
                  </a:txBody>
                  <a:tcPr marL="9525" marR="9525" marT="9525" marB="0" anchor="ctr"/>
                </a:tc>
              </a:tr>
              <a:tr h="175494">
                <a:tc>
                  <a:txBody>
                    <a:bodyPr wrap="square"/>
                    <a:lstStyle/>
                    <a:p>
                      <a:pPr algn="l"/>
                      <a:r>
                        <a:rPr sz="1050" b="0" i="0">
                          <a:solidFill>
                            <a:srgbClr val="000000"/>
                          </a:solidFill>
                          <a:latin typeface="Calibri"/>
                        </a:rPr>
                        <a:t>Table 9: Latin America Market Value and YoY Growth, US$ Mn and %, 2021–2036</a:t>
                      </a:r>
                      <a:endParaRPr sz="1050"/>
                    </a:p>
                  </a:txBody>
                  <a:tcPr marL="9525" marR="9525" marT="9525" marB="0" anchor="ctr"/>
                </a:tc>
              </a:tr>
              <a:tr h="175494">
                <a:tc>
                  <a:txBody>
                    <a:bodyPr wrap="square"/>
                    <a:lstStyle/>
                    <a:p>
                      <a:pPr algn="l"/>
                      <a:r>
                        <a:rPr sz="1050" b="0" i="0">
                          <a:solidFill>
                            <a:srgbClr val="000000"/>
                          </a:solidFill>
                          <a:latin typeface="Calibri"/>
                        </a:rPr>
                        <a:t>Table 10: Latin America Market Historical Value Analysis, US$ Mn, 2021–2025</a:t>
                      </a:r>
                      <a:endParaRPr sz="1050"/>
                    </a:p>
                  </a:txBody>
                  <a:tcPr marL="9525" marR="9525" marT="9525" marB="0" anchor="ctr"/>
                </a:tc>
              </a:tr>
              <a:tr h="175494">
                <a:tc>
                  <a:txBody>
                    <a:bodyPr wrap="square"/>
                    <a:lstStyle/>
                    <a:p>
                      <a:pPr algn="l"/>
                      <a:r>
                        <a:rPr sz="1050" b="0" i="0">
                          <a:solidFill>
                            <a:srgbClr val="000000"/>
                          </a:solidFill>
                          <a:latin typeface="Calibri"/>
                        </a:rPr>
                        <a:t>Table 11: Latin America Market Forecast Value Analysis, US$ Mn, 2026–2036</a:t>
                      </a:r>
                      <a:endParaRPr sz="1050"/>
                    </a:p>
                  </a:txBody>
                  <a:tcPr marL="9525" marR="9525" marT="9525" marB="0" anchor="ctr"/>
                </a:tc>
              </a:tr>
              <a:tr h="175494">
                <a:tc>
                  <a:txBody>
                    <a:bodyPr wrap="square"/>
                    <a:lstStyle/>
                    <a:p>
                      <a:pPr algn="l"/>
                      <a:r>
                        <a:rPr sz="1050" b="0" i="0">
                          <a:solidFill>
                            <a:srgbClr val="000000"/>
                          </a:solidFill>
                          <a:latin typeface="Calibri"/>
                        </a:rPr>
                        <a:t>Table 12: Latin America Market Volume and YoY Growth, Thousand MT and %, 2021–2036</a:t>
                      </a:r>
                      <a:endParaRPr sz="1050"/>
                    </a:p>
                  </a:txBody>
                  <a:tcPr marL="9525" marR="9525" marT="9525" marB="0" anchor="ctr"/>
                </a:tc>
              </a:tr>
              <a:tr h="175494">
                <a:tc>
                  <a:txBody>
                    <a:bodyPr wrap="square"/>
                    <a:lstStyle/>
                    <a:p>
                      <a:pPr algn="l"/>
                      <a:r>
                        <a:rPr sz="1050" b="0" i="0">
                          <a:solidFill>
                            <a:srgbClr val="000000"/>
                          </a:solidFill>
                          <a:latin typeface="Calibri"/>
                        </a:rPr>
                        <a:t>Table 13: Latin America Market Volume Forecast, Thousand MT, 2026–2036</a:t>
                      </a:r>
                      <a:endParaRPr sz="1050"/>
                    </a:p>
                  </a:txBody>
                  <a:tcPr marL="9525" marR="9525" marT="9525" marB="0" anchor="ctr"/>
                </a:tc>
              </a:tr>
              <a:tr h="175494">
                <a:tc>
                  <a:txBody>
                    <a:bodyPr wrap="square"/>
                    <a:lstStyle/>
                    <a:p>
                      <a:pPr algn="l"/>
                      <a:r>
                        <a:rPr sz="1050" b="0" i="0">
                          <a:solidFill>
                            <a:srgbClr val="000000"/>
                          </a:solidFill>
                          <a:latin typeface="Calibri"/>
                        </a:rPr>
                        <a:t>Table 14: Latin America Market Average Selling Price, US$/MT, 2021–2036</a:t>
                      </a:r>
                      <a:endParaRPr sz="1050"/>
                    </a:p>
                  </a:txBody>
                  <a:tcPr marL="9525" marR="9525" marT="9525" marB="0" anchor="ctr"/>
                </a:tc>
              </a:tr>
              <a:tr h="175494">
                <a:tc>
                  <a:txBody>
                    <a:bodyPr wrap="square"/>
                    <a:lstStyle/>
                    <a:p>
                      <a:pPr algn="l"/>
                      <a:r>
                        <a:rPr sz="1050" b="0" i="0">
                          <a:solidFill>
                            <a:srgbClr val="000000"/>
                          </a:solidFill>
                          <a:latin typeface="Calibri"/>
                        </a:rPr>
                        <a:t>Table 15: Latin America Market Average Selling Price YoY Change, %, 2026–2036</a:t>
                      </a:r>
                      <a:endParaRPr sz="1050"/>
                    </a:p>
                  </a:txBody>
                  <a:tcPr marL="9525" marR="9525" marT="9525" marB="0" anchor="ctr"/>
                </a:tc>
              </a:tr>
              <a:tr h="175494">
                <a:tc>
                  <a:txBody>
                    <a:bodyPr wrap="square"/>
                    <a:lstStyle/>
                    <a:p>
                      <a:pPr algn="l"/>
                      <a:r>
                        <a:rPr sz="1050" b="0" i="0">
                          <a:solidFill>
                            <a:srgbClr val="000000"/>
                          </a:solidFill>
                          <a:latin typeface="Calibri"/>
                        </a:rPr>
                        <a:t>Table 16: Latin America Market CAGR and Absolute $ Opportunity, %, US$ Mn, 2026–2036</a:t>
                      </a:r>
                      <a:endParaRPr sz="1050"/>
                    </a:p>
                  </a:txBody>
                  <a:tcPr marL="9525" marR="9525" marT="9525" marB="0" anchor="ctr"/>
                </a:tc>
              </a:tr>
              <a:tr h="175494">
                <a:tc>
                  <a:txBody>
                    <a:bodyPr wrap="square"/>
                    <a:lstStyle/>
                    <a:p>
                      <a:pPr algn="l"/>
                      <a:r>
                        <a:rPr sz="1050" b="0" i="0">
                          <a:solidFill>
                            <a:srgbClr val="000000"/>
                          </a:solidFill>
                          <a:latin typeface="Calibri"/>
                        </a:rPr>
                        <a:t>Table 17: Latin America Market Absolute $ Opportunity by Year, US$ Mn, 2026–2036</a:t>
                      </a:r>
                      <a:endParaRPr sz="1050"/>
                    </a:p>
                  </a:txBody>
                  <a:tcPr marL="9525" marR="9525" marT="9525" marB="0" anchor="ctr"/>
                </a:tc>
              </a:tr>
              <a:tr h="175494">
                <a:tc>
                  <a:txBody>
                    <a:bodyPr wrap="square"/>
                    <a:lstStyle/>
                    <a:p>
                      <a:pPr algn="l"/>
                      <a:r>
                        <a:rPr sz="1050" b="0" i="0">
                          <a:solidFill>
                            <a:srgbClr val="000000"/>
                          </a:solidFill>
                          <a:latin typeface="Calibri"/>
                        </a:rPr>
                        <a:t>Table 18: Latin America Market Value by Scenario (Optimistic, Likely, Pessimistic), US$ Mn, 2026–2036</a:t>
                      </a:r>
                      <a:endParaRPr sz="1050"/>
                    </a:p>
                  </a:txBody>
                  <a:tcPr marL="9525" marR="9525" marT="9525" marB="0" anchor="ctr"/>
                </a:tc>
              </a:tr>
              <a:tr h="175494">
                <a:tc>
                  <a:txBody>
                    <a:bodyPr wrap="square"/>
                    <a:lstStyle/>
                    <a:p>
                      <a:pPr algn="l"/>
                      <a:r>
                        <a:rPr sz="1050" b="0" i="0">
                          <a:solidFill>
                            <a:srgbClr val="000000"/>
                          </a:solidFill>
                          <a:latin typeface="Calibri"/>
                        </a:rPr>
                        <a:t>Table 19: Latin America Market Scenario CAGR Comparison, %, 2026–2036</a:t>
                      </a:r>
                      <a:endParaRPr sz="1050"/>
                    </a:p>
                  </a:txBody>
                  <a:tcPr marL="9525" marR="9525" marT="9525" marB="0" anchor="ctr"/>
                </a:tc>
              </a:tr>
              <a:tr h="175494">
                <a:tc>
                  <a:txBody>
                    <a:bodyPr wrap="square"/>
                    <a:lstStyle/>
                    <a:p>
                      <a:pPr algn="l"/>
                      <a:r>
                        <a:rPr sz="1050" b="0" i="0">
                          <a:solidFill>
                            <a:srgbClr val="000000"/>
                          </a:solidFill>
                          <a:latin typeface="Calibri"/>
                        </a:rPr>
                        <a:t>Table 20: Latin America Market Historical vs Forecast Growth Comparison, %, 2021–2036</a:t>
                      </a:r>
                      <a:endParaRPr sz="1050"/>
                    </a:p>
                  </a:txBody>
                  <a:tcPr marL="9525" marR="9525" marT="9525" marB="0" anchor="ctr"/>
                </a:tc>
              </a:tr>
              <a:tr h="175494">
                <a:tc>
                  <a:txBody>
                    <a:bodyPr wrap="square"/>
                    <a:lstStyle/>
                    <a:p>
                      <a:pPr algn="l"/>
                      <a:r>
                        <a:rPr sz="1050" b="0" i="0">
                          <a:solidFill>
                            <a:srgbClr val="000000"/>
                          </a:solidFill>
                          <a:latin typeface="Calibri"/>
                        </a:rPr>
                        <a:t>Table 21: Latin America Market Five-Year Block Value Summary, US$ Mn, 2021–2036</a:t>
                      </a:r>
                      <a:endParaRPr sz="1050"/>
                    </a:p>
                  </a:txBody>
                  <a:tcPr marL="9525" marR="9525" marT="9525" marB="0" anchor="ctr"/>
                </a:tc>
              </a:tr>
              <a:tr h="175494">
                <a:tc>
                  <a:txBody>
                    <a:bodyPr wrap="square"/>
                    <a:lstStyle/>
                    <a:p>
                      <a:pPr algn="l"/>
                      <a:r>
                        <a:rPr sz="1050" b="0" i="0">
                          <a:solidFill>
                            <a:srgbClr val="000000"/>
                          </a:solidFill>
                          <a:latin typeface="Calibri"/>
                        </a:rPr>
                        <a:t>Table 22: Latin America Market Size Evolution Index, 2025=100, 2021–2036</a:t>
                      </a:r>
                      <a:endParaRPr sz="1050"/>
                    </a:p>
                  </a:txBody>
                  <a:tcPr marL="9525" marR="9525" marT="9525" marB="0" anchor="ctr"/>
                </a:tc>
              </a:tr>
              <a:tr h="175494">
                <a:tc>
                  <a:txBody>
                    <a:bodyPr wrap="square"/>
                    <a:lstStyle/>
                    <a:p>
                      <a:pPr algn="l"/>
                      <a:r>
                        <a:rPr sz="1050" b="0" i="0">
                          <a:solidFill>
                            <a:srgbClr val="000000"/>
                          </a:solidFill>
                          <a:latin typeface="Calibri"/>
                        </a:rPr>
                        <a:t>Table 23: Latin America Market Value by Product Type, US$ Mn, 2021–2036</a:t>
                      </a:r>
                      <a:endParaRPr sz="1050"/>
                    </a:p>
                  </a:txBody>
                  <a:tcPr marL="9525" marR="9525" marT="9525" marB="0" anchor="ctr"/>
                </a:tc>
              </a:tr>
              <a:tr h="175494">
                <a:tc>
                  <a:txBody>
                    <a:bodyPr wrap="square"/>
                    <a:lstStyle/>
                    <a:p>
                      <a:pPr algn="l"/>
                      <a:r>
                        <a:rPr sz="1050" b="0" i="0">
                          <a:solidFill>
                            <a:srgbClr val="000000"/>
                          </a:solidFill>
                          <a:latin typeface="Calibri"/>
                        </a:rPr>
                        <a:t>Table 24: Latin America Market Value by Principal Material / Barrier Technology, US$ Mn, 2021–2036</a:t>
                      </a:r>
                      <a:endParaRPr sz="1050"/>
                    </a:p>
                  </a:txBody>
                  <a:tcPr marL="9525" marR="9525" marT="9525" marB="0" anchor="ctr"/>
                </a:tc>
              </a:tr>
              <a:tr h="175494">
                <a:tc>
                  <a:txBody>
                    <a:bodyPr wrap="square"/>
                    <a:lstStyle/>
                    <a:p>
                      <a:pPr algn="l"/>
                      <a:r>
                        <a:rPr sz="1050" b="0" i="0">
                          <a:solidFill>
                            <a:srgbClr val="000000"/>
                          </a:solidFill>
                          <a:latin typeface="Calibri"/>
                        </a:rPr>
                        <a:t>Table 25: Latin America Market Value by Material Structure, US$ Mn, 2021–2036</a:t>
                      </a:r>
                      <a:endParaRPr sz="1050"/>
                    </a:p>
                  </a:txBody>
                  <a:tcPr marL="9525" marR="9525" marT="9525" marB="0" anchor="ctr"/>
                </a:tc>
              </a:tr>
              <a:tr h="175494">
                <a:tc>
                  <a:txBody>
                    <a:bodyPr wrap="square"/>
                    <a:lstStyle/>
                    <a:p>
                      <a:pPr algn="l"/>
                      <a:r>
                        <a:rPr sz="1050" b="0" i="0">
                          <a:solidFill>
                            <a:srgbClr val="000000"/>
                          </a:solidFill>
                          <a:latin typeface="Calibri"/>
                        </a:rPr>
                        <a:t>Table 26: Latin America Market Value by Barrier Level, US$ Mn, 2021–2036</a:t>
                      </a:r>
                      <a:endParaRPr sz="1050"/>
                    </a:p>
                  </a:txBody>
                  <a:tcPr marL="9525" marR="9525" marT="9525" marB="0" anchor="ctr"/>
                </a:tc>
              </a:tr>
              <a:tr h="175494">
                <a:tc>
                  <a:txBody>
                    <a:bodyPr wrap="square"/>
                    <a:lstStyle/>
                    <a:p>
                      <a:pPr algn="l"/>
                      <a:r>
                        <a:rPr sz="1050" b="0" i="0">
                          <a:solidFill>
                            <a:srgbClr val="000000"/>
                          </a:solidFill>
                          <a:latin typeface="Calibri"/>
                        </a:rPr>
                        <a:t>Table 27: Latin America Market Value by Application, US$ Mn, 2021–2036</a:t>
                      </a:r>
                      <a:endParaRPr sz="1050"/>
                    </a:p>
                  </a:txBody>
                  <a:tcPr marL="9525" marR="9525" marT="9525" marB="0" anchor="ctr"/>
                </a:tc>
              </a:tr>
              <a:tr h="175494">
                <a:tc>
                  <a:txBody>
                    <a:bodyPr wrap="square"/>
                    <a:lstStyle/>
                    <a:p>
                      <a:pPr algn="l"/>
                      <a:r>
                        <a:rPr sz="1050" b="0" i="0">
                          <a:solidFill>
                            <a:srgbClr val="000000"/>
                          </a:solidFill>
                          <a:latin typeface="Calibri"/>
                        </a:rPr>
                        <a:t>Table 28: Latin America Market Value by Barrier Level Vs Application, US$ Mn, 2021–2036</a:t>
                      </a:r>
                      <a:endParaRPr sz="1050"/>
                    </a:p>
                  </a:txBody>
                  <a:tcPr marL="9525" marR="9525" marT="9525" marB="0" anchor="ctr"/>
                </a:tc>
              </a:tr>
              <a:tr h="343968">
                <a:tc>
                  <a:txBody>
                    <a:bodyPr wrap="square"/>
                    <a:lstStyle/>
                    <a:p>
                      <a:pPr algn="l"/>
                      <a:r>
                        <a:rPr sz="1050" b="0" i="0">
                          <a:solidFill>
                            <a:srgbClr val="000000"/>
                          </a:solidFill>
                          <a:latin typeface="Calibri"/>
                        </a:rPr>
                        <a:t>Table 29: Latin America Market CAGR and Absolute $ Opportunity by Product Type, %,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3"/>
        </p:xfrm>
        <a:graphic>
          <a:graphicData uri="http://schemas.openxmlformats.org/drawingml/2006/table">
            <a:tbl>
              <a:tblPr>
                <a:tableStyleId>{3B4B98B0-60AC-42C2-AFA5-B58CD77FA1E5}</a:tableStyleId>
              </a:tblPr>
              <a:tblGrid>
                <a:gridCol w="5876925"/>
              </a:tblGrid>
              <a:tr h="335896">
                <a:tc>
                  <a:txBody>
                    <a:bodyPr wrap="square"/>
                    <a:lstStyle/>
                    <a:p>
                      <a:pPr algn="l"/>
                      <a:r>
                        <a:rPr sz="1050" b="0" i="0">
                          <a:solidFill>
                            <a:srgbClr val="000000"/>
                          </a:solidFill>
                          <a:latin typeface="Calibri"/>
                        </a:rPr>
                        <a:t>Table 30: Latin America Market CAGR and Absolute $ Opportunity by Principal Material / Barrier Technology, %, US$ Mn, 2026–2036</a:t>
                      </a:r>
                      <a:endParaRPr sz="1050"/>
                    </a:p>
                  </a:txBody>
                  <a:tcPr marL="9525" marR="9525" marT="9525" marB="0" anchor="ctr"/>
                </a:tc>
              </a:tr>
              <a:tr h="335896">
                <a:tc>
                  <a:txBody>
                    <a:bodyPr wrap="square"/>
                    <a:lstStyle/>
                    <a:p>
                      <a:pPr algn="l"/>
                      <a:r>
                        <a:rPr sz="1050" b="0" i="0">
                          <a:solidFill>
                            <a:srgbClr val="000000"/>
                          </a:solidFill>
                          <a:latin typeface="Calibri"/>
                        </a:rPr>
                        <a:t>Table 31: Latin America Market CAGR and Absolute $ Opportunity by Material Structure, %, US$ Mn, 2026–2036</a:t>
                      </a:r>
                      <a:endParaRPr sz="1050"/>
                    </a:p>
                  </a:txBody>
                  <a:tcPr marL="9525" marR="9525" marT="9525" marB="0" anchor="ctr"/>
                </a:tc>
              </a:tr>
              <a:tr h="335896">
                <a:tc>
                  <a:txBody>
                    <a:bodyPr wrap="square"/>
                    <a:lstStyle/>
                    <a:p>
                      <a:pPr algn="l"/>
                      <a:r>
                        <a:rPr sz="1050" b="0" i="0">
                          <a:solidFill>
                            <a:srgbClr val="000000"/>
                          </a:solidFill>
                          <a:latin typeface="Calibri"/>
                        </a:rPr>
                        <a:t>Table 32: Latin America Market CAGR and Absolute $ Opportunity by Barrier Level, %, US$ Mn, 2026–2036</a:t>
                      </a:r>
                      <a:endParaRPr sz="1050"/>
                    </a:p>
                  </a:txBody>
                  <a:tcPr marL="9525" marR="9525" marT="9525" marB="0" anchor="ctr"/>
                </a:tc>
              </a:tr>
              <a:tr h="335896">
                <a:tc>
                  <a:txBody>
                    <a:bodyPr wrap="square"/>
                    <a:lstStyle/>
                    <a:p>
                      <a:pPr algn="l"/>
                      <a:r>
                        <a:rPr sz="1050" b="0" i="0">
                          <a:solidFill>
                            <a:srgbClr val="000000"/>
                          </a:solidFill>
                          <a:latin typeface="Calibri"/>
                        </a:rPr>
                        <a:t>Table 33: Latin America Market CAGR and Absolute $ Opportunity by Application, %, US$ Mn, 2026–2036</a:t>
                      </a:r>
                      <a:endParaRPr sz="1050"/>
                    </a:p>
                  </a:txBody>
                  <a:tcPr marL="9525" marR="9525" marT="9525" marB="0" anchor="ctr"/>
                </a:tc>
              </a:tr>
              <a:tr h="335896">
                <a:tc>
                  <a:txBody>
                    <a:bodyPr wrap="square"/>
                    <a:lstStyle/>
                    <a:p>
                      <a:pPr algn="l"/>
                      <a:r>
                        <a:rPr sz="1050" b="0" i="0">
                          <a:solidFill>
                            <a:srgbClr val="000000"/>
                          </a:solidFill>
                          <a:latin typeface="Calibri"/>
                        </a:rPr>
                        <a:t>Table 34: Latin America Market CAGR and Absolute $ Opportunity by Barrier Level Vs Application, %, US$ Mn, 2026–2036</a:t>
                      </a:r>
                      <a:endParaRPr sz="1050"/>
                    </a:p>
                  </a:txBody>
                  <a:tcPr marL="9525" marR="9525" marT="9525" marB="0" anchor="ctr"/>
                </a:tc>
              </a:tr>
              <a:tr h="171375">
                <a:tc>
                  <a:txBody>
                    <a:bodyPr wrap="square"/>
                    <a:lstStyle/>
                    <a:p>
                      <a:pPr algn="l"/>
                      <a:r>
                        <a:rPr sz="1050" b="0" i="0">
                          <a:solidFill>
                            <a:srgbClr val="000000"/>
                          </a:solidFill>
                          <a:latin typeface="Calibri"/>
                        </a:rPr>
                        <a:t>Table 35: Latin America Market Share and BPS Change by Product Type, %, 2025, 2026 and 2036</a:t>
                      </a:r>
                      <a:endParaRPr sz="1050"/>
                    </a:p>
                  </a:txBody>
                  <a:tcPr marL="9525" marR="9525" marT="9525" marB="0" anchor="ctr"/>
                </a:tc>
              </a:tr>
              <a:tr h="335896">
                <a:tc>
                  <a:txBody>
                    <a:bodyPr wrap="square"/>
                    <a:lstStyle/>
                    <a:p>
                      <a:pPr algn="l"/>
                      <a:r>
                        <a:rPr sz="1050" b="0" i="0">
                          <a:solidFill>
                            <a:srgbClr val="000000"/>
                          </a:solidFill>
                          <a:latin typeface="Calibri"/>
                        </a:rPr>
                        <a:t>Table 36: Latin America Market Share and BPS Change by Principal Material / Barrier Technology, %, 2025, 2026 and 2036</a:t>
                      </a:r>
                      <a:endParaRPr sz="1050"/>
                    </a:p>
                  </a:txBody>
                  <a:tcPr marL="9525" marR="9525" marT="9525" marB="0" anchor="ctr"/>
                </a:tc>
              </a:tr>
              <a:tr h="171375">
                <a:tc>
                  <a:txBody>
                    <a:bodyPr wrap="square"/>
                    <a:lstStyle/>
                    <a:p>
                      <a:pPr algn="l"/>
                      <a:r>
                        <a:rPr sz="1050" b="0" i="0">
                          <a:solidFill>
                            <a:srgbClr val="000000"/>
                          </a:solidFill>
                          <a:latin typeface="Calibri"/>
                        </a:rPr>
                        <a:t>Table 37: Latin America Market Share and BPS Change by Material Structure, %, 2025, 2026 and 2036</a:t>
                      </a:r>
                      <a:endParaRPr sz="1050"/>
                    </a:p>
                  </a:txBody>
                  <a:tcPr marL="9525" marR="9525" marT="9525" marB="0" anchor="ctr"/>
                </a:tc>
              </a:tr>
              <a:tr h="171375">
                <a:tc>
                  <a:txBody>
                    <a:bodyPr wrap="square"/>
                    <a:lstStyle/>
                    <a:p>
                      <a:pPr algn="l"/>
                      <a:r>
                        <a:rPr sz="1050" b="0" i="0">
                          <a:solidFill>
                            <a:srgbClr val="000000"/>
                          </a:solidFill>
                          <a:latin typeface="Calibri"/>
                        </a:rPr>
                        <a:t>Table 38: Latin America Market Share and BPS Change by Barrier Level, %, 2025, 2026 and 2036</a:t>
                      </a:r>
                      <a:endParaRPr sz="1050"/>
                    </a:p>
                  </a:txBody>
                  <a:tcPr marL="9525" marR="9525" marT="9525" marB="0" anchor="ctr"/>
                </a:tc>
              </a:tr>
              <a:tr h="171375">
                <a:tc>
                  <a:txBody>
                    <a:bodyPr wrap="square"/>
                    <a:lstStyle/>
                    <a:p>
                      <a:pPr algn="l"/>
                      <a:r>
                        <a:rPr sz="1050" b="0" i="0">
                          <a:solidFill>
                            <a:srgbClr val="000000"/>
                          </a:solidFill>
                          <a:latin typeface="Calibri"/>
                        </a:rPr>
                        <a:t>Table 39: Latin America Market Share and BPS Change by Application, %, 2025, 2026 and 2036</a:t>
                      </a:r>
                      <a:endParaRPr sz="1050"/>
                    </a:p>
                  </a:txBody>
                  <a:tcPr marL="9525" marR="9525" marT="9525" marB="0" anchor="ctr"/>
                </a:tc>
              </a:tr>
              <a:tr h="335896">
                <a:tc>
                  <a:txBody>
                    <a:bodyPr wrap="square"/>
                    <a:lstStyle/>
                    <a:p>
                      <a:pPr algn="l"/>
                      <a:r>
                        <a:rPr sz="1050" b="0" i="0">
                          <a:solidFill>
                            <a:srgbClr val="000000"/>
                          </a:solidFill>
                          <a:latin typeface="Calibri"/>
                        </a:rPr>
                        <a:t>Table 40: Latin America Market Share and BPS Change by Barrier Level Vs Application, %, 2025, 2026 and 2036</a:t>
                      </a:r>
                      <a:endParaRPr sz="1050"/>
                    </a:p>
                  </a:txBody>
                  <a:tcPr marL="9525" marR="9525" marT="9525" marB="0" anchor="ctr"/>
                </a:tc>
              </a:tr>
              <a:tr h="171375">
                <a:tc>
                  <a:txBody>
                    <a:bodyPr wrap="square"/>
                    <a:lstStyle/>
                    <a:p>
                      <a:pPr algn="l"/>
                      <a:r>
                        <a:rPr sz="1050" b="0" i="0">
                          <a:solidFill>
                            <a:srgbClr val="000000"/>
                          </a:solidFill>
                          <a:latin typeface="Calibri"/>
                        </a:rPr>
                        <a:t>Table 41: Latin America Market YoY Growth by Product Type, %, 2026–2036</a:t>
                      </a:r>
                      <a:endParaRPr sz="1050"/>
                    </a:p>
                  </a:txBody>
                  <a:tcPr marL="9525" marR="9525" marT="9525" marB="0" anchor="ctr"/>
                </a:tc>
              </a:tr>
              <a:tr h="171375">
                <a:tc>
                  <a:txBody>
                    <a:bodyPr wrap="square"/>
                    <a:lstStyle/>
                    <a:p>
                      <a:pPr algn="l"/>
                      <a:r>
                        <a:rPr sz="1050" b="0" i="0">
                          <a:solidFill>
                            <a:srgbClr val="000000"/>
                          </a:solidFill>
                          <a:latin typeface="Calibri"/>
                        </a:rPr>
                        <a:t>Table 42: Latin America Market YoY Growth by Principal Material / Barrier Technology, %, 2026–2036</a:t>
                      </a:r>
                      <a:endParaRPr sz="1050"/>
                    </a:p>
                  </a:txBody>
                  <a:tcPr marL="9525" marR="9525" marT="9525" marB="0" anchor="ctr"/>
                </a:tc>
              </a:tr>
              <a:tr h="171375">
                <a:tc>
                  <a:txBody>
                    <a:bodyPr wrap="square"/>
                    <a:lstStyle/>
                    <a:p>
                      <a:pPr algn="l"/>
                      <a:r>
                        <a:rPr sz="1050" b="0" i="0">
                          <a:solidFill>
                            <a:srgbClr val="000000"/>
                          </a:solidFill>
                          <a:latin typeface="Calibri"/>
                        </a:rPr>
                        <a:t>Table 43: Latin America Market YoY Growth by Material Structure, %, 2026–2036</a:t>
                      </a:r>
                      <a:endParaRPr sz="1050"/>
                    </a:p>
                  </a:txBody>
                  <a:tcPr marL="9525" marR="9525" marT="9525" marB="0" anchor="ctr"/>
                </a:tc>
              </a:tr>
              <a:tr h="171375">
                <a:tc>
                  <a:txBody>
                    <a:bodyPr wrap="square"/>
                    <a:lstStyle/>
                    <a:p>
                      <a:pPr algn="l"/>
                      <a:r>
                        <a:rPr sz="1050" b="0" i="0">
                          <a:solidFill>
                            <a:srgbClr val="000000"/>
                          </a:solidFill>
                          <a:latin typeface="Calibri"/>
                        </a:rPr>
                        <a:t>Table 44: Latin America Market YoY Growth by Barrier Level, %, 2026–2036</a:t>
                      </a:r>
                      <a:endParaRPr sz="1050"/>
                    </a:p>
                  </a:txBody>
                  <a:tcPr marL="9525" marR="9525" marT="9525" marB="0" anchor="ctr"/>
                </a:tc>
              </a:tr>
              <a:tr h="171375">
                <a:tc>
                  <a:txBody>
                    <a:bodyPr wrap="square"/>
                    <a:lstStyle/>
                    <a:p>
                      <a:pPr algn="l"/>
                      <a:r>
                        <a:rPr sz="1050" b="0" i="0">
                          <a:solidFill>
                            <a:srgbClr val="000000"/>
                          </a:solidFill>
                          <a:latin typeface="Calibri"/>
                        </a:rPr>
                        <a:t>Table 45: Latin America Market YoY Growth by Application, %, 2026–2036</a:t>
                      </a:r>
                      <a:endParaRPr sz="1050"/>
                    </a:p>
                  </a:txBody>
                  <a:tcPr marL="9525" marR="9525" marT="9525" marB="0" anchor="ctr"/>
                </a:tc>
              </a:tr>
              <a:tr h="171375">
                <a:tc>
                  <a:txBody>
                    <a:bodyPr wrap="square"/>
                    <a:lstStyle/>
                    <a:p>
                      <a:pPr algn="l"/>
                      <a:r>
                        <a:rPr sz="1050" b="0" i="0">
                          <a:solidFill>
                            <a:srgbClr val="000000"/>
                          </a:solidFill>
                          <a:latin typeface="Calibri"/>
                        </a:rPr>
                        <a:t>Table 46: Latin America Market YoY Growth by Barrier Level Vs Application, %, 2026–2036</a:t>
                      </a:r>
                      <a:endParaRPr sz="1050"/>
                    </a:p>
                  </a:txBody>
                  <a:tcPr marL="9525" marR="9525" marT="9525" marB="0" anchor="ctr"/>
                </a:tc>
              </a:tr>
              <a:tr h="171375">
                <a:tc>
                  <a:txBody>
                    <a:bodyPr wrap="square"/>
                    <a:lstStyle/>
                    <a:p>
                      <a:pPr algn="l"/>
                      <a:r>
                        <a:rPr sz="1050" b="0" i="0">
                          <a:solidFill>
                            <a:srgbClr val="000000"/>
                          </a:solidFill>
                          <a:latin typeface="Calibri"/>
                        </a:rPr>
                        <a:t>Table 47: Latin America Market Volume by Product Type, Thousand MT, 2021–2036</a:t>
                      </a:r>
                      <a:endParaRPr sz="1050"/>
                    </a:p>
                  </a:txBody>
                  <a:tcPr marL="9525" marR="9525" marT="9525" marB="0" anchor="ctr"/>
                </a:tc>
              </a:tr>
              <a:tr h="335896">
                <a:tc>
                  <a:txBody>
                    <a:bodyPr wrap="square"/>
                    <a:lstStyle/>
                    <a:p>
                      <a:pPr algn="l"/>
                      <a:r>
                        <a:rPr sz="1050" b="0" i="0">
                          <a:solidFill>
                            <a:srgbClr val="000000"/>
                          </a:solidFill>
                          <a:latin typeface="Calibri"/>
                        </a:rPr>
                        <a:t>Table 48: Latin America Market Volume by Principal Material / Barrier Technology, Thousand MT, 2021–2036</a:t>
                      </a:r>
                      <a:endParaRPr sz="1050"/>
                    </a:p>
                  </a:txBody>
                  <a:tcPr marL="9525" marR="9525" marT="9525" marB="0" anchor="ctr"/>
                </a:tc>
              </a:tr>
              <a:tr h="171375">
                <a:tc>
                  <a:txBody>
                    <a:bodyPr wrap="square"/>
                    <a:lstStyle/>
                    <a:p>
                      <a:pPr algn="l"/>
                      <a:r>
                        <a:rPr sz="1050" b="0" i="0">
                          <a:solidFill>
                            <a:srgbClr val="000000"/>
                          </a:solidFill>
                          <a:latin typeface="Calibri"/>
                        </a:rPr>
                        <a:t>Table 49: Latin America Market Volume by Material Structure, Thousand MT, 2021–2036</a:t>
                      </a:r>
                      <a:endParaRPr sz="1050"/>
                    </a:p>
                  </a:txBody>
                  <a:tcPr marL="9525" marR="9525" marT="9525" marB="0" anchor="ctr"/>
                </a:tc>
              </a:tr>
              <a:tr h="171375">
                <a:tc>
                  <a:txBody>
                    <a:bodyPr wrap="square"/>
                    <a:lstStyle/>
                    <a:p>
                      <a:pPr algn="l"/>
                      <a:r>
                        <a:rPr sz="1050" b="0" i="0">
                          <a:solidFill>
                            <a:srgbClr val="000000"/>
                          </a:solidFill>
                          <a:latin typeface="Calibri"/>
                        </a:rPr>
                        <a:t>Table 50: Latin America Market Volume by Barrier Level, Thousand MT, 2021–2036</a:t>
                      </a:r>
                      <a:endParaRPr sz="1050"/>
                    </a:p>
                  </a:txBody>
                  <a:tcPr marL="9525" marR="9525" marT="9525" marB="0" anchor="ctr"/>
                </a:tc>
              </a:tr>
              <a:tr h="171375">
                <a:tc>
                  <a:txBody>
                    <a:bodyPr wrap="square"/>
                    <a:lstStyle/>
                    <a:p>
                      <a:pPr algn="l"/>
                      <a:r>
                        <a:rPr sz="1050" b="0" i="0">
                          <a:solidFill>
                            <a:srgbClr val="000000"/>
                          </a:solidFill>
                          <a:latin typeface="Calibri"/>
                        </a:rPr>
                        <a:t>Table 51: Latin America Market Volume by Application, Thousand MT, 2021–2036</a:t>
                      </a:r>
                      <a:endParaRPr sz="1050"/>
                    </a:p>
                  </a:txBody>
                  <a:tcPr marL="9525" marR="9525" marT="9525" marB="0" anchor="ctr"/>
                </a:tc>
              </a:tr>
              <a:tr h="171375">
                <a:tc>
                  <a:txBody>
                    <a:bodyPr wrap="square"/>
                    <a:lstStyle/>
                    <a:p>
                      <a:pPr algn="l"/>
                      <a:r>
                        <a:rPr sz="1050" b="0" i="0">
                          <a:solidFill>
                            <a:srgbClr val="000000"/>
                          </a:solidFill>
                          <a:latin typeface="Calibri"/>
                        </a:rPr>
                        <a:t>Table 52: Latin America Market Volume by Barrier Level Vs Application, Thousand MT,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(2/5)</a:t>
            </a:r>
          </a:p>
        </p:txBody>
      </p:sp>
      <p:graphicFrame>
        <p:nvGraphicFramePr>
          <p:cNvPr id="9" name="FMI Contents Table"/>
          <p:cNvGraphicFramePr>
            <a:graphicFrameLocks noGrp="1"/>
          </p:cNvGraphicFramePr>
          <p:nvPr/>
        </p:nvGraphicFramePr>
        <p:xfrm>
          <a:off x="142875" y="981075"/>
          <a:ext cx="5876925" cy="5257797"/>
        </p:xfrm>
        <a:graphic>
          <a:graphicData uri="http://schemas.openxmlformats.org/drawingml/2006/table">
            <a:tbl>
              <a:tblPr>
                <a:tableStyleId>{3B4B98B0-60AC-42C2-AFA5-B58CD77FA1E5}</a:tableStyleId>
              </a:tblPr>
              <a:tblGrid>
                <a:gridCol w="5876925"/>
              </a:tblGrid>
              <a:tr h="172048">
                <a:tc>
                  <a:txBody>
                    <a:bodyPr wrap="square"/>
                    <a:lstStyle/>
                    <a:p>
                      <a:pPr algn="l"/>
                      <a:r>
                        <a:rPr sz="1050" b="0" i="0">
                          <a:solidFill>
                            <a:srgbClr val="000000"/>
                          </a:solidFill>
                          <a:latin typeface="Calibri"/>
                        </a:rPr>
                        <a:t>Table 53: Latin America Market Average Selling Price by Product Type, US$/MT, 2021–2036</a:t>
                      </a:r>
                      <a:endParaRPr sz="1050"/>
                    </a:p>
                  </a:txBody>
                  <a:tcPr marL="9525" marR="9525" marT="9525" marB="0" anchor="ctr"/>
                </a:tc>
              </a:tr>
              <a:tr h="337215">
                <a:tc>
                  <a:txBody>
                    <a:bodyPr wrap="square"/>
                    <a:lstStyle/>
                    <a:p>
                      <a:pPr algn="l"/>
                      <a:r>
                        <a:rPr sz="1050" b="0" i="0">
                          <a:solidFill>
                            <a:srgbClr val="000000"/>
                          </a:solidFill>
                          <a:latin typeface="Calibri"/>
                        </a:rPr>
                        <a:t>Table 54: Latin America Market Average Selling Price by Principal Material / Barrier Technology, US$/MT, 2021–2036</a:t>
                      </a:r>
                      <a:endParaRPr sz="1050"/>
                    </a:p>
                  </a:txBody>
                  <a:tcPr marL="9525" marR="9525" marT="9525" marB="0" anchor="ctr"/>
                </a:tc>
              </a:tr>
              <a:tr h="172048">
                <a:tc>
                  <a:txBody>
                    <a:bodyPr wrap="square"/>
                    <a:lstStyle/>
                    <a:p>
                      <a:pPr algn="l"/>
                      <a:r>
                        <a:rPr sz="1050" b="0" i="0">
                          <a:solidFill>
                            <a:srgbClr val="000000"/>
                          </a:solidFill>
                          <a:latin typeface="Calibri"/>
                        </a:rPr>
                        <a:t>Table 55: Latin America Market Average Selling Price by Material Structure, US$/MT, 2021–2036</a:t>
                      </a:r>
                      <a:endParaRPr sz="1050"/>
                    </a:p>
                  </a:txBody>
                  <a:tcPr marL="9525" marR="9525" marT="9525" marB="0" anchor="ctr"/>
                </a:tc>
              </a:tr>
              <a:tr h="172048">
                <a:tc>
                  <a:txBody>
                    <a:bodyPr wrap="square"/>
                    <a:lstStyle/>
                    <a:p>
                      <a:pPr algn="l"/>
                      <a:r>
                        <a:rPr sz="1050" b="0" i="0">
                          <a:solidFill>
                            <a:srgbClr val="000000"/>
                          </a:solidFill>
                          <a:latin typeface="Calibri"/>
                        </a:rPr>
                        <a:t>Table 56: Latin America Market Average Selling Price by Barrier Level, US$/MT, 2021–2036</a:t>
                      </a:r>
                      <a:endParaRPr sz="1050"/>
                    </a:p>
                  </a:txBody>
                  <a:tcPr marL="9525" marR="9525" marT="9525" marB="0" anchor="ctr"/>
                </a:tc>
              </a:tr>
              <a:tr h="172048">
                <a:tc>
                  <a:txBody>
                    <a:bodyPr wrap="square"/>
                    <a:lstStyle/>
                    <a:p>
                      <a:pPr algn="l"/>
                      <a:r>
                        <a:rPr sz="1050" b="0" i="0">
                          <a:solidFill>
                            <a:srgbClr val="000000"/>
                          </a:solidFill>
                          <a:latin typeface="Calibri"/>
                        </a:rPr>
                        <a:t>Table 57: Latin America Market Average Selling Price by Application, US$/MT, 2021–2036</a:t>
                      </a:r>
                      <a:endParaRPr sz="1050"/>
                    </a:p>
                  </a:txBody>
                  <a:tcPr marL="9525" marR="9525" marT="9525" marB="0" anchor="ctr"/>
                </a:tc>
              </a:tr>
              <a:tr h="337215">
                <a:tc>
                  <a:txBody>
                    <a:bodyPr wrap="square"/>
                    <a:lstStyle/>
                    <a:p>
                      <a:pPr algn="l"/>
                      <a:r>
                        <a:rPr sz="1050" b="0" i="0">
                          <a:solidFill>
                            <a:srgbClr val="000000"/>
                          </a:solidFill>
                          <a:latin typeface="Calibri"/>
                        </a:rPr>
                        <a:t>Table 58: Latin America Market Average Selling Price by Barrier Level Vs Application, US$/MT, 2021–2036</a:t>
                      </a:r>
                      <a:endParaRPr sz="1050"/>
                    </a:p>
                  </a:txBody>
                  <a:tcPr marL="9525" marR="9525" marT="9525" marB="0" anchor="ctr"/>
                </a:tc>
              </a:tr>
              <a:tr h="172048">
                <a:tc>
                  <a:txBody>
                    <a:bodyPr wrap="square"/>
                    <a:lstStyle/>
                    <a:p>
                      <a:pPr algn="l"/>
                      <a:r>
                        <a:rPr sz="1050" b="0" i="0">
                          <a:solidFill>
                            <a:srgbClr val="000000"/>
                          </a:solidFill>
                          <a:latin typeface="Calibri"/>
                        </a:rPr>
                        <a:t>Table 59: Latin America Market Attractiveness Index by Product Type, 2026–2036</a:t>
                      </a:r>
                      <a:endParaRPr sz="1050"/>
                    </a:p>
                  </a:txBody>
                  <a:tcPr marL="9525" marR="9525" marT="9525" marB="0" anchor="ctr"/>
                </a:tc>
              </a:tr>
              <a:tr h="337215">
                <a:tc>
                  <a:txBody>
                    <a:bodyPr wrap="square"/>
                    <a:lstStyle/>
                    <a:p>
                      <a:pPr algn="l"/>
                      <a:r>
                        <a:rPr sz="1050" b="0" i="0">
                          <a:solidFill>
                            <a:srgbClr val="000000"/>
                          </a:solidFill>
                          <a:latin typeface="Calibri"/>
                        </a:rPr>
                        <a:t>Table 60: Latin America Market Attractiveness Index by Principal Material / Barrier Technology, 2026–2036</a:t>
                      </a:r>
                      <a:endParaRPr sz="1050"/>
                    </a:p>
                  </a:txBody>
                  <a:tcPr marL="9525" marR="9525" marT="9525" marB="0" anchor="ctr"/>
                </a:tc>
              </a:tr>
              <a:tr h="172048">
                <a:tc>
                  <a:txBody>
                    <a:bodyPr wrap="square"/>
                    <a:lstStyle/>
                    <a:p>
                      <a:pPr algn="l"/>
                      <a:r>
                        <a:rPr sz="1050" b="0" i="0">
                          <a:solidFill>
                            <a:srgbClr val="000000"/>
                          </a:solidFill>
                          <a:latin typeface="Calibri"/>
                        </a:rPr>
                        <a:t>Table 61: Latin America Market Attractiveness Index by Material Structure, 2026–2036</a:t>
                      </a:r>
                      <a:endParaRPr sz="1050"/>
                    </a:p>
                  </a:txBody>
                  <a:tcPr marL="9525" marR="9525" marT="9525" marB="0" anchor="ctr"/>
                </a:tc>
              </a:tr>
              <a:tr h="172048">
                <a:tc>
                  <a:txBody>
                    <a:bodyPr wrap="square"/>
                    <a:lstStyle/>
                    <a:p>
                      <a:pPr algn="l"/>
                      <a:r>
                        <a:rPr sz="1050" b="0" i="0">
                          <a:solidFill>
                            <a:srgbClr val="000000"/>
                          </a:solidFill>
                          <a:latin typeface="Calibri"/>
                        </a:rPr>
                        <a:t>Table 62: Latin America Market Attractiveness Index by Barrier Level, 2026–2036</a:t>
                      </a:r>
                      <a:endParaRPr sz="1050"/>
                    </a:p>
                  </a:txBody>
                  <a:tcPr marL="9525" marR="9525" marT="9525" marB="0" anchor="ctr"/>
                </a:tc>
              </a:tr>
              <a:tr h="172048">
                <a:tc>
                  <a:txBody>
                    <a:bodyPr wrap="square"/>
                    <a:lstStyle/>
                    <a:p>
                      <a:pPr algn="l"/>
                      <a:r>
                        <a:rPr sz="1050" b="0" i="0">
                          <a:solidFill>
                            <a:srgbClr val="000000"/>
                          </a:solidFill>
                          <a:latin typeface="Calibri"/>
                        </a:rPr>
                        <a:t>Table 63: Latin America Market Attractiveness Index by Application, 2026–2036</a:t>
                      </a:r>
                      <a:endParaRPr sz="1050"/>
                    </a:p>
                  </a:txBody>
                  <a:tcPr marL="9525" marR="9525" marT="9525" marB="0" anchor="ctr"/>
                </a:tc>
              </a:tr>
              <a:tr h="172048">
                <a:tc>
                  <a:txBody>
                    <a:bodyPr wrap="square"/>
                    <a:lstStyle/>
                    <a:p>
                      <a:pPr algn="l"/>
                      <a:r>
                        <a:rPr sz="1050" b="0" i="0">
                          <a:solidFill>
                            <a:srgbClr val="000000"/>
                          </a:solidFill>
                          <a:latin typeface="Calibri"/>
                        </a:rPr>
                        <a:t>Table 64: Latin America Market Attractiveness Index by Barrier Level Vs Application, 2026–2036</a:t>
                      </a:r>
                      <a:endParaRPr sz="1050"/>
                    </a:p>
                  </a:txBody>
                  <a:tcPr marL="9525" marR="9525" marT="9525" marB="0" anchor="ctr"/>
                </a:tc>
              </a:tr>
              <a:tr h="337215">
                <a:tc>
                  <a:txBody>
                    <a:bodyPr wrap="square"/>
                    <a:lstStyle/>
                    <a:p>
                      <a:pPr algn="l"/>
                      <a:r>
                        <a:rPr sz="1050" b="0" i="0">
                          <a:solidFill>
                            <a:srgbClr val="000000"/>
                          </a:solidFill>
                          <a:latin typeface="Calibri"/>
                        </a:rPr>
                        <a:t>Table 65: Latin America Market Value and YoY Growth, Rollstock Films (Product Type), US$ Mn and %, 2021–2036</a:t>
                      </a:r>
                      <a:endParaRPr sz="1050"/>
                    </a:p>
                  </a:txBody>
                  <a:tcPr marL="9525" marR="9525" marT="9525" marB="0" anchor="ctr"/>
                </a:tc>
              </a:tr>
              <a:tr h="337215">
                <a:tc>
                  <a:txBody>
                    <a:bodyPr wrap="square"/>
                    <a:lstStyle/>
                    <a:p>
                      <a:pPr algn="l"/>
                      <a:r>
                        <a:rPr sz="1050" b="0" i="0">
                          <a:solidFill>
                            <a:srgbClr val="000000"/>
                          </a:solidFill>
                          <a:latin typeface="Calibri"/>
                        </a:rPr>
                        <a:t>Table 66: Latin America Market Value and YoY Growth, PE-Based (Principal Material / Barrier Technology), US$ Mn and %, 2021–2036</a:t>
                      </a:r>
                      <a:endParaRPr sz="1050"/>
                    </a:p>
                  </a:txBody>
                  <a:tcPr marL="9525" marR="9525" marT="9525" marB="0" anchor="ctr"/>
                </a:tc>
              </a:tr>
              <a:tr h="337215">
                <a:tc>
                  <a:txBody>
                    <a:bodyPr wrap="square"/>
                    <a:lstStyle/>
                    <a:p>
                      <a:pPr algn="l"/>
                      <a:r>
                        <a:rPr sz="1050" b="0" i="0">
                          <a:solidFill>
                            <a:srgbClr val="000000"/>
                          </a:solidFill>
                          <a:latin typeface="Calibri"/>
                        </a:rPr>
                        <a:t>Table 67: Latin America Market Value and YoY Growth, Monolayer Films (Material Structure), US$ Mn and %, 2021–2036</a:t>
                      </a:r>
                      <a:endParaRPr sz="1050"/>
                    </a:p>
                  </a:txBody>
                  <a:tcPr marL="9525" marR="9525" marT="9525" marB="0" anchor="ctr"/>
                </a:tc>
              </a:tr>
              <a:tr h="337215">
                <a:tc>
                  <a:txBody>
                    <a:bodyPr wrap="square"/>
                    <a:lstStyle/>
                    <a:p>
                      <a:pPr algn="l"/>
                      <a:r>
                        <a:rPr sz="1050" b="0" i="0">
                          <a:solidFill>
                            <a:srgbClr val="000000"/>
                          </a:solidFill>
                          <a:latin typeface="Calibri"/>
                        </a:rPr>
                        <a:t>Table 68: Latin America Market Value and YoY Growth, Low-Barrier Films (Barrier Level), US$ Mn and %, 2021–2036</a:t>
                      </a:r>
                      <a:endParaRPr sz="1050"/>
                    </a:p>
                  </a:txBody>
                  <a:tcPr marL="9525" marR="9525" marT="9525" marB="0" anchor="ctr"/>
                </a:tc>
              </a:tr>
              <a:tr h="337215">
                <a:tc>
                  <a:txBody>
                    <a:bodyPr wrap="square"/>
                    <a:lstStyle/>
                    <a:p>
                      <a:pPr algn="l"/>
                      <a:r>
                        <a:rPr sz="1050" b="0" i="0">
                          <a:solidFill>
                            <a:srgbClr val="000000"/>
                          </a:solidFill>
                          <a:latin typeface="Calibri"/>
                        </a:rPr>
                        <a:t>Table 69: Latin America Market Value and YoY Growth, Food Packaging (Application), US$ Mn and %, 2021–2036</a:t>
                      </a:r>
                      <a:endParaRPr sz="1050"/>
                    </a:p>
                  </a:txBody>
                  <a:tcPr marL="9525" marR="9525" marT="9525" marB="0" anchor="ctr"/>
                </a:tc>
              </a:tr>
              <a:tr h="337215">
                <a:tc>
                  <a:txBody>
                    <a:bodyPr wrap="square"/>
                    <a:lstStyle/>
                    <a:p>
                      <a:pPr algn="l"/>
                      <a:r>
                        <a:rPr sz="1050" b="0" i="0">
                          <a:solidFill>
                            <a:srgbClr val="000000"/>
                          </a:solidFill>
                          <a:latin typeface="Calibri"/>
                        </a:rPr>
                        <a:t>Table 70: Latin America Market Value and YoY Growth, Low-Barrier Films (Barrier Level Vs Application), US$ Mn and %, 2021–2036</a:t>
                      </a:r>
                      <a:endParaRPr sz="1050"/>
                    </a:p>
                  </a:txBody>
                  <a:tcPr marL="9525" marR="9525" marT="9525" marB="0" anchor="ctr"/>
                </a:tc>
              </a:tr>
              <a:tr h="337215">
                <a:tc>
                  <a:txBody>
                    <a:bodyPr wrap="square"/>
                    <a:lstStyle/>
                    <a:p>
                      <a:pPr algn="l"/>
                      <a:r>
                        <a:rPr sz="1050" b="0" i="0">
                          <a:solidFill>
                            <a:srgbClr val="000000"/>
                          </a:solidFill>
                          <a:latin typeface="Calibri"/>
                        </a:rPr>
                        <a:t>Table 71: Latin America Market Value and YoY Growth, Barrier Casings (Product Type), US$ Mn and %, 2021–2036</a:t>
                      </a:r>
                      <a:endParaRPr sz="1050"/>
                    </a:p>
                  </a:txBody>
                  <a:tcPr marL="9525" marR="9525" marT="9525" marB="0" anchor="ctr"/>
                </a:tc>
              </a:tr>
              <a:tr h="337215">
                <a:tc>
                  <a:txBody>
                    <a:bodyPr wrap="square"/>
                    <a:lstStyle/>
                    <a:p>
                      <a:pPr algn="l"/>
                      <a:r>
                        <a:rPr sz="1050" b="0" i="0">
                          <a:solidFill>
                            <a:srgbClr val="000000"/>
                          </a:solidFill>
                          <a:latin typeface="Calibri"/>
                        </a:rPr>
                        <a:t>Table 72: Latin America Market Value and YoY Growth, PP-Based (Principal Material / Barrier Technology), US$ Mn and %,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2"/>
        </p:xfrm>
        <a:graphic>
          <a:graphicData uri="http://schemas.openxmlformats.org/drawingml/2006/table">
            <a:tbl>
              <a:tblPr>
                <a:tableStyleId>{3B4B98B0-60AC-42C2-AFA5-B58CD77FA1E5}</a:tableStyleId>
              </a:tblPr>
              <a:tblGrid>
                <a:gridCol w="5876925"/>
              </a:tblGrid>
              <a:tr h="328194">
                <a:tc>
                  <a:txBody>
                    <a:bodyPr wrap="square"/>
                    <a:lstStyle/>
                    <a:p>
                      <a:pPr algn="l"/>
                      <a:r>
                        <a:rPr sz="1050" b="0" i="0">
                          <a:solidFill>
                            <a:srgbClr val="000000"/>
                          </a:solidFill>
                          <a:latin typeface="Calibri"/>
                        </a:rPr>
                        <a:t>Table 73: Latin America Market Value and YoY Growth, Coextruded Multilayer Films (Material Structure), US$ Mn and %, 2021–2036</a:t>
                      </a:r>
                      <a:endParaRPr sz="1050"/>
                    </a:p>
                  </a:txBody>
                  <a:tcPr marL="9525" marR="9525" marT="9525" marB="0" anchor="ctr"/>
                </a:tc>
              </a:tr>
              <a:tr h="328194">
                <a:tc>
                  <a:txBody>
                    <a:bodyPr wrap="square"/>
                    <a:lstStyle/>
                    <a:p>
                      <a:pPr algn="l"/>
                      <a:r>
                        <a:rPr sz="1050" b="0" i="0">
                          <a:solidFill>
                            <a:srgbClr val="000000"/>
                          </a:solidFill>
                          <a:latin typeface="Calibri"/>
                        </a:rPr>
                        <a:t>Table 74: Latin America Market Value and YoY Growth, Medium-Barrier Films (Barrier Level), US$ Mn and %, 2021–2036</a:t>
                      </a:r>
                      <a:endParaRPr sz="1050"/>
                    </a:p>
                  </a:txBody>
                  <a:tcPr marL="9525" marR="9525" marT="9525" marB="0" anchor="ctr"/>
                </a:tc>
              </a:tr>
              <a:tr h="328194">
                <a:tc>
                  <a:txBody>
                    <a:bodyPr wrap="square"/>
                    <a:lstStyle/>
                    <a:p>
                      <a:pPr algn="l"/>
                      <a:r>
                        <a:rPr sz="1050" b="0" i="0">
                          <a:solidFill>
                            <a:srgbClr val="000000"/>
                          </a:solidFill>
                          <a:latin typeface="Calibri"/>
                        </a:rPr>
                        <a:t>Table 75: Latin America Market Value and YoY Growth, Non-Food Packaging (Application), US$ Mn and %, 2021–2036</a:t>
                      </a:r>
                      <a:endParaRPr sz="1050"/>
                    </a:p>
                  </a:txBody>
                  <a:tcPr marL="9525" marR="9525" marT="9525" marB="0" anchor="ctr"/>
                </a:tc>
              </a:tr>
              <a:tr h="328194">
                <a:tc>
                  <a:txBody>
                    <a:bodyPr wrap="square"/>
                    <a:lstStyle/>
                    <a:p>
                      <a:pPr algn="l"/>
                      <a:r>
                        <a:rPr sz="1050" b="0" i="0">
                          <a:solidFill>
                            <a:srgbClr val="000000"/>
                          </a:solidFill>
                          <a:latin typeface="Calibri"/>
                        </a:rPr>
                        <a:t>Table 76: Latin America Market Value and YoY Growth, Medium-Barrier Films (Barrier Level Vs Application), US$ Mn and %, 2021–2036</a:t>
                      </a:r>
                      <a:endParaRPr sz="1050"/>
                    </a:p>
                  </a:txBody>
                  <a:tcPr marL="9525" marR="9525" marT="9525" marB="0" anchor="ctr"/>
                </a:tc>
              </a:tr>
              <a:tr h="328194">
                <a:tc>
                  <a:txBody>
                    <a:bodyPr wrap="square"/>
                    <a:lstStyle/>
                    <a:p>
                      <a:pPr algn="l"/>
                      <a:r>
                        <a:rPr sz="1050" b="0" i="0">
                          <a:solidFill>
                            <a:srgbClr val="000000"/>
                          </a:solidFill>
                          <a:latin typeface="Calibri"/>
                        </a:rPr>
                        <a:t>Table 77: Latin America Market Value and YoY Growth, Premade Pouches &amp; Bags (Product Type), US$ Mn and %, 2021–2036</a:t>
                      </a:r>
                      <a:endParaRPr sz="1050"/>
                    </a:p>
                  </a:txBody>
                  <a:tcPr marL="9525" marR="9525" marT="9525" marB="0" anchor="ctr"/>
                </a:tc>
              </a:tr>
              <a:tr h="328194">
                <a:tc>
                  <a:txBody>
                    <a:bodyPr wrap="square"/>
                    <a:lstStyle/>
                    <a:p>
                      <a:pPr algn="l"/>
                      <a:r>
                        <a:rPr sz="1050" b="0" i="0">
                          <a:solidFill>
                            <a:srgbClr val="000000"/>
                          </a:solidFill>
                          <a:latin typeface="Calibri"/>
                        </a:rPr>
                        <a:t>Table 78: Latin America Market Value and YoY Growth, PET-Based (Principal Material / Barrier Technology), US$ Mn and %, 2021–2036</a:t>
                      </a:r>
                      <a:endParaRPr sz="1050"/>
                    </a:p>
                  </a:txBody>
                  <a:tcPr marL="9525" marR="9525" marT="9525" marB="0" anchor="ctr"/>
                </a:tc>
              </a:tr>
              <a:tr h="328194">
                <a:tc>
                  <a:txBody>
                    <a:bodyPr wrap="square"/>
                    <a:lstStyle/>
                    <a:p>
                      <a:pPr algn="l"/>
                      <a:r>
                        <a:rPr sz="1050" b="0" i="0">
                          <a:solidFill>
                            <a:srgbClr val="000000"/>
                          </a:solidFill>
                          <a:latin typeface="Calibri"/>
                        </a:rPr>
                        <a:t>Table 79: Latin America Market Value and YoY Growth, Laminated Films (Material Structure), US$ Mn and %, 2021–2036</a:t>
                      </a:r>
                      <a:endParaRPr sz="1050"/>
                    </a:p>
                  </a:txBody>
                  <a:tcPr marL="9525" marR="9525" marT="9525" marB="0" anchor="ctr"/>
                </a:tc>
              </a:tr>
              <a:tr h="328194">
                <a:tc>
                  <a:txBody>
                    <a:bodyPr wrap="square"/>
                    <a:lstStyle/>
                    <a:p>
                      <a:pPr algn="l"/>
                      <a:r>
                        <a:rPr sz="1050" b="0" i="0">
                          <a:solidFill>
                            <a:srgbClr val="000000"/>
                          </a:solidFill>
                          <a:latin typeface="Calibri"/>
                        </a:rPr>
                        <a:t>Table 80: Latin America Market Value and YoY Growth, High-Barrier Films (Barrier Level), US$ Mn and %, 2021–2036</a:t>
                      </a:r>
                      <a:endParaRPr sz="1050"/>
                    </a:p>
                  </a:txBody>
                  <a:tcPr marL="9525" marR="9525" marT="9525" marB="0" anchor="ctr"/>
                </a:tc>
              </a:tr>
              <a:tr h="167446">
                <a:tc>
                  <a:txBody>
                    <a:bodyPr wrap="square"/>
                    <a:lstStyle/>
                    <a:p>
                      <a:pPr algn="l"/>
                      <a:r>
                        <a:rPr sz="1050" b="0" i="0">
                          <a:solidFill>
                            <a:srgbClr val="000000"/>
                          </a:solidFill>
                          <a:latin typeface="Calibri"/>
                        </a:rPr>
                        <a:t>Table 81: Latin America Market Value by Application by Scenario, US$ Mn, 2036</a:t>
                      </a:r>
                      <a:endParaRPr sz="1050"/>
                    </a:p>
                  </a:txBody>
                  <a:tcPr marL="9525" marR="9525" marT="9525" marB="0" anchor="ctr"/>
                </a:tc>
              </a:tr>
              <a:tr h="328194">
                <a:tc>
                  <a:txBody>
                    <a:bodyPr wrap="square"/>
                    <a:lstStyle/>
                    <a:p>
                      <a:pPr algn="l"/>
                      <a:r>
                        <a:rPr sz="1050" b="0" i="0">
                          <a:solidFill>
                            <a:srgbClr val="000000"/>
                          </a:solidFill>
                          <a:latin typeface="Calibri"/>
                        </a:rPr>
                        <a:t>Table 82: Latin America Market Value and YoY Growth, High-Barrier Films (Barrier Level Vs Application), US$ Mn and %, 2021–2036</a:t>
                      </a:r>
                      <a:endParaRPr sz="1050"/>
                    </a:p>
                  </a:txBody>
                  <a:tcPr marL="9525" marR="9525" marT="9525" marB="0" anchor="ctr"/>
                </a:tc>
              </a:tr>
              <a:tr h="328194">
                <a:tc>
                  <a:txBody>
                    <a:bodyPr wrap="square"/>
                    <a:lstStyle/>
                    <a:p>
                      <a:pPr algn="l"/>
                      <a:r>
                        <a:rPr sz="1050" b="0" i="0">
                          <a:solidFill>
                            <a:srgbClr val="000000"/>
                          </a:solidFill>
                          <a:latin typeface="Calibri"/>
                        </a:rPr>
                        <a:t>Table 83: Latin America Market Value and YoY Growth, Sachets &amp; Stick Packs (Product Type), US$ Mn and %, 2021–2036</a:t>
                      </a:r>
                      <a:endParaRPr sz="1050"/>
                    </a:p>
                  </a:txBody>
                  <a:tcPr marL="9525" marR="9525" marT="9525" marB="0" anchor="ctr"/>
                </a:tc>
              </a:tr>
              <a:tr h="328194">
                <a:tc>
                  <a:txBody>
                    <a:bodyPr wrap="square"/>
                    <a:lstStyle/>
                    <a:p>
                      <a:pPr algn="l"/>
                      <a:r>
                        <a:rPr sz="1050" b="0" i="0">
                          <a:solidFill>
                            <a:srgbClr val="000000"/>
                          </a:solidFill>
                          <a:latin typeface="Calibri"/>
                        </a:rPr>
                        <a:t>Table 84: Latin America Market Value and YoY Growth, PA-Based (Principal Material / Barrier Technology), US$ Mn and %, 2021–2036</a:t>
                      </a:r>
                      <a:endParaRPr sz="1050"/>
                    </a:p>
                  </a:txBody>
                  <a:tcPr marL="9525" marR="9525" marT="9525" marB="0" anchor="ctr"/>
                </a:tc>
              </a:tr>
              <a:tr h="328194">
                <a:tc>
                  <a:txBody>
                    <a:bodyPr wrap="square"/>
                    <a:lstStyle/>
                    <a:p>
                      <a:pPr algn="l"/>
                      <a:r>
                        <a:rPr sz="1050" b="0" i="0">
                          <a:solidFill>
                            <a:srgbClr val="000000"/>
                          </a:solidFill>
                          <a:latin typeface="Calibri"/>
                        </a:rPr>
                        <a:t>Table 85: Latin America Market Value and YoY Growth, Coated Films (Material Structure), US$ Mn and %, 2021–2036</a:t>
                      </a:r>
                      <a:endParaRPr sz="1050"/>
                    </a:p>
                  </a:txBody>
                  <a:tcPr marL="9525" marR="9525" marT="9525" marB="0" anchor="ctr"/>
                </a:tc>
              </a:tr>
              <a:tr h="328194">
                <a:tc>
                  <a:txBody>
                    <a:bodyPr wrap="square"/>
                    <a:lstStyle/>
                    <a:p>
                      <a:pPr algn="l"/>
                      <a:r>
                        <a:rPr sz="1050" b="0" i="0">
                          <a:solidFill>
                            <a:srgbClr val="000000"/>
                          </a:solidFill>
                          <a:latin typeface="Calibri"/>
                        </a:rPr>
                        <a:t>Table 86: Latin America Market Value and YoY Growth, Ultra-High-Barrier Films (Barrier Level), US$ Mn and %, 2021–2036</a:t>
                      </a:r>
                      <a:endParaRPr sz="1050"/>
                    </a:p>
                  </a:txBody>
                  <a:tcPr marL="9525" marR="9525" marT="9525" marB="0" anchor="ctr"/>
                </a:tc>
              </a:tr>
              <a:tr h="328194">
                <a:tc>
                  <a:txBody>
                    <a:bodyPr wrap="square"/>
                    <a:lstStyle/>
                    <a:p>
                      <a:pPr algn="l"/>
                      <a:r>
                        <a:rPr sz="1050" b="0" i="0">
                          <a:solidFill>
                            <a:srgbClr val="000000"/>
                          </a:solidFill>
                          <a:latin typeface="Calibri"/>
                        </a:rPr>
                        <a:t>Table 87: Latin America Market Value and YoY Growth, Ultra-High-Barrier Films (Barrier Level Vs Application), US$ Mn and %, 2021–2036</a:t>
                      </a:r>
                      <a:endParaRPr sz="1050"/>
                    </a:p>
                  </a:txBody>
                  <a:tcPr marL="9525" marR="9525" marT="9525" marB="0" anchor="ctr"/>
                </a:tc>
              </a:tr>
              <a:tr h="167446">
                <a:tc>
                  <a:txBody>
                    <a:bodyPr wrap="square"/>
                    <a:lstStyle/>
                    <a:p>
                      <a:pPr algn="l"/>
                      <a:r>
                        <a:rPr sz="1050" b="0" i="0">
                          <a:solidFill>
                            <a:srgbClr val="000000"/>
                          </a:solidFill>
                          <a:latin typeface="Calibri"/>
                        </a:rPr>
                        <a:t>Table 88: Latin America Market Value by Product Type by Scenario, US$ Mn, 2036</a:t>
                      </a:r>
                      <a:endParaRPr sz="1050"/>
                    </a:p>
                  </a:txBody>
                  <a:tcPr marL="9525" marR="9525" marT="9525" marB="0" anchor="ctr"/>
                </a:tc>
              </a:tr>
              <a:tr h="328194">
                <a:tc>
                  <a:txBody>
                    <a:bodyPr wrap="square"/>
                    <a:lstStyle/>
                    <a:p>
                      <a:pPr algn="l"/>
                      <a:r>
                        <a:rPr sz="1050" b="0" i="0">
                          <a:solidFill>
                            <a:srgbClr val="000000"/>
                          </a:solidFill>
                          <a:latin typeface="Calibri"/>
                        </a:rPr>
                        <a:t>Table 89: Latin America Market Value and YoY Growth, EVOH-Based (Principal Material / Barrier Technology), US$ Mn and %,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(3/5)</a:t>
            </a:r>
          </a:p>
        </p:txBody>
      </p:sp>
      <p:graphicFrame>
        <p:nvGraphicFramePr>
          <p:cNvPr id="9" name="FMI Contents Table"/>
          <p:cNvGraphicFramePr>
            <a:graphicFrameLocks noGrp="1"/>
          </p:cNvGraphicFramePr>
          <p:nvPr/>
        </p:nvGraphicFramePr>
        <p:xfrm>
          <a:off x="142875" y="981075"/>
          <a:ext cx="5876925" cy="5257792"/>
        </p:xfrm>
        <a:graphic>
          <a:graphicData uri="http://schemas.openxmlformats.org/drawingml/2006/table">
            <a:tbl>
              <a:tblPr>
                <a:tableStyleId>{3B4B98B0-60AC-42C2-AFA5-B58CD77FA1E5}</a:tableStyleId>
              </a:tblPr>
              <a:tblGrid>
                <a:gridCol w="5876925"/>
              </a:tblGrid>
              <a:tr h="326944">
                <a:tc>
                  <a:txBody>
                    <a:bodyPr wrap="square"/>
                    <a:lstStyle/>
                    <a:p>
                      <a:pPr algn="l"/>
                      <a:r>
                        <a:rPr sz="1050" b="0" i="0">
                          <a:solidFill>
                            <a:srgbClr val="000000"/>
                          </a:solidFill>
                          <a:latin typeface="Calibri"/>
                        </a:rPr>
                        <a:t>Table 90: Latin America Market Value and YoY Growth, Metallized Films (Material Structure), US$ Mn and %, 2021–2036</a:t>
                      </a:r>
                      <a:endParaRPr sz="1050"/>
                    </a:p>
                  </a:txBody>
                  <a:tcPr marL="9525" marR="9525" marT="9525" marB="0" anchor="ctr"/>
                </a:tc>
              </a:tr>
              <a:tr h="166808">
                <a:tc>
                  <a:txBody>
                    <a:bodyPr wrap="square"/>
                    <a:lstStyle/>
                    <a:p>
                      <a:pPr algn="l"/>
                      <a:r>
                        <a:rPr sz="1050" b="0" i="0">
                          <a:solidFill>
                            <a:srgbClr val="000000"/>
                          </a:solidFill>
                          <a:latin typeface="Calibri"/>
                        </a:rPr>
                        <a:t>Table 91: Latin America Market Value by Barrier Level by Scenario, US$ Mn, 2036</a:t>
                      </a:r>
                      <a:endParaRPr sz="1050"/>
                    </a:p>
                  </a:txBody>
                  <a:tcPr marL="9525" marR="9525" marT="9525" marB="0" anchor="ctr"/>
                </a:tc>
              </a:tr>
              <a:tr h="166808">
                <a:tc>
                  <a:txBody>
                    <a:bodyPr wrap="square"/>
                    <a:lstStyle/>
                    <a:p>
                      <a:pPr algn="l"/>
                      <a:r>
                        <a:rPr sz="1050" b="0" i="0">
                          <a:solidFill>
                            <a:srgbClr val="000000"/>
                          </a:solidFill>
                          <a:latin typeface="Calibri"/>
                        </a:rPr>
                        <a:t>Table 92: Latin America Market Value by Barrier Level Vs Application by Scenario, US$ Mn, 2036</a:t>
                      </a:r>
                      <a:endParaRPr sz="1050"/>
                    </a:p>
                  </a:txBody>
                  <a:tcPr marL="9525" marR="9525" marT="9525" marB="0" anchor="ctr"/>
                </a:tc>
              </a:tr>
              <a:tr h="326944">
                <a:tc>
                  <a:txBody>
                    <a:bodyPr wrap="square"/>
                    <a:lstStyle/>
                    <a:p>
                      <a:pPr algn="l"/>
                      <a:r>
                        <a:rPr sz="1050" b="0" i="0">
                          <a:solidFill>
                            <a:srgbClr val="000000"/>
                          </a:solidFill>
                          <a:latin typeface="Calibri"/>
                        </a:rPr>
                        <a:t>Table 93: Latin America Market Value and YoY Growth, PVDC-Based (Principal Material / Barrier Technology), US$ Mn and %, 2021–2036</a:t>
                      </a:r>
                      <a:endParaRPr sz="1050"/>
                    </a:p>
                  </a:txBody>
                  <a:tcPr marL="9525" marR="9525" marT="9525" marB="0" anchor="ctr"/>
                </a:tc>
              </a:tr>
              <a:tr h="326944">
                <a:tc>
                  <a:txBody>
                    <a:bodyPr wrap="square"/>
                    <a:lstStyle/>
                    <a:p>
                      <a:pPr algn="l"/>
                      <a:r>
                        <a:rPr sz="1050" b="0" i="0">
                          <a:solidFill>
                            <a:srgbClr val="000000"/>
                          </a:solidFill>
                          <a:latin typeface="Calibri"/>
                        </a:rPr>
                        <a:t>Table 94: Latin America Market Value and YoY Growth, Foil-Laminated Structures (Material Structure), US$ Mn and %, 2021–2036</a:t>
                      </a:r>
                      <a:endParaRPr sz="1050"/>
                    </a:p>
                  </a:txBody>
                  <a:tcPr marL="9525" marR="9525" marT="9525" marB="0" anchor="ctr"/>
                </a:tc>
              </a:tr>
              <a:tr h="326944">
                <a:tc>
                  <a:txBody>
                    <a:bodyPr wrap="square"/>
                    <a:lstStyle/>
                    <a:p>
                      <a:pPr algn="l"/>
                      <a:r>
                        <a:rPr sz="1050" b="0" i="0">
                          <a:solidFill>
                            <a:srgbClr val="000000"/>
                          </a:solidFill>
                          <a:latin typeface="Calibri"/>
                        </a:rPr>
                        <a:t>Table 95: Latin America Market Value and YoY Growth, PVOH-Based (Principal Material / Barrier Technology), US$ Mn and %, 2021–2036</a:t>
                      </a:r>
                      <a:endParaRPr sz="1050"/>
                    </a:p>
                  </a:txBody>
                  <a:tcPr marL="9525" marR="9525" marT="9525" marB="0" anchor="ctr"/>
                </a:tc>
              </a:tr>
              <a:tr h="326944">
                <a:tc>
                  <a:txBody>
                    <a:bodyPr wrap="square"/>
                    <a:lstStyle/>
                    <a:p>
                      <a:pPr algn="l"/>
                      <a:r>
                        <a:rPr sz="1050" b="0" i="0">
                          <a:solidFill>
                            <a:srgbClr val="000000"/>
                          </a:solidFill>
                          <a:latin typeface="Calibri"/>
                        </a:rPr>
                        <a:t>Table 96: Latin America Market Value by Product Type and Principal Material / Barrier Technology, US$ Mn, 2026–2036</a:t>
                      </a:r>
                      <a:endParaRPr sz="1050"/>
                    </a:p>
                  </a:txBody>
                  <a:tcPr marL="9525" marR="9525" marT="9525" marB="0" anchor="ctr"/>
                </a:tc>
              </a:tr>
              <a:tr h="166808">
                <a:tc>
                  <a:txBody>
                    <a:bodyPr wrap="square"/>
                    <a:lstStyle/>
                    <a:p>
                      <a:pPr algn="l"/>
                      <a:r>
                        <a:rPr sz="1050" b="0" i="0">
                          <a:solidFill>
                            <a:srgbClr val="000000"/>
                          </a:solidFill>
                          <a:latin typeface="Calibri"/>
                        </a:rPr>
                        <a:t>Table 97: Latin America Market Value by Product Type and Material Structure, US$ Mn, 2026–2036</a:t>
                      </a:r>
                      <a:endParaRPr sz="1050"/>
                    </a:p>
                  </a:txBody>
                  <a:tcPr marL="9525" marR="9525" marT="9525" marB="0" anchor="ctr"/>
                </a:tc>
              </a:tr>
              <a:tr h="166808">
                <a:tc>
                  <a:txBody>
                    <a:bodyPr wrap="square"/>
                    <a:lstStyle/>
                    <a:p>
                      <a:pPr algn="l"/>
                      <a:r>
                        <a:rPr sz="1050" b="0" i="0">
                          <a:solidFill>
                            <a:srgbClr val="000000"/>
                          </a:solidFill>
                          <a:latin typeface="Calibri"/>
                        </a:rPr>
                        <a:t>Table 98: Latin America Market Value by Product Type and Barrier Level, US$ Mn, 2026–2036</a:t>
                      </a:r>
                      <a:endParaRPr sz="1050"/>
                    </a:p>
                  </a:txBody>
                  <a:tcPr marL="9525" marR="9525" marT="9525" marB="0" anchor="ctr"/>
                </a:tc>
              </a:tr>
              <a:tr h="166808">
                <a:tc>
                  <a:txBody>
                    <a:bodyPr wrap="square"/>
                    <a:lstStyle/>
                    <a:p>
                      <a:pPr algn="l"/>
                      <a:r>
                        <a:rPr sz="1050" b="0" i="0">
                          <a:solidFill>
                            <a:srgbClr val="000000"/>
                          </a:solidFill>
                          <a:latin typeface="Calibri"/>
                        </a:rPr>
                        <a:t>Table 99: Latin America Market Value by Product Type and Application, US$ Mn, 2026–2036</a:t>
                      </a:r>
                      <a:endParaRPr sz="1050"/>
                    </a:p>
                  </a:txBody>
                  <a:tcPr marL="9525" marR="9525" marT="9525" marB="0" anchor="ctr"/>
                </a:tc>
              </a:tr>
              <a:tr h="326944">
                <a:tc>
                  <a:txBody>
                    <a:bodyPr wrap="square"/>
                    <a:lstStyle/>
                    <a:p>
                      <a:pPr algn="l"/>
                      <a:r>
                        <a:rPr sz="1050" b="0" i="0">
                          <a:solidFill>
                            <a:srgbClr val="000000"/>
                          </a:solidFill>
                          <a:latin typeface="Calibri"/>
                        </a:rPr>
                        <a:t>Table 100: Latin America Market Value by Product Type and Barrier Level Vs Application, US$ Mn, 2026–2036</a:t>
                      </a:r>
                      <a:endParaRPr sz="1050"/>
                    </a:p>
                  </a:txBody>
                  <a:tcPr marL="9525" marR="9525" marT="9525" marB="0" anchor="ctr"/>
                </a:tc>
              </a:tr>
              <a:tr h="326944">
                <a:tc>
                  <a:txBody>
                    <a:bodyPr wrap="square"/>
                    <a:lstStyle/>
                    <a:p>
                      <a:pPr algn="l"/>
                      <a:r>
                        <a:rPr sz="1050" b="0" i="0">
                          <a:solidFill>
                            <a:srgbClr val="000000"/>
                          </a:solidFill>
                          <a:latin typeface="Calibri"/>
                        </a:rPr>
                        <a:t>Table 101: Latin America Market Value by Principal Material / Barrier Technology and Material Structure, US$ Mn, 2026–2036</a:t>
                      </a:r>
                      <a:endParaRPr sz="1050"/>
                    </a:p>
                  </a:txBody>
                  <a:tcPr marL="9525" marR="9525" marT="9525" marB="0" anchor="ctr"/>
                </a:tc>
              </a:tr>
              <a:tr h="326944">
                <a:tc>
                  <a:txBody>
                    <a:bodyPr wrap="square"/>
                    <a:lstStyle/>
                    <a:p>
                      <a:pPr algn="l"/>
                      <a:r>
                        <a:rPr sz="1050" b="0" i="0">
                          <a:solidFill>
                            <a:srgbClr val="000000"/>
                          </a:solidFill>
                          <a:latin typeface="Calibri"/>
                        </a:rPr>
                        <a:t>Table 102: Latin America Market Value by Principal Material / Barrier Technology and Barrier Level, US$ Mn, 2026–2036</a:t>
                      </a:r>
                      <a:endParaRPr sz="1050"/>
                    </a:p>
                  </a:txBody>
                  <a:tcPr marL="9525" marR="9525" marT="9525" marB="0" anchor="ctr"/>
                </a:tc>
              </a:tr>
              <a:tr h="326944">
                <a:tc>
                  <a:txBody>
                    <a:bodyPr wrap="square"/>
                    <a:lstStyle/>
                    <a:p>
                      <a:pPr algn="l"/>
                      <a:r>
                        <a:rPr sz="1050" b="0" i="0">
                          <a:solidFill>
                            <a:srgbClr val="000000"/>
                          </a:solidFill>
                          <a:latin typeface="Calibri"/>
                        </a:rPr>
                        <a:t>Table 103: Latin America Market Value by Principal Material / Barrier Technology and Application, US$ Mn, 2026–2036</a:t>
                      </a:r>
                      <a:endParaRPr sz="1050"/>
                    </a:p>
                  </a:txBody>
                  <a:tcPr marL="9525" marR="9525" marT="9525" marB="0" anchor="ctr"/>
                </a:tc>
              </a:tr>
              <a:tr h="326944">
                <a:tc>
                  <a:txBody>
                    <a:bodyPr wrap="square"/>
                    <a:lstStyle/>
                    <a:p>
                      <a:pPr algn="l"/>
                      <a:r>
                        <a:rPr sz="1050" b="0" i="0">
                          <a:solidFill>
                            <a:srgbClr val="000000"/>
                          </a:solidFill>
                          <a:latin typeface="Calibri"/>
                        </a:rPr>
                        <a:t>Table 104: Latin America Market Value by Principal Material / Barrier Technology and Barrier Level Vs Application, US$ Mn, 2026–2036</a:t>
                      </a:r>
                      <a:endParaRPr sz="1050"/>
                    </a:p>
                  </a:txBody>
                  <a:tcPr marL="9525" marR="9525" marT="9525" marB="0" anchor="ctr"/>
                </a:tc>
              </a:tr>
              <a:tr h="166808">
                <a:tc>
                  <a:txBody>
                    <a:bodyPr wrap="square"/>
                    <a:lstStyle/>
                    <a:p>
                      <a:pPr algn="l"/>
                      <a:r>
                        <a:rPr sz="1050" b="0" i="0">
                          <a:solidFill>
                            <a:srgbClr val="000000"/>
                          </a:solidFill>
                          <a:latin typeface="Calibri"/>
                        </a:rPr>
                        <a:t>Table 105: Latin America Market Value by Material Structure and Barrier Level, US$ Mn, 2026–2036</a:t>
                      </a:r>
                      <a:endParaRPr sz="1050"/>
                    </a:p>
                  </a:txBody>
                  <a:tcPr marL="9525" marR="9525" marT="9525" marB="0" anchor="ctr"/>
                </a:tc>
              </a:tr>
              <a:tr h="166808">
                <a:tc>
                  <a:txBody>
                    <a:bodyPr wrap="square"/>
                    <a:lstStyle/>
                    <a:p>
                      <a:pPr algn="l"/>
                      <a:r>
                        <a:rPr sz="1050" b="0" i="0">
                          <a:solidFill>
                            <a:srgbClr val="000000"/>
                          </a:solidFill>
                          <a:latin typeface="Calibri"/>
                        </a:rPr>
                        <a:t>Table 106: Latin America Market Value by Material Structure and Application, US$ Mn, 2026–2036</a:t>
                      </a:r>
                      <a:endParaRPr sz="1050"/>
                    </a:p>
                  </a:txBody>
                  <a:tcPr marL="9525" marR="9525" marT="9525" marB="0" anchor="ctr"/>
                </a:tc>
              </a:tr>
              <a:tr h="326944">
                <a:tc>
                  <a:txBody>
                    <a:bodyPr wrap="square"/>
                    <a:lstStyle/>
                    <a:p>
                      <a:pPr algn="l"/>
                      <a:r>
                        <a:rPr sz="1050" b="0" i="0">
                          <a:solidFill>
                            <a:srgbClr val="000000"/>
                          </a:solidFill>
                          <a:latin typeface="Calibri"/>
                        </a:rPr>
                        <a:t>Table 107: Latin America Market Value by Material Structure and Barrier Level Vs Application, US$ Mn, 2026–2036</a:t>
                      </a:r>
                      <a:endParaRPr sz="1050"/>
                    </a:p>
                  </a:txBody>
                  <a:tcPr marL="9525" marR="9525" marT="9525" marB="0" anchor="ctr"/>
                </a:tc>
              </a:tr>
              <a:tr h="166808">
                <a:tc>
                  <a:txBody>
                    <a:bodyPr wrap="square"/>
                    <a:lstStyle/>
                    <a:p>
                      <a:pPr algn="l"/>
                      <a:r>
                        <a:rPr sz="1050" b="0" i="0">
                          <a:solidFill>
                            <a:srgbClr val="000000"/>
                          </a:solidFill>
                          <a:latin typeface="Calibri"/>
                        </a:rPr>
                        <a:t>Table 108: Latin America Market Value by Barrier Level and Application, US$ Mn, 2026–2036</a:t>
                      </a:r>
                      <a:endParaRPr sz="1050"/>
                    </a:p>
                  </a:txBody>
                  <a:tcPr marL="9525" marR="9525" marT="9525" marB="0" anchor="ctr"/>
                </a:tc>
              </a:tr>
              <a:tr h="326944">
                <a:tc>
                  <a:txBody>
                    <a:bodyPr wrap="square"/>
                    <a:lstStyle/>
                    <a:p>
                      <a:pPr algn="l"/>
                      <a:r>
                        <a:rPr sz="1050" b="0" i="0">
                          <a:solidFill>
                            <a:srgbClr val="000000"/>
                          </a:solidFill>
                          <a:latin typeface="Calibri"/>
                        </a:rPr>
                        <a:t>Table 109: Latin America Market Value by Barrier Level and Barrier Level Vs Application,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3"/>
        </p:xfrm>
        <a:graphic>
          <a:graphicData uri="http://schemas.openxmlformats.org/drawingml/2006/table">
            <a:tbl>
              <a:tblPr>
                <a:tableStyleId>{3B4B98B0-60AC-42C2-AFA5-B58CD77FA1E5}</a:tableStyleId>
              </a:tblPr>
              <a:tblGrid>
                <a:gridCol w="5876925"/>
              </a:tblGrid>
              <a:tr h="335896">
                <a:tc>
                  <a:txBody>
                    <a:bodyPr wrap="square"/>
                    <a:lstStyle/>
                    <a:p>
                      <a:pPr algn="l"/>
                      <a:r>
                        <a:rPr sz="1050" b="0" i="0">
                          <a:solidFill>
                            <a:srgbClr val="000000"/>
                          </a:solidFill>
                          <a:latin typeface="Calibri"/>
                        </a:rPr>
                        <a:t>Table 110: Latin America Market Value by Application and Barrier Level Vs Application, US$ Mn, 2026–2036</a:t>
                      </a:r>
                      <a:endParaRPr sz="1050"/>
                    </a:p>
                  </a:txBody>
                  <a:tcPr marL="9525" marR="9525" marT="9525" marB="0" anchor="ctr"/>
                </a:tc>
              </a:tr>
              <a:tr h="335896">
                <a:tc>
                  <a:txBody>
                    <a:bodyPr wrap="square"/>
                    <a:lstStyle/>
                    <a:p>
                      <a:pPr algn="l"/>
                      <a:r>
                        <a:rPr sz="1050" b="0" i="0">
                          <a:solidFill>
                            <a:srgbClr val="000000"/>
                          </a:solidFill>
                          <a:latin typeface="Calibri"/>
                        </a:rPr>
                        <a:t>Table 111: Latin America Market CAGR by Product Type and Principal Material / Barrier Technology, %, 2026–2036</a:t>
                      </a:r>
                      <a:endParaRPr sz="1050"/>
                    </a:p>
                  </a:txBody>
                  <a:tcPr marL="9525" marR="9525" marT="9525" marB="0" anchor="ctr"/>
                </a:tc>
              </a:tr>
              <a:tr h="171375">
                <a:tc>
                  <a:txBody>
                    <a:bodyPr wrap="square"/>
                    <a:lstStyle/>
                    <a:p>
                      <a:pPr algn="l"/>
                      <a:r>
                        <a:rPr sz="1050" b="0" i="0">
                          <a:solidFill>
                            <a:srgbClr val="000000"/>
                          </a:solidFill>
                          <a:latin typeface="Calibri"/>
                        </a:rPr>
                        <a:t>Table 112: Latin America Market CAGR by Product Type and Material Structure, %, 2026–2036</a:t>
                      </a:r>
                      <a:endParaRPr sz="1050"/>
                    </a:p>
                  </a:txBody>
                  <a:tcPr marL="9525" marR="9525" marT="9525" marB="0" anchor="ctr"/>
                </a:tc>
              </a:tr>
              <a:tr h="171375">
                <a:tc>
                  <a:txBody>
                    <a:bodyPr wrap="square"/>
                    <a:lstStyle/>
                    <a:p>
                      <a:pPr algn="l"/>
                      <a:r>
                        <a:rPr sz="1050" b="0" i="0">
                          <a:solidFill>
                            <a:srgbClr val="000000"/>
                          </a:solidFill>
                          <a:latin typeface="Calibri"/>
                        </a:rPr>
                        <a:t>Table 113: Latin America Market CAGR by Product Type and Barrier Level, %, 2026–2036</a:t>
                      </a:r>
                      <a:endParaRPr sz="1050"/>
                    </a:p>
                  </a:txBody>
                  <a:tcPr marL="9525" marR="9525" marT="9525" marB="0" anchor="ctr"/>
                </a:tc>
              </a:tr>
              <a:tr h="171375">
                <a:tc>
                  <a:txBody>
                    <a:bodyPr wrap="square"/>
                    <a:lstStyle/>
                    <a:p>
                      <a:pPr algn="l"/>
                      <a:r>
                        <a:rPr sz="1050" b="0" i="0">
                          <a:solidFill>
                            <a:srgbClr val="000000"/>
                          </a:solidFill>
                          <a:latin typeface="Calibri"/>
                        </a:rPr>
                        <a:t>Table 114: Latin America Market CAGR by Product Type and Application, %, 2026–2036</a:t>
                      </a:r>
                      <a:endParaRPr sz="1050"/>
                    </a:p>
                  </a:txBody>
                  <a:tcPr marL="9525" marR="9525" marT="9525" marB="0" anchor="ctr"/>
                </a:tc>
              </a:tr>
              <a:tr h="171375">
                <a:tc>
                  <a:txBody>
                    <a:bodyPr wrap="square"/>
                    <a:lstStyle/>
                    <a:p>
                      <a:pPr algn="l"/>
                      <a:r>
                        <a:rPr sz="1050" b="0" i="0">
                          <a:solidFill>
                            <a:srgbClr val="000000"/>
                          </a:solidFill>
                          <a:latin typeface="Calibri"/>
                        </a:rPr>
                        <a:t>Table 115: Latin America Market CAGR by Product Type and Barrier Level Vs Application, %, 2026–2036</a:t>
                      </a:r>
                      <a:endParaRPr sz="1050"/>
                    </a:p>
                  </a:txBody>
                  <a:tcPr marL="9525" marR="9525" marT="9525" marB="0" anchor="ctr"/>
                </a:tc>
              </a:tr>
              <a:tr h="335896">
                <a:tc>
                  <a:txBody>
                    <a:bodyPr wrap="square"/>
                    <a:lstStyle/>
                    <a:p>
                      <a:pPr algn="l"/>
                      <a:r>
                        <a:rPr sz="1050" b="0" i="0">
                          <a:solidFill>
                            <a:srgbClr val="000000"/>
                          </a:solidFill>
                          <a:latin typeface="Calibri"/>
                        </a:rPr>
                        <a:t>Table 116: Latin America Market CAGR by Principal Material / Barrier Technology and Material Structure, %, 2026–2036</a:t>
                      </a:r>
                      <a:endParaRPr sz="1050"/>
                    </a:p>
                  </a:txBody>
                  <a:tcPr marL="9525" marR="9525" marT="9525" marB="0" anchor="ctr"/>
                </a:tc>
              </a:tr>
              <a:tr h="335896">
                <a:tc>
                  <a:txBody>
                    <a:bodyPr wrap="square"/>
                    <a:lstStyle/>
                    <a:p>
                      <a:pPr algn="l"/>
                      <a:r>
                        <a:rPr sz="1050" b="0" i="0">
                          <a:solidFill>
                            <a:srgbClr val="000000"/>
                          </a:solidFill>
                          <a:latin typeface="Calibri"/>
                        </a:rPr>
                        <a:t>Table 117: Latin America Market CAGR by Principal Material / Barrier Technology and Barrier Level, %, 2026–2036</a:t>
                      </a:r>
                      <a:endParaRPr sz="1050"/>
                    </a:p>
                  </a:txBody>
                  <a:tcPr marL="9525" marR="9525" marT="9525" marB="0" anchor="ctr"/>
                </a:tc>
              </a:tr>
              <a:tr h="335896">
                <a:tc>
                  <a:txBody>
                    <a:bodyPr wrap="square"/>
                    <a:lstStyle/>
                    <a:p>
                      <a:pPr algn="l"/>
                      <a:r>
                        <a:rPr sz="1050" b="0" i="0">
                          <a:solidFill>
                            <a:srgbClr val="000000"/>
                          </a:solidFill>
                          <a:latin typeface="Calibri"/>
                        </a:rPr>
                        <a:t>Table 118: Latin America Market CAGR by Principal Material / Barrier Technology and Application, %, 2026–2036</a:t>
                      </a:r>
                      <a:endParaRPr sz="1050"/>
                    </a:p>
                  </a:txBody>
                  <a:tcPr marL="9525" marR="9525" marT="9525" marB="0" anchor="ctr"/>
                </a:tc>
              </a:tr>
              <a:tr h="335896">
                <a:tc>
                  <a:txBody>
                    <a:bodyPr wrap="square"/>
                    <a:lstStyle/>
                    <a:p>
                      <a:pPr algn="l"/>
                      <a:r>
                        <a:rPr sz="1050" b="0" i="0">
                          <a:solidFill>
                            <a:srgbClr val="000000"/>
                          </a:solidFill>
                          <a:latin typeface="Calibri"/>
                        </a:rPr>
                        <a:t>Table 119: Latin America Market CAGR by Principal Material / Barrier Technology and Barrier Level Vs Application, %, 2026–2036</a:t>
                      </a:r>
                      <a:endParaRPr sz="1050"/>
                    </a:p>
                  </a:txBody>
                  <a:tcPr marL="9525" marR="9525" marT="9525" marB="0" anchor="ctr"/>
                </a:tc>
              </a:tr>
              <a:tr h="171375">
                <a:tc>
                  <a:txBody>
                    <a:bodyPr wrap="square"/>
                    <a:lstStyle/>
                    <a:p>
                      <a:pPr algn="l"/>
                      <a:r>
                        <a:rPr sz="1050" b="0" i="0">
                          <a:solidFill>
                            <a:srgbClr val="000000"/>
                          </a:solidFill>
                          <a:latin typeface="Calibri"/>
                        </a:rPr>
                        <a:t>Table 120: Latin America Market CAGR by Material Structure and Barrier Level, %, 2026–2036</a:t>
                      </a:r>
                      <a:endParaRPr sz="1050"/>
                    </a:p>
                  </a:txBody>
                  <a:tcPr marL="9525" marR="9525" marT="9525" marB="0" anchor="ctr"/>
                </a:tc>
              </a:tr>
              <a:tr h="171375">
                <a:tc>
                  <a:txBody>
                    <a:bodyPr wrap="square"/>
                    <a:lstStyle/>
                    <a:p>
                      <a:pPr algn="l"/>
                      <a:r>
                        <a:rPr sz="1050" b="0" i="0">
                          <a:solidFill>
                            <a:srgbClr val="000000"/>
                          </a:solidFill>
                          <a:latin typeface="Calibri"/>
                        </a:rPr>
                        <a:t>Table 121: Latin America Market CAGR by Material Structure and Application, %, 2026–2036</a:t>
                      </a:r>
                      <a:endParaRPr sz="1050"/>
                    </a:p>
                  </a:txBody>
                  <a:tcPr marL="9525" marR="9525" marT="9525" marB="0" anchor="ctr"/>
                </a:tc>
              </a:tr>
              <a:tr h="335896">
                <a:tc>
                  <a:txBody>
                    <a:bodyPr wrap="square"/>
                    <a:lstStyle/>
                    <a:p>
                      <a:pPr algn="l"/>
                      <a:r>
                        <a:rPr sz="1050" b="0" i="0">
                          <a:solidFill>
                            <a:srgbClr val="000000"/>
                          </a:solidFill>
                          <a:latin typeface="Calibri"/>
                        </a:rPr>
                        <a:t>Table 122: Latin America Market CAGR by Material Structure and Barrier Level Vs Application, %, 2026–2036</a:t>
                      </a:r>
                      <a:endParaRPr sz="1050"/>
                    </a:p>
                  </a:txBody>
                  <a:tcPr marL="9525" marR="9525" marT="9525" marB="0" anchor="ctr"/>
                </a:tc>
              </a:tr>
              <a:tr h="171375">
                <a:tc>
                  <a:txBody>
                    <a:bodyPr wrap="square"/>
                    <a:lstStyle/>
                    <a:p>
                      <a:pPr algn="l"/>
                      <a:r>
                        <a:rPr sz="1050" b="0" i="0">
                          <a:solidFill>
                            <a:srgbClr val="000000"/>
                          </a:solidFill>
                          <a:latin typeface="Calibri"/>
                        </a:rPr>
                        <a:t>Table 123: Latin America Market CAGR by Barrier Level and Application, %, 2026–2036</a:t>
                      </a:r>
                      <a:endParaRPr sz="1050"/>
                    </a:p>
                  </a:txBody>
                  <a:tcPr marL="9525" marR="9525" marT="9525" marB="0" anchor="ctr"/>
                </a:tc>
              </a:tr>
              <a:tr h="171375">
                <a:tc>
                  <a:txBody>
                    <a:bodyPr wrap="square"/>
                    <a:lstStyle/>
                    <a:p>
                      <a:pPr algn="l"/>
                      <a:r>
                        <a:rPr sz="1050" b="0" i="0">
                          <a:solidFill>
                            <a:srgbClr val="000000"/>
                          </a:solidFill>
                          <a:latin typeface="Calibri"/>
                        </a:rPr>
                        <a:t>Table 124: Latin America Market CAGR by Barrier Level and Barrier Level Vs Application, %, 2026–2036</a:t>
                      </a:r>
                      <a:endParaRPr sz="1050"/>
                    </a:p>
                  </a:txBody>
                  <a:tcPr marL="9525" marR="9525" marT="9525" marB="0" anchor="ctr"/>
                </a:tc>
              </a:tr>
              <a:tr h="171375">
                <a:tc>
                  <a:txBody>
                    <a:bodyPr wrap="square"/>
                    <a:lstStyle/>
                    <a:p>
                      <a:pPr algn="l"/>
                      <a:r>
                        <a:rPr sz="1050" b="0" i="0">
                          <a:solidFill>
                            <a:srgbClr val="000000"/>
                          </a:solidFill>
                          <a:latin typeface="Calibri"/>
                        </a:rPr>
                        <a:t>Table 125: Latin America Market CAGR by Application and Barrier Level Vs Application, %, 2026–2036</a:t>
                      </a:r>
                      <a:endParaRPr sz="1050"/>
                    </a:p>
                  </a:txBody>
                  <a:tcPr marL="9525" marR="9525" marT="9525" marB="0" anchor="ctr"/>
                </a:tc>
              </a:tr>
              <a:tr h="335896">
                <a:tc>
                  <a:txBody>
                    <a:bodyPr wrap="square"/>
                    <a:lstStyle/>
                    <a:p>
                      <a:pPr algn="l"/>
                      <a:r>
                        <a:rPr sz="1050" b="0" i="0">
                          <a:solidFill>
                            <a:srgbClr val="000000"/>
                          </a:solidFill>
                          <a:latin typeface="Calibri"/>
                        </a:rPr>
                        <a:t>Table 126: Latin America Market Share of Principal Material / Barrier Technology within Product Type, %, 2026 and 2036</a:t>
                      </a:r>
                      <a:endParaRPr sz="1050"/>
                    </a:p>
                  </a:txBody>
                  <a:tcPr marL="9525" marR="9525" marT="9525" marB="0" anchor="ctr"/>
                </a:tc>
              </a:tr>
              <a:tr h="171375">
                <a:tc>
                  <a:txBody>
                    <a:bodyPr wrap="square"/>
                    <a:lstStyle/>
                    <a:p>
                      <a:pPr algn="l"/>
                      <a:r>
                        <a:rPr sz="1050" b="0" i="0">
                          <a:solidFill>
                            <a:srgbClr val="000000"/>
                          </a:solidFill>
                          <a:latin typeface="Calibri"/>
                        </a:rPr>
                        <a:t>Table 127: Brazil Market Value by Product Type, US$ Mn, 2021–2036</a:t>
                      </a:r>
                      <a:endParaRPr sz="1050"/>
                    </a:p>
                  </a:txBody>
                  <a:tcPr marL="9525" marR="9525" marT="9525" marB="0" anchor="ctr"/>
                </a:tc>
              </a:tr>
              <a:tr h="171375">
                <a:tc>
                  <a:txBody>
                    <a:bodyPr wrap="square"/>
                    <a:lstStyle/>
                    <a:p>
                      <a:pPr algn="l"/>
                      <a:r>
                        <a:rPr sz="1050" b="0" i="0">
                          <a:solidFill>
                            <a:srgbClr val="000000"/>
                          </a:solidFill>
                          <a:latin typeface="Calibri"/>
                        </a:rPr>
                        <a:t>Table 128: Brazil Market Historical and Forecast Growth, %, 2021–2036</a:t>
                      </a:r>
                      <a:endParaRPr sz="1050"/>
                    </a:p>
                  </a:txBody>
                  <a:tcPr marL="9525" marR="9525" marT="9525" marB="0" anchor="ctr"/>
                </a:tc>
              </a:tr>
              <a:tr h="171375">
                <a:tc>
                  <a:txBody>
                    <a:bodyPr wrap="square"/>
                    <a:lstStyle/>
                    <a:p>
                      <a:pPr algn="l"/>
                      <a:r>
                        <a:rPr sz="1050" b="0" i="0">
                          <a:solidFill>
                            <a:srgbClr val="000000"/>
                          </a:solidFill>
                          <a:latin typeface="Calibri"/>
                        </a:rPr>
                        <a:t>Table 129: Brazil Market Value by Application, US$ Mn, 2021–2036</a:t>
                      </a:r>
                      <a:endParaRPr sz="1050"/>
                    </a:p>
                  </a:txBody>
                  <a:tcPr marL="9525" marR="9525" marT="9525" marB="0" anchor="ctr"/>
                </a:tc>
              </a:tr>
              <a:tr h="171375">
                <a:tc>
                  <a:txBody>
                    <a:bodyPr wrap="square"/>
                    <a:lstStyle/>
                    <a:p>
                      <a:pPr algn="l"/>
                      <a:r>
                        <a:rPr sz="1050" b="0" i="0">
                          <a:solidFill>
                            <a:srgbClr val="000000"/>
                          </a:solidFill>
                          <a:latin typeface="Calibri"/>
                        </a:rPr>
                        <a:t>Table 130: Brazil Market Share within Latin America, %, 2025, 2026 and 2036</a:t>
                      </a:r>
                      <a:endParaRPr sz="1050"/>
                    </a:p>
                  </a:txBody>
                  <a:tcPr marL="9525" marR="9525" marT="9525" marB="0" anchor="ctr"/>
                </a:tc>
              </a:tr>
              <a:tr h="171375">
                <a:tc>
                  <a:txBody>
                    <a:bodyPr wrap="square"/>
                    <a:lstStyle/>
                    <a:p>
                      <a:pPr algn="l"/>
                      <a:r>
                        <a:rPr sz="1050" b="0" i="0">
                          <a:solidFill>
                            <a:srgbClr val="000000"/>
                          </a:solidFill>
                          <a:latin typeface="Calibri"/>
                        </a:rPr>
                        <a:t>Table 131: Brazil Market Value by Principal Material / Barrier Technology, US$ Mn, 2021–2036</a:t>
                      </a:r>
                      <a:endParaRPr sz="1050"/>
                    </a:p>
                  </a:txBody>
                  <a:tcPr marL="9525" marR="9525" marT="9525" marB="0" anchor="ctr"/>
                </a:tc>
              </a:tr>
              <a:tr h="171375">
                <a:tc>
                  <a:txBody>
                    <a:bodyPr wrap="square"/>
                    <a:lstStyle/>
                    <a:p>
                      <a:pPr algn="l"/>
                      <a:r>
                        <a:rPr sz="1050" b="0" i="0">
                          <a:solidFill>
                            <a:srgbClr val="000000"/>
                          </a:solidFill>
                          <a:latin typeface="Calibri"/>
                        </a:rPr>
                        <a:t>Table 132: Brazil Market Value by Material Structure, US$ Mn,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(4/5)</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Table 133: Brazil Market Value by Barrier Level, US$ Mn, 2021–2036</a:t>
                      </a:r>
                      <a:endParaRPr sz="1050"/>
                    </a:p>
                  </a:txBody>
                  <a:tcPr marL="9525" marR="9525" marT="9525" marB="0" anchor="ctr"/>
                </a:tc>
              </a:tr>
              <a:tr h="169606">
                <a:tc>
                  <a:txBody>
                    <a:bodyPr wrap="square"/>
                    <a:lstStyle/>
                    <a:p>
                      <a:pPr algn="l"/>
                      <a:r>
                        <a:rPr sz="1050" b="0" i="0">
                          <a:solidFill>
                            <a:srgbClr val="000000"/>
                          </a:solidFill>
                          <a:latin typeface="Calibri"/>
                        </a:rPr>
                        <a:t>Table 134: Brazil Market Value by Barrier Level Vs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135: Brazil Market Volume by Product Type, Thousand MT, 2021–2036</a:t>
                      </a:r>
                      <a:endParaRPr sz="1050"/>
                    </a:p>
                  </a:txBody>
                  <a:tcPr marL="9525" marR="9525" marT="9525" marB="0" anchor="ctr"/>
                </a:tc>
              </a:tr>
              <a:tr h="169606">
                <a:tc>
                  <a:txBody>
                    <a:bodyPr wrap="square"/>
                    <a:lstStyle/>
                    <a:p>
                      <a:pPr algn="l"/>
                      <a:r>
                        <a:rPr sz="1050" b="0" i="0">
                          <a:solidFill>
                            <a:srgbClr val="000000"/>
                          </a:solidFill>
                          <a:latin typeface="Calibri"/>
                        </a:rPr>
                        <a:t>Table 136: Brazil Market Average Selling Price, US$/MT, 2021–2036</a:t>
                      </a:r>
                      <a:endParaRPr sz="1050"/>
                    </a:p>
                  </a:txBody>
                  <a:tcPr marL="9525" marR="9525" marT="9525" marB="0" anchor="ctr"/>
                </a:tc>
              </a:tr>
              <a:tr h="169606">
                <a:tc>
                  <a:txBody>
                    <a:bodyPr wrap="square"/>
                    <a:lstStyle/>
                    <a:p>
                      <a:pPr algn="l"/>
                      <a:r>
                        <a:rPr sz="1050" b="0" i="0">
                          <a:solidFill>
                            <a:srgbClr val="000000"/>
                          </a:solidFill>
                          <a:latin typeface="Calibri"/>
                        </a:rPr>
                        <a:t>Table 137: Brazil Market Leading Suppliers and Brands, 2026</a:t>
                      </a:r>
                      <a:endParaRPr sz="1050"/>
                    </a:p>
                  </a:txBody>
                  <a:tcPr marL="9525" marR="9525" marT="9525" marB="0" anchor="ctr"/>
                </a:tc>
              </a:tr>
              <a:tr h="169606">
                <a:tc>
                  <a:txBody>
                    <a:bodyPr wrap="square"/>
                    <a:lstStyle/>
                    <a:p>
                      <a:pPr algn="l"/>
                      <a:r>
                        <a:rPr sz="1050" b="0" i="0">
                          <a:solidFill>
                            <a:srgbClr val="000000"/>
                          </a:solidFill>
                          <a:latin typeface="Calibri"/>
                        </a:rPr>
                        <a:t>Table 138: Brazil Market Import and Export Indicators, US$ Mn, 2021–2025</a:t>
                      </a:r>
                      <a:endParaRPr sz="1050"/>
                    </a:p>
                  </a:txBody>
                  <a:tcPr marL="9525" marR="9525" marT="9525" marB="0" anchor="ctr"/>
                </a:tc>
              </a:tr>
              <a:tr h="169606">
                <a:tc>
                  <a:txBody>
                    <a:bodyPr wrap="square"/>
                    <a:lstStyle/>
                    <a:p>
                      <a:pPr algn="l"/>
                      <a:r>
                        <a:rPr sz="1050" b="0" i="0">
                          <a:solidFill>
                            <a:srgbClr val="000000"/>
                          </a:solidFill>
                          <a:latin typeface="Calibri"/>
                        </a:rPr>
                        <a:t>Table 139: Mexico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140: Mexico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141: Mexico Market Value by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142: Mexico Market Share within Latin America, %, 2025, 2026 and 2036</a:t>
                      </a:r>
                      <a:endParaRPr sz="1050"/>
                    </a:p>
                  </a:txBody>
                  <a:tcPr marL="9525" marR="9525" marT="9525" marB="0" anchor="ctr"/>
                </a:tc>
              </a:tr>
              <a:tr h="169606">
                <a:tc>
                  <a:txBody>
                    <a:bodyPr wrap="square"/>
                    <a:lstStyle/>
                    <a:p>
                      <a:pPr algn="l"/>
                      <a:r>
                        <a:rPr sz="1050" b="0" i="0">
                          <a:solidFill>
                            <a:srgbClr val="000000"/>
                          </a:solidFill>
                          <a:latin typeface="Calibri"/>
                        </a:rPr>
                        <a:t>Table 143: Mexico Market Value by Principal Material / Barrier Technology, US$ Mn, 2021–2036</a:t>
                      </a:r>
                      <a:endParaRPr sz="1050"/>
                    </a:p>
                  </a:txBody>
                  <a:tcPr marL="9525" marR="9525" marT="9525" marB="0" anchor="ctr"/>
                </a:tc>
              </a:tr>
              <a:tr h="169606">
                <a:tc>
                  <a:txBody>
                    <a:bodyPr wrap="square"/>
                    <a:lstStyle/>
                    <a:p>
                      <a:pPr algn="l"/>
                      <a:r>
                        <a:rPr sz="1050" b="0" i="0">
                          <a:solidFill>
                            <a:srgbClr val="000000"/>
                          </a:solidFill>
                          <a:latin typeface="Calibri"/>
                        </a:rPr>
                        <a:t>Table 144: Mexico Market Value by Material Structure, US$ Mn, 2021–2036</a:t>
                      </a:r>
                      <a:endParaRPr sz="1050"/>
                    </a:p>
                  </a:txBody>
                  <a:tcPr marL="9525" marR="9525" marT="9525" marB="0" anchor="ctr"/>
                </a:tc>
              </a:tr>
              <a:tr h="169606">
                <a:tc>
                  <a:txBody>
                    <a:bodyPr wrap="square"/>
                    <a:lstStyle/>
                    <a:p>
                      <a:pPr algn="l"/>
                      <a:r>
                        <a:rPr sz="1050" b="0" i="0">
                          <a:solidFill>
                            <a:srgbClr val="000000"/>
                          </a:solidFill>
                          <a:latin typeface="Calibri"/>
                        </a:rPr>
                        <a:t>Table 145: Mexico Market Value by Barrier Level, US$ Mn, 2021–2036</a:t>
                      </a:r>
                      <a:endParaRPr sz="1050"/>
                    </a:p>
                  </a:txBody>
                  <a:tcPr marL="9525" marR="9525" marT="9525" marB="0" anchor="ctr"/>
                </a:tc>
              </a:tr>
              <a:tr h="169606">
                <a:tc>
                  <a:txBody>
                    <a:bodyPr wrap="square"/>
                    <a:lstStyle/>
                    <a:p>
                      <a:pPr algn="l"/>
                      <a:r>
                        <a:rPr sz="1050" b="0" i="0">
                          <a:solidFill>
                            <a:srgbClr val="000000"/>
                          </a:solidFill>
                          <a:latin typeface="Calibri"/>
                        </a:rPr>
                        <a:t>Table 146: Mexico Market Value by Barrier Level Vs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147: Mexico Market Volume by Product Type, Thousand MT, 2021–2036</a:t>
                      </a:r>
                      <a:endParaRPr sz="1050"/>
                    </a:p>
                  </a:txBody>
                  <a:tcPr marL="9525" marR="9525" marT="9525" marB="0" anchor="ctr"/>
                </a:tc>
              </a:tr>
              <a:tr h="169606">
                <a:tc>
                  <a:txBody>
                    <a:bodyPr wrap="square"/>
                    <a:lstStyle/>
                    <a:p>
                      <a:pPr algn="l"/>
                      <a:r>
                        <a:rPr sz="1050" b="0" i="0">
                          <a:solidFill>
                            <a:srgbClr val="000000"/>
                          </a:solidFill>
                          <a:latin typeface="Calibri"/>
                        </a:rPr>
                        <a:t>Table 148: Mexico Market Average Selling Price, US$/MT, 2021–2036</a:t>
                      </a:r>
                      <a:endParaRPr sz="1050"/>
                    </a:p>
                  </a:txBody>
                  <a:tcPr marL="9525" marR="9525" marT="9525" marB="0" anchor="ctr"/>
                </a:tc>
              </a:tr>
              <a:tr h="169606">
                <a:tc>
                  <a:txBody>
                    <a:bodyPr wrap="square"/>
                    <a:lstStyle/>
                    <a:p>
                      <a:pPr algn="l"/>
                      <a:r>
                        <a:rPr sz="1050" b="0" i="0">
                          <a:solidFill>
                            <a:srgbClr val="000000"/>
                          </a:solidFill>
                          <a:latin typeface="Calibri"/>
                        </a:rPr>
                        <a:t>Table 149: Mexico Market Leading Suppliers and Brands, 2026</a:t>
                      </a:r>
                      <a:endParaRPr sz="1050"/>
                    </a:p>
                  </a:txBody>
                  <a:tcPr marL="9525" marR="9525" marT="9525" marB="0" anchor="ctr"/>
                </a:tc>
              </a:tr>
              <a:tr h="169606">
                <a:tc>
                  <a:txBody>
                    <a:bodyPr wrap="square"/>
                    <a:lstStyle/>
                    <a:p>
                      <a:pPr algn="l"/>
                      <a:r>
                        <a:rPr sz="1050" b="0" i="0">
                          <a:solidFill>
                            <a:srgbClr val="000000"/>
                          </a:solidFill>
                          <a:latin typeface="Calibri"/>
                        </a:rPr>
                        <a:t>Table 150: Mexico Market Import and Export Indicators, US$ Mn, 2021–2025</a:t>
                      </a:r>
                      <a:endParaRPr sz="1050"/>
                    </a:p>
                  </a:txBody>
                  <a:tcPr marL="9525" marR="9525" marT="9525" marB="0" anchor="ctr"/>
                </a:tc>
              </a:tr>
              <a:tr h="169606">
                <a:tc>
                  <a:txBody>
                    <a:bodyPr wrap="square"/>
                    <a:lstStyle/>
                    <a:p>
                      <a:pPr algn="l"/>
                      <a:r>
                        <a:rPr sz="1050" b="0" i="0">
                          <a:solidFill>
                            <a:srgbClr val="000000"/>
                          </a:solidFill>
                          <a:latin typeface="Calibri"/>
                        </a:rPr>
                        <a:t>Table 151: Colombia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152: Colombia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153: Colombia Market Value by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154: Colombia Market Share within Latin America, %, 2025, 2026 and 2036</a:t>
                      </a:r>
                      <a:endParaRPr sz="1050"/>
                    </a:p>
                  </a:txBody>
                  <a:tcPr marL="9525" marR="9525" marT="9525" marB="0" anchor="ctr"/>
                </a:tc>
              </a:tr>
              <a:tr h="169606">
                <a:tc>
                  <a:txBody>
                    <a:bodyPr wrap="square"/>
                    <a:lstStyle/>
                    <a:p>
                      <a:pPr algn="l"/>
                      <a:r>
                        <a:rPr sz="1050" b="0" i="0">
                          <a:solidFill>
                            <a:srgbClr val="000000"/>
                          </a:solidFill>
                          <a:latin typeface="Calibri"/>
                        </a:rPr>
                        <a:t>Table 155: Colombia Market Value by Principal Material / Barrier Technology, US$ Mn, 2021–2036</a:t>
                      </a:r>
                      <a:endParaRPr sz="1050"/>
                    </a:p>
                  </a:txBody>
                  <a:tcPr marL="9525" marR="9525" marT="9525" marB="0" anchor="ctr"/>
                </a:tc>
              </a:tr>
              <a:tr h="169606">
                <a:tc>
                  <a:txBody>
                    <a:bodyPr wrap="square"/>
                    <a:lstStyle/>
                    <a:p>
                      <a:pPr algn="l"/>
                      <a:r>
                        <a:rPr sz="1050" b="0" i="0">
                          <a:solidFill>
                            <a:srgbClr val="000000"/>
                          </a:solidFill>
                          <a:latin typeface="Calibri"/>
                        </a:rPr>
                        <a:t>Table 156: Colombia Market Value by Material Structure, US$ Mn, 2021–2036</a:t>
                      </a:r>
                      <a:endParaRPr sz="1050"/>
                    </a:p>
                  </a:txBody>
                  <a:tcPr marL="9525" marR="9525" marT="9525" marB="0" anchor="ctr"/>
                </a:tc>
              </a:tr>
              <a:tr h="169606">
                <a:tc>
                  <a:txBody>
                    <a:bodyPr wrap="square"/>
                    <a:lstStyle/>
                    <a:p>
                      <a:pPr algn="l"/>
                      <a:r>
                        <a:rPr sz="1050" b="0" i="0">
                          <a:solidFill>
                            <a:srgbClr val="000000"/>
                          </a:solidFill>
                          <a:latin typeface="Calibri"/>
                        </a:rPr>
                        <a:t>Table 157: Colombia Market Value by Barrier Level, US$ Mn, 2021–2036</a:t>
                      </a:r>
                      <a:endParaRPr sz="1050"/>
                    </a:p>
                  </a:txBody>
                  <a:tcPr marL="9525" marR="9525" marT="9525" marB="0" anchor="ctr"/>
                </a:tc>
              </a:tr>
              <a:tr h="169606">
                <a:tc>
                  <a:txBody>
                    <a:bodyPr wrap="square"/>
                    <a:lstStyle/>
                    <a:p>
                      <a:pPr algn="l"/>
                      <a:r>
                        <a:rPr sz="1050" b="0" i="0">
                          <a:solidFill>
                            <a:srgbClr val="000000"/>
                          </a:solidFill>
                          <a:latin typeface="Calibri"/>
                        </a:rPr>
                        <a:t>Table 158: Colombia Market Value by Barrier Level Vs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159: Colombia Market Volume by Product Type, Thousand MT, 2021–2036</a:t>
                      </a:r>
                      <a:endParaRPr sz="1050"/>
                    </a:p>
                  </a:txBody>
                  <a:tcPr marL="9525" marR="9525" marT="9525" marB="0" anchor="ctr"/>
                </a:tc>
              </a:tr>
              <a:tr h="169606">
                <a:tc>
                  <a:txBody>
                    <a:bodyPr wrap="square"/>
                    <a:lstStyle/>
                    <a:p>
                      <a:pPr algn="l"/>
                      <a:r>
                        <a:rPr sz="1050" b="0" i="0">
                          <a:solidFill>
                            <a:srgbClr val="000000"/>
                          </a:solidFill>
                          <a:latin typeface="Calibri"/>
                        </a:rPr>
                        <a:t>Table 160: Colombia Market Average Selling Price, US$/MT, 2021–2036</a:t>
                      </a:r>
                      <a:endParaRPr sz="1050"/>
                    </a:p>
                  </a:txBody>
                  <a:tcPr marL="9525" marR="9525" marT="9525" marB="0" anchor="ctr"/>
                </a:tc>
              </a:tr>
              <a:tr h="169606">
                <a:tc>
                  <a:txBody>
                    <a:bodyPr wrap="square"/>
                    <a:lstStyle/>
                    <a:p>
                      <a:pPr algn="l"/>
                      <a:r>
                        <a:rPr sz="1050" b="0" i="0">
                          <a:solidFill>
                            <a:srgbClr val="000000"/>
                          </a:solidFill>
                          <a:latin typeface="Calibri"/>
                        </a:rPr>
                        <a:t>Table 161: Colombia Market Leading Suppliers and Brands, 2026</a:t>
                      </a:r>
                      <a:endParaRPr sz="1050"/>
                    </a:p>
                  </a:txBody>
                  <a:tcPr marL="9525" marR="9525" marT="9525" marB="0" anchor="ctr"/>
                </a:tc>
              </a:tr>
              <a:tr h="169606">
                <a:tc>
                  <a:txBody>
                    <a:bodyPr wrap="square"/>
                    <a:lstStyle/>
                    <a:p>
                      <a:pPr algn="l"/>
                      <a:r>
                        <a:rPr sz="1050" b="0" i="0">
                          <a:solidFill>
                            <a:srgbClr val="000000"/>
                          </a:solidFill>
                          <a:latin typeface="Calibri"/>
                        </a:rPr>
                        <a:t>Table 162: Colombia Market Import and Export Indicators, US$ Mn, 2021–2025</a:t>
                      </a:r>
                      <a:endParaRPr sz="1050"/>
                    </a:p>
                  </a:txBody>
                  <a:tcPr marL="9525" marR="9525" marT="9525" marB="0" anchor="ctr"/>
                </a:tc>
              </a:tr>
              <a:tr h="169606">
                <a:tc>
                  <a:txBody>
                    <a:bodyPr wrap="square"/>
                    <a:lstStyle/>
                    <a:p>
                      <a:pPr algn="l"/>
                      <a:r>
                        <a:rPr sz="1050" b="0" i="0">
                          <a:solidFill>
                            <a:srgbClr val="000000"/>
                          </a:solidFill>
                          <a:latin typeface="Calibri"/>
                        </a:rPr>
                        <a:t>Table 163: Market Product Price Comparison by Company and Product Type, US$/MT, 2026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10"/>
        </p:xfrm>
        <a:graphic>
          <a:graphicData uri="http://schemas.openxmlformats.org/drawingml/2006/table">
            <a:tbl>
              <a:tblPr>
                <a:tableStyleId>{3B4B98B0-60AC-42C2-AFA5-B58CD77FA1E5}</a:tableStyleId>
              </a:tblPr>
              <a:tblGrid>
                <a:gridCol w="5876925"/>
              </a:tblGrid>
              <a:tr h="170266">
                <a:tc>
                  <a:txBody>
                    <a:bodyPr wrap="square"/>
                    <a:lstStyle/>
                    <a:p>
                      <a:pPr algn="l"/>
                      <a:r>
                        <a:rPr sz="1050" b="0" i="0">
                          <a:solidFill>
                            <a:srgbClr val="000000"/>
                          </a:solidFill>
                          <a:latin typeface="Calibri"/>
                        </a:rPr>
                        <a:t>Table 164: Latin America Market Average Selling Price, US$/MT, 2021–2036</a:t>
                      </a:r>
                      <a:endParaRPr sz="1050"/>
                    </a:p>
                  </a:txBody>
                  <a:tcPr marL="9525" marR="9525" marT="9525" marB="0" anchor="ctr"/>
                </a:tc>
              </a:tr>
              <a:tr h="170266">
                <a:tc>
                  <a:txBody>
                    <a:bodyPr wrap="square"/>
                    <a:lstStyle/>
                    <a:p>
                      <a:pPr algn="l"/>
                      <a:r>
                        <a:rPr sz="1050" b="0" i="0">
                          <a:solidFill>
                            <a:srgbClr val="000000"/>
                          </a:solidFill>
                          <a:latin typeface="Calibri"/>
                        </a:rPr>
                        <a:t>Table 165: Latin America Market Average Selling Price by Product Type, US$/MT, 2021–2036</a:t>
                      </a:r>
                      <a:endParaRPr sz="1050"/>
                    </a:p>
                  </a:txBody>
                  <a:tcPr marL="9525" marR="9525" marT="9525" marB="0" anchor="ctr"/>
                </a:tc>
              </a:tr>
              <a:tr h="333720">
                <a:tc>
                  <a:txBody>
                    <a:bodyPr wrap="square"/>
                    <a:lstStyle/>
                    <a:p>
                      <a:pPr algn="l"/>
                      <a:r>
                        <a:rPr sz="1050" b="0" i="0">
                          <a:solidFill>
                            <a:srgbClr val="000000"/>
                          </a:solidFill>
                          <a:latin typeface="Calibri"/>
                        </a:rPr>
                        <a:t>Table 166: Latin America Market Average Selling Price by Principal Material / Barrier Technology, US$/MT, 2021–2036</a:t>
                      </a:r>
                      <a:endParaRPr sz="1050"/>
                    </a:p>
                  </a:txBody>
                  <a:tcPr marL="9525" marR="9525" marT="9525" marB="0" anchor="ctr"/>
                </a:tc>
              </a:tr>
              <a:tr h="170266">
                <a:tc>
                  <a:txBody>
                    <a:bodyPr wrap="square"/>
                    <a:lstStyle/>
                    <a:p>
                      <a:pPr algn="l"/>
                      <a:r>
                        <a:rPr sz="1050" b="0" i="0">
                          <a:solidFill>
                            <a:srgbClr val="000000"/>
                          </a:solidFill>
                          <a:latin typeface="Calibri"/>
                        </a:rPr>
                        <a:t>Table 167: Latin America Market Average Selling Price by Material Structure, US$/MT, 2021–2036</a:t>
                      </a:r>
                      <a:endParaRPr sz="1050"/>
                    </a:p>
                  </a:txBody>
                  <a:tcPr marL="9525" marR="9525" marT="9525" marB="0" anchor="ctr"/>
                </a:tc>
              </a:tr>
              <a:tr h="170266">
                <a:tc>
                  <a:txBody>
                    <a:bodyPr wrap="square"/>
                    <a:lstStyle/>
                    <a:p>
                      <a:pPr algn="l"/>
                      <a:r>
                        <a:rPr sz="1050" b="0" i="0">
                          <a:solidFill>
                            <a:srgbClr val="000000"/>
                          </a:solidFill>
                          <a:latin typeface="Calibri"/>
                        </a:rPr>
                        <a:t>Table 168: Latin America Market Average Selling Price by Barrier Level, US$/MT, 2021–2036</a:t>
                      </a:r>
                      <a:endParaRPr sz="1050"/>
                    </a:p>
                  </a:txBody>
                  <a:tcPr marL="9525" marR="9525" marT="9525" marB="0" anchor="ctr"/>
                </a:tc>
              </a:tr>
              <a:tr h="170266">
                <a:tc>
                  <a:txBody>
                    <a:bodyPr wrap="square"/>
                    <a:lstStyle/>
                    <a:p>
                      <a:pPr algn="l"/>
                      <a:r>
                        <a:rPr sz="1050" b="0" i="0">
                          <a:solidFill>
                            <a:srgbClr val="000000"/>
                          </a:solidFill>
                          <a:latin typeface="Calibri"/>
                        </a:rPr>
                        <a:t>Table 169: Latin America Market Average Selling Price by Application, US$/MT, 2021–2036</a:t>
                      </a:r>
                      <a:endParaRPr sz="1050"/>
                    </a:p>
                  </a:txBody>
                  <a:tcPr marL="9525" marR="9525" marT="9525" marB="0" anchor="ctr"/>
                </a:tc>
              </a:tr>
              <a:tr h="333720">
                <a:tc>
                  <a:txBody>
                    <a:bodyPr wrap="square"/>
                    <a:lstStyle/>
                    <a:p>
                      <a:pPr algn="l"/>
                      <a:r>
                        <a:rPr sz="1050" b="0" i="0">
                          <a:solidFill>
                            <a:srgbClr val="000000"/>
                          </a:solidFill>
                          <a:latin typeface="Calibri"/>
                        </a:rPr>
                        <a:t>Table 170: Latin America Market Average Selling Price by Barrier Level Vs Application, US$/MT, 2021–2036</a:t>
                      </a:r>
                      <a:endParaRPr sz="1050"/>
                    </a:p>
                  </a:txBody>
                  <a:tcPr marL="9525" marR="9525" marT="9525" marB="0" anchor="ctr"/>
                </a:tc>
              </a:tr>
              <a:tr h="170266">
                <a:tc>
                  <a:txBody>
                    <a:bodyPr wrap="square"/>
                    <a:lstStyle/>
                    <a:p>
                      <a:pPr algn="l"/>
                      <a:r>
                        <a:rPr sz="1050" b="0" i="0">
                          <a:solidFill>
                            <a:srgbClr val="000000"/>
                          </a:solidFill>
                          <a:latin typeface="Calibri"/>
                        </a:rPr>
                        <a:t>Table 171: Supplier-to-Customer Relationship Mapping in Brazil, 2026</a:t>
                      </a:r>
                      <a:endParaRPr sz="1050"/>
                    </a:p>
                  </a:txBody>
                  <a:tcPr marL="9525" marR="9525" marT="9525" marB="0" anchor="ctr"/>
                </a:tc>
              </a:tr>
              <a:tr h="170266">
                <a:tc>
                  <a:txBody>
                    <a:bodyPr wrap="square"/>
                    <a:lstStyle/>
                    <a:p>
                      <a:pPr algn="l"/>
                      <a:r>
                        <a:rPr sz="1050" b="0" i="0">
                          <a:solidFill>
                            <a:srgbClr val="000000"/>
                          </a:solidFill>
                          <a:latin typeface="Calibri"/>
                        </a:rPr>
                        <a:t>Table 172: Latin America Market Value Chain Participants by Stage, 2026</a:t>
                      </a:r>
                      <a:endParaRPr sz="1050"/>
                    </a:p>
                  </a:txBody>
                  <a:tcPr marL="9525" marR="9525" marT="9525" marB="0" anchor="ctr"/>
                </a:tc>
              </a:tr>
              <a:tr h="170266">
                <a:tc>
                  <a:txBody>
                    <a:bodyPr wrap="square"/>
                    <a:lstStyle/>
                    <a:p>
                      <a:pPr algn="l"/>
                      <a:r>
                        <a:rPr sz="1050" b="0" i="0">
                          <a:solidFill>
                            <a:srgbClr val="000000"/>
                          </a:solidFill>
                          <a:latin typeface="Calibri"/>
                        </a:rPr>
                        <a:t>Table 173: Latin America Market Margin Analysis by Value Chain Stage, %, 2026</a:t>
                      </a:r>
                      <a:endParaRPr sz="1050"/>
                    </a:p>
                  </a:txBody>
                  <a:tcPr marL="9525" marR="9525" marT="9525" marB="0" anchor="ctr"/>
                </a:tc>
              </a:tr>
              <a:tr h="170266">
                <a:tc>
                  <a:txBody>
                    <a:bodyPr wrap="square"/>
                    <a:lstStyle/>
                    <a:p>
                      <a:pPr algn="l"/>
                      <a:r>
                        <a:rPr sz="1050" b="0" i="0">
                          <a:solidFill>
                            <a:srgbClr val="000000"/>
                          </a:solidFill>
                          <a:latin typeface="Calibri"/>
                        </a:rPr>
                        <a:t>Table 174: Latin America Market Cost Structure by Component, %, 2026</a:t>
                      </a:r>
                      <a:endParaRPr sz="1050"/>
                    </a:p>
                  </a:txBody>
                  <a:tcPr marL="9525" marR="9525" marT="9525" marB="0" anchor="ctr"/>
                </a:tc>
              </a:tr>
              <a:tr h="170266">
                <a:tc>
                  <a:txBody>
                    <a:bodyPr wrap="square"/>
                    <a:lstStyle/>
                    <a:p>
                      <a:pPr algn="l"/>
                      <a:r>
                        <a:rPr sz="1050" b="0" i="0">
                          <a:solidFill>
                            <a:srgbClr val="000000"/>
                          </a:solidFill>
                          <a:latin typeface="Calibri"/>
                        </a:rPr>
                        <a:t>Table 175: Latin America Market Import Value by Leading Country, US$ Mn, 2021–2025</a:t>
                      </a:r>
                      <a:endParaRPr sz="1050"/>
                    </a:p>
                  </a:txBody>
                  <a:tcPr marL="9525" marR="9525" marT="9525" marB="0" anchor="ctr"/>
                </a:tc>
              </a:tr>
              <a:tr h="170266">
                <a:tc>
                  <a:txBody>
                    <a:bodyPr wrap="square"/>
                    <a:lstStyle/>
                    <a:p>
                      <a:pPr algn="l"/>
                      <a:r>
                        <a:rPr sz="1050" b="0" i="0">
                          <a:solidFill>
                            <a:srgbClr val="000000"/>
                          </a:solidFill>
                          <a:latin typeface="Calibri"/>
                        </a:rPr>
                        <a:t>Table 176: Latin America Market Export Value by Leading Country, US$ Mn, 2021–2025</a:t>
                      </a:r>
                      <a:endParaRPr sz="1050"/>
                    </a:p>
                  </a:txBody>
                  <a:tcPr marL="9525" marR="9525" marT="9525" marB="0" anchor="ctr"/>
                </a:tc>
              </a:tr>
              <a:tr h="170266">
                <a:tc>
                  <a:txBody>
                    <a:bodyPr wrap="square"/>
                    <a:lstStyle/>
                    <a:p>
                      <a:pPr algn="l"/>
                      <a:r>
                        <a:rPr sz="1050" b="0" i="0">
                          <a:solidFill>
                            <a:srgbClr val="000000"/>
                          </a:solidFill>
                          <a:latin typeface="Calibri"/>
                        </a:rPr>
                        <a:t>Table 177: Latin America Market Trade Flow Summary, US$ Mn, 2025</a:t>
                      </a:r>
                      <a:endParaRPr sz="1050"/>
                    </a:p>
                  </a:txBody>
                  <a:tcPr marL="9525" marR="9525" marT="9525" marB="0" anchor="ctr"/>
                </a:tc>
              </a:tr>
              <a:tr h="170266">
                <a:tc>
                  <a:txBody>
                    <a:bodyPr wrap="square"/>
                    <a:lstStyle/>
                    <a:p>
                      <a:pPr algn="l"/>
                      <a:r>
                        <a:rPr sz="1050" b="0" i="0">
                          <a:solidFill>
                            <a:srgbClr val="000000"/>
                          </a:solidFill>
                          <a:latin typeface="Calibri"/>
                        </a:rPr>
                        <a:t>Table 178: Latin America Market Pricing Factors and Impact Rating, 2026–2036</a:t>
                      </a:r>
                      <a:endParaRPr sz="1050"/>
                    </a:p>
                  </a:txBody>
                  <a:tcPr marL="9525" marR="9525" marT="9525" marB="0" anchor="ctr"/>
                </a:tc>
              </a:tr>
              <a:tr h="170266">
                <a:tc>
                  <a:txBody>
                    <a:bodyPr wrap="square"/>
                    <a:lstStyle/>
                    <a:p>
                      <a:pPr algn="l"/>
                      <a:r>
                        <a:rPr sz="1050" b="0" i="0">
                          <a:solidFill>
                            <a:srgbClr val="000000"/>
                          </a:solidFill>
                          <a:latin typeface="Calibri"/>
                        </a:rPr>
                        <a:t>Table 179: Latin America Market Raw Material Price Trend, US$, 2021–2036</a:t>
                      </a:r>
                      <a:endParaRPr sz="1050"/>
                    </a:p>
                  </a:txBody>
                  <a:tcPr marL="9525" marR="9525" marT="9525" marB="0" anchor="ctr"/>
                </a:tc>
              </a:tr>
              <a:tr h="170266">
                <a:tc>
                  <a:txBody>
                    <a:bodyPr wrap="square"/>
                    <a:lstStyle/>
                    <a:p>
                      <a:pPr algn="l"/>
                      <a:r>
                        <a:rPr sz="1050" b="0" i="0">
                          <a:solidFill>
                            <a:srgbClr val="000000"/>
                          </a:solidFill>
                          <a:latin typeface="Calibri"/>
                        </a:rPr>
                        <a:t>Table 180: Latin America Market Distribution Channel Margin Structure, %, 2026</a:t>
                      </a:r>
                      <a:endParaRPr sz="1050"/>
                    </a:p>
                  </a:txBody>
                  <a:tcPr marL="9525" marR="9525" marT="9525" marB="0" anchor="ctr"/>
                </a:tc>
              </a:tr>
              <a:tr h="333720">
                <a:tc>
                  <a:txBody>
                    <a:bodyPr wrap="square"/>
                    <a:lstStyle/>
                    <a:p>
                      <a:pPr algn="l"/>
                      <a:r>
                        <a:rPr sz="1050" b="0" i="0">
                          <a:solidFill>
                            <a:srgbClr val="000000"/>
                          </a:solidFill>
                          <a:latin typeface="Calibri"/>
                        </a:rPr>
                        <a:t>Table 181: Leading Flexible Plastic Packaging Manufacturers: Product Portfolio and Geographic Presence, 2026</a:t>
                      </a:r>
                      <a:endParaRPr sz="1050"/>
                    </a:p>
                  </a:txBody>
                  <a:tcPr marL="9525" marR="9525" marT="9525" marB="0" anchor="ctr"/>
                </a:tc>
              </a:tr>
              <a:tr h="170266">
                <a:tc>
                  <a:txBody>
                    <a:bodyPr wrap="square"/>
                    <a:lstStyle/>
                    <a:p>
                      <a:pPr algn="l"/>
                      <a:r>
                        <a:rPr sz="1050" b="0" i="0">
                          <a:solidFill>
                            <a:srgbClr val="000000"/>
                          </a:solidFill>
                          <a:latin typeface="Calibri"/>
                        </a:rPr>
                        <a:t>Table 182: Company Revenue from the Latin America Market, US$ Mn, 2025–2026</a:t>
                      </a:r>
                      <a:endParaRPr sz="1050"/>
                    </a:p>
                  </a:txBody>
                  <a:tcPr marL="9525" marR="9525" marT="9525" marB="0" anchor="ctr"/>
                </a:tc>
              </a:tr>
              <a:tr h="170266">
                <a:tc>
                  <a:txBody>
                    <a:bodyPr wrap="square"/>
                    <a:lstStyle/>
                    <a:p>
                      <a:pPr algn="l"/>
                      <a:r>
                        <a:rPr sz="1050" b="0" i="0">
                          <a:solidFill>
                            <a:srgbClr val="000000"/>
                          </a:solidFill>
                          <a:latin typeface="Calibri"/>
                        </a:rPr>
                        <a:t>Table 183: Company Market Share in the Latin America Market by Region, %, 2026</a:t>
                      </a:r>
                      <a:endParaRPr sz="1050"/>
                    </a:p>
                  </a:txBody>
                  <a:tcPr marL="9525" marR="9525" marT="9525" marB="0" anchor="ctr"/>
                </a:tc>
              </a:tr>
              <a:tr h="170266">
                <a:tc>
                  <a:txBody>
                    <a:bodyPr wrap="square"/>
                    <a:lstStyle/>
                    <a:p>
                      <a:pPr algn="l"/>
                      <a:r>
                        <a:rPr sz="1050" b="0" i="0">
                          <a:solidFill>
                            <a:srgbClr val="000000"/>
                          </a:solidFill>
                          <a:latin typeface="Calibri"/>
                        </a:rPr>
                        <a:t>Table 184: Latin America Market Competitive Benchmarking Matrix, 2026</a:t>
                      </a:r>
                      <a:endParaRPr sz="1050"/>
                    </a:p>
                  </a:txBody>
                  <a:tcPr marL="9525" marR="9525" marT="9525" marB="0" anchor="ctr"/>
                </a:tc>
              </a:tr>
              <a:tr h="170266">
                <a:tc>
                  <a:txBody>
                    <a:bodyPr wrap="square"/>
                    <a:lstStyle/>
                    <a:p>
                      <a:pPr algn="l"/>
                      <a:r>
                        <a:rPr sz="1050" b="0" i="0">
                          <a:solidFill>
                            <a:srgbClr val="000000"/>
                          </a:solidFill>
                          <a:latin typeface="Calibri"/>
                        </a:rPr>
                        <a:t>Table 185: Latin America Market Mergers, Acquisitions and Partnerships, 2021–2026</a:t>
                      </a:r>
                      <a:endParaRPr sz="1050"/>
                    </a:p>
                  </a:txBody>
                  <a:tcPr marL="9525" marR="9525" marT="9525" marB="0" anchor="ctr"/>
                </a:tc>
              </a:tr>
              <a:tr h="170266">
                <a:tc>
                  <a:txBody>
                    <a:bodyPr wrap="square"/>
                    <a:lstStyle/>
                    <a:p>
                      <a:pPr algn="l"/>
                      <a:r>
                        <a:rPr sz="1050" b="0" i="0">
                          <a:solidFill>
                            <a:srgbClr val="000000"/>
                          </a:solidFill>
                          <a:latin typeface="Calibri"/>
                        </a:rPr>
                        <a:t>Table 186: Company A: Company Overview, Products and Strategy, 2026</a:t>
                      </a:r>
                      <a:endParaRPr sz="1050"/>
                    </a:p>
                  </a:txBody>
                  <a:tcPr marL="9525" marR="9525" marT="9525" marB="0" anchor="ctr"/>
                </a:tc>
              </a:tr>
              <a:tr h="170266">
                <a:tc>
                  <a:txBody>
                    <a:bodyPr wrap="square"/>
                    <a:lstStyle/>
                    <a:p>
                      <a:pPr algn="l"/>
                      <a:r>
                        <a:rPr sz="1050" b="0" i="0">
                          <a:solidFill>
                            <a:srgbClr val="000000"/>
                          </a:solidFill>
                          <a:latin typeface="Calibri"/>
                        </a:rPr>
                        <a:t>Table 187: Company B: Company Overview, Products and Strategy, 2026</a:t>
                      </a:r>
                      <a:endParaRPr sz="1050"/>
                    </a:p>
                  </a:txBody>
                  <a:tcPr marL="9525" marR="9525" marT="9525" marB="0" anchor="ctr"/>
                </a:tc>
              </a:tr>
              <a:tr h="170266">
                <a:tc>
                  <a:txBody>
                    <a:bodyPr wrap="square"/>
                    <a:lstStyle/>
                    <a:p>
                      <a:pPr algn="l"/>
                      <a:r>
                        <a:rPr sz="1050" b="0" i="0">
                          <a:solidFill>
                            <a:srgbClr val="000000"/>
                          </a:solidFill>
                          <a:latin typeface="Calibri"/>
                        </a:rPr>
                        <a:t>Table 188: Company C: Company Overview, Products and Strategy, 2026</a:t>
                      </a:r>
                      <a:endParaRPr sz="1050"/>
                    </a:p>
                  </a:txBody>
                  <a:tcPr marL="9525" marR="9525" marT="9525" marB="0" anchor="ctr"/>
                </a:tc>
              </a:tr>
              <a:tr h="170266">
                <a:tc>
                  <a:txBody>
                    <a:bodyPr wrap="square"/>
                    <a:lstStyle/>
                    <a:p>
                      <a:pPr algn="l"/>
                      <a:r>
                        <a:rPr sz="1050" b="0" i="0">
                          <a:solidFill>
                            <a:srgbClr val="000000"/>
                          </a:solidFill>
                          <a:latin typeface="Calibri"/>
                        </a:rPr>
                        <a:t>Table 189: Company D: Company Overview, Products and Strategy, 2026</a:t>
                      </a:r>
                      <a:endParaRPr sz="1050"/>
                    </a:p>
                  </a:txBody>
                  <a:tcPr marL="9525" marR="9525" marT="9525" marB="0" anchor="ctr"/>
                </a:tc>
              </a:tr>
              <a:tr h="170266">
                <a:tc>
                  <a:txBody>
                    <a:bodyPr wrap="square"/>
                    <a:lstStyle/>
                    <a:p>
                      <a:pPr algn="l"/>
                      <a:r>
                        <a:rPr sz="1050" b="0" i="0">
                          <a:solidFill>
                            <a:srgbClr val="000000"/>
                          </a:solidFill>
                          <a:latin typeface="Calibri"/>
                        </a:rPr>
                        <a:t>Table 190: Company E: Company Overview, Products and Strategy, 2026</a:t>
                      </a:r>
                      <a:endParaRPr sz="1050"/>
                    </a:p>
                  </a:txBody>
                  <a:tcPr marL="9525" marR="9525" marT="9525" marB="0" anchor="ctr"/>
                </a:tc>
              </a:tr>
              <a:tr h="170266">
                <a:tc>
                  <a:txBody>
                    <a:bodyPr wrap="square"/>
                    <a:lstStyle/>
                    <a:p>
                      <a:pPr algn="l"/>
                      <a:r>
                        <a:rPr sz="1050" b="0" i="0">
                          <a:solidFill>
                            <a:srgbClr val="000000"/>
                          </a:solidFill>
                          <a:latin typeface="Calibri"/>
                        </a:rPr>
                        <a:t>Table 191: Company F: Company Overview, Products and Strategy, 2026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(5/5)</a:t>
            </a:r>
          </a:p>
        </p:txBody>
      </p:sp>
      <p:graphicFrame>
        <p:nvGraphicFramePr>
          <p:cNvPr id="9" name="FMI Contents Table"/>
          <p:cNvGraphicFramePr>
            <a:graphicFrameLocks noGrp="1"/>
          </p:cNvGraphicFramePr>
          <p:nvPr/>
        </p:nvGraphicFramePr>
        <p:xfrm>
          <a:off x="142875" y="981075"/>
          <a:ext cx="5876925" cy="1500192"/>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Table 192: Company G: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193: Company H: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194: Latin America Market Value by Scenario, US$ Mn, 2026–2036</a:t>
                      </a:r>
                      <a:endParaRPr sz="1050"/>
                    </a:p>
                  </a:txBody>
                  <a:tcPr marL="9525" marR="9525" marT="9525" marB="0" anchor="ctr"/>
                </a:tc>
              </a:tr>
              <a:tr h="166688">
                <a:tc>
                  <a:txBody>
                    <a:bodyPr wrap="square"/>
                    <a:lstStyle/>
                    <a:p>
                      <a:pPr algn="l"/>
                      <a:r>
                        <a:rPr sz="1050" b="0" i="0">
                          <a:solidFill>
                            <a:srgbClr val="000000"/>
                          </a:solidFill>
                          <a:latin typeface="Calibri"/>
                        </a:rPr>
                        <a:t>Table 195: Latin America Market Key Trends and Impact Rating, 2026–2036</a:t>
                      </a:r>
                      <a:endParaRPr sz="1050"/>
                    </a:p>
                  </a:txBody>
                  <a:tcPr marL="9525" marR="9525" marT="9525" marB="0" anchor="ctr"/>
                </a:tc>
              </a:tr>
              <a:tr h="166688">
                <a:tc>
                  <a:txBody>
                    <a:bodyPr wrap="square"/>
                    <a:lstStyle/>
                    <a:p>
                      <a:pPr algn="l"/>
                      <a:r>
                        <a:rPr sz="1050" b="0" i="0">
                          <a:solidFill>
                            <a:srgbClr val="000000"/>
                          </a:solidFill>
                          <a:latin typeface="Calibri"/>
                        </a:rPr>
                        <a:t>Table 196: Latin America Market Opportunity Assessment by Product Type, US$ Mn, 2026–2036</a:t>
                      </a:r>
                      <a:endParaRPr sz="1050"/>
                    </a:p>
                  </a:txBody>
                  <a:tcPr marL="9525" marR="9525" marT="9525" marB="0" anchor="ctr"/>
                </a:tc>
              </a:tr>
              <a:tr h="166688">
                <a:tc>
                  <a:txBody>
                    <a:bodyPr wrap="square"/>
                    <a:lstStyle/>
                    <a:p>
                      <a:pPr algn="l"/>
                      <a:r>
                        <a:rPr sz="1050" b="0" i="0">
                          <a:solidFill>
                            <a:srgbClr val="000000"/>
                          </a:solidFill>
                          <a:latin typeface="Calibri"/>
                        </a:rPr>
                        <a:t>Table 197: Latin America Market Scenario Assumptions, 2026–2036</a:t>
                      </a:r>
                      <a:endParaRPr sz="1050"/>
                    </a:p>
                  </a:txBody>
                  <a:tcPr marL="9525" marR="9525" marT="9525" marB="0" anchor="ctr"/>
                </a:tc>
              </a:tr>
              <a:tr h="166688">
                <a:tc>
                  <a:txBody>
                    <a:bodyPr wrap="square"/>
                    <a:lstStyle/>
                    <a:p>
                      <a:pPr algn="l"/>
                      <a:r>
                        <a:rPr sz="1050" b="0" i="0">
                          <a:solidFill>
                            <a:srgbClr val="000000"/>
                          </a:solidFill>
                          <a:latin typeface="Calibri"/>
                        </a:rPr>
                        <a:t>Table 198: Latin America Market Client Opportunity Prioritisation by Product Type, 2026–2036</a:t>
                      </a:r>
                      <a:endParaRPr sz="1050"/>
                    </a:p>
                  </a:txBody>
                  <a:tcPr marL="9525" marR="9525" marT="9525" marB="0" anchor="ctr"/>
                </a:tc>
              </a:tr>
              <a:tr h="166688">
                <a:tc>
                  <a:txBody>
                    <a:bodyPr wrap="square"/>
                    <a:lstStyle/>
                    <a:p>
                      <a:pPr algn="l"/>
                      <a:r>
                        <a:rPr sz="1050" b="0" i="0">
                          <a:solidFill>
                            <a:srgbClr val="000000"/>
                          </a:solidFill>
                          <a:latin typeface="Calibri"/>
                        </a:rPr>
                        <a:t>Table 199: Latin America Market Customer Purchase Criteria by Product Type, 2026</a:t>
                      </a:r>
                      <a:endParaRPr sz="1050"/>
                    </a:p>
                  </a:txBody>
                  <a:tcPr marL="9525" marR="9525" marT="9525" marB="0" anchor="ctr"/>
                </a:tc>
              </a:tr>
              <a:tr h="166688">
                <a:tc>
                  <a:txBody>
                    <a:bodyPr wrap="square"/>
                    <a:lstStyle/>
                    <a:p>
                      <a:pPr algn="l"/>
                      <a:r>
                        <a:rPr sz="1050" b="0" i="0">
                          <a:solidFill>
                            <a:srgbClr val="000000"/>
                          </a:solidFill>
                          <a:latin typeface="Calibri"/>
                        </a:rPr>
                        <a:t>Table 200: Latin America Market Strategic Recommendations and Action Plan, 2026–2036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List of Figures, List of Tables</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figure in the full study, by analysis block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table in the full study, by analysis block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theme/theme1.xml><?xml version="1.0" encoding="utf-8"?>
<a:theme xmlns:a="http://schemas.openxmlformats.org/drawingml/2006/main" name="Office Theme">
  <a:themeElements>
    <a:clrScheme name="Custom 70">
      <a:dk1>
        <a:sysClr val="windowText" lastClr="000000"/>
      </a:dk1>
      <a:lt1>
        <a:sysClr val="window" lastClr="FFFFFF"/>
      </a:lt1>
      <a:dk2>
        <a:srgbClr val="000000"/>
      </a:dk2>
      <a:lt2>
        <a:srgbClr val="F8F8F8"/>
      </a:lt2>
      <a:accent1>
        <a:srgbClr val="3D85C6"/>
      </a:accent1>
      <a:accent2>
        <a:srgbClr val="9E7E0A"/>
      </a:accent2>
      <a:accent3>
        <a:srgbClr val="40315E"/>
      </a:accent3>
      <a:accent4>
        <a:srgbClr val="008189"/>
      </a:accent4>
      <a:accent5>
        <a:srgbClr val="A35313"/>
      </a:accent5>
      <a:accent6>
        <a:srgbClr val="5F5F5F"/>
      </a:accent6>
      <a:hlink>
        <a:srgbClr val="5F5F5F"/>
      </a:hlink>
      <a:folHlink>
        <a:srgbClr val="919191"/>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TotalTime>
  <Words>0</Words>
  <Application>Microsoft Macintosh PowerPoint</Application>
  <PresentationFormat>On-screen Show (4:3)</PresentationFormat>
  <Paragraphs>0</Paragraphs>
  <Slides>0</Slides>
  <Notes>0</Notes>
  <HiddenSlides>0</HiddenSlides>
  <MMClips>0</MMClips>
  <ScaleCrop>false</ScaleCrop>
  <HeadingPairs>
    <vt:vector size="4" baseType="variant">
      <vt:variant>
        <vt:lpstr>Theme</vt:lpstr>
      </vt:variant>
      <vt:variant>
        <vt:i4>1</vt:i4>
      </vt:variant>
      <vt:variant>
        <vt:lpstr>Slide Titles</vt:lpstr>
      </vt:variant>
      <vt:variant>
        <vt:i4>0</vt:i4>
      </vt:variant>
    </vt:vector>
  </HeadingPairs>
  <TitlesOfParts>
    <vt:vector size="1" baseType="lpstr">
      <vt:lpstr>Office Theme</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Steve Canny</cp:lastModifiedBy>
  <cp:revision>1</cp:revision>
  <dcterms:created xsi:type="dcterms:W3CDTF">2013-01-27T09:14:16Z</dcterms:created>
  <dcterms:modified xsi:type="dcterms:W3CDTF">2013-01-27T09:15:58Z</dcterms:modified>
  <cp:category/>
</cp:coreProperties>
</file>